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xlsb" ContentType="application/vnd.ms-excel.sheet.binary.macroEnabled.12"/>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notesSlides/notesSlide4.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notesSlides/notesSlide5.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notesSlides/notesSlide6.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notesSlides/notesSlide7.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style2.xml" ContentType="application/vnd.ms-office.chartstyle+xml"/>
  <Override PartName="/ppt/charts/colors2.xml" ContentType="application/vnd.ms-office.chartcolorstyle+xml"/>
  <Override PartName="/ppt/tags/tag416.xml" ContentType="application/vnd.openxmlformats-officedocument.presentationml.tags+xml"/>
  <Override PartName="/ppt/notesSlides/notesSlide8.xml" ContentType="application/vnd.openxmlformats-officedocument.presentationml.notesSlide+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notesSlides/notesSlide9.xml" ContentType="application/vnd.openxmlformats-officedocument.presentationml.notesSlide+xml"/>
  <Override PartName="/ppt/charts/chart17.xml" ContentType="application/vnd.openxmlformats-officedocument.drawingml.chart+xml"/>
  <Override PartName="/ppt/charts/style3.xml" ContentType="application/vnd.ms-office.chartstyle+xml"/>
  <Override PartName="/ppt/charts/colors3.xml" ContentType="application/vnd.ms-office.chartcolorstyle+xml"/>
  <Override PartName="/ppt/tags/tag420.xml" ContentType="application/vnd.openxmlformats-officedocument.presentationml.tags+xml"/>
  <Override PartName="/ppt/notesSlides/notesSlide10.xml" ContentType="application/vnd.openxmlformats-officedocument.presentationml.notesSlide+xml"/>
  <Override PartName="/ppt/charts/chart18.xml" ContentType="application/vnd.openxmlformats-officedocument.drawingml.chart+xml"/>
  <Override PartName="/ppt/charts/style4.xml" ContentType="application/vnd.ms-office.chartstyle+xml"/>
  <Override PartName="/ppt/charts/colors4.xml" ContentType="application/vnd.ms-office.chartcolorstyle+xml"/>
  <Override PartName="/ppt/charts/chart19.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1.xml" ContentType="application/vnd.openxmlformats-officedocument.presentationml.notesSlide+xml"/>
  <Override PartName="/ppt/tags/tag421.xml" ContentType="application/vnd.openxmlformats-officedocument.presentationml.tags+xml"/>
  <Override PartName="/ppt/notesSlides/notesSlide12.xml" ContentType="application/vnd.openxmlformats-officedocument.presentationml.notesSlide+xml"/>
  <Override PartName="/ppt/tags/tag422.xml" ContentType="application/vnd.openxmlformats-officedocument.presentationml.tags+xml"/>
  <Override PartName="/ppt/notesSlides/notesSlide13.xml" ContentType="application/vnd.openxmlformats-officedocument.presentationml.notesSlide+xml"/>
  <Override PartName="/ppt/tags/tag423.xml" ContentType="application/vnd.openxmlformats-officedocument.presentationml.tags+xml"/>
  <Override PartName="/ppt/notesSlides/notesSlide14.xml" ContentType="application/vnd.openxmlformats-officedocument.presentationml.notesSlide+xml"/>
  <Override PartName="/ppt/charts/chart20.xml" ContentType="application/vnd.openxmlformats-officedocument.drawingml.chart+xml"/>
  <Override PartName="/ppt/charts/style6.xml" ContentType="application/vnd.ms-office.chartstyle+xml"/>
  <Override PartName="/ppt/charts/colors6.xml" ContentType="application/vnd.ms-office.chartcolorstyle+xml"/>
  <Override PartName="/ppt/charts/chart21.xml" ContentType="application/vnd.openxmlformats-officedocument.drawingml.chart+xml"/>
  <Override PartName="/ppt/charts/style7.xml" ContentType="application/vnd.ms-office.chartstyle+xml"/>
  <Override PartName="/ppt/charts/colors7.xml" ContentType="application/vnd.ms-office.chartcolorstyle+xml"/>
  <Override PartName="/ppt/charts/chart22.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1.xml" ContentType="application/vnd.openxmlformats-officedocument.drawingml.chartshapes+xml"/>
  <Override PartName="/ppt/tags/tag424.xml" ContentType="application/vnd.openxmlformats-officedocument.presentationml.tags+xml"/>
  <Override PartName="/ppt/notesSlides/notesSlide15.xml" ContentType="application/vnd.openxmlformats-officedocument.presentationml.notesSlide+xml"/>
  <Override PartName="/ppt/tags/tag425.xml" ContentType="application/vnd.openxmlformats-officedocument.presentationml.tags+xml"/>
  <Override PartName="/ppt/notesSlides/notesSlide16.xml" ContentType="application/vnd.openxmlformats-officedocument.presentationml.notesSlide+xml"/>
  <Override PartName="/ppt/charts/chart23.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2.xml" ContentType="application/vnd.openxmlformats-officedocument.drawingml.chartshapes+xml"/>
  <Override PartName="/ppt/charts/chart24.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25.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26.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27.xml" ContentType="application/vnd.openxmlformats-officedocument.drawingml.chart+xml"/>
  <Override PartName="/ppt/charts/style13.xml" ContentType="application/vnd.ms-office.chartstyle+xml"/>
  <Override PartName="/ppt/charts/colors13.xml" ContentType="application/vnd.ms-office.chartcolorstyle+xml"/>
  <Override PartName="/ppt/tags/tag426.xml" ContentType="application/vnd.openxmlformats-officedocument.presentationml.tags+xml"/>
  <Override PartName="/ppt/notesSlides/notesSlide17.xml" ContentType="application/vnd.openxmlformats-officedocument.presentationml.notesSlide+xml"/>
  <Override PartName="/ppt/tags/tag427.xml" ContentType="application/vnd.openxmlformats-officedocument.presentationml.tags+xml"/>
  <Override PartName="/ppt/notesSlides/notesSlide18.xml" ContentType="application/vnd.openxmlformats-officedocument.presentationml.notesSlide+xml"/>
  <Override PartName="/ppt/tags/tag428.xml" ContentType="application/vnd.openxmlformats-officedocument.presentationml.tags+xml"/>
  <Override PartName="/ppt/notesSlides/notesSlide19.xml" ContentType="application/vnd.openxmlformats-officedocument.presentationml.notesSlide+xml"/>
  <Override PartName="/ppt/tags/tag429.xml" ContentType="application/vnd.openxmlformats-officedocument.presentationml.tags+xml"/>
  <Override PartName="/ppt/tags/tag430.xml" ContentType="application/vnd.openxmlformats-officedocument.presentationml.tags+xml"/>
  <Override PartName="/ppt/notesSlides/notesSlide20.xml" ContentType="application/vnd.openxmlformats-officedocument.presentationml.notesSlide+xml"/>
  <Override PartName="/ppt/charts/chart28.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29.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30.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31.xml" ContentType="application/vnd.openxmlformats-officedocument.drawingml.chart+xml"/>
  <Override PartName="/ppt/charts/style17.xml" ContentType="application/vnd.ms-office.chartstyle+xml"/>
  <Override PartName="/ppt/charts/colors17.xml" ContentType="application/vnd.ms-office.chartcolorstyle+xml"/>
  <Override PartName="/ppt/tags/tag431.xml" ContentType="application/vnd.openxmlformats-officedocument.presentationml.tags+xml"/>
  <Override PartName="/ppt/notesSlides/notesSlide21.xml" ContentType="application/vnd.openxmlformats-officedocument.presentationml.notesSlide+xml"/>
  <Override PartName="/ppt/charts/chart32.xml" ContentType="application/vnd.openxmlformats-officedocument.drawingml.chart+xml"/>
  <Override PartName="/ppt/charts/style18.xml" ContentType="application/vnd.ms-office.chartstyle+xml"/>
  <Override PartName="/ppt/charts/colors18.xml" ContentType="application/vnd.ms-office.chartcolorstyle+xml"/>
  <Override PartName="/ppt/tags/tag432.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charts/chart33.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charts/chart42.xml" ContentType="application/vnd.openxmlformats-officedocument.drawingml.chart+xml"/>
  <Override PartName="/ppt/charts/chart43.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notesSlides/notesSlide24.xml" ContentType="application/vnd.openxmlformats-officedocument.presentationml.notesSlide+xml"/>
  <Override PartName="/ppt/charts/chart48.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49.xml" ContentType="application/vnd.openxmlformats-officedocument.drawingml.chart+xml"/>
  <Override PartName="/ppt/charts/style22.xml" ContentType="application/vnd.ms-office.chartstyle+xml"/>
  <Override PartName="/ppt/charts/colors22.xml" ContentType="application/vnd.ms-office.chartcolorstyle+xml"/>
  <Override PartName="/ppt/tags/tag509.xml" ContentType="application/vnd.openxmlformats-officedocument.presentationml.tags+xml"/>
  <Override PartName="/ppt/notesSlides/notesSlide25.xml" ContentType="application/vnd.openxmlformats-officedocument.presentationml.notesSlide+xml"/>
  <Override PartName="/ppt/tags/tag510.xml" ContentType="application/vnd.openxmlformats-officedocument.presentationml.tags+xml"/>
  <Override PartName="/ppt/notesSlides/notesSlide26.xml" ContentType="application/vnd.openxmlformats-officedocument.presentationml.notesSlide+xml"/>
  <Override PartName="/ppt/tags/tag511.xml" ContentType="application/vnd.openxmlformats-officedocument.presentationml.tags+xml"/>
  <Override PartName="/ppt/notesSlides/notesSlide27.xml" ContentType="application/vnd.openxmlformats-officedocument.presentationml.notesSlide+xml"/>
  <Override PartName="/ppt/tags/tag512.xml" ContentType="application/vnd.openxmlformats-officedocument.presentationml.tags+xml"/>
  <Override PartName="/ppt/notesSlides/notesSlide28.xml" ContentType="application/vnd.openxmlformats-officedocument.presentationml.notesSlide+xml"/>
  <Override PartName="/ppt/tags/tag513.xml" ContentType="application/vnd.openxmlformats-officedocument.presentationml.tags+xml"/>
  <Override PartName="/ppt/notesSlides/notesSlide29.xml" ContentType="application/vnd.openxmlformats-officedocument.presentationml.notesSlide+xml"/>
  <Override PartName="/ppt/tags/tag514.xml" ContentType="application/vnd.openxmlformats-officedocument.presentationml.tags+xml"/>
  <Override PartName="/ppt/notesSlides/notesSlide30.xml" ContentType="application/vnd.openxmlformats-officedocument.presentationml.notesSlide+xml"/>
  <Override PartName="/ppt/tags/tag515.xml" ContentType="application/vnd.openxmlformats-officedocument.presentationml.tags+xml"/>
  <Override PartName="/ppt/notesSlides/notesSlide31.xml" ContentType="application/vnd.openxmlformats-officedocument.presentationml.notesSlide+xml"/>
  <Override PartName="/ppt/tags/tag516.xml" ContentType="application/vnd.openxmlformats-officedocument.presentationml.tags+xml"/>
  <Override PartName="/ppt/notesSlides/notesSlide32.xml" ContentType="application/vnd.openxmlformats-officedocument.presentationml.notesSlide+xml"/>
  <Override PartName="/ppt/tags/tag517.xml" ContentType="application/vnd.openxmlformats-officedocument.presentationml.tags+xml"/>
  <Override PartName="/ppt/notesSlides/notesSlide33.xml" ContentType="application/vnd.openxmlformats-officedocument.presentationml.notesSlide+xml"/>
  <Override PartName="/ppt/tags/tag518.xml" ContentType="application/vnd.openxmlformats-officedocument.presentationml.tags+xml"/>
  <Override PartName="/ppt/notesSlides/notesSlide34.xml" ContentType="application/vnd.openxmlformats-officedocument.presentationml.notesSlide+xml"/>
  <Override PartName="/ppt/tags/tag519.xml" ContentType="application/vnd.openxmlformats-officedocument.presentationml.tags+xml"/>
  <Override PartName="/ppt/notesSlides/notesSlide35.xml" ContentType="application/vnd.openxmlformats-officedocument.presentationml.notesSlide+xml"/>
  <Override PartName="/ppt/tags/tag520.xml" ContentType="application/vnd.openxmlformats-officedocument.presentationml.tags+xml"/>
  <Override PartName="/ppt/notesSlides/notesSlide36.xml" ContentType="application/vnd.openxmlformats-officedocument.presentationml.notesSlide+xml"/>
  <Override PartName="/ppt/tags/tag521.xml" ContentType="application/vnd.openxmlformats-officedocument.presentationml.tags+xml"/>
  <Override PartName="/ppt/notesSlides/notesSlide37.xml" ContentType="application/vnd.openxmlformats-officedocument.presentationml.notesSlide+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notesSlides/notesSlide38.xml" ContentType="application/vnd.openxmlformats-officedocument.presentationml.notesSlide+xml"/>
  <Override PartName="/ppt/tags/tag527.xml" ContentType="application/vnd.openxmlformats-officedocument.presentationml.tags+xml"/>
  <Override PartName="/ppt/notesSlides/notesSlide39.xml" ContentType="application/vnd.openxmlformats-officedocument.presentationml.notesSlide+xml"/>
  <Override PartName="/ppt/tags/tag528.xml" ContentType="application/vnd.openxmlformats-officedocument.presentationml.tags+xml"/>
  <Override PartName="/ppt/notesSlides/notesSlide40.xml" ContentType="application/vnd.openxmlformats-officedocument.presentationml.notesSlide+xml"/>
  <Override PartName="/ppt/tags/tag529.xml" ContentType="application/vnd.openxmlformats-officedocument.presentationml.tags+xml"/>
  <Override PartName="/ppt/notesSlides/notesSlide41.xml" ContentType="application/vnd.openxmlformats-officedocument.presentationml.notesSlide+xml"/>
  <Override PartName="/ppt/tags/tag530.xml" ContentType="application/vnd.openxmlformats-officedocument.presentationml.tags+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1"/>
  </p:sldMasterIdLst>
  <p:notesMasterIdLst>
    <p:notesMasterId r:id="rId63"/>
  </p:notesMasterIdLst>
  <p:handoutMasterIdLst>
    <p:handoutMasterId r:id="rId64"/>
  </p:handoutMasterIdLst>
  <p:sldIdLst>
    <p:sldId id="2342" r:id="rId2"/>
    <p:sldId id="2147480258" r:id="rId3"/>
    <p:sldId id="2147480317" r:id="rId4"/>
    <p:sldId id="2147480318" r:id="rId5"/>
    <p:sldId id="2147480320" r:id="rId6"/>
    <p:sldId id="2147480273" r:id="rId7"/>
    <p:sldId id="2147480274" r:id="rId8"/>
    <p:sldId id="2147480275" r:id="rId9"/>
    <p:sldId id="2147480307" r:id="rId10"/>
    <p:sldId id="2147480306" r:id="rId11"/>
    <p:sldId id="2147480314" r:id="rId12"/>
    <p:sldId id="2147480315" r:id="rId13"/>
    <p:sldId id="2147480280" r:id="rId14"/>
    <p:sldId id="2147480281" r:id="rId15"/>
    <p:sldId id="2147480282" r:id="rId16"/>
    <p:sldId id="2147480299" r:id="rId17"/>
    <p:sldId id="2147480283" r:id="rId18"/>
    <p:sldId id="2147480284" r:id="rId19"/>
    <p:sldId id="2147480285" r:id="rId20"/>
    <p:sldId id="2147480286" r:id="rId21"/>
    <p:sldId id="2147480301" r:id="rId22"/>
    <p:sldId id="2147480302" r:id="rId23"/>
    <p:sldId id="2147480303" r:id="rId24"/>
    <p:sldId id="2147480304" r:id="rId25"/>
    <p:sldId id="2147480305" r:id="rId26"/>
    <p:sldId id="2147480298" r:id="rId27"/>
    <p:sldId id="2147480308" r:id="rId28"/>
    <p:sldId id="2147480309" r:id="rId29"/>
    <p:sldId id="2147480311" r:id="rId30"/>
    <p:sldId id="2147480312" r:id="rId31"/>
    <p:sldId id="2147480319" r:id="rId32"/>
    <p:sldId id="2147480252" r:id="rId33"/>
    <p:sldId id="2147480255" r:id="rId34"/>
    <p:sldId id="716" r:id="rId35"/>
    <p:sldId id="2147480262" r:id="rId36"/>
    <p:sldId id="2147480263" r:id="rId37"/>
    <p:sldId id="2147480268" r:id="rId38"/>
    <p:sldId id="2147480269" r:id="rId39"/>
    <p:sldId id="2147480251" r:id="rId40"/>
    <p:sldId id="2147480321" r:id="rId41"/>
    <p:sldId id="2147480330" r:id="rId42"/>
    <p:sldId id="2147480331" r:id="rId43"/>
    <p:sldId id="2147480332" r:id="rId44"/>
    <p:sldId id="2147480333" r:id="rId45"/>
    <p:sldId id="2147480334" r:id="rId46"/>
    <p:sldId id="2147480335" r:id="rId47"/>
    <p:sldId id="2147480336" r:id="rId48"/>
    <p:sldId id="2147480337" r:id="rId49"/>
    <p:sldId id="2147480325" r:id="rId50"/>
    <p:sldId id="2147480338" r:id="rId51"/>
    <p:sldId id="2147480326" r:id="rId52"/>
    <p:sldId id="2147480339" r:id="rId53"/>
    <p:sldId id="2147480327" r:id="rId54"/>
    <p:sldId id="2147480340" r:id="rId55"/>
    <p:sldId id="2147480341" r:id="rId56"/>
    <p:sldId id="2147480342" r:id="rId57"/>
    <p:sldId id="2147480328" r:id="rId58"/>
    <p:sldId id="2147480343" r:id="rId59"/>
    <p:sldId id="2147480344" r:id="rId60"/>
    <p:sldId id="2147480329" r:id="rId61"/>
    <p:sldId id="2147480345" r:id="rId62"/>
  </p:sldIdLst>
  <p:sldSz cx="12192000" cy="6858000"/>
  <p:notesSz cx="6797675" cy="9872663"/>
  <p:custDataLst>
    <p:tags r:id="rId6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CD4"/>
    <a:srgbClr val="008E22"/>
    <a:srgbClr val="FF8E22"/>
    <a:srgbClr val="D4F1FF"/>
    <a:srgbClr val="EF7F1A"/>
    <a:srgbClr val="FF33CC"/>
    <a:srgbClr val="FBFBFB"/>
    <a:srgbClr val="797600"/>
    <a:srgbClr val="BFBD00"/>
    <a:srgbClr val="004A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01" autoAdjust="0"/>
    <p:restoredTop sz="95268" autoAdjust="0"/>
  </p:normalViewPr>
  <p:slideViewPr>
    <p:cSldViewPr snapToGrid="0" showGuides="1">
      <p:cViewPr varScale="1">
        <p:scale>
          <a:sx n="154" d="100"/>
          <a:sy n="154" d="100"/>
        </p:scale>
        <p:origin x="664" y="104"/>
      </p:cViewPr>
      <p:guideLst/>
    </p:cSldViewPr>
  </p:slideViewPr>
  <p:outlineViewPr>
    <p:cViewPr>
      <p:scale>
        <a:sx n="33" d="100"/>
        <a:sy n="33" d="100"/>
      </p:scale>
      <p:origin x="0" y="0"/>
    </p:cViewPr>
  </p:outlineViewPr>
  <p:notesTextViewPr>
    <p:cViewPr>
      <p:scale>
        <a:sx n="75" d="100"/>
        <a:sy n="75" d="100"/>
      </p:scale>
      <p:origin x="0" y="0"/>
    </p:cViewPr>
  </p:notesTextViewPr>
  <p:sorterViewPr>
    <p:cViewPr>
      <p:scale>
        <a:sx n="50" d="100"/>
        <a:sy n="50" d="100"/>
      </p:scale>
      <p:origin x="0" y="-10914"/>
    </p:cViewPr>
  </p:sorterViewPr>
  <p:notesViewPr>
    <p:cSldViewPr snapToGrid="0" showGuides="1">
      <p:cViewPr varScale="1">
        <p:scale>
          <a:sx n="85" d="100"/>
          <a:sy n="85" d="100"/>
        </p:scale>
        <p:origin x="380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charts/_rels/chart1.xml.rels><?xml version="1.0" encoding="UTF-8" standalone="yes"?>
<Relationships xmlns="http://schemas.openxmlformats.org/package/2006/relationships"><Relationship Id="rId1" Type="http://schemas.openxmlformats.org/officeDocument/2006/relationships/package" Target="../embeddings/______________Microsoft_Excel.xlsb"/></Relationships>
</file>

<file path=ppt/charts/_rels/chart2.xml.rels><?xml version="1.0" encoding="UTF-8" standalone="yes"?>
<Relationships xmlns="http://schemas.openxmlformats.org/package/2006/relationships"><Relationship Id="rId3" Type="http://schemas.openxmlformats.org/officeDocument/2006/relationships/package" Target="../embeddings/_____Microsoft_Excel.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1" Type="http://schemas.openxmlformats.org/officeDocument/2006/relationships/package" Target="../embeddings/______________Microsoft_Excel1.xlsb"/></Relationships>
</file>

<file path=ppt/charts/_rels/chart4.xml.rels><?xml version="1.0" encoding="UTF-8" standalone="yes"?>
<Relationships xmlns="http://schemas.openxmlformats.org/package/2006/relationships"><Relationship Id="rId1" Type="http://schemas.openxmlformats.org/officeDocument/2006/relationships/package" Target="../embeddings/______________Microsoft_Excel2.xlsb"/></Relationships>
</file>

<file path=ppt/charts/_rels/chart5.xml.rels><?xml version="1.0" encoding="UTF-8" standalone="yes"?>
<Relationships xmlns="http://schemas.openxmlformats.org/package/2006/relationships"><Relationship Id="rId1" Type="http://schemas.openxmlformats.org/officeDocument/2006/relationships/package" Target="../embeddings/______________Microsoft_Excel3.xlsb"/></Relationships>
</file>

<file path=ppt/charts/_rels/chart6.xml.rels><?xml version="1.0" encoding="UTF-8" standalone="yes"?>
<Relationships xmlns="http://schemas.openxmlformats.org/package/2006/relationships"><Relationship Id="rId1" Type="http://schemas.openxmlformats.org/officeDocument/2006/relationships/package" Target="../embeddings/______________Microsoft_Excel4.xlsb"/></Relationships>
</file>

<file path=ppt/charts/_rels/chart7.xml.rels><?xml version="1.0" encoding="UTF-8" standalone="yes"?>
<Relationships xmlns="http://schemas.openxmlformats.org/package/2006/relationships"><Relationship Id="rId1" Type="http://schemas.openxmlformats.org/officeDocument/2006/relationships/package" Target="../embeddings/______________Microsoft_Excel5.xlsb"/></Relationships>
</file>

<file path=ppt/charts/_rels/chart8.xml.rels><?xml version="1.0" encoding="UTF-8" standalone="yes"?>
<Relationships xmlns="http://schemas.openxmlformats.org/package/2006/relationships"><Relationship Id="rId1" Type="http://schemas.openxmlformats.org/officeDocument/2006/relationships/package" Target="../embeddings/______________Microsoft_Excel6.xlsb"/></Relationships>
</file>

<file path=ppt/charts/_rels/chart9.xml.rels><?xml version="1.0" encoding="UTF-8" standalone="yes"?>
<Relationships xmlns="http://schemas.openxmlformats.org/package/2006/relationships"><Relationship Id="rId1" Type="http://schemas.openxmlformats.org/officeDocument/2006/relationships/package" Target="../embeddings/______________Microsoft_Excel7.xlsb"/></Relationships>
</file>

<file path=ppt/charts/_rels/chart10.xml.rels><?xml version="1.0" encoding="UTF-8" standalone="yes"?>
<Relationships xmlns="http://schemas.openxmlformats.org/package/2006/relationships"><Relationship Id="rId1" Type="http://schemas.openxmlformats.org/officeDocument/2006/relationships/package" Target="../embeddings/______________Microsoft_Excel8.xlsb"/></Relationships>
</file>

<file path=ppt/charts/_rels/chart11.xml.rels><?xml version="1.0" encoding="UTF-8" standalone="yes"?>
<Relationships xmlns="http://schemas.openxmlformats.org/package/2006/relationships"><Relationship Id="rId1" Type="http://schemas.openxmlformats.org/officeDocument/2006/relationships/package" Target="../embeddings/______________Microsoft_Excel9.xlsb"/></Relationships>
</file>

<file path=ppt/charts/_rels/chart12.xml.rels><?xml version="1.0" encoding="UTF-8" standalone="yes"?>
<Relationships xmlns="http://schemas.openxmlformats.org/package/2006/relationships"><Relationship Id="rId1" Type="http://schemas.openxmlformats.org/officeDocument/2006/relationships/package" Target="../embeddings/______________Microsoft_Excel10.xlsb"/></Relationships>
</file>

<file path=ppt/charts/_rels/chart13.xml.rels><?xml version="1.0" encoding="UTF-8" standalone="yes"?>
<Relationships xmlns="http://schemas.openxmlformats.org/package/2006/relationships"><Relationship Id="rId1" Type="http://schemas.openxmlformats.org/officeDocument/2006/relationships/package" Target="../embeddings/______________Microsoft_Excel11.xlsb"/></Relationships>
</file>

<file path=ppt/charts/_rels/chart14.xml.rels><?xml version="1.0" encoding="UTF-8" standalone="yes"?>
<Relationships xmlns="http://schemas.openxmlformats.org/package/2006/relationships"><Relationship Id="rId1" Type="http://schemas.openxmlformats.org/officeDocument/2006/relationships/package" Target="../embeddings/______________Microsoft_Excel12.xlsb"/></Relationships>
</file>

<file path=ppt/charts/_rels/chart15.xml.rels><?xml version="1.0" encoding="UTF-8" standalone="yes"?>
<Relationships xmlns="http://schemas.openxmlformats.org/package/2006/relationships"><Relationship Id="rId1" Type="http://schemas.openxmlformats.org/officeDocument/2006/relationships/package" Target="../embeddings/______________Microsoft_Excel13.xlsb"/></Relationships>
</file>

<file path=ppt/charts/_rels/chart16.xml.rels><?xml version="1.0" encoding="UTF-8" standalone="yes"?>
<Relationships xmlns="http://schemas.openxmlformats.org/package/2006/relationships"><Relationship Id="rId3" Type="http://schemas.openxmlformats.org/officeDocument/2006/relationships/package" Target="../embeddings/_____Microsoft_Excel14.xlsx"/><Relationship Id="rId2" Type="http://schemas.microsoft.com/office/2011/relationships/chartColorStyle" Target="colors2.xml"/><Relationship Id="rId1" Type="http://schemas.microsoft.com/office/2011/relationships/chartStyle" Target="style2.xml"/></Relationships>
</file>

<file path=ppt/charts/_rels/chart17.xml.rels><?xml version="1.0" encoding="UTF-8" standalone="yes"?>
<Relationships xmlns="http://schemas.openxmlformats.org/package/2006/relationships"><Relationship Id="rId3" Type="http://schemas.openxmlformats.org/officeDocument/2006/relationships/package" Target="../embeddings/_____Microsoft_Excel15.xlsx"/><Relationship Id="rId2" Type="http://schemas.microsoft.com/office/2011/relationships/chartColorStyle" Target="colors3.xml"/><Relationship Id="rId1" Type="http://schemas.microsoft.com/office/2011/relationships/chartStyle" Target="style3.xml"/></Relationships>
</file>

<file path=ppt/charts/_rels/chart18.xml.rels><?xml version="1.0" encoding="UTF-8" standalone="yes"?>
<Relationships xmlns="http://schemas.openxmlformats.org/package/2006/relationships"><Relationship Id="rId3" Type="http://schemas.openxmlformats.org/officeDocument/2006/relationships/package" Target="../embeddings/_____Microsoft_Excel16.xlsx"/><Relationship Id="rId2" Type="http://schemas.microsoft.com/office/2011/relationships/chartColorStyle" Target="colors4.xml"/><Relationship Id="rId1" Type="http://schemas.microsoft.com/office/2011/relationships/chartStyle" Target="style4.xml"/></Relationships>
</file>

<file path=ppt/charts/_rels/chart19.xml.rels><?xml version="1.0" encoding="UTF-8" standalone="yes"?>
<Relationships xmlns="http://schemas.openxmlformats.org/package/2006/relationships"><Relationship Id="rId3" Type="http://schemas.openxmlformats.org/officeDocument/2006/relationships/package" Target="../embeddings/_____Microsoft_Excel17.xlsx"/><Relationship Id="rId2" Type="http://schemas.microsoft.com/office/2011/relationships/chartColorStyle" Target="colors5.xml"/><Relationship Id="rId1" Type="http://schemas.microsoft.com/office/2011/relationships/chartStyle" Target="style5.xml"/></Relationships>
</file>

<file path=ppt/charts/_rels/chart20.xml.rels><?xml version="1.0" encoding="UTF-8" standalone="yes"?>
<Relationships xmlns="http://schemas.openxmlformats.org/package/2006/relationships"><Relationship Id="rId3" Type="http://schemas.openxmlformats.org/officeDocument/2006/relationships/package" Target="../embeddings/_____Microsoft_Excel18.xlsx"/><Relationship Id="rId2" Type="http://schemas.microsoft.com/office/2011/relationships/chartColorStyle" Target="colors6.xml"/><Relationship Id="rId1" Type="http://schemas.microsoft.com/office/2011/relationships/chartStyle" Target="style6.xml"/></Relationships>
</file>

<file path=ppt/charts/_rels/chart21.xml.rels><?xml version="1.0" encoding="UTF-8" standalone="yes"?>
<Relationships xmlns="http://schemas.openxmlformats.org/package/2006/relationships"><Relationship Id="rId3" Type="http://schemas.openxmlformats.org/officeDocument/2006/relationships/package" Target="../embeddings/_____Microsoft_Excel19.xlsx"/><Relationship Id="rId2" Type="http://schemas.microsoft.com/office/2011/relationships/chartColorStyle" Target="colors7.xml"/><Relationship Id="rId1" Type="http://schemas.microsoft.com/office/2011/relationships/chartStyle" Target="style7.xml"/></Relationships>
</file>

<file path=ppt/charts/_rels/chart22.xml.rels><?xml version="1.0" encoding="UTF-8" standalone="yes"?>
<Relationships xmlns="http://schemas.openxmlformats.org/package/2006/relationships"><Relationship Id="rId3" Type="http://schemas.openxmlformats.org/officeDocument/2006/relationships/package" Target="../embeddings/_____Microsoft_Excel20.xlsx"/><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1.xml"/></Relationships>
</file>

<file path=ppt/charts/_rels/chart23.xml.rels><?xml version="1.0" encoding="UTF-8" standalone="yes"?>
<Relationships xmlns="http://schemas.openxmlformats.org/package/2006/relationships"><Relationship Id="rId3" Type="http://schemas.openxmlformats.org/officeDocument/2006/relationships/package" Target="../embeddings/_____Microsoft_Excel21.xlsx"/><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2.xml"/></Relationships>
</file>

<file path=ppt/charts/_rels/chart24.xml.rels><?xml version="1.0" encoding="UTF-8" standalone="yes"?>
<Relationships xmlns="http://schemas.openxmlformats.org/package/2006/relationships"><Relationship Id="rId3" Type="http://schemas.openxmlformats.org/officeDocument/2006/relationships/oleObject" Target="file:///C:\Users\raiymbek.tulegenov\Desktop\KPI\KPI3\KPI3_&#1089;&#1090;&#1072;&#1090;&#1080;&#1089;&#1090;&#1080;&#1082;&#1072;.xlsx" TargetMode="External"/><Relationship Id="rId2" Type="http://schemas.microsoft.com/office/2011/relationships/chartColorStyle" Target="colors10.xml"/><Relationship Id="rId1" Type="http://schemas.microsoft.com/office/2011/relationships/chartStyle" Target="style10.xml"/></Relationships>
</file>

<file path=ppt/charts/_rels/chart25.xml.rels><?xml version="1.0" encoding="UTF-8" standalone="yes"?>
<Relationships xmlns="http://schemas.openxmlformats.org/package/2006/relationships"><Relationship Id="rId3" Type="http://schemas.openxmlformats.org/officeDocument/2006/relationships/oleObject" Target="file:///C:\Users\raiymbek.tulegenov\Desktop\KPI\&#1057;&#1072;&#1084;&#1086;&#1090;&#1077;&#1089;&#1090;&#1080;&#1088;&#1086;&#1074;&#1072;&#1085;&#1080;&#1077;%20&#1050;&#1055;&#1050;%20&#1092;&#1080;&#1085;&#1072;&#1083;&#1100;&#1085;&#1099;&#1081;%20&#1074;&#1072;&#1088;&#1080;&#1072;&#1085;&#1090;_02.09.2025_KPI2%20&#8212;%20&#1082;&#1086;&#1087;&#1080;&#1103;.xlsx" TargetMode="External"/><Relationship Id="rId2" Type="http://schemas.microsoft.com/office/2011/relationships/chartColorStyle" Target="colors11.xml"/><Relationship Id="rId1" Type="http://schemas.microsoft.com/office/2011/relationships/chartStyle" Target="style11.xml"/></Relationships>
</file>

<file path=ppt/charts/_rels/chart26.xml.rels><?xml version="1.0" encoding="UTF-8" standalone="yes"?>
<Relationships xmlns="http://schemas.openxmlformats.org/package/2006/relationships"><Relationship Id="rId3" Type="http://schemas.openxmlformats.org/officeDocument/2006/relationships/package" Target="../embeddings/_____Microsoft_Excel22.xlsx"/><Relationship Id="rId2" Type="http://schemas.microsoft.com/office/2011/relationships/chartColorStyle" Target="colors12.xml"/><Relationship Id="rId1" Type="http://schemas.microsoft.com/office/2011/relationships/chartStyle" Target="style12.xml"/></Relationships>
</file>

<file path=ppt/charts/_rels/chart27.xml.rels><?xml version="1.0" encoding="UTF-8" standalone="yes"?>
<Relationships xmlns="http://schemas.openxmlformats.org/package/2006/relationships"><Relationship Id="rId3" Type="http://schemas.openxmlformats.org/officeDocument/2006/relationships/package" Target="../embeddings/_____Microsoft_Excel23.xlsx"/><Relationship Id="rId2" Type="http://schemas.microsoft.com/office/2011/relationships/chartColorStyle" Target="colors13.xml"/><Relationship Id="rId1" Type="http://schemas.microsoft.com/office/2011/relationships/chartStyle" Target="style13.xml"/></Relationships>
</file>

<file path=ppt/charts/_rels/chart28.xml.rels><?xml version="1.0" encoding="UTF-8" standalone="yes"?>
<Relationships xmlns="http://schemas.openxmlformats.org/package/2006/relationships"><Relationship Id="rId3" Type="http://schemas.openxmlformats.org/officeDocument/2006/relationships/package" Target="../embeddings/_____Microsoft_Excel24.xlsx"/><Relationship Id="rId2" Type="http://schemas.microsoft.com/office/2011/relationships/chartColorStyle" Target="colors14.xml"/><Relationship Id="rId1" Type="http://schemas.microsoft.com/office/2011/relationships/chartStyle" Target="style14.xml"/></Relationships>
</file>

<file path=ppt/charts/_rels/chart29.xml.rels><?xml version="1.0" encoding="UTF-8" standalone="yes"?>
<Relationships xmlns="http://schemas.openxmlformats.org/package/2006/relationships"><Relationship Id="rId3" Type="http://schemas.openxmlformats.org/officeDocument/2006/relationships/package" Target="../embeddings/_____Microsoft_Excel25.xlsx"/><Relationship Id="rId2" Type="http://schemas.microsoft.com/office/2011/relationships/chartColorStyle" Target="colors15.xml"/><Relationship Id="rId1" Type="http://schemas.microsoft.com/office/2011/relationships/chartStyle" Target="style15.xml"/></Relationships>
</file>

<file path=ppt/charts/_rels/chart30.xml.rels><?xml version="1.0" encoding="UTF-8" standalone="yes"?>
<Relationships xmlns="http://schemas.openxmlformats.org/package/2006/relationships"><Relationship Id="rId3" Type="http://schemas.openxmlformats.org/officeDocument/2006/relationships/package" Target="../embeddings/_____Microsoft_Excel26.xlsx"/><Relationship Id="rId2" Type="http://schemas.microsoft.com/office/2011/relationships/chartColorStyle" Target="colors16.xml"/><Relationship Id="rId1" Type="http://schemas.microsoft.com/office/2011/relationships/chartStyle" Target="style16.xml"/></Relationships>
</file>

<file path=ppt/charts/_rels/chart31.xml.rels><?xml version="1.0" encoding="UTF-8" standalone="yes"?>
<Relationships xmlns="http://schemas.openxmlformats.org/package/2006/relationships"><Relationship Id="rId3" Type="http://schemas.openxmlformats.org/officeDocument/2006/relationships/package" Target="../embeddings/_____Microsoft_Excel27.xlsx"/><Relationship Id="rId2" Type="http://schemas.microsoft.com/office/2011/relationships/chartColorStyle" Target="colors17.xml"/><Relationship Id="rId1" Type="http://schemas.microsoft.com/office/2011/relationships/chartStyle" Target="style17.xml"/></Relationships>
</file>

<file path=ppt/charts/_rels/chart32.xml.rels><?xml version="1.0" encoding="UTF-8" standalone="yes"?>
<Relationships xmlns="http://schemas.openxmlformats.org/package/2006/relationships"><Relationship Id="rId3" Type="http://schemas.openxmlformats.org/officeDocument/2006/relationships/package" Target="../embeddings/_____Microsoft_Excel28.xlsx"/><Relationship Id="rId2" Type="http://schemas.microsoft.com/office/2011/relationships/chartColorStyle" Target="colors18.xml"/><Relationship Id="rId1" Type="http://schemas.microsoft.com/office/2011/relationships/chartStyle" Target="style18.xml"/></Relationships>
</file>

<file path=ppt/charts/_rels/chart33.xml.rels><?xml version="1.0" encoding="UTF-8" standalone="yes"?>
<Relationships xmlns="http://schemas.openxmlformats.org/package/2006/relationships"><Relationship Id="rId3" Type="http://schemas.openxmlformats.org/officeDocument/2006/relationships/package" Target="../embeddings/_____Microsoft_Excel29.xlsx"/><Relationship Id="rId2" Type="http://schemas.microsoft.com/office/2011/relationships/chartColorStyle" Target="colors19.xml"/><Relationship Id="rId1" Type="http://schemas.microsoft.com/office/2011/relationships/chartStyle" Target="style19.xml"/></Relationships>
</file>

<file path=ppt/charts/_rels/chart34.xml.rels><?xml version="1.0" encoding="UTF-8" standalone="yes"?>
<Relationships xmlns="http://schemas.openxmlformats.org/package/2006/relationships"><Relationship Id="rId1" Type="http://schemas.openxmlformats.org/officeDocument/2006/relationships/package" Target="../embeddings/______________Microsoft_Excel30.xlsb"/></Relationships>
</file>

<file path=ppt/charts/_rels/chart35.xml.rels><?xml version="1.0" encoding="UTF-8" standalone="yes"?>
<Relationships xmlns="http://schemas.openxmlformats.org/package/2006/relationships"><Relationship Id="rId1" Type="http://schemas.openxmlformats.org/officeDocument/2006/relationships/package" Target="../embeddings/______________Microsoft_Excel31.xlsb"/></Relationships>
</file>

<file path=ppt/charts/_rels/chart36.xml.rels><?xml version="1.0" encoding="UTF-8" standalone="yes"?>
<Relationships xmlns="http://schemas.openxmlformats.org/package/2006/relationships"><Relationship Id="rId1" Type="http://schemas.openxmlformats.org/officeDocument/2006/relationships/package" Target="../embeddings/______________Microsoft_Excel32.xlsb"/></Relationships>
</file>

<file path=ppt/charts/_rels/chart37.xml.rels><?xml version="1.0" encoding="UTF-8" standalone="yes"?>
<Relationships xmlns="http://schemas.openxmlformats.org/package/2006/relationships"><Relationship Id="rId1" Type="http://schemas.openxmlformats.org/officeDocument/2006/relationships/package" Target="../embeddings/______________Microsoft_Excel33.xlsb"/></Relationships>
</file>

<file path=ppt/charts/_rels/chart38.xml.rels><?xml version="1.0" encoding="UTF-8" standalone="yes"?>
<Relationships xmlns="http://schemas.openxmlformats.org/package/2006/relationships"><Relationship Id="rId1" Type="http://schemas.openxmlformats.org/officeDocument/2006/relationships/package" Target="../embeddings/______________Microsoft_Excel34.xlsb"/></Relationships>
</file>

<file path=ppt/charts/_rels/chart39.xml.rels><?xml version="1.0" encoding="UTF-8" standalone="yes"?>
<Relationships xmlns="http://schemas.openxmlformats.org/package/2006/relationships"><Relationship Id="rId1" Type="http://schemas.openxmlformats.org/officeDocument/2006/relationships/package" Target="../embeddings/______________Microsoft_Excel35.xlsb"/></Relationships>
</file>

<file path=ppt/charts/_rels/chart40.xml.rels><?xml version="1.0" encoding="UTF-8" standalone="yes"?>
<Relationships xmlns="http://schemas.openxmlformats.org/package/2006/relationships"><Relationship Id="rId1" Type="http://schemas.openxmlformats.org/officeDocument/2006/relationships/package" Target="../embeddings/______________Microsoft_Excel36.xlsb"/></Relationships>
</file>

<file path=ppt/charts/_rels/chart41.xml.rels><?xml version="1.0" encoding="UTF-8" standalone="yes"?>
<Relationships xmlns="http://schemas.openxmlformats.org/package/2006/relationships"><Relationship Id="rId1" Type="http://schemas.openxmlformats.org/officeDocument/2006/relationships/package" Target="../embeddings/______________Microsoft_Excel37.xlsb"/></Relationships>
</file>

<file path=ppt/charts/_rels/chart42.xml.rels><?xml version="1.0" encoding="UTF-8" standalone="yes"?>
<Relationships xmlns="http://schemas.openxmlformats.org/package/2006/relationships"><Relationship Id="rId1" Type="http://schemas.openxmlformats.org/officeDocument/2006/relationships/package" Target="../embeddings/______________Microsoft_Excel38.xlsb"/></Relationships>
</file>

<file path=ppt/charts/_rels/chart43.xml.rels><?xml version="1.0" encoding="UTF-8" standalone="yes"?>
<Relationships xmlns="http://schemas.openxmlformats.org/package/2006/relationships"><Relationship Id="rId3" Type="http://schemas.openxmlformats.org/officeDocument/2006/relationships/package" Target="../embeddings/_____Microsoft_Excel39.xlsx"/><Relationship Id="rId2" Type="http://schemas.microsoft.com/office/2011/relationships/chartColorStyle" Target="colors20.xml"/><Relationship Id="rId1" Type="http://schemas.microsoft.com/office/2011/relationships/chartStyle" Target="style20.xml"/></Relationships>
</file>

<file path=ppt/charts/_rels/chart44.xml.rels><?xml version="1.0" encoding="UTF-8" standalone="yes"?>
<Relationships xmlns="http://schemas.openxmlformats.org/package/2006/relationships"><Relationship Id="rId1" Type="http://schemas.openxmlformats.org/officeDocument/2006/relationships/package" Target="../embeddings/______________Microsoft_Excel40.xlsb"/></Relationships>
</file>

<file path=ppt/charts/_rels/chart45.xml.rels><?xml version="1.0" encoding="UTF-8" standalone="yes"?>
<Relationships xmlns="http://schemas.openxmlformats.org/package/2006/relationships"><Relationship Id="rId1" Type="http://schemas.openxmlformats.org/officeDocument/2006/relationships/package" Target="../embeddings/______________Microsoft_Excel41.xlsb"/></Relationships>
</file>

<file path=ppt/charts/_rels/chart46.xml.rels><?xml version="1.0" encoding="UTF-8" standalone="yes"?>
<Relationships xmlns="http://schemas.openxmlformats.org/package/2006/relationships"><Relationship Id="rId1" Type="http://schemas.openxmlformats.org/officeDocument/2006/relationships/package" Target="../embeddings/______________Microsoft_Excel42.xlsb"/></Relationships>
</file>

<file path=ppt/charts/_rels/chart47.xml.rels><?xml version="1.0" encoding="UTF-8" standalone="yes"?>
<Relationships xmlns="http://schemas.openxmlformats.org/package/2006/relationships"><Relationship Id="rId1" Type="http://schemas.openxmlformats.org/officeDocument/2006/relationships/package" Target="../embeddings/______________Microsoft_Excel43.xlsb"/></Relationships>
</file>

<file path=ppt/charts/_rels/chart48.xml.rels><?xml version="1.0" encoding="UTF-8" standalone="yes"?>
<Relationships xmlns="http://schemas.openxmlformats.org/package/2006/relationships"><Relationship Id="rId3" Type="http://schemas.openxmlformats.org/officeDocument/2006/relationships/package" Target="../embeddings/_____Microsoft_Excel44.xlsx"/><Relationship Id="rId2" Type="http://schemas.microsoft.com/office/2011/relationships/chartColorStyle" Target="colors21.xml"/><Relationship Id="rId1" Type="http://schemas.microsoft.com/office/2011/relationships/chartStyle" Target="style21.xml"/></Relationships>
</file>

<file path=ppt/charts/_rels/chart49.xml.rels><?xml version="1.0" encoding="UTF-8" standalone="yes"?>
<Relationships xmlns="http://schemas.openxmlformats.org/package/2006/relationships"><Relationship Id="rId3" Type="http://schemas.openxmlformats.org/officeDocument/2006/relationships/package" Target="../embeddings/_____Microsoft_Excel45.xlsx"/><Relationship Id="rId2" Type="http://schemas.microsoft.com/office/2011/relationships/chartColorStyle" Target="colors22.xml"/><Relationship Id="rId1" Type="http://schemas.microsoft.com/office/2011/relationships/chartStyle" Target="style2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3601286173633438E-2"/>
          <c:y val="8.3601286173633438E-2"/>
          <c:w val="0.83279742765273312"/>
          <c:h val="0.83279742765273312"/>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FC38-4DF1-8487-8C3088ABD700}"/>
              </c:ext>
            </c:extLst>
          </c:dPt>
          <c:dPt>
            <c:idx val="1"/>
            <c:bubble3D val="0"/>
            <c:spPr>
              <a:solidFill>
                <a:schemeClr val="accent5">
                  <a:lumMod val="50000"/>
                  <a:lumOff val="50000"/>
                </a:schemeClr>
              </a:solidFill>
              <a:ln>
                <a:noFill/>
              </a:ln>
            </c:spPr>
            <c:extLst>
              <c:ext xmlns:c16="http://schemas.microsoft.com/office/drawing/2014/chart" uri="{C3380CC4-5D6E-409C-BE32-E72D297353CC}">
                <c16:uniqueId val="{00000003-FC38-4DF1-8487-8C3088ABD700}"/>
              </c:ext>
            </c:extLst>
          </c:dPt>
          <c:dLbls>
            <c:delete val="1"/>
          </c:dLbls>
          <c:val>
            <c:numRef>
              <c:f>Sheet1!$A$1:$A$2</c:f>
              <c:numCache>
                <c:formatCode>0.0%</c:formatCode>
                <c:ptCount val="2"/>
                <c:pt idx="0">
                  <c:v>2.1000000000000019E-2</c:v>
                </c:pt>
                <c:pt idx="1">
                  <c:v>0.97899999999999998</c:v>
                </c:pt>
              </c:numCache>
            </c:numRef>
          </c:val>
          <c:extLst>
            <c:ext xmlns:c16="http://schemas.microsoft.com/office/drawing/2014/chart" uri="{C3380CC4-5D6E-409C-BE32-E72D297353CC}">
              <c16:uniqueId val="{00000006-FC38-4DF1-8487-8C3088ABD700}"/>
            </c:ext>
          </c:extLst>
        </c:ser>
        <c:dLbls>
          <c:showLegendKey val="0"/>
          <c:showVal val="1"/>
          <c:showCatName val="0"/>
          <c:showSerName val="0"/>
          <c:showPercent val="0"/>
          <c:showBubbleSize val="0"/>
          <c:showLeaderLines val="1"/>
        </c:dLbls>
        <c:firstSliceAng val="0"/>
        <c:holeSize val="60"/>
      </c:doughnutChart>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9720-491D-9861-649B04637AFD}"/>
              </c:ext>
            </c:extLst>
          </c:dPt>
          <c:dPt>
            <c:idx val="1"/>
            <c:bubble3D val="0"/>
            <c:spPr>
              <a:solidFill>
                <a:schemeClr val="accent2"/>
              </a:solidFill>
              <a:ln w="19050">
                <a:noFill/>
              </a:ln>
              <a:effectLst/>
            </c:spPr>
            <c:extLst>
              <c:ext xmlns:c16="http://schemas.microsoft.com/office/drawing/2014/chart" uri="{C3380CC4-5D6E-409C-BE32-E72D297353CC}">
                <c16:uniqueId val="{00000003-9720-491D-9861-649B04637AFD}"/>
              </c:ext>
            </c:extLst>
          </c:dPt>
          <c:dPt>
            <c:idx val="2"/>
            <c:bubble3D val="0"/>
            <c:spPr>
              <a:solidFill>
                <a:schemeClr val="accent3"/>
              </a:solidFill>
              <a:ln w="19050">
                <a:noFill/>
              </a:ln>
              <a:effectLst/>
            </c:spPr>
            <c:extLst>
              <c:ext xmlns:c16="http://schemas.microsoft.com/office/drawing/2014/chart" uri="{C3380CC4-5D6E-409C-BE32-E72D297353CC}">
                <c16:uniqueId val="{00000005-9720-491D-9861-649B04637AFD}"/>
              </c:ext>
            </c:extLst>
          </c:dPt>
          <c:dPt>
            <c:idx val="3"/>
            <c:bubble3D val="0"/>
            <c:spPr>
              <a:solidFill>
                <a:schemeClr val="accent6"/>
              </a:solidFill>
              <a:ln w="19050">
                <a:noFill/>
              </a:ln>
              <a:effectLst/>
            </c:spPr>
            <c:extLst>
              <c:ext xmlns:c16="http://schemas.microsoft.com/office/drawing/2014/chart" uri="{C3380CC4-5D6E-409C-BE32-E72D297353CC}">
                <c16:uniqueId val="{00000002-D15F-4388-B337-601B47B6B84D}"/>
              </c:ext>
            </c:extLst>
          </c:dPt>
          <c:dPt>
            <c:idx val="4"/>
            <c:bubble3D val="0"/>
            <c:spPr>
              <a:solidFill>
                <a:schemeClr val="tx2"/>
              </a:solidFill>
              <a:ln w="19050">
                <a:noFill/>
              </a:ln>
              <a:effectLst/>
            </c:spPr>
            <c:extLst>
              <c:ext xmlns:c16="http://schemas.microsoft.com/office/drawing/2014/chart" uri="{C3380CC4-5D6E-409C-BE32-E72D297353CC}">
                <c16:uniqueId val="{00000001-D15F-4388-B337-601B47B6B84D}"/>
              </c:ext>
            </c:extLst>
          </c:dPt>
          <c:cat>
            <c:strRef>
              <c:f>Лист1!$A$2:$A$6</c:f>
              <c:strCache>
                <c:ptCount val="5"/>
                <c:pt idx="0">
                  <c:v>Approved</c:v>
                </c:pt>
                <c:pt idx="1">
                  <c:v>Approved with conditions</c:v>
                </c:pt>
                <c:pt idx="2">
                  <c:v>Rejected</c:v>
                </c:pt>
                <c:pt idx="3">
                  <c:v>Reviewed after the fact</c:v>
                </c:pt>
                <c:pt idx="4">
                  <c:v>In progress</c:v>
                </c:pt>
              </c:strCache>
            </c:strRef>
          </c:cat>
          <c:val>
            <c:numRef>
              <c:f>Лист1!$B$2:$B$6</c:f>
              <c:numCache>
                <c:formatCode>General</c:formatCode>
                <c:ptCount val="5"/>
                <c:pt idx="0">
                  <c:v>2527</c:v>
                </c:pt>
                <c:pt idx="1">
                  <c:v>1161</c:v>
                </c:pt>
                <c:pt idx="2">
                  <c:v>8</c:v>
                </c:pt>
                <c:pt idx="3">
                  <c:v>7</c:v>
                </c:pt>
                <c:pt idx="4">
                  <c:v>119</c:v>
                </c:pt>
              </c:numCache>
            </c:numRef>
          </c:val>
          <c:extLst>
            <c:ext xmlns:c16="http://schemas.microsoft.com/office/drawing/2014/chart" uri="{C3380CC4-5D6E-409C-BE32-E72D297353CC}">
              <c16:uniqueId val="{00000000-D15F-4388-B337-601B47B6B84D}"/>
            </c:ext>
          </c:extLst>
        </c:ser>
        <c:dLbls>
          <c:showLegendKey val="0"/>
          <c:showVal val="0"/>
          <c:showCatName val="0"/>
          <c:showSerName val="0"/>
          <c:showPercent val="0"/>
          <c:showBubbleSize val="0"/>
          <c:showLeaderLines val="1"/>
        </c:dLbls>
        <c:firstSliceAng val="124"/>
        <c:holeSize val="60"/>
      </c:doughnutChart>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3601286173633438E-2"/>
          <c:y val="8.3601286173633438E-2"/>
          <c:w val="0.83279742765273312"/>
          <c:h val="0.83279742765273312"/>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77F8-49C6-A428-45BBBC8251E8}"/>
              </c:ext>
            </c:extLst>
          </c:dPt>
          <c:dPt>
            <c:idx val="1"/>
            <c:bubble3D val="0"/>
            <c:spPr>
              <a:solidFill>
                <a:schemeClr val="accent2"/>
              </a:solidFill>
              <a:ln>
                <a:noFill/>
              </a:ln>
            </c:spPr>
            <c:extLst>
              <c:ext xmlns:c16="http://schemas.microsoft.com/office/drawing/2014/chart" uri="{C3380CC4-5D6E-409C-BE32-E72D297353CC}">
                <c16:uniqueId val="{00000003-77F8-49C6-A428-45BBBC8251E8}"/>
              </c:ext>
            </c:extLst>
          </c:dPt>
          <c:dPt>
            <c:idx val="2"/>
            <c:bubble3D val="0"/>
            <c:spPr>
              <a:solidFill>
                <a:schemeClr val="tx2"/>
              </a:solidFill>
              <a:ln>
                <a:noFill/>
              </a:ln>
            </c:spPr>
            <c:extLst>
              <c:ext xmlns:c16="http://schemas.microsoft.com/office/drawing/2014/chart" uri="{C3380CC4-5D6E-409C-BE32-E72D297353CC}">
                <c16:uniqueId val="{00000005-77F8-49C6-A428-45BBBC8251E8}"/>
              </c:ext>
            </c:extLst>
          </c:dPt>
          <c:val>
            <c:numRef>
              <c:f>Sheet1!$A$1:$A$3</c:f>
              <c:numCache>
                <c:formatCode>General</c:formatCode>
                <c:ptCount val="3"/>
                <c:pt idx="0">
                  <c:v>3244</c:v>
                </c:pt>
                <c:pt idx="1">
                  <c:v>246</c:v>
                </c:pt>
                <c:pt idx="2">
                  <c:v>213</c:v>
                </c:pt>
              </c:numCache>
            </c:numRef>
          </c:val>
          <c:extLst>
            <c:ext xmlns:c16="http://schemas.microsoft.com/office/drawing/2014/chart" uri="{C3380CC4-5D6E-409C-BE32-E72D297353CC}">
              <c16:uniqueId val="{00000006-77F8-49C6-A428-45BBBC8251E8}"/>
            </c:ext>
          </c:extLst>
        </c:ser>
        <c:dLbls>
          <c:showLegendKey val="0"/>
          <c:showVal val="0"/>
          <c:showCatName val="0"/>
          <c:showSerName val="0"/>
          <c:showPercent val="0"/>
          <c:showBubbleSize val="0"/>
          <c:showLeaderLines val="0"/>
        </c:dLbls>
        <c:firstSliceAng val="0"/>
        <c:holeSize val="60"/>
      </c:doughnutChart>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1135430916552667E-2"/>
          <c:y val="7.1135430916552667E-2"/>
          <c:w val="0.85772913816689467"/>
          <c:h val="0.85772913816689467"/>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0-D513-4DDE-83BB-F7216CE14F6E}"/>
              </c:ext>
            </c:extLst>
          </c:dPt>
          <c:dPt>
            <c:idx val="1"/>
            <c:bubble3D val="0"/>
            <c:spPr>
              <a:solidFill>
                <a:schemeClr val="accent4"/>
              </a:solidFill>
              <a:ln>
                <a:noFill/>
              </a:ln>
            </c:spPr>
            <c:extLst>
              <c:ext xmlns:c16="http://schemas.microsoft.com/office/drawing/2014/chart" uri="{C3380CC4-5D6E-409C-BE32-E72D297353CC}">
                <c16:uniqueId val="{00000001-D513-4DDE-83BB-F7216CE14F6E}"/>
              </c:ext>
            </c:extLst>
          </c:dPt>
          <c:dPt>
            <c:idx val="2"/>
            <c:bubble3D val="0"/>
            <c:spPr>
              <a:solidFill>
                <a:schemeClr val="folHlink"/>
              </a:solidFill>
              <a:ln>
                <a:noFill/>
              </a:ln>
            </c:spPr>
            <c:extLst>
              <c:ext xmlns:c16="http://schemas.microsoft.com/office/drawing/2014/chart" uri="{C3380CC4-5D6E-409C-BE32-E72D297353CC}">
                <c16:uniqueId val="{00000002-D513-4DDE-83BB-F7216CE14F6E}"/>
              </c:ext>
            </c:extLst>
          </c:dPt>
          <c:val>
            <c:numRef>
              <c:f>Sheet1!$A$1:$A$3</c:f>
              <c:numCache>
                <c:formatCode>General</c:formatCode>
                <c:ptCount val="3"/>
                <c:pt idx="0">
                  <c:v>196</c:v>
                </c:pt>
                <c:pt idx="1">
                  <c:v>267</c:v>
                </c:pt>
                <c:pt idx="2">
                  <c:v>1474</c:v>
                </c:pt>
              </c:numCache>
            </c:numRef>
          </c:val>
          <c:extLst>
            <c:ext xmlns:c16="http://schemas.microsoft.com/office/drawing/2014/chart" uri="{C3380CC4-5D6E-409C-BE32-E72D297353CC}">
              <c16:uniqueId val="{00000003-D513-4DDE-83BB-F7216CE14F6E}"/>
            </c:ext>
          </c:extLst>
        </c:ser>
        <c:dLbls>
          <c:showLegendKey val="0"/>
          <c:showVal val="0"/>
          <c:showCatName val="0"/>
          <c:showSerName val="0"/>
          <c:showPercent val="0"/>
          <c:showBubbleSize val="0"/>
          <c:showLeaderLines val="0"/>
        </c:dLbls>
        <c:firstSliceAng val="0"/>
        <c:holeSize val="63"/>
      </c:doughnutChart>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1135430916552667E-2"/>
          <c:y val="7.1135430916552667E-2"/>
          <c:w val="0.85772913816689467"/>
          <c:h val="0.85772913816689467"/>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0-27D4-4016-BE24-4456FA92779D}"/>
              </c:ext>
            </c:extLst>
          </c:dPt>
          <c:dPt>
            <c:idx val="1"/>
            <c:bubble3D val="0"/>
            <c:spPr>
              <a:solidFill>
                <a:schemeClr val="folHlink"/>
              </a:solidFill>
              <a:ln>
                <a:noFill/>
              </a:ln>
            </c:spPr>
            <c:extLst>
              <c:ext xmlns:c16="http://schemas.microsoft.com/office/drawing/2014/chart" uri="{C3380CC4-5D6E-409C-BE32-E72D297353CC}">
                <c16:uniqueId val="{00000001-27D4-4016-BE24-4456FA92779D}"/>
              </c:ext>
            </c:extLst>
          </c:dPt>
          <c:dPt>
            <c:idx val="2"/>
            <c:bubble3D val="0"/>
            <c:spPr>
              <a:solidFill>
                <a:schemeClr val="accent4"/>
              </a:solidFill>
              <a:ln>
                <a:noFill/>
              </a:ln>
            </c:spPr>
            <c:extLst>
              <c:ext xmlns:c16="http://schemas.microsoft.com/office/drawing/2014/chart" uri="{C3380CC4-5D6E-409C-BE32-E72D297353CC}">
                <c16:uniqueId val="{00000002-27D4-4016-BE24-4456FA92779D}"/>
              </c:ext>
            </c:extLst>
          </c:dPt>
          <c:val>
            <c:numRef>
              <c:f>Sheet1!$A$1:$A$3</c:f>
              <c:numCache>
                <c:formatCode>General</c:formatCode>
                <c:ptCount val="3"/>
                <c:pt idx="0">
                  <c:v>452</c:v>
                </c:pt>
                <c:pt idx="1">
                  <c:v>3703</c:v>
                </c:pt>
                <c:pt idx="2">
                  <c:v>615</c:v>
                </c:pt>
              </c:numCache>
            </c:numRef>
          </c:val>
          <c:extLst>
            <c:ext xmlns:c16="http://schemas.microsoft.com/office/drawing/2014/chart" uri="{C3380CC4-5D6E-409C-BE32-E72D297353CC}">
              <c16:uniqueId val="{00000003-27D4-4016-BE24-4456FA92779D}"/>
            </c:ext>
          </c:extLst>
        </c:ser>
        <c:dLbls>
          <c:showLegendKey val="0"/>
          <c:showVal val="0"/>
          <c:showCatName val="0"/>
          <c:showSerName val="0"/>
          <c:showPercent val="0"/>
          <c:showBubbleSize val="0"/>
          <c:showLeaderLines val="0"/>
        </c:dLbls>
        <c:firstSliceAng val="0"/>
        <c:holeSize val="63"/>
      </c:doughnutChart>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3601286173633438E-2"/>
          <c:y val="8.3601286173633438E-2"/>
          <c:w val="0.83279742765273312"/>
          <c:h val="0.83279742765273312"/>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D641-489F-9535-076780FD0A4A}"/>
              </c:ext>
            </c:extLst>
          </c:dPt>
          <c:dPt>
            <c:idx val="1"/>
            <c:bubble3D val="0"/>
            <c:spPr>
              <a:solidFill>
                <a:schemeClr val="accent2"/>
              </a:solidFill>
              <a:ln>
                <a:noFill/>
              </a:ln>
            </c:spPr>
            <c:extLst>
              <c:ext xmlns:c16="http://schemas.microsoft.com/office/drawing/2014/chart" uri="{C3380CC4-5D6E-409C-BE32-E72D297353CC}">
                <c16:uniqueId val="{00000003-D641-489F-9535-076780FD0A4A}"/>
              </c:ext>
            </c:extLst>
          </c:dPt>
          <c:dPt>
            <c:idx val="2"/>
            <c:bubble3D val="0"/>
            <c:spPr>
              <a:solidFill>
                <a:schemeClr val="accent3"/>
              </a:solidFill>
              <a:ln>
                <a:noFill/>
              </a:ln>
            </c:spPr>
            <c:extLst>
              <c:ext xmlns:c16="http://schemas.microsoft.com/office/drawing/2014/chart" uri="{C3380CC4-5D6E-409C-BE32-E72D297353CC}">
                <c16:uniqueId val="{00000005-D641-489F-9535-076780FD0A4A}"/>
              </c:ext>
            </c:extLst>
          </c:dPt>
          <c:dPt>
            <c:idx val="3"/>
            <c:bubble3D val="0"/>
            <c:spPr>
              <a:solidFill>
                <a:schemeClr val="accent4"/>
              </a:solidFill>
              <a:ln>
                <a:noFill/>
              </a:ln>
            </c:spPr>
            <c:extLst>
              <c:ext xmlns:c16="http://schemas.microsoft.com/office/drawing/2014/chart" uri="{C3380CC4-5D6E-409C-BE32-E72D297353CC}">
                <c16:uniqueId val="{00000007-D641-489F-9535-076780FD0A4A}"/>
              </c:ext>
            </c:extLst>
          </c:dPt>
          <c:dLbls>
            <c:spPr>
              <a:noFill/>
              <a:ln>
                <a:noFill/>
              </a:ln>
              <a:effectLst/>
            </c:spPr>
            <c:txPr>
              <a:bodyPr wrap="square" lIns="38100" tIns="19050" rIns="38100" bIns="19050" anchor="ctr">
                <a:spAutoFit/>
              </a:bodyPr>
              <a:lstStyle/>
              <a:p>
                <a:pPr>
                  <a:defRPr sz="700" b="1"/>
                </a:pPr>
                <a:endParaRPr lang="ru-RU"/>
              </a:p>
            </c:txPr>
            <c:showLegendKey val="0"/>
            <c:showVal val="1"/>
            <c:showCatName val="0"/>
            <c:showSerName val="0"/>
            <c:showPercent val="0"/>
            <c:showBubbleSize val="0"/>
            <c:showLeaderLines val="1"/>
            <c:extLst>
              <c:ext xmlns:c15="http://schemas.microsoft.com/office/drawing/2012/chart" uri="{CE6537A1-D6FC-4f65-9D91-7224C49458BB}"/>
            </c:extLst>
          </c:dLbls>
          <c:val>
            <c:numRef>
              <c:f>Sheet1!$A$1:$A$4</c:f>
              <c:numCache>
                <c:formatCode>General</c:formatCode>
                <c:ptCount val="4"/>
                <c:pt idx="0">
                  <c:v>156</c:v>
                </c:pt>
                <c:pt idx="1">
                  <c:v>88</c:v>
                </c:pt>
              </c:numCache>
            </c:numRef>
          </c:val>
          <c:extLst>
            <c:ext xmlns:c16="http://schemas.microsoft.com/office/drawing/2014/chart" uri="{C3380CC4-5D6E-409C-BE32-E72D297353CC}">
              <c16:uniqueId val="{00000008-D641-489F-9535-076780FD0A4A}"/>
            </c:ext>
          </c:extLst>
        </c:ser>
        <c:dLbls>
          <c:showLegendKey val="0"/>
          <c:showVal val="0"/>
          <c:showCatName val="0"/>
          <c:showSerName val="0"/>
          <c:showPercent val="0"/>
          <c:showBubbleSize val="0"/>
          <c:showLeaderLines val="1"/>
        </c:dLbls>
        <c:firstSliceAng val="0"/>
        <c:holeSize val="60"/>
      </c:doughnutChart>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5892885577660805E-2"/>
          <c:y val="0"/>
          <c:w val="0.365062596204419"/>
          <c:h val="1"/>
        </c:manualLayout>
      </c:layout>
      <c:doughnutChart>
        <c:varyColors val="0"/>
        <c:ser>
          <c:idx val="0"/>
          <c:order val="0"/>
          <c:dPt>
            <c:idx val="0"/>
            <c:bubble3D val="0"/>
            <c:spPr>
              <a:solidFill>
                <a:schemeClr val="accent2"/>
              </a:solidFill>
              <a:ln>
                <a:noFill/>
              </a:ln>
            </c:spPr>
            <c:extLst>
              <c:ext xmlns:c16="http://schemas.microsoft.com/office/drawing/2014/chart" uri="{C3380CC4-5D6E-409C-BE32-E72D297353CC}">
                <c16:uniqueId val="{00000001-B233-45DB-A33E-8523506B758A}"/>
              </c:ext>
            </c:extLst>
          </c:dPt>
          <c:dPt>
            <c:idx val="1"/>
            <c:bubble3D val="0"/>
            <c:spPr>
              <a:solidFill>
                <a:schemeClr val="tx2">
                  <a:lumMod val="60000"/>
                  <a:lumOff val="40000"/>
                </a:schemeClr>
              </a:solidFill>
              <a:ln>
                <a:noFill/>
              </a:ln>
            </c:spPr>
            <c:extLst>
              <c:ext xmlns:c16="http://schemas.microsoft.com/office/drawing/2014/chart" uri="{C3380CC4-5D6E-409C-BE32-E72D297353CC}">
                <c16:uniqueId val="{00000003-B233-45DB-A33E-8523506B758A}"/>
              </c:ext>
            </c:extLst>
          </c:dPt>
          <c:dPt>
            <c:idx val="2"/>
            <c:bubble3D val="0"/>
            <c:spPr>
              <a:solidFill>
                <a:schemeClr val="accent5">
                  <a:lumMod val="25000"/>
                  <a:lumOff val="75000"/>
                </a:schemeClr>
              </a:solidFill>
              <a:ln>
                <a:noFill/>
              </a:ln>
            </c:spPr>
            <c:extLst>
              <c:ext xmlns:c16="http://schemas.microsoft.com/office/drawing/2014/chart" uri="{C3380CC4-5D6E-409C-BE32-E72D297353CC}">
                <c16:uniqueId val="{00000005-B233-45DB-A33E-8523506B758A}"/>
              </c:ext>
            </c:extLst>
          </c:dPt>
          <c:dLbls>
            <c:dLbl>
              <c:idx val="0"/>
              <c:layout>
                <c:manualLayout>
                  <c:x val="-6.3301904545915138E-4"/>
                  <c:y val="-3.7124254543678889E-3"/>
                </c:manualLayout>
              </c:layout>
              <c:tx>
                <c:rich>
                  <a:bodyPr wrap="square" lIns="38100" tIns="19050" rIns="38100" bIns="19050" anchor="ctr">
                    <a:noAutofit/>
                  </a:bodyPr>
                  <a:lstStyle/>
                  <a:p>
                    <a:pPr>
                      <a:defRPr sz="700" b="1">
                        <a:solidFill>
                          <a:schemeClr val="tx1"/>
                        </a:solidFill>
                      </a:defRPr>
                    </a:pPr>
                    <a:fld id="{58873987-317F-4989-AB43-6197A156869D}" type="VALUE">
                      <a:rPr lang="en-US" sz="700"/>
                      <a:pPr>
                        <a:defRPr sz="700" b="1">
                          <a:solidFill>
                            <a:schemeClr val="tx1"/>
                          </a:solidFill>
                        </a:defRPr>
                      </a:pPr>
                      <a:t>[ЗНАЧЕНИЕ]</a:t>
                    </a:fld>
                    <a:r>
                      <a:rPr lang="en-US" sz="700" baseline="0" dirty="0"/>
                      <a:t>; </a:t>
                    </a:r>
                    <a:endParaRPr lang="en-US" sz="700" baseline="0" dirty="0" smtClean="0"/>
                  </a:p>
                  <a:p>
                    <a:pPr>
                      <a:defRPr sz="700" b="1">
                        <a:solidFill>
                          <a:schemeClr val="tx1"/>
                        </a:solidFill>
                      </a:defRPr>
                    </a:pPr>
                    <a:fld id="{EF56C759-6080-435D-92A3-B7425049AFC4}" type="PERCENTAGE">
                      <a:rPr lang="en-US" sz="700"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8403603775314731"/>
                      <c:h val="0.22449233422608436"/>
                    </c:manualLayout>
                  </c15:layout>
                  <c15:dlblFieldTable/>
                  <c15:showDataLabelsRange val="0"/>
                </c:ext>
                <c:ext xmlns:c16="http://schemas.microsoft.com/office/drawing/2014/chart" uri="{C3380CC4-5D6E-409C-BE32-E72D297353CC}">
                  <c16:uniqueId val="{00000001-B233-45DB-A33E-8523506B758A}"/>
                </c:ext>
              </c:extLst>
            </c:dLbl>
            <c:dLbl>
              <c:idx val="1"/>
              <c:layout>
                <c:manualLayout>
                  <c:x val="-1.2628262505971309E-2"/>
                  <c:y val="2.4218520391852287E-2"/>
                </c:manualLayout>
              </c:layout>
              <c:tx>
                <c:rich>
                  <a:bodyPr wrap="square" lIns="38100" tIns="19050" rIns="38100" bIns="19050" anchor="ctr">
                    <a:noAutofit/>
                  </a:bodyPr>
                  <a:lstStyle/>
                  <a:p>
                    <a:pPr>
                      <a:defRPr sz="700" b="1">
                        <a:solidFill>
                          <a:schemeClr val="tx1"/>
                        </a:solidFill>
                      </a:defRPr>
                    </a:pPr>
                    <a:fld id="{93146ADE-D928-46DC-B0A7-A1E29A4A887C}" type="VALUE">
                      <a:rPr lang="en-US" sz="700"/>
                      <a:pPr>
                        <a:defRPr sz="700" b="1">
                          <a:solidFill>
                            <a:schemeClr val="tx1"/>
                          </a:solidFill>
                        </a:defRPr>
                      </a:pPr>
                      <a:t>[ЗНАЧЕНИЕ]</a:t>
                    </a:fld>
                    <a:r>
                      <a:rPr lang="en-US" sz="700" baseline="0" dirty="0"/>
                      <a:t>; </a:t>
                    </a:r>
                    <a:endParaRPr lang="en-US" sz="700" baseline="0" dirty="0" smtClean="0"/>
                  </a:p>
                  <a:p>
                    <a:pPr>
                      <a:defRPr sz="700" b="1">
                        <a:solidFill>
                          <a:schemeClr val="tx1"/>
                        </a:solidFill>
                      </a:defRPr>
                    </a:pPr>
                    <a:fld id="{ACFB1F7A-418D-4CCA-89A5-C592306F89DD}" type="PERCENTAGE">
                      <a:rPr lang="en-US" sz="700"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3072190107169912"/>
                      <c:h val="0.31775671659254712"/>
                    </c:manualLayout>
                  </c15:layout>
                  <c15:dlblFieldTable/>
                  <c15:showDataLabelsRange val="0"/>
                </c:ext>
                <c:ext xmlns:c16="http://schemas.microsoft.com/office/drawing/2014/chart" uri="{C3380CC4-5D6E-409C-BE32-E72D297353CC}">
                  <c16:uniqueId val="{00000003-B233-45DB-A33E-8523506B758A}"/>
                </c:ext>
              </c:extLst>
            </c:dLbl>
            <c:dLbl>
              <c:idx val="2"/>
              <c:layout>
                <c:manualLayout>
                  <c:x val="2.6435104540124748E-2"/>
                  <c:y val="4.0841747212341153E-3"/>
                </c:manualLayout>
              </c:layout>
              <c:tx>
                <c:rich>
                  <a:bodyPr wrap="square" lIns="38100" tIns="19050" rIns="38100" bIns="19050" anchor="ctr">
                    <a:noAutofit/>
                  </a:bodyPr>
                  <a:lstStyle/>
                  <a:p>
                    <a:pPr>
                      <a:defRPr sz="700" b="1">
                        <a:solidFill>
                          <a:schemeClr val="tx1"/>
                        </a:solidFill>
                      </a:defRPr>
                    </a:pPr>
                    <a:fld id="{73A4D9C7-6AD4-4B50-A86F-5EFB4C9BA781}" type="VALUE">
                      <a:rPr lang="en-US" sz="700"/>
                      <a:pPr>
                        <a:defRPr sz="700" b="1">
                          <a:solidFill>
                            <a:schemeClr val="tx1"/>
                          </a:solidFill>
                        </a:defRPr>
                      </a:pPr>
                      <a:t>[ЗНАЧЕНИЕ]</a:t>
                    </a:fld>
                    <a:r>
                      <a:rPr lang="en-US" sz="700" baseline="0" dirty="0"/>
                      <a:t>; </a:t>
                    </a:r>
                    <a:endParaRPr lang="en-US" sz="700" baseline="0" dirty="0" smtClean="0"/>
                  </a:p>
                  <a:p>
                    <a:pPr>
                      <a:defRPr sz="700" b="1">
                        <a:solidFill>
                          <a:schemeClr val="tx1"/>
                        </a:solidFill>
                      </a:defRPr>
                    </a:pPr>
                    <a:fld id="{AF4021DA-D975-4DC7-A1C6-51126505070A}" type="PERCENTAGE">
                      <a:rPr lang="en-US" sz="700"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6495710308288417"/>
                      <c:h val="0.32583938404785662"/>
                    </c:manualLayout>
                  </c15:layout>
                  <c15:dlblFieldTable/>
                  <c15:showDataLabelsRange val="0"/>
                </c:ext>
                <c:ext xmlns:c16="http://schemas.microsoft.com/office/drawing/2014/chart" uri="{C3380CC4-5D6E-409C-BE32-E72D297353CC}">
                  <c16:uniqueId val="{00000005-B233-45DB-A33E-8523506B758A}"/>
                </c:ext>
              </c:extLst>
            </c:dLbl>
            <c:spPr>
              <a:noFill/>
              <a:ln>
                <a:noFill/>
              </a:ln>
              <a:effectLst/>
            </c:spPr>
            <c:txPr>
              <a:bodyPr wrap="square" lIns="38100" tIns="19050" rIns="38100" bIns="19050" anchor="ctr">
                <a:spAutoFit/>
              </a:bodyPr>
              <a:lstStyle/>
              <a:p>
                <a:pPr>
                  <a:defRPr sz="700" b="1">
                    <a:solidFill>
                      <a:schemeClr val="tx1"/>
                    </a:solidFill>
                  </a:defRPr>
                </a:pPr>
                <a:endParaRPr lang="ru-RU"/>
              </a:p>
            </c:txPr>
            <c:showLegendKey val="0"/>
            <c:showVal val="1"/>
            <c:showCatName val="0"/>
            <c:showSerName val="0"/>
            <c:showPercent val="1"/>
            <c:showBubbleSize val="0"/>
            <c:showLeaderLines val="0"/>
            <c:extLst>
              <c:ext xmlns:c15="http://schemas.microsoft.com/office/drawing/2012/chart" uri="{CE6537A1-D6FC-4f65-9D91-7224C49458BB}"/>
            </c:extLst>
          </c:dLbls>
          <c:cat>
            <c:strRef>
              <c:f>Sheet1!$A$1:$A$3</c:f>
              <c:strCache>
                <c:ptCount val="3"/>
                <c:pt idx="0">
                  <c:v>Projects are not completed 
reports awaited (88 projects)</c:v>
                </c:pt>
                <c:pt idx="1">
                  <c:v>Projects completed, reports not 
provided (20 projects)</c:v>
                </c:pt>
                <c:pt idx="2">
                  <c:v>Projects completed, reports 
provided (136 projects)</c:v>
                </c:pt>
              </c:strCache>
            </c:strRef>
          </c:cat>
          <c:val>
            <c:numRef>
              <c:f>Sheet1!$B$1:$B$3</c:f>
              <c:numCache>
                <c:formatCode>General</c:formatCode>
                <c:ptCount val="3"/>
                <c:pt idx="0">
                  <c:v>23.8</c:v>
                </c:pt>
                <c:pt idx="1">
                  <c:v>6.2</c:v>
                </c:pt>
                <c:pt idx="2">
                  <c:v>8</c:v>
                </c:pt>
              </c:numCache>
            </c:numRef>
          </c:val>
          <c:extLst>
            <c:ext xmlns:c16="http://schemas.microsoft.com/office/drawing/2014/chart" uri="{C3380CC4-5D6E-409C-BE32-E72D297353CC}">
              <c16:uniqueId val="{00000006-B233-45DB-A33E-8523506B758A}"/>
            </c:ext>
          </c:extLst>
        </c:ser>
        <c:dLbls>
          <c:showLegendKey val="0"/>
          <c:showVal val="1"/>
          <c:showCatName val="0"/>
          <c:showSerName val="0"/>
          <c:showPercent val="0"/>
          <c:showBubbleSize val="0"/>
          <c:showLeaderLines val="0"/>
        </c:dLbls>
        <c:firstSliceAng val="63"/>
        <c:holeSize val="60"/>
      </c:doughnutChart>
    </c:plotArea>
    <c:legend>
      <c:legendPos val="r"/>
      <c:layout>
        <c:manualLayout>
          <c:xMode val="edge"/>
          <c:yMode val="edge"/>
          <c:x val="0.57789285359275777"/>
          <c:y val="1.8745867987646426E-2"/>
          <c:w val="0.42210714640724228"/>
          <c:h val="0.95067271531501563"/>
        </c:manualLayout>
      </c:layout>
      <c:overlay val="0"/>
      <c:txPr>
        <a:bodyPr/>
        <a:lstStyle/>
        <a:p>
          <a:pPr rtl="0">
            <a:defRPr sz="600">
              <a:solidFill>
                <a:schemeClr val="tx1"/>
              </a:solidFill>
            </a:defRPr>
          </a:pPr>
          <a:endParaRPr lang="ru-RU"/>
        </a:p>
      </c:txPr>
    </c:legend>
    <c:plotVisOnly val="0"/>
    <c:dispBlanksAs val="gap"/>
    <c:showDLblsOverMax val="1"/>
  </c:chart>
  <c:spPr>
    <a:ln w="3175">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348910871731784"/>
          <c:y val="0"/>
          <c:w val="0.32582471424688497"/>
          <c:h val="1"/>
        </c:manualLayout>
      </c:layout>
      <c:doughnutChart>
        <c:varyColors val="0"/>
        <c:ser>
          <c:idx val="0"/>
          <c:order val="0"/>
          <c:dPt>
            <c:idx val="0"/>
            <c:bubble3D val="0"/>
            <c:spPr>
              <a:solidFill>
                <a:schemeClr val="accent2"/>
              </a:solidFill>
              <a:ln>
                <a:noFill/>
              </a:ln>
            </c:spPr>
            <c:extLst>
              <c:ext xmlns:c16="http://schemas.microsoft.com/office/drawing/2014/chart" uri="{C3380CC4-5D6E-409C-BE32-E72D297353CC}">
                <c16:uniqueId val="{00000001-6B0B-4800-9FB7-EB147B893E1E}"/>
              </c:ext>
            </c:extLst>
          </c:dPt>
          <c:dPt>
            <c:idx val="1"/>
            <c:bubble3D val="0"/>
            <c:spPr>
              <a:solidFill>
                <a:schemeClr val="tx2">
                  <a:lumMod val="60000"/>
                  <a:lumOff val="40000"/>
                </a:schemeClr>
              </a:solidFill>
              <a:ln>
                <a:noFill/>
              </a:ln>
            </c:spPr>
            <c:extLst>
              <c:ext xmlns:c16="http://schemas.microsoft.com/office/drawing/2014/chart" uri="{C3380CC4-5D6E-409C-BE32-E72D297353CC}">
                <c16:uniqueId val="{00000003-6B0B-4800-9FB7-EB147B893E1E}"/>
              </c:ext>
            </c:extLst>
          </c:dPt>
          <c:dPt>
            <c:idx val="2"/>
            <c:bubble3D val="0"/>
            <c:spPr>
              <a:solidFill>
                <a:schemeClr val="accent5">
                  <a:lumMod val="25000"/>
                  <a:lumOff val="75000"/>
                </a:schemeClr>
              </a:solidFill>
              <a:ln>
                <a:noFill/>
              </a:ln>
            </c:spPr>
            <c:extLst>
              <c:ext xmlns:c16="http://schemas.microsoft.com/office/drawing/2014/chart" uri="{C3380CC4-5D6E-409C-BE32-E72D297353CC}">
                <c16:uniqueId val="{00000005-6B0B-4800-9FB7-EB147B893E1E}"/>
              </c:ext>
            </c:extLst>
          </c:dPt>
          <c:dLbls>
            <c:dLbl>
              <c:idx val="0"/>
              <c:layout>
                <c:manualLayout>
                  <c:x val="4.8772942506044087E-3"/>
                  <c:y val="-5.1609640807774703E-3"/>
                </c:manualLayout>
              </c:layout>
              <c:tx>
                <c:rich>
                  <a:bodyPr wrap="square" lIns="38100" tIns="19050" rIns="38100" bIns="19050" anchor="ctr">
                    <a:noAutofit/>
                  </a:bodyPr>
                  <a:lstStyle/>
                  <a:p>
                    <a:pPr>
                      <a:defRPr sz="700" b="1">
                        <a:solidFill>
                          <a:schemeClr val="tx1"/>
                        </a:solidFill>
                      </a:defRPr>
                    </a:pPr>
                    <a:fld id="{90E631CC-1923-4172-9C2F-3CE2D12F1C4D}" type="VALUE">
                      <a:rPr lang="en-US"/>
                      <a:pPr>
                        <a:defRPr sz="700" b="1">
                          <a:solidFill>
                            <a:schemeClr val="tx1"/>
                          </a:solidFill>
                        </a:defRPr>
                      </a:pPr>
                      <a:t>[ЗНАЧЕНИЕ]</a:t>
                    </a:fld>
                    <a:r>
                      <a:rPr lang="en-US" baseline="0" dirty="0"/>
                      <a:t>; </a:t>
                    </a:r>
                    <a:endParaRPr lang="en-US" baseline="0" dirty="0" smtClean="0"/>
                  </a:p>
                  <a:p>
                    <a:pPr>
                      <a:defRPr sz="700" b="1">
                        <a:solidFill>
                          <a:schemeClr val="tx1"/>
                        </a:solidFill>
                      </a:defRPr>
                    </a:pPr>
                    <a:fld id="{A4FEE85E-9387-4083-BA48-BFF849A5BD11}" type="PERCENTAGE">
                      <a:rPr lang="en-US"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1508298403978846"/>
                      <c:h val="0.27826975847231838"/>
                    </c:manualLayout>
                  </c15:layout>
                  <c15:dlblFieldTable/>
                  <c15:showDataLabelsRange val="0"/>
                </c:ext>
                <c:ext xmlns:c16="http://schemas.microsoft.com/office/drawing/2014/chart" uri="{C3380CC4-5D6E-409C-BE32-E72D297353CC}">
                  <c16:uniqueId val="{00000001-6B0B-4800-9FB7-EB147B893E1E}"/>
                </c:ext>
              </c:extLst>
            </c:dLbl>
            <c:dLbl>
              <c:idx val="1"/>
              <c:layout>
                <c:manualLayout>
                  <c:x val="-5.1285352559975617E-3"/>
                  <c:y val="2.3175855206637935E-2"/>
                </c:manualLayout>
              </c:layout>
              <c:tx>
                <c:rich>
                  <a:bodyPr wrap="square" lIns="38100" tIns="19050" rIns="38100" bIns="19050" anchor="ctr">
                    <a:noAutofit/>
                  </a:bodyPr>
                  <a:lstStyle/>
                  <a:p>
                    <a:pPr>
                      <a:defRPr sz="700" b="1">
                        <a:solidFill>
                          <a:schemeClr val="tx1"/>
                        </a:solidFill>
                      </a:defRPr>
                    </a:pPr>
                    <a:fld id="{049CBADB-1217-48BF-B100-0202E57C6FEE}" type="VALUE">
                      <a:rPr lang="en-US"/>
                      <a:pPr>
                        <a:defRPr sz="700" b="1">
                          <a:solidFill>
                            <a:schemeClr val="tx1"/>
                          </a:solidFill>
                        </a:defRPr>
                      </a:pPr>
                      <a:t>[ЗНАЧЕНИЕ]</a:t>
                    </a:fld>
                    <a:r>
                      <a:rPr lang="en-US" baseline="0" dirty="0" smtClean="0"/>
                      <a:t>;</a:t>
                    </a:r>
                  </a:p>
                  <a:p>
                    <a:pPr>
                      <a:defRPr sz="700" b="1">
                        <a:solidFill>
                          <a:schemeClr val="tx1"/>
                        </a:solidFill>
                      </a:defRPr>
                    </a:pPr>
                    <a:r>
                      <a:rPr lang="en-US" baseline="0" dirty="0" smtClean="0"/>
                      <a:t> </a:t>
                    </a:r>
                    <a:fld id="{207B9497-8D2E-47C8-BF37-A6D24F24F7AC}" type="PERCENTAGE">
                      <a:rPr lang="en-US" baseline="0"/>
                      <a:pPr>
                        <a:defRPr sz="700" b="1">
                          <a:solidFill>
                            <a:schemeClr val="tx1"/>
                          </a:solidFill>
                        </a:defRPr>
                      </a:pPr>
                      <a:t>[ПРОЦЕНТ]</a:t>
                    </a:fld>
                    <a:endParaRPr lang="en-US" baseline="0" dirty="0" smtClean="0"/>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4211299944208403"/>
                      <c:h val="0.25301864290659698"/>
                    </c:manualLayout>
                  </c15:layout>
                  <c15:dlblFieldTable/>
                  <c15:showDataLabelsRange val="0"/>
                </c:ext>
                <c:ext xmlns:c16="http://schemas.microsoft.com/office/drawing/2014/chart" uri="{C3380CC4-5D6E-409C-BE32-E72D297353CC}">
                  <c16:uniqueId val="{00000003-6B0B-4800-9FB7-EB147B893E1E}"/>
                </c:ext>
              </c:extLst>
            </c:dLbl>
            <c:dLbl>
              <c:idx val="2"/>
              <c:layout>
                <c:manualLayout>
                  <c:x val="1.9556266063926679E-2"/>
                  <c:y val="-6.7127875912117704E-2"/>
                </c:manualLayout>
              </c:layout>
              <c:tx>
                <c:rich>
                  <a:bodyPr wrap="square" lIns="38100" tIns="19050" rIns="38100" bIns="19050" anchor="ctr">
                    <a:noAutofit/>
                  </a:bodyPr>
                  <a:lstStyle/>
                  <a:p>
                    <a:pPr>
                      <a:defRPr sz="700" b="1">
                        <a:solidFill>
                          <a:schemeClr val="tx1"/>
                        </a:solidFill>
                      </a:defRPr>
                    </a:pPr>
                    <a:fld id="{51E99C15-7651-455C-8240-81DF37F1D1BE}" type="VALUE">
                      <a:rPr lang="en-US"/>
                      <a:pPr>
                        <a:defRPr sz="700" b="1">
                          <a:solidFill>
                            <a:schemeClr val="tx1"/>
                          </a:solidFill>
                        </a:defRPr>
                      </a:pPr>
                      <a:t>[ЗНАЧЕНИЕ]</a:t>
                    </a:fld>
                    <a:r>
                      <a:rPr lang="en-US" baseline="0" dirty="0"/>
                      <a:t>; </a:t>
                    </a:r>
                    <a:endParaRPr lang="en-US" baseline="0" dirty="0" smtClean="0"/>
                  </a:p>
                  <a:p>
                    <a:pPr>
                      <a:defRPr sz="700" b="1">
                        <a:solidFill>
                          <a:schemeClr val="tx1"/>
                        </a:solidFill>
                      </a:defRPr>
                    </a:pPr>
                    <a:fld id="{FC545CC0-EAB3-4D84-845C-07A44E5A1040}" type="PERCENTAGE">
                      <a:rPr lang="en-US"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6628250337372263"/>
                      <c:h val="0.32295582323494121"/>
                    </c:manualLayout>
                  </c15:layout>
                  <c15:dlblFieldTable/>
                  <c15:showDataLabelsRange val="0"/>
                </c:ext>
                <c:ext xmlns:c16="http://schemas.microsoft.com/office/drawing/2014/chart" uri="{C3380CC4-5D6E-409C-BE32-E72D297353CC}">
                  <c16:uniqueId val="{00000005-6B0B-4800-9FB7-EB147B893E1E}"/>
                </c:ext>
              </c:extLst>
            </c:dLbl>
            <c:spPr>
              <a:noFill/>
              <a:ln>
                <a:noFill/>
              </a:ln>
              <a:effectLst/>
            </c:spPr>
            <c:txPr>
              <a:bodyPr wrap="square" lIns="38100" tIns="19050" rIns="38100" bIns="19050" anchor="ctr">
                <a:spAutoFit/>
              </a:bodyPr>
              <a:lstStyle/>
              <a:p>
                <a:pPr>
                  <a:defRPr sz="700" b="1">
                    <a:solidFill>
                      <a:schemeClr val="tx1"/>
                    </a:solidFill>
                  </a:defRPr>
                </a:pPr>
                <a:endParaRPr lang="ru-RU"/>
              </a:p>
            </c:txPr>
            <c:showLegendKey val="0"/>
            <c:showVal val="1"/>
            <c:showCatName val="0"/>
            <c:showSerName val="0"/>
            <c:showPercent val="1"/>
            <c:showBubbleSize val="0"/>
            <c:showLeaderLines val="0"/>
            <c:extLst>
              <c:ext xmlns:c15="http://schemas.microsoft.com/office/drawing/2012/chart" uri="{CE6537A1-D6FC-4f65-9D91-7224C49458BB}"/>
            </c:extLst>
          </c:dLbls>
          <c:cat>
            <c:strRef>
              <c:f>Sheet1!$A$1:$A$3</c:f>
              <c:strCache>
                <c:ptCount val="3"/>
                <c:pt idx="0">
                  <c:v>Projects are not completed 
reports awaited (10 projects)</c:v>
                </c:pt>
                <c:pt idx="1">
                  <c:v>Projects completed, reports not 
provided (18 projects)</c:v>
                </c:pt>
                <c:pt idx="2">
                  <c:v>Projects completed, reports 
provided (1008)</c:v>
                </c:pt>
              </c:strCache>
            </c:strRef>
          </c:cat>
          <c:val>
            <c:numRef>
              <c:f>Sheet1!$B$1:$B$3</c:f>
              <c:numCache>
                <c:formatCode>General</c:formatCode>
                <c:ptCount val="3"/>
                <c:pt idx="0">
                  <c:v>29</c:v>
                </c:pt>
                <c:pt idx="1">
                  <c:v>89.16</c:v>
                </c:pt>
                <c:pt idx="2">
                  <c:v>336.74</c:v>
                </c:pt>
              </c:numCache>
            </c:numRef>
          </c:val>
          <c:extLst>
            <c:ext xmlns:c16="http://schemas.microsoft.com/office/drawing/2014/chart" uri="{C3380CC4-5D6E-409C-BE32-E72D297353CC}">
              <c16:uniqueId val="{00000006-6B0B-4800-9FB7-EB147B893E1E}"/>
            </c:ext>
          </c:extLst>
        </c:ser>
        <c:dLbls>
          <c:showLegendKey val="0"/>
          <c:showVal val="1"/>
          <c:showCatName val="0"/>
          <c:showSerName val="0"/>
          <c:showPercent val="0"/>
          <c:showBubbleSize val="0"/>
          <c:showLeaderLines val="0"/>
        </c:dLbls>
        <c:firstSliceAng val="63"/>
        <c:holeSize val="60"/>
      </c:doughnutChart>
    </c:plotArea>
    <c:legend>
      <c:legendPos val="r"/>
      <c:layout>
        <c:manualLayout>
          <c:xMode val="edge"/>
          <c:yMode val="edge"/>
          <c:x val="0.57789285359275777"/>
          <c:y val="7.1016153118338379E-2"/>
          <c:w val="0.42210714640724228"/>
          <c:h val="0.89840273740448151"/>
        </c:manualLayout>
      </c:layout>
      <c:overlay val="0"/>
      <c:txPr>
        <a:bodyPr/>
        <a:lstStyle/>
        <a:p>
          <a:pPr rtl="0">
            <a:defRPr sz="600">
              <a:solidFill>
                <a:schemeClr val="tx1"/>
              </a:solidFill>
            </a:defRPr>
          </a:pPr>
          <a:endParaRPr lang="ru-RU"/>
        </a:p>
      </c:txPr>
    </c:legend>
    <c:plotVisOnly val="0"/>
    <c:dispBlanksAs val="gap"/>
    <c:showDLblsOverMax val="1"/>
  </c:chart>
  <c:spPr>
    <a:ln w="3175">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5">
                <a:lumMod val="25000"/>
                <a:lumOff val="75000"/>
              </a:schemeClr>
            </a:solidFill>
            <a:ln>
              <a:noFill/>
            </a:ln>
          </c:spPr>
          <c:invertIfNegative val="0"/>
          <c:dPt>
            <c:idx val="0"/>
            <c:invertIfNegative val="0"/>
            <c:bubble3D val="0"/>
            <c:spPr>
              <a:solidFill>
                <a:schemeClr val="accent2"/>
              </a:solidFill>
              <a:ln>
                <a:noFill/>
              </a:ln>
            </c:spPr>
            <c:extLst>
              <c:ext xmlns:c16="http://schemas.microsoft.com/office/drawing/2014/chart" uri="{C3380CC4-5D6E-409C-BE32-E72D297353CC}">
                <c16:uniqueId val="{00000001-C111-488A-B3B9-1B9A82400969}"/>
              </c:ext>
            </c:extLst>
          </c:dPt>
          <c:dLbls>
            <c:dLbl>
              <c:idx val="0"/>
              <c:layout>
                <c:manualLayout>
                  <c:x val="-6.4892926670992858E-4"/>
                  <c:y val="3.5398230088495575E-3"/>
                </c:manualLayout>
              </c:layout>
              <c:tx>
                <c:rich>
                  <a:bodyPr wrap="none"/>
                  <a:lstStyle/>
                  <a:p>
                    <a:pPr>
                      <a:defRPr sz="800" kern="1200">
                        <a:solidFill>
                          <a:schemeClr val="tx1"/>
                        </a:solidFill>
                        <a:latin typeface="+mn-lt"/>
                        <a:ea typeface="+mn-ea"/>
                        <a:cs typeface="+mn-cs"/>
                      </a:defRPr>
                    </a:pPr>
                    <a:r>
                      <a:rPr lang="en-US" dirty="0"/>
                      <a:t>1</a:t>
                    </a:r>
                  </a:p>
                </c:rich>
              </c:tx>
              <c:numFmt formatCode="#,##0;&quot;-&quot;#,##0" sourceLinked="0"/>
              <c:spPr>
                <a:noFill/>
                <a:ln>
                  <a:noFill/>
                </a:ln>
              </c:sp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111-488A-B3B9-1B9A8240096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1</c:v>
                </c:pt>
              </c:numCache>
            </c:numRef>
          </c:val>
          <c:extLst>
            <c:ext xmlns:c16="http://schemas.microsoft.com/office/drawing/2014/chart" uri="{C3380CC4-5D6E-409C-BE32-E72D297353CC}">
              <c16:uniqueId val="{00000002-C111-488A-B3B9-1B9A82400969}"/>
            </c:ext>
          </c:extLst>
        </c:ser>
        <c:ser>
          <c:idx val="1"/>
          <c:order val="1"/>
          <c:spPr>
            <a:solidFill>
              <a:srgbClr val="C0C0C0"/>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C111-488A-B3B9-1B9A8240096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val>
            <c:numRef>
              <c:f>Sheet1!$A$2</c:f>
              <c:numCache>
                <c:formatCode>#\ ##0;"-"#\ ##0</c:formatCode>
                <c:ptCount val="1"/>
              </c:numCache>
            </c:numRef>
          </c:val>
          <c:extLst>
            <c:ext xmlns:c16="http://schemas.microsoft.com/office/drawing/2014/chart" uri="{C3380CC4-5D6E-409C-BE32-E72D297353CC}">
              <c16:uniqueId val="{00000004-C111-488A-B3B9-1B9A82400969}"/>
            </c:ext>
          </c:extLst>
        </c:ser>
        <c:ser>
          <c:idx val="2"/>
          <c:order val="2"/>
          <c:spPr>
            <a:solidFill>
              <a:schemeClr val="accent4"/>
            </a:solidFill>
            <a:ln>
              <a:noFill/>
            </a:ln>
          </c:spPr>
          <c:invertIfNegative val="0"/>
          <c:dLbls>
            <c:dLbl>
              <c:idx val="0"/>
              <c:layout>
                <c:manualLayout>
                  <c:x val="-6.4892926670992858E-4"/>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C111-488A-B3B9-1B9A8240096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val>
            <c:numRef>
              <c:f>Sheet1!$A$3</c:f>
              <c:numCache>
                <c:formatCode>#\ ##0;"-"#\ ##0</c:formatCode>
                <c:ptCount val="1"/>
              </c:numCache>
            </c:numRef>
          </c:val>
          <c:extLst>
            <c:ext xmlns:c16="http://schemas.microsoft.com/office/drawing/2014/chart" uri="{C3380CC4-5D6E-409C-BE32-E72D297353CC}">
              <c16:uniqueId val="{00000006-C111-488A-B3B9-1B9A82400969}"/>
            </c:ext>
          </c:extLst>
        </c:ser>
        <c:ser>
          <c:idx val="3"/>
          <c:order val="3"/>
          <c:spPr>
            <a:solidFill>
              <a:schemeClr val="folHlink"/>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C111-488A-B3B9-1B9A8240096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val>
            <c:numRef>
              <c:f>Sheet1!$A$4</c:f>
              <c:numCache>
                <c:formatCode>#\ ##0;"-"#\ ##0</c:formatCode>
                <c:ptCount val="1"/>
              </c:numCache>
            </c:numRef>
          </c:val>
          <c:extLst>
            <c:ext xmlns:c16="http://schemas.microsoft.com/office/drawing/2014/chart" uri="{C3380CC4-5D6E-409C-BE32-E72D297353CC}">
              <c16:uniqueId val="{00000008-C111-488A-B3B9-1B9A82400969}"/>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l"/>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5"/>
          <c:min val="0"/>
        </c:scaling>
        <c:delete val="0"/>
        <c:axPos val="b"/>
        <c:numFmt formatCode="#,##0;&quot;-&quot;#,##0" sourceLinked="0"/>
        <c:majorTickMark val="out"/>
        <c:minorTickMark val="none"/>
        <c:tickLblPos val="nextTo"/>
        <c:spPr>
          <a:ln w="9525" cmpd="sng" algn="ctr">
            <a:solidFill>
              <a:schemeClr val="tx2"/>
            </a:solidFill>
            <a:prstDash val="solid"/>
          </a:ln>
        </c:spPr>
        <c:txPr>
          <a:bodyPr wrap="none"/>
          <a:lstStyle/>
          <a:p>
            <a:pPr>
              <a:defRPr sz="800" kern="1200">
                <a:solidFill>
                  <a:schemeClr val="accent2">
                    <a:lumMod val="20000"/>
                    <a:lumOff val="80000"/>
                  </a:schemeClr>
                </a:solidFill>
                <a:latin typeface="+mn-lt"/>
                <a:ea typeface="+mn-ea"/>
                <a:cs typeface="+mn-cs"/>
              </a:defRPr>
            </a:pPr>
            <a:endParaRPr lang="ru-RU"/>
          </a:p>
        </c:txPr>
        <c:crossAx val="242487728"/>
        <c:crosses val="max"/>
        <c:crossBetween val="between"/>
        <c:majorUnit val="10"/>
        <c:minorUnit val="10"/>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5">
                <a:lumMod val="25000"/>
                <a:lumOff val="75000"/>
              </a:schemeClr>
            </a:solidFill>
            <a:ln>
              <a:noFill/>
            </a:ln>
          </c:spPr>
          <c:invertIfNegative val="0"/>
          <c:dLbls>
            <c:dLbl>
              <c:idx val="0"/>
              <c:layout>
                <c:manualLayout>
                  <c:x val="-1.4869479398261108E-2"/>
                  <c:y val="-2.4776545063923041E-2"/>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6976-4A41-8B13-FE25814DEA5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254</c:v>
                </c:pt>
              </c:numCache>
            </c:numRef>
          </c:val>
          <c:extLst>
            <c:ext xmlns:c16="http://schemas.microsoft.com/office/drawing/2014/chart" uri="{C3380CC4-5D6E-409C-BE32-E72D297353CC}">
              <c16:uniqueId val="{00000001-6976-4A41-8B13-FE25814DEA55}"/>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l"/>
        <c:majorGridlines>
          <c:spPr>
            <a:ln>
              <a:noFill/>
            </a:ln>
          </c:spPr>
        </c:majorGridlines>
        <c:majorTickMark val="none"/>
        <c:minorTickMark val="none"/>
        <c:tickLblPos val="none"/>
        <c:spPr>
          <a:ln w="9525" cmpd="sng" algn="ctr">
            <a:solidFill>
              <a:schemeClr val="tx2"/>
            </a:solidFill>
            <a:prstDash val="solid"/>
          </a:ln>
        </c:spPr>
        <c:crossAx val="1"/>
        <c:crosses val="max"/>
        <c:auto val="0"/>
        <c:lblAlgn val="ctr"/>
        <c:lblOffset val="100"/>
        <c:noMultiLvlLbl val="0"/>
      </c:catAx>
      <c:valAx>
        <c:axId val="1"/>
        <c:scaling>
          <c:orientation val="maxMin"/>
        </c:scaling>
        <c:delete val="0"/>
        <c:axPos val="b"/>
        <c:majorGridlines>
          <c:spPr>
            <a:ln>
              <a:noFill/>
            </a:ln>
          </c:spPr>
        </c:majorGridlines>
        <c:numFmt formatCode="#,##0;&quot;-&quot;#,##0" sourceLinked="0"/>
        <c:majorTickMark val="out"/>
        <c:minorTickMark val="none"/>
        <c:tickLblPos val="nextTo"/>
        <c:spPr>
          <a:ln w="9525" cmpd="sng" algn="ctr">
            <a:solidFill>
              <a:schemeClr val="tx2"/>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valAx>
    </c:plotArea>
    <c:plotVisOnly val="0"/>
    <c:dispBlanksAs val="gap"/>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5">
                <a:lumMod val="25000"/>
                <a:lumOff val="75000"/>
              </a:schemeClr>
            </a:solidFill>
            <a:ln>
              <a:noFill/>
            </a:ln>
          </c:spPr>
          <c:invertIfNegative val="0"/>
          <c:dLbls>
            <c:dLbl>
              <c:idx val="0"/>
              <c:layout>
                <c:manualLayout>
                  <c:x val="-6.4892926670992858E-4"/>
                  <c:y val="3.5398230088495575E-3"/>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71E2-4E25-90C2-EC5D4DD0F7A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12769</c:v>
                </c:pt>
              </c:numCache>
            </c:numRef>
          </c:val>
          <c:extLst>
            <c:ext xmlns:c16="http://schemas.microsoft.com/office/drawing/2014/chart" uri="{C3380CC4-5D6E-409C-BE32-E72D297353CC}">
              <c16:uniqueId val="{00000001-71E2-4E25-90C2-EC5D4DD0F7AA}"/>
            </c:ext>
          </c:extLst>
        </c:ser>
        <c:ser>
          <c:idx val="1"/>
          <c:order val="1"/>
          <c:spPr>
            <a:solidFill>
              <a:srgbClr val="C0C0C0"/>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71E2-4E25-90C2-EC5D4DD0F7A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f>
              <c:numCache>
                <c:formatCode>#\ ##0;"-"#\ ##0</c:formatCode>
                <c:ptCount val="1"/>
              </c:numCache>
            </c:numRef>
          </c:val>
          <c:extLst>
            <c:ext xmlns:c16="http://schemas.microsoft.com/office/drawing/2014/chart" uri="{C3380CC4-5D6E-409C-BE32-E72D297353CC}">
              <c16:uniqueId val="{00000003-71E2-4E25-90C2-EC5D4DD0F7AA}"/>
            </c:ext>
          </c:extLst>
        </c:ser>
        <c:ser>
          <c:idx val="2"/>
          <c:order val="2"/>
          <c:spPr>
            <a:solidFill>
              <a:schemeClr val="accent4"/>
            </a:solidFill>
            <a:ln>
              <a:noFill/>
            </a:ln>
          </c:spPr>
          <c:invertIfNegative val="0"/>
          <c:dLbls>
            <c:dLbl>
              <c:idx val="0"/>
              <c:layout>
                <c:manualLayout>
                  <c:x val="-6.4892926670992858E-4"/>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71E2-4E25-90C2-EC5D4DD0F7A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f>
              <c:numCache>
                <c:formatCode>#\ ##0;"-"#\ ##0</c:formatCode>
                <c:ptCount val="1"/>
              </c:numCache>
            </c:numRef>
          </c:val>
          <c:extLst>
            <c:ext xmlns:c16="http://schemas.microsoft.com/office/drawing/2014/chart" uri="{C3380CC4-5D6E-409C-BE32-E72D297353CC}">
              <c16:uniqueId val="{00000005-71E2-4E25-90C2-EC5D4DD0F7AA}"/>
            </c:ext>
          </c:extLst>
        </c:ser>
        <c:ser>
          <c:idx val="3"/>
          <c:order val="3"/>
          <c:spPr>
            <a:solidFill>
              <a:schemeClr val="folHlink"/>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71E2-4E25-90C2-EC5D4DD0F7A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c:f>
              <c:numCache>
                <c:formatCode>#\ ##0;"-"#\ ##0</c:formatCode>
                <c:ptCount val="1"/>
              </c:numCache>
            </c:numRef>
          </c:val>
          <c:extLst>
            <c:ext xmlns:c16="http://schemas.microsoft.com/office/drawing/2014/chart" uri="{C3380CC4-5D6E-409C-BE32-E72D297353CC}">
              <c16:uniqueId val="{00000007-71E2-4E25-90C2-EC5D4DD0F7AA}"/>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2769"/>
          <c:min val="0"/>
        </c:scaling>
        <c:delete val="0"/>
        <c:axPos val="b"/>
        <c:majorGridlines>
          <c:spPr>
            <a:ln>
              <a:noFill/>
            </a:ln>
          </c:spPr>
        </c:majorGridlines>
        <c:numFmt formatCode="#,##0;&quot;-&quot;#,##0" sourceLinked="0"/>
        <c:majorTickMark val="out"/>
        <c:minorTickMark val="none"/>
        <c:tickLblPos val="none"/>
        <c:spPr>
          <a:ln w="9525" cmpd="sng" algn="ctr">
            <a:solidFill>
              <a:schemeClr val="tx1"/>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2000"/>
        <c:minorUnit val="2000"/>
      </c:valAx>
    </c:plotArea>
    <c:plotVisOnly val="0"/>
    <c:dispBlanksAs val="gap"/>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2"/>
            </a:solidFill>
            <a:ln>
              <a:noFill/>
            </a:ln>
          </c:spPr>
          <c:invertIfNegative val="0"/>
          <c:dLbls>
            <c:dLbl>
              <c:idx val="0"/>
              <c:layout>
                <c:manualLayout>
                  <c:x val="-6.4892926670992858E-4"/>
                  <c:y val="3.5398230088495575E-3"/>
                </c:manualLayout>
              </c:layout>
              <c:tx>
                <c:rich>
                  <a:bodyPr wrap="none"/>
                  <a:lstStyle/>
                  <a:p>
                    <a:pPr>
                      <a:defRPr sz="800" kern="1200">
                        <a:solidFill>
                          <a:schemeClr val="tx1"/>
                        </a:solidFill>
                        <a:latin typeface="+mn-lt"/>
                        <a:ea typeface="+mn-ea"/>
                        <a:cs typeface="+mn-cs"/>
                      </a:defRPr>
                    </a:pPr>
                    <a:r>
                      <a:rPr lang="en-US" dirty="0"/>
                      <a:t>n/a</a:t>
                    </a:r>
                  </a:p>
                </c:rich>
              </c:tx>
              <c:numFmt formatCode="#,##0;&quot;-&quot;#,##0" sourceLinked="0"/>
              <c:spPr>
                <a:noFill/>
                <a:ln>
                  <a:noFill/>
                </a:ln>
              </c:sp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A303-4A38-A9D0-CCA046E5CEF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1</c:v>
                </c:pt>
              </c:numCache>
            </c:numRef>
          </c:val>
          <c:extLst>
            <c:ext xmlns:c16="http://schemas.microsoft.com/office/drawing/2014/chart" uri="{C3380CC4-5D6E-409C-BE32-E72D297353CC}">
              <c16:uniqueId val="{00000001-A303-4A38-A9D0-CCA046E5CEFC}"/>
            </c:ext>
          </c:extLst>
        </c:ser>
        <c:ser>
          <c:idx val="1"/>
          <c:order val="1"/>
          <c:spPr>
            <a:solidFill>
              <a:srgbClr val="C0C0C0"/>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A303-4A38-A9D0-CCA046E5CEF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f>
              <c:numCache>
                <c:formatCode>#\ ##0;"-"#\ ##0</c:formatCode>
                <c:ptCount val="1"/>
              </c:numCache>
            </c:numRef>
          </c:val>
          <c:extLst>
            <c:ext xmlns:c16="http://schemas.microsoft.com/office/drawing/2014/chart" uri="{C3380CC4-5D6E-409C-BE32-E72D297353CC}">
              <c16:uniqueId val="{00000003-A303-4A38-A9D0-CCA046E5CEFC}"/>
            </c:ext>
          </c:extLst>
        </c:ser>
        <c:ser>
          <c:idx val="2"/>
          <c:order val="2"/>
          <c:spPr>
            <a:solidFill>
              <a:schemeClr val="accent4"/>
            </a:solidFill>
            <a:ln>
              <a:noFill/>
            </a:ln>
          </c:spPr>
          <c:invertIfNegative val="0"/>
          <c:dLbls>
            <c:dLbl>
              <c:idx val="0"/>
              <c:layout>
                <c:manualLayout>
                  <c:x val="-6.4892926670992858E-4"/>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A303-4A38-A9D0-CCA046E5CEF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f>
              <c:numCache>
                <c:formatCode>#\ ##0;"-"#\ ##0</c:formatCode>
                <c:ptCount val="1"/>
              </c:numCache>
            </c:numRef>
          </c:val>
          <c:extLst>
            <c:ext xmlns:c16="http://schemas.microsoft.com/office/drawing/2014/chart" uri="{C3380CC4-5D6E-409C-BE32-E72D297353CC}">
              <c16:uniqueId val="{00000005-A303-4A38-A9D0-CCA046E5CEFC}"/>
            </c:ext>
          </c:extLst>
        </c:ser>
        <c:ser>
          <c:idx val="3"/>
          <c:order val="3"/>
          <c:spPr>
            <a:solidFill>
              <a:schemeClr val="folHlink"/>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A303-4A38-A9D0-CCA046E5CEF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c:f>
              <c:numCache>
                <c:formatCode>#\ ##0;"-"#\ ##0</c:formatCode>
                <c:ptCount val="1"/>
              </c:numCache>
            </c:numRef>
          </c:val>
          <c:extLst>
            <c:ext xmlns:c16="http://schemas.microsoft.com/office/drawing/2014/chart" uri="{C3380CC4-5D6E-409C-BE32-E72D297353CC}">
              <c16:uniqueId val="{00000007-A303-4A38-A9D0-CCA046E5CEFC}"/>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r"/>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axMin"/>
          <c:max val="1"/>
        </c:scaling>
        <c:delete val="0"/>
        <c:axPos val="b"/>
        <c:majorGridlines>
          <c:spPr>
            <a:ln>
              <a:noFill/>
            </a:ln>
          </c:spPr>
        </c:majorGridlines>
        <c:numFmt formatCode="#,##0;&quot;-&quot;#,##0" sourceLinked="0"/>
        <c:majorTickMark val="out"/>
        <c:minorTickMark val="none"/>
        <c:tickLblPos val="none"/>
        <c:spPr>
          <a:ln w="9525" cmpd="sng" algn="ctr">
            <a:solidFill>
              <a:schemeClr val="tx1"/>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1"/>
        <c:minorUnit val="1"/>
      </c:valAx>
    </c:plotArea>
    <c:plotVisOnly val="0"/>
    <c:dispBlanksAs val="gap"/>
    <c:showDLblsOverMax val="1"/>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rgbClr val="00BC2D"/>
            </a:solidFill>
            <a:ln>
              <a:noFill/>
            </a:ln>
          </c:spPr>
          <c:invertIfNegative val="0"/>
          <c:dPt>
            <c:idx val="0"/>
            <c:invertIfNegative val="0"/>
            <c:bubble3D val="0"/>
            <c:spPr>
              <a:solidFill>
                <a:schemeClr val="accent5">
                  <a:lumMod val="25000"/>
                  <a:lumOff val="75000"/>
                </a:schemeClr>
              </a:solidFill>
              <a:ln>
                <a:noFill/>
              </a:ln>
            </c:spPr>
            <c:extLst>
              <c:ext xmlns:c16="http://schemas.microsoft.com/office/drawing/2014/chart" uri="{C3380CC4-5D6E-409C-BE32-E72D297353CC}">
                <c16:uniqueId val="{00000000-4DAD-4CA5-8EEA-552E8514D1C3}"/>
              </c:ext>
            </c:extLst>
          </c:dPt>
          <c:dLbls>
            <c:dLbl>
              <c:idx val="0"/>
              <c:layout>
                <c:manualLayout>
                  <c:x val="-6.4892926670992858E-4"/>
                  <c:y val="3.5398230088495575E-3"/>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DAD-4CA5-8EEA-552E8514D1C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3904</c:v>
                </c:pt>
              </c:numCache>
            </c:numRef>
          </c:val>
          <c:extLst>
            <c:ext xmlns:c16="http://schemas.microsoft.com/office/drawing/2014/chart" uri="{C3380CC4-5D6E-409C-BE32-E72D297353CC}">
              <c16:uniqueId val="{00000001-4DAD-4CA5-8EEA-552E8514D1C3}"/>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904"/>
          <c:min val="0"/>
        </c:scaling>
        <c:delete val="0"/>
        <c:axPos val="b"/>
        <c:majorGridlines>
          <c:spPr>
            <a:ln>
              <a:noFill/>
            </a:ln>
          </c:spPr>
        </c:majorGridlines>
        <c:numFmt formatCode="#,##0;&quot;-&quot;#,##0" sourceLinked="0"/>
        <c:majorTickMark val="out"/>
        <c:minorTickMark val="none"/>
        <c:tickLblPos val="none"/>
        <c:spPr>
          <a:ln w="9525" cmpd="sng" algn="ctr">
            <a:solidFill>
              <a:schemeClr val="tx1"/>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500"/>
        <c:minorUnit val="10"/>
      </c:valAx>
    </c:plotArea>
    <c:plotVisOnly val="0"/>
    <c:dispBlanksAs val="gap"/>
    <c:showDLblsOverMax val="1"/>
  </c:chart>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2"/>
            </a:solidFill>
            <a:ln>
              <a:noFill/>
            </a:ln>
          </c:spPr>
          <c:invertIfNegative val="0"/>
          <c:dLbls>
            <c:dLbl>
              <c:idx val="0"/>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05C1-4E60-A1E2-B0AD8862729C}"/>
                </c:ext>
              </c:extLst>
            </c:dLbl>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Sheet1!$A$1</c:f>
              <c:numCache>
                <c:formatCode>#\ ##0;"-"#\ ##0</c:formatCode>
                <c:ptCount val="1"/>
                <c:pt idx="0">
                  <c:v>1339</c:v>
                </c:pt>
              </c:numCache>
            </c:numRef>
          </c:val>
          <c:extLst>
            <c:ext xmlns:c16="http://schemas.microsoft.com/office/drawing/2014/chart" uri="{C3380CC4-5D6E-409C-BE32-E72D297353CC}">
              <c16:uniqueId val="{00000001-05C1-4E60-A1E2-B0AD8862729C}"/>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r"/>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axMin"/>
          <c:max val="1339"/>
          <c:min val="0"/>
        </c:scaling>
        <c:delete val="0"/>
        <c:axPos val="b"/>
        <c:majorGridlines>
          <c:spPr>
            <a:ln>
              <a:noFill/>
            </a:ln>
          </c:spPr>
        </c:majorGridlines>
        <c:numFmt formatCode="#,##0;&quot;-&quot;#,##0" sourceLinked="0"/>
        <c:majorTickMark val="out"/>
        <c:minorTickMark val="none"/>
        <c:tickLblPos val="none"/>
        <c:spPr>
          <a:ln w="9525" cmpd="sng" algn="ctr">
            <a:solidFill>
              <a:schemeClr val="tx1"/>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400"/>
        <c:minorUnit val="50"/>
      </c:valAx>
    </c:plotArea>
    <c:plotVisOnly val="0"/>
    <c:dispBlanksAs val="gap"/>
    <c:showDLblsOverMax val="1"/>
  </c:chart>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9892473118279563E-2"/>
          <c:y val="6.9892473118279563E-2"/>
          <c:w val="0.86021505376344087"/>
          <c:h val="0.86021505376344087"/>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7090-429F-B911-5E4F188545A0}"/>
              </c:ext>
            </c:extLst>
          </c:dPt>
          <c:dPt>
            <c:idx val="1"/>
            <c:bubble3D val="0"/>
            <c:spPr>
              <a:solidFill>
                <a:schemeClr val="accent2"/>
              </a:solidFill>
              <a:ln>
                <a:noFill/>
              </a:ln>
            </c:spPr>
            <c:extLst>
              <c:ext xmlns:c16="http://schemas.microsoft.com/office/drawing/2014/chart" uri="{C3380CC4-5D6E-409C-BE32-E72D297353CC}">
                <c16:uniqueId val="{00000003-7090-429F-B911-5E4F188545A0}"/>
              </c:ext>
            </c:extLst>
          </c:dPt>
          <c:dPt>
            <c:idx val="2"/>
            <c:bubble3D val="0"/>
            <c:spPr>
              <a:solidFill>
                <a:schemeClr val="accent3"/>
              </a:solidFill>
              <a:ln>
                <a:noFill/>
              </a:ln>
            </c:spPr>
            <c:extLst>
              <c:ext xmlns:c16="http://schemas.microsoft.com/office/drawing/2014/chart" uri="{C3380CC4-5D6E-409C-BE32-E72D297353CC}">
                <c16:uniqueId val="{00000005-7090-429F-B911-5E4F188545A0}"/>
              </c:ext>
            </c:extLst>
          </c:dPt>
          <c:val>
            <c:numRef>
              <c:f>Sheet1!$A$1:$A$3</c:f>
              <c:numCache>
                <c:formatCode>General</c:formatCode>
                <c:ptCount val="3"/>
                <c:pt idx="0">
                  <c:v>52</c:v>
                </c:pt>
                <c:pt idx="1">
                  <c:v>3173</c:v>
                </c:pt>
                <c:pt idx="2">
                  <c:v>5</c:v>
                </c:pt>
              </c:numCache>
            </c:numRef>
          </c:val>
          <c:extLst>
            <c:ext xmlns:c16="http://schemas.microsoft.com/office/drawing/2014/chart" uri="{C3380CC4-5D6E-409C-BE32-E72D297353CC}">
              <c16:uniqueId val="{00000006-7090-429F-B911-5E4F188545A0}"/>
            </c:ext>
          </c:extLst>
        </c:ser>
        <c:dLbls>
          <c:showLegendKey val="0"/>
          <c:showVal val="0"/>
          <c:showCatName val="0"/>
          <c:showSerName val="0"/>
          <c:showPercent val="0"/>
          <c:showBubbleSize val="0"/>
          <c:showLeaderLines val="0"/>
        </c:dLbls>
        <c:firstSliceAng val="0"/>
        <c:holeSize val="60"/>
      </c:doughnutChart>
    </c:plotArea>
    <c:plotVisOnly val="0"/>
    <c:dispBlanksAs val="gap"/>
    <c:showDLblsOverMax val="1"/>
  </c:chart>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Лист1!$B$1</c:f>
              <c:strCache>
                <c:ptCount val="1"/>
                <c:pt idx="0">
                  <c:v>Transfer of employees</c:v>
                </c:pt>
              </c:strCache>
            </c:strRef>
          </c:tx>
          <c:spPr>
            <a:solidFill>
              <a:schemeClr val="accent2">
                <a:tint val="58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Category 1</c:v>
                </c:pt>
              </c:strCache>
            </c:strRef>
          </c:cat>
          <c:val>
            <c:numRef>
              <c:f>Лист1!$B$2</c:f>
              <c:numCache>
                <c:formatCode>General</c:formatCode>
                <c:ptCount val="1"/>
                <c:pt idx="0">
                  <c:v>9</c:v>
                </c:pt>
              </c:numCache>
            </c:numRef>
          </c:val>
          <c:extLst>
            <c:ext xmlns:c16="http://schemas.microsoft.com/office/drawing/2014/chart" uri="{C3380CC4-5D6E-409C-BE32-E72D297353CC}">
              <c16:uniqueId val="{00000000-601F-42F6-890E-9370FE15DC4B}"/>
            </c:ext>
          </c:extLst>
        </c:ser>
        <c:ser>
          <c:idx val="1"/>
          <c:order val="1"/>
          <c:tx>
            <c:strRef>
              <c:f>Лист1!$C$1</c:f>
              <c:strCache>
                <c:ptCount val="1"/>
                <c:pt idx="0">
                  <c:v>Specialist. OK</c:v>
                </c:pt>
              </c:strCache>
            </c:strRef>
          </c:tx>
          <c:spPr>
            <a:solidFill>
              <a:schemeClr val="accent2">
                <a:tint val="8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Category 1</c:v>
                </c:pt>
              </c:strCache>
            </c:strRef>
          </c:cat>
          <c:val>
            <c:numRef>
              <c:f>Лист1!$C$2</c:f>
              <c:numCache>
                <c:formatCode>General</c:formatCode>
                <c:ptCount val="1"/>
                <c:pt idx="0">
                  <c:v>11</c:v>
                </c:pt>
              </c:numCache>
            </c:numRef>
          </c:val>
          <c:extLst>
            <c:ext xmlns:c16="http://schemas.microsoft.com/office/drawing/2014/chart" uri="{C3380CC4-5D6E-409C-BE32-E72D297353CC}">
              <c16:uniqueId val="{00000001-601F-42F6-890E-9370FE15DC4B}"/>
            </c:ext>
          </c:extLst>
        </c:ser>
        <c:ser>
          <c:idx val="2"/>
          <c:order val="2"/>
          <c:tx>
            <c:strRef>
              <c:f>Лист1!$D$1</c:f>
              <c:strCache>
                <c:ptCount val="1"/>
                <c:pt idx="0">
                  <c:v>Other</c:v>
                </c:pt>
              </c:strCache>
            </c:strRef>
          </c:tx>
          <c:spPr>
            <a:solidFill>
              <a:schemeClr val="accent2">
                <a:shade val="8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Category 1</c:v>
                </c:pt>
              </c:strCache>
            </c:strRef>
          </c:cat>
          <c:val>
            <c:numRef>
              <c:f>Лист1!$D$2</c:f>
              <c:numCache>
                <c:formatCode>General</c:formatCode>
                <c:ptCount val="1"/>
                <c:pt idx="0">
                  <c:v>7</c:v>
                </c:pt>
              </c:numCache>
            </c:numRef>
          </c:val>
          <c:extLst>
            <c:ext xmlns:c16="http://schemas.microsoft.com/office/drawing/2014/chart" uri="{C3380CC4-5D6E-409C-BE32-E72D297353CC}">
              <c16:uniqueId val="{00000002-601F-42F6-890E-9370FE15DC4B}"/>
            </c:ext>
          </c:extLst>
        </c:ser>
        <c:ser>
          <c:idx val="3"/>
          <c:order val="3"/>
          <c:tx>
            <c:strRef>
              <c:f>Лист1!$E$1</c:f>
              <c:strCache>
                <c:ptCount val="1"/>
                <c:pt idx="0">
                  <c:v>Installation of additional controls</c:v>
                </c:pt>
              </c:strCache>
            </c:strRef>
          </c:tx>
          <c:spPr>
            <a:solidFill>
              <a:schemeClr val="accent2">
                <a:shade val="58000"/>
              </a:schemeClr>
            </a:solidFill>
            <a:ln>
              <a:noFill/>
            </a:ln>
            <a:effectLst/>
          </c:spPr>
          <c:invertIfNegative val="0"/>
          <c:dLbls>
            <c:dLbl>
              <c:idx val="0"/>
              <c:tx>
                <c:rich>
                  <a:bodyPr/>
                  <a:lstStyle/>
                  <a:p>
                    <a:fld id="{D58A6532-5EF8-4ED9-A143-C092018869C9}" type="VALUE">
                      <a:rPr lang="en-US" sz="800"/>
                      <a:pPr/>
                      <a:t>[ЗНАЧЕНИЕ]</a:t>
                    </a:fld>
                    <a:endParaRPr lang="ru-RU"/>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2D91-4A85-9787-D87E3CB51DEC}"/>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Category 1</c:v>
                </c:pt>
              </c:strCache>
            </c:strRef>
          </c:cat>
          <c:val>
            <c:numRef>
              <c:f>Лист1!$E$2</c:f>
              <c:numCache>
                <c:formatCode>General</c:formatCode>
                <c:ptCount val="1"/>
                <c:pt idx="0">
                  <c:v>25</c:v>
                </c:pt>
              </c:numCache>
            </c:numRef>
          </c:val>
          <c:extLst>
            <c:ext xmlns:c16="http://schemas.microsoft.com/office/drawing/2014/chart" uri="{C3380CC4-5D6E-409C-BE32-E72D297353CC}">
              <c16:uniqueId val="{00000003-601F-42F6-890E-9370FE15DC4B}"/>
            </c:ext>
          </c:extLst>
        </c:ser>
        <c:dLbls>
          <c:dLblPos val="ctr"/>
          <c:showLegendKey val="0"/>
          <c:showVal val="1"/>
          <c:showCatName val="0"/>
          <c:showSerName val="0"/>
          <c:showPercent val="0"/>
          <c:showBubbleSize val="0"/>
        </c:dLbls>
        <c:gapWidth val="150"/>
        <c:overlap val="100"/>
        <c:serLines>
          <c:spPr>
            <a:ln w="9525" cap="flat" cmpd="sng" algn="ctr">
              <a:solidFill>
                <a:schemeClr val="tx1">
                  <a:lumMod val="35000"/>
                  <a:lumOff val="65000"/>
                </a:schemeClr>
              </a:solidFill>
              <a:round/>
            </a:ln>
            <a:effectLst/>
          </c:spPr>
        </c:serLines>
        <c:axId val="432638752"/>
        <c:axId val="432636128"/>
      </c:barChart>
      <c:catAx>
        <c:axId val="432638752"/>
        <c:scaling>
          <c:orientation val="minMax"/>
        </c:scaling>
        <c:delete val="0"/>
        <c:axPos val="l"/>
        <c:numFmt formatCode="General" sourceLinked="1"/>
        <c:majorTickMark val="none"/>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432636128"/>
        <c:crosses val="autoZero"/>
        <c:auto val="1"/>
        <c:lblAlgn val="ctr"/>
        <c:lblOffset val="100"/>
        <c:noMultiLvlLbl val="0"/>
      </c:catAx>
      <c:valAx>
        <c:axId val="432636128"/>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4326387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Column1</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5EE9-4EF2-8B97-ED174AA351BC}"/>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3-5EE9-4EF2-8B97-ED174AA351BC}"/>
              </c:ext>
            </c:extLst>
          </c:dPt>
          <c:dPt>
            <c:idx val="2"/>
            <c:bubble3D val="0"/>
            <c:spPr>
              <a:solidFill>
                <a:schemeClr val="accent2">
                  <a:lumMod val="20000"/>
                  <a:lumOff val="80000"/>
                </a:schemeClr>
              </a:solidFill>
              <a:ln w="19050">
                <a:solidFill>
                  <a:schemeClr val="lt1"/>
                </a:solidFill>
              </a:ln>
              <a:effectLst/>
            </c:spPr>
            <c:extLst>
              <c:ext xmlns:c16="http://schemas.microsoft.com/office/drawing/2014/chart" uri="{C3380CC4-5D6E-409C-BE32-E72D297353CC}">
                <c16:uniqueId val="{00000005-5EE9-4EF2-8B97-ED174AA351BC}"/>
              </c:ext>
            </c:extLst>
          </c:dPt>
          <c:dPt>
            <c:idx val="3"/>
            <c:bubble3D val="0"/>
            <c:spPr>
              <a:solidFill>
                <a:schemeClr val="accent4">
                  <a:lumMod val="40000"/>
                  <a:lumOff val="60000"/>
                </a:schemeClr>
              </a:solidFill>
              <a:ln w="19050">
                <a:solidFill>
                  <a:schemeClr val="lt1"/>
                </a:solidFill>
              </a:ln>
              <a:effectLst/>
            </c:spPr>
            <c:extLst>
              <c:ext xmlns:c16="http://schemas.microsoft.com/office/drawing/2014/chart" uri="{C3380CC4-5D6E-409C-BE32-E72D297353CC}">
                <c16:uniqueId val="{00000007-5EE9-4EF2-8B97-ED174AA351BC}"/>
              </c:ext>
            </c:extLst>
          </c:dPt>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Лист1!$A$2:$A$5</c:f>
              <c:strCache>
                <c:ptCount val="4"/>
                <c:pt idx="0">
                  <c:v>Confirmed</c:v>
                </c:pt>
                <c:pt idx="1">
                  <c:v>Not confirmed</c:v>
                </c:pt>
                <c:pt idx="2">
                  <c:v>N/A* (insufficient information to conduct verification)</c:v>
                </c:pt>
                <c:pt idx="3">
                  <c:v>In progress (as of January 15, 2026)</c:v>
                </c:pt>
              </c:strCache>
            </c:strRef>
          </c:cat>
          <c:val>
            <c:numRef>
              <c:f>Лист1!$B$2:$B$5</c:f>
              <c:numCache>
                <c:formatCode>General</c:formatCode>
                <c:ptCount val="4"/>
                <c:pt idx="0">
                  <c:v>102</c:v>
                </c:pt>
                <c:pt idx="1">
                  <c:v>72</c:v>
                </c:pt>
                <c:pt idx="2">
                  <c:v>11</c:v>
                </c:pt>
                <c:pt idx="3">
                  <c:v>23</c:v>
                </c:pt>
              </c:numCache>
            </c:numRef>
          </c:val>
          <c:extLst>
            <c:ext xmlns:c16="http://schemas.microsoft.com/office/drawing/2014/chart" uri="{C3380CC4-5D6E-409C-BE32-E72D297353CC}">
              <c16:uniqueId val="{00000008-5EE9-4EF2-8B97-ED174AA351BC}"/>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b"/>
      <c:layout>
        <c:manualLayout>
          <c:xMode val="edge"/>
          <c:yMode val="edge"/>
          <c:x val="5.3456848837341808E-2"/>
          <c:y val="0.66023858856757411"/>
          <c:w val="0.90831933473629167"/>
          <c:h val="0.21280110323404156"/>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Column1</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1A62-4407-A764-5E10A266E8E1}"/>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3-1A62-4407-A764-5E10A266E8E1}"/>
              </c:ext>
            </c:extLst>
          </c:dPt>
          <c:dPt>
            <c:idx val="2"/>
            <c:bubble3D val="0"/>
            <c:spPr>
              <a:solidFill>
                <a:schemeClr val="accent2">
                  <a:lumMod val="40000"/>
                  <a:lumOff val="60000"/>
                </a:schemeClr>
              </a:solidFill>
              <a:ln w="19050">
                <a:solidFill>
                  <a:schemeClr val="lt1"/>
                </a:solidFill>
              </a:ln>
              <a:effectLst/>
            </c:spPr>
            <c:extLst>
              <c:ext xmlns:c16="http://schemas.microsoft.com/office/drawing/2014/chart" uri="{C3380CC4-5D6E-409C-BE32-E72D297353CC}">
                <c16:uniqueId val="{00000005-1A62-4407-A764-5E10A266E8E1}"/>
              </c:ext>
            </c:extLst>
          </c:dPt>
          <c:dPt>
            <c:idx val="3"/>
            <c:bubble3D val="0"/>
            <c:spPr>
              <a:solidFill>
                <a:schemeClr val="accent4">
                  <a:lumMod val="40000"/>
                  <a:lumOff val="60000"/>
                </a:schemeClr>
              </a:solidFill>
              <a:ln w="19050">
                <a:solidFill>
                  <a:schemeClr val="lt1"/>
                </a:solidFill>
              </a:ln>
              <a:effectLst/>
            </c:spPr>
            <c:extLst>
              <c:ext xmlns:c16="http://schemas.microsoft.com/office/drawing/2014/chart" uri="{C3380CC4-5D6E-409C-BE32-E72D297353CC}">
                <c16:uniqueId val="{00000007-1A62-4407-A764-5E10A266E8E1}"/>
              </c:ext>
            </c:extLst>
          </c:dPt>
          <c:dLbls>
            <c:dLbl>
              <c:idx val="0"/>
              <c:layout>
                <c:manualLayout>
                  <c:x val="0"/>
                  <c:y val="-1.640826873385013E-2"/>
                </c:manualLayout>
              </c:layout>
              <c:tx>
                <c:rich>
                  <a:bodyPr/>
                  <a:lstStyle/>
                  <a:p>
                    <a:fld id="{88A589D4-664F-4AAA-8D7B-C82C7581E3FC}" type="VALUE">
                      <a:rPr lang="en-US" sz="700" smtClean="0"/>
                      <a:pPr/>
                      <a:t>[ЗНАЧЕНИЕ]</a:t>
                    </a:fld>
                    <a:endParaRPr lang="ru-RU"/>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1-1A62-4407-A764-5E10A266E8E1}"/>
                </c:ext>
              </c:extLst>
            </c:dLbl>
            <c:dLbl>
              <c:idx val="1"/>
              <c:layout/>
              <c:tx>
                <c:rich>
                  <a:bodyPr/>
                  <a:lstStyle/>
                  <a:p>
                    <a:fld id="{CDE080C9-6F0B-4E84-8DA6-FDF705AE6DD3}" type="VALUE">
                      <a:rPr lang="en-US" sz="700" smtClean="0"/>
                      <a:pPr/>
                      <a:t>[ЗНАЧЕНИЕ]</a:t>
                    </a:fld>
                    <a:endParaRPr lang="ru-RU"/>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3-1A62-4407-A764-5E10A266E8E1}"/>
                </c:ext>
              </c:extLst>
            </c:dLbl>
            <c:dLbl>
              <c:idx val="3"/>
              <c:layout/>
              <c:tx>
                <c:rich>
                  <a:bodyPr/>
                  <a:lstStyle/>
                  <a:p>
                    <a:fld id="{CA437B2A-2421-4A3B-B28B-1D010DA8EA5B}" type="VALUE">
                      <a:rPr lang="en-US" sz="700" smtClean="0"/>
                      <a:pPr/>
                      <a:t>[ЗНАЧЕНИЕ]</a:t>
                    </a:fld>
                    <a:endParaRPr lang="ru-RU"/>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7-1A62-4407-A764-5E10A266E8E1}"/>
                </c:ext>
              </c:extLst>
            </c:dLbl>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Лист1!$A$2:$A$5</c:f>
              <c:strCache>
                <c:ptCount val="4"/>
                <c:pt idx="0">
                  <c:v>Confirmed</c:v>
                </c:pt>
                <c:pt idx="1">
                  <c:v>N/A</c:v>
                </c:pt>
                <c:pt idx="2">
                  <c:v>Not confirmed</c:v>
                </c:pt>
                <c:pt idx="3">
                  <c:v>In progress</c:v>
                </c:pt>
              </c:strCache>
            </c:strRef>
          </c:cat>
          <c:val>
            <c:numRef>
              <c:f>Лист1!$B$2:$B$5</c:f>
              <c:numCache>
                <c:formatCode>General</c:formatCode>
                <c:ptCount val="4"/>
                <c:pt idx="0">
                  <c:v>102</c:v>
                </c:pt>
                <c:pt idx="1">
                  <c:v>11</c:v>
                </c:pt>
                <c:pt idx="2">
                  <c:v>72</c:v>
                </c:pt>
                <c:pt idx="3">
                  <c:v>23</c:v>
                </c:pt>
              </c:numCache>
            </c:numRef>
          </c:val>
          <c:extLst>
            <c:ext xmlns:c16="http://schemas.microsoft.com/office/drawing/2014/chart" uri="{C3380CC4-5D6E-409C-BE32-E72D297353CC}">
              <c16:uniqueId val="{00000008-1A62-4407-A764-5E10A266E8E1}"/>
            </c:ext>
          </c:extLst>
        </c:ser>
        <c:dLbls>
          <c:showLegendKey val="0"/>
          <c:showVal val="0"/>
          <c:showCatName val="0"/>
          <c:showSerName val="0"/>
          <c:showPercent val="0"/>
          <c:showBubbleSize val="0"/>
          <c:showLeaderLines val="1"/>
        </c:dLbls>
        <c:firstSliceAng val="0"/>
        <c:holeSize val="50"/>
      </c:doughnutChart>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255268199233715"/>
          <c:y val="0.11992894056847547"/>
          <c:w val="0.5148946360153257"/>
          <c:h val="0.69450904392764856"/>
        </c:manualLayout>
      </c:layout>
      <c:doughnutChart>
        <c:varyColors val="1"/>
        <c:ser>
          <c:idx val="0"/>
          <c:order val="0"/>
          <c:tx>
            <c:strRef>
              <c:f>Лист1!$B$1</c:f>
              <c:strCache>
                <c:ptCount val="1"/>
                <c:pt idx="0">
                  <c:v>Column1</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0AC1-4BAC-80E4-93E3525D4B36}"/>
              </c:ext>
            </c:extLst>
          </c:dPt>
          <c:dPt>
            <c:idx val="1"/>
            <c:bubble3D val="0"/>
            <c:spPr>
              <a:solidFill>
                <a:schemeClr val="accent2">
                  <a:lumMod val="40000"/>
                  <a:lumOff val="60000"/>
                </a:schemeClr>
              </a:solidFill>
              <a:ln w="19050">
                <a:solidFill>
                  <a:schemeClr val="lt1"/>
                </a:solidFill>
              </a:ln>
              <a:effectLst/>
            </c:spPr>
            <c:extLst>
              <c:ext xmlns:c16="http://schemas.microsoft.com/office/drawing/2014/chart" uri="{C3380CC4-5D6E-409C-BE32-E72D297353CC}">
                <c16:uniqueId val="{00000003-0AC1-4BAC-80E4-93E3525D4B36}"/>
              </c:ext>
            </c:extLst>
          </c:dPt>
          <c:dPt>
            <c:idx val="2"/>
            <c:bubble3D val="0"/>
            <c:spPr>
              <a:solidFill>
                <a:srgbClr val="FFC000"/>
              </a:solidFill>
              <a:ln w="19050">
                <a:solidFill>
                  <a:schemeClr val="lt1"/>
                </a:solidFill>
              </a:ln>
              <a:effectLst/>
            </c:spPr>
            <c:extLst>
              <c:ext xmlns:c16="http://schemas.microsoft.com/office/drawing/2014/chart" uri="{C3380CC4-5D6E-409C-BE32-E72D297353CC}">
                <c16:uniqueId val="{00000005-0AC1-4BAC-80E4-93E3525D4B36}"/>
              </c:ext>
            </c:extLst>
          </c:dPt>
          <c:dLbls>
            <c:dLbl>
              <c:idx val="0"/>
              <c:layout/>
              <c:tx>
                <c:rich>
                  <a:bodyPr/>
                  <a:lstStyle/>
                  <a:p>
                    <a:fld id="{88A589D4-664F-4AAA-8D7B-C82C7581E3FC}" type="VALUE">
                      <a:rPr lang="en-US" smtClean="0"/>
                      <a:pPr/>
                      <a:t>[ЗНАЧЕНИЕ]</a:t>
                    </a:fld>
                    <a:r>
                      <a:rPr lang="en-US" baseline="0" dirty="0"/>
                      <a:t> </a:t>
                    </a:r>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1-0AC1-4BAC-80E4-93E3525D4B36}"/>
                </c:ext>
              </c:extLst>
            </c:dLbl>
            <c:dLbl>
              <c:idx val="1"/>
              <c:layout>
                <c:manualLayout>
                  <c:x val="6.0823754789272027E-3"/>
                  <c:y val="-8.2041343669250651E-3"/>
                </c:manualLayout>
              </c:layout>
              <c:tx>
                <c:rich>
                  <a:bodyPr/>
                  <a:lstStyle/>
                  <a:p>
                    <a:fld id="{CA437B2A-2421-4A3B-B28B-1D010DA8EA5B}" type="VALUE">
                      <a:rPr lang="en-US" smtClean="0"/>
                      <a:pPr/>
                      <a:t>[ЗНАЧЕНИЕ]</a:t>
                    </a:fld>
                    <a:endParaRPr lang="ru-RU"/>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3-0AC1-4BAC-80E4-93E3525D4B36}"/>
                </c:ext>
              </c:extLst>
            </c:dLbl>
            <c:dLbl>
              <c:idx val="2"/>
              <c:layout>
                <c:manualLayout>
                  <c:x val="-2.7877232238250672E-17"/>
                  <c:y val="8.2041343669250651E-3"/>
                </c:manualLayout>
              </c:layout>
              <c:tx>
                <c:rich>
                  <a:bodyPr/>
                  <a:lstStyle/>
                  <a:p>
                    <a:fld id="{4EE927FA-D180-454F-9597-E836FCF30CA9}" type="VALUE">
                      <a:rPr lang="en-US" smtClean="0"/>
                      <a:pPr/>
                      <a:t>[ЗНАЧЕНИЕ]</a:t>
                    </a:fld>
                    <a:endParaRPr lang="ru-RU"/>
                  </a:p>
                </c:rich>
              </c:tx>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5-0AC1-4BAC-80E4-93E3525D4B36}"/>
                </c:ext>
              </c:extLst>
            </c:dLbl>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extLst>
          </c:dLbls>
          <c:cat>
            <c:strRef>
              <c:f>Лист1!$A$2:$A$4</c:f>
              <c:strCache>
                <c:ptCount val="3"/>
                <c:pt idx="0">
                  <c:v>Confirmed</c:v>
                </c:pt>
                <c:pt idx="1">
                  <c:v>Not confirmed</c:v>
                </c:pt>
                <c:pt idx="2">
                  <c:v>N/A</c:v>
                </c:pt>
              </c:strCache>
            </c:strRef>
          </c:cat>
          <c:val>
            <c:numRef>
              <c:f>Лист1!$B$2:$B$4</c:f>
              <c:numCache>
                <c:formatCode>General</c:formatCode>
                <c:ptCount val="3"/>
                <c:pt idx="0">
                  <c:v>89</c:v>
                </c:pt>
                <c:pt idx="1">
                  <c:v>75</c:v>
                </c:pt>
                <c:pt idx="2">
                  <c:v>20</c:v>
                </c:pt>
              </c:numCache>
            </c:numRef>
          </c:val>
          <c:extLst>
            <c:ext xmlns:c16="http://schemas.microsoft.com/office/drawing/2014/chart" uri="{C3380CC4-5D6E-409C-BE32-E72D297353CC}">
              <c16:uniqueId val="{00000006-0AC1-4BAC-80E4-93E3525D4B36}"/>
            </c:ext>
          </c:extLst>
        </c:ser>
        <c:dLbls>
          <c:showLegendKey val="0"/>
          <c:showVal val="0"/>
          <c:showCatName val="0"/>
          <c:showSerName val="0"/>
          <c:showPercent val="0"/>
          <c:showBubbleSize val="0"/>
          <c:showLeaderLines val="0"/>
        </c:dLbls>
        <c:firstSliceAng val="0"/>
        <c:holeSize val="50"/>
      </c:doughnutChart>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700" b="0" i="0" u="none" strike="noStrike" kern="1200" spc="0" baseline="0">
                <a:solidFill>
                  <a:schemeClr val="tx1">
                    <a:lumMod val="65000"/>
                    <a:lumOff val="35000"/>
                  </a:schemeClr>
                </a:solidFill>
                <a:latin typeface="+mn-lt"/>
                <a:ea typeface="+mn-ea"/>
                <a:cs typeface="+mn-cs"/>
              </a:defRPr>
            </a:pPr>
            <a:r>
              <a:rPr lang="ru-RU" sz="700" b="1" dirty="0">
                <a:solidFill>
                  <a:schemeClr val="tx1"/>
                </a:solidFill>
              </a:rPr>
              <a:t>Transactions</a:t>
            </a:r>
          </a:p>
        </c:rich>
      </c:tx>
      <c:layout>
        <c:manualLayout>
          <c:xMode val="edge"/>
          <c:yMode val="edge"/>
          <c:x val="0.44021731398491964"/>
          <c:y val="3.2310794222219393E-2"/>
        </c:manualLayout>
      </c:layout>
      <c:overlay val="0"/>
      <c:spPr>
        <a:noFill/>
        <a:ln>
          <a:noFill/>
        </a:ln>
        <a:effectLst/>
      </c:spPr>
      <c:txPr>
        <a:bodyPr rot="0" spcFirstLastPara="1" vertOverflow="ellipsis" vert="horz" wrap="square" anchor="ctr" anchorCtr="1"/>
        <a:lstStyle/>
        <a:p>
          <a:pPr>
            <a:defRPr sz="700" b="0" i="0" u="none" strike="noStrike" kern="1200" spc="0" baseline="0">
              <a:solidFill>
                <a:schemeClr val="tx1">
                  <a:lumMod val="65000"/>
                  <a:lumOff val="35000"/>
                </a:schemeClr>
              </a:solidFill>
              <a:latin typeface="+mn-lt"/>
              <a:ea typeface="+mn-ea"/>
              <a:cs typeface="+mn-cs"/>
            </a:defRPr>
          </a:pPr>
          <a:endParaRPr lang="ru-RU"/>
        </a:p>
      </c:txPr>
    </c:title>
    <c:autoTitleDeleted val="0"/>
    <c:plotArea>
      <c:layout>
        <c:manualLayout>
          <c:layoutTarget val="inner"/>
          <c:xMode val="edge"/>
          <c:yMode val="edge"/>
          <c:x val="0.23153435766111827"/>
          <c:y val="0.14214756534773326"/>
          <c:w val="0.62233745909802252"/>
          <c:h val="0.59933258280701085"/>
        </c:manualLayout>
      </c:layout>
      <c:pieChart>
        <c:varyColors val="1"/>
        <c:ser>
          <c:idx val="0"/>
          <c:order val="0"/>
          <c:tx>
            <c:strRef>
              <c:f>Лист1!$B$1</c:f>
              <c:strCache>
                <c:ptCount val="1"/>
                <c:pt idx="0">
                  <c:v>Column1</c:v>
                </c:pt>
              </c:strCache>
            </c:strRef>
          </c:tx>
          <c:dPt>
            <c:idx val="0"/>
            <c:bubble3D val="0"/>
            <c:spPr>
              <a:solidFill>
                <a:srgbClr val="00B0F0"/>
              </a:solidFill>
              <a:ln w="19050">
                <a:solidFill>
                  <a:schemeClr val="lt1"/>
                </a:solidFill>
              </a:ln>
              <a:effectLst/>
            </c:spPr>
            <c:extLst>
              <c:ext xmlns:c16="http://schemas.microsoft.com/office/drawing/2014/chart" uri="{C3380CC4-5D6E-409C-BE32-E72D297353CC}">
                <c16:uniqueId val="{00000001-3AAB-4693-BA32-9FA121015B6A}"/>
              </c:ext>
            </c:extLst>
          </c:dPt>
          <c:dPt>
            <c:idx val="1"/>
            <c:bubble3D val="0"/>
            <c:spPr>
              <a:solidFill>
                <a:schemeClr val="accent4">
                  <a:lumMod val="40000"/>
                  <a:lumOff val="60000"/>
                </a:schemeClr>
              </a:solidFill>
              <a:ln w="19050">
                <a:solidFill>
                  <a:schemeClr val="lt1"/>
                </a:solidFill>
              </a:ln>
              <a:effectLst/>
            </c:spPr>
            <c:extLst>
              <c:ext xmlns:c16="http://schemas.microsoft.com/office/drawing/2014/chart" uri="{C3380CC4-5D6E-409C-BE32-E72D297353CC}">
                <c16:uniqueId val="{00000003-3AAB-4693-BA32-9FA121015B6A}"/>
              </c:ext>
            </c:extLst>
          </c:dPt>
          <c:dPt>
            <c:idx val="2"/>
            <c:bubble3D val="0"/>
            <c:spPr>
              <a:solidFill>
                <a:schemeClr val="accent5">
                  <a:lumMod val="25000"/>
                  <a:lumOff val="75000"/>
                </a:schemeClr>
              </a:solidFill>
              <a:ln w="19050">
                <a:solidFill>
                  <a:schemeClr val="lt1"/>
                </a:solidFill>
              </a:ln>
              <a:effectLst/>
            </c:spPr>
            <c:extLst>
              <c:ext xmlns:c16="http://schemas.microsoft.com/office/drawing/2014/chart" uri="{C3380CC4-5D6E-409C-BE32-E72D297353CC}">
                <c16:uniqueId val="{00000005-3AAB-4693-BA32-9FA121015B6A}"/>
              </c:ext>
            </c:extLst>
          </c:dPt>
          <c:dLbls>
            <c:dLbl>
              <c:idx val="0"/>
              <c:layout>
                <c:manualLayout>
                  <c:x val="0.10533646322378713"/>
                  <c:y val="1.7804597695080492E-2"/>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3AAB-4693-BA32-9FA121015B6A}"/>
                </c:ext>
              </c:extLst>
            </c:dLbl>
            <c:dLbl>
              <c:idx val="1"/>
              <c:layout>
                <c:manualLayout>
                  <c:x val="5.8009318537487552E-2"/>
                  <c:y val="6.011566309335676E-2"/>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3AAB-4693-BA32-9FA121015B6A}"/>
                </c:ext>
              </c:extLst>
            </c:dLbl>
            <c:numFmt formatCode="General" sourceLinked="0"/>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dLblPos val="bestFit"/>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Лист1!$A$2:$A$4</c:f>
              <c:strCache>
                <c:ptCount val="3"/>
                <c:pt idx="0">
                  <c:v>Transactions of counterparties from the Compliance List</c:v>
                </c:pt>
                <c:pt idx="1">
                  <c:v>Transactions of other counterparties</c:v>
                </c:pt>
                <c:pt idx="2">
                  <c:v>Transaction potential from the Compliance List</c:v>
                </c:pt>
              </c:strCache>
            </c:strRef>
          </c:cat>
          <c:val>
            <c:numRef>
              <c:f>Лист1!$B$2:$B$4</c:f>
              <c:numCache>
                <c:formatCode>General</c:formatCode>
                <c:ptCount val="3"/>
                <c:pt idx="0">
                  <c:v>452</c:v>
                </c:pt>
                <c:pt idx="1">
                  <c:v>615</c:v>
                </c:pt>
                <c:pt idx="2">
                  <c:v>3703</c:v>
                </c:pt>
              </c:numCache>
            </c:numRef>
          </c:val>
          <c:extLst>
            <c:ext xmlns:c16="http://schemas.microsoft.com/office/drawing/2014/chart" uri="{C3380CC4-5D6E-409C-BE32-E72D297353CC}">
              <c16:uniqueId val="{00000006-3AAB-4693-BA32-9FA121015B6A}"/>
            </c:ext>
          </c:extLst>
        </c:ser>
        <c:dLbls>
          <c:showLegendKey val="0"/>
          <c:showVal val="0"/>
          <c:showCatName val="0"/>
          <c:showSerName val="0"/>
          <c:showPercent val="0"/>
          <c:showBubbleSize val="0"/>
          <c:showLeaderLines val="1"/>
        </c:dLbls>
        <c:firstSliceAng val="276"/>
      </c:pieChart>
      <c:spPr>
        <a:noFill/>
        <a:ln>
          <a:noFill/>
        </a:ln>
        <a:effectLst/>
      </c:spPr>
    </c:plotArea>
    <c:legend>
      <c:legendPos val="b"/>
      <c:layout>
        <c:manualLayout>
          <c:xMode val="edge"/>
          <c:yMode val="edge"/>
          <c:x val="3.5819462227912953E-3"/>
          <c:y val="0.84288770302903093"/>
          <c:w val="0.99283610755441742"/>
          <c:h val="0.15711229697096904"/>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700" b="1" i="0" u="none" strike="noStrike" kern="1200" spc="0" baseline="0">
                <a:solidFill>
                  <a:schemeClr val="tx1"/>
                </a:solidFill>
                <a:latin typeface="+mn-lt"/>
                <a:ea typeface="+mn-ea"/>
                <a:cs typeface="+mn-cs"/>
              </a:defRPr>
            </a:pPr>
            <a:r>
              <a:rPr lang="ru-RU" sz="700" b="1" dirty="0">
                <a:solidFill>
                  <a:schemeClr val="tx1"/>
                </a:solidFill>
                <a:effectLst/>
              </a:rPr>
              <a:t>Unique counterparties</a:t>
            </a:r>
          </a:p>
        </c:rich>
      </c:tx>
      <c:layout>
        <c:manualLayout>
          <c:xMode val="edge"/>
          <c:yMode val="edge"/>
          <c:x val="0.26079947330492265"/>
          <c:y val="4.509574199089602E-2"/>
        </c:manualLayout>
      </c:layout>
      <c:overlay val="0"/>
      <c:spPr>
        <a:noFill/>
        <a:ln>
          <a:noFill/>
        </a:ln>
        <a:effectLst/>
      </c:spPr>
      <c:txPr>
        <a:bodyPr rot="0" spcFirstLastPara="1" vertOverflow="ellipsis" vert="horz" wrap="square" anchor="ctr" anchorCtr="1"/>
        <a:lstStyle/>
        <a:p>
          <a:pPr>
            <a:defRPr sz="700" b="1" i="0" u="none" strike="noStrike" kern="1200" spc="0" baseline="0">
              <a:solidFill>
                <a:schemeClr val="tx1"/>
              </a:solidFill>
              <a:latin typeface="+mn-lt"/>
              <a:ea typeface="+mn-ea"/>
              <a:cs typeface="+mn-cs"/>
            </a:defRPr>
          </a:pPr>
          <a:endParaRPr lang="ru-RU"/>
        </a:p>
      </c:txPr>
    </c:title>
    <c:autoTitleDeleted val="0"/>
    <c:plotArea>
      <c:layout>
        <c:manualLayout>
          <c:layoutTarget val="inner"/>
          <c:xMode val="edge"/>
          <c:yMode val="edge"/>
          <c:x val="0.23164049502219772"/>
          <c:y val="0.14564795684818654"/>
          <c:w val="0.50009662007669109"/>
          <c:h val="0.59506471035852715"/>
        </c:manualLayout>
      </c:layout>
      <c:pieChart>
        <c:varyColors val="1"/>
        <c:ser>
          <c:idx val="0"/>
          <c:order val="0"/>
          <c:tx>
            <c:strRef>
              <c:f>Лист1!$B$1</c:f>
              <c:strCache>
                <c:ptCount val="1"/>
                <c:pt idx="0">
                  <c:v>Column1</c:v>
                </c:pt>
              </c:strCache>
            </c:strRef>
          </c:tx>
          <c:dPt>
            <c:idx val="0"/>
            <c:bubble3D val="0"/>
            <c:spPr>
              <a:solidFill>
                <a:srgbClr val="00B0F0"/>
              </a:solidFill>
              <a:ln w="19050">
                <a:solidFill>
                  <a:schemeClr val="lt1"/>
                </a:solidFill>
              </a:ln>
              <a:effectLst/>
            </c:spPr>
            <c:extLst>
              <c:ext xmlns:c16="http://schemas.microsoft.com/office/drawing/2014/chart" uri="{C3380CC4-5D6E-409C-BE32-E72D297353CC}">
                <c16:uniqueId val="{00000001-F5FB-49EC-9976-CD14ED359889}"/>
              </c:ext>
            </c:extLst>
          </c:dPt>
          <c:dPt>
            <c:idx val="1"/>
            <c:bubble3D val="0"/>
            <c:spPr>
              <a:solidFill>
                <a:schemeClr val="accent5">
                  <a:lumMod val="25000"/>
                  <a:lumOff val="75000"/>
                </a:schemeClr>
              </a:solidFill>
              <a:ln w="19050">
                <a:solidFill>
                  <a:schemeClr val="lt1"/>
                </a:solidFill>
              </a:ln>
              <a:effectLst/>
            </c:spPr>
            <c:extLst>
              <c:ext xmlns:c16="http://schemas.microsoft.com/office/drawing/2014/chart" uri="{C3380CC4-5D6E-409C-BE32-E72D297353CC}">
                <c16:uniqueId val="{00000003-F5FB-49EC-9976-CD14ED359889}"/>
              </c:ext>
            </c:extLst>
          </c:dPt>
          <c:dPt>
            <c:idx val="2"/>
            <c:bubble3D val="0"/>
            <c:spPr>
              <a:solidFill>
                <a:schemeClr val="accent4">
                  <a:lumMod val="40000"/>
                  <a:lumOff val="60000"/>
                </a:schemeClr>
              </a:solidFill>
              <a:ln w="19050">
                <a:solidFill>
                  <a:schemeClr val="lt1"/>
                </a:solidFill>
              </a:ln>
              <a:effectLst/>
            </c:spPr>
            <c:extLst>
              <c:ext xmlns:c16="http://schemas.microsoft.com/office/drawing/2014/chart" uri="{C3380CC4-5D6E-409C-BE32-E72D297353CC}">
                <c16:uniqueId val="{00000005-F5FB-49EC-9976-CD14ED359889}"/>
              </c:ext>
            </c:extLst>
          </c:dPt>
          <c:dLbls>
            <c:dLbl>
              <c:idx val="0"/>
              <c:layout>
                <c:manualLayout>
                  <c:x val="-0.13617772400110312"/>
                  <c:y val="2.7258256642005978E-2"/>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5FB-49EC-9976-CD14ED359889}"/>
                </c:ext>
              </c:extLst>
            </c:dLbl>
            <c:dLbl>
              <c:idx val="2"/>
              <c:layout>
                <c:manualLayout>
                  <c:x val="0.2284166229236915"/>
                  <c:y val="5.2831583685613102E-2"/>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F5FB-49EC-9976-CD14ED359889}"/>
                </c:ext>
              </c:extLst>
            </c:dLbl>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dLblPos val="bestFit"/>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Лист1!$A$2:$A$4</c:f>
              <c:strCache>
                <c:ptCount val="3"/>
                <c:pt idx="0">
                  <c:v>Counterparties from the Compliance List with transactions</c:v>
                </c:pt>
                <c:pt idx="1">
                  <c:v>Counterparties from the Compliance List without transactions</c:v>
                </c:pt>
                <c:pt idx="2">
                  <c:v>Other counterparties with transactions</c:v>
                </c:pt>
              </c:strCache>
            </c:strRef>
          </c:cat>
          <c:val>
            <c:numRef>
              <c:f>Лист1!$B$2:$B$4</c:f>
              <c:numCache>
                <c:formatCode>General</c:formatCode>
                <c:ptCount val="3"/>
                <c:pt idx="0">
                  <c:v>196</c:v>
                </c:pt>
                <c:pt idx="1">
                  <c:v>267</c:v>
                </c:pt>
                <c:pt idx="2">
                  <c:v>1474</c:v>
                </c:pt>
              </c:numCache>
            </c:numRef>
          </c:val>
          <c:extLst>
            <c:ext xmlns:c16="http://schemas.microsoft.com/office/drawing/2014/chart" uri="{C3380CC4-5D6E-409C-BE32-E72D297353CC}">
              <c16:uniqueId val="{00000006-F5FB-49EC-9976-CD14ED359889}"/>
            </c:ext>
          </c:extLst>
        </c:ser>
        <c:dLbls>
          <c:dLblPos val="bestFit"/>
          <c:showLegendKey val="0"/>
          <c:showVal val="1"/>
          <c:showCatName val="0"/>
          <c:showSerName val="0"/>
          <c:showPercent val="0"/>
          <c:showBubbleSize val="0"/>
          <c:showLeaderLines val="1"/>
        </c:dLbls>
        <c:firstSliceAng val="71"/>
      </c:pieChart>
      <c:spPr>
        <a:noFill/>
        <a:ln>
          <a:noFill/>
        </a:ln>
        <a:effectLst/>
      </c:spPr>
    </c:plotArea>
    <c:legend>
      <c:legendPos val="b"/>
      <c:layout>
        <c:manualLayout>
          <c:xMode val="edge"/>
          <c:yMode val="edge"/>
          <c:x val="0"/>
          <c:y val="0.84377285336623864"/>
          <c:w val="0.99616010818601575"/>
          <c:h val="0.155763039360616"/>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9309714706464421E-2"/>
          <c:y val="2.1752996145903699E-2"/>
          <c:w val="0.89251282200662718"/>
          <c:h val="0.44700464261339096"/>
        </c:manualLayout>
      </c:layout>
      <c:barChart>
        <c:barDir val="col"/>
        <c:grouping val="stacked"/>
        <c:varyColors val="0"/>
        <c:ser>
          <c:idx val="0"/>
          <c:order val="0"/>
          <c:tx>
            <c:strRef>
              <c:f>Лист1!$B$1</c:f>
              <c:strCache>
                <c:ptCount val="1"/>
                <c:pt idx="0">
                  <c:v>Excluded</c:v>
                </c:pt>
              </c:strCache>
            </c:strRef>
          </c:tx>
          <c:spPr>
            <a:solidFill>
              <a:schemeClr val="accent1"/>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0-21A3-487E-9CD1-9216B2C13E8E}"/>
                </c:ext>
              </c:extLst>
            </c:dLbl>
            <c:dLbl>
              <c:idx val="1"/>
              <c:delete val="1"/>
              <c:extLst>
                <c:ext xmlns:c15="http://schemas.microsoft.com/office/drawing/2012/chart" uri="{CE6537A1-D6FC-4f65-9D91-7224C49458BB}"/>
                <c:ext xmlns:c16="http://schemas.microsoft.com/office/drawing/2014/chart" uri="{C3380CC4-5D6E-409C-BE32-E72D297353CC}">
                  <c16:uniqueId val="{00000001-21A3-487E-9CD1-9216B2C13E8E}"/>
                </c:ext>
              </c:extLst>
            </c:dLbl>
            <c:dLbl>
              <c:idx val="2"/>
              <c:tx>
                <c:rich>
                  <a:bodyPr/>
                  <a:lstStyle/>
                  <a:p>
                    <a:fld id="{AE366BA5-0FA1-431B-9830-FCEF37E6E75F}" type="VALUE">
                      <a:rPr lang="en-US" sz="700">
                        <a:solidFill>
                          <a:schemeClr val="tx1"/>
                        </a:solidFill>
                      </a:rPr>
                      <a:pPr/>
                      <a:t>[ЗНАЧЕНИЕ]</a:t>
                    </a:fld>
                    <a:endParaRPr lang="ru-RU"/>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21A3-487E-9CD1-9216B2C13E8E}"/>
                </c:ext>
              </c:extLst>
            </c:dLbl>
            <c:dLbl>
              <c:idx val="3"/>
              <c:delete val="1"/>
              <c:extLst>
                <c:ext xmlns:c15="http://schemas.microsoft.com/office/drawing/2012/chart" uri="{CE6537A1-D6FC-4f65-9D91-7224C49458BB}"/>
                <c:ext xmlns:c16="http://schemas.microsoft.com/office/drawing/2014/chart" uri="{C3380CC4-5D6E-409C-BE32-E72D297353CC}">
                  <c16:uniqueId val="{00000003-21A3-487E-9CD1-9216B2C13E8E}"/>
                </c:ext>
              </c:extLst>
            </c:dLbl>
            <c:dLbl>
              <c:idx val="4"/>
              <c:layout>
                <c:manualLayout>
                  <c:x val="-1.0033446137182489E-2"/>
                  <c:y val="-7.5612433248292331E-17"/>
                </c:manualLayout>
              </c:layout>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1A3-487E-9CD1-9216B2C13E8E}"/>
                </c:ext>
              </c:extLst>
            </c:dLbl>
            <c:dLbl>
              <c:idx val="5"/>
              <c:delete val="1"/>
              <c:extLst>
                <c:ext xmlns:c15="http://schemas.microsoft.com/office/drawing/2012/chart" uri="{CE6537A1-D6FC-4f65-9D91-7224C49458BB}"/>
                <c:ext xmlns:c16="http://schemas.microsoft.com/office/drawing/2014/chart" uri="{C3380CC4-5D6E-409C-BE32-E72D297353CC}">
                  <c16:uniqueId val="{00000005-21A3-487E-9CD1-9216B2C13E8E}"/>
                </c:ext>
              </c:extLst>
            </c:dLbl>
            <c:dLbl>
              <c:idx val="6"/>
              <c:tx>
                <c:rich>
                  <a:bodyPr/>
                  <a:lstStyle/>
                  <a:p>
                    <a:fld id="{73C4B478-6D12-492F-B382-7964A25C3C86}" type="VALUE">
                      <a:rPr lang="en-US" sz="700">
                        <a:solidFill>
                          <a:schemeClr val="tx1"/>
                        </a:solidFill>
                      </a:rPr>
                      <a:pPr/>
                      <a:t>[ЗНАЧЕНИЕ]</a:t>
                    </a:fld>
                    <a:endParaRPr lang="ru-RU"/>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21A3-487E-9CD1-9216B2C13E8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Лист1!$A$2:$A$8</c:f>
              <c:strCache>
                <c:ptCount val="7"/>
                <c:pt idx="0">
                  <c:v>Category A</c:v>
                </c:pt>
                <c:pt idx="1">
                  <c:v>Category B</c:v>
                </c:pt>
                <c:pt idx="2">
                  <c:v>Category C</c:v>
                </c:pt>
                <c:pt idx="3">
                  <c:v>Category D</c:v>
                </c:pt>
                <c:pt idx="4">
                  <c:v>Category Intermediaries</c:v>
                </c:pt>
                <c:pt idx="5">
                  <c:v>Banks</c:v>
                </c:pt>
                <c:pt idx="6">
                  <c:v>Manufacturers for categories</c:v>
                </c:pt>
              </c:strCache>
            </c:strRef>
          </c:cat>
          <c:val>
            <c:numRef>
              <c:f>Лист1!$B$2:$B$8</c:f>
              <c:numCache>
                <c:formatCode>General</c:formatCode>
                <c:ptCount val="7"/>
                <c:pt idx="0">
                  <c:v>0</c:v>
                </c:pt>
                <c:pt idx="1">
                  <c:v>0</c:v>
                </c:pt>
                <c:pt idx="2">
                  <c:v>70</c:v>
                </c:pt>
                <c:pt idx="3">
                  <c:v>0</c:v>
                </c:pt>
                <c:pt idx="4">
                  <c:v>28</c:v>
                </c:pt>
                <c:pt idx="5">
                  <c:v>0</c:v>
                </c:pt>
                <c:pt idx="6">
                  <c:v>73</c:v>
                </c:pt>
              </c:numCache>
            </c:numRef>
          </c:val>
          <c:extLst>
            <c:ext xmlns:c16="http://schemas.microsoft.com/office/drawing/2014/chart" uri="{C3380CC4-5D6E-409C-BE32-E72D297353CC}">
              <c16:uniqueId val="{00000007-21A3-487E-9CD1-9216B2C13E8E}"/>
            </c:ext>
          </c:extLst>
        </c:ser>
        <c:ser>
          <c:idx val="1"/>
          <c:order val="1"/>
          <c:tx>
            <c:strRef>
              <c:f>Лист1!$C$1</c:f>
              <c:strCache>
                <c:ptCount val="1"/>
                <c:pt idx="0">
                  <c:v>Active</c:v>
                </c:pt>
              </c:strCache>
            </c:strRef>
          </c:tx>
          <c:spPr>
            <a:solidFill>
              <a:schemeClr val="accent5">
                <a:lumMod val="50000"/>
                <a:lumOff val="50000"/>
              </a:schemeClr>
            </a:solidFill>
            <a:ln>
              <a:noFill/>
            </a:ln>
            <a:effectLst/>
          </c:spPr>
          <c:invertIfNegative val="0"/>
          <c:dLbls>
            <c:dLbl>
              <c:idx val="0"/>
              <c:layout>
                <c:manualLayout>
                  <c:x val="-1.9194210127475471E-5"/>
                  <c:y val="-1.8393823260316196E-2"/>
                </c:manualLayout>
              </c:layout>
              <c:spPr>
                <a:noFill/>
                <a:ln>
                  <a:noFill/>
                </a:ln>
                <a:effectLst/>
              </c:spPr>
              <c:txPr>
                <a:bodyPr rot="0" spcFirstLastPara="1" vertOverflow="ellipsis" vert="horz" wrap="square" lIns="38100" tIns="19050" rIns="38100" bIns="19050" anchor="ctr" anchorCtr="1">
                  <a:noAutofit/>
                </a:bodyPr>
                <a:lstStyle/>
                <a:p>
                  <a:pPr>
                    <a:defRPr sz="7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3.7472679373896672E-2"/>
                      <c:h val="5.6081385772670057E-2"/>
                    </c:manualLayout>
                  </c15:layout>
                </c:ext>
                <c:ext xmlns:c16="http://schemas.microsoft.com/office/drawing/2014/chart" uri="{C3380CC4-5D6E-409C-BE32-E72D297353CC}">
                  <c16:uniqueId val="{00000000-66D4-45E7-8461-DB80A4AAE01C}"/>
                </c:ext>
              </c:extLst>
            </c:dLbl>
            <c:dLbl>
              <c:idx val="1"/>
              <c:layout>
                <c:manualLayout>
                  <c:x val="3.5585157294019077E-3"/>
                  <c:y val="-1.3278747249849886E-2"/>
                </c:manualLayout>
              </c:layout>
              <c:showLegendKey val="0"/>
              <c:showVal val="1"/>
              <c:showCatName val="0"/>
              <c:showSerName val="0"/>
              <c:showPercent val="0"/>
              <c:showBubbleSize val="0"/>
              <c:extLst>
                <c:ext xmlns:c15="http://schemas.microsoft.com/office/drawing/2012/chart" uri="{CE6537A1-D6FC-4f65-9D91-7224C49458BB}">
                  <c15:layout>
                    <c:manualLayout>
                      <c:w val="3.7067065687075781E-2"/>
                      <c:h val="5.6960424390727904E-2"/>
                    </c:manualLayout>
                  </c15:layout>
                </c:ext>
                <c:ext xmlns:c16="http://schemas.microsoft.com/office/drawing/2014/chart" uri="{C3380CC4-5D6E-409C-BE32-E72D297353CC}">
                  <c16:uniqueId val="{00000001-66D4-45E7-8461-DB80A4AAE01C}"/>
                </c:ext>
              </c:extLst>
            </c:dLbl>
            <c:dLbl>
              <c:idx val="2"/>
              <c:layout>
                <c:manualLayout>
                  <c:x val="0"/>
                  <c:y val="9.3448005315532635E-3"/>
                </c:manualLayout>
              </c:layout>
              <c:tx>
                <c:rich>
                  <a:bodyPr/>
                  <a:lstStyle/>
                  <a:p>
                    <a:r>
                      <a:rPr lang="en-US" dirty="0">
                        <a:solidFill>
                          <a:schemeClr val="tx1"/>
                        </a:solidFill>
                      </a:rPr>
                      <a:t>232</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6D4-45E7-8461-DB80A4AAE01C}"/>
                </c:ext>
              </c:extLst>
            </c:dLbl>
            <c:dLbl>
              <c:idx val="3"/>
              <c:layout>
                <c:manualLayout>
                  <c:x val="-4.592079186801041E-4"/>
                  <c:y val="1.1127071281068567E-2"/>
                </c:manualLayout>
              </c:layout>
              <c:showLegendKey val="0"/>
              <c:showVal val="1"/>
              <c:showCatName val="0"/>
              <c:showSerName val="0"/>
              <c:showPercent val="0"/>
              <c:showBubbleSize val="0"/>
              <c:extLst>
                <c:ext xmlns:c15="http://schemas.microsoft.com/office/drawing/2012/chart" uri="{CE6537A1-D6FC-4f65-9D91-7224C49458BB}">
                  <c15:layout>
                    <c:manualLayout>
                      <c:w val="5.4393721116809457E-2"/>
                      <c:h val="6.1475858673206089E-2"/>
                    </c:manualLayout>
                  </c15:layout>
                </c:ext>
                <c:ext xmlns:c16="http://schemas.microsoft.com/office/drawing/2014/chart" uri="{C3380CC4-5D6E-409C-BE32-E72D297353CC}">
                  <c16:uniqueId val="{00000003-66D4-45E7-8461-DB80A4AAE01C}"/>
                </c:ext>
              </c:extLst>
            </c:dLbl>
            <c:dLbl>
              <c:idx val="4"/>
              <c:layout>
                <c:manualLayout>
                  <c:x val="7.7968566872325977E-3"/>
                  <c:y val="7.6589730533010488E-3"/>
                </c:manualLayout>
              </c:layout>
              <c:tx>
                <c:rich>
                  <a:bodyPr/>
                  <a:lstStyle/>
                  <a:p>
                    <a:r>
                      <a:rPr lang="en-US" dirty="0">
                        <a:solidFill>
                          <a:schemeClr val="tx1"/>
                        </a:solidFill>
                      </a:rPr>
                      <a:t>78</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1A3-487E-9CD1-9216B2C13E8E}"/>
                </c:ext>
              </c:extLst>
            </c:dLbl>
            <c:dLbl>
              <c:idx val="5"/>
              <c:tx>
                <c:rich>
                  <a:bodyPr/>
                  <a:lstStyle/>
                  <a:p>
                    <a:r>
                      <a:rPr lang="en-US"/>
                      <a:t>34</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6D4-45E7-8461-DB80A4AAE01C}"/>
                </c:ext>
              </c:extLst>
            </c:dLbl>
            <c:dLbl>
              <c:idx val="6"/>
              <c:layout>
                <c:manualLayout>
                  <c:x val="0"/>
                  <c:y val="1.1726178723227331E-2"/>
                </c:manualLayout>
              </c:layout>
              <c:tx>
                <c:rich>
                  <a:bodyPr/>
                  <a:lstStyle/>
                  <a:p>
                    <a:r>
                      <a:rPr lang="en-US" dirty="0"/>
                      <a:t>150</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6D4-45E7-8461-DB80A4AAE01C}"/>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Лист1!$A$2:$A$8</c:f>
              <c:strCache>
                <c:ptCount val="7"/>
                <c:pt idx="0">
                  <c:v>Category A</c:v>
                </c:pt>
                <c:pt idx="1">
                  <c:v>Category B</c:v>
                </c:pt>
                <c:pt idx="2">
                  <c:v>Category C</c:v>
                </c:pt>
                <c:pt idx="3">
                  <c:v>Category D</c:v>
                </c:pt>
                <c:pt idx="4">
                  <c:v>Category Intermediaries</c:v>
                </c:pt>
                <c:pt idx="5">
                  <c:v>Banks</c:v>
                </c:pt>
                <c:pt idx="6">
                  <c:v>Manufacturers for categories</c:v>
                </c:pt>
              </c:strCache>
            </c:strRef>
          </c:cat>
          <c:val>
            <c:numRef>
              <c:f>Лист1!$C$2:$C$8</c:f>
              <c:numCache>
                <c:formatCode>General</c:formatCode>
                <c:ptCount val="7"/>
                <c:pt idx="0">
                  <c:v>11</c:v>
                </c:pt>
                <c:pt idx="1">
                  <c:v>70</c:v>
                </c:pt>
                <c:pt idx="2">
                  <c:v>232</c:v>
                </c:pt>
                <c:pt idx="3">
                  <c:v>110</c:v>
                </c:pt>
                <c:pt idx="4">
                  <c:v>78</c:v>
                </c:pt>
                <c:pt idx="5">
                  <c:v>34</c:v>
                </c:pt>
                <c:pt idx="6">
                  <c:v>150</c:v>
                </c:pt>
              </c:numCache>
            </c:numRef>
          </c:val>
          <c:extLst>
            <c:ext xmlns:c16="http://schemas.microsoft.com/office/drawing/2014/chart" uri="{C3380CC4-5D6E-409C-BE32-E72D297353CC}">
              <c16:uniqueId val="{00000009-21A3-487E-9CD1-9216B2C13E8E}"/>
            </c:ext>
          </c:extLst>
        </c:ser>
        <c:ser>
          <c:idx val="2"/>
          <c:order val="2"/>
          <c:tx>
            <c:strRef>
              <c:f>Лист1!$D$1</c:f>
              <c:strCache>
                <c:ptCount val="1"/>
                <c:pt idx="0">
                  <c:v>Added</c:v>
                </c:pt>
              </c:strCache>
            </c:strRef>
          </c:tx>
          <c:spPr>
            <a:solidFill>
              <a:schemeClr val="accent5">
                <a:lumMod val="25000"/>
                <a:lumOff val="75000"/>
              </a:schemeClr>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A-21A3-487E-9CD1-9216B2C13E8E}"/>
                </c:ext>
              </c:extLst>
            </c:dLbl>
            <c:dLbl>
              <c:idx val="1"/>
              <c:delete val="1"/>
              <c:extLst>
                <c:ext xmlns:c15="http://schemas.microsoft.com/office/drawing/2012/chart" uri="{CE6537A1-D6FC-4f65-9D91-7224C49458BB}"/>
                <c:ext xmlns:c16="http://schemas.microsoft.com/office/drawing/2014/chart" uri="{C3380CC4-5D6E-409C-BE32-E72D297353CC}">
                  <c16:uniqueId val="{0000000B-21A3-487E-9CD1-9216B2C13E8E}"/>
                </c:ext>
              </c:extLst>
            </c:dLbl>
            <c:dLbl>
              <c:idx val="4"/>
              <c:layout>
                <c:manualLayout>
                  <c:x val="1.2541807671478113E-2"/>
                  <c:y val="-1.962287091980421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21A3-487E-9CD1-9216B2C13E8E}"/>
                </c:ext>
              </c:extLst>
            </c:dLbl>
            <c:dLbl>
              <c:idx val="5"/>
              <c:delete val="1"/>
              <c:extLst>
                <c:ext xmlns:c15="http://schemas.microsoft.com/office/drawing/2012/chart" uri="{CE6537A1-D6FC-4f65-9D91-7224C49458BB}"/>
                <c:ext xmlns:c16="http://schemas.microsoft.com/office/drawing/2014/chart" uri="{C3380CC4-5D6E-409C-BE32-E72D297353CC}">
                  <c16:uniqueId val="{00000003-67A9-424B-85B2-3376588C9B23}"/>
                </c:ext>
              </c:extLst>
            </c:dLbl>
            <c:dLbl>
              <c:idx val="6"/>
              <c:layout>
                <c:manualLayout>
                  <c:x val="-2.5083615342956223E-3"/>
                  <c:y val="-2.474617311149677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7A9-424B-85B2-3376588C9B23}"/>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accent1"/>
                      </a:solidFill>
                      <a:round/>
                    </a:ln>
                    <a:effectLst/>
                  </c:spPr>
                </c15:leaderLines>
              </c:ext>
            </c:extLst>
          </c:dLbls>
          <c:cat>
            <c:strRef>
              <c:f>Лист1!$A$2:$A$8</c:f>
              <c:strCache>
                <c:ptCount val="7"/>
                <c:pt idx="0">
                  <c:v>Category A</c:v>
                </c:pt>
                <c:pt idx="1">
                  <c:v>Category B</c:v>
                </c:pt>
                <c:pt idx="2">
                  <c:v>Category C</c:v>
                </c:pt>
                <c:pt idx="3">
                  <c:v>Category D</c:v>
                </c:pt>
                <c:pt idx="4">
                  <c:v>Category Intermediaries</c:v>
                </c:pt>
                <c:pt idx="5">
                  <c:v>Banks</c:v>
                </c:pt>
                <c:pt idx="6">
                  <c:v>Manufacturers for categories</c:v>
                </c:pt>
              </c:strCache>
            </c:strRef>
          </c:cat>
          <c:val>
            <c:numRef>
              <c:f>Лист1!$D$2:$D$8</c:f>
              <c:numCache>
                <c:formatCode>General</c:formatCode>
                <c:ptCount val="7"/>
                <c:pt idx="0">
                  <c:v>0</c:v>
                </c:pt>
                <c:pt idx="1">
                  <c:v>0</c:v>
                </c:pt>
                <c:pt idx="2">
                  <c:v>33</c:v>
                </c:pt>
                <c:pt idx="3">
                  <c:v>21</c:v>
                </c:pt>
                <c:pt idx="4">
                  <c:v>6</c:v>
                </c:pt>
                <c:pt idx="5">
                  <c:v>0</c:v>
                </c:pt>
                <c:pt idx="6">
                  <c:v>18</c:v>
                </c:pt>
              </c:numCache>
            </c:numRef>
          </c:val>
          <c:extLst>
            <c:ext xmlns:c16="http://schemas.microsoft.com/office/drawing/2014/chart" uri="{C3380CC4-5D6E-409C-BE32-E72D297353CC}">
              <c16:uniqueId val="{0000000F-21A3-487E-9CD1-9216B2C13E8E}"/>
            </c:ext>
          </c:extLst>
        </c:ser>
        <c:dLbls>
          <c:showLegendKey val="0"/>
          <c:showVal val="0"/>
          <c:showCatName val="0"/>
          <c:showSerName val="0"/>
          <c:showPercent val="0"/>
          <c:showBubbleSize val="0"/>
        </c:dLbls>
        <c:gapWidth val="150"/>
        <c:overlap val="100"/>
        <c:axId val="710918128"/>
        <c:axId val="710919768"/>
      </c:barChart>
      <c:lineChart>
        <c:grouping val="standard"/>
        <c:varyColors val="0"/>
        <c:ser>
          <c:idx val="3"/>
          <c:order val="3"/>
          <c:tx>
            <c:strRef>
              <c:f>Лист1!$E$1</c:f>
              <c:strCache>
                <c:ptCount val="1"/>
                <c:pt idx="0">
                  <c:v>Transactions</c:v>
                </c:pt>
              </c:strCache>
            </c:strRef>
          </c:tx>
          <c:spPr>
            <a:ln w="9525" cap="rnd">
              <a:solidFill>
                <a:schemeClr val="accent1"/>
              </a:solidFill>
              <a:round/>
            </a:ln>
            <a:effectLst/>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6-66D4-45E7-8461-DB80A4AAE01C}"/>
                </c:ext>
              </c:extLst>
            </c:dLbl>
            <c:dLbl>
              <c:idx val="1"/>
              <c:layout>
                <c:manualLayout>
                  <c:x val="2.0102641363948195E-2"/>
                  <c:y val="-3.0286782815633934E-2"/>
                </c:manualLayout>
              </c:layout>
              <c:spPr>
                <a:noFill/>
                <a:ln>
                  <a:noFill/>
                </a:ln>
                <a:effectLst/>
              </c:spPr>
              <c:txPr>
                <a:bodyPr rot="0" spcFirstLastPara="1" vertOverflow="ellipsis" vert="horz" wrap="square" lIns="38100" tIns="19050" rIns="38100" bIns="19050" anchor="ctr" anchorCtr="1">
                  <a:noAutofit/>
                </a:bodyPr>
                <a:lstStyle/>
                <a:p>
                  <a:pPr>
                    <a:defRPr sz="700" b="0" i="0" u="none" strike="noStrike" kern="1200" baseline="0">
                      <a:solidFill>
                        <a:schemeClr val="accent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3.4853782273428779E-2"/>
                      <c:h val="5.8153506812017419E-2"/>
                    </c:manualLayout>
                  </c15:layout>
                </c:ext>
                <c:ext xmlns:c16="http://schemas.microsoft.com/office/drawing/2014/chart" uri="{C3380CC4-5D6E-409C-BE32-E72D297353CC}">
                  <c16:uniqueId val="{00000007-67A9-424B-85B2-3376588C9B23}"/>
                </c:ext>
              </c:extLst>
            </c:dLbl>
            <c:dLbl>
              <c:idx val="2"/>
              <c:layout>
                <c:manualLayout>
                  <c:x val="9.6236154140592941E-3"/>
                  <c:y val="1.9170165338210688E-3"/>
                </c:manualLayout>
              </c:layout>
              <c:spPr>
                <a:noFill/>
                <a:ln>
                  <a:noFill/>
                </a:ln>
                <a:effectLst/>
              </c:spPr>
              <c:txPr>
                <a:bodyPr rot="0" spcFirstLastPara="1" vertOverflow="ellipsis" vert="horz" wrap="square" lIns="38100" tIns="19050" rIns="38100" bIns="19050" anchor="ctr" anchorCtr="1">
                  <a:noAutofit/>
                </a:bodyPr>
                <a:lstStyle/>
                <a:p>
                  <a:pPr>
                    <a:defRPr sz="700" b="0" i="0" u="none" strike="noStrike" kern="1200" baseline="0">
                      <a:solidFill>
                        <a:schemeClr val="accent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3.4590305557936636E-2"/>
                      <c:h val="6.6402231182516328E-2"/>
                    </c:manualLayout>
                  </c15:layout>
                </c:ext>
                <c:ext xmlns:c16="http://schemas.microsoft.com/office/drawing/2014/chart" uri="{C3380CC4-5D6E-409C-BE32-E72D297353CC}">
                  <c16:uniqueId val="{00000004-67A9-424B-85B2-3376588C9B23}"/>
                </c:ext>
              </c:extLst>
            </c:dLbl>
            <c:dLbl>
              <c:idx val="3"/>
              <c:layout>
                <c:manualLayout>
                  <c:x val="-3.5976224682830522E-2"/>
                  <c:y val="-1.151249129662153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7A9-424B-85B2-3376588C9B23}"/>
                </c:ext>
              </c:extLst>
            </c:dLbl>
            <c:dLbl>
              <c:idx val="4"/>
              <c:layout>
                <c:manualLayout>
                  <c:x val="7.3092075039116623E-3"/>
                  <c:y val="-3.7263449967264918E-2"/>
                </c:manualLayout>
              </c:layout>
              <c:tx>
                <c:rich>
                  <a:bodyPr/>
                  <a:lstStyle/>
                  <a:p>
                    <a:r>
                      <a:rPr lang="en-US" dirty="0" smtClean="0"/>
                      <a:t>1</a:t>
                    </a:r>
                    <a:endParaRPr lang="en-US" dirty="0"/>
                  </a:p>
                </c:rich>
              </c:tx>
              <c:showLegendKey val="0"/>
              <c:showVal val="1"/>
              <c:showCatName val="0"/>
              <c:showSerName val="0"/>
              <c:showPercent val="0"/>
              <c:showBubbleSize val="0"/>
              <c:extLst>
                <c:ext xmlns:c15="http://schemas.microsoft.com/office/drawing/2012/chart" uri="{CE6537A1-D6FC-4f65-9D91-7224C49458BB}">
                  <c15:layout>
                    <c:manualLayout>
                      <c:w val="2.2311974601950675E-2"/>
                      <c:h val="9.1148404294013094E-2"/>
                    </c:manualLayout>
                  </c15:layout>
                </c:ext>
                <c:ext xmlns:c16="http://schemas.microsoft.com/office/drawing/2014/chart" uri="{C3380CC4-5D6E-409C-BE32-E72D297353CC}">
                  <c16:uniqueId val="{00000006-67A9-424B-85B2-3376588C9B23}"/>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accent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Лист1!$A$2:$A$8</c:f>
              <c:strCache>
                <c:ptCount val="7"/>
                <c:pt idx="0">
                  <c:v>Category A</c:v>
                </c:pt>
                <c:pt idx="1">
                  <c:v>Category B</c:v>
                </c:pt>
                <c:pt idx="2">
                  <c:v>Category C</c:v>
                </c:pt>
                <c:pt idx="3">
                  <c:v>Category D</c:v>
                </c:pt>
                <c:pt idx="4">
                  <c:v>Category Intermediaries</c:v>
                </c:pt>
                <c:pt idx="5">
                  <c:v>Banks</c:v>
                </c:pt>
                <c:pt idx="6">
                  <c:v>Manufacturers for categories</c:v>
                </c:pt>
              </c:strCache>
            </c:strRef>
          </c:cat>
          <c:val>
            <c:numRef>
              <c:f>Лист1!$E$2:$E$8</c:f>
              <c:numCache>
                <c:formatCode>General</c:formatCode>
                <c:ptCount val="7"/>
                <c:pt idx="0">
                  <c:v>4</c:v>
                </c:pt>
                <c:pt idx="1">
                  <c:v>49</c:v>
                </c:pt>
                <c:pt idx="2">
                  <c:v>64</c:v>
                </c:pt>
                <c:pt idx="3">
                  <c:v>334</c:v>
                </c:pt>
                <c:pt idx="4">
                  <c:v>1</c:v>
                </c:pt>
              </c:numCache>
            </c:numRef>
          </c:val>
          <c:smooth val="0"/>
          <c:extLst>
            <c:ext xmlns:c16="http://schemas.microsoft.com/office/drawing/2014/chart" uri="{C3380CC4-5D6E-409C-BE32-E72D297353CC}">
              <c16:uniqueId val="{00000000-67A9-424B-85B2-3376588C9B23}"/>
            </c:ext>
          </c:extLst>
        </c:ser>
        <c:dLbls>
          <c:showLegendKey val="0"/>
          <c:showVal val="0"/>
          <c:showCatName val="0"/>
          <c:showSerName val="0"/>
          <c:showPercent val="0"/>
          <c:showBubbleSize val="0"/>
        </c:dLbls>
        <c:marker val="1"/>
        <c:smooth val="0"/>
        <c:axId val="710918128"/>
        <c:axId val="710919768"/>
      </c:lineChart>
      <c:catAx>
        <c:axId val="710918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ru-RU"/>
          </a:p>
        </c:txPr>
        <c:crossAx val="710919768"/>
        <c:crosses val="autoZero"/>
        <c:auto val="1"/>
        <c:lblAlgn val="ctr"/>
        <c:lblOffset val="100"/>
        <c:noMultiLvlLbl val="0"/>
      </c:catAx>
      <c:valAx>
        <c:axId val="71091976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ru-RU"/>
          </a:p>
        </c:txPr>
        <c:crossAx val="710918128"/>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ru-RU"/>
          </a:p>
        </c:txPr>
      </c:legendEntry>
      <c:legendEntry>
        <c:idx val="1"/>
        <c:txPr>
          <a:bodyPr rot="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ru-RU"/>
          </a:p>
        </c:txPr>
      </c:legendEntry>
      <c:legendEntry>
        <c:idx val="2"/>
        <c:txPr>
          <a:bodyPr rot="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ru-RU"/>
          </a:p>
        </c:txPr>
      </c:legendEntry>
      <c:layout>
        <c:manualLayout>
          <c:xMode val="edge"/>
          <c:yMode val="edge"/>
          <c:x val="6.9483589587811029E-4"/>
          <c:y val="0.73636817109543062"/>
          <c:w val="0.6957995412266007"/>
          <c:h val="0.10420607002192732"/>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userShapes r:id="rId4"/>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107335790165065E-2"/>
          <c:y val="9.936531008522434E-2"/>
          <c:w val="0.21393005047548391"/>
          <c:h val="0.85014257066113663"/>
        </c:manualLayout>
      </c:layout>
      <c:doughnutChart>
        <c:varyColors val="1"/>
        <c:ser>
          <c:idx val="0"/>
          <c:order val="0"/>
          <c:tx>
            <c:strRef>
              <c:f>Лист1!$B$1</c:f>
              <c:strCache>
                <c:ptCount val="1"/>
                <c:pt idx="0">
                  <c:v>Column1</c:v>
                </c:pt>
              </c:strCache>
            </c:strRef>
          </c:tx>
          <c:spPr>
            <a:solidFill>
              <a:srgbClr val="00B0F0"/>
            </a:solidFill>
          </c:spPr>
          <c:dPt>
            <c:idx val="0"/>
            <c:bubble3D val="0"/>
            <c:spPr>
              <a:solidFill>
                <a:srgbClr val="00B0F0"/>
              </a:solidFill>
              <a:ln w="19050">
                <a:solidFill>
                  <a:schemeClr val="lt1"/>
                </a:solidFill>
              </a:ln>
              <a:effectLst/>
            </c:spPr>
            <c:extLst>
              <c:ext xmlns:c16="http://schemas.microsoft.com/office/drawing/2014/chart" uri="{C3380CC4-5D6E-409C-BE32-E72D297353CC}">
                <c16:uniqueId val="{00000001-8F41-421A-9BF2-DBAEF2E47756}"/>
              </c:ext>
            </c:extLst>
          </c:dPt>
          <c:dPt>
            <c:idx val="1"/>
            <c:bubble3D val="0"/>
            <c:spPr>
              <a:solidFill>
                <a:srgbClr val="00B0F0"/>
              </a:solidFill>
              <a:ln w="19050">
                <a:solidFill>
                  <a:schemeClr val="lt1"/>
                </a:solidFill>
              </a:ln>
              <a:effectLst/>
            </c:spPr>
            <c:extLst>
              <c:ext xmlns:c16="http://schemas.microsoft.com/office/drawing/2014/chart" uri="{C3380CC4-5D6E-409C-BE32-E72D297353CC}">
                <c16:uniqueId val="{00000003-8F41-421A-9BF2-DBAEF2E47756}"/>
              </c:ext>
            </c:extLst>
          </c:dPt>
          <c:dPt>
            <c:idx val="2"/>
            <c:bubble3D val="0"/>
            <c:spPr>
              <a:solidFill>
                <a:srgbClr val="00B0F0"/>
              </a:solidFill>
              <a:ln w="19050">
                <a:solidFill>
                  <a:schemeClr val="lt1"/>
                </a:solidFill>
              </a:ln>
              <a:effectLst/>
            </c:spPr>
            <c:extLst>
              <c:ext xmlns:c16="http://schemas.microsoft.com/office/drawing/2014/chart" uri="{C3380CC4-5D6E-409C-BE32-E72D297353CC}">
                <c16:uniqueId val="{00000005-8F41-421A-9BF2-DBAEF2E47756}"/>
              </c:ext>
            </c:extLst>
          </c:dPt>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Лист1!$A$2:$A$3</c:f>
              <c:strCache>
                <c:ptCount val="2"/>
                <c:pt idx="0">
                  <c:v>There are changes in the UBO structure [3] (Category “B” counterparties)</c:v>
                </c:pt>
                <c:pt idx="1">
                  <c:v>No changes to UBO structure [317]</c:v>
                </c:pt>
              </c:strCache>
            </c:strRef>
          </c:cat>
          <c:val>
            <c:numRef>
              <c:f>Лист1!$B$2:$B$3</c:f>
              <c:numCache>
                <c:formatCode>General</c:formatCode>
                <c:ptCount val="2"/>
                <c:pt idx="0">
                  <c:v>0</c:v>
                </c:pt>
                <c:pt idx="1">
                  <c:v>100</c:v>
                </c:pt>
              </c:numCache>
            </c:numRef>
          </c:val>
          <c:extLst>
            <c:ext xmlns:c16="http://schemas.microsoft.com/office/drawing/2014/chart" uri="{C3380CC4-5D6E-409C-BE32-E72D297353CC}">
              <c16:uniqueId val="{00000006-8F41-421A-9BF2-DBAEF2E47756}"/>
            </c:ext>
          </c:extLst>
        </c:ser>
        <c:dLbls>
          <c:showLegendKey val="0"/>
          <c:showVal val="1"/>
          <c:showCatName val="0"/>
          <c:showSerName val="0"/>
          <c:showPercent val="0"/>
          <c:showBubbleSize val="0"/>
          <c:showLeaderLines val="1"/>
        </c:dLbls>
        <c:firstSliceAng val="180"/>
        <c:holeSize val="66"/>
      </c:doughnutChart>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userShapes r:id="rId4"/>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0" i="0" u="none" strike="noStrike" kern="1200" spc="0" baseline="0">
                <a:solidFill>
                  <a:schemeClr val="tx1"/>
                </a:solidFill>
                <a:latin typeface="+mn-lt"/>
                <a:ea typeface="+mn-ea"/>
                <a:cs typeface="+mn-cs"/>
              </a:defRPr>
            </a:pPr>
            <a:r>
              <a:rPr lang="ru-RU" sz="800" b="1" dirty="0"/>
              <a:t>Share additional agreements with significant and non-material changes</a:t>
            </a:r>
          </a:p>
        </c:rich>
      </c:tx>
      <c:overlay val="0"/>
      <c:spPr>
        <a:noFill/>
        <a:ln>
          <a:noFill/>
        </a:ln>
        <a:effectLst/>
      </c:spPr>
      <c:txPr>
        <a:bodyPr rot="0" spcFirstLastPara="1" vertOverflow="ellipsis" vert="horz" wrap="square" anchor="ctr" anchorCtr="1"/>
        <a:lstStyle/>
        <a:p>
          <a:pPr>
            <a:defRPr sz="960" b="0" i="0" u="none" strike="noStrike" kern="1200" spc="0" baseline="0">
              <a:solidFill>
                <a:schemeClr val="tx1"/>
              </a:solidFill>
              <a:latin typeface="+mn-lt"/>
              <a:ea typeface="+mn-ea"/>
              <a:cs typeface="+mn-cs"/>
            </a:defRPr>
          </a:pPr>
          <a:endParaRPr lang="ru-RU"/>
        </a:p>
      </c:txPr>
    </c:title>
    <c:autoTitleDeleted val="0"/>
    <c:plotArea>
      <c:layout/>
      <c:pieChart>
        <c:varyColors val="1"/>
        <c:ser>
          <c:idx val="0"/>
          <c:order val="0"/>
          <c:dPt>
            <c:idx val="0"/>
            <c:bubble3D val="0"/>
            <c:spPr>
              <a:solidFill>
                <a:schemeClr val="accent5">
                  <a:lumMod val="75000"/>
                  <a:lumOff val="25000"/>
                </a:schemeClr>
              </a:solidFill>
              <a:ln w="19050">
                <a:solidFill>
                  <a:schemeClr val="lt1"/>
                </a:solidFill>
              </a:ln>
              <a:effectLst/>
            </c:spPr>
            <c:extLst>
              <c:ext xmlns:c16="http://schemas.microsoft.com/office/drawing/2014/chart" uri="{C3380CC4-5D6E-409C-BE32-E72D297353CC}">
                <c16:uniqueId val="{00000001-EE0E-4B52-BC15-D40D680754D5}"/>
              </c:ext>
            </c:extLst>
          </c:dPt>
          <c:dPt>
            <c:idx val="1"/>
            <c:bubble3D val="0"/>
            <c:spPr>
              <a:solidFill>
                <a:schemeClr val="accent5">
                  <a:lumMod val="25000"/>
                  <a:lumOff val="75000"/>
                </a:schemeClr>
              </a:solidFill>
              <a:ln w="19050">
                <a:solidFill>
                  <a:schemeClr val="lt1"/>
                </a:solidFill>
              </a:ln>
              <a:effectLst/>
            </c:spPr>
            <c:extLst>
              <c:ext xmlns:c16="http://schemas.microsoft.com/office/drawing/2014/chart" uri="{C3380CC4-5D6E-409C-BE32-E72D297353CC}">
                <c16:uniqueId val="{00000003-EE0E-4B52-BC15-D40D680754D5}"/>
              </c:ext>
            </c:extLst>
          </c:dPt>
          <c:dLbls>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ru-RU"/>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'Таблица по рамочным договорам'!$E$263:$E$264</c:f>
              <c:strCache>
                <c:ptCount val="2"/>
                <c:pt idx="0">
                  <c:v>Essential</c:v>
                </c:pt>
                <c:pt idx="1">
                  <c:v>Non-essential</c:v>
                </c:pt>
              </c:strCache>
            </c:strRef>
          </c:cat>
          <c:val>
            <c:numRef>
              <c:f>'Таблица по рамочным договорам'!$F$263:$F$264</c:f>
              <c:numCache>
                <c:formatCode>General</c:formatCode>
                <c:ptCount val="2"/>
                <c:pt idx="0">
                  <c:v>76</c:v>
                </c:pt>
                <c:pt idx="1">
                  <c:v>113</c:v>
                </c:pt>
              </c:numCache>
            </c:numRef>
          </c:val>
          <c:extLst>
            <c:ext xmlns:c16="http://schemas.microsoft.com/office/drawing/2014/chart" uri="{C3380CC4-5D6E-409C-BE32-E72D297353CC}">
              <c16:uniqueId val="{00000004-EE0E-4B52-BC15-D40D680754D5}"/>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sz="800">
          <a:solidFill>
            <a:schemeClr val="tx1"/>
          </a:solidFill>
        </a:defRPr>
      </a:pPr>
      <a:endParaRPr lang="ru-RU"/>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800" b="1" i="0" u="none" strike="noStrike" kern="1200" spc="0" baseline="0">
                <a:solidFill>
                  <a:schemeClr val="accent5">
                    <a:lumMod val="75000"/>
                    <a:lumOff val="25000"/>
                  </a:schemeClr>
                </a:solidFill>
                <a:latin typeface="+mn-lt"/>
                <a:ea typeface="+mn-ea"/>
                <a:cs typeface="+mn-cs"/>
              </a:defRPr>
            </a:pPr>
            <a:r>
              <a:rPr lang="ru-RU" sz="800" b="1">
                <a:solidFill>
                  <a:schemeClr val="accent5">
                    <a:lumMod val="75000"/>
                    <a:lumOff val="25000"/>
                  </a:schemeClr>
                </a:solidFill>
              </a:rPr>
              <a:t>List of recommendations by groups for 2024.</a:t>
            </a:r>
          </a:p>
        </c:rich>
      </c:tx>
      <c:overlay val="0"/>
      <c:spPr>
        <a:noFill/>
        <a:ln>
          <a:noFill/>
        </a:ln>
        <a:effectLst/>
      </c:spPr>
      <c:txPr>
        <a:bodyPr rot="0" spcFirstLastPara="1" vertOverflow="ellipsis" vert="horz" wrap="square" anchor="ctr" anchorCtr="1"/>
        <a:lstStyle/>
        <a:p>
          <a:pPr>
            <a:defRPr sz="800" b="1" i="0" u="none" strike="noStrike" kern="1200" spc="0" baseline="0">
              <a:solidFill>
                <a:schemeClr val="accent5">
                  <a:lumMod val="75000"/>
                  <a:lumOff val="25000"/>
                </a:schemeClr>
              </a:solidFill>
              <a:latin typeface="+mn-lt"/>
              <a:ea typeface="+mn-ea"/>
              <a:cs typeface="+mn-cs"/>
            </a:defRPr>
          </a:pPr>
          <a:endParaRPr lang="ru-RU"/>
        </a:p>
      </c:txPr>
    </c:title>
    <c:autoTitleDeleted val="0"/>
    <c:plotArea>
      <c:layout>
        <c:manualLayout>
          <c:layoutTarget val="inner"/>
          <c:xMode val="edge"/>
          <c:yMode val="edge"/>
          <c:x val="0.1024467614082307"/>
          <c:y val="0.174846975827368"/>
          <c:w val="0.38034564948203864"/>
          <c:h val="0.65746305256109183"/>
        </c:manualLayout>
      </c:layout>
      <c:pieChart>
        <c:varyColors val="1"/>
        <c:ser>
          <c:idx val="0"/>
          <c:order val="0"/>
          <c:spPr>
            <a:solidFill>
              <a:schemeClr val="accent5">
                <a:lumMod val="75000"/>
                <a:lumOff val="25000"/>
              </a:schemeClr>
            </a:solidFill>
          </c:spPr>
          <c:dPt>
            <c:idx val="0"/>
            <c:bubble3D val="0"/>
            <c:spPr>
              <a:solidFill>
                <a:schemeClr val="accent5">
                  <a:lumMod val="10000"/>
                  <a:lumOff val="90000"/>
                </a:schemeClr>
              </a:solidFill>
              <a:ln w="19050">
                <a:solidFill>
                  <a:schemeClr val="lt1"/>
                </a:solidFill>
              </a:ln>
              <a:effectLst/>
            </c:spPr>
            <c:extLst>
              <c:ext xmlns:c16="http://schemas.microsoft.com/office/drawing/2014/chart" uri="{C3380CC4-5D6E-409C-BE32-E72D297353CC}">
                <c16:uniqueId val="{00000001-15EA-486F-AEFA-71552C4C29DA}"/>
              </c:ext>
            </c:extLst>
          </c:dPt>
          <c:dPt>
            <c:idx val="1"/>
            <c:bubble3D val="0"/>
            <c:spPr>
              <a:solidFill>
                <a:schemeClr val="accent4">
                  <a:lumMod val="40000"/>
                  <a:lumOff val="60000"/>
                </a:schemeClr>
              </a:solidFill>
              <a:ln w="19050">
                <a:solidFill>
                  <a:schemeClr val="lt1"/>
                </a:solidFill>
              </a:ln>
              <a:effectLst/>
            </c:spPr>
            <c:extLst>
              <c:ext xmlns:c16="http://schemas.microsoft.com/office/drawing/2014/chart" uri="{C3380CC4-5D6E-409C-BE32-E72D297353CC}">
                <c16:uniqueId val="{00000003-15EA-486F-AEFA-71552C4C29DA}"/>
              </c:ext>
            </c:extLst>
          </c:dPt>
          <c:dPt>
            <c:idx val="2"/>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005-15EA-486F-AEFA-71552C4C29DA}"/>
              </c:ext>
            </c:extLst>
          </c:dPt>
          <c:dPt>
            <c:idx val="3"/>
            <c:bubble3D val="0"/>
            <c:spPr>
              <a:solidFill>
                <a:schemeClr val="accent5">
                  <a:lumMod val="75000"/>
                  <a:lumOff val="25000"/>
                </a:schemeClr>
              </a:solidFill>
              <a:ln w="19050">
                <a:solidFill>
                  <a:schemeClr val="lt1"/>
                </a:solidFill>
              </a:ln>
              <a:effectLst/>
            </c:spPr>
            <c:extLst>
              <c:ext xmlns:c16="http://schemas.microsoft.com/office/drawing/2014/chart" uri="{C3380CC4-5D6E-409C-BE32-E72D297353CC}">
                <c16:uniqueId val="{00000007-15EA-486F-AEFA-71552C4C29DA}"/>
              </c:ext>
            </c:extLst>
          </c:dPt>
          <c:dPt>
            <c:idx val="4"/>
            <c:bubble3D val="0"/>
            <c:spPr>
              <a:solidFill>
                <a:schemeClr val="accent5">
                  <a:lumMod val="25000"/>
                  <a:lumOff val="75000"/>
                </a:schemeClr>
              </a:solidFill>
              <a:ln w="19050">
                <a:solidFill>
                  <a:schemeClr val="lt1"/>
                </a:solidFill>
              </a:ln>
              <a:effectLst/>
            </c:spPr>
            <c:extLst>
              <c:ext xmlns:c16="http://schemas.microsoft.com/office/drawing/2014/chart" uri="{C3380CC4-5D6E-409C-BE32-E72D297353CC}">
                <c16:uniqueId val="{00000009-15EA-486F-AEFA-71552C4C29DA}"/>
              </c:ext>
            </c:extLst>
          </c:dPt>
          <c:dLbls>
            <c:numFmt formatCode="General" sourceLinked="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ru-RU"/>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Статистика!$F$133:$F$137</c:f>
              <c:strCache>
                <c:ptCount val="5"/>
                <c:pt idx="0">
                  <c:v>Checking compliance provisions</c:v>
                </c:pt>
                <c:pt idx="1">
                  <c:v>Sanctions risk mitigation</c:v>
                </c:pt>
                <c:pt idx="2">
                  <c:v>Documents and permits</c:v>
                </c:pt>
                <c:pt idx="3">
                  <c:v>Product quality</c:v>
                </c:pt>
                <c:pt idx="4">
                  <c:v>Targeted use of funds</c:v>
                </c:pt>
              </c:strCache>
            </c:strRef>
          </c:cat>
          <c:val>
            <c:numRef>
              <c:f>Статистика!$G$133:$G$137</c:f>
              <c:numCache>
                <c:formatCode>General</c:formatCode>
                <c:ptCount val="5"/>
                <c:pt idx="0">
                  <c:v>40</c:v>
                </c:pt>
                <c:pt idx="1">
                  <c:v>9</c:v>
                </c:pt>
                <c:pt idx="2">
                  <c:v>17</c:v>
                </c:pt>
                <c:pt idx="3">
                  <c:v>2</c:v>
                </c:pt>
                <c:pt idx="4">
                  <c:v>49</c:v>
                </c:pt>
              </c:numCache>
            </c:numRef>
          </c:val>
          <c:extLst>
            <c:ext xmlns:c16="http://schemas.microsoft.com/office/drawing/2014/chart" uri="{C3380CC4-5D6E-409C-BE32-E72D297353CC}">
              <c16:uniqueId val="{0000000A-15EA-486F-AEFA-71552C4C29DA}"/>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4984366905362011"/>
          <c:y val="0.16901962223161382"/>
          <c:w val="0.44183182058374287"/>
          <c:h val="0.77989164038305003"/>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ru-RU" sz="800" b="1" dirty="0" smtClean="0">
                <a:solidFill>
                  <a:schemeClr val="accent5">
                    <a:lumMod val="75000"/>
                    <a:lumOff val="25000"/>
                  </a:schemeClr>
                </a:solidFill>
                <a:effectLst/>
              </a:rPr>
              <a:t>Information</a:t>
            </a:r>
            <a:r>
              <a:rPr lang="ru-RU" sz="800" b="1" baseline="0" dirty="0" smtClean="0">
                <a:solidFill>
                  <a:schemeClr val="accent5">
                    <a:lumMod val="75000"/>
                    <a:lumOff val="25000"/>
                  </a:schemeClr>
                </a:solidFill>
                <a:effectLst/>
              </a:rPr>
              <a:t>by recommendations, number of applications</a:t>
            </a:r>
            <a:endParaRPr lang="ru-RU" sz="800" dirty="0">
              <a:solidFill>
                <a:schemeClr val="accent5">
                  <a:lumMod val="75000"/>
                  <a:lumOff val="25000"/>
                </a:schemeClr>
              </a:solidFill>
              <a:effectLst/>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ru-RU"/>
        </a:p>
      </c:txPr>
    </c:title>
    <c:autoTitleDeleted val="0"/>
    <c:plotArea>
      <c:layout>
        <c:manualLayout>
          <c:layoutTarget val="inner"/>
          <c:xMode val="edge"/>
          <c:yMode val="edge"/>
          <c:x val="9.1413825637453622E-2"/>
          <c:y val="0.2067157805499894"/>
          <c:w val="0.51243645354287692"/>
          <c:h val="0.66296993494263612"/>
        </c:manualLayout>
      </c:layout>
      <c:pieChart>
        <c:varyColors val="1"/>
        <c:ser>
          <c:idx val="0"/>
          <c:order val="0"/>
          <c:tx>
            <c:strRef>
              <c:f>Лист1!$B$1</c:f>
              <c:strCache>
                <c:ptCount val="1"/>
                <c:pt idx="0">
                  <c:v>Sales</c:v>
                </c:pt>
              </c:strCache>
            </c:strRef>
          </c:tx>
          <c:dPt>
            <c:idx val="0"/>
            <c:bubble3D val="0"/>
            <c:spPr>
              <a:solidFill>
                <a:schemeClr val="accent5">
                  <a:lumMod val="75000"/>
                  <a:lumOff val="25000"/>
                </a:schemeClr>
              </a:solidFill>
              <a:ln w="19050">
                <a:solidFill>
                  <a:schemeClr val="lt1"/>
                </a:solidFill>
              </a:ln>
              <a:effectLst/>
            </c:spPr>
            <c:extLst>
              <c:ext xmlns:c16="http://schemas.microsoft.com/office/drawing/2014/chart" uri="{C3380CC4-5D6E-409C-BE32-E72D297353CC}">
                <c16:uniqueId val="{00000002-9D77-4AB6-B5C5-77EFD014FECF}"/>
              </c:ext>
            </c:extLst>
          </c:dPt>
          <c:dPt>
            <c:idx val="1"/>
            <c:bubble3D val="0"/>
            <c:spPr>
              <a:solidFill>
                <a:schemeClr val="accent5">
                  <a:lumMod val="25000"/>
                  <a:lumOff val="75000"/>
                </a:schemeClr>
              </a:solidFill>
              <a:ln w="19050">
                <a:solidFill>
                  <a:schemeClr val="lt1"/>
                </a:solidFill>
              </a:ln>
              <a:effectLst/>
            </c:spPr>
            <c:extLst>
              <c:ext xmlns:c16="http://schemas.microsoft.com/office/drawing/2014/chart" uri="{C3380CC4-5D6E-409C-BE32-E72D297353CC}">
                <c16:uniqueId val="{00000001-9D77-4AB6-B5C5-77EFD014FECF}"/>
              </c:ext>
            </c:extLst>
          </c:dPt>
          <c:dLbls>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ru-RU"/>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Лист1!$A$2:$A$3</c:f>
              <c:strCache>
                <c:ptCount val="2"/>
                <c:pt idx="0">
                  <c:v>Conclusions with recommendations</c:v>
                </c:pt>
                <c:pt idx="1">
                  <c:v>Conclusions 
no recommendations</c:v>
                </c:pt>
              </c:strCache>
            </c:strRef>
          </c:cat>
          <c:val>
            <c:numRef>
              <c:f>Лист1!$B$2:$B$3</c:f>
              <c:numCache>
                <c:formatCode>General</c:formatCode>
                <c:ptCount val="2"/>
                <c:pt idx="0">
                  <c:v>117</c:v>
                </c:pt>
                <c:pt idx="1">
                  <c:v>91</c:v>
                </c:pt>
              </c:numCache>
            </c:numRef>
          </c:val>
          <c:extLst>
            <c:ext xmlns:c16="http://schemas.microsoft.com/office/drawing/2014/chart" uri="{C3380CC4-5D6E-409C-BE32-E72D297353CC}">
              <c16:uniqueId val="{00000000-9D77-4AB6-B5C5-77EFD014FECF}"/>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62377082218400903"/>
          <c:y val="0.2546496423762859"/>
          <c:w val="0.34763186476248092"/>
          <c:h val="0.58560075977134995"/>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1" i="0" u="none" strike="noStrike" kern="1200" spc="0" baseline="0">
                <a:solidFill>
                  <a:schemeClr val="accent5">
                    <a:lumMod val="75000"/>
                    <a:lumOff val="25000"/>
                  </a:schemeClr>
                </a:solidFill>
                <a:latin typeface="+mn-lt"/>
                <a:ea typeface="+mn-ea"/>
                <a:cs typeface="+mn-cs"/>
              </a:defRPr>
            </a:pPr>
            <a:r>
              <a:rPr lang="ru-RU" sz="800" b="1" i="0" baseline="0" dirty="0" smtClean="0">
                <a:solidFill>
                  <a:schemeClr val="accent5">
                    <a:lumMod val="75000"/>
                    <a:lumOff val="25000"/>
                  </a:schemeClr>
                </a:solidFill>
                <a:effectLst/>
              </a:rPr>
              <a:t>Subject of the agreement and number of recommendations implemented (208 for 2024)</a:t>
            </a:r>
            <a:endParaRPr lang="ru-RU" sz="800" b="1" dirty="0">
              <a:solidFill>
                <a:schemeClr val="accent5">
                  <a:lumMod val="75000"/>
                  <a:lumOff val="25000"/>
                </a:schemeClr>
              </a:solidFill>
              <a:effectLst/>
            </a:endParaRPr>
          </a:p>
        </c:rich>
      </c:tx>
      <c:overlay val="0"/>
      <c:spPr>
        <a:noFill/>
        <a:ln>
          <a:noFill/>
        </a:ln>
        <a:effectLst/>
      </c:spPr>
      <c:txPr>
        <a:bodyPr rot="0" spcFirstLastPara="1" vertOverflow="ellipsis" vert="horz" wrap="square" anchor="ctr" anchorCtr="1"/>
        <a:lstStyle/>
        <a:p>
          <a:pPr>
            <a:defRPr sz="800" b="1" i="0" u="none" strike="noStrike" kern="1200" spc="0" baseline="0">
              <a:solidFill>
                <a:schemeClr val="accent5">
                  <a:lumMod val="75000"/>
                  <a:lumOff val="25000"/>
                </a:schemeClr>
              </a:solidFill>
              <a:latin typeface="+mn-lt"/>
              <a:ea typeface="+mn-ea"/>
              <a:cs typeface="+mn-cs"/>
            </a:defRPr>
          </a:pPr>
          <a:endParaRPr lang="ru-RU"/>
        </a:p>
      </c:txPr>
    </c:title>
    <c:autoTitleDeleted val="0"/>
    <c:plotArea>
      <c:layout>
        <c:manualLayout>
          <c:layoutTarget val="inner"/>
          <c:xMode val="edge"/>
          <c:yMode val="edge"/>
          <c:x val="2.6301927261729526E-2"/>
          <c:y val="0.30289162064000336"/>
          <c:w val="0.81226563726515599"/>
          <c:h val="0.44091250993961018"/>
        </c:manualLayout>
      </c:layout>
      <c:barChart>
        <c:barDir val="col"/>
        <c:grouping val="stacked"/>
        <c:varyColors val="0"/>
        <c:ser>
          <c:idx val="0"/>
          <c:order val="0"/>
          <c:tx>
            <c:strRef>
              <c:f>Лист1!$B$1</c:f>
              <c:strCache>
                <c:ptCount val="1"/>
                <c:pt idx="0">
                  <c:v>Recommendations implemented</c:v>
                </c:pt>
              </c:strCache>
            </c:strRef>
          </c:tx>
          <c:spPr>
            <a:solidFill>
              <a:schemeClr val="accent5">
                <a:lumMod val="10000"/>
                <a:lumOff val="90000"/>
              </a:schemeClr>
            </a:solidFill>
            <a:ln>
              <a:noFill/>
            </a:ln>
            <a:effectLst/>
          </c:spPr>
          <c:invertIfNegative val="0"/>
          <c:dLbls>
            <c:dLbl>
              <c:idx val="4"/>
              <c:delete val="1"/>
              <c:extLst>
                <c:ext xmlns:c15="http://schemas.microsoft.com/office/drawing/2012/chart" uri="{CE6537A1-D6FC-4f65-9D91-7224C49458BB}"/>
                <c:ext xmlns:c16="http://schemas.microsoft.com/office/drawing/2014/chart" uri="{C3380CC4-5D6E-409C-BE32-E72D297353CC}">
                  <c16:uniqueId val="{00000000-5D04-46DD-9C94-2252DC7D9203}"/>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Лист1!$A$2:$A$6</c:f>
              <c:strCache>
                <c:ptCount val="5"/>
                <c:pt idx="0">
                  <c:v>Purchase of goods and materials</c:v>
                </c:pt>
                <c:pt idx="1">
                  <c:v>Implementation of GWS</c:v>
                </c:pt>
                <c:pt idx="2">
                  <c:v>Bis</c:v>
                </c:pt>
                <c:pt idx="3">
                  <c:v>Other</c:v>
                </c:pt>
                <c:pt idx="4">
                  <c:v>Duplicate applications (BIS)</c:v>
                </c:pt>
              </c:strCache>
            </c:strRef>
          </c:cat>
          <c:val>
            <c:numRef>
              <c:f>Лист1!$B$2:$B$6</c:f>
              <c:numCache>
                <c:formatCode>General</c:formatCode>
                <c:ptCount val="5"/>
                <c:pt idx="0">
                  <c:v>62</c:v>
                </c:pt>
                <c:pt idx="1">
                  <c:v>20</c:v>
                </c:pt>
                <c:pt idx="2">
                  <c:v>73</c:v>
                </c:pt>
                <c:pt idx="3">
                  <c:v>20</c:v>
                </c:pt>
                <c:pt idx="4">
                  <c:v>0</c:v>
                </c:pt>
              </c:numCache>
            </c:numRef>
          </c:val>
          <c:extLst>
            <c:ext xmlns:c16="http://schemas.microsoft.com/office/drawing/2014/chart" uri="{C3380CC4-5D6E-409C-BE32-E72D297353CC}">
              <c16:uniqueId val="{00000000-4AE2-4277-8E71-6A316691FE23}"/>
            </c:ext>
          </c:extLst>
        </c:ser>
        <c:ser>
          <c:idx val="1"/>
          <c:order val="1"/>
          <c:tx>
            <c:strRef>
              <c:f>Лист1!$C$1</c:f>
              <c:strCache>
                <c:ptCount val="1"/>
                <c:pt idx="0">
                  <c:v>Recommendations partially implemented</c:v>
                </c:pt>
              </c:strCache>
            </c:strRef>
          </c:tx>
          <c:spPr>
            <a:solidFill>
              <a:schemeClr val="accent5">
                <a:lumMod val="75000"/>
                <a:lumOff val="25000"/>
              </a:schemeClr>
            </a:solidFill>
            <a:ln>
              <a:noFill/>
            </a:ln>
            <a:effectLst/>
          </c:spPr>
          <c:invertIfNegative val="0"/>
          <c:dLbls>
            <c:dLbl>
              <c:idx val="0"/>
              <c:layout>
                <c:manualLayout>
                  <c:x val="0"/>
                  <c:y val="-5.4587264404375641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AE2-4277-8E71-6A316691FE23}"/>
                </c:ext>
              </c:extLst>
            </c:dLbl>
            <c:dLbl>
              <c:idx val="1"/>
              <c:delete val="1"/>
              <c:extLst>
                <c:ext xmlns:c15="http://schemas.microsoft.com/office/drawing/2012/chart" uri="{CE6537A1-D6FC-4f65-9D91-7224C49458BB}"/>
                <c:ext xmlns:c16="http://schemas.microsoft.com/office/drawing/2014/chart" uri="{C3380CC4-5D6E-409C-BE32-E72D297353CC}">
                  <c16:uniqueId val="{00000007-4AE2-4277-8E71-6A316691FE23}"/>
                </c:ext>
              </c:extLst>
            </c:dLbl>
            <c:dLbl>
              <c:idx val="2"/>
              <c:delete val="1"/>
              <c:extLst>
                <c:ext xmlns:c15="http://schemas.microsoft.com/office/drawing/2012/chart" uri="{CE6537A1-D6FC-4f65-9D91-7224C49458BB}"/>
                <c:ext xmlns:c16="http://schemas.microsoft.com/office/drawing/2014/chart" uri="{C3380CC4-5D6E-409C-BE32-E72D297353CC}">
                  <c16:uniqueId val="{00000003-4AE2-4277-8E71-6A316691FE23}"/>
                </c:ext>
              </c:extLst>
            </c:dLbl>
            <c:dLbl>
              <c:idx val="3"/>
              <c:delete val="1"/>
              <c:extLst>
                <c:ext xmlns:c15="http://schemas.microsoft.com/office/drawing/2012/chart" uri="{CE6537A1-D6FC-4f65-9D91-7224C49458BB}"/>
                <c:ext xmlns:c16="http://schemas.microsoft.com/office/drawing/2014/chart" uri="{C3380CC4-5D6E-409C-BE32-E72D297353CC}">
                  <c16:uniqueId val="{00000004-4AE2-4277-8E71-6A316691FE23}"/>
                </c:ext>
              </c:extLst>
            </c:dLbl>
            <c:dLbl>
              <c:idx val="4"/>
              <c:delete val="1"/>
              <c:extLst>
                <c:ext xmlns:c15="http://schemas.microsoft.com/office/drawing/2012/chart" uri="{CE6537A1-D6FC-4f65-9D91-7224C49458BB}"/>
                <c:ext xmlns:c16="http://schemas.microsoft.com/office/drawing/2014/chart" uri="{C3380CC4-5D6E-409C-BE32-E72D297353CC}">
                  <c16:uniqueId val="{00000005-4AE2-4277-8E71-6A316691FE23}"/>
                </c:ext>
              </c:extLst>
            </c:dLbl>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Лист1!$A$2:$A$6</c:f>
              <c:strCache>
                <c:ptCount val="5"/>
                <c:pt idx="0">
                  <c:v>Purchase of goods and materials</c:v>
                </c:pt>
                <c:pt idx="1">
                  <c:v>Implementation of GWS</c:v>
                </c:pt>
                <c:pt idx="2">
                  <c:v>Bis</c:v>
                </c:pt>
                <c:pt idx="3">
                  <c:v>Other</c:v>
                </c:pt>
                <c:pt idx="4">
                  <c:v>Duplicate applications (BIS)</c:v>
                </c:pt>
              </c:strCache>
            </c:strRef>
          </c:cat>
          <c:val>
            <c:numRef>
              <c:f>Лист1!$C$2:$C$6</c:f>
              <c:numCache>
                <c:formatCode>General</c:formatCode>
                <c:ptCount val="5"/>
                <c:pt idx="0">
                  <c:v>3</c:v>
                </c:pt>
                <c:pt idx="1">
                  <c:v>0</c:v>
                </c:pt>
                <c:pt idx="2">
                  <c:v>0</c:v>
                </c:pt>
                <c:pt idx="3">
                  <c:v>0</c:v>
                </c:pt>
                <c:pt idx="4">
                  <c:v>0</c:v>
                </c:pt>
              </c:numCache>
            </c:numRef>
          </c:val>
          <c:extLst>
            <c:ext xmlns:c16="http://schemas.microsoft.com/office/drawing/2014/chart" uri="{C3380CC4-5D6E-409C-BE32-E72D297353CC}">
              <c16:uniqueId val="{00000001-4AE2-4277-8E71-6A316691FE23}"/>
            </c:ext>
          </c:extLst>
        </c:ser>
        <c:ser>
          <c:idx val="2"/>
          <c:order val="2"/>
          <c:tx>
            <c:strRef>
              <c:f>Лист1!$D$1</c:f>
              <c:strCache>
                <c:ptCount val="1"/>
                <c:pt idx="0">
                  <c:v>Not applicable</c:v>
                </c:pt>
              </c:strCache>
            </c:strRef>
          </c:tx>
          <c:spPr>
            <a:solidFill>
              <a:schemeClr val="accent4">
                <a:lumMod val="20000"/>
                <a:lumOff val="80000"/>
              </a:schemeClr>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8-4AE2-4277-8E71-6A316691FE23}"/>
                </c:ext>
              </c:extLst>
            </c:dLbl>
            <c:dLbl>
              <c:idx val="1"/>
              <c:delete val="1"/>
              <c:extLst>
                <c:ext xmlns:c15="http://schemas.microsoft.com/office/drawing/2012/chart" uri="{CE6537A1-D6FC-4f65-9D91-7224C49458BB}"/>
                <c:ext xmlns:c16="http://schemas.microsoft.com/office/drawing/2014/chart" uri="{C3380CC4-5D6E-409C-BE32-E72D297353CC}">
                  <c16:uniqueId val="{00000006-4AE2-4277-8E71-6A316691FE23}"/>
                </c:ext>
              </c:extLst>
            </c:dLbl>
            <c:dLbl>
              <c:idx val="2"/>
              <c:delete val="1"/>
              <c:extLst>
                <c:ext xmlns:c15="http://schemas.microsoft.com/office/drawing/2012/chart" uri="{CE6537A1-D6FC-4f65-9D91-7224C49458BB}"/>
                <c:ext xmlns:c16="http://schemas.microsoft.com/office/drawing/2014/chart" uri="{C3380CC4-5D6E-409C-BE32-E72D297353CC}">
                  <c16:uniqueId val="{00000009-4AE2-4277-8E71-6A316691FE23}"/>
                </c:ext>
              </c:extLst>
            </c:dLbl>
            <c:dLbl>
              <c:idx val="3"/>
              <c:delete val="1"/>
              <c:extLst>
                <c:ext xmlns:c15="http://schemas.microsoft.com/office/drawing/2012/chart" uri="{CE6537A1-D6FC-4f65-9D91-7224C49458BB}"/>
                <c:ext xmlns:c16="http://schemas.microsoft.com/office/drawing/2014/chart" uri="{C3380CC4-5D6E-409C-BE32-E72D297353CC}">
                  <c16:uniqueId val="{0000000A-4AE2-4277-8E71-6A316691FE23}"/>
                </c:ext>
              </c:extLst>
            </c:dLbl>
            <c:dLbl>
              <c:idx val="4"/>
              <c:layout>
                <c:manualLayout>
                  <c:x val="0"/>
                  <c:y val="-2.7293632202187789E-2"/>
                </c:manualLayout>
              </c:layout>
              <c:tx>
                <c:rich>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fld id="{1F361CE9-17E1-4EB1-AF36-910B9D27AD33}" type="VALUE">
                      <a:rPr lang="en-US" sz="800" b="1" u="none">
                        <a:solidFill>
                          <a:schemeClr val="tx1"/>
                        </a:solidFill>
                      </a:rPr>
                      <a:pPr>
                        <a:defRPr sz="800" b="1">
                          <a:solidFill>
                            <a:schemeClr val="tx1"/>
                          </a:solidFill>
                        </a:defRPr>
                      </a:pPr>
                      <a:t>[ЗНАЧЕНИЕ]</a:t>
                    </a:fld>
                    <a:endParaRPr lang="ru-RU"/>
                  </a:p>
                </c:rich>
              </c:tx>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4AE2-4277-8E71-6A316691FE2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Лист1!$A$2:$A$6</c:f>
              <c:strCache>
                <c:ptCount val="5"/>
                <c:pt idx="0">
                  <c:v>Purchase of goods and materials</c:v>
                </c:pt>
                <c:pt idx="1">
                  <c:v>Implementation of GWS</c:v>
                </c:pt>
                <c:pt idx="2">
                  <c:v>Bis</c:v>
                </c:pt>
                <c:pt idx="3">
                  <c:v>Other</c:v>
                </c:pt>
                <c:pt idx="4">
                  <c:v>Duplicate applications (BIS)</c:v>
                </c:pt>
              </c:strCache>
            </c:strRef>
          </c:cat>
          <c:val>
            <c:numRef>
              <c:f>Лист1!$D$2:$D$6</c:f>
              <c:numCache>
                <c:formatCode>General</c:formatCode>
                <c:ptCount val="5"/>
                <c:pt idx="0">
                  <c:v>0</c:v>
                </c:pt>
                <c:pt idx="1">
                  <c:v>0</c:v>
                </c:pt>
                <c:pt idx="2">
                  <c:v>0</c:v>
                </c:pt>
                <c:pt idx="3">
                  <c:v>0</c:v>
                </c:pt>
                <c:pt idx="4">
                  <c:v>30</c:v>
                </c:pt>
              </c:numCache>
            </c:numRef>
          </c:val>
          <c:extLst>
            <c:ext xmlns:c16="http://schemas.microsoft.com/office/drawing/2014/chart" uri="{C3380CC4-5D6E-409C-BE32-E72D297353CC}">
              <c16:uniqueId val="{00000002-4AE2-4277-8E71-6A316691FE23}"/>
            </c:ext>
          </c:extLst>
        </c:ser>
        <c:dLbls>
          <c:dLblPos val="ctr"/>
          <c:showLegendKey val="0"/>
          <c:showVal val="1"/>
          <c:showCatName val="0"/>
          <c:showSerName val="0"/>
          <c:showPercent val="0"/>
          <c:showBubbleSize val="0"/>
        </c:dLbls>
        <c:gapWidth val="219"/>
        <c:overlap val="100"/>
        <c:axId val="684298648"/>
        <c:axId val="684294712"/>
      </c:barChart>
      <c:catAx>
        <c:axId val="684298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ru-RU"/>
          </a:p>
        </c:txPr>
        <c:crossAx val="684294712"/>
        <c:crosses val="autoZero"/>
        <c:auto val="1"/>
        <c:lblAlgn val="ctr"/>
        <c:lblOffset val="100"/>
        <c:noMultiLvlLbl val="0"/>
      </c:catAx>
      <c:valAx>
        <c:axId val="684294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ru-RU"/>
          </a:p>
        </c:txPr>
        <c:crossAx val="6842986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ru-RU" dirty="0"/>
              <a:t>Passes</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ru-RU"/>
        </a:p>
      </c:txPr>
    </c:title>
    <c:autoTitleDeleted val="0"/>
    <c:plotArea>
      <c:layout/>
      <c:barChart>
        <c:barDir val="bar"/>
        <c:grouping val="clustered"/>
        <c:varyColors val="0"/>
        <c:ser>
          <c:idx val="0"/>
          <c:order val="0"/>
          <c:tx>
            <c:strRef>
              <c:f>Лист1!$B$1</c:f>
              <c:strCache>
                <c:ptCount val="1"/>
                <c:pt idx="0">
                  <c:v>2023</c:v>
                </c:pt>
              </c:strCache>
            </c:strRef>
          </c:tx>
          <c:spPr>
            <a:solidFill>
              <a:schemeClr val="accent5">
                <a:lumMod val="25000"/>
                <a:lumOff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Pass</c:v>
                </c:pt>
              </c:strCache>
            </c:strRef>
          </c:cat>
          <c:val>
            <c:numRef>
              <c:f>Лист1!$B$2</c:f>
              <c:numCache>
                <c:formatCode>0%</c:formatCode>
                <c:ptCount val="1"/>
                <c:pt idx="0">
                  <c:v>0.56999999999999995</c:v>
                </c:pt>
              </c:numCache>
            </c:numRef>
          </c:val>
          <c:extLst>
            <c:ext xmlns:c16="http://schemas.microsoft.com/office/drawing/2014/chart" uri="{C3380CC4-5D6E-409C-BE32-E72D297353CC}">
              <c16:uniqueId val="{00000000-84D0-4814-B1B2-3A3A8881B390}"/>
            </c:ext>
          </c:extLst>
        </c:ser>
        <c:ser>
          <c:idx val="1"/>
          <c:order val="1"/>
          <c:tx>
            <c:strRef>
              <c:f>Лист1!$C$1</c:f>
              <c:strCache>
                <c:ptCount val="1"/>
                <c:pt idx="0">
                  <c:v>2024</c:v>
                </c:pt>
              </c:strCache>
            </c:strRef>
          </c:tx>
          <c:spPr>
            <a:solidFill>
              <a:schemeClr val="accent5">
                <a:lumMod val="50000"/>
                <a:lumOff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Pass</c:v>
                </c:pt>
              </c:strCache>
            </c:strRef>
          </c:cat>
          <c:val>
            <c:numRef>
              <c:f>Лист1!$C$2</c:f>
              <c:numCache>
                <c:formatCode>0%</c:formatCode>
                <c:ptCount val="1"/>
                <c:pt idx="0">
                  <c:v>0.08</c:v>
                </c:pt>
              </c:numCache>
            </c:numRef>
          </c:val>
          <c:extLst>
            <c:ext xmlns:c16="http://schemas.microsoft.com/office/drawing/2014/chart" uri="{C3380CC4-5D6E-409C-BE32-E72D297353CC}">
              <c16:uniqueId val="{00000001-84D0-4814-B1B2-3A3A8881B390}"/>
            </c:ext>
          </c:extLst>
        </c:ser>
        <c:ser>
          <c:idx val="2"/>
          <c:order val="2"/>
          <c:tx>
            <c:strRef>
              <c:f>Лист1!$D$1</c:f>
              <c:strCache>
                <c:ptCount val="1"/>
                <c:pt idx="0">
                  <c:v>2025</c:v>
                </c:pt>
              </c:strCache>
            </c:strRef>
          </c:tx>
          <c:spPr>
            <a:solidFill>
              <a:schemeClr val="accent5">
                <a:lumMod val="75000"/>
                <a:lumOff val="2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Pass</c:v>
                </c:pt>
              </c:strCache>
            </c:strRef>
          </c:cat>
          <c:val>
            <c:numRef>
              <c:f>Лист1!$D$2</c:f>
              <c:numCache>
                <c:formatCode>0%</c:formatCode>
                <c:ptCount val="1"/>
                <c:pt idx="0">
                  <c:v>0.02</c:v>
                </c:pt>
              </c:numCache>
            </c:numRef>
          </c:val>
          <c:extLst>
            <c:ext xmlns:c16="http://schemas.microsoft.com/office/drawing/2014/chart" uri="{C3380CC4-5D6E-409C-BE32-E72D297353CC}">
              <c16:uniqueId val="{00000002-84D0-4814-B1B2-3A3A8881B390}"/>
            </c:ext>
          </c:extLst>
        </c:ser>
        <c:dLbls>
          <c:dLblPos val="outEnd"/>
          <c:showLegendKey val="0"/>
          <c:showVal val="1"/>
          <c:showCatName val="0"/>
          <c:showSerName val="0"/>
          <c:showPercent val="0"/>
          <c:showBubbleSize val="0"/>
        </c:dLbls>
        <c:gapWidth val="75"/>
        <c:overlap val="-25"/>
        <c:axId val="471978200"/>
        <c:axId val="471983448"/>
      </c:barChart>
      <c:catAx>
        <c:axId val="471978200"/>
        <c:scaling>
          <c:orientation val="minMax"/>
        </c:scaling>
        <c:delete val="1"/>
        <c:axPos val="l"/>
        <c:numFmt formatCode="General" sourceLinked="1"/>
        <c:majorTickMark val="none"/>
        <c:minorTickMark val="none"/>
        <c:tickLblPos val="nextTo"/>
        <c:crossAx val="471983448"/>
        <c:crosses val="autoZero"/>
        <c:auto val="1"/>
        <c:lblAlgn val="ctr"/>
        <c:lblOffset val="100"/>
        <c:noMultiLvlLbl val="0"/>
      </c:catAx>
      <c:valAx>
        <c:axId val="471983448"/>
        <c:scaling>
          <c:orientation val="minMax"/>
        </c:scaling>
        <c:delete val="1"/>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4719782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sz="1000">
          <a:solidFill>
            <a:schemeClr val="tx1"/>
          </a:solidFill>
        </a:defRPr>
      </a:pPr>
      <a:endParaRPr lang="ru-RU"/>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doughnutChart>
        <c:varyColors val="1"/>
        <c:ser>
          <c:idx val="0"/>
          <c:order val="0"/>
          <c:tx>
            <c:strRef>
              <c:f>Лист1!$B$1</c:f>
              <c:strCache>
                <c:ptCount val="1"/>
                <c:pt idx="0">
                  <c:v>Sales</c:v>
                </c:pt>
              </c:strCache>
            </c:strRef>
          </c:tx>
          <c:spPr>
            <a:solidFill>
              <a:schemeClr val="accent5">
                <a:lumMod val="25000"/>
                <a:lumOff val="75000"/>
              </a:schemeClr>
            </a:solidFill>
          </c:spPr>
          <c:dPt>
            <c:idx val="0"/>
            <c:bubble3D val="0"/>
            <c:spPr>
              <a:solidFill>
                <a:schemeClr val="accent5">
                  <a:lumMod val="25000"/>
                  <a:lumOff val="75000"/>
                </a:schemeClr>
              </a:solidFill>
              <a:ln w="19050">
                <a:solidFill>
                  <a:schemeClr val="lt1"/>
                </a:solidFill>
              </a:ln>
              <a:effectLst/>
            </c:spPr>
            <c:extLst>
              <c:ext xmlns:c16="http://schemas.microsoft.com/office/drawing/2014/chart" uri="{C3380CC4-5D6E-409C-BE32-E72D297353CC}">
                <c16:uniqueId val="{00000001-CB3E-400A-9D06-2AC65271630A}"/>
              </c:ext>
            </c:extLst>
          </c:dPt>
          <c:dPt>
            <c:idx val="1"/>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003-CB3E-400A-9D06-2AC65271630A}"/>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ru-RU"/>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Лист1!$A$2:$A$3</c:f>
              <c:strCache>
                <c:ptCount val="2"/>
                <c:pt idx="0">
                  <c:v>Sq. 1</c:v>
                </c:pt>
                <c:pt idx="1">
                  <c:v>Sq. 2</c:v>
                </c:pt>
              </c:strCache>
            </c:strRef>
          </c:cat>
          <c:val>
            <c:numRef>
              <c:f>Лист1!$B$2:$B$3</c:f>
              <c:numCache>
                <c:formatCode>0.00%</c:formatCode>
                <c:ptCount val="2"/>
                <c:pt idx="0">
                  <c:v>0.97709999999999997</c:v>
                </c:pt>
                <c:pt idx="1">
                  <c:v>2.29E-2</c:v>
                </c:pt>
              </c:numCache>
            </c:numRef>
          </c:val>
          <c:extLst>
            <c:ext xmlns:c16="http://schemas.microsoft.com/office/drawing/2014/chart" uri="{C3380CC4-5D6E-409C-BE32-E72D297353CC}">
              <c16:uniqueId val="{00000004-CB3E-400A-9D06-2AC65271630A}"/>
            </c:ext>
          </c:extLst>
        </c:ser>
        <c:dLbls>
          <c:showLegendKey val="0"/>
          <c:showVal val="0"/>
          <c:showCatName val="0"/>
          <c:showSerName val="0"/>
          <c:showPercent val="1"/>
          <c:showBubbleSize val="0"/>
          <c:showLeaderLines val="1"/>
        </c:dLbls>
        <c:firstSliceAng val="0"/>
        <c:holeSize val="50"/>
      </c:doughnutChart>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Лист1!$B$1</c:f>
              <c:strCache>
                <c:ptCount val="1"/>
                <c:pt idx="0">
                  <c:v>Row 1</c:v>
                </c:pt>
              </c:strCache>
            </c:strRef>
          </c:tx>
          <c:spPr>
            <a:solidFill>
              <a:schemeClr val="accent5">
                <a:lumMod val="25000"/>
                <a:lumOff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Category 1</c:v>
                </c:pt>
              </c:strCache>
            </c:strRef>
          </c:cat>
          <c:val>
            <c:numRef>
              <c:f>Лист1!$B$2</c:f>
              <c:numCache>
                <c:formatCode>0%</c:formatCode>
                <c:ptCount val="1"/>
                <c:pt idx="0">
                  <c:v>0.79</c:v>
                </c:pt>
              </c:numCache>
            </c:numRef>
          </c:val>
          <c:extLst>
            <c:ext xmlns:c16="http://schemas.microsoft.com/office/drawing/2014/chart" uri="{C3380CC4-5D6E-409C-BE32-E72D297353CC}">
              <c16:uniqueId val="{00000000-2441-4032-BE62-3DAC23F7E326}"/>
            </c:ext>
          </c:extLst>
        </c:ser>
        <c:ser>
          <c:idx val="1"/>
          <c:order val="1"/>
          <c:tx>
            <c:strRef>
              <c:f>Лист1!$C$1</c:f>
              <c:strCache>
                <c:ptCount val="1"/>
                <c:pt idx="0">
                  <c:v>Row 2</c:v>
                </c:pt>
              </c:strCache>
            </c:strRef>
          </c:tx>
          <c:spPr>
            <a:solidFill>
              <a:schemeClr val="accent5">
                <a:lumMod val="50000"/>
                <a:lumOff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Category 1</c:v>
                </c:pt>
              </c:strCache>
            </c:strRef>
          </c:cat>
          <c:val>
            <c:numRef>
              <c:f>Лист1!$C$2</c:f>
              <c:numCache>
                <c:formatCode>0%</c:formatCode>
                <c:ptCount val="1"/>
                <c:pt idx="0">
                  <c:v>0.21</c:v>
                </c:pt>
              </c:numCache>
            </c:numRef>
          </c:val>
          <c:extLst>
            <c:ext xmlns:c16="http://schemas.microsoft.com/office/drawing/2014/chart" uri="{C3380CC4-5D6E-409C-BE32-E72D297353CC}">
              <c16:uniqueId val="{00000001-2441-4032-BE62-3DAC23F7E326}"/>
            </c:ext>
          </c:extLst>
        </c:ser>
        <c:dLbls>
          <c:dLblPos val="outEnd"/>
          <c:showLegendKey val="0"/>
          <c:showVal val="1"/>
          <c:showCatName val="0"/>
          <c:showSerName val="0"/>
          <c:showPercent val="0"/>
          <c:showBubbleSize val="0"/>
        </c:dLbls>
        <c:gapWidth val="219"/>
        <c:overlap val="-27"/>
        <c:axId val="427733056"/>
        <c:axId val="427730432"/>
      </c:barChart>
      <c:catAx>
        <c:axId val="427733056"/>
        <c:scaling>
          <c:orientation val="minMax"/>
        </c:scaling>
        <c:delete val="1"/>
        <c:axPos val="b"/>
        <c:numFmt formatCode="General" sourceLinked="1"/>
        <c:majorTickMark val="none"/>
        <c:minorTickMark val="none"/>
        <c:tickLblPos val="nextTo"/>
        <c:crossAx val="427730432"/>
        <c:crosses val="autoZero"/>
        <c:auto val="1"/>
        <c:lblAlgn val="ctr"/>
        <c:lblOffset val="100"/>
        <c:noMultiLvlLbl val="0"/>
      </c:catAx>
      <c:valAx>
        <c:axId val="427730432"/>
        <c:scaling>
          <c:orientation val="minMax"/>
        </c:scaling>
        <c:delete val="1"/>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42773305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Лист1!$B$1</c:f>
              <c:strCache>
                <c:ptCount val="1"/>
                <c:pt idx="0">
                  <c:v>Sales</c:v>
                </c:pt>
              </c:strCache>
            </c:strRef>
          </c:tx>
          <c:spPr>
            <a:solidFill>
              <a:schemeClr val="accent5">
                <a:lumMod val="50000"/>
                <a:lumOff val="50000"/>
              </a:schemeClr>
            </a:solidFill>
          </c:spPr>
          <c:dPt>
            <c:idx val="0"/>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001-6D25-4318-9707-5BBAB75ACD8E}"/>
              </c:ext>
            </c:extLst>
          </c:dPt>
          <c:dPt>
            <c:idx val="1"/>
            <c:bubble3D val="0"/>
            <c:spPr>
              <a:solidFill>
                <a:schemeClr val="accent5">
                  <a:lumMod val="25000"/>
                  <a:lumOff val="75000"/>
                </a:schemeClr>
              </a:solidFill>
              <a:ln w="19050">
                <a:solidFill>
                  <a:schemeClr val="lt1"/>
                </a:solidFill>
              </a:ln>
              <a:effectLst/>
            </c:spPr>
            <c:extLst>
              <c:ext xmlns:c16="http://schemas.microsoft.com/office/drawing/2014/chart" uri="{C3380CC4-5D6E-409C-BE32-E72D297353CC}">
                <c16:uniqueId val="{00000003-6D25-4318-9707-5BBAB75ACD8E}"/>
              </c:ext>
            </c:extLst>
          </c:dPt>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ru-RU"/>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Лист1!$A$2:$A$3</c:f>
              <c:strCache>
                <c:ptCount val="2"/>
                <c:pt idx="0">
                  <c:v>Sq. 1</c:v>
                </c:pt>
                <c:pt idx="1">
                  <c:v>Sq. 2</c:v>
                </c:pt>
              </c:strCache>
            </c:strRef>
          </c:cat>
          <c:val>
            <c:numRef>
              <c:f>Лист1!$B$2:$B$3</c:f>
              <c:numCache>
                <c:formatCode>0.0%</c:formatCode>
                <c:ptCount val="2"/>
                <c:pt idx="0">
                  <c:v>5.8999999999999997E-2</c:v>
                </c:pt>
                <c:pt idx="1">
                  <c:v>0.94099999999999995</c:v>
                </c:pt>
              </c:numCache>
            </c:numRef>
          </c:val>
          <c:extLst>
            <c:ext xmlns:c16="http://schemas.microsoft.com/office/drawing/2014/chart" uri="{C3380CC4-5D6E-409C-BE32-E72D297353CC}">
              <c16:uniqueId val="{00000004-6D25-4318-9707-5BBAB75ACD8E}"/>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sz="1000">
          <a:solidFill>
            <a:schemeClr val="tx1"/>
          </a:solidFill>
          <a:latin typeface="+mn-lt"/>
        </a:defRPr>
      </a:pPr>
      <a:endParaRPr lang="ru-RU"/>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Sales</c:v>
                </c:pt>
              </c:strCache>
            </c:strRef>
          </c:tx>
          <c:dPt>
            <c:idx val="0"/>
            <c:bubble3D val="0"/>
            <c:spPr>
              <a:solidFill>
                <a:schemeClr val="accent5">
                  <a:lumMod val="25000"/>
                  <a:lumOff val="75000"/>
                </a:schemeClr>
              </a:solidFill>
              <a:ln w="19050">
                <a:solidFill>
                  <a:schemeClr val="lt1"/>
                </a:solidFill>
              </a:ln>
              <a:effectLst/>
            </c:spPr>
            <c:extLst>
              <c:ext xmlns:c16="http://schemas.microsoft.com/office/drawing/2014/chart" uri="{C3380CC4-5D6E-409C-BE32-E72D297353CC}">
                <c16:uniqueId val="{00000001-D348-4C10-87BD-F945469C97BC}"/>
              </c:ext>
            </c:extLst>
          </c:dPt>
          <c:dPt>
            <c:idx val="1"/>
            <c:bubble3D val="0"/>
            <c:spPr>
              <a:solidFill>
                <a:schemeClr val="accent5">
                  <a:lumMod val="50000"/>
                  <a:lumOff val="50000"/>
                </a:schemeClr>
              </a:solidFill>
              <a:ln w="19050">
                <a:solidFill>
                  <a:schemeClr val="lt1"/>
                </a:solidFill>
              </a:ln>
              <a:effectLst/>
            </c:spPr>
            <c:extLst>
              <c:ext xmlns:c16="http://schemas.microsoft.com/office/drawing/2014/chart" uri="{C3380CC4-5D6E-409C-BE32-E72D297353CC}">
                <c16:uniqueId val="{00000003-D348-4C10-87BD-F945469C97BC}"/>
              </c:ext>
            </c:extLst>
          </c:dPt>
          <c:dLbls>
            <c:dLbl>
              <c:idx val="0"/>
              <c:tx>
                <c:rich>
                  <a:bodyPr/>
                  <a:lstStyle/>
                  <a:p>
                    <a:fld id="{B65994E8-C165-4261-9E38-72EBAF676347}" type="VALUE">
                      <a:rPr lang="en-US" baseline="0" smtClean="0"/>
                      <a:pPr/>
                      <a:t>[ЗНАЧЕНИЕ]</a:t>
                    </a:fld>
                    <a:endParaRPr lang="ru-RU"/>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D348-4C10-87BD-F945469C97BC}"/>
                </c:ext>
              </c:extLst>
            </c:dLbl>
            <c:dLbl>
              <c:idx val="1"/>
              <c:tx>
                <c:rich>
                  <a:bodyPr/>
                  <a:lstStyle/>
                  <a:p>
                    <a:fld id="{97B63BB4-2078-4E7A-BF0B-6EDB6D72000A}" type="VALUE">
                      <a:rPr lang="en-US" baseline="0" smtClean="0"/>
                      <a:pPr/>
                      <a:t>[ЗНАЧЕНИЕ]</a:t>
                    </a:fld>
                    <a:endParaRPr lang="ru-RU"/>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348-4C10-87BD-F945469C97B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ru-RU"/>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Лист1!$A$2:$A$3</c:f>
              <c:strCache>
                <c:ptCount val="2"/>
                <c:pt idx="0">
                  <c:v>Sq. 1</c:v>
                </c:pt>
                <c:pt idx="1">
                  <c:v>Sq. 2</c:v>
                </c:pt>
              </c:strCache>
            </c:strRef>
          </c:cat>
          <c:val>
            <c:numRef>
              <c:f>Лист1!$B$2:$B$3</c:f>
              <c:numCache>
                <c:formatCode>0.0%</c:formatCode>
                <c:ptCount val="2"/>
                <c:pt idx="0">
                  <c:v>0.92300000000000004</c:v>
                </c:pt>
                <c:pt idx="1">
                  <c:v>7.6999999999999999E-2</c:v>
                </c:pt>
              </c:numCache>
            </c:numRef>
          </c:val>
          <c:extLst>
            <c:ext xmlns:c16="http://schemas.microsoft.com/office/drawing/2014/chart" uri="{C3380CC4-5D6E-409C-BE32-E72D297353CC}">
              <c16:uniqueId val="{00000004-D348-4C10-87BD-F945469C97BC}"/>
            </c:ext>
          </c:extLst>
        </c:ser>
        <c:dLbls>
          <c:showLegendKey val="0"/>
          <c:showVal val="1"/>
          <c:showCatName val="1"/>
          <c:showSerName val="0"/>
          <c:showPercent val="0"/>
          <c:showBubbleSize val="0"/>
          <c:showLeaderLines val="1"/>
        </c:dLbls>
        <c:firstSliceAng val="0"/>
        <c:holeSize val="50"/>
      </c:doughnutChart>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Лист1!$B$1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1A02-4AF8-847D-33449DEAB060}"/>
              </c:ext>
            </c:extLst>
          </c:dPt>
          <c:dPt>
            <c:idx val="1"/>
            <c:bubble3D val="0"/>
            <c:spPr>
              <a:solidFill>
                <a:schemeClr val="accent2"/>
              </a:solidFill>
              <a:ln w="19050">
                <a:noFill/>
              </a:ln>
              <a:effectLst/>
            </c:spPr>
            <c:extLst>
              <c:ext xmlns:c16="http://schemas.microsoft.com/office/drawing/2014/chart" uri="{C3380CC4-5D6E-409C-BE32-E72D297353CC}">
                <c16:uniqueId val="{00000003-1A02-4AF8-847D-33449DEAB060}"/>
              </c:ext>
            </c:extLst>
          </c:dPt>
          <c:dPt>
            <c:idx val="2"/>
            <c:bubble3D val="0"/>
            <c:spPr>
              <a:solidFill>
                <a:schemeClr val="accent3"/>
              </a:solidFill>
              <a:ln w="19050">
                <a:noFill/>
              </a:ln>
              <a:effectLst/>
            </c:spPr>
            <c:extLst>
              <c:ext xmlns:c16="http://schemas.microsoft.com/office/drawing/2014/chart" uri="{C3380CC4-5D6E-409C-BE32-E72D297353CC}">
                <c16:uniqueId val="{00000005-1A02-4AF8-847D-33449DEAB060}"/>
              </c:ext>
            </c:extLst>
          </c:dPt>
          <c:dPt>
            <c:idx val="3"/>
            <c:bubble3D val="0"/>
            <c:spPr>
              <a:solidFill>
                <a:schemeClr val="accent6"/>
              </a:solidFill>
              <a:ln w="19050">
                <a:noFill/>
              </a:ln>
              <a:effectLst/>
            </c:spPr>
            <c:extLst>
              <c:ext xmlns:c16="http://schemas.microsoft.com/office/drawing/2014/chart" uri="{C3380CC4-5D6E-409C-BE32-E72D297353CC}">
                <c16:uniqueId val="{00000007-1A02-4AF8-847D-33449DEAB060}"/>
              </c:ext>
            </c:extLst>
          </c:dPt>
          <c:dPt>
            <c:idx val="4"/>
            <c:bubble3D val="0"/>
            <c:spPr>
              <a:solidFill>
                <a:schemeClr val="tx2"/>
              </a:solidFill>
              <a:ln w="19050">
                <a:noFill/>
              </a:ln>
              <a:effectLst/>
            </c:spPr>
            <c:extLst>
              <c:ext xmlns:c16="http://schemas.microsoft.com/office/drawing/2014/chart" uri="{C3380CC4-5D6E-409C-BE32-E72D297353CC}">
                <c16:uniqueId val="{00000009-1A02-4AF8-847D-33449DEAB060}"/>
              </c:ext>
            </c:extLst>
          </c:dPt>
          <c:cat>
            <c:strRef>
              <c:f>Лист1!$A$2:$A$6</c:f>
              <c:strCache>
                <c:ptCount val="5"/>
                <c:pt idx="0">
                  <c:v>Approved</c:v>
                </c:pt>
                <c:pt idx="1">
                  <c:v>Approved with conditions</c:v>
                </c:pt>
                <c:pt idx="2">
                  <c:v>Rejected</c:v>
                </c:pt>
                <c:pt idx="3">
                  <c:v>Reviewed after the fact</c:v>
                </c:pt>
                <c:pt idx="4">
                  <c:v>In progress</c:v>
                </c:pt>
              </c:strCache>
            </c:strRef>
          </c:cat>
          <c:val>
            <c:numRef>
              <c:f>Лист1!$B$2:$B$6</c:f>
              <c:numCache>
                <c:formatCode>General</c:formatCode>
                <c:ptCount val="5"/>
                <c:pt idx="0">
                  <c:v>8998</c:v>
                </c:pt>
                <c:pt idx="1">
                  <c:v>4464</c:v>
                </c:pt>
                <c:pt idx="2">
                  <c:v>66</c:v>
                </c:pt>
                <c:pt idx="3">
                  <c:v>26</c:v>
                </c:pt>
                <c:pt idx="4">
                  <c:v>119</c:v>
                </c:pt>
              </c:numCache>
            </c:numRef>
          </c:val>
          <c:extLst>
            <c:ext xmlns:c16="http://schemas.microsoft.com/office/drawing/2014/chart" uri="{C3380CC4-5D6E-409C-BE32-E72D297353CC}">
              <c16:uniqueId val="{0000000A-1A02-4AF8-847D-33449DEAB060}"/>
            </c:ext>
          </c:extLst>
        </c:ser>
        <c:dLbls>
          <c:showLegendKey val="0"/>
          <c:showVal val="0"/>
          <c:showCatName val="0"/>
          <c:showSerName val="0"/>
          <c:showPercent val="0"/>
          <c:showBubbleSize val="0"/>
          <c:showLeaderLines val="1"/>
        </c:dLbls>
        <c:firstSliceAng val="124"/>
        <c:holeSize val="60"/>
      </c:doughnutChart>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3601286173633438E-2"/>
          <c:y val="8.3601286173633438E-2"/>
          <c:w val="0.83279742765273312"/>
          <c:h val="0.83279742765273312"/>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88E2-424A-8A72-83DF7398DBAA}"/>
              </c:ext>
            </c:extLst>
          </c:dPt>
          <c:dPt>
            <c:idx val="1"/>
            <c:bubble3D val="0"/>
            <c:spPr>
              <a:solidFill>
                <a:schemeClr val="accent2"/>
              </a:solidFill>
              <a:ln>
                <a:noFill/>
              </a:ln>
            </c:spPr>
            <c:extLst>
              <c:ext xmlns:c16="http://schemas.microsoft.com/office/drawing/2014/chart" uri="{C3380CC4-5D6E-409C-BE32-E72D297353CC}">
                <c16:uniqueId val="{00000003-88E2-424A-8A72-83DF7398DBAA}"/>
              </c:ext>
            </c:extLst>
          </c:dPt>
          <c:dPt>
            <c:idx val="2"/>
            <c:bubble3D val="0"/>
            <c:spPr>
              <a:solidFill>
                <a:schemeClr val="tx2"/>
              </a:solidFill>
              <a:ln>
                <a:noFill/>
              </a:ln>
            </c:spPr>
            <c:extLst>
              <c:ext xmlns:c16="http://schemas.microsoft.com/office/drawing/2014/chart" uri="{C3380CC4-5D6E-409C-BE32-E72D297353CC}">
                <c16:uniqueId val="{00000005-88E2-424A-8A72-83DF7398DBAA}"/>
              </c:ext>
            </c:extLst>
          </c:dPt>
          <c:val>
            <c:numRef>
              <c:f>Sheet1!$A$1:$A$3</c:f>
              <c:numCache>
                <c:formatCode>General</c:formatCode>
                <c:ptCount val="3"/>
                <c:pt idx="0">
                  <c:v>9789</c:v>
                </c:pt>
                <c:pt idx="1">
                  <c:v>1373</c:v>
                </c:pt>
                <c:pt idx="2">
                  <c:v>2392</c:v>
                </c:pt>
              </c:numCache>
            </c:numRef>
          </c:val>
          <c:extLst>
            <c:ext xmlns:c16="http://schemas.microsoft.com/office/drawing/2014/chart" uri="{C3380CC4-5D6E-409C-BE32-E72D297353CC}">
              <c16:uniqueId val="{00000006-88E2-424A-8A72-83DF7398DBAA}"/>
            </c:ext>
          </c:extLst>
        </c:ser>
        <c:dLbls>
          <c:showLegendKey val="0"/>
          <c:showVal val="0"/>
          <c:showCatName val="0"/>
          <c:showSerName val="0"/>
          <c:showPercent val="0"/>
          <c:showBubbleSize val="0"/>
          <c:showLeaderLines val="0"/>
        </c:dLbls>
        <c:firstSliceAng val="0"/>
        <c:holeSize val="60"/>
      </c:doughnutChart>
    </c:plotArea>
    <c:plotVisOnly val="0"/>
    <c:dispBlanksAs val="gap"/>
    <c:showDLblsOverMax val="1"/>
  </c:chart>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1135430916552667E-2"/>
          <c:y val="7.1135430916552667E-2"/>
          <c:w val="0.85772913816689467"/>
          <c:h val="0.85772913816689467"/>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7FEA-4C2E-B53C-24F4AA43ACEC}"/>
              </c:ext>
            </c:extLst>
          </c:dPt>
          <c:dPt>
            <c:idx val="1"/>
            <c:bubble3D val="0"/>
            <c:spPr>
              <a:solidFill>
                <a:schemeClr val="accent4"/>
              </a:solidFill>
              <a:ln>
                <a:noFill/>
              </a:ln>
            </c:spPr>
            <c:extLst>
              <c:ext xmlns:c16="http://schemas.microsoft.com/office/drawing/2014/chart" uri="{C3380CC4-5D6E-409C-BE32-E72D297353CC}">
                <c16:uniqueId val="{00000003-7FEA-4C2E-B53C-24F4AA43ACEC}"/>
              </c:ext>
            </c:extLst>
          </c:dPt>
          <c:dPt>
            <c:idx val="2"/>
            <c:bubble3D val="0"/>
            <c:spPr>
              <a:solidFill>
                <a:schemeClr val="folHlink"/>
              </a:solidFill>
              <a:ln>
                <a:noFill/>
              </a:ln>
            </c:spPr>
            <c:extLst>
              <c:ext xmlns:c16="http://schemas.microsoft.com/office/drawing/2014/chart" uri="{C3380CC4-5D6E-409C-BE32-E72D297353CC}">
                <c16:uniqueId val="{00000005-7FEA-4C2E-B53C-24F4AA43ACEC}"/>
              </c:ext>
            </c:extLst>
          </c:dPt>
          <c:val>
            <c:numRef>
              <c:f>Sheet1!$A$1:$A$3</c:f>
              <c:numCache>
                <c:formatCode>General</c:formatCode>
                <c:ptCount val="3"/>
                <c:pt idx="0">
                  <c:v>196</c:v>
                </c:pt>
                <c:pt idx="1">
                  <c:v>267</c:v>
                </c:pt>
                <c:pt idx="2">
                  <c:v>1474</c:v>
                </c:pt>
              </c:numCache>
            </c:numRef>
          </c:val>
          <c:extLst>
            <c:ext xmlns:c16="http://schemas.microsoft.com/office/drawing/2014/chart" uri="{C3380CC4-5D6E-409C-BE32-E72D297353CC}">
              <c16:uniqueId val="{00000006-7FEA-4C2E-B53C-24F4AA43ACEC}"/>
            </c:ext>
          </c:extLst>
        </c:ser>
        <c:dLbls>
          <c:showLegendKey val="0"/>
          <c:showVal val="0"/>
          <c:showCatName val="0"/>
          <c:showSerName val="0"/>
          <c:showPercent val="0"/>
          <c:showBubbleSize val="0"/>
          <c:showLeaderLines val="0"/>
        </c:dLbls>
        <c:firstSliceAng val="0"/>
        <c:holeSize val="63"/>
      </c:doughnutChart>
    </c:plotArea>
    <c:plotVisOnly val="0"/>
    <c:dispBlanksAs val="gap"/>
    <c:showDLblsOverMax val="1"/>
  </c:chart>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1135430916552667E-2"/>
          <c:y val="7.1135430916552667E-2"/>
          <c:w val="0.85772913816689467"/>
          <c:h val="0.85772913816689467"/>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2826-4E8B-BF7E-801CF947A628}"/>
              </c:ext>
            </c:extLst>
          </c:dPt>
          <c:dPt>
            <c:idx val="1"/>
            <c:bubble3D val="0"/>
            <c:spPr>
              <a:solidFill>
                <a:schemeClr val="folHlink"/>
              </a:solidFill>
              <a:ln>
                <a:noFill/>
              </a:ln>
            </c:spPr>
            <c:extLst>
              <c:ext xmlns:c16="http://schemas.microsoft.com/office/drawing/2014/chart" uri="{C3380CC4-5D6E-409C-BE32-E72D297353CC}">
                <c16:uniqueId val="{00000003-2826-4E8B-BF7E-801CF947A628}"/>
              </c:ext>
            </c:extLst>
          </c:dPt>
          <c:dPt>
            <c:idx val="2"/>
            <c:bubble3D val="0"/>
            <c:spPr>
              <a:solidFill>
                <a:schemeClr val="accent4"/>
              </a:solidFill>
              <a:ln>
                <a:noFill/>
              </a:ln>
            </c:spPr>
            <c:extLst>
              <c:ext xmlns:c16="http://schemas.microsoft.com/office/drawing/2014/chart" uri="{C3380CC4-5D6E-409C-BE32-E72D297353CC}">
                <c16:uniqueId val="{00000005-2826-4E8B-BF7E-801CF947A628}"/>
              </c:ext>
            </c:extLst>
          </c:dPt>
          <c:val>
            <c:numRef>
              <c:f>Sheet1!$A$1:$A$3</c:f>
              <c:numCache>
                <c:formatCode>General</c:formatCode>
                <c:ptCount val="3"/>
                <c:pt idx="0">
                  <c:v>452</c:v>
                </c:pt>
                <c:pt idx="1">
                  <c:v>3703</c:v>
                </c:pt>
                <c:pt idx="2">
                  <c:v>615</c:v>
                </c:pt>
              </c:numCache>
            </c:numRef>
          </c:val>
          <c:extLst>
            <c:ext xmlns:c16="http://schemas.microsoft.com/office/drawing/2014/chart" uri="{C3380CC4-5D6E-409C-BE32-E72D297353CC}">
              <c16:uniqueId val="{00000006-2826-4E8B-BF7E-801CF947A628}"/>
            </c:ext>
          </c:extLst>
        </c:ser>
        <c:dLbls>
          <c:showLegendKey val="0"/>
          <c:showVal val="0"/>
          <c:showCatName val="0"/>
          <c:showSerName val="0"/>
          <c:showPercent val="0"/>
          <c:showBubbleSize val="0"/>
          <c:showLeaderLines val="0"/>
        </c:dLbls>
        <c:firstSliceAng val="0"/>
        <c:holeSize val="63"/>
      </c:doughnutChart>
    </c:plotArea>
    <c:plotVisOnly val="0"/>
    <c:dispBlanksAs val="gap"/>
    <c:showDLblsOverMax val="1"/>
  </c:chart>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3601286173633438E-2"/>
          <c:y val="8.3601286173633438E-2"/>
          <c:w val="0.83279742765273312"/>
          <c:h val="0.83279742765273312"/>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0B60-4D74-8C16-58874D979A11}"/>
              </c:ext>
            </c:extLst>
          </c:dPt>
          <c:dPt>
            <c:idx val="1"/>
            <c:bubble3D val="0"/>
            <c:spPr>
              <a:solidFill>
                <a:schemeClr val="accent2"/>
              </a:solidFill>
              <a:ln>
                <a:noFill/>
              </a:ln>
            </c:spPr>
            <c:extLst>
              <c:ext xmlns:c16="http://schemas.microsoft.com/office/drawing/2014/chart" uri="{C3380CC4-5D6E-409C-BE32-E72D297353CC}">
                <c16:uniqueId val="{00000003-0B60-4D74-8C16-58874D979A11}"/>
              </c:ext>
            </c:extLst>
          </c:dPt>
          <c:dPt>
            <c:idx val="2"/>
            <c:bubble3D val="0"/>
            <c:spPr>
              <a:solidFill>
                <a:schemeClr val="accent3"/>
              </a:solidFill>
              <a:ln>
                <a:noFill/>
              </a:ln>
            </c:spPr>
            <c:extLst>
              <c:ext xmlns:c16="http://schemas.microsoft.com/office/drawing/2014/chart" uri="{C3380CC4-5D6E-409C-BE32-E72D297353CC}">
                <c16:uniqueId val="{00000005-0B60-4D74-8C16-58874D979A11}"/>
              </c:ext>
            </c:extLst>
          </c:dPt>
          <c:dPt>
            <c:idx val="3"/>
            <c:bubble3D val="0"/>
            <c:spPr>
              <a:solidFill>
                <a:schemeClr val="accent4"/>
              </a:solidFill>
              <a:ln>
                <a:noFill/>
              </a:ln>
            </c:spPr>
            <c:extLst>
              <c:ext xmlns:c16="http://schemas.microsoft.com/office/drawing/2014/chart" uri="{C3380CC4-5D6E-409C-BE32-E72D297353CC}">
                <c16:uniqueId val="{00000007-0B60-4D74-8C16-58874D979A11}"/>
              </c:ext>
            </c:extLst>
          </c:dPt>
          <c:dLbls>
            <c:spPr>
              <a:noFill/>
              <a:ln>
                <a:noFill/>
              </a:ln>
              <a:effectLst/>
            </c:spPr>
            <c:txPr>
              <a:bodyPr wrap="square" lIns="38100" tIns="19050" rIns="38100" bIns="19050" anchor="ctr">
                <a:spAutoFit/>
              </a:bodyPr>
              <a:lstStyle/>
              <a:p>
                <a:pPr>
                  <a:defRPr sz="700" b="1"/>
                </a:pPr>
                <a:endParaRPr lang="ru-RU"/>
              </a:p>
            </c:txPr>
            <c:showLegendKey val="0"/>
            <c:showVal val="1"/>
            <c:showCatName val="0"/>
            <c:showSerName val="0"/>
            <c:showPercent val="0"/>
            <c:showBubbleSize val="0"/>
            <c:showLeaderLines val="1"/>
            <c:extLst>
              <c:ext xmlns:c15="http://schemas.microsoft.com/office/drawing/2012/chart" uri="{CE6537A1-D6FC-4f65-9D91-7224C49458BB}"/>
            </c:extLst>
          </c:dLbls>
          <c:val>
            <c:numRef>
              <c:f>Sheet1!$A$1:$A$4</c:f>
              <c:numCache>
                <c:formatCode>General</c:formatCode>
                <c:ptCount val="4"/>
                <c:pt idx="0">
                  <c:v>156</c:v>
                </c:pt>
                <c:pt idx="1">
                  <c:v>88</c:v>
                </c:pt>
              </c:numCache>
            </c:numRef>
          </c:val>
          <c:extLst>
            <c:ext xmlns:c16="http://schemas.microsoft.com/office/drawing/2014/chart" uri="{C3380CC4-5D6E-409C-BE32-E72D297353CC}">
              <c16:uniqueId val="{00000008-0B60-4D74-8C16-58874D979A11}"/>
            </c:ext>
          </c:extLst>
        </c:ser>
        <c:dLbls>
          <c:showLegendKey val="0"/>
          <c:showVal val="0"/>
          <c:showCatName val="0"/>
          <c:showSerName val="0"/>
          <c:showPercent val="0"/>
          <c:showBubbleSize val="0"/>
          <c:showLeaderLines val="1"/>
        </c:dLbls>
        <c:firstSliceAng val="0"/>
        <c:holeSize val="60"/>
      </c:doughnutChart>
    </c:plotArea>
    <c:plotVisOnly val="0"/>
    <c:dispBlanksAs val="gap"/>
    <c:showDLblsOverMax val="1"/>
  </c:chart>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5892885577660805E-2"/>
          <c:y val="0"/>
          <c:w val="0.365062596204419"/>
          <c:h val="1"/>
        </c:manualLayout>
      </c:layout>
      <c:doughnutChart>
        <c:varyColors val="0"/>
        <c:ser>
          <c:idx val="0"/>
          <c:order val="0"/>
          <c:dPt>
            <c:idx val="0"/>
            <c:bubble3D val="0"/>
            <c:spPr>
              <a:solidFill>
                <a:schemeClr val="accent2"/>
              </a:solidFill>
              <a:ln>
                <a:noFill/>
              </a:ln>
            </c:spPr>
            <c:extLst>
              <c:ext xmlns:c16="http://schemas.microsoft.com/office/drawing/2014/chart" uri="{C3380CC4-5D6E-409C-BE32-E72D297353CC}">
                <c16:uniqueId val="{00000001-8837-48AD-B8E3-8A2389B4779D}"/>
              </c:ext>
            </c:extLst>
          </c:dPt>
          <c:dPt>
            <c:idx val="1"/>
            <c:bubble3D val="0"/>
            <c:spPr>
              <a:solidFill>
                <a:schemeClr val="tx2">
                  <a:lumMod val="60000"/>
                  <a:lumOff val="40000"/>
                </a:schemeClr>
              </a:solidFill>
              <a:ln>
                <a:noFill/>
              </a:ln>
            </c:spPr>
            <c:extLst>
              <c:ext xmlns:c16="http://schemas.microsoft.com/office/drawing/2014/chart" uri="{C3380CC4-5D6E-409C-BE32-E72D297353CC}">
                <c16:uniqueId val="{00000003-8837-48AD-B8E3-8A2389B4779D}"/>
              </c:ext>
            </c:extLst>
          </c:dPt>
          <c:dPt>
            <c:idx val="2"/>
            <c:bubble3D val="0"/>
            <c:spPr>
              <a:solidFill>
                <a:schemeClr val="accent5">
                  <a:lumMod val="25000"/>
                  <a:lumOff val="75000"/>
                </a:schemeClr>
              </a:solidFill>
              <a:ln>
                <a:noFill/>
              </a:ln>
            </c:spPr>
            <c:extLst>
              <c:ext xmlns:c16="http://schemas.microsoft.com/office/drawing/2014/chart" uri="{C3380CC4-5D6E-409C-BE32-E72D297353CC}">
                <c16:uniqueId val="{00000005-8837-48AD-B8E3-8A2389B4779D}"/>
              </c:ext>
            </c:extLst>
          </c:dPt>
          <c:dLbls>
            <c:dLbl>
              <c:idx val="0"/>
              <c:layout>
                <c:manualLayout>
                  <c:x val="-6.3301904545915138E-4"/>
                  <c:y val="-3.7124254543678889E-3"/>
                </c:manualLayout>
              </c:layout>
              <c:tx>
                <c:rich>
                  <a:bodyPr wrap="square" lIns="38100" tIns="19050" rIns="38100" bIns="19050" anchor="ctr">
                    <a:noAutofit/>
                  </a:bodyPr>
                  <a:lstStyle/>
                  <a:p>
                    <a:pPr>
                      <a:defRPr sz="700" b="1">
                        <a:solidFill>
                          <a:schemeClr val="tx1"/>
                        </a:solidFill>
                      </a:defRPr>
                    </a:pPr>
                    <a:fld id="{58873987-317F-4989-AB43-6197A156869D}" type="VALUE">
                      <a:rPr lang="en-US" sz="700"/>
                      <a:pPr>
                        <a:defRPr sz="700" b="1">
                          <a:solidFill>
                            <a:schemeClr val="tx1"/>
                          </a:solidFill>
                        </a:defRPr>
                      </a:pPr>
                      <a:t>[ЗНАЧЕНИЕ]</a:t>
                    </a:fld>
                    <a:r>
                      <a:rPr lang="en-US" sz="700" baseline="0" dirty="0"/>
                      <a:t>; </a:t>
                    </a:r>
                    <a:endParaRPr lang="en-US" sz="700" baseline="0" dirty="0" smtClean="0"/>
                  </a:p>
                  <a:p>
                    <a:pPr>
                      <a:defRPr sz="700" b="1">
                        <a:solidFill>
                          <a:schemeClr val="tx1"/>
                        </a:solidFill>
                      </a:defRPr>
                    </a:pPr>
                    <a:fld id="{EF56C759-6080-435D-92A3-B7425049AFC4}" type="PERCENTAGE">
                      <a:rPr lang="en-US" sz="700"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8403603775314731"/>
                      <c:h val="0.22449233422608436"/>
                    </c:manualLayout>
                  </c15:layout>
                  <c15:dlblFieldTable/>
                  <c15:showDataLabelsRange val="0"/>
                </c:ext>
                <c:ext xmlns:c16="http://schemas.microsoft.com/office/drawing/2014/chart" uri="{C3380CC4-5D6E-409C-BE32-E72D297353CC}">
                  <c16:uniqueId val="{00000001-8837-48AD-B8E3-8A2389B4779D}"/>
                </c:ext>
              </c:extLst>
            </c:dLbl>
            <c:dLbl>
              <c:idx val="1"/>
              <c:layout>
                <c:manualLayout>
                  <c:x val="-1.2628262505971309E-2"/>
                  <c:y val="2.4218520391852287E-2"/>
                </c:manualLayout>
              </c:layout>
              <c:tx>
                <c:rich>
                  <a:bodyPr wrap="square" lIns="38100" tIns="19050" rIns="38100" bIns="19050" anchor="ctr">
                    <a:noAutofit/>
                  </a:bodyPr>
                  <a:lstStyle/>
                  <a:p>
                    <a:pPr>
                      <a:defRPr sz="700" b="1">
                        <a:solidFill>
                          <a:schemeClr val="tx1"/>
                        </a:solidFill>
                      </a:defRPr>
                    </a:pPr>
                    <a:fld id="{93146ADE-D928-46DC-B0A7-A1E29A4A887C}" type="VALUE">
                      <a:rPr lang="en-US" sz="700"/>
                      <a:pPr>
                        <a:defRPr sz="700" b="1">
                          <a:solidFill>
                            <a:schemeClr val="tx1"/>
                          </a:solidFill>
                        </a:defRPr>
                      </a:pPr>
                      <a:t>[ЗНАЧЕНИЕ]</a:t>
                    </a:fld>
                    <a:r>
                      <a:rPr lang="en-US" sz="700" baseline="0" dirty="0"/>
                      <a:t>; </a:t>
                    </a:r>
                    <a:endParaRPr lang="en-US" sz="700" baseline="0" dirty="0" smtClean="0"/>
                  </a:p>
                  <a:p>
                    <a:pPr>
                      <a:defRPr sz="700" b="1">
                        <a:solidFill>
                          <a:schemeClr val="tx1"/>
                        </a:solidFill>
                      </a:defRPr>
                    </a:pPr>
                    <a:fld id="{ACFB1F7A-418D-4CCA-89A5-C592306F89DD}" type="PERCENTAGE">
                      <a:rPr lang="en-US" sz="700"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3072190107169912"/>
                      <c:h val="0.31775671659254712"/>
                    </c:manualLayout>
                  </c15:layout>
                  <c15:dlblFieldTable/>
                  <c15:showDataLabelsRange val="0"/>
                </c:ext>
                <c:ext xmlns:c16="http://schemas.microsoft.com/office/drawing/2014/chart" uri="{C3380CC4-5D6E-409C-BE32-E72D297353CC}">
                  <c16:uniqueId val="{00000003-8837-48AD-B8E3-8A2389B4779D}"/>
                </c:ext>
              </c:extLst>
            </c:dLbl>
            <c:dLbl>
              <c:idx val="2"/>
              <c:layout>
                <c:manualLayout>
                  <c:x val="2.6435104540124748E-2"/>
                  <c:y val="4.0841747212341153E-3"/>
                </c:manualLayout>
              </c:layout>
              <c:tx>
                <c:rich>
                  <a:bodyPr wrap="square" lIns="38100" tIns="19050" rIns="38100" bIns="19050" anchor="ctr">
                    <a:noAutofit/>
                  </a:bodyPr>
                  <a:lstStyle/>
                  <a:p>
                    <a:pPr>
                      <a:defRPr sz="700" b="1">
                        <a:solidFill>
                          <a:schemeClr val="tx1"/>
                        </a:solidFill>
                      </a:defRPr>
                    </a:pPr>
                    <a:fld id="{73A4D9C7-6AD4-4B50-A86F-5EFB4C9BA781}" type="VALUE">
                      <a:rPr lang="en-US" sz="700"/>
                      <a:pPr>
                        <a:defRPr sz="700" b="1">
                          <a:solidFill>
                            <a:schemeClr val="tx1"/>
                          </a:solidFill>
                        </a:defRPr>
                      </a:pPr>
                      <a:t>[ЗНАЧЕНИЕ]</a:t>
                    </a:fld>
                    <a:r>
                      <a:rPr lang="en-US" sz="700" baseline="0" dirty="0"/>
                      <a:t>; </a:t>
                    </a:r>
                    <a:endParaRPr lang="en-US" sz="700" baseline="0" dirty="0" smtClean="0"/>
                  </a:p>
                  <a:p>
                    <a:pPr>
                      <a:defRPr sz="700" b="1">
                        <a:solidFill>
                          <a:schemeClr val="tx1"/>
                        </a:solidFill>
                      </a:defRPr>
                    </a:pPr>
                    <a:fld id="{AF4021DA-D975-4DC7-A1C6-51126505070A}" type="PERCENTAGE">
                      <a:rPr lang="en-US" sz="700"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6495710308288417"/>
                      <c:h val="0.32583938404785662"/>
                    </c:manualLayout>
                  </c15:layout>
                  <c15:dlblFieldTable/>
                  <c15:showDataLabelsRange val="0"/>
                </c:ext>
                <c:ext xmlns:c16="http://schemas.microsoft.com/office/drawing/2014/chart" uri="{C3380CC4-5D6E-409C-BE32-E72D297353CC}">
                  <c16:uniqueId val="{00000005-8837-48AD-B8E3-8A2389B4779D}"/>
                </c:ext>
              </c:extLst>
            </c:dLbl>
            <c:spPr>
              <a:noFill/>
              <a:ln>
                <a:noFill/>
              </a:ln>
              <a:effectLst/>
            </c:spPr>
            <c:txPr>
              <a:bodyPr wrap="square" lIns="38100" tIns="19050" rIns="38100" bIns="19050" anchor="ctr">
                <a:spAutoFit/>
              </a:bodyPr>
              <a:lstStyle/>
              <a:p>
                <a:pPr>
                  <a:defRPr sz="700" b="1">
                    <a:solidFill>
                      <a:schemeClr val="tx1"/>
                    </a:solidFill>
                  </a:defRPr>
                </a:pPr>
                <a:endParaRPr lang="ru-RU"/>
              </a:p>
            </c:txPr>
            <c:showLegendKey val="0"/>
            <c:showVal val="1"/>
            <c:showCatName val="0"/>
            <c:showSerName val="0"/>
            <c:showPercent val="1"/>
            <c:showBubbleSize val="0"/>
            <c:showLeaderLines val="0"/>
            <c:extLst>
              <c:ext xmlns:c15="http://schemas.microsoft.com/office/drawing/2012/chart" uri="{CE6537A1-D6FC-4f65-9D91-7224C49458BB}"/>
            </c:extLst>
          </c:dLbls>
          <c:cat>
            <c:strRef>
              <c:f>Sheet1!$A$1:$A$3</c:f>
              <c:strCache>
                <c:ptCount val="3"/>
                <c:pt idx="0">
                  <c:v>Projects are not completed 
reports awaited (88 projects)</c:v>
                </c:pt>
                <c:pt idx="1">
                  <c:v>Projects completed, reports not 
provided (20 projects)</c:v>
                </c:pt>
                <c:pt idx="2">
                  <c:v>Projects completed, reports 
provided (136 projects)</c:v>
                </c:pt>
              </c:strCache>
            </c:strRef>
          </c:cat>
          <c:val>
            <c:numRef>
              <c:f>Sheet1!$B$1:$B$3</c:f>
              <c:numCache>
                <c:formatCode>General</c:formatCode>
                <c:ptCount val="3"/>
                <c:pt idx="0">
                  <c:v>23.8</c:v>
                </c:pt>
                <c:pt idx="1">
                  <c:v>6.2</c:v>
                </c:pt>
                <c:pt idx="2">
                  <c:v>8</c:v>
                </c:pt>
              </c:numCache>
            </c:numRef>
          </c:val>
          <c:extLst>
            <c:ext xmlns:c16="http://schemas.microsoft.com/office/drawing/2014/chart" uri="{C3380CC4-5D6E-409C-BE32-E72D297353CC}">
              <c16:uniqueId val="{00000006-8837-48AD-B8E3-8A2389B4779D}"/>
            </c:ext>
          </c:extLst>
        </c:ser>
        <c:dLbls>
          <c:showLegendKey val="0"/>
          <c:showVal val="1"/>
          <c:showCatName val="0"/>
          <c:showSerName val="0"/>
          <c:showPercent val="0"/>
          <c:showBubbleSize val="0"/>
          <c:showLeaderLines val="0"/>
        </c:dLbls>
        <c:firstSliceAng val="63"/>
        <c:holeSize val="60"/>
      </c:doughnutChart>
    </c:plotArea>
    <c:legend>
      <c:legendPos val="r"/>
      <c:layout>
        <c:manualLayout>
          <c:xMode val="edge"/>
          <c:yMode val="edge"/>
          <c:x val="0.57789285359275777"/>
          <c:y val="1.8745867987646426E-2"/>
          <c:w val="0.42210714640724228"/>
          <c:h val="0.95067271531501563"/>
        </c:manualLayout>
      </c:layout>
      <c:overlay val="0"/>
      <c:txPr>
        <a:bodyPr/>
        <a:lstStyle/>
        <a:p>
          <a:pPr rtl="0">
            <a:defRPr sz="600">
              <a:solidFill>
                <a:schemeClr val="tx1"/>
              </a:solidFill>
            </a:defRPr>
          </a:pPr>
          <a:endParaRPr lang="ru-RU"/>
        </a:p>
      </c:txPr>
    </c:legend>
    <c:plotVisOnly val="0"/>
    <c:dispBlanksAs val="gap"/>
    <c:showDLblsOverMax val="1"/>
  </c:chart>
  <c:spPr>
    <a:ln w="3175">
      <a:noFill/>
    </a:ln>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348910871731784"/>
          <c:y val="0"/>
          <c:w val="0.32582471424688497"/>
          <c:h val="1"/>
        </c:manualLayout>
      </c:layout>
      <c:doughnutChart>
        <c:varyColors val="0"/>
        <c:ser>
          <c:idx val="0"/>
          <c:order val="0"/>
          <c:dPt>
            <c:idx val="0"/>
            <c:bubble3D val="0"/>
            <c:spPr>
              <a:solidFill>
                <a:schemeClr val="accent2"/>
              </a:solidFill>
              <a:ln>
                <a:noFill/>
              </a:ln>
            </c:spPr>
            <c:extLst>
              <c:ext xmlns:c16="http://schemas.microsoft.com/office/drawing/2014/chart" uri="{C3380CC4-5D6E-409C-BE32-E72D297353CC}">
                <c16:uniqueId val="{00000001-E499-42E6-98D5-DE3A711EAF20}"/>
              </c:ext>
            </c:extLst>
          </c:dPt>
          <c:dPt>
            <c:idx val="1"/>
            <c:bubble3D val="0"/>
            <c:spPr>
              <a:solidFill>
                <a:schemeClr val="tx2">
                  <a:lumMod val="60000"/>
                  <a:lumOff val="40000"/>
                </a:schemeClr>
              </a:solidFill>
              <a:ln>
                <a:noFill/>
              </a:ln>
            </c:spPr>
            <c:extLst>
              <c:ext xmlns:c16="http://schemas.microsoft.com/office/drawing/2014/chart" uri="{C3380CC4-5D6E-409C-BE32-E72D297353CC}">
                <c16:uniqueId val="{00000003-E499-42E6-98D5-DE3A711EAF20}"/>
              </c:ext>
            </c:extLst>
          </c:dPt>
          <c:dPt>
            <c:idx val="2"/>
            <c:bubble3D val="0"/>
            <c:spPr>
              <a:solidFill>
                <a:schemeClr val="accent5">
                  <a:lumMod val="25000"/>
                  <a:lumOff val="75000"/>
                </a:schemeClr>
              </a:solidFill>
              <a:ln>
                <a:noFill/>
              </a:ln>
            </c:spPr>
            <c:extLst>
              <c:ext xmlns:c16="http://schemas.microsoft.com/office/drawing/2014/chart" uri="{C3380CC4-5D6E-409C-BE32-E72D297353CC}">
                <c16:uniqueId val="{00000005-E499-42E6-98D5-DE3A711EAF20}"/>
              </c:ext>
            </c:extLst>
          </c:dPt>
          <c:dLbls>
            <c:dLbl>
              <c:idx val="0"/>
              <c:layout>
                <c:manualLayout>
                  <c:x val="4.8772942506044087E-3"/>
                  <c:y val="-5.1609640807774703E-3"/>
                </c:manualLayout>
              </c:layout>
              <c:tx>
                <c:rich>
                  <a:bodyPr wrap="square" lIns="38100" tIns="19050" rIns="38100" bIns="19050" anchor="ctr">
                    <a:noAutofit/>
                  </a:bodyPr>
                  <a:lstStyle/>
                  <a:p>
                    <a:pPr>
                      <a:defRPr sz="700" b="1">
                        <a:solidFill>
                          <a:schemeClr val="tx1"/>
                        </a:solidFill>
                      </a:defRPr>
                    </a:pPr>
                    <a:fld id="{90E631CC-1923-4172-9C2F-3CE2D12F1C4D}" type="VALUE">
                      <a:rPr lang="en-US"/>
                      <a:pPr>
                        <a:defRPr sz="700" b="1">
                          <a:solidFill>
                            <a:schemeClr val="tx1"/>
                          </a:solidFill>
                        </a:defRPr>
                      </a:pPr>
                      <a:t>[ЗНАЧЕНИЕ]</a:t>
                    </a:fld>
                    <a:r>
                      <a:rPr lang="en-US" baseline="0" dirty="0"/>
                      <a:t>; </a:t>
                    </a:r>
                    <a:endParaRPr lang="en-US" baseline="0" dirty="0" smtClean="0"/>
                  </a:p>
                  <a:p>
                    <a:pPr>
                      <a:defRPr sz="700" b="1">
                        <a:solidFill>
                          <a:schemeClr val="tx1"/>
                        </a:solidFill>
                      </a:defRPr>
                    </a:pPr>
                    <a:fld id="{A4FEE85E-9387-4083-BA48-BFF849A5BD11}" type="PERCENTAGE">
                      <a:rPr lang="en-US"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1508298403978846"/>
                      <c:h val="0.27826975847231838"/>
                    </c:manualLayout>
                  </c15:layout>
                  <c15:dlblFieldTable/>
                  <c15:showDataLabelsRange val="0"/>
                </c:ext>
                <c:ext xmlns:c16="http://schemas.microsoft.com/office/drawing/2014/chart" uri="{C3380CC4-5D6E-409C-BE32-E72D297353CC}">
                  <c16:uniqueId val="{00000001-E499-42E6-98D5-DE3A711EAF20}"/>
                </c:ext>
              </c:extLst>
            </c:dLbl>
            <c:dLbl>
              <c:idx val="1"/>
              <c:layout>
                <c:manualLayout>
                  <c:x val="-5.1285352559975617E-3"/>
                  <c:y val="2.3175855206637935E-2"/>
                </c:manualLayout>
              </c:layout>
              <c:tx>
                <c:rich>
                  <a:bodyPr wrap="square" lIns="38100" tIns="19050" rIns="38100" bIns="19050" anchor="ctr">
                    <a:noAutofit/>
                  </a:bodyPr>
                  <a:lstStyle/>
                  <a:p>
                    <a:pPr>
                      <a:defRPr sz="700" b="1">
                        <a:solidFill>
                          <a:schemeClr val="tx1"/>
                        </a:solidFill>
                      </a:defRPr>
                    </a:pPr>
                    <a:fld id="{049CBADB-1217-48BF-B100-0202E57C6FEE}" type="VALUE">
                      <a:rPr lang="en-US"/>
                      <a:pPr>
                        <a:defRPr sz="700" b="1">
                          <a:solidFill>
                            <a:schemeClr val="tx1"/>
                          </a:solidFill>
                        </a:defRPr>
                      </a:pPr>
                      <a:t>[ЗНАЧЕНИЕ]</a:t>
                    </a:fld>
                    <a:r>
                      <a:rPr lang="en-US" baseline="0" dirty="0" smtClean="0"/>
                      <a:t>;</a:t>
                    </a:r>
                  </a:p>
                  <a:p>
                    <a:pPr>
                      <a:defRPr sz="700" b="1">
                        <a:solidFill>
                          <a:schemeClr val="tx1"/>
                        </a:solidFill>
                      </a:defRPr>
                    </a:pPr>
                    <a:r>
                      <a:rPr lang="en-US" baseline="0" dirty="0" smtClean="0"/>
                      <a:t> </a:t>
                    </a:r>
                    <a:fld id="{207B9497-8D2E-47C8-BF37-A6D24F24F7AC}" type="PERCENTAGE">
                      <a:rPr lang="en-US" baseline="0"/>
                      <a:pPr>
                        <a:defRPr sz="700" b="1">
                          <a:solidFill>
                            <a:schemeClr val="tx1"/>
                          </a:solidFill>
                        </a:defRPr>
                      </a:pPr>
                      <a:t>[ПРОЦЕНТ]</a:t>
                    </a:fld>
                    <a:endParaRPr lang="en-US" baseline="0" dirty="0" smtClean="0"/>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4211299944208403"/>
                      <c:h val="0.25301864290659698"/>
                    </c:manualLayout>
                  </c15:layout>
                  <c15:dlblFieldTable/>
                  <c15:showDataLabelsRange val="0"/>
                </c:ext>
                <c:ext xmlns:c16="http://schemas.microsoft.com/office/drawing/2014/chart" uri="{C3380CC4-5D6E-409C-BE32-E72D297353CC}">
                  <c16:uniqueId val="{00000003-E499-42E6-98D5-DE3A711EAF20}"/>
                </c:ext>
              </c:extLst>
            </c:dLbl>
            <c:dLbl>
              <c:idx val="2"/>
              <c:layout>
                <c:manualLayout>
                  <c:x val="1.9556266063926679E-2"/>
                  <c:y val="-6.7127875912117704E-2"/>
                </c:manualLayout>
              </c:layout>
              <c:tx>
                <c:rich>
                  <a:bodyPr wrap="square" lIns="38100" tIns="19050" rIns="38100" bIns="19050" anchor="ctr">
                    <a:noAutofit/>
                  </a:bodyPr>
                  <a:lstStyle/>
                  <a:p>
                    <a:pPr>
                      <a:defRPr sz="700" b="1">
                        <a:solidFill>
                          <a:schemeClr val="tx1"/>
                        </a:solidFill>
                      </a:defRPr>
                    </a:pPr>
                    <a:fld id="{51E99C15-7651-455C-8240-81DF37F1D1BE}" type="VALUE">
                      <a:rPr lang="en-US"/>
                      <a:pPr>
                        <a:defRPr sz="700" b="1">
                          <a:solidFill>
                            <a:schemeClr val="tx1"/>
                          </a:solidFill>
                        </a:defRPr>
                      </a:pPr>
                      <a:t>[ЗНАЧЕНИЕ]</a:t>
                    </a:fld>
                    <a:r>
                      <a:rPr lang="en-US" baseline="0" dirty="0"/>
                      <a:t>; </a:t>
                    </a:r>
                    <a:endParaRPr lang="en-US" baseline="0" dirty="0" smtClean="0"/>
                  </a:p>
                  <a:p>
                    <a:pPr>
                      <a:defRPr sz="700" b="1">
                        <a:solidFill>
                          <a:schemeClr val="tx1"/>
                        </a:solidFill>
                      </a:defRPr>
                    </a:pPr>
                    <a:fld id="{FC545CC0-EAB3-4D84-845C-07A44E5A1040}" type="PERCENTAGE">
                      <a:rPr lang="en-US" baseline="0" smtClean="0"/>
                      <a:pPr>
                        <a:defRPr sz="700" b="1">
                          <a:solidFill>
                            <a:schemeClr val="tx1"/>
                          </a:solidFill>
                        </a:defRPr>
                      </a:pPr>
                      <a:t>[ПРОЦЕНТ]</a:t>
                    </a:fld>
                    <a:endParaRPr lang="ru-RU"/>
                  </a:p>
                </c:rich>
              </c:tx>
              <c:spPr>
                <a:noFill/>
                <a:ln>
                  <a:noFill/>
                </a:ln>
                <a:effectLst/>
              </c:spPr>
              <c:showLegendKey val="0"/>
              <c:showVal val="1"/>
              <c:showCatName val="0"/>
              <c:showSerName val="0"/>
              <c:showPercent val="1"/>
              <c:showBubbleSize val="0"/>
              <c:extLst>
                <c:ext xmlns:c15="http://schemas.microsoft.com/office/drawing/2012/chart" uri="{CE6537A1-D6FC-4f65-9D91-7224C49458BB}">
                  <c15:layout>
                    <c:manualLayout>
                      <c:w val="0.16628250337372263"/>
                      <c:h val="0.32295582323494121"/>
                    </c:manualLayout>
                  </c15:layout>
                  <c15:dlblFieldTable/>
                  <c15:showDataLabelsRange val="0"/>
                </c:ext>
                <c:ext xmlns:c16="http://schemas.microsoft.com/office/drawing/2014/chart" uri="{C3380CC4-5D6E-409C-BE32-E72D297353CC}">
                  <c16:uniqueId val="{00000005-E499-42E6-98D5-DE3A711EAF20}"/>
                </c:ext>
              </c:extLst>
            </c:dLbl>
            <c:spPr>
              <a:noFill/>
              <a:ln>
                <a:noFill/>
              </a:ln>
              <a:effectLst/>
            </c:spPr>
            <c:txPr>
              <a:bodyPr wrap="square" lIns="38100" tIns="19050" rIns="38100" bIns="19050" anchor="ctr">
                <a:spAutoFit/>
              </a:bodyPr>
              <a:lstStyle/>
              <a:p>
                <a:pPr>
                  <a:defRPr sz="700" b="1">
                    <a:solidFill>
                      <a:schemeClr val="tx1"/>
                    </a:solidFill>
                  </a:defRPr>
                </a:pPr>
                <a:endParaRPr lang="ru-RU"/>
              </a:p>
            </c:txPr>
            <c:showLegendKey val="0"/>
            <c:showVal val="1"/>
            <c:showCatName val="0"/>
            <c:showSerName val="0"/>
            <c:showPercent val="1"/>
            <c:showBubbleSize val="0"/>
            <c:showLeaderLines val="0"/>
            <c:extLst>
              <c:ext xmlns:c15="http://schemas.microsoft.com/office/drawing/2012/chart" uri="{CE6537A1-D6FC-4f65-9D91-7224C49458BB}"/>
            </c:extLst>
          </c:dLbls>
          <c:cat>
            <c:strRef>
              <c:f>Sheet1!$A$1:$A$3</c:f>
              <c:strCache>
                <c:ptCount val="3"/>
                <c:pt idx="0">
                  <c:v>Projects are not completed 
reports awaited (10 projects)</c:v>
                </c:pt>
                <c:pt idx="1">
                  <c:v>Projects completed, reports not 
provided (18 projects)</c:v>
                </c:pt>
                <c:pt idx="2">
                  <c:v>Projects completed, reports 
provided (1008)</c:v>
                </c:pt>
              </c:strCache>
            </c:strRef>
          </c:cat>
          <c:val>
            <c:numRef>
              <c:f>Sheet1!$B$1:$B$3</c:f>
              <c:numCache>
                <c:formatCode>General</c:formatCode>
                <c:ptCount val="3"/>
                <c:pt idx="0">
                  <c:v>29</c:v>
                </c:pt>
                <c:pt idx="1">
                  <c:v>89.16</c:v>
                </c:pt>
                <c:pt idx="2">
                  <c:v>336.74</c:v>
                </c:pt>
              </c:numCache>
            </c:numRef>
          </c:val>
          <c:extLst>
            <c:ext xmlns:c16="http://schemas.microsoft.com/office/drawing/2014/chart" uri="{C3380CC4-5D6E-409C-BE32-E72D297353CC}">
              <c16:uniqueId val="{00000006-E499-42E6-98D5-DE3A711EAF20}"/>
            </c:ext>
          </c:extLst>
        </c:ser>
        <c:dLbls>
          <c:showLegendKey val="0"/>
          <c:showVal val="1"/>
          <c:showCatName val="0"/>
          <c:showSerName val="0"/>
          <c:showPercent val="0"/>
          <c:showBubbleSize val="0"/>
          <c:showLeaderLines val="0"/>
        </c:dLbls>
        <c:firstSliceAng val="63"/>
        <c:holeSize val="60"/>
      </c:doughnutChart>
    </c:plotArea>
    <c:legend>
      <c:legendPos val="r"/>
      <c:layout>
        <c:manualLayout>
          <c:xMode val="edge"/>
          <c:yMode val="edge"/>
          <c:x val="0.57789285359275777"/>
          <c:y val="7.1016153118338379E-2"/>
          <c:w val="0.42210714640724228"/>
          <c:h val="0.89840273740448151"/>
        </c:manualLayout>
      </c:layout>
      <c:overlay val="0"/>
      <c:txPr>
        <a:bodyPr/>
        <a:lstStyle/>
        <a:p>
          <a:pPr rtl="0">
            <a:defRPr sz="600">
              <a:solidFill>
                <a:schemeClr val="tx1"/>
              </a:solidFill>
            </a:defRPr>
          </a:pPr>
          <a:endParaRPr lang="ru-RU"/>
        </a:p>
      </c:txPr>
    </c:legend>
    <c:plotVisOnly val="0"/>
    <c:dispBlanksAs val="gap"/>
    <c:showDLblsOverMax val="1"/>
  </c:chart>
  <c:spPr>
    <a:ln w="3175">
      <a:noFill/>
    </a:ln>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5">
                <a:lumMod val="25000"/>
                <a:lumOff val="75000"/>
              </a:schemeClr>
            </a:solidFill>
            <a:ln>
              <a:noFill/>
            </a:ln>
          </c:spPr>
          <c:invertIfNegative val="0"/>
          <c:dLbls>
            <c:dLbl>
              <c:idx val="0"/>
              <c:layout>
                <c:manualLayout>
                  <c:x val="-1.4869479398261108E-2"/>
                  <c:y val="-2.4776545063923041E-2"/>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B920-4D13-B8F9-8AE41484D37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831</c:v>
                </c:pt>
              </c:numCache>
            </c:numRef>
          </c:val>
          <c:extLst>
            <c:ext xmlns:c16="http://schemas.microsoft.com/office/drawing/2014/chart" uri="{C3380CC4-5D6E-409C-BE32-E72D297353CC}">
              <c16:uniqueId val="{00000001-B920-4D13-B8F9-8AE41484D370}"/>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l"/>
        <c:majorGridlines>
          <c:spPr>
            <a:ln>
              <a:noFill/>
            </a:ln>
          </c:spPr>
        </c:majorGridlines>
        <c:majorTickMark val="none"/>
        <c:minorTickMark val="none"/>
        <c:tickLblPos val="none"/>
        <c:spPr>
          <a:ln w="9525" cmpd="sng" algn="ctr">
            <a:solidFill>
              <a:schemeClr val="tx2"/>
            </a:solidFill>
            <a:prstDash val="solid"/>
          </a:ln>
        </c:spPr>
        <c:crossAx val="1"/>
        <c:crosses val="max"/>
        <c:auto val="0"/>
        <c:lblAlgn val="ctr"/>
        <c:lblOffset val="100"/>
        <c:noMultiLvlLbl val="0"/>
      </c:catAx>
      <c:valAx>
        <c:axId val="1"/>
        <c:scaling>
          <c:orientation val="maxMin"/>
        </c:scaling>
        <c:delete val="0"/>
        <c:axPos val="b"/>
        <c:majorGridlines>
          <c:spPr>
            <a:ln>
              <a:noFill/>
            </a:ln>
          </c:spPr>
        </c:majorGridlines>
        <c:numFmt formatCode="#,##0;&quot;-&quot;#,##0" sourceLinked="0"/>
        <c:majorTickMark val="out"/>
        <c:minorTickMark val="none"/>
        <c:tickLblPos val="nextTo"/>
        <c:spPr>
          <a:ln w="9525" cmpd="sng" algn="ctr">
            <a:solidFill>
              <a:schemeClr val="tx2"/>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valAx>
    </c:plotArea>
    <c:plotVisOnly val="0"/>
    <c:dispBlanksAs val="gap"/>
    <c:showDLblsOverMax val="1"/>
  </c:chart>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5815493454259939"/>
          <c:h val="0.45840707964601768"/>
        </c:manualLayout>
      </c:layout>
      <c:barChart>
        <c:barDir val="bar"/>
        <c:grouping val="stacked"/>
        <c:varyColors val="0"/>
        <c:ser>
          <c:idx val="0"/>
          <c:order val="0"/>
          <c:spPr>
            <a:solidFill>
              <a:schemeClr val="accent5">
                <a:lumMod val="25000"/>
                <a:lumOff val="75000"/>
              </a:schemeClr>
            </a:solidFill>
            <a:ln>
              <a:noFill/>
            </a:ln>
          </c:spPr>
          <c:invertIfNegative val="0"/>
          <c:dPt>
            <c:idx val="0"/>
            <c:invertIfNegative val="0"/>
            <c:bubble3D val="0"/>
            <c:spPr>
              <a:solidFill>
                <a:schemeClr val="accent2"/>
              </a:solidFill>
              <a:ln>
                <a:noFill/>
              </a:ln>
            </c:spPr>
            <c:extLst>
              <c:ext xmlns:c16="http://schemas.microsoft.com/office/drawing/2014/chart" uri="{C3380CC4-5D6E-409C-BE32-E72D297353CC}">
                <c16:uniqueId val="{00000001-6995-4218-B897-913B96AC2FA0}"/>
              </c:ext>
            </c:extLst>
          </c:dPt>
          <c:val>
            <c:numRef>
              <c:f>Sheet1!$A$1</c:f>
              <c:numCache>
                <c:formatCode>#\ ##0;"-"#\ ##0</c:formatCode>
                <c:ptCount val="1"/>
                <c:pt idx="0">
                  <c:v>1</c:v>
                </c:pt>
              </c:numCache>
            </c:numRef>
          </c:val>
          <c:extLst>
            <c:ext xmlns:c16="http://schemas.microsoft.com/office/drawing/2014/chart" uri="{C3380CC4-5D6E-409C-BE32-E72D297353CC}">
              <c16:uniqueId val="{00000002-6995-4218-B897-913B96AC2FA0}"/>
            </c:ext>
          </c:extLst>
        </c:ser>
        <c:ser>
          <c:idx val="1"/>
          <c:order val="1"/>
          <c:spPr>
            <a:solidFill>
              <a:srgbClr val="C0C0C0"/>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6995-4218-B897-913B96AC2FA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val>
            <c:numRef>
              <c:f>Sheet1!$A$2</c:f>
              <c:numCache>
                <c:formatCode>#\ ##0;"-"#\ ##0</c:formatCode>
                <c:ptCount val="1"/>
              </c:numCache>
            </c:numRef>
          </c:val>
          <c:extLst>
            <c:ext xmlns:c16="http://schemas.microsoft.com/office/drawing/2014/chart" uri="{C3380CC4-5D6E-409C-BE32-E72D297353CC}">
              <c16:uniqueId val="{00000004-6995-4218-B897-913B96AC2FA0}"/>
            </c:ext>
          </c:extLst>
        </c:ser>
        <c:ser>
          <c:idx val="2"/>
          <c:order val="2"/>
          <c:spPr>
            <a:solidFill>
              <a:schemeClr val="accent4"/>
            </a:solidFill>
            <a:ln>
              <a:noFill/>
            </a:ln>
          </c:spPr>
          <c:invertIfNegative val="0"/>
          <c:dLbls>
            <c:dLbl>
              <c:idx val="0"/>
              <c:layout>
                <c:manualLayout>
                  <c:x val="-6.4892926670992858E-4"/>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6995-4218-B897-913B96AC2FA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val>
            <c:numRef>
              <c:f>Sheet1!$A$3</c:f>
              <c:numCache>
                <c:formatCode>#\ ##0;"-"#\ ##0</c:formatCode>
                <c:ptCount val="1"/>
              </c:numCache>
            </c:numRef>
          </c:val>
          <c:extLst>
            <c:ext xmlns:c16="http://schemas.microsoft.com/office/drawing/2014/chart" uri="{C3380CC4-5D6E-409C-BE32-E72D297353CC}">
              <c16:uniqueId val="{00000006-6995-4218-B897-913B96AC2FA0}"/>
            </c:ext>
          </c:extLst>
        </c:ser>
        <c:ser>
          <c:idx val="3"/>
          <c:order val="3"/>
          <c:spPr>
            <a:solidFill>
              <a:schemeClr val="folHlink"/>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6995-4218-B897-913B96AC2FA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val>
            <c:numRef>
              <c:f>Sheet1!$A$4</c:f>
              <c:numCache>
                <c:formatCode>#\ ##0;"-"#\ ##0</c:formatCode>
                <c:ptCount val="1"/>
              </c:numCache>
            </c:numRef>
          </c:val>
          <c:extLst>
            <c:ext xmlns:c16="http://schemas.microsoft.com/office/drawing/2014/chart" uri="{C3380CC4-5D6E-409C-BE32-E72D297353CC}">
              <c16:uniqueId val="{00000008-6995-4218-B897-913B96AC2FA0}"/>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l"/>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5"/>
          <c:min val="0"/>
        </c:scaling>
        <c:delete val="0"/>
        <c:axPos val="b"/>
        <c:numFmt formatCode="#,##0;&quot;-&quot;#,##0" sourceLinked="0"/>
        <c:majorTickMark val="out"/>
        <c:minorTickMark val="none"/>
        <c:tickLblPos val="nextTo"/>
        <c:spPr>
          <a:ln w="9525" cmpd="sng" algn="ctr">
            <a:solidFill>
              <a:schemeClr val="tx2"/>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10"/>
        <c:minorUnit val="10"/>
      </c:valAx>
    </c:plotArea>
    <c:plotVisOnly val="0"/>
    <c:dispBlanksAs val="gap"/>
    <c:showDLblsOverMax val="1"/>
  </c:chart>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9892473118279563E-2"/>
          <c:y val="6.9892473118279563E-2"/>
          <c:w val="0.86021505376344087"/>
          <c:h val="0.86021505376344087"/>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1-1AC7-4289-9B35-B1B80ACD290B}"/>
              </c:ext>
            </c:extLst>
          </c:dPt>
          <c:dPt>
            <c:idx val="1"/>
            <c:bubble3D val="0"/>
            <c:spPr>
              <a:solidFill>
                <a:schemeClr val="accent2"/>
              </a:solidFill>
              <a:ln>
                <a:noFill/>
              </a:ln>
            </c:spPr>
            <c:extLst>
              <c:ext xmlns:c16="http://schemas.microsoft.com/office/drawing/2014/chart" uri="{C3380CC4-5D6E-409C-BE32-E72D297353CC}">
                <c16:uniqueId val="{00000003-1AC7-4289-9B35-B1B80ACD290B}"/>
              </c:ext>
            </c:extLst>
          </c:dPt>
          <c:dPt>
            <c:idx val="2"/>
            <c:bubble3D val="0"/>
            <c:spPr>
              <a:solidFill>
                <a:schemeClr val="accent3"/>
              </a:solidFill>
              <a:ln>
                <a:noFill/>
              </a:ln>
            </c:spPr>
            <c:extLst>
              <c:ext xmlns:c16="http://schemas.microsoft.com/office/drawing/2014/chart" uri="{C3380CC4-5D6E-409C-BE32-E72D297353CC}">
                <c16:uniqueId val="{00000005-1AC7-4289-9B35-B1B80ACD290B}"/>
              </c:ext>
            </c:extLst>
          </c:dPt>
          <c:val>
            <c:numRef>
              <c:f>Sheet1!$A$1:$A$3</c:f>
              <c:numCache>
                <c:formatCode>General</c:formatCode>
                <c:ptCount val="3"/>
                <c:pt idx="0">
                  <c:v>52</c:v>
                </c:pt>
                <c:pt idx="1">
                  <c:v>3173</c:v>
                </c:pt>
                <c:pt idx="2">
                  <c:v>5</c:v>
                </c:pt>
              </c:numCache>
            </c:numRef>
          </c:val>
          <c:extLst>
            <c:ext xmlns:c16="http://schemas.microsoft.com/office/drawing/2014/chart" uri="{C3380CC4-5D6E-409C-BE32-E72D297353CC}">
              <c16:uniqueId val="{00000006-1AC7-4289-9B35-B1B80ACD290B}"/>
            </c:ext>
          </c:extLst>
        </c:ser>
        <c:dLbls>
          <c:showLegendKey val="0"/>
          <c:showVal val="0"/>
          <c:showCatName val="0"/>
          <c:showSerName val="0"/>
          <c:showPercent val="0"/>
          <c:showBubbleSize val="0"/>
          <c:showLeaderLines val="0"/>
        </c:dLbls>
        <c:firstSliceAng val="0"/>
        <c:holeSize val="60"/>
      </c:doughnutChart>
    </c:plotArea>
    <c:plotVisOnly val="0"/>
    <c:dispBlanksAs val="gap"/>
    <c:showDLblsOverMax val="1"/>
  </c:chart>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Лист1!$B$1</c:f>
              <c:strCache>
                <c:ptCount val="1"/>
                <c:pt idx="0">
                  <c:v>Transfer of employees</c:v>
                </c:pt>
              </c:strCache>
            </c:strRef>
          </c:tx>
          <c:spPr>
            <a:solidFill>
              <a:schemeClr val="accent2">
                <a:tint val="58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Category 1</c:v>
                </c:pt>
              </c:strCache>
            </c:strRef>
          </c:cat>
          <c:val>
            <c:numRef>
              <c:f>Лист1!$B$2</c:f>
              <c:numCache>
                <c:formatCode>General</c:formatCode>
                <c:ptCount val="1"/>
                <c:pt idx="0">
                  <c:v>9</c:v>
                </c:pt>
              </c:numCache>
            </c:numRef>
          </c:val>
          <c:extLst>
            <c:ext xmlns:c16="http://schemas.microsoft.com/office/drawing/2014/chart" uri="{C3380CC4-5D6E-409C-BE32-E72D297353CC}">
              <c16:uniqueId val="{00000000-FFBA-42B4-A8DD-A65AC9BA5491}"/>
            </c:ext>
          </c:extLst>
        </c:ser>
        <c:ser>
          <c:idx val="1"/>
          <c:order val="1"/>
          <c:tx>
            <c:strRef>
              <c:f>Лист1!$C$1</c:f>
              <c:strCache>
                <c:ptCount val="1"/>
                <c:pt idx="0">
                  <c:v>Specialist. OK</c:v>
                </c:pt>
              </c:strCache>
            </c:strRef>
          </c:tx>
          <c:spPr>
            <a:solidFill>
              <a:schemeClr val="accent2">
                <a:tint val="8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Category 1</c:v>
                </c:pt>
              </c:strCache>
            </c:strRef>
          </c:cat>
          <c:val>
            <c:numRef>
              <c:f>Лист1!$C$2</c:f>
              <c:numCache>
                <c:formatCode>General</c:formatCode>
                <c:ptCount val="1"/>
                <c:pt idx="0">
                  <c:v>11</c:v>
                </c:pt>
              </c:numCache>
            </c:numRef>
          </c:val>
          <c:extLst>
            <c:ext xmlns:c16="http://schemas.microsoft.com/office/drawing/2014/chart" uri="{C3380CC4-5D6E-409C-BE32-E72D297353CC}">
              <c16:uniqueId val="{00000001-FFBA-42B4-A8DD-A65AC9BA5491}"/>
            </c:ext>
          </c:extLst>
        </c:ser>
        <c:ser>
          <c:idx val="2"/>
          <c:order val="2"/>
          <c:tx>
            <c:strRef>
              <c:f>Лист1!$D$1</c:f>
              <c:strCache>
                <c:ptCount val="1"/>
                <c:pt idx="0">
                  <c:v>Other</c:v>
                </c:pt>
              </c:strCache>
            </c:strRef>
          </c:tx>
          <c:spPr>
            <a:solidFill>
              <a:schemeClr val="accent2">
                <a:shade val="8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Category 1</c:v>
                </c:pt>
              </c:strCache>
            </c:strRef>
          </c:cat>
          <c:val>
            <c:numRef>
              <c:f>Лист1!$D$2</c:f>
              <c:numCache>
                <c:formatCode>General</c:formatCode>
                <c:ptCount val="1"/>
                <c:pt idx="0">
                  <c:v>7</c:v>
                </c:pt>
              </c:numCache>
            </c:numRef>
          </c:val>
          <c:extLst>
            <c:ext xmlns:c16="http://schemas.microsoft.com/office/drawing/2014/chart" uri="{C3380CC4-5D6E-409C-BE32-E72D297353CC}">
              <c16:uniqueId val="{00000002-FFBA-42B4-A8DD-A65AC9BA5491}"/>
            </c:ext>
          </c:extLst>
        </c:ser>
        <c:ser>
          <c:idx val="3"/>
          <c:order val="3"/>
          <c:tx>
            <c:strRef>
              <c:f>Лист1!$E$1</c:f>
              <c:strCache>
                <c:ptCount val="1"/>
                <c:pt idx="0">
                  <c:v>Installation of additional controls</c:v>
                </c:pt>
              </c:strCache>
            </c:strRef>
          </c:tx>
          <c:spPr>
            <a:solidFill>
              <a:schemeClr val="accent2">
                <a:shade val="58000"/>
              </a:schemeClr>
            </a:solidFill>
            <a:ln>
              <a:noFill/>
            </a:ln>
            <a:effectLst/>
          </c:spPr>
          <c:invertIfNegative val="0"/>
          <c:dLbls>
            <c:dLbl>
              <c:idx val="0"/>
              <c:tx>
                <c:rich>
                  <a:bodyPr/>
                  <a:lstStyle/>
                  <a:p>
                    <a:fld id="{D58A6532-5EF8-4ED9-A143-C092018869C9}" type="VALUE">
                      <a:rPr lang="en-US" sz="800"/>
                      <a:pPr/>
                      <a:t>[ЗНАЧЕНИЕ]</a:t>
                    </a:fld>
                    <a:endParaRPr lang="ru-RU"/>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FFBA-42B4-A8DD-A65AC9BA549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c:f>
              <c:strCache>
                <c:ptCount val="1"/>
                <c:pt idx="0">
                  <c:v>Category 1</c:v>
                </c:pt>
              </c:strCache>
            </c:strRef>
          </c:cat>
          <c:val>
            <c:numRef>
              <c:f>Лист1!$E$2</c:f>
              <c:numCache>
                <c:formatCode>General</c:formatCode>
                <c:ptCount val="1"/>
                <c:pt idx="0">
                  <c:v>25</c:v>
                </c:pt>
              </c:numCache>
            </c:numRef>
          </c:val>
          <c:extLst>
            <c:ext xmlns:c16="http://schemas.microsoft.com/office/drawing/2014/chart" uri="{C3380CC4-5D6E-409C-BE32-E72D297353CC}">
              <c16:uniqueId val="{00000004-FFBA-42B4-A8DD-A65AC9BA5491}"/>
            </c:ext>
          </c:extLst>
        </c:ser>
        <c:dLbls>
          <c:dLblPos val="ctr"/>
          <c:showLegendKey val="0"/>
          <c:showVal val="1"/>
          <c:showCatName val="0"/>
          <c:showSerName val="0"/>
          <c:showPercent val="0"/>
          <c:showBubbleSize val="0"/>
        </c:dLbls>
        <c:gapWidth val="150"/>
        <c:overlap val="100"/>
        <c:serLines>
          <c:spPr>
            <a:ln w="9525" cap="flat" cmpd="sng" algn="ctr">
              <a:solidFill>
                <a:schemeClr val="tx1">
                  <a:lumMod val="35000"/>
                  <a:lumOff val="65000"/>
                </a:schemeClr>
              </a:solidFill>
              <a:round/>
            </a:ln>
            <a:effectLst/>
          </c:spPr>
        </c:serLines>
        <c:axId val="432638752"/>
        <c:axId val="432636128"/>
      </c:barChart>
      <c:catAx>
        <c:axId val="432638752"/>
        <c:scaling>
          <c:orientation val="minMax"/>
        </c:scaling>
        <c:delete val="0"/>
        <c:axPos val="l"/>
        <c:numFmt formatCode="General" sourceLinked="1"/>
        <c:majorTickMark val="none"/>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432636128"/>
        <c:crosses val="autoZero"/>
        <c:auto val="1"/>
        <c:lblAlgn val="ctr"/>
        <c:lblOffset val="100"/>
        <c:noMultiLvlLbl val="0"/>
      </c:catAx>
      <c:valAx>
        <c:axId val="432636128"/>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4326387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5">
                <a:lumMod val="25000"/>
                <a:lumOff val="75000"/>
              </a:schemeClr>
            </a:solidFill>
            <a:ln>
              <a:noFill/>
            </a:ln>
          </c:spPr>
          <c:invertIfNegative val="0"/>
          <c:dLbls>
            <c:dLbl>
              <c:idx val="0"/>
              <c:layout>
                <c:manualLayout>
                  <c:x val="-6.4892926670992858E-4"/>
                  <c:y val="3.5398230088495575E-3"/>
                </c:manualLayout>
              </c:layout>
              <c:tx>
                <c:rich>
                  <a:bodyPr wrap="none"/>
                  <a:lstStyle/>
                  <a:p>
                    <a:pPr>
                      <a:defRPr sz="800" kern="1200">
                        <a:solidFill>
                          <a:schemeClr val="tx1"/>
                        </a:solidFill>
                        <a:latin typeface="+mn-lt"/>
                        <a:ea typeface="+mn-ea"/>
                        <a:cs typeface="+mn-cs"/>
                      </a:defRPr>
                    </a:pPr>
                    <a:r>
                      <a:rPr lang="en-US" dirty="0" smtClean="0"/>
                      <a:t>52 732</a:t>
                    </a:r>
                    <a:endParaRPr lang="en-US" dirty="0"/>
                  </a:p>
                </c:rich>
              </c:tx>
              <c:numFmt formatCode="#,##0;&quot;-&quot;#,##0" sourceLinked="0"/>
              <c:spPr>
                <a:noFill/>
                <a:ln>
                  <a:noFill/>
                </a:ln>
              </c:sp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482-41F8-B709-38B3222C855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12769</c:v>
                </c:pt>
              </c:numCache>
            </c:numRef>
          </c:val>
          <c:extLst>
            <c:ext xmlns:c16="http://schemas.microsoft.com/office/drawing/2014/chart" uri="{C3380CC4-5D6E-409C-BE32-E72D297353CC}">
              <c16:uniqueId val="{00000001-4482-41F8-B709-38B3222C8557}"/>
            </c:ext>
          </c:extLst>
        </c:ser>
        <c:ser>
          <c:idx val="1"/>
          <c:order val="1"/>
          <c:spPr>
            <a:solidFill>
              <a:srgbClr val="C0C0C0"/>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4482-41F8-B709-38B3222C855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f>
              <c:numCache>
                <c:formatCode>#\ ##0;"-"#\ ##0</c:formatCode>
                <c:ptCount val="1"/>
              </c:numCache>
            </c:numRef>
          </c:val>
          <c:extLst>
            <c:ext xmlns:c16="http://schemas.microsoft.com/office/drawing/2014/chart" uri="{C3380CC4-5D6E-409C-BE32-E72D297353CC}">
              <c16:uniqueId val="{00000003-4482-41F8-B709-38B3222C8557}"/>
            </c:ext>
          </c:extLst>
        </c:ser>
        <c:ser>
          <c:idx val="2"/>
          <c:order val="2"/>
          <c:spPr>
            <a:solidFill>
              <a:schemeClr val="accent4"/>
            </a:solidFill>
            <a:ln>
              <a:noFill/>
            </a:ln>
          </c:spPr>
          <c:invertIfNegative val="0"/>
          <c:dLbls>
            <c:dLbl>
              <c:idx val="0"/>
              <c:layout>
                <c:manualLayout>
                  <c:x val="-6.4892926670992858E-4"/>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482-41F8-B709-38B3222C855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f>
              <c:numCache>
                <c:formatCode>#\ ##0;"-"#\ ##0</c:formatCode>
                <c:ptCount val="1"/>
              </c:numCache>
            </c:numRef>
          </c:val>
          <c:extLst>
            <c:ext xmlns:c16="http://schemas.microsoft.com/office/drawing/2014/chart" uri="{C3380CC4-5D6E-409C-BE32-E72D297353CC}">
              <c16:uniqueId val="{00000005-4482-41F8-B709-38B3222C8557}"/>
            </c:ext>
          </c:extLst>
        </c:ser>
        <c:ser>
          <c:idx val="3"/>
          <c:order val="3"/>
          <c:spPr>
            <a:solidFill>
              <a:schemeClr val="folHlink"/>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4482-41F8-B709-38B3222C855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c:f>
              <c:numCache>
                <c:formatCode>#\ ##0;"-"#\ ##0</c:formatCode>
                <c:ptCount val="1"/>
              </c:numCache>
            </c:numRef>
          </c:val>
          <c:extLst>
            <c:ext xmlns:c16="http://schemas.microsoft.com/office/drawing/2014/chart" uri="{C3380CC4-5D6E-409C-BE32-E72D297353CC}">
              <c16:uniqueId val="{00000007-4482-41F8-B709-38B3222C8557}"/>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2769"/>
          <c:min val="0"/>
        </c:scaling>
        <c:delete val="0"/>
        <c:axPos val="b"/>
        <c:majorGridlines>
          <c:spPr>
            <a:ln>
              <a:noFill/>
            </a:ln>
          </c:spPr>
        </c:majorGridlines>
        <c:numFmt formatCode="#,##0;&quot;-&quot;#,##0" sourceLinked="0"/>
        <c:majorTickMark val="out"/>
        <c:minorTickMark val="none"/>
        <c:tickLblPos val="none"/>
        <c:spPr>
          <a:ln w="9525" cmpd="sng" algn="ctr">
            <a:solidFill>
              <a:schemeClr val="tx1"/>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2000"/>
        <c:minorUnit val="2000"/>
      </c:valAx>
    </c:plotArea>
    <c:plotVisOnly val="0"/>
    <c:dispBlanksAs val="gap"/>
    <c:showDLblsOverMax val="1"/>
  </c:chart>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2"/>
            </a:solidFill>
            <a:ln>
              <a:noFill/>
            </a:ln>
          </c:spPr>
          <c:invertIfNegative val="0"/>
          <c:dLbls>
            <c:dLbl>
              <c:idx val="0"/>
              <c:layout>
                <c:manualLayout>
                  <c:x val="-6.4892926670992858E-4"/>
                  <c:y val="3.5398230088495575E-3"/>
                </c:manualLayout>
              </c:layout>
              <c:tx>
                <c:rich>
                  <a:bodyPr wrap="none"/>
                  <a:lstStyle/>
                  <a:p>
                    <a:pPr>
                      <a:defRPr sz="800" kern="1200">
                        <a:solidFill>
                          <a:schemeClr val="tx1"/>
                        </a:solidFill>
                        <a:latin typeface="+mn-lt"/>
                        <a:ea typeface="+mn-ea"/>
                        <a:cs typeface="+mn-cs"/>
                      </a:defRPr>
                    </a:pPr>
                    <a:r>
                      <a:rPr lang="en-US" dirty="0" smtClean="0"/>
                      <a:t>1 404</a:t>
                    </a:r>
                    <a:endParaRPr lang="en-US" dirty="0"/>
                  </a:p>
                </c:rich>
              </c:tx>
              <c:numFmt formatCode="#,##0;&quot;-&quot;#,##0" sourceLinked="0"/>
              <c:spPr>
                <a:noFill/>
                <a:ln>
                  <a:noFill/>
                </a:ln>
              </c:sp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A66A-4B1F-B2F5-87B3F5AE34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1</c:v>
                </c:pt>
              </c:numCache>
            </c:numRef>
          </c:val>
          <c:extLst>
            <c:ext xmlns:c16="http://schemas.microsoft.com/office/drawing/2014/chart" uri="{C3380CC4-5D6E-409C-BE32-E72D297353CC}">
              <c16:uniqueId val="{00000001-A66A-4B1F-B2F5-87B3F5AE340E}"/>
            </c:ext>
          </c:extLst>
        </c:ser>
        <c:ser>
          <c:idx val="1"/>
          <c:order val="1"/>
          <c:spPr>
            <a:solidFill>
              <a:srgbClr val="C0C0C0"/>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A66A-4B1F-B2F5-87B3F5AE34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f>
              <c:numCache>
                <c:formatCode>#\ ##0;"-"#\ ##0</c:formatCode>
                <c:ptCount val="1"/>
              </c:numCache>
            </c:numRef>
          </c:val>
          <c:extLst>
            <c:ext xmlns:c16="http://schemas.microsoft.com/office/drawing/2014/chart" uri="{C3380CC4-5D6E-409C-BE32-E72D297353CC}">
              <c16:uniqueId val="{00000003-A66A-4B1F-B2F5-87B3F5AE340E}"/>
            </c:ext>
          </c:extLst>
        </c:ser>
        <c:ser>
          <c:idx val="2"/>
          <c:order val="2"/>
          <c:spPr>
            <a:solidFill>
              <a:schemeClr val="accent4"/>
            </a:solidFill>
            <a:ln>
              <a:noFill/>
            </a:ln>
          </c:spPr>
          <c:invertIfNegative val="0"/>
          <c:dLbls>
            <c:dLbl>
              <c:idx val="0"/>
              <c:layout>
                <c:manualLayout>
                  <c:x val="-6.4892926670992858E-4"/>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A66A-4B1F-B2F5-87B3F5AE34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f>
              <c:numCache>
                <c:formatCode>#\ ##0;"-"#\ ##0</c:formatCode>
                <c:ptCount val="1"/>
              </c:numCache>
            </c:numRef>
          </c:val>
          <c:extLst>
            <c:ext xmlns:c16="http://schemas.microsoft.com/office/drawing/2014/chart" uri="{C3380CC4-5D6E-409C-BE32-E72D297353CC}">
              <c16:uniqueId val="{00000005-A66A-4B1F-B2F5-87B3F5AE340E}"/>
            </c:ext>
          </c:extLst>
        </c:ser>
        <c:ser>
          <c:idx val="3"/>
          <c:order val="3"/>
          <c:spPr>
            <a:solidFill>
              <a:schemeClr val="folHlink"/>
            </a:solidFill>
            <a:ln>
              <a:noFill/>
            </a:ln>
          </c:spPr>
          <c:invertIfNegative val="0"/>
          <c:dLbls>
            <c:dLbl>
              <c:idx val="0"/>
              <c:layout>
                <c:manualLayout>
                  <c:x val="0"/>
                  <c:y val="3.5398230088495575E-3"/>
                </c:manualLayout>
              </c:layout>
              <c:numFmt formatCode="#,##0;&quot;-&quot;#,##0" sourceLinked="0"/>
              <c:spPr>
                <a:noFill/>
                <a:ln>
                  <a:noFill/>
                </a:ln>
              </c:spPr>
              <c:txPr>
                <a:bodyPr wrap="none"/>
                <a:lstStyle/>
                <a:p>
                  <a:pPr>
                    <a:defRPr sz="800" kern="1200">
                      <a:solidFill>
                        <a:schemeClr val="bg1"/>
                      </a:solidFill>
                      <a:latin typeface="+mn-lt"/>
                      <a:ea typeface="+mn-ea"/>
                      <a:cs typeface="+mn-cs"/>
                    </a:defRPr>
                  </a:pPr>
                  <a:endParaRPr lang="ru-R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A66A-4B1F-B2F5-87B3F5AE34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c:f>
              <c:numCache>
                <c:formatCode>#\ ##0;"-"#\ ##0</c:formatCode>
                <c:ptCount val="1"/>
              </c:numCache>
            </c:numRef>
          </c:val>
          <c:extLst>
            <c:ext xmlns:c16="http://schemas.microsoft.com/office/drawing/2014/chart" uri="{C3380CC4-5D6E-409C-BE32-E72D297353CC}">
              <c16:uniqueId val="{00000007-A66A-4B1F-B2F5-87B3F5AE340E}"/>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r"/>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axMin"/>
          <c:max val="1"/>
        </c:scaling>
        <c:delete val="0"/>
        <c:axPos val="b"/>
        <c:majorGridlines>
          <c:spPr>
            <a:ln>
              <a:noFill/>
            </a:ln>
          </c:spPr>
        </c:majorGridlines>
        <c:numFmt formatCode="#,##0;&quot;-&quot;#,##0" sourceLinked="0"/>
        <c:majorTickMark val="out"/>
        <c:minorTickMark val="none"/>
        <c:tickLblPos val="none"/>
        <c:spPr>
          <a:ln w="9525" cmpd="sng" algn="ctr">
            <a:solidFill>
              <a:schemeClr val="tx1"/>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1"/>
        <c:minorUnit val="1"/>
      </c:valAx>
    </c:plotArea>
    <c:plotVisOnly val="0"/>
    <c:dispBlanksAs val="gap"/>
    <c:showDLblsOverMax val="1"/>
  </c:chart>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rgbClr val="00BC2D"/>
            </a:solidFill>
            <a:ln>
              <a:noFill/>
            </a:ln>
          </c:spPr>
          <c:invertIfNegative val="0"/>
          <c:dPt>
            <c:idx val="0"/>
            <c:invertIfNegative val="0"/>
            <c:bubble3D val="0"/>
            <c:spPr>
              <a:solidFill>
                <a:schemeClr val="accent5">
                  <a:lumMod val="25000"/>
                  <a:lumOff val="75000"/>
                </a:schemeClr>
              </a:solidFill>
              <a:ln>
                <a:noFill/>
              </a:ln>
            </c:spPr>
            <c:extLst>
              <c:ext xmlns:c16="http://schemas.microsoft.com/office/drawing/2014/chart" uri="{C3380CC4-5D6E-409C-BE32-E72D297353CC}">
                <c16:uniqueId val="{00000001-73CD-4F52-A12D-0A5CCB29F3CE}"/>
              </c:ext>
            </c:extLst>
          </c:dPt>
          <c:dLbls>
            <c:dLbl>
              <c:idx val="0"/>
              <c:layout>
                <c:manualLayout>
                  <c:x val="-6.4892926670992858E-4"/>
                  <c:y val="3.5398230088495575E-3"/>
                </c:manualLayout>
              </c:layout>
              <c:tx>
                <c:rich>
                  <a:bodyPr wrap="none"/>
                  <a:lstStyle/>
                  <a:p>
                    <a:pPr>
                      <a:defRPr sz="800" kern="1200">
                        <a:solidFill>
                          <a:schemeClr val="tx1"/>
                        </a:solidFill>
                        <a:latin typeface="+mn-lt"/>
                        <a:ea typeface="+mn-ea"/>
                        <a:cs typeface="+mn-cs"/>
                      </a:defRPr>
                    </a:pPr>
                    <a:r>
                      <a:rPr lang="en-US" dirty="0" smtClean="0"/>
                      <a:t>9 521</a:t>
                    </a:r>
                    <a:endParaRPr lang="en-US" dirty="0"/>
                  </a:p>
                </c:rich>
              </c:tx>
              <c:numFmt formatCode="#,##0;&quot;-&quot;#,##0" sourceLinked="0"/>
              <c:spPr>
                <a:noFill/>
                <a:ln>
                  <a:noFill/>
                </a:ln>
              </c:sp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73CD-4F52-A12D-0A5CCB29F3C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 ##0;"-"#\ ##0</c:formatCode>
                <c:ptCount val="1"/>
                <c:pt idx="0">
                  <c:v>3904</c:v>
                </c:pt>
              </c:numCache>
            </c:numRef>
          </c:val>
          <c:extLst>
            <c:ext xmlns:c16="http://schemas.microsoft.com/office/drawing/2014/chart" uri="{C3380CC4-5D6E-409C-BE32-E72D297353CC}">
              <c16:uniqueId val="{00000002-73CD-4F52-A12D-0A5CCB29F3CE}"/>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904"/>
          <c:min val="0"/>
        </c:scaling>
        <c:delete val="0"/>
        <c:axPos val="b"/>
        <c:majorGridlines>
          <c:spPr>
            <a:ln>
              <a:noFill/>
            </a:ln>
          </c:spPr>
        </c:majorGridlines>
        <c:numFmt formatCode="#,##0;&quot;-&quot;#,##0" sourceLinked="0"/>
        <c:majorTickMark val="out"/>
        <c:minorTickMark val="none"/>
        <c:tickLblPos val="none"/>
        <c:spPr>
          <a:ln w="9525" cmpd="sng" algn="ctr">
            <a:solidFill>
              <a:schemeClr val="tx1"/>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500"/>
        <c:minorUnit val="10"/>
      </c:valAx>
    </c:plotArea>
    <c:plotVisOnly val="0"/>
    <c:dispBlanksAs val="gap"/>
    <c:showDLblsOverMax val="1"/>
  </c:chart>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839714471122649E-2"/>
          <c:y val="0.20707964601769913"/>
          <c:w val="0.85463984425697603"/>
          <c:h val="0.45840707964601768"/>
        </c:manualLayout>
      </c:layout>
      <c:barChart>
        <c:barDir val="bar"/>
        <c:grouping val="stacked"/>
        <c:varyColors val="0"/>
        <c:ser>
          <c:idx val="0"/>
          <c:order val="0"/>
          <c:spPr>
            <a:solidFill>
              <a:schemeClr val="accent2"/>
            </a:solidFill>
            <a:ln>
              <a:noFill/>
            </a:ln>
          </c:spPr>
          <c:invertIfNegative val="0"/>
          <c:dLbls>
            <c:dLbl>
              <c:idx val="0"/>
              <c:tx>
                <c:rich>
                  <a:bodyPr wrap="none"/>
                  <a:lstStyle/>
                  <a:p>
                    <a:pPr>
                      <a:defRPr sz="800" kern="1200">
                        <a:solidFill>
                          <a:schemeClr val="tx1"/>
                        </a:solidFill>
                        <a:latin typeface="+mn-lt"/>
                        <a:ea typeface="+mn-ea"/>
                        <a:cs typeface="+mn-cs"/>
                      </a:defRPr>
                    </a:pPr>
                    <a:r>
                      <a:rPr lang="en-US" dirty="0" smtClean="0"/>
                      <a:t>1 896</a:t>
                    </a:r>
                    <a:endParaRPr lang="en-US" dirty="0"/>
                  </a:p>
                </c:rich>
              </c:tx>
              <c:numFmt formatCode="#,##0;&quot;-&quot;#,##0" sourceLinked="0"/>
              <c:spPr>
                <a:noFill/>
                <a:ln>
                  <a:noFill/>
                </a:ln>
              </c:sp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1E8-40A7-9E31-B95D832A7098}"/>
                </c:ext>
              </c:extLst>
            </c:dLbl>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Sheet1!$A$1</c:f>
              <c:numCache>
                <c:formatCode>#\ ##0;"-"#\ ##0</c:formatCode>
                <c:ptCount val="1"/>
                <c:pt idx="0">
                  <c:v>1339</c:v>
                </c:pt>
              </c:numCache>
            </c:numRef>
          </c:val>
          <c:extLst>
            <c:ext xmlns:c16="http://schemas.microsoft.com/office/drawing/2014/chart" uri="{C3380CC4-5D6E-409C-BE32-E72D297353CC}">
              <c16:uniqueId val="{00000001-31E8-40A7-9E31-B95D832A7098}"/>
            </c:ext>
          </c:extLst>
        </c:ser>
        <c:dLbls>
          <c:showLegendKey val="0"/>
          <c:showVal val="0"/>
          <c:showCatName val="0"/>
          <c:showSerName val="0"/>
          <c:showPercent val="0"/>
          <c:showBubbleSize val="0"/>
        </c:dLbls>
        <c:gapWidth val="80"/>
        <c:overlap val="100"/>
        <c:axId val="242487728"/>
        <c:axId val="1"/>
      </c:barChart>
      <c:catAx>
        <c:axId val="242487728"/>
        <c:scaling>
          <c:orientation val="maxMin"/>
        </c:scaling>
        <c:delete val="0"/>
        <c:axPos val="r"/>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axMin"/>
          <c:max val="1339"/>
          <c:min val="0"/>
        </c:scaling>
        <c:delete val="0"/>
        <c:axPos val="b"/>
        <c:majorGridlines>
          <c:spPr>
            <a:ln>
              <a:noFill/>
            </a:ln>
          </c:spPr>
        </c:majorGridlines>
        <c:numFmt formatCode="#,##0;&quot;-&quot;#,##0" sourceLinked="0"/>
        <c:majorTickMark val="out"/>
        <c:minorTickMark val="none"/>
        <c:tickLblPos val="none"/>
        <c:spPr>
          <a:ln w="9525" cmpd="sng" algn="ctr">
            <a:solidFill>
              <a:schemeClr val="tx1"/>
            </a:solidFill>
            <a:prstDash val="solid"/>
          </a:ln>
        </c:spPr>
        <c:txPr>
          <a:bodyPr wrap="none"/>
          <a:lstStyle/>
          <a:p>
            <a:pPr>
              <a:defRPr sz="800" kern="1200">
                <a:solidFill>
                  <a:schemeClr val="tx1"/>
                </a:solidFill>
                <a:latin typeface="+mn-lt"/>
                <a:ea typeface="+mn-ea"/>
                <a:cs typeface="+mn-cs"/>
              </a:defRPr>
            </a:pPr>
            <a:endParaRPr lang="ru-RU"/>
          </a:p>
        </c:txPr>
        <c:crossAx val="242487728"/>
        <c:crosses val="max"/>
        <c:crossBetween val="between"/>
        <c:majorUnit val="400"/>
        <c:minorUnit val="50"/>
      </c:valAx>
    </c:plotArea>
    <c:plotVisOnly val="0"/>
    <c:dispBlanksAs val="gap"/>
    <c:showDLblsOverMax val="1"/>
  </c:chart>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0888379105591357"/>
          <c:y val="9.3444702472923025E-2"/>
          <c:w val="0.43883523642526878"/>
          <c:h val="0.57595591473416896"/>
        </c:manualLayout>
      </c:layout>
      <c:doughnutChart>
        <c:varyColors val="1"/>
        <c:ser>
          <c:idx val="0"/>
          <c:order val="0"/>
          <c:tx>
            <c:strRef>
              <c:f>Лист1!$B$1</c:f>
              <c:strCache>
                <c:ptCount val="1"/>
                <c:pt idx="0">
                  <c:v>Column1</c:v>
                </c:pt>
              </c:strCache>
            </c:strRef>
          </c:tx>
          <c:dPt>
            <c:idx val="0"/>
            <c:bubble3D val="0"/>
            <c:spPr>
              <a:solidFill>
                <a:schemeClr val="accent2"/>
              </a:solidFill>
              <a:ln w="19050">
                <a:noFill/>
              </a:ln>
              <a:effectLst/>
            </c:spPr>
            <c:extLst>
              <c:ext xmlns:c16="http://schemas.microsoft.com/office/drawing/2014/chart" uri="{C3380CC4-5D6E-409C-BE32-E72D297353CC}">
                <c16:uniqueId val="{00000001-C603-490B-8334-CB7DD6666709}"/>
              </c:ext>
            </c:extLst>
          </c:dPt>
          <c:dPt>
            <c:idx val="1"/>
            <c:bubble3D val="0"/>
            <c:spPr>
              <a:solidFill>
                <a:srgbClr val="FFC000"/>
              </a:solidFill>
              <a:ln w="19050">
                <a:noFill/>
              </a:ln>
              <a:effectLst/>
            </c:spPr>
            <c:extLst>
              <c:ext xmlns:c16="http://schemas.microsoft.com/office/drawing/2014/chart" uri="{C3380CC4-5D6E-409C-BE32-E72D297353CC}">
                <c16:uniqueId val="{00000003-C603-490B-8334-CB7DD6666709}"/>
              </c:ext>
            </c:extLst>
          </c:dPt>
          <c:dPt>
            <c:idx val="2"/>
            <c:bubble3D val="0"/>
            <c:spPr>
              <a:solidFill>
                <a:schemeClr val="accent3">
                  <a:lumMod val="60000"/>
                  <a:lumOff val="40000"/>
                </a:schemeClr>
              </a:solidFill>
              <a:ln w="19050">
                <a:noFill/>
              </a:ln>
              <a:effectLst/>
            </c:spPr>
            <c:extLst>
              <c:ext xmlns:c16="http://schemas.microsoft.com/office/drawing/2014/chart" uri="{C3380CC4-5D6E-409C-BE32-E72D297353CC}">
                <c16:uniqueId val="{00000005-C603-490B-8334-CB7DD6666709}"/>
              </c:ext>
            </c:extLst>
          </c:dPt>
          <c:dPt>
            <c:idx val="3"/>
            <c:bubble3D val="0"/>
            <c:spPr>
              <a:solidFill>
                <a:schemeClr val="accent4">
                  <a:lumMod val="40000"/>
                  <a:lumOff val="60000"/>
                </a:schemeClr>
              </a:solidFill>
              <a:ln w="19050">
                <a:noFill/>
              </a:ln>
              <a:effectLst/>
            </c:spPr>
            <c:extLst>
              <c:ext xmlns:c16="http://schemas.microsoft.com/office/drawing/2014/chart" uri="{C3380CC4-5D6E-409C-BE32-E72D297353CC}">
                <c16:uniqueId val="{00000007-C603-490B-8334-CB7DD6666709}"/>
              </c:ext>
            </c:extLst>
          </c:dPt>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Лист1!$A$2:$A$5</c:f>
              <c:strCache>
                <c:ptCount val="4"/>
                <c:pt idx="0">
                  <c:v>Confirmed</c:v>
                </c:pt>
                <c:pt idx="1">
                  <c:v>Not confirmed</c:v>
                </c:pt>
                <c:pt idx="2">
                  <c:v>N/A (not enough information to conduct verification)</c:v>
                </c:pt>
                <c:pt idx="3">
                  <c:v>In progress (as of January 15, 2026)</c:v>
                </c:pt>
              </c:strCache>
            </c:strRef>
          </c:cat>
          <c:val>
            <c:numRef>
              <c:f>Лист1!$B$2:$B$5</c:f>
              <c:numCache>
                <c:formatCode>General</c:formatCode>
                <c:ptCount val="4"/>
                <c:pt idx="0">
                  <c:v>102</c:v>
                </c:pt>
                <c:pt idx="1">
                  <c:v>72</c:v>
                </c:pt>
                <c:pt idx="2">
                  <c:v>11</c:v>
                </c:pt>
                <c:pt idx="3">
                  <c:v>23</c:v>
                </c:pt>
              </c:numCache>
            </c:numRef>
          </c:val>
          <c:extLst>
            <c:ext xmlns:c16="http://schemas.microsoft.com/office/drawing/2014/chart" uri="{C3380CC4-5D6E-409C-BE32-E72D297353CC}">
              <c16:uniqueId val="{00000008-C603-490B-8334-CB7DD6666709}"/>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b"/>
      <c:layout>
        <c:manualLayout>
          <c:xMode val="edge"/>
          <c:yMode val="edge"/>
          <c:x val="5.3456848837341808E-2"/>
          <c:y val="0.65493226682800176"/>
          <c:w val="0.90831933473629167"/>
          <c:h val="0.3295406211011957"/>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0888379105591357"/>
          <c:y val="9.3444702472923025E-2"/>
          <c:w val="0.43883523642526878"/>
          <c:h val="0.57595591473416896"/>
        </c:manualLayout>
      </c:layout>
      <c:doughnutChart>
        <c:varyColors val="1"/>
        <c:ser>
          <c:idx val="0"/>
          <c:order val="0"/>
          <c:tx>
            <c:strRef>
              <c:f>Лист1!$B$1</c:f>
              <c:strCache>
                <c:ptCount val="1"/>
                <c:pt idx="0">
                  <c:v>Column1</c:v>
                </c:pt>
              </c:strCache>
            </c:strRef>
          </c:tx>
          <c:dPt>
            <c:idx val="0"/>
            <c:bubble3D val="0"/>
            <c:spPr>
              <a:solidFill>
                <a:schemeClr val="accent2"/>
              </a:solidFill>
              <a:ln w="19050">
                <a:noFill/>
              </a:ln>
              <a:effectLst/>
            </c:spPr>
            <c:extLst>
              <c:ext xmlns:c16="http://schemas.microsoft.com/office/drawing/2014/chart" uri="{C3380CC4-5D6E-409C-BE32-E72D297353CC}">
                <c16:uniqueId val="{00000001-C320-4EB7-9829-218EDD2E410D}"/>
              </c:ext>
            </c:extLst>
          </c:dPt>
          <c:dPt>
            <c:idx val="1"/>
            <c:bubble3D val="0"/>
            <c:spPr>
              <a:solidFill>
                <a:srgbClr val="FFC000"/>
              </a:solidFill>
              <a:ln w="19050">
                <a:noFill/>
              </a:ln>
              <a:effectLst/>
            </c:spPr>
            <c:extLst>
              <c:ext xmlns:c16="http://schemas.microsoft.com/office/drawing/2014/chart" uri="{C3380CC4-5D6E-409C-BE32-E72D297353CC}">
                <c16:uniqueId val="{00000003-C320-4EB7-9829-218EDD2E410D}"/>
              </c:ext>
            </c:extLst>
          </c:dPt>
          <c:dPt>
            <c:idx val="2"/>
            <c:bubble3D val="0"/>
            <c:spPr>
              <a:solidFill>
                <a:schemeClr val="accent3">
                  <a:lumMod val="60000"/>
                  <a:lumOff val="40000"/>
                </a:schemeClr>
              </a:solidFill>
              <a:ln w="19050">
                <a:noFill/>
              </a:ln>
              <a:effectLst/>
            </c:spPr>
            <c:extLst>
              <c:ext xmlns:c16="http://schemas.microsoft.com/office/drawing/2014/chart" uri="{C3380CC4-5D6E-409C-BE32-E72D297353CC}">
                <c16:uniqueId val="{00000005-C320-4EB7-9829-218EDD2E410D}"/>
              </c:ext>
            </c:extLst>
          </c:dPt>
          <c:dPt>
            <c:idx val="3"/>
            <c:bubble3D val="0"/>
            <c:spPr>
              <a:solidFill>
                <a:schemeClr val="accent4">
                  <a:lumMod val="40000"/>
                  <a:lumOff val="60000"/>
                </a:schemeClr>
              </a:solidFill>
              <a:ln w="19050">
                <a:noFill/>
              </a:ln>
              <a:effectLst/>
            </c:spPr>
            <c:extLst>
              <c:ext xmlns:c16="http://schemas.microsoft.com/office/drawing/2014/chart" uri="{C3380CC4-5D6E-409C-BE32-E72D297353CC}">
                <c16:uniqueId val="{00000007-C320-4EB7-9829-218EDD2E410D}"/>
              </c:ext>
            </c:extLst>
          </c:dPt>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Лист1!$A$2:$A$5</c:f>
              <c:strCache>
                <c:ptCount val="4"/>
                <c:pt idx="0">
                  <c:v>Business integrity</c:v>
                </c:pt>
                <c:pt idx="1">
                  <c:v>Sustainability</c:v>
                </c:pt>
                <c:pt idx="2">
                  <c:v>Fraud, corruption and AML/CFT</c:v>
                </c:pt>
                <c:pt idx="3">
                  <c:v>General</c:v>
                </c:pt>
              </c:strCache>
            </c:strRef>
          </c:cat>
          <c:val>
            <c:numRef>
              <c:f>Лист1!$B$2:$B$5</c:f>
              <c:numCache>
                <c:formatCode>General</c:formatCode>
                <c:ptCount val="4"/>
                <c:pt idx="0">
                  <c:v>52</c:v>
                </c:pt>
                <c:pt idx="1">
                  <c:v>25</c:v>
                </c:pt>
                <c:pt idx="2">
                  <c:v>32</c:v>
                </c:pt>
                <c:pt idx="3">
                  <c:v>7</c:v>
                </c:pt>
              </c:numCache>
            </c:numRef>
          </c:val>
          <c:extLst>
            <c:ext xmlns:c16="http://schemas.microsoft.com/office/drawing/2014/chart" uri="{C3380CC4-5D6E-409C-BE32-E72D297353CC}">
              <c16:uniqueId val="{00000008-C320-4EB7-9829-218EDD2E410D}"/>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b"/>
      <c:layout>
        <c:manualLayout>
          <c:xMode val="edge"/>
          <c:yMode val="edge"/>
          <c:x val="5.3456848837341808E-2"/>
          <c:y val="0.65493226682800176"/>
          <c:w val="0.90831933473629167"/>
          <c:h val="0.3295406211011957"/>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Reversed" id="22">
  <a:schemeClr val="accent2"/>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withinLinearReversed" id="26">
  <a:schemeClr val="accent6"/>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withinLinear" id="15">
  <a:schemeClr val="accent2"/>
</cs:colorStyle>
</file>

<file path=ppt/charts/colors1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withinLinear" id="14">
  <a:schemeClr val="accent1"/>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withinLinearReversed" id="22">
  <a:schemeClr val="accent2"/>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10.emf"/></Relationships>
</file>

<file path=ppt/drawings/drawing1.xml><?xml version="1.0" encoding="utf-8"?>
<c:userShapes xmlns:c="http://schemas.openxmlformats.org/drawingml/2006/chart">
  <cdr:relSizeAnchor xmlns:cdr="http://schemas.openxmlformats.org/drawingml/2006/chartDrawing">
    <cdr:from>
      <cdr:x>0.33571</cdr:x>
      <cdr:y>0.02657</cdr:y>
    </cdr:from>
    <cdr:to>
      <cdr:x>0.4245</cdr:x>
      <cdr:y>0.09653</cdr:y>
    </cdr:to>
    <cdr:sp macro="" textlink="">
      <cdr:nvSpPr>
        <cdr:cNvPr id="2" name="TextBox 1"/>
        <cdr:cNvSpPr txBox="1"/>
      </cdr:nvSpPr>
      <cdr:spPr>
        <a:xfrm xmlns:a="http://schemas.openxmlformats.org/drawingml/2006/main">
          <a:off x="1699746" y="40902"/>
          <a:ext cx="449540" cy="107722"/>
        </a:xfrm>
        <a:prstGeom xmlns:a="http://schemas.openxmlformats.org/drawingml/2006/main" prst="rect">
          <a:avLst/>
        </a:prstGeom>
      </cdr:spPr>
      <cdr:txBody>
        <a:bodyPr xmlns:a="http://schemas.openxmlformats.org/drawingml/2006/main" vertOverflow="clip" wrap="square" lIns="0" tIns="0" rIns="0" bIns="0" rtlCol="0">
          <a:spAutoFit/>
        </a:bodyPr>
        <a:lstStyle xmlns:a="http://schemas.openxmlformats.org/drawingml/2006/main"/>
        <a:p xmlns:a="http://schemas.openxmlformats.org/drawingml/2006/main">
          <a:r>
            <a:rPr lang="ru-RU" sz="700" dirty="0" smtClean="0">
              <a:solidFill>
                <a:schemeClr val="accent5">
                  <a:lumMod val="75000"/>
                  <a:lumOff val="25000"/>
                </a:schemeClr>
              </a:solidFill>
            </a:rPr>
            <a:t>Итого 195</a:t>
          </a:r>
          <a:endParaRPr lang="ru-RU" sz="700" dirty="0">
            <a:solidFill>
              <a:schemeClr val="accent5">
                <a:lumMod val="75000"/>
                <a:lumOff val="25000"/>
              </a:schemeClr>
            </a:solidFill>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0.69758</cdr:x>
      <cdr:y>0.0776</cdr:y>
    </cdr:from>
    <cdr:to>
      <cdr:x>0.69759</cdr:x>
      <cdr:y>0.24836</cdr:y>
    </cdr:to>
    <cdr:sp macro="" textlink="">
      <cdr:nvSpPr>
        <cdr:cNvPr id="2" name="TextBox 1">
          <a:extLst xmlns:a="http://schemas.openxmlformats.org/drawingml/2006/main">
            <a:ext uri="{FF2B5EF4-FFF2-40B4-BE49-F238E27FC236}">
              <a16:creationId xmlns:a16="http://schemas.microsoft.com/office/drawing/2014/main" id="{95923ECA-3FB7-464A-9C9E-705723BD764D}"/>
            </a:ext>
          </a:extLst>
        </cdr:cNvPr>
        <cdr:cNvSpPr txBox="1"/>
      </cdr:nvSpPr>
      <cdr:spPr>
        <a:xfrm xmlns:a="http://schemas.openxmlformats.org/drawingml/2006/main">
          <a:off x="3749599" y="76932"/>
          <a:ext cx="65" cy="169277"/>
        </a:xfrm>
        <a:prstGeom xmlns:a="http://schemas.openxmlformats.org/drawingml/2006/main" prst="rect">
          <a:avLst/>
        </a:prstGeom>
      </cdr:spPr>
      <cdr:txBody>
        <a:bodyPr xmlns:a="http://schemas.openxmlformats.org/drawingml/2006/main" vertOverflow="clip" wrap="none" lIns="0" tIns="0" rIns="0" bIns="0" rtlCol="0">
          <a:spAutoFit/>
        </a:bodyPr>
        <a:lstStyle xmlns:a="http://schemas.openxmlformats.org/drawingml/2006/main"/>
        <a:p xmlns:a="http://schemas.openxmlformats.org/drawingml/2006/main">
          <a:endParaRPr lang="ru-RU" sz="11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3F120042-DE19-4A60-A65E-D372A0AD7D6D}"/>
              </a:ext>
            </a:extLst>
          </p:cNvPr>
          <p:cNvSpPr>
            <a:spLocks noGrp="1"/>
          </p:cNvSpPr>
          <p:nvPr>
            <p:ph type="hdr" sz="quarter"/>
          </p:nvPr>
        </p:nvSpPr>
        <p:spPr>
          <a:xfrm>
            <a:off x="0" y="0"/>
            <a:ext cx="2945659" cy="495348"/>
          </a:xfrm>
          <a:prstGeom prst="rect">
            <a:avLst/>
          </a:prstGeom>
        </p:spPr>
        <p:txBody>
          <a:bodyPr vert="horz" lIns="91440" tIns="45720" rIns="91440" bIns="45720" rtlCol="0"/>
          <a:lstStyle>
            <a:lvl1pPr algn="l">
              <a:defRPr sz="1200"/>
            </a:lvl1pPr>
          </a:lstStyle>
          <a:p>
            <a:endParaRPr lang="ru-RU" dirty="0"/>
          </a:p>
        </p:txBody>
      </p:sp>
      <p:sp>
        <p:nvSpPr>
          <p:cNvPr id="3" name="Дата 2">
            <a:extLst>
              <a:ext uri="{FF2B5EF4-FFF2-40B4-BE49-F238E27FC236}">
                <a16:creationId xmlns:a16="http://schemas.microsoft.com/office/drawing/2014/main" id="{15D589F5-B5B1-4C39-AF4D-B7FD66FF2E05}"/>
              </a:ext>
            </a:extLst>
          </p:cNvPr>
          <p:cNvSpPr>
            <a:spLocks noGrp="1"/>
          </p:cNvSpPr>
          <p:nvPr>
            <p:ph type="dt" sz="quarter" idx="1"/>
          </p:nvPr>
        </p:nvSpPr>
        <p:spPr>
          <a:xfrm>
            <a:off x="3850443" y="0"/>
            <a:ext cx="2945659" cy="495348"/>
          </a:xfrm>
          <a:prstGeom prst="rect">
            <a:avLst/>
          </a:prstGeom>
        </p:spPr>
        <p:txBody>
          <a:bodyPr vert="horz" lIns="91440" tIns="45720" rIns="91440" bIns="45720" rtlCol="0"/>
          <a:lstStyle>
            <a:lvl1pPr algn="r">
              <a:defRPr sz="1200"/>
            </a:lvl1pPr>
          </a:lstStyle>
          <a:p>
            <a:fld id="{1094F38C-7FED-4B93-A934-AE2D2B1F54F8}" type="datetimeFigureOut">
              <a:rPr lang="ru-RU" smtClean="0"/>
              <a:t>26.02.2026</a:t>
            </a:fld>
            <a:endParaRPr lang="ru-RU" dirty="0"/>
          </a:p>
        </p:txBody>
      </p:sp>
      <p:sp>
        <p:nvSpPr>
          <p:cNvPr id="4" name="Нижний колонтитул 3">
            <a:extLst>
              <a:ext uri="{FF2B5EF4-FFF2-40B4-BE49-F238E27FC236}">
                <a16:creationId xmlns:a16="http://schemas.microsoft.com/office/drawing/2014/main" id="{FE87EA78-F1EE-447D-BF02-8591EAF5923D}"/>
              </a:ext>
            </a:extLst>
          </p:cNvPr>
          <p:cNvSpPr>
            <a:spLocks noGrp="1"/>
          </p:cNvSpPr>
          <p:nvPr>
            <p:ph type="ftr" sz="quarter" idx="2"/>
          </p:nvPr>
        </p:nvSpPr>
        <p:spPr>
          <a:xfrm>
            <a:off x="0" y="9377318"/>
            <a:ext cx="2945659" cy="495347"/>
          </a:xfrm>
          <a:prstGeom prst="rect">
            <a:avLst/>
          </a:prstGeom>
        </p:spPr>
        <p:txBody>
          <a:bodyPr vert="horz" lIns="91440" tIns="45720" rIns="91440" bIns="45720" rtlCol="0" anchor="b"/>
          <a:lstStyle>
            <a:lvl1pPr algn="l">
              <a:defRPr sz="1200"/>
            </a:lvl1pPr>
          </a:lstStyle>
          <a:p>
            <a:endParaRPr lang="ru-RU" dirty="0"/>
          </a:p>
        </p:txBody>
      </p:sp>
      <p:sp>
        <p:nvSpPr>
          <p:cNvPr id="5" name="Номер слайда 4">
            <a:extLst>
              <a:ext uri="{FF2B5EF4-FFF2-40B4-BE49-F238E27FC236}">
                <a16:creationId xmlns:a16="http://schemas.microsoft.com/office/drawing/2014/main" id="{48B45A96-9915-40E5-8CA7-93EBEEC7150B}"/>
              </a:ext>
            </a:extLst>
          </p:cNvPr>
          <p:cNvSpPr>
            <a:spLocks noGrp="1"/>
          </p:cNvSpPr>
          <p:nvPr>
            <p:ph type="sldNum" sz="quarter" idx="3"/>
          </p:nvPr>
        </p:nvSpPr>
        <p:spPr>
          <a:xfrm>
            <a:off x="3850443" y="9377318"/>
            <a:ext cx="2945659" cy="495347"/>
          </a:xfrm>
          <a:prstGeom prst="rect">
            <a:avLst/>
          </a:prstGeom>
        </p:spPr>
        <p:txBody>
          <a:bodyPr vert="horz" lIns="91440" tIns="45720" rIns="91440" bIns="45720" rtlCol="0" anchor="b"/>
          <a:lstStyle>
            <a:lvl1pPr algn="r">
              <a:defRPr sz="1200"/>
            </a:lvl1pPr>
          </a:lstStyle>
          <a:p>
            <a:fld id="{27521E4C-C986-4718-9D9E-614AF5FF58C9}" type="slidenum">
              <a:rPr lang="ru-RU" smtClean="0"/>
              <a:t>‹#›</a:t>
            </a:fld>
            <a:endParaRPr lang="ru-RU" dirty="0"/>
          </a:p>
        </p:txBody>
      </p:sp>
    </p:spTree>
    <p:extLst>
      <p:ext uri="{BB962C8B-B14F-4D97-AF65-F5344CB8AC3E}">
        <p14:creationId xmlns:p14="http://schemas.microsoft.com/office/powerpoint/2010/main" val="20458920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45659" cy="495348"/>
          </a:xfrm>
          <a:prstGeom prst="rect">
            <a:avLst/>
          </a:prstGeom>
        </p:spPr>
        <p:txBody>
          <a:bodyPr vert="horz" lIns="91440" tIns="45720" rIns="91440" bIns="45720" rtlCol="0"/>
          <a:lstStyle>
            <a:lvl1pPr algn="l">
              <a:defRPr sz="1200"/>
            </a:lvl1pPr>
          </a:lstStyle>
          <a:p>
            <a:endParaRPr lang="ru-RU" dirty="0"/>
          </a:p>
        </p:txBody>
      </p:sp>
      <p:sp>
        <p:nvSpPr>
          <p:cNvPr id="3" name="Дата 2"/>
          <p:cNvSpPr>
            <a:spLocks noGrp="1"/>
          </p:cNvSpPr>
          <p:nvPr>
            <p:ph type="dt" idx="1"/>
          </p:nvPr>
        </p:nvSpPr>
        <p:spPr>
          <a:xfrm>
            <a:off x="3850443" y="0"/>
            <a:ext cx="2945659" cy="495348"/>
          </a:xfrm>
          <a:prstGeom prst="rect">
            <a:avLst/>
          </a:prstGeom>
        </p:spPr>
        <p:txBody>
          <a:bodyPr vert="horz" lIns="91440" tIns="45720" rIns="91440" bIns="45720" rtlCol="0"/>
          <a:lstStyle>
            <a:lvl1pPr algn="r">
              <a:defRPr sz="1200"/>
            </a:lvl1pPr>
          </a:lstStyle>
          <a:p>
            <a:fld id="{9C62F4B1-53BF-4CEB-935B-B85CBB7C7FFD}" type="datetimeFigureOut">
              <a:rPr lang="ru-RU" smtClean="0"/>
              <a:t>26.02.2026</a:t>
            </a:fld>
            <a:endParaRPr lang="ru-RU" dirty="0"/>
          </a:p>
        </p:txBody>
      </p:sp>
      <p:sp>
        <p:nvSpPr>
          <p:cNvPr id="4" name="Образ слайда 3"/>
          <p:cNvSpPr>
            <a:spLocks noGrp="1" noRot="1" noChangeAspect="1"/>
          </p:cNvSpPr>
          <p:nvPr>
            <p:ph type="sldImg" idx="2"/>
          </p:nvPr>
        </p:nvSpPr>
        <p:spPr>
          <a:xfrm>
            <a:off x="438150" y="1235075"/>
            <a:ext cx="5921375" cy="3330575"/>
          </a:xfrm>
          <a:prstGeom prst="rect">
            <a:avLst/>
          </a:prstGeom>
          <a:noFill/>
          <a:ln w="12700">
            <a:solidFill>
              <a:prstClr val="black"/>
            </a:solidFill>
          </a:ln>
        </p:spPr>
        <p:txBody>
          <a:bodyPr vert="horz" lIns="91440" tIns="45720" rIns="91440" bIns="45720" rtlCol="0" anchor="ctr"/>
          <a:lstStyle/>
          <a:p>
            <a:endParaRPr lang="ru-RU" dirty="0"/>
          </a:p>
        </p:txBody>
      </p:sp>
      <p:sp>
        <p:nvSpPr>
          <p:cNvPr id="5" name="Заметки 4"/>
          <p:cNvSpPr>
            <a:spLocks noGrp="1"/>
          </p:cNvSpPr>
          <p:nvPr>
            <p:ph type="body" sz="quarter" idx="3"/>
          </p:nvPr>
        </p:nvSpPr>
        <p:spPr>
          <a:xfrm>
            <a:off x="679768" y="4751219"/>
            <a:ext cx="5438140" cy="3887361"/>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9377318"/>
            <a:ext cx="2945659" cy="495347"/>
          </a:xfrm>
          <a:prstGeom prst="rect">
            <a:avLst/>
          </a:prstGeom>
        </p:spPr>
        <p:txBody>
          <a:bodyPr vert="horz" lIns="91440" tIns="45720" rIns="91440" bIns="45720" rtlCol="0" anchor="b"/>
          <a:lstStyle>
            <a:lvl1pPr algn="l">
              <a:defRPr sz="1200"/>
            </a:lvl1pPr>
          </a:lstStyle>
          <a:p>
            <a:endParaRPr lang="ru-RU" dirty="0"/>
          </a:p>
        </p:txBody>
      </p:sp>
      <p:sp>
        <p:nvSpPr>
          <p:cNvPr id="7" name="Номер слайда 6"/>
          <p:cNvSpPr>
            <a:spLocks noGrp="1"/>
          </p:cNvSpPr>
          <p:nvPr>
            <p:ph type="sldNum" sz="quarter" idx="5"/>
          </p:nvPr>
        </p:nvSpPr>
        <p:spPr>
          <a:xfrm>
            <a:off x="3850443" y="9377318"/>
            <a:ext cx="2945659" cy="495347"/>
          </a:xfrm>
          <a:prstGeom prst="rect">
            <a:avLst/>
          </a:prstGeom>
        </p:spPr>
        <p:txBody>
          <a:bodyPr vert="horz" lIns="91440" tIns="45720" rIns="91440" bIns="45720" rtlCol="0" anchor="b"/>
          <a:lstStyle>
            <a:lvl1pPr algn="r">
              <a:defRPr sz="1200"/>
            </a:lvl1pPr>
          </a:lstStyle>
          <a:p>
            <a:fld id="{42865938-7C47-44BA-8EE7-44C4AA1CFE04}" type="slidenum">
              <a:rPr lang="ru-RU" smtClean="0"/>
              <a:t>‹#›</a:t>
            </a:fld>
            <a:endParaRPr lang="ru-RU" dirty="0"/>
          </a:p>
        </p:txBody>
      </p:sp>
    </p:spTree>
    <p:extLst>
      <p:ext uri="{BB962C8B-B14F-4D97-AF65-F5344CB8AC3E}">
        <p14:creationId xmlns:p14="http://schemas.microsoft.com/office/powerpoint/2010/main" val="2852511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indent="0" rtl="0">
              <a:buNone/>
            </a:pPr>
            <a:endParaRPr lang="en-US" b="1" dirty="0"/>
          </a:p>
        </p:txBody>
      </p:sp>
    </p:spTree>
    <p:extLst>
      <p:ext uri="{BB962C8B-B14F-4D97-AF65-F5344CB8AC3E}">
        <p14:creationId xmlns:p14="http://schemas.microsoft.com/office/powerpoint/2010/main" val="1663967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indent="0" rtl="0">
              <a:buNone/>
            </a:pPr>
            <a:endParaRPr lang="en-US" b="1" dirty="0"/>
          </a:p>
        </p:txBody>
      </p:sp>
    </p:spTree>
    <p:extLst>
      <p:ext uri="{BB962C8B-B14F-4D97-AF65-F5344CB8AC3E}">
        <p14:creationId xmlns:p14="http://schemas.microsoft.com/office/powerpoint/2010/main" val="3353911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indent="0" rtl="0">
              <a:buNone/>
            </a:pPr>
            <a:r>
              <a:rPr lang="ru-RU" dirty="0"/>
              <a:t/>
            </a:r>
            <a:br>
              <a:rPr lang="ru-RU" dirty="0"/>
            </a:br>
            <a:r>
              <a:rPr lang="ru-RU" sz="1200" kern="1200" dirty="0">
                <a:solidFill>
                  <a:schemeClr val="tx1"/>
                </a:solidFill>
                <a:latin typeface="+mn-lt"/>
                <a:ea typeface="+mn-ea"/>
                <a:cs typeface="+mn-cs"/>
              </a:rPr>
              <a:t> </a:t>
            </a:r>
            <a:endParaRPr lang="en-US" b="1" dirty="0">
              <a:solidFill>
                <a:srgbClr val="FF0000"/>
              </a:solidFill>
            </a:endParaRPr>
          </a:p>
        </p:txBody>
      </p:sp>
    </p:spTree>
    <p:extLst>
      <p:ext uri="{BB962C8B-B14F-4D97-AF65-F5344CB8AC3E}">
        <p14:creationId xmlns:p14="http://schemas.microsoft.com/office/powerpoint/2010/main" val="3481981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0" dirty="0">
              <a:solidFill>
                <a:srgbClr val="FF0000"/>
              </a:solidFill>
              <a:highlight>
                <a:srgbClr val="FFFF00"/>
              </a:highlight>
            </a:endParaRPr>
          </a:p>
        </p:txBody>
      </p:sp>
    </p:spTree>
    <p:extLst>
      <p:ext uri="{BB962C8B-B14F-4D97-AF65-F5344CB8AC3E}">
        <p14:creationId xmlns:p14="http://schemas.microsoft.com/office/powerpoint/2010/main" val="2374827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FBD5A-3D53-4593-D81C-2516C8E2D6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8CEF50-945D-23D4-92A8-CA85E0EC79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6AC422-C76E-CC92-93E4-B585552A66B0}"/>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1" dirty="0" smtClean="0">
              <a:solidFill>
                <a:srgbClr val="FF0000"/>
              </a:solidFill>
              <a:highlight>
                <a:srgbClr val="FFFF00"/>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solidFill>
                <a:srgbClr val="FF0000"/>
              </a:solidFill>
              <a:highlight>
                <a:srgbClr val="FFFF00"/>
              </a:highlight>
            </a:endParaRPr>
          </a:p>
        </p:txBody>
      </p:sp>
    </p:spTree>
    <p:extLst>
      <p:ext uri="{BB962C8B-B14F-4D97-AF65-F5344CB8AC3E}">
        <p14:creationId xmlns:p14="http://schemas.microsoft.com/office/powerpoint/2010/main" val="1306081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CB92-1500-0037-C831-034FAEEC2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14764-A652-D026-7F6C-1DE434BF25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D315F9-1F2F-CE81-EE21-AC8F35FF2042}"/>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FF0000"/>
              </a:solidFill>
              <a:highlight>
                <a:srgbClr val="FFFF00"/>
              </a:highlight>
            </a:endParaRPr>
          </a:p>
        </p:txBody>
      </p:sp>
    </p:spTree>
    <p:extLst>
      <p:ext uri="{BB962C8B-B14F-4D97-AF65-F5344CB8AC3E}">
        <p14:creationId xmlns:p14="http://schemas.microsoft.com/office/powerpoint/2010/main" val="3231562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indent="0" algn="l" rtl="0">
              <a:buNone/>
            </a:pPr>
            <a:endParaRPr lang="ru-RU" sz="120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212846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42865938-7C47-44BA-8EE7-44C4AA1CFE04}" type="slidenum">
              <a:rPr lang="ru-RU" smtClean="0"/>
              <a:t>10</a:t>
            </a:fld>
            <a:endParaRPr lang="ru-RU"/>
          </a:p>
        </p:txBody>
      </p:sp>
    </p:spTree>
    <p:extLst>
      <p:ext uri="{BB962C8B-B14F-4D97-AF65-F5344CB8AC3E}">
        <p14:creationId xmlns:p14="http://schemas.microsoft.com/office/powerpoint/2010/main" val="42948709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indent="0" rtl="0">
              <a:buNone/>
            </a:pPr>
            <a:endParaRPr lang="en-US" dirty="0"/>
          </a:p>
        </p:txBody>
      </p:sp>
      <p:sp>
        <p:nvSpPr>
          <p:cNvPr id="4" name="Slide Number Placeholder 3"/>
          <p:cNvSpPr>
            <a:spLocks noGrp="1"/>
          </p:cNvSpPr>
          <p:nvPr>
            <p:ph type="sldNum" sz="quarter" idx="5"/>
          </p:nvPr>
        </p:nvSpPr>
        <p:spPr/>
        <p:txBody>
          <a:bodyPr rtlCol="0"/>
          <a:lstStyle/>
          <a:p>
            <a:pPr rtl="0"/>
            <a:fld id="{42865938-7C47-44BA-8EE7-44C4AA1CFE04}" type="slidenum">
              <a:rPr lang="ru-RU" smtClean="0"/>
              <a:t>11</a:t>
            </a:fld>
            <a:endParaRPr lang="ru-RU" dirty="0"/>
          </a:p>
        </p:txBody>
      </p:sp>
    </p:spTree>
    <p:extLst>
      <p:ext uri="{BB962C8B-B14F-4D97-AF65-F5344CB8AC3E}">
        <p14:creationId xmlns:p14="http://schemas.microsoft.com/office/powerpoint/2010/main" val="19512415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indent="0" rtl="0">
              <a:buNone/>
            </a:pPr>
            <a:endParaRPr lang="ru-RU" dirty="0"/>
          </a:p>
          <a:p>
            <a:pPr marL="0" indent="0" rtl="0">
              <a:buNone/>
            </a:pPr>
            <a:endParaRPr lang="en-US" dirty="0"/>
          </a:p>
        </p:txBody>
      </p:sp>
      <p:sp>
        <p:nvSpPr>
          <p:cNvPr id="4" name="Slide Number Placeholder 3"/>
          <p:cNvSpPr>
            <a:spLocks noGrp="1"/>
          </p:cNvSpPr>
          <p:nvPr>
            <p:ph type="sldNum" sz="quarter" idx="5"/>
          </p:nvPr>
        </p:nvSpPr>
        <p:spPr/>
        <p:txBody>
          <a:bodyPr rtlCol="0"/>
          <a:lstStyle/>
          <a:p>
            <a:pPr rtl="0"/>
            <a:fld id="{42865938-7C47-44BA-8EE7-44C4AA1CFE04}" type="slidenum">
              <a:rPr lang="ru-RU" smtClean="0"/>
              <a:t>12</a:t>
            </a:fld>
            <a:endParaRPr lang="ru-RU"/>
          </a:p>
        </p:txBody>
      </p:sp>
    </p:spTree>
    <p:extLst>
      <p:ext uri="{BB962C8B-B14F-4D97-AF65-F5344CB8AC3E}">
        <p14:creationId xmlns:p14="http://schemas.microsoft.com/office/powerpoint/2010/main" val="1935809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indent="0" rtl="0">
              <a:buNone/>
            </a:pPr>
            <a:endParaRPr lang="en-US" dirty="0"/>
          </a:p>
        </p:txBody>
      </p:sp>
    </p:spTree>
    <p:extLst>
      <p:ext uri="{BB962C8B-B14F-4D97-AF65-F5344CB8AC3E}">
        <p14:creationId xmlns:p14="http://schemas.microsoft.com/office/powerpoint/2010/main" val="1888466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9456-E729-2AD7-FD16-F62FEDC48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D451A-48B7-A803-8585-7EE0A2397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FE492-BBF2-D6B1-0294-E43A0D5BABBA}"/>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0" i="0" dirty="0"/>
          </a:p>
        </p:txBody>
      </p:sp>
    </p:spTree>
    <p:extLst>
      <p:ext uri="{BB962C8B-B14F-4D97-AF65-F5344CB8AC3E}">
        <p14:creationId xmlns:p14="http://schemas.microsoft.com/office/powerpoint/2010/main" val="42044792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9456-E729-2AD7-FD16-F62FEDC48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D451A-48B7-A803-8585-7EE0A2397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FE492-BBF2-D6B1-0294-E43A0D5BABBA}"/>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0" i="0" dirty="0"/>
          </a:p>
        </p:txBody>
      </p:sp>
    </p:spTree>
    <p:extLst>
      <p:ext uri="{BB962C8B-B14F-4D97-AF65-F5344CB8AC3E}">
        <p14:creationId xmlns:p14="http://schemas.microsoft.com/office/powerpoint/2010/main" val="29816351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2732399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ru-RU" b="1" baseline="0" dirty="0"/>
          </a:p>
          <a:p>
            <a:pPr marL="0" indent="0">
              <a:buNone/>
            </a:pPr>
            <a:endParaRPr lang="ru-RU" b="1" baseline="0" dirty="0"/>
          </a:p>
          <a:p>
            <a:endParaRPr lang="ru-RU" b="0" baseline="0" dirty="0"/>
          </a:p>
        </p:txBody>
      </p:sp>
      <p:sp>
        <p:nvSpPr>
          <p:cNvPr id="4" name="Slide Number Placeholder 3"/>
          <p:cNvSpPr>
            <a:spLocks noGrp="1"/>
          </p:cNvSpPr>
          <p:nvPr>
            <p:ph type="sldNum" sz="quarter" idx="5"/>
          </p:nvPr>
        </p:nvSpPr>
        <p:spPr/>
        <p:txBody>
          <a:bodyPr/>
          <a:lstStyle/>
          <a:p>
            <a:fld id="{42865938-7C47-44BA-8EE7-44C4AA1CFE04}" type="slidenum">
              <a:rPr lang="ru-RU" smtClean="0"/>
              <a:t>18</a:t>
            </a:fld>
            <a:endParaRPr lang="ru-RU"/>
          </a:p>
        </p:txBody>
      </p:sp>
    </p:spTree>
    <p:extLst>
      <p:ext uri="{BB962C8B-B14F-4D97-AF65-F5344CB8AC3E}">
        <p14:creationId xmlns:p14="http://schemas.microsoft.com/office/powerpoint/2010/main" val="11324621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ru-RU" b="0" dirty="0"/>
          </a:p>
        </p:txBody>
      </p:sp>
      <p:sp>
        <p:nvSpPr>
          <p:cNvPr id="4" name="Slide Number Placeholder 3"/>
          <p:cNvSpPr>
            <a:spLocks noGrp="1"/>
          </p:cNvSpPr>
          <p:nvPr>
            <p:ph type="sldNum" sz="quarter" idx="5"/>
          </p:nvPr>
        </p:nvSpPr>
        <p:spPr/>
        <p:txBody>
          <a:bodyPr/>
          <a:lstStyle/>
          <a:p>
            <a:fld id="{42865938-7C47-44BA-8EE7-44C4AA1CFE04}" type="slidenum">
              <a:rPr lang="ru-RU" smtClean="0"/>
              <a:t>19</a:t>
            </a:fld>
            <a:endParaRPr lang="ru-RU"/>
          </a:p>
        </p:txBody>
      </p:sp>
    </p:spTree>
    <p:extLst>
      <p:ext uri="{BB962C8B-B14F-4D97-AF65-F5344CB8AC3E}">
        <p14:creationId xmlns:p14="http://schemas.microsoft.com/office/powerpoint/2010/main" val="22625860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9456-E729-2AD7-FD16-F62FEDC48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D451A-48B7-A803-8585-7EE0A2397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FE492-BBF2-D6B1-0294-E43A0D5BABBA}"/>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0" i="0" dirty="0"/>
          </a:p>
        </p:txBody>
      </p:sp>
    </p:spTree>
    <p:extLst>
      <p:ext uri="{BB962C8B-B14F-4D97-AF65-F5344CB8AC3E}">
        <p14:creationId xmlns:p14="http://schemas.microsoft.com/office/powerpoint/2010/main" val="22344080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9456-E729-2AD7-FD16-F62FEDC48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D451A-48B7-A803-8585-7EE0A2397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FE492-BBF2-D6B1-0294-E43A0D5BABBA}"/>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0" i="0" dirty="0"/>
          </a:p>
        </p:txBody>
      </p:sp>
    </p:spTree>
    <p:extLst>
      <p:ext uri="{BB962C8B-B14F-4D97-AF65-F5344CB8AC3E}">
        <p14:creationId xmlns:p14="http://schemas.microsoft.com/office/powerpoint/2010/main" val="31348506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9456-E729-2AD7-FD16-F62FEDC48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D451A-48B7-A803-8585-7EE0A2397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FE492-BBF2-D6B1-0294-E43A0D5BABBA}"/>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0" i="0" dirty="0"/>
          </a:p>
        </p:txBody>
      </p:sp>
    </p:spTree>
    <p:extLst>
      <p:ext uri="{BB962C8B-B14F-4D97-AF65-F5344CB8AC3E}">
        <p14:creationId xmlns:p14="http://schemas.microsoft.com/office/powerpoint/2010/main" val="14768308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9456-E729-2AD7-FD16-F62FEDC48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D451A-48B7-A803-8585-7EE0A2397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FE492-BBF2-D6B1-0294-E43A0D5BABBA}"/>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0" i="0" dirty="0"/>
          </a:p>
        </p:txBody>
      </p:sp>
    </p:spTree>
    <p:extLst>
      <p:ext uri="{BB962C8B-B14F-4D97-AF65-F5344CB8AC3E}">
        <p14:creationId xmlns:p14="http://schemas.microsoft.com/office/powerpoint/2010/main" val="37212015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9456-E729-2AD7-FD16-F62FEDC48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D451A-48B7-A803-8585-7EE0A2397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FE492-BBF2-D6B1-0294-E43A0D5BABBA}"/>
              </a:ext>
            </a:extLst>
          </p:cNvPr>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b="0" i="0" dirty="0"/>
          </a:p>
        </p:txBody>
      </p:sp>
    </p:spTree>
    <p:extLst>
      <p:ext uri="{BB962C8B-B14F-4D97-AF65-F5344CB8AC3E}">
        <p14:creationId xmlns:p14="http://schemas.microsoft.com/office/powerpoint/2010/main" val="34258761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sz="2000" dirty="0"/>
          </a:p>
        </p:txBody>
      </p:sp>
      <p:sp>
        <p:nvSpPr>
          <p:cNvPr id="4" name="Номер слайда 3"/>
          <p:cNvSpPr>
            <a:spLocks noGrp="1"/>
          </p:cNvSpPr>
          <p:nvPr>
            <p:ph type="sldNum" sz="quarter" idx="10"/>
          </p:nvPr>
        </p:nvSpPr>
        <p:spPr/>
        <p:txBody>
          <a:bodyPr/>
          <a:lstStyle/>
          <a:p>
            <a:fld id="{42865938-7C47-44BA-8EE7-44C4AA1CFE04}" type="slidenum">
              <a:rPr lang="ru-RU" smtClean="0"/>
              <a:t>31</a:t>
            </a:fld>
            <a:endParaRPr lang="ru-RU"/>
          </a:p>
        </p:txBody>
      </p:sp>
    </p:spTree>
    <p:extLst>
      <p:ext uri="{BB962C8B-B14F-4D97-AF65-F5344CB8AC3E}">
        <p14:creationId xmlns:p14="http://schemas.microsoft.com/office/powerpoint/2010/main" val="7830618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40135-0280-B04A-AF55-0A4364C93D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1F0FB-3BC5-B194-D1E6-19A611A667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90414-522D-B882-1041-9E5F99E3E18F}"/>
              </a:ext>
            </a:extLst>
          </p:cNvPr>
          <p:cNvSpPr>
            <a:spLocks noGrp="1"/>
          </p:cNvSpPr>
          <p:nvPr>
            <p:ph type="body" idx="1"/>
          </p:nvPr>
        </p:nvSpPr>
        <p:spPr/>
        <p:txBody>
          <a:bodyPr rtlCol="0"/>
          <a:lstStyle/>
          <a:p>
            <a:pPr marL="0" indent="0" rtl="0">
              <a:buNone/>
            </a:pPr>
            <a:endParaRPr lang="en-US" b="1" dirty="0"/>
          </a:p>
        </p:txBody>
      </p:sp>
    </p:spTree>
    <p:extLst>
      <p:ext uri="{BB962C8B-B14F-4D97-AF65-F5344CB8AC3E}">
        <p14:creationId xmlns:p14="http://schemas.microsoft.com/office/powerpoint/2010/main" val="16686963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865938-7C47-44BA-8EE7-44C4AA1CFE04}" type="slidenum">
              <a:rPr lang="ru-RU" smtClean="0"/>
              <a:t>38</a:t>
            </a:fld>
            <a:endParaRPr lang="ru-RU" dirty="0"/>
          </a:p>
        </p:txBody>
      </p:sp>
    </p:spTree>
    <p:extLst>
      <p:ext uri="{BB962C8B-B14F-4D97-AF65-F5344CB8AC3E}">
        <p14:creationId xmlns:p14="http://schemas.microsoft.com/office/powerpoint/2010/main" val="14505852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40</a:t>
            </a:fld>
            <a:endParaRPr lang="ru-RU" dirty="0"/>
          </a:p>
        </p:txBody>
      </p:sp>
    </p:spTree>
    <p:extLst>
      <p:ext uri="{BB962C8B-B14F-4D97-AF65-F5344CB8AC3E}">
        <p14:creationId xmlns:p14="http://schemas.microsoft.com/office/powerpoint/2010/main" val="10051472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41</a:t>
            </a:fld>
            <a:endParaRPr lang="ru-RU" dirty="0"/>
          </a:p>
        </p:txBody>
      </p:sp>
    </p:spTree>
    <p:extLst>
      <p:ext uri="{BB962C8B-B14F-4D97-AF65-F5344CB8AC3E}">
        <p14:creationId xmlns:p14="http://schemas.microsoft.com/office/powerpoint/2010/main" val="40518678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42</a:t>
            </a:fld>
            <a:endParaRPr lang="ru-RU" dirty="0"/>
          </a:p>
        </p:txBody>
      </p:sp>
    </p:spTree>
    <p:extLst>
      <p:ext uri="{BB962C8B-B14F-4D97-AF65-F5344CB8AC3E}">
        <p14:creationId xmlns:p14="http://schemas.microsoft.com/office/powerpoint/2010/main" val="38798245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43</a:t>
            </a:fld>
            <a:endParaRPr lang="ru-RU" dirty="0"/>
          </a:p>
        </p:txBody>
      </p:sp>
    </p:spTree>
    <p:extLst>
      <p:ext uri="{BB962C8B-B14F-4D97-AF65-F5344CB8AC3E}">
        <p14:creationId xmlns:p14="http://schemas.microsoft.com/office/powerpoint/2010/main" val="38001574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44</a:t>
            </a:fld>
            <a:endParaRPr lang="ru-RU" dirty="0"/>
          </a:p>
        </p:txBody>
      </p:sp>
    </p:spTree>
    <p:extLst>
      <p:ext uri="{BB962C8B-B14F-4D97-AF65-F5344CB8AC3E}">
        <p14:creationId xmlns:p14="http://schemas.microsoft.com/office/powerpoint/2010/main" val="23512663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45</a:t>
            </a:fld>
            <a:endParaRPr lang="ru-RU" dirty="0"/>
          </a:p>
        </p:txBody>
      </p:sp>
    </p:spTree>
    <p:extLst>
      <p:ext uri="{BB962C8B-B14F-4D97-AF65-F5344CB8AC3E}">
        <p14:creationId xmlns:p14="http://schemas.microsoft.com/office/powerpoint/2010/main" val="11651311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46</a:t>
            </a:fld>
            <a:endParaRPr lang="ru-RU" dirty="0"/>
          </a:p>
        </p:txBody>
      </p:sp>
    </p:spTree>
    <p:extLst>
      <p:ext uri="{BB962C8B-B14F-4D97-AF65-F5344CB8AC3E}">
        <p14:creationId xmlns:p14="http://schemas.microsoft.com/office/powerpoint/2010/main" val="3324186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47</a:t>
            </a:fld>
            <a:endParaRPr lang="ru-RU" dirty="0"/>
          </a:p>
        </p:txBody>
      </p:sp>
    </p:spTree>
    <p:extLst>
      <p:ext uri="{BB962C8B-B14F-4D97-AF65-F5344CB8AC3E}">
        <p14:creationId xmlns:p14="http://schemas.microsoft.com/office/powerpoint/2010/main" val="30200301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48</a:t>
            </a:fld>
            <a:endParaRPr lang="ru-RU" dirty="0"/>
          </a:p>
        </p:txBody>
      </p:sp>
    </p:spTree>
    <p:extLst>
      <p:ext uri="{BB962C8B-B14F-4D97-AF65-F5344CB8AC3E}">
        <p14:creationId xmlns:p14="http://schemas.microsoft.com/office/powerpoint/2010/main" val="26272156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49</a:t>
            </a:fld>
            <a:endParaRPr lang="ru-RU" dirty="0"/>
          </a:p>
        </p:txBody>
      </p:sp>
    </p:spTree>
    <p:extLst>
      <p:ext uri="{BB962C8B-B14F-4D97-AF65-F5344CB8AC3E}">
        <p14:creationId xmlns:p14="http://schemas.microsoft.com/office/powerpoint/2010/main" val="16976601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50</a:t>
            </a:fld>
            <a:endParaRPr lang="ru-RU" dirty="0"/>
          </a:p>
        </p:txBody>
      </p:sp>
    </p:spTree>
    <p:extLst>
      <p:ext uri="{BB962C8B-B14F-4D97-AF65-F5344CB8AC3E}">
        <p14:creationId xmlns:p14="http://schemas.microsoft.com/office/powerpoint/2010/main" val="32918872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51</a:t>
            </a:fld>
            <a:endParaRPr lang="ru-RU" dirty="0"/>
          </a:p>
        </p:txBody>
      </p:sp>
    </p:spTree>
    <p:extLst>
      <p:ext uri="{BB962C8B-B14F-4D97-AF65-F5344CB8AC3E}">
        <p14:creationId xmlns:p14="http://schemas.microsoft.com/office/powerpoint/2010/main" val="25221564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52</a:t>
            </a:fld>
            <a:endParaRPr lang="ru-RU" dirty="0"/>
          </a:p>
        </p:txBody>
      </p:sp>
    </p:spTree>
    <p:extLst>
      <p:ext uri="{BB962C8B-B14F-4D97-AF65-F5344CB8AC3E}">
        <p14:creationId xmlns:p14="http://schemas.microsoft.com/office/powerpoint/2010/main" val="7938038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57</a:t>
            </a:fld>
            <a:endParaRPr lang="ru-RU" dirty="0"/>
          </a:p>
        </p:txBody>
      </p:sp>
    </p:spTree>
    <p:extLst>
      <p:ext uri="{BB962C8B-B14F-4D97-AF65-F5344CB8AC3E}">
        <p14:creationId xmlns:p14="http://schemas.microsoft.com/office/powerpoint/2010/main" val="26350545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58</a:t>
            </a:fld>
            <a:endParaRPr lang="ru-RU" dirty="0"/>
          </a:p>
        </p:txBody>
      </p:sp>
    </p:spTree>
    <p:extLst>
      <p:ext uri="{BB962C8B-B14F-4D97-AF65-F5344CB8AC3E}">
        <p14:creationId xmlns:p14="http://schemas.microsoft.com/office/powerpoint/2010/main" val="19478699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59</a:t>
            </a:fld>
            <a:endParaRPr lang="ru-RU" dirty="0"/>
          </a:p>
        </p:txBody>
      </p:sp>
    </p:spTree>
    <p:extLst>
      <p:ext uri="{BB962C8B-B14F-4D97-AF65-F5344CB8AC3E}">
        <p14:creationId xmlns:p14="http://schemas.microsoft.com/office/powerpoint/2010/main" val="5560508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60</a:t>
            </a:fld>
            <a:endParaRPr lang="ru-RU" dirty="0"/>
          </a:p>
        </p:txBody>
      </p:sp>
    </p:spTree>
    <p:extLst>
      <p:ext uri="{BB962C8B-B14F-4D97-AF65-F5344CB8AC3E}">
        <p14:creationId xmlns:p14="http://schemas.microsoft.com/office/powerpoint/2010/main" val="25889711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42865938-7C47-44BA-8EE7-44C4AA1CFE04}" type="slidenum">
              <a:rPr lang="ru-RU" smtClean="0"/>
              <a:t>61</a:t>
            </a:fld>
            <a:endParaRPr lang="ru-RU" dirty="0"/>
          </a:p>
        </p:txBody>
      </p:sp>
    </p:spTree>
    <p:extLst>
      <p:ext uri="{BB962C8B-B14F-4D97-AF65-F5344CB8AC3E}">
        <p14:creationId xmlns:p14="http://schemas.microsoft.com/office/powerpoint/2010/main" val="185468416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5.xml"/><Relationship Id="rId7" Type="http://schemas.openxmlformats.org/officeDocument/2006/relationships/image" Target="../media/image3.jpeg"/><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4.png"/><Relationship Id="rId2" Type="http://schemas.openxmlformats.org/officeDocument/2006/relationships/tags" Target="../tags/tag6.xml"/><Relationship Id="rId1" Type="http://schemas.openxmlformats.org/officeDocument/2006/relationships/vmlDrawing" Target="../drawings/vmlDrawing3.vml"/><Relationship Id="rId6" Type="http://schemas.openxmlformats.org/officeDocument/2006/relationships/image" Target="../media/image5.jp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4.png"/><Relationship Id="rId2" Type="http://schemas.openxmlformats.org/officeDocument/2006/relationships/tags" Target="../tags/tag7.xml"/><Relationship Id="rId1" Type="http://schemas.openxmlformats.org/officeDocument/2006/relationships/vmlDrawing" Target="../drawings/vmlDrawing4.vml"/><Relationship Id="rId6" Type="http://schemas.openxmlformats.org/officeDocument/2006/relationships/image" Target="../media/image6.jpe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vmlDrawing" Target="../drawings/vmlDrawing5.v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vmlDrawing" Target="../drawings/vmlDrawing7.v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vmlDrawing" Target="../drawings/vmlDrawing8.v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vmlDrawing" Target="../drawings/vmlDrawing9.v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vmlDrawing" Target="../drawings/vmlDrawing11.v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vmlDrawing" Target="../drawings/vmlDrawing12.v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vmlDrawing" Target="../drawings/vmlDrawing13.v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vmlDrawing" Target="../drawings/vmlDrawing14.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vmlDrawing" Target="../drawings/vmlDrawing15.vml"/><Relationship Id="rId6" Type="http://schemas.openxmlformats.org/officeDocument/2006/relationships/image" Target="../media/image1.emf"/><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31.xml"/><Relationship Id="rId7" Type="http://schemas.openxmlformats.org/officeDocument/2006/relationships/image" Target="../media/image7.png"/><Relationship Id="rId2" Type="http://schemas.openxmlformats.org/officeDocument/2006/relationships/tags" Target="../tags/tag30.xml"/><Relationship Id="rId1" Type="http://schemas.openxmlformats.org/officeDocument/2006/relationships/vmlDrawing" Target="../drawings/vmlDrawing16.vml"/><Relationship Id="rId6" Type="http://schemas.openxmlformats.org/officeDocument/2006/relationships/image" Target="../media/image1.emf"/><Relationship Id="rId5" Type="http://schemas.openxmlformats.org/officeDocument/2006/relationships/oleObject" Target="../embeddings/oleObject8.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17" Type="http://schemas.openxmlformats.org/officeDocument/2006/relationships/tags" Target="../tags/tag147.xml"/><Relationship Id="rId299" Type="http://schemas.openxmlformats.org/officeDocument/2006/relationships/tags" Target="../tags/tag329.xml"/><Relationship Id="rId303" Type="http://schemas.openxmlformats.org/officeDocument/2006/relationships/tags" Target="../tags/tag333.xml"/><Relationship Id="rId21" Type="http://schemas.openxmlformats.org/officeDocument/2006/relationships/tags" Target="../tags/tag51.xml"/><Relationship Id="rId42" Type="http://schemas.openxmlformats.org/officeDocument/2006/relationships/tags" Target="../tags/tag72.xml"/><Relationship Id="rId63" Type="http://schemas.openxmlformats.org/officeDocument/2006/relationships/tags" Target="../tags/tag93.xml"/><Relationship Id="rId84" Type="http://schemas.openxmlformats.org/officeDocument/2006/relationships/tags" Target="../tags/tag114.xml"/><Relationship Id="rId138" Type="http://schemas.openxmlformats.org/officeDocument/2006/relationships/tags" Target="../tags/tag168.xml"/><Relationship Id="rId159" Type="http://schemas.openxmlformats.org/officeDocument/2006/relationships/tags" Target="../tags/tag189.xml"/><Relationship Id="rId170" Type="http://schemas.openxmlformats.org/officeDocument/2006/relationships/tags" Target="../tags/tag200.xml"/><Relationship Id="rId191" Type="http://schemas.openxmlformats.org/officeDocument/2006/relationships/tags" Target="../tags/tag221.xml"/><Relationship Id="rId205" Type="http://schemas.openxmlformats.org/officeDocument/2006/relationships/tags" Target="../tags/tag235.xml"/><Relationship Id="rId226" Type="http://schemas.openxmlformats.org/officeDocument/2006/relationships/tags" Target="../tags/tag256.xml"/><Relationship Id="rId247" Type="http://schemas.openxmlformats.org/officeDocument/2006/relationships/tags" Target="../tags/tag277.xml"/><Relationship Id="rId107" Type="http://schemas.openxmlformats.org/officeDocument/2006/relationships/tags" Target="../tags/tag137.xml"/><Relationship Id="rId268" Type="http://schemas.openxmlformats.org/officeDocument/2006/relationships/tags" Target="../tags/tag298.xml"/><Relationship Id="rId289" Type="http://schemas.openxmlformats.org/officeDocument/2006/relationships/tags" Target="../tags/tag319.xml"/><Relationship Id="rId11" Type="http://schemas.openxmlformats.org/officeDocument/2006/relationships/tags" Target="../tags/tag41.xml"/><Relationship Id="rId32" Type="http://schemas.openxmlformats.org/officeDocument/2006/relationships/tags" Target="../tags/tag62.xml"/><Relationship Id="rId53" Type="http://schemas.openxmlformats.org/officeDocument/2006/relationships/tags" Target="../tags/tag83.xml"/><Relationship Id="rId74" Type="http://schemas.openxmlformats.org/officeDocument/2006/relationships/tags" Target="../tags/tag104.xml"/><Relationship Id="rId128" Type="http://schemas.openxmlformats.org/officeDocument/2006/relationships/tags" Target="../tags/tag158.xml"/><Relationship Id="rId149" Type="http://schemas.openxmlformats.org/officeDocument/2006/relationships/tags" Target="../tags/tag179.xml"/><Relationship Id="rId314" Type="http://schemas.openxmlformats.org/officeDocument/2006/relationships/tags" Target="../tags/tag344.xml"/><Relationship Id="rId5" Type="http://schemas.openxmlformats.org/officeDocument/2006/relationships/tags" Target="../tags/tag35.xml"/><Relationship Id="rId95" Type="http://schemas.openxmlformats.org/officeDocument/2006/relationships/tags" Target="../tags/tag125.xml"/><Relationship Id="rId160" Type="http://schemas.openxmlformats.org/officeDocument/2006/relationships/tags" Target="../tags/tag190.xml"/><Relationship Id="rId181" Type="http://schemas.openxmlformats.org/officeDocument/2006/relationships/tags" Target="../tags/tag211.xml"/><Relationship Id="rId216" Type="http://schemas.openxmlformats.org/officeDocument/2006/relationships/tags" Target="../tags/tag246.xml"/><Relationship Id="rId237" Type="http://schemas.openxmlformats.org/officeDocument/2006/relationships/tags" Target="../tags/tag267.xml"/><Relationship Id="rId258" Type="http://schemas.openxmlformats.org/officeDocument/2006/relationships/tags" Target="../tags/tag288.xml"/><Relationship Id="rId279" Type="http://schemas.openxmlformats.org/officeDocument/2006/relationships/tags" Target="../tags/tag309.xml"/><Relationship Id="rId22" Type="http://schemas.openxmlformats.org/officeDocument/2006/relationships/tags" Target="../tags/tag52.xml"/><Relationship Id="rId43" Type="http://schemas.openxmlformats.org/officeDocument/2006/relationships/tags" Target="../tags/tag73.xml"/><Relationship Id="rId64" Type="http://schemas.openxmlformats.org/officeDocument/2006/relationships/tags" Target="../tags/tag94.xml"/><Relationship Id="rId118" Type="http://schemas.openxmlformats.org/officeDocument/2006/relationships/tags" Target="../tags/tag148.xml"/><Relationship Id="rId139" Type="http://schemas.openxmlformats.org/officeDocument/2006/relationships/tags" Target="../tags/tag169.xml"/><Relationship Id="rId290" Type="http://schemas.openxmlformats.org/officeDocument/2006/relationships/tags" Target="../tags/tag320.xml"/><Relationship Id="rId304" Type="http://schemas.openxmlformats.org/officeDocument/2006/relationships/tags" Target="../tags/tag334.xml"/><Relationship Id="rId85" Type="http://schemas.openxmlformats.org/officeDocument/2006/relationships/tags" Target="../tags/tag115.xml"/><Relationship Id="rId150" Type="http://schemas.openxmlformats.org/officeDocument/2006/relationships/tags" Target="../tags/tag180.xml"/><Relationship Id="rId171" Type="http://schemas.openxmlformats.org/officeDocument/2006/relationships/tags" Target="../tags/tag201.xml"/><Relationship Id="rId192" Type="http://schemas.openxmlformats.org/officeDocument/2006/relationships/tags" Target="../tags/tag222.xml"/><Relationship Id="rId206" Type="http://schemas.openxmlformats.org/officeDocument/2006/relationships/tags" Target="../tags/tag236.xml"/><Relationship Id="rId227" Type="http://schemas.openxmlformats.org/officeDocument/2006/relationships/tags" Target="../tags/tag257.xml"/><Relationship Id="rId248" Type="http://schemas.openxmlformats.org/officeDocument/2006/relationships/tags" Target="../tags/tag278.xml"/><Relationship Id="rId269" Type="http://schemas.openxmlformats.org/officeDocument/2006/relationships/tags" Target="../tags/tag299.xml"/><Relationship Id="rId12" Type="http://schemas.openxmlformats.org/officeDocument/2006/relationships/tags" Target="../tags/tag42.xml"/><Relationship Id="rId33" Type="http://schemas.openxmlformats.org/officeDocument/2006/relationships/tags" Target="../tags/tag63.xml"/><Relationship Id="rId108" Type="http://schemas.openxmlformats.org/officeDocument/2006/relationships/tags" Target="../tags/tag138.xml"/><Relationship Id="rId129" Type="http://schemas.openxmlformats.org/officeDocument/2006/relationships/tags" Target="../tags/tag159.xml"/><Relationship Id="rId280" Type="http://schemas.openxmlformats.org/officeDocument/2006/relationships/tags" Target="../tags/tag310.xml"/><Relationship Id="rId315" Type="http://schemas.openxmlformats.org/officeDocument/2006/relationships/tags" Target="../tags/tag345.xml"/><Relationship Id="rId54" Type="http://schemas.openxmlformats.org/officeDocument/2006/relationships/tags" Target="../tags/tag84.xml"/><Relationship Id="rId75" Type="http://schemas.openxmlformats.org/officeDocument/2006/relationships/tags" Target="../tags/tag105.xml"/><Relationship Id="rId96" Type="http://schemas.openxmlformats.org/officeDocument/2006/relationships/tags" Target="../tags/tag126.xml"/><Relationship Id="rId140" Type="http://schemas.openxmlformats.org/officeDocument/2006/relationships/tags" Target="../tags/tag170.xml"/><Relationship Id="rId161" Type="http://schemas.openxmlformats.org/officeDocument/2006/relationships/tags" Target="../tags/tag191.xml"/><Relationship Id="rId182" Type="http://schemas.openxmlformats.org/officeDocument/2006/relationships/tags" Target="../tags/tag212.xml"/><Relationship Id="rId217" Type="http://schemas.openxmlformats.org/officeDocument/2006/relationships/tags" Target="../tags/tag247.xml"/><Relationship Id="rId6" Type="http://schemas.openxmlformats.org/officeDocument/2006/relationships/tags" Target="../tags/tag36.xml"/><Relationship Id="rId238" Type="http://schemas.openxmlformats.org/officeDocument/2006/relationships/tags" Target="../tags/tag268.xml"/><Relationship Id="rId259" Type="http://schemas.openxmlformats.org/officeDocument/2006/relationships/tags" Target="../tags/tag289.xml"/><Relationship Id="rId23" Type="http://schemas.openxmlformats.org/officeDocument/2006/relationships/tags" Target="../tags/tag53.xml"/><Relationship Id="rId119" Type="http://schemas.openxmlformats.org/officeDocument/2006/relationships/tags" Target="../tags/tag149.xml"/><Relationship Id="rId270" Type="http://schemas.openxmlformats.org/officeDocument/2006/relationships/tags" Target="../tags/tag300.xml"/><Relationship Id="rId291" Type="http://schemas.openxmlformats.org/officeDocument/2006/relationships/tags" Target="../tags/tag321.xml"/><Relationship Id="rId305" Type="http://schemas.openxmlformats.org/officeDocument/2006/relationships/tags" Target="../tags/tag335.xml"/><Relationship Id="rId44" Type="http://schemas.openxmlformats.org/officeDocument/2006/relationships/tags" Target="../tags/tag74.xml"/><Relationship Id="rId65" Type="http://schemas.openxmlformats.org/officeDocument/2006/relationships/tags" Target="../tags/tag95.xml"/><Relationship Id="rId86" Type="http://schemas.openxmlformats.org/officeDocument/2006/relationships/tags" Target="../tags/tag116.xml"/><Relationship Id="rId130" Type="http://schemas.openxmlformats.org/officeDocument/2006/relationships/tags" Target="../tags/tag160.xml"/><Relationship Id="rId151" Type="http://schemas.openxmlformats.org/officeDocument/2006/relationships/tags" Target="../tags/tag181.xml"/><Relationship Id="rId172" Type="http://schemas.openxmlformats.org/officeDocument/2006/relationships/tags" Target="../tags/tag202.xml"/><Relationship Id="rId193" Type="http://schemas.openxmlformats.org/officeDocument/2006/relationships/tags" Target="../tags/tag223.xml"/><Relationship Id="rId207" Type="http://schemas.openxmlformats.org/officeDocument/2006/relationships/tags" Target="../tags/tag237.xml"/><Relationship Id="rId228" Type="http://schemas.openxmlformats.org/officeDocument/2006/relationships/tags" Target="../tags/tag258.xml"/><Relationship Id="rId249" Type="http://schemas.openxmlformats.org/officeDocument/2006/relationships/tags" Target="../tags/tag279.xml"/><Relationship Id="rId13" Type="http://schemas.openxmlformats.org/officeDocument/2006/relationships/tags" Target="../tags/tag43.xml"/><Relationship Id="rId109" Type="http://schemas.openxmlformats.org/officeDocument/2006/relationships/tags" Target="../tags/tag139.xml"/><Relationship Id="rId260" Type="http://schemas.openxmlformats.org/officeDocument/2006/relationships/tags" Target="../tags/tag290.xml"/><Relationship Id="rId281" Type="http://schemas.openxmlformats.org/officeDocument/2006/relationships/tags" Target="../tags/tag311.xml"/><Relationship Id="rId316" Type="http://schemas.openxmlformats.org/officeDocument/2006/relationships/slideMaster" Target="../slideMasters/slideMaster1.xml"/><Relationship Id="rId34" Type="http://schemas.openxmlformats.org/officeDocument/2006/relationships/tags" Target="../tags/tag64.xml"/><Relationship Id="rId55" Type="http://schemas.openxmlformats.org/officeDocument/2006/relationships/tags" Target="../tags/tag85.xml"/><Relationship Id="rId76" Type="http://schemas.openxmlformats.org/officeDocument/2006/relationships/tags" Target="../tags/tag106.xml"/><Relationship Id="rId97" Type="http://schemas.openxmlformats.org/officeDocument/2006/relationships/tags" Target="../tags/tag127.xml"/><Relationship Id="rId120" Type="http://schemas.openxmlformats.org/officeDocument/2006/relationships/tags" Target="../tags/tag150.xml"/><Relationship Id="rId141" Type="http://schemas.openxmlformats.org/officeDocument/2006/relationships/tags" Target="../tags/tag171.xml"/><Relationship Id="rId7" Type="http://schemas.openxmlformats.org/officeDocument/2006/relationships/tags" Target="../tags/tag37.xml"/><Relationship Id="rId162" Type="http://schemas.openxmlformats.org/officeDocument/2006/relationships/tags" Target="../tags/tag192.xml"/><Relationship Id="rId183" Type="http://schemas.openxmlformats.org/officeDocument/2006/relationships/tags" Target="../tags/tag213.xml"/><Relationship Id="rId218" Type="http://schemas.openxmlformats.org/officeDocument/2006/relationships/tags" Target="../tags/tag248.xml"/><Relationship Id="rId239" Type="http://schemas.openxmlformats.org/officeDocument/2006/relationships/tags" Target="../tags/tag269.xml"/><Relationship Id="rId250" Type="http://schemas.openxmlformats.org/officeDocument/2006/relationships/tags" Target="../tags/tag280.xml"/><Relationship Id="rId271" Type="http://schemas.openxmlformats.org/officeDocument/2006/relationships/tags" Target="../tags/tag301.xml"/><Relationship Id="rId292" Type="http://schemas.openxmlformats.org/officeDocument/2006/relationships/tags" Target="../tags/tag322.xml"/><Relationship Id="rId306" Type="http://schemas.openxmlformats.org/officeDocument/2006/relationships/tags" Target="../tags/tag336.xml"/><Relationship Id="rId24" Type="http://schemas.openxmlformats.org/officeDocument/2006/relationships/tags" Target="../tags/tag54.xml"/><Relationship Id="rId45" Type="http://schemas.openxmlformats.org/officeDocument/2006/relationships/tags" Target="../tags/tag75.xml"/><Relationship Id="rId66" Type="http://schemas.openxmlformats.org/officeDocument/2006/relationships/tags" Target="../tags/tag96.xml"/><Relationship Id="rId87" Type="http://schemas.openxmlformats.org/officeDocument/2006/relationships/tags" Target="../tags/tag117.xml"/><Relationship Id="rId110" Type="http://schemas.openxmlformats.org/officeDocument/2006/relationships/tags" Target="../tags/tag140.xml"/><Relationship Id="rId131" Type="http://schemas.openxmlformats.org/officeDocument/2006/relationships/tags" Target="../tags/tag161.xml"/><Relationship Id="rId152" Type="http://schemas.openxmlformats.org/officeDocument/2006/relationships/tags" Target="../tags/tag182.xml"/><Relationship Id="rId173" Type="http://schemas.openxmlformats.org/officeDocument/2006/relationships/tags" Target="../tags/tag203.xml"/><Relationship Id="rId194" Type="http://schemas.openxmlformats.org/officeDocument/2006/relationships/tags" Target="../tags/tag224.xml"/><Relationship Id="rId208" Type="http://schemas.openxmlformats.org/officeDocument/2006/relationships/tags" Target="../tags/tag238.xml"/><Relationship Id="rId229" Type="http://schemas.openxmlformats.org/officeDocument/2006/relationships/tags" Target="../tags/tag259.xml"/><Relationship Id="rId19" Type="http://schemas.openxmlformats.org/officeDocument/2006/relationships/tags" Target="../tags/tag49.xml"/><Relationship Id="rId224" Type="http://schemas.openxmlformats.org/officeDocument/2006/relationships/tags" Target="../tags/tag254.xml"/><Relationship Id="rId240" Type="http://schemas.openxmlformats.org/officeDocument/2006/relationships/tags" Target="../tags/tag270.xml"/><Relationship Id="rId245" Type="http://schemas.openxmlformats.org/officeDocument/2006/relationships/tags" Target="../tags/tag275.xml"/><Relationship Id="rId261" Type="http://schemas.openxmlformats.org/officeDocument/2006/relationships/tags" Target="../tags/tag291.xml"/><Relationship Id="rId266" Type="http://schemas.openxmlformats.org/officeDocument/2006/relationships/tags" Target="../tags/tag296.xml"/><Relationship Id="rId287" Type="http://schemas.openxmlformats.org/officeDocument/2006/relationships/tags" Target="../tags/tag317.xml"/><Relationship Id="rId14" Type="http://schemas.openxmlformats.org/officeDocument/2006/relationships/tags" Target="../tags/tag44.xml"/><Relationship Id="rId30" Type="http://schemas.openxmlformats.org/officeDocument/2006/relationships/tags" Target="../tags/tag60.xml"/><Relationship Id="rId35" Type="http://schemas.openxmlformats.org/officeDocument/2006/relationships/tags" Target="../tags/tag65.xml"/><Relationship Id="rId56" Type="http://schemas.openxmlformats.org/officeDocument/2006/relationships/tags" Target="../tags/tag86.xml"/><Relationship Id="rId77" Type="http://schemas.openxmlformats.org/officeDocument/2006/relationships/tags" Target="../tags/tag107.xml"/><Relationship Id="rId100" Type="http://schemas.openxmlformats.org/officeDocument/2006/relationships/tags" Target="../tags/tag130.xml"/><Relationship Id="rId105" Type="http://schemas.openxmlformats.org/officeDocument/2006/relationships/tags" Target="../tags/tag135.xml"/><Relationship Id="rId126" Type="http://schemas.openxmlformats.org/officeDocument/2006/relationships/tags" Target="../tags/tag156.xml"/><Relationship Id="rId147" Type="http://schemas.openxmlformats.org/officeDocument/2006/relationships/tags" Target="../tags/tag177.xml"/><Relationship Id="rId168" Type="http://schemas.openxmlformats.org/officeDocument/2006/relationships/tags" Target="../tags/tag198.xml"/><Relationship Id="rId282" Type="http://schemas.openxmlformats.org/officeDocument/2006/relationships/tags" Target="../tags/tag312.xml"/><Relationship Id="rId312" Type="http://schemas.openxmlformats.org/officeDocument/2006/relationships/tags" Target="../tags/tag342.xml"/><Relationship Id="rId317" Type="http://schemas.openxmlformats.org/officeDocument/2006/relationships/oleObject" Target="../embeddings/oleObject9.bin"/><Relationship Id="rId8" Type="http://schemas.openxmlformats.org/officeDocument/2006/relationships/tags" Target="../tags/tag38.xml"/><Relationship Id="rId51" Type="http://schemas.openxmlformats.org/officeDocument/2006/relationships/tags" Target="../tags/tag81.xml"/><Relationship Id="rId72" Type="http://schemas.openxmlformats.org/officeDocument/2006/relationships/tags" Target="../tags/tag102.xml"/><Relationship Id="rId93" Type="http://schemas.openxmlformats.org/officeDocument/2006/relationships/tags" Target="../tags/tag123.xml"/><Relationship Id="rId98" Type="http://schemas.openxmlformats.org/officeDocument/2006/relationships/tags" Target="../tags/tag128.xml"/><Relationship Id="rId121" Type="http://schemas.openxmlformats.org/officeDocument/2006/relationships/tags" Target="../tags/tag151.xml"/><Relationship Id="rId142" Type="http://schemas.openxmlformats.org/officeDocument/2006/relationships/tags" Target="../tags/tag172.xml"/><Relationship Id="rId163" Type="http://schemas.openxmlformats.org/officeDocument/2006/relationships/tags" Target="../tags/tag193.xml"/><Relationship Id="rId184" Type="http://schemas.openxmlformats.org/officeDocument/2006/relationships/tags" Target="../tags/tag214.xml"/><Relationship Id="rId189" Type="http://schemas.openxmlformats.org/officeDocument/2006/relationships/tags" Target="../tags/tag219.xml"/><Relationship Id="rId219" Type="http://schemas.openxmlformats.org/officeDocument/2006/relationships/tags" Target="../tags/tag249.xml"/><Relationship Id="rId3" Type="http://schemas.openxmlformats.org/officeDocument/2006/relationships/tags" Target="../tags/tag33.xml"/><Relationship Id="rId214" Type="http://schemas.openxmlformats.org/officeDocument/2006/relationships/tags" Target="../tags/tag244.xml"/><Relationship Id="rId230" Type="http://schemas.openxmlformats.org/officeDocument/2006/relationships/tags" Target="../tags/tag260.xml"/><Relationship Id="rId235" Type="http://schemas.openxmlformats.org/officeDocument/2006/relationships/tags" Target="../tags/tag265.xml"/><Relationship Id="rId251" Type="http://schemas.openxmlformats.org/officeDocument/2006/relationships/tags" Target="../tags/tag281.xml"/><Relationship Id="rId256" Type="http://schemas.openxmlformats.org/officeDocument/2006/relationships/tags" Target="../tags/tag286.xml"/><Relationship Id="rId277" Type="http://schemas.openxmlformats.org/officeDocument/2006/relationships/tags" Target="../tags/tag307.xml"/><Relationship Id="rId298" Type="http://schemas.openxmlformats.org/officeDocument/2006/relationships/tags" Target="../tags/tag328.xml"/><Relationship Id="rId25" Type="http://schemas.openxmlformats.org/officeDocument/2006/relationships/tags" Target="../tags/tag55.xml"/><Relationship Id="rId46" Type="http://schemas.openxmlformats.org/officeDocument/2006/relationships/tags" Target="../tags/tag76.xml"/><Relationship Id="rId67" Type="http://schemas.openxmlformats.org/officeDocument/2006/relationships/tags" Target="../tags/tag97.xml"/><Relationship Id="rId116" Type="http://schemas.openxmlformats.org/officeDocument/2006/relationships/tags" Target="../tags/tag146.xml"/><Relationship Id="rId137" Type="http://schemas.openxmlformats.org/officeDocument/2006/relationships/tags" Target="../tags/tag167.xml"/><Relationship Id="rId158" Type="http://schemas.openxmlformats.org/officeDocument/2006/relationships/tags" Target="../tags/tag188.xml"/><Relationship Id="rId272" Type="http://schemas.openxmlformats.org/officeDocument/2006/relationships/tags" Target="../tags/tag302.xml"/><Relationship Id="rId293" Type="http://schemas.openxmlformats.org/officeDocument/2006/relationships/tags" Target="../tags/tag323.xml"/><Relationship Id="rId302" Type="http://schemas.openxmlformats.org/officeDocument/2006/relationships/tags" Target="../tags/tag332.xml"/><Relationship Id="rId307" Type="http://schemas.openxmlformats.org/officeDocument/2006/relationships/tags" Target="../tags/tag337.xml"/><Relationship Id="rId20" Type="http://schemas.openxmlformats.org/officeDocument/2006/relationships/tags" Target="../tags/tag50.xml"/><Relationship Id="rId41" Type="http://schemas.openxmlformats.org/officeDocument/2006/relationships/tags" Target="../tags/tag71.xml"/><Relationship Id="rId62" Type="http://schemas.openxmlformats.org/officeDocument/2006/relationships/tags" Target="../tags/tag92.xml"/><Relationship Id="rId83" Type="http://schemas.openxmlformats.org/officeDocument/2006/relationships/tags" Target="../tags/tag113.xml"/><Relationship Id="rId88" Type="http://schemas.openxmlformats.org/officeDocument/2006/relationships/tags" Target="../tags/tag118.xml"/><Relationship Id="rId111" Type="http://schemas.openxmlformats.org/officeDocument/2006/relationships/tags" Target="../tags/tag141.xml"/><Relationship Id="rId132" Type="http://schemas.openxmlformats.org/officeDocument/2006/relationships/tags" Target="../tags/tag162.xml"/><Relationship Id="rId153" Type="http://schemas.openxmlformats.org/officeDocument/2006/relationships/tags" Target="../tags/tag183.xml"/><Relationship Id="rId174" Type="http://schemas.openxmlformats.org/officeDocument/2006/relationships/tags" Target="../tags/tag204.xml"/><Relationship Id="rId179" Type="http://schemas.openxmlformats.org/officeDocument/2006/relationships/tags" Target="../tags/tag209.xml"/><Relationship Id="rId195" Type="http://schemas.openxmlformats.org/officeDocument/2006/relationships/tags" Target="../tags/tag225.xml"/><Relationship Id="rId209" Type="http://schemas.openxmlformats.org/officeDocument/2006/relationships/tags" Target="../tags/tag239.xml"/><Relationship Id="rId190" Type="http://schemas.openxmlformats.org/officeDocument/2006/relationships/tags" Target="../tags/tag220.xml"/><Relationship Id="rId204" Type="http://schemas.openxmlformats.org/officeDocument/2006/relationships/tags" Target="../tags/tag234.xml"/><Relationship Id="rId220" Type="http://schemas.openxmlformats.org/officeDocument/2006/relationships/tags" Target="../tags/tag250.xml"/><Relationship Id="rId225" Type="http://schemas.openxmlformats.org/officeDocument/2006/relationships/tags" Target="../tags/tag255.xml"/><Relationship Id="rId241" Type="http://schemas.openxmlformats.org/officeDocument/2006/relationships/tags" Target="../tags/tag271.xml"/><Relationship Id="rId246" Type="http://schemas.openxmlformats.org/officeDocument/2006/relationships/tags" Target="../tags/tag276.xml"/><Relationship Id="rId267" Type="http://schemas.openxmlformats.org/officeDocument/2006/relationships/tags" Target="../tags/tag297.xml"/><Relationship Id="rId288" Type="http://schemas.openxmlformats.org/officeDocument/2006/relationships/tags" Target="../tags/tag318.xml"/><Relationship Id="rId15" Type="http://schemas.openxmlformats.org/officeDocument/2006/relationships/tags" Target="../tags/tag45.xml"/><Relationship Id="rId36" Type="http://schemas.openxmlformats.org/officeDocument/2006/relationships/tags" Target="../tags/tag66.xml"/><Relationship Id="rId57" Type="http://schemas.openxmlformats.org/officeDocument/2006/relationships/tags" Target="../tags/tag87.xml"/><Relationship Id="rId106" Type="http://schemas.openxmlformats.org/officeDocument/2006/relationships/tags" Target="../tags/tag136.xml"/><Relationship Id="rId127" Type="http://schemas.openxmlformats.org/officeDocument/2006/relationships/tags" Target="../tags/tag157.xml"/><Relationship Id="rId262" Type="http://schemas.openxmlformats.org/officeDocument/2006/relationships/tags" Target="../tags/tag292.xml"/><Relationship Id="rId283" Type="http://schemas.openxmlformats.org/officeDocument/2006/relationships/tags" Target="../tags/tag313.xml"/><Relationship Id="rId313" Type="http://schemas.openxmlformats.org/officeDocument/2006/relationships/tags" Target="../tags/tag343.xml"/><Relationship Id="rId318" Type="http://schemas.openxmlformats.org/officeDocument/2006/relationships/image" Target="../media/image1.emf"/><Relationship Id="rId10" Type="http://schemas.openxmlformats.org/officeDocument/2006/relationships/tags" Target="../tags/tag40.xml"/><Relationship Id="rId31" Type="http://schemas.openxmlformats.org/officeDocument/2006/relationships/tags" Target="../tags/tag61.xml"/><Relationship Id="rId52" Type="http://schemas.openxmlformats.org/officeDocument/2006/relationships/tags" Target="../tags/tag82.xml"/><Relationship Id="rId73" Type="http://schemas.openxmlformats.org/officeDocument/2006/relationships/tags" Target="../tags/tag103.xml"/><Relationship Id="rId78" Type="http://schemas.openxmlformats.org/officeDocument/2006/relationships/tags" Target="../tags/tag108.xml"/><Relationship Id="rId94" Type="http://schemas.openxmlformats.org/officeDocument/2006/relationships/tags" Target="../tags/tag124.xml"/><Relationship Id="rId99" Type="http://schemas.openxmlformats.org/officeDocument/2006/relationships/tags" Target="../tags/tag129.xml"/><Relationship Id="rId101" Type="http://schemas.openxmlformats.org/officeDocument/2006/relationships/tags" Target="../tags/tag131.xml"/><Relationship Id="rId122" Type="http://schemas.openxmlformats.org/officeDocument/2006/relationships/tags" Target="../tags/tag152.xml"/><Relationship Id="rId143" Type="http://schemas.openxmlformats.org/officeDocument/2006/relationships/tags" Target="../tags/tag173.xml"/><Relationship Id="rId148" Type="http://schemas.openxmlformats.org/officeDocument/2006/relationships/tags" Target="../tags/tag178.xml"/><Relationship Id="rId164" Type="http://schemas.openxmlformats.org/officeDocument/2006/relationships/tags" Target="../tags/tag194.xml"/><Relationship Id="rId169" Type="http://schemas.openxmlformats.org/officeDocument/2006/relationships/tags" Target="../tags/tag199.xml"/><Relationship Id="rId185" Type="http://schemas.openxmlformats.org/officeDocument/2006/relationships/tags" Target="../tags/tag215.xml"/><Relationship Id="rId4" Type="http://schemas.openxmlformats.org/officeDocument/2006/relationships/tags" Target="../tags/tag34.xml"/><Relationship Id="rId9" Type="http://schemas.openxmlformats.org/officeDocument/2006/relationships/tags" Target="../tags/tag39.xml"/><Relationship Id="rId180" Type="http://schemas.openxmlformats.org/officeDocument/2006/relationships/tags" Target="../tags/tag210.xml"/><Relationship Id="rId210" Type="http://schemas.openxmlformats.org/officeDocument/2006/relationships/tags" Target="../tags/tag240.xml"/><Relationship Id="rId215" Type="http://schemas.openxmlformats.org/officeDocument/2006/relationships/tags" Target="../tags/tag245.xml"/><Relationship Id="rId236" Type="http://schemas.openxmlformats.org/officeDocument/2006/relationships/tags" Target="../tags/tag266.xml"/><Relationship Id="rId257" Type="http://schemas.openxmlformats.org/officeDocument/2006/relationships/tags" Target="../tags/tag287.xml"/><Relationship Id="rId278" Type="http://schemas.openxmlformats.org/officeDocument/2006/relationships/tags" Target="../tags/tag308.xml"/><Relationship Id="rId26" Type="http://schemas.openxmlformats.org/officeDocument/2006/relationships/tags" Target="../tags/tag56.xml"/><Relationship Id="rId231" Type="http://schemas.openxmlformats.org/officeDocument/2006/relationships/tags" Target="../tags/tag261.xml"/><Relationship Id="rId252" Type="http://schemas.openxmlformats.org/officeDocument/2006/relationships/tags" Target="../tags/tag282.xml"/><Relationship Id="rId273" Type="http://schemas.openxmlformats.org/officeDocument/2006/relationships/tags" Target="../tags/tag303.xml"/><Relationship Id="rId294" Type="http://schemas.openxmlformats.org/officeDocument/2006/relationships/tags" Target="../tags/tag324.xml"/><Relationship Id="rId308" Type="http://schemas.openxmlformats.org/officeDocument/2006/relationships/tags" Target="../tags/tag338.xml"/><Relationship Id="rId47" Type="http://schemas.openxmlformats.org/officeDocument/2006/relationships/tags" Target="../tags/tag77.xml"/><Relationship Id="rId68" Type="http://schemas.openxmlformats.org/officeDocument/2006/relationships/tags" Target="../tags/tag98.xml"/><Relationship Id="rId89" Type="http://schemas.openxmlformats.org/officeDocument/2006/relationships/tags" Target="../tags/tag119.xml"/><Relationship Id="rId112" Type="http://schemas.openxmlformats.org/officeDocument/2006/relationships/tags" Target="../tags/tag142.xml"/><Relationship Id="rId133" Type="http://schemas.openxmlformats.org/officeDocument/2006/relationships/tags" Target="../tags/tag163.xml"/><Relationship Id="rId154" Type="http://schemas.openxmlformats.org/officeDocument/2006/relationships/tags" Target="../tags/tag184.xml"/><Relationship Id="rId175" Type="http://schemas.openxmlformats.org/officeDocument/2006/relationships/tags" Target="../tags/tag205.xml"/><Relationship Id="rId196" Type="http://schemas.openxmlformats.org/officeDocument/2006/relationships/tags" Target="../tags/tag226.xml"/><Relationship Id="rId200" Type="http://schemas.openxmlformats.org/officeDocument/2006/relationships/tags" Target="../tags/tag230.xml"/><Relationship Id="rId16" Type="http://schemas.openxmlformats.org/officeDocument/2006/relationships/tags" Target="../tags/tag46.xml"/><Relationship Id="rId221" Type="http://schemas.openxmlformats.org/officeDocument/2006/relationships/tags" Target="../tags/tag251.xml"/><Relationship Id="rId242" Type="http://schemas.openxmlformats.org/officeDocument/2006/relationships/tags" Target="../tags/tag272.xml"/><Relationship Id="rId263" Type="http://schemas.openxmlformats.org/officeDocument/2006/relationships/tags" Target="../tags/tag293.xml"/><Relationship Id="rId284" Type="http://schemas.openxmlformats.org/officeDocument/2006/relationships/tags" Target="../tags/tag314.xml"/><Relationship Id="rId319" Type="http://schemas.openxmlformats.org/officeDocument/2006/relationships/image" Target="../media/image8.png"/><Relationship Id="rId37" Type="http://schemas.openxmlformats.org/officeDocument/2006/relationships/tags" Target="../tags/tag67.xml"/><Relationship Id="rId58" Type="http://schemas.openxmlformats.org/officeDocument/2006/relationships/tags" Target="../tags/tag88.xml"/><Relationship Id="rId79" Type="http://schemas.openxmlformats.org/officeDocument/2006/relationships/tags" Target="../tags/tag109.xml"/><Relationship Id="rId102" Type="http://schemas.openxmlformats.org/officeDocument/2006/relationships/tags" Target="../tags/tag132.xml"/><Relationship Id="rId123" Type="http://schemas.openxmlformats.org/officeDocument/2006/relationships/tags" Target="../tags/tag153.xml"/><Relationship Id="rId144" Type="http://schemas.openxmlformats.org/officeDocument/2006/relationships/tags" Target="../tags/tag174.xml"/><Relationship Id="rId90" Type="http://schemas.openxmlformats.org/officeDocument/2006/relationships/tags" Target="../tags/tag120.xml"/><Relationship Id="rId165" Type="http://schemas.openxmlformats.org/officeDocument/2006/relationships/tags" Target="../tags/tag195.xml"/><Relationship Id="rId186" Type="http://schemas.openxmlformats.org/officeDocument/2006/relationships/tags" Target="../tags/tag216.xml"/><Relationship Id="rId211" Type="http://schemas.openxmlformats.org/officeDocument/2006/relationships/tags" Target="../tags/tag241.xml"/><Relationship Id="rId232" Type="http://schemas.openxmlformats.org/officeDocument/2006/relationships/tags" Target="../tags/tag262.xml"/><Relationship Id="rId253" Type="http://schemas.openxmlformats.org/officeDocument/2006/relationships/tags" Target="../tags/tag283.xml"/><Relationship Id="rId274" Type="http://schemas.openxmlformats.org/officeDocument/2006/relationships/tags" Target="../tags/tag304.xml"/><Relationship Id="rId295" Type="http://schemas.openxmlformats.org/officeDocument/2006/relationships/tags" Target="../tags/tag325.xml"/><Relationship Id="rId309" Type="http://schemas.openxmlformats.org/officeDocument/2006/relationships/tags" Target="../tags/tag339.xml"/><Relationship Id="rId27" Type="http://schemas.openxmlformats.org/officeDocument/2006/relationships/tags" Target="../tags/tag57.xml"/><Relationship Id="rId48" Type="http://schemas.openxmlformats.org/officeDocument/2006/relationships/tags" Target="../tags/tag78.xml"/><Relationship Id="rId69" Type="http://schemas.openxmlformats.org/officeDocument/2006/relationships/tags" Target="../tags/tag99.xml"/><Relationship Id="rId113" Type="http://schemas.openxmlformats.org/officeDocument/2006/relationships/tags" Target="../tags/tag143.xml"/><Relationship Id="rId134" Type="http://schemas.openxmlformats.org/officeDocument/2006/relationships/tags" Target="../tags/tag164.xml"/><Relationship Id="rId320" Type="http://schemas.openxmlformats.org/officeDocument/2006/relationships/image" Target="../media/image9.png"/><Relationship Id="rId80" Type="http://schemas.openxmlformats.org/officeDocument/2006/relationships/tags" Target="../tags/tag110.xml"/><Relationship Id="rId155" Type="http://schemas.openxmlformats.org/officeDocument/2006/relationships/tags" Target="../tags/tag185.xml"/><Relationship Id="rId176" Type="http://schemas.openxmlformats.org/officeDocument/2006/relationships/tags" Target="../tags/tag206.xml"/><Relationship Id="rId197" Type="http://schemas.openxmlformats.org/officeDocument/2006/relationships/tags" Target="../tags/tag227.xml"/><Relationship Id="rId201" Type="http://schemas.openxmlformats.org/officeDocument/2006/relationships/tags" Target="../tags/tag231.xml"/><Relationship Id="rId222" Type="http://schemas.openxmlformats.org/officeDocument/2006/relationships/tags" Target="../tags/tag252.xml"/><Relationship Id="rId243" Type="http://schemas.openxmlformats.org/officeDocument/2006/relationships/tags" Target="../tags/tag273.xml"/><Relationship Id="rId264" Type="http://schemas.openxmlformats.org/officeDocument/2006/relationships/tags" Target="../tags/tag294.xml"/><Relationship Id="rId285" Type="http://schemas.openxmlformats.org/officeDocument/2006/relationships/tags" Target="../tags/tag315.xml"/><Relationship Id="rId17" Type="http://schemas.openxmlformats.org/officeDocument/2006/relationships/tags" Target="../tags/tag47.xml"/><Relationship Id="rId38" Type="http://schemas.openxmlformats.org/officeDocument/2006/relationships/tags" Target="../tags/tag68.xml"/><Relationship Id="rId59" Type="http://schemas.openxmlformats.org/officeDocument/2006/relationships/tags" Target="../tags/tag89.xml"/><Relationship Id="rId103" Type="http://schemas.openxmlformats.org/officeDocument/2006/relationships/tags" Target="../tags/tag133.xml"/><Relationship Id="rId124" Type="http://schemas.openxmlformats.org/officeDocument/2006/relationships/tags" Target="../tags/tag154.xml"/><Relationship Id="rId310" Type="http://schemas.openxmlformats.org/officeDocument/2006/relationships/tags" Target="../tags/tag340.xml"/><Relationship Id="rId70" Type="http://schemas.openxmlformats.org/officeDocument/2006/relationships/tags" Target="../tags/tag100.xml"/><Relationship Id="rId91" Type="http://schemas.openxmlformats.org/officeDocument/2006/relationships/tags" Target="../tags/tag121.xml"/><Relationship Id="rId145" Type="http://schemas.openxmlformats.org/officeDocument/2006/relationships/tags" Target="../tags/tag175.xml"/><Relationship Id="rId166" Type="http://schemas.openxmlformats.org/officeDocument/2006/relationships/tags" Target="../tags/tag196.xml"/><Relationship Id="rId187" Type="http://schemas.openxmlformats.org/officeDocument/2006/relationships/tags" Target="../tags/tag217.xml"/><Relationship Id="rId1" Type="http://schemas.openxmlformats.org/officeDocument/2006/relationships/vmlDrawing" Target="../drawings/vmlDrawing17.vml"/><Relationship Id="rId212" Type="http://schemas.openxmlformats.org/officeDocument/2006/relationships/tags" Target="../tags/tag242.xml"/><Relationship Id="rId233" Type="http://schemas.openxmlformats.org/officeDocument/2006/relationships/tags" Target="../tags/tag263.xml"/><Relationship Id="rId254" Type="http://schemas.openxmlformats.org/officeDocument/2006/relationships/tags" Target="../tags/tag284.xml"/><Relationship Id="rId28" Type="http://schemas.openxmlformats.org/officeDocument/2006/relationships/tags" Target="../tags/tag58.xml"/><Relationship Id="rId49" Type="http://schemas.openxmlformats.org/officeDocument/2006/relationships/tags" Target="../tags/tag79.xml"/><Relationship Id="rId114" Type="http://schemas.openxmlformats.org/officeDocument/2006/relationships/tags" Target="../tags/tag144.xml"/><Relationship Id="rId275" Type="http://schemas.openxmlformats.org/officeDocument/2006/relationships/tags" Target="../tags/tag305.xml"/><Relationship Id="rId296" Type="http://schemas.openxmlformats.org/officeDocument/2006/relationships/tags" Target="../tags/tag326.xml"/><Relationship Id="rId300" Type="http://schemas.openxmlformats.org/officeDocument/2006/relationships/tags" Target="../tags/tag330.xml"/><Relationship Id="rId60" Type="http://schemas.openxmlformats.org/officeDocument/2006/relationships/tags" Target="../tags/tag90.xml"/><Relationship Id="rId81" Type="http://schemas.openxmlformats.org/officeDocument/2006/relationships/tags" Target="../tags/tag111.xml"/><Relationship Id="rId135" Type="http://schemas.openxmlformats.org/officeDocument/2006/relationships/tags" Target="../tags/tag165.xml"/><Relationship Id="rId156" Type="http://schemas.openxmlformats.org/officeDocument/2006/relationships/tags" Target="../tags/tag186.xml"/><Relationship Id="rId177" Type="http://schemas.openxmlformats.org/officeDocument/2006/relationships/tags" Target="../tags/tag207.xml"/><Relationship Id="rId198" Type="http://schemas.openxmlformats.org/officeDocument/2006/relationships/tags" Target="../tags/tag228.xml"/><Relationship Id="rId202" Type="http://schemas.openxmlformats.org/officeDocument/2006/relationships/tags" Target="../tags/tag232.xml"/><Relationship Id="rId223" Type="http://schemas.openxmlformats.org/officeDocument/2006/relationships/tags" Target="../tags/tag253.xml"/><Relationship Id="rId244" Type="http://schemas.openxmlformats.org/officeDocument/2006/relationships/tags" Target="../tags/tag274.xml"/><Relationship Id="rId18" Type="http://schemas.openxmlformats.org/officeDocument/2006/relationships/tags" Target="../tags/tag48.xml"/><Relationship Id="rId39" Type="http://schemas.openxmlformats.org/officeDocument/2006/relationships/tags" Target="../tags/tag69.xml"/><Relationship Id="rId265" Type="http://schemas.openxmlformats.org/officeDocument/2006/relationships/tags" Target="../tags/tag295.xml"/><Relationship Id="rId286" Type="http://schemas.openxmlformats.org/officeDocument/2006/relationships/tags" Target="../tags/tag316.xml"/><Relationship Id="rId50" Type="http://schemas.openxmlformats.org/officeDocument/2006/relationships/tags" Target="../tags/tag80.xml"/><Relationship Id="rId104" Type="http://schemas.openxmlformats.org/officeDocument/2006/relationships/tags" Target="../tags/tag134.xml"/><Relationship Id="rId125" Type="http://schemas.openxmlformats.org/officeDocument/2006/relationships/tags" Target="../tags/tag155.xml"/><Relationship Id="rId146" Type="http://schemas.openxmlformats.org/officeDocument/2006/relationships/tags" Target="../tags/tag176.xml"/><Relationship Id="rId167" Type="http://schemas.openxmlformats.org/officeDocument/2006/relationships/tags" Target="../tags/tag197.xml"/><Relationship Id="rId188" Type="http://schemas.openxmlformats.org/officeDocument/2006/relationships/tags" Target="../tags/tag218.xml"/><Relationship Id="rId311" Type="http://schemas.openxmlformats.org/officeDocument/2006/relationships/tags" Target="../tags/tag341.xml"/><Relationship Id="rId71" Type="http://schemas.openxmlformats.org/officeDocument/2006/relationships/tags" Target="../tags/tag101.xml"/><Relationship Id="rId92" Type="http://schemas.openxmlformats.org/officeDocument/2006/relationships/tags" Target="../tags/tag122.xml"/><Relationship Id="rId213" Type="http://schemas.openxmlformats.org/officeDocument/2006/relationships/tags" Target="../tags/tag243.xml"/><Relationship Id="rId234" Type="http://schemas.openxmlformats.org/officeDocument/2006/relationships/tags" Target="../tags/tag264.xml"/><Relationship Id="rId2" Type="http://schemas.openxmlformats.org/officeDocument/2006/relationships/tags" Target="../tags/tag32.xml"/><Relationship Id="rId29" Type="http://schemas.openxmlformats.org/officeDocument/2006/relationships/tags" Target="../tags/tag59.xml"/><Relationship Id="rId255" Type="http://schemas.openxmlformats.org/officeDocument/2006/relationships/tags" Target="../tags/tag285.xml"/><Relationship Id="rId276" Type="http://schemas.openxmlformats.org/officeDocument/2006/relationships/tags" Target="../tags/tag306.xml"/><Relationship Id="rId297" Type="http://schemas.openxmlformats.org/officeDocument/2006/relationships/tags" Target="../tags/tag327.xml"/><Relationship Id="rId40" Type="http://schemas.openxmlformats.org/officeDocument/2006/relationships/tags" Target="../tags/tag70.xml"/><Relationship Id="rId115" Type="http://schemas.openxmlformats.org/officeDocument/2006/relationships/tags" Target="../tags/tag145.xml"/><Relationship Id="rId136" Type="http://schemas.openxmlformats.org/officeDocument/2006/relationships/tags" Target="../tags/tag166.xml"/><Relationship Id="rId157" Type="http://schemas.openxmlformats.org/officeDocument/2006/relationships/tags" Target="../tags/tag187.xml"/><Relationship Id="rId178" Type="http://schemas.openxmlformats.org/officeDocument/2006/relationships/tags" Target="../tags/tag208.xml"/><Relationship Id="rId301" Type="http://schemas.openxmlformats.org/officeDocument/2006/relationships/tags" Target="../tags/tag331.xml"/><Relationship Id="rId61" Type="http://schemas.openxmlformats.org/officeDocument/2006/relationships/tags" Target="../tags/tag91.xml"/><Relationship Id="rId82" Type="http://schemas.openxmlformats.org/officeDocument/2006/relationships/tags" Target="../tags/tag112.xml"/><Relationship Id="rId199" Type="http://schemas.openxmlformats.org/officeDocument/2006/relationships/tags" Target="../tags/tag229.xml"/><Relationship Id="rId203" Type="http://schemas.openxmlformats.org/officeDocument/2006/relationships/tags" Target="../tags/tag23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46_Title slid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3370121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473" name="think-cell Slide" r:id="rId5" imgW="594" imgH="595" progId="TCLayout.ActiveDocument.1">
                  <p:embed/>
                </p:oleObj>
              </mc:Choice>
              <mc:Fallback>
                <p:oleObj name="think-cell Slide" r:id="rId5" imgW="594" imgH="595"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3"/>
            </p:custDataLst>
          </p:nvPr>
        </p:nvSpPr>
        <p:spPr>
          <a:xfrm>
            <a:off x="0" y="0"/>
            <a:ext cx="158750" cy="15875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1800" b="0" i="0" baseline="0" dirty="0">
              <a:solidFill>
                <a:schemeClr val="tx1"/>
              </a:solidFill>
              <a:latin typeface="Arial" panose="020B0604020202020204" pitchFamily="34" charset="0"/>
              <a:ea typeface="+mj-ea"/>
              <a:cs typeface="+mj-cs"/>
              <a:sym typeface="Arial" panose="020B0604020202020204" pitchFamily="34" charset="0"/>
            </a:endParaRPr>
          </a:p>
        </p:txBody>
      </p:sp>
      <p:pic>
        <p:nvPicPr>
          <p:cNvPr id="2" name="Picture 1"/>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0" y="0"/>
            <a:ext cx="12192000" cy="6880225"/>
          </a:xfrm>
          <a:prstGeom prst="rect">
            <a:avLst/>
          </a:prstGeom>
        </p:spPr>
      </p:pic>
      <p:sp>
        <p:nvSpPr>
          <p:cNvPr id="38" name="Rectangle 37"/>
          <p:cNvSpPr/>
          <p:nvPr userDrawn="1"/>
        </p:nvSpPr>
        <p:spPr>
          <a:xfrm>
            <a:off x="0" y="0"/>
            <a:ext cx="12192000" cy="6880225"/>
          </a:xfrm>
          <a:prstGeom prst="rect">
            <a:avLst/>
          </a:prstGeom>
          <a:gradFill flip="none" rotWithShape="1">
            <a:gsLst>
              <a:gs pos="100000">
                <a:schemeClr val="bg1">
                  <a:alpha val="0"/>
                </a:schemeClr>
              </a:gs>
              <a:gs pos="0">
                <a:srgbClr val="000000">
                  <a:alpha val="58000"/>
                </a:srgbClr>
              </a:gs>
              <a:gs pos="44000">
                <a:srgbClr val="000000">
                  <a:alpha val="0"/>
                </a:srgbClr>
              </a:gs>
            </a:gsLst>
            <a:lin ang="18900000" scaled="1"/>
            <a:tileRect/>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6" name="Text Placeholder 5"/>
          <p:cNvSpPr>
            <a:spLocks noGrp="1"/>
          </p:cNvSpPr>
          <p:nvPr userDrawn="1">
            <p:ph type="body" sz="quarter" idx="13" hasCustomPrompt="1"/>
          </p:nvPr>
        </p:nvSpPr>
        <p:spPr>
          <a:xfrm>
            <a:off x="323033" y="5243514"/>
            <a:ext cx="5701529" cy="908050"/>
          </a:xfrm>
          <a:prstGeom prst="rect">
            <a:avLst/>
          </a:prstGeom>
        </p:spPr>
        <p:txBody>
          <a:bodyPr lIns="0" tIns="0" rIns="0" bIns="0" anchor="b" anchorCtr="0"/>
          <a:lstStyle>
            <a:lvl1pPr marL="0" marR="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sz="1800">
                <a:solidFill>
                  <a:schemeClr val="bg1"/>
                </a:solidFill>
              </a:defRPr>
            </a:lvl1pPr>
            <a:lvl2pPr marL="291586" indent="0">
              <a:buNone/>
              <a:defRPr>
                <a:solidFill>
                  <a:schemeClr val="bg1"/>
                </a:solidFill>
              </a:defRPr>
            </a:lvl2pPr>
            <a:lvl3pPr marL="583171" indent="0">
              <a:buNone/>
              <a:defRPr>
                <a:solidFill>
                  <a:schemeClr val="bg1"/>
                </a:solidFill>
              </a:defRPr>
            </a:lvl3pPr>
            <a:lvl4pPr marL="874756" indent="0">
              <a:buNone/>
              <a:defRPr>
                <a:solidFill>
                  <a:schemeClr val="bg1"/>
                </a:solidFill>
              </a:defRPr>
            </a:lvl4pPr>
            <a:lvl5pPr marL="1166341" indent="0">
              <a:buNone/>
              <a:defRPr>
                <a:solidFill>
                  <a:schemeClr val="bg1"/>
                </a:solidFill>
              </a:defRPr>
            </a:lvl5pPr>
          </a:lstStyle>
          <a:p>
            <a:pPr lvl="0"/>
            <a:r>
              <a:rPr lang="en-US" dirty="0"/>
              <a:t>Click to insert name</a:t>
            </a:r>
          </a:p>
        </p:txBody>
      </p:sp>
      <p:sp>
        <p:nvSpPr>
          <p:cNvPr id="4" name="Text Placeholder 3"/>
          <p:cNvSpPr>
            <a:spLocks noGrp="1"/>
          </p:cNvSpPr>
          <p:nvPr userDrawn="1">
            <p:ph type="body" sz="quarter" idx="12" hasCustomPrompt="1"/>
          </p:nvPr>
        </p:nvSpPr>
        <p:spPr>
          <a:xfrm>
            <a:off x="323033" y="1614489"/>
            <a:ext cx="5701529" cy="1811336"/>
          </a:xfrm>
          <a:prstGeom prst="rect">
            <a:avLst/>
          </a:prstGeom>
        </p:spPr>
        <p:txBody>
          <a:bodyPr lIns="0" tIns="0" rIns="0" bIns="0"/>
          <a:lstStyle>
            <a:lvl1pPr marL="0" marR="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sz="2400" b="1" baseline="0">
                <a:solidFill>
                  <a:schemeClr val="bg1"/>
                </a:solidFill>
              </a:defRPr>
            </a:lvl1pPr>
            <a:lvl2pPr marL="291586" indent="0">
              <a:buNone/>
              <a:defRPr>
                <a:solidFill>
                  <a:schemeClr val="bg1"/>
                </a:solidFill>
              </a:defRPr>
            </a:lvl2pPr>
            <a:lvl3pPr marL="583171" indent="0">
              <a:buNone/>
              <a:defRPr>
                <a:solidFill>
                  <a:schemeClr val="bg1"/>
                </a:solidFill>
              </a:defRPr>
            </a:lvl3pPr>
            <a:lvl4pPr marL="874756" indent="0">
              <a:buNone/>
              <a:defRPr>
                <a:solidFill>
                  <a:schemeClr val="bg1"/>
                </a:solidFill>
              </a:defRPr>
            </a:lvl4pPr>
            <a:lvl5pPr marL="1166341" indent="0">
              <a:buNone/>
              <a:defRPr>
                <a:solidFill>
                  <a:schemeClr val="bg1"/>
                </a:solidFill>
              </a:defRPr>
            </a:lvl5pPr>
          </a:lstStyle>
          <a:p>
            <a:pPr lvl="0"/>
            <a:r>
              <a:rPr lang="en-US" dirty="0"/>
              <a:t>Click to insert presentation title</a:t>
            </a:r>
          </a:p>
        </p:txBody>
      </p:sp>
      <p:grpSp>
        <p:nvGrpSpPr>
          <p:cNvPr id="34" name="Group 33"/>
          <p:cNvGrpSpPr/>
          <p:nvPr userDrawn="1"/>
        </p:nvGrpSpPr>
        <p:grpSpPr>
          <a:xfrm>
            <a:off x="323034" y="191783"/>
            <a:ext cx="2920832" cy="1139078"/>
            <a:chOff x="314326" y="209071"/>
            <a:chExt cx="3168670" cy="1235732"/>
          </a:xfrm>
          <a:solidFill>
            <a:schemeClr val="bg1"/>
          </a:solidFill>
        </p:grpSpPr>
        <p:grpSp>
          <p:nvGrpSpPr>
            <p:cNvPr id="35" name="Group 34"/>
            <p:cNvGrpSpPr/>
            <p:nvPr userDrawn="1"/>
          </p:nvGrpSpPr>
          <p:grpSpPr>
            <a:xfrm>
              <a:off x="314326" y="641439"/>
              <a:ext cx="3168670" cy="370998"/>
              <a:chOff x="2124054" y="767433"/>
              <a:chExt cx="4269265" cy="499859"/>
            </a:xfrm>
            <a:grpFill/>
          </p:grpSpPr>
          <p:sp>
            <p:nvSpPr>
              <p:cNvPr id="78" name="Freeform 18"/>
              <p:cNvSpPr>
                <a:spLocks noEditPoints="1"/>
              </p:cNvSpPr>
              <p:nvPr userDrawn="1"/>
            </p:nvSpPr>
            <p:spPr bwMode="auto">
              <a:xfrm>
                <a:off x="2124054" y="776181"/>
                <a:ext cx="427381" cy="481114"/>
              </a:xfrm>
              <a:custGeom>
                <a:avLst/>
                <a:gdLst>
                  <a:gd name="T0" fmla="*/ 142 w 142"/>
                  <a:gd name="T1" fmla="*/ 160 h 160"/>
                  <a:gd name="T2" fmla="*/ 98 w 142"/>
                  <a:gd name="T3" fmla="*/ 160 h 160"/>
                  <a:gd name="T4" fmla="*/ 56 w 142"/>
                  <a:gd name="T5" fmla="*/ 97 h 160"/>
                  <a:gd name="T6" fmla="*/ 38 w 142"/>
                  <a:gd name="T7" fmla="*/ 97 h 160"/>
                  <a:gd name="T8" fmla="*/ 38 w 142"/>
                  <a:gd name="T9" fmla="*/ 160 h 160"/>
                  <a:gd name="T10" fmla="*/ 0 w 142"/>
                  <a:gd name="T11" fmla="*/ 160 h 160"/>
                  <a:gd name="T12" fmla="*/ 0 w 142"/>
                  <a:gd name="T13" fmla="*/ 0 h 160"/>
                  <a:gd name="T14" fmla="*/ 72 w 142"/>
                  <a:gd name="T15" fmla="*/ 0 h 160"/>
                  <a:gd name="T16" fmla="*/ 118 w 142"/>
                  <a:gd name="T17" fmla="*/ 7 h 160"/>
                  <a:gd name="T18" fmla="*/ 133 w 142"/>
                  <a:gd name="T19" fmla="*/ 34 h 160"/>
                  <a:gd name="T20" fmla="*/ 133 w 142"/>
                  <a:gd name="T21" fmla="*/ 62 h 160"/>
                  <a:gd name="T22" fmla="*/ 122 w 142"/>
                  <a:gd name="T23" fmla="*/ 84 h 160"/>
                  <a:gd name="T24" fmla="*/ 96 w 142"/>
                  <a:gd name="T25" fmla="*/ 94 h 160"/>
                  <a:gd name="T26" fmla="*/ 142 w 142"/>
                  <a:gd name="T27" fmla="*/ 160 h 160"/>
                  <a:gd name="T28" fmla="*/ 95 w 142"/>
                  <a:gd name="T29" fmla="*/ 54 h 160"/>
                  <a:gd name="T30" fmla="*/ 95 w 142"/>
                  <a:gd name="T31" fmla="*/ 43 h 160"/>
                  <a:gd name="T32" fmla="*/ 89 w 142"/>
                  <a:gd name="T33" fmla="*/ 31 h 160"/>
                  <a:gd name="T34" fmla="*/ 71 w 142"/>
                  <a:gd name="T35" fmla="*/ 27 h 160"/>
                  <a:gd name="T36" fmla="*/ 38 w 142"/>
                  <a:gd name="T37" fmla="*/ 27 h 160"/>
                  <a:gd name="T38" fmla="*/ 38 w 142"/>
                  <a:gd name="T39" fmla="*/ 72 h 160"/>
                  <a:gd name="T40" fmla="*/ 71 w 142"/>
                  <a:gd name="T41" fmla="*/ 72 h 160"/>
                  <a:gd name="T42" fmla="*/ 90 w 142"/>
                  <a:gd name="T43" fmla="*/ 68 h 160"/>
                  <a:gd name="T44" fmla="*/ 95 w 142"/>
                  <a:gd name="T45" fmla="*/ 5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2" h="160">
                    <a:moveTo>
                      <a:pt x="142" y="160"/>
                    </a:moveTo>
                    <a:cubicBezTo>
                      <a:pt x="98" y="160"/>
                      <a:pt x="98" y="160"/>
                      <a:pt x="98" y="160"/>
                    </a:cubicBezTo>
                    <a:cubicBezTo>
                      <a:pt x="56" y="97"/>
                      <a:pt x="56" y="97"/>
                      <a:pt x="56" y="97"/>
                    </a:cubicBezTo>
                    <a:cubicBezTo>
                      <a:pt x="38" y="97"/>
                      <a:pt x="38" y="97"/>
                      <a:pt x="38" y="97"/>
                    </a:cubicBezTo>
                    <a:cubicBezTo>
                      <a:pt x="38" y="160"/>
                      <a:pt x="38" y="160"/>
                      <a:pt x="38" y="160"/>
                    </a:cubicBezTo>
                    <a:cubicBezTo>
                      <a:pt x="0" y="160"/>
                      <a:pt x="0" y="160"/>
                      <a:pt x="0" y="160"/>
                    </a:cubicBezTo>
                    <a:cubicBezTo>
                      <a:pt x="0" y="0"/>
                      <a:pt x="0" y="0"/>
                      <a:pt x="0" y="0"/>
                    </a:cubicBezTo>
                    <a:cubicBezTo>
                      <a:pt x="72" y="0"/>
                      <a:pt x="72" y="0"/>
                      <a:pt x="72" y="0"/>
                    </a:cubicBezTo>
                    <a:cubicBezTo>
                      <a:pt x="93" y="0"/>
                      <a:pt x="108" y="2"/>
                      <a:pt x="118" y="7"/>
                    </a:cubicBezTo>
                    <a:cubicBezTo>
                      <a:pt x="128" y="13"/>
                      <a:pt x="133" y="21"/>
                      <a:pt x="133" y="34"/>
                    </a:cubicBezTo>
                    <a:cubicBezTo>
                      <a:pt x="133" y="62"/>
                      <a:pt x="133" y="62"/>
                      <a:pt x="133" y="62"/>
                    </a:cubicBezTo>
                    <a:cubicBezTo>
                      <a:pt x="133" y="72"/>
                      <a:pt x="129" y="79"/>
                      <a:pt x="122" y="84"/>
                    </a:cubicBezTo>
                    <a:cubicBezTo>
                      <a:pt x="115" y="90"/>
                      <a:pt x="106" y="93"/>
                      <a:pt x="96" y="94"/>
                    </a:cubicBezTo>
                    <a:lnTo>
                      <a:pt x="142" y="160"/>
                    </a:lnTo>
                    <a:close/>
                    <a:moveTo>
                      <a:pt x="95" y="54"/>
                    </a:moveTo>
                    <a:cubicBezTo>
                      <a:pt x="95" y="43"/>
                      <a:pt x="95" y="43"/>
                      <a:pt x="95" y="43"/>
                    </a:cubicBezTo>
                    <a:cubicBezTo>
                      <a:pt x="95" y="37"/>
                      <a:pt x="93" y="33"/>
                      <a:pt x="89" y="31"/>
                    </a:cubicBezTo>
                    <a:cubicBezTo>
                      <a:pt x="86" y="28"/>
                      <a:pt x="80" y="27"/>
                      <a:pt x="71" y="27"/>
                    </a:cubicBezTo>
                    <a:cubicBezTo>
                      <a:pt x="38" y="27"/>
                      <a:pt x="38" y="27"/>
                      <a:pt x="38" y="27"/>
                    </a:cubicBezTo>
                    <a:cubicBezTo>
                      <a:pt x="38" y="72"/>
                      <a:pt x="38" y="72"/>
                      <a:pt x="38" y="72"/>
                    </a:cubicBezTo>
                    <a:cubicBezTo>
                      <a:pt x="71" y="72"/>
                      <a:pt x="71" y="72"/>
                      <a:pt x="71" y="72"/>
                    </a:cubicBezTo>
                    <a:cubicBezTo>
                      <a:pt x="80" y="72"/>
                      <a:pt x="86" y="70"/>
                      <a:pt x="90" y="68"/>
                    </a:cubicBezTo>
                    <a:cubicBezTo>
                      <a:pt x="93" y="66"/>
                      <a:pt x="95" y="61"/>
                      <a:pt x="95" y="54"/>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79" name="Freeform 19"/>
              <p:cNvSpPr>
                <a:spLocks/>
              </p:cNvSpPr>
              <p:nvPr userDrawn="1"/>
            </p:nvSpPr>
            <p:spPr bwMode="auto">
              <a:xfrm>
                <a:off x="2622907" y="776181"/>
                <a:ext cx="372396" cy="481114"/>
              </a:xfrm>
              <a:custGeom>
                <a:avLst/>
                <a:gdLst>
                  <a:gd name="T0" fmla="*/ 298 w 298"/>
                  <a:gd name="T1" fmla="*/ 385 h 385"/>
                  <a:gd name="T2" fmla="*/ 0 w 298"/>
                  <a:gd name="T3" fmla="*/ 385 h 385"/>
                  <a:gd name="T4" fmla="*/ 0 w 298"/>
                  <a:gd name="T5" fmla="*/ 0 h 385"/>
                  <a:gd name="T6" fmla="*/ 294 w 298"/>
                  <a:gd name="T7" fmla="*/ 0 h 385"/>
                  <a:gd name="T8" fmla="*/ 294 w 298"/>
                  <a:gd name="T9" fmla="*/ 65 h 385"/>
                  <a:gd name="T10" fmla="*/ 91 w 298"/>
                  <a:gd name="T11" fmla="*/ 65 h 385"/>
                  <a:gd name="T12" fmla="*/ 91 w 298"/>
                  <a:gd name="T13" fmla="*/ 154 h 385"/>
                  <a:gd name="T14" fmla="*/ 274 w 298"/>
                  <a:gd name="T15" fmla="*/ 154 h 385"/>
                  <a:gd name="T16" fmla="*/ 274 w 298"/>
                  <a:gd name="T17" fmla="*/ 219 h 385"/>
                  <a:gd name="T18" fmla="*/ 91 w 298"/>
                  <a:gd name="T19" fmla="*/ 219 h 385"/>
                  <a:gd name="T20" fmla="*/ 91 w 298"/>
                  <a:gd name="T21" fmla="*/ 320 h 385"/>
                  <a:gd name="T22" fmla="*/ 298 w 298"/>
                  <a:gd name="T23" fmla="*/ 320 h 385"/>
                  <a:gd name="T24" fmla="*/ 298 w 298"/>
                  <a:gd name="T25"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8" h="385">
                    <a:moveTo>
                      <a:pt x="298" y="385"/>
                    </a:moveTo>
                    <a:lnTo>
                      <a:pt x="0" y="385"/>
                    </a:lnTo>
                    <a:lnTo>
                      <a:pt x="0" y="0"/>
                    </a:lnTo>
                    <a:lnTo>
                      <a:pt x="294" y="0"/>
                    </a:lnTo>
                    <a:lnTo>
                      <a:pt x="294" y="65"/>
                    </a:lnTo>
                    <a:lnTo>
                      <a:pt x="91" y="65"/>
                    </a:lnTo>
                    <a:lnTo>
                      <a:pt x="91" y="154"/>
                    </a:lnTo>
                    <a:lnTo>
                      <a:pt x="274" y="154"/>
                    </a:lnTo>
                    <a:lnTo>
                      <a:pt x="274" y="219"/>
                    </a:lnTo>
                    <a:lnTo>
                      <a:pt x="91" y="219"/>
                    </a:lnTo>
                    <a:lnTo>
                      <a:pt x="91" y="320"/>
                    </a:lnTo>
                    <a:lnTo>
                      <a:pt x="298" y="320"/>
                    </a:lnTo>
                    <a:lnTo>
                      <a:pt x="298" y="38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80" name="Freeform 20"/>
              <p:cNvSpPr>
                <a:spLocks/>
              </p:cNvSpPr>
              <p:nvPr userDrawn="1"/>
            </p:nvSpPr>
            <p:spPr bwMode="auto">
              <a:xfrm>
                <a:off x="3076292" y="767433"/>
                <a:ext cx="394888" cy="499859"/>
              </a:xfrm>
              <a:custGeom>
                <a:avLst/>
                <a:gdLst>
                  <a:gd name="T0" fmla="*/ 131 w 131"/>
                  <a:gd name="T1" fmla="*/ 107 h 166"/>
                  <a:gd name="T2" fmla="*/ 131 w 131"/>
                  <a:gd name="T3" fmla="*/ 117 h 166"/>
                  <a:gd name="T4" fmla="*/ 126 w 131"/>
                  <a:gd name="T5" fmla="*/ 141 h 166"/>
                  <a:gd name="T6" fmla="*/ 111 w 131"/>
                  <a:gd name="T7" fmla="*/ 156 h 166"/>
                  <a:gd name="T8" fmla="*/ 89 w 131"/>
                  <a:gd name="T9" fmla="*/ 163 h 166"/>
                  <a:gd name="T10" fmla="*/ 60 w 131"/>
                  <a:gd name="T11" fmla="*/ 166 h 166"/>
                  <a:gd name="T12" fmla="*/ 3 w 131"/>
                  <a:gd name="T13" fmla="*/ 161 h 166"/>
                  <a:gd name="T14" fmla="*/ 3 w 131"/>
                  <a:gd name="T15" fmla="*/ 132 h 166"/>
                  <a:gd name="T16" fmla="*/ 61 w 131"/>
                  <a:gd name="T17" fmla="*/ 138 h 166"/>
                  <a:gd name="T18" fmla="*/ 93 w 131"/>
                  <a:gd name="T19" fmla="*/ 122 h 166"/>
                  <a:gd name="T20" fmla="*/ 93 w 131"/>
                  <a:gd name="T21" fmla="*/ 111 h 166"/>
                  <a:gd name="T22" fmla="*/ 89 w 131"/>
                  <a:gd name="T23" fmla="*/ 100 h 166"/>
                  <a:gd name="T24" fmla="*/ 72 w 131"/>
                  <a:gd name="T25" fmla="*/ 95 h 166"/>
                  <a:gd name="T26" fmla="*/ 53 w 131"/>
                  <a:gd name="T27" fmla="*/ 95 h 166"/>
                  <a:gd name="T28" fmla="*/ 0 w 131"/>
                  <a:gd name="T29" fmla="*/ 53 h 166"/>
                  <a:gd name="T30" fmla="*/ 0 w 131"/>
                  <a:gd name="T31" fmla="*/ 41 h 166"/>
                  <a:gd name="T32" fmla="*/ 18 w 131"/>
                  <a:gd name="T33" fmla="*/ 10 h 166"/>
                  <a:gd name="T34" fmla="*/ 73 w 131"/>
                  <a:gd name="T35" fmla="*/ 0 h 166"/>
                  <a:gd name="T36" fmla="*/ 123 w 131"/>
                  <a:gd name="T37" fmla="*/ 4 h 166"/>
                  <a:gd name="T38" fmla="*/ 123 w 131"/>
                  <a:gd name="T39" fmla="*/ 32 h 166"/>
                  <a:gd name="T40" fmla="*/ 72 w 131"/>
                  <a:gd name="T41" fmla="*/ 28 h 166"/>
                  <a:gd name="T42" fmla="*/ 46 w 131"/>
                  <a:gd name="T43" fmla="*/ 31 h 166"/>
                  <a:gd name="T44" fmla="*/ 39 w 131"/>
                  <a:gd name="T45" fmla="*/ 42 h 166"/>
                  <a:gd name="T46" fmla="*/ 39 w 131"/>
                  <a:gd name="T47" fmla="*/ 53 h 166"/>
                  <a:gd name="T48" fmla="*/ 60 w 131"/>
                  <a:gd name="T49" fmla="*/ 66 h 166"/>
                  <a:gd name="T50" fmla="*/ 79 w 131"/>
                  <a:gd name="T51" fmla="*/ 66 h 166"/>
                  <a:gd name="T52" fmla="*/ 119 w 131"/>
                  <a:gd name="T53" fmla="*/ 76 h 166"/>
                  <a:gd name="T54" fmla="*/ 131 w 131"/>
                  <a:gd name="T5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6">
                    <a:moveTo>
                      <a:pt x="131" y="107"/>
                    </a:moveTo>
                    <a:cubicBezTo>
                      <a:pt x="131" y="117"/>
                      <a:pt x="131" y="117"/>
                      <a:pt x="131" y="117"/>
                    </a:cubicBezTo>
                    <a:cubicBezTo>
                      <a:pt x="131" y="127"/>
                      <a:pt x="130" y="135"/>
                      <a:pt x="126" y="141"/>
                    </a:cubicBezTo>
                    <a:cubicBezTo>
                      <a:pt x="123" y="148"/>
                      <a:pt x="118" y="153"/>
                      <a:pt x="111" y="156"/>
                    </a:cubicBezTo>
                    <a:cubicBezTo>
                      <a:pt x="104" y="160"/>
                      <a:pt x="97" y="162"/>
                      <a:pt x="89" y="163"/>
                    </a:cubicBezTo>
                    <a:cubicBezTo>
                      <a:pt x="81" y="165"/>
                      <a:pt x="71" y="166"/>
                      <a:pt x="60" y="166"/>
                    </a:cubicBezTo>
                    <a:cubicBezTo>
                      <a:pt x="45" y="166"/>
                      <a:pt x="26" y="164"/>
                      <a:pt x="3" y="161"/>
                    </a:cubicBezTo>
                    <a:cubicBezTo>
                      <a:pt x="3" y="132"/>
                      <a:pt x="3" y="132"/>
                      <a:pt x="3" y="132"/>
                    </a:cubicBezTo>
                    <a:cubicBezTo>
                      <a:pt x="31" y="136"/>
                      <a:pt x="50" y="138"/>
                      <a:pt x="61" y="138"/>
                    </a:cubicBezTo>
                    <a:cubicBezTo>
                      <a:pt x="82" y="138"/>
                      <a:pt x="93" y="133"/>
                      <a:pt x="93" y="122"/>
                    </a:cubicBezTo>
                    <a:cubicBezTo>
                      <a:pt x="93" y="111"/>
                      <a:pt x="93" y="111"/>
                      <a:pt x="93" y="111"/>
                    </a:cubicBezTo>
                    <a:cubicBezTo>
                      <a:pt x="93" y="106"/>
                      <a:pt x="91" y="103"/>
                      <a:pt x="89" y="100"/>
                    </a:cubicBezTo>
                    <a:cubicBezTo>
                      <a:pt x="86" y="96"/>
                      <a:pt x="80" y="95"/>
                      <a:pt x="72" y="95"/>
                    </a:cubicBezTo>
                    <a:cubicBezTo>
                      <a:pt x="53" y="95"/>
                      <a:pt x="53" y="95"/>
                      <a:pt x="53" y="95"/>
                    </a:cubicBezTo>
                    <a:cubicBezTo>
                      <a:pt x="18" y="95"/>
                      <a:pt x="0" y="81"/>
                      <a:pt x="0" y="53"/>
                    </a:cubicBezTo>
                    <a:cubicBezTo>
                      <a:pt x="0" y="41"/>
                      <a:pt x="0" y="41"/>
                      <a:pt x="0" y="41"/>
                    </a:cubicBezTo>
                    <a:cubicBezTo>
                      <a:pt x="0" y="27"/>
                      <a:pt x="6" y="17"/>
                      <a:pt x="18" y="10"/>
                    </a:cubicBezTo>
                    <a:cubicBezTo>
                      <a:pt x="29" y="4"/>
                      <a:pt x="48" y="0"/>
                      <a:pt x="73" y="0"/>
                    </a:cubicBezTo>
                    <a:cubicBezTo>
                      <a:pt x="86" y="0"/>
                      <a:pt x="102" y="1"/>
                      <a:pt x="123" y="4"/>
                    </a:cubicBezTo>
                    <a:cubicBezTo>
                      <a:pt x="123" y="32"/>
                      <a:pt x="123" y="32"/>
                      <a:pt x="123" y="32"/>
                    </a:cubicBezTo>
                    <a:cubicBezTo>
                      <a:pt x="98" y="29"/>
                      <a:pt x="81" y="28"/>
                      <a:pt x="72" y="28"/>
                    </a:cubicBezTo>
                    <a:cubicBezTo>
                      <a:pt x="59" y="28"/>
                      <a:pt x="51" y="29"/>
                      <a:pt x="46" y="31"/>
                    </a:cubicBezTo>
                    <a:cubicBezTo>
                      <a:pt x="41" y="33"/>
                      <a:pt x="39" y="37"/>
                      <a:pt x="39" y="42"/>
                    </a:cubicBezTo>
                    <a:cubicBezTo>
                      <a:pt x="39" y="53"/>
                      <a:pt x="39" y="53"/>
                      <a:pt x="39" y="53"/>
                    </a:cubicBezTo>
                    <a:cubicBezTo>
                      <a:pt x="39" y="62"/>
                      <a:pt x="46" y="66"/>
                      <a:pt x="60" y="66"/>
                    </a:cubicBezTo>
                    <a:cubicBezTo>
                      <a:pt x="79" y="66"/>
                      <a:pt x="79" y="66"/>
                      <a:pt x="79" y="66"/>
                    </a:cubicBezTo>
                    <a:cubicBezTo>
                      <a:pt x="98" y="66"/>
                      <a:pt x="111" y="69"/>
                      <a:pt x="119" y="76"/>
                    </a:cubicBezTo>
                    <a:cubicBezTo>
                      <a:pt x="127" y="83"/>
                      <a:pt x="131" y="93"/>
                      <a:pt x="131" y="107"/>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81" name="Freeform 21"/>
              <p:cNvSpPr>
                <a:spLocks noEditPoints="1"/>
              </p:cNvSpPr>
              <p:nvPr userDrawn="1"/>
            </p:nvSpPr>
            <p:spPr bwMode="auto">
              <a:xfrm>
                <a:off x="3549399" y="767433"/>
                <a:ext cx="458622" cy="499859"/>
              </a:xfrm>
              <a:custGeom>
                <a:avLst/>
                <a:gdLst>
                  <a:gd name="T0" fmla="*/ 152 w 152"/>
                  <a:gd name="T1" fmla="*/ 49 h 166"/>
                  <a:gd name="T2" fmla="*/ 152 w 152"/>
                  <a:gd name="T3" fmla="*/ 119 h 166"/>
                  <a:gd name="T4" fmla="*/ 145 w 152"/>
                  <a:gd name="T5" fmla="*/ 142 h 166"/>
                  <a:gd name="T6" fmla="*/ 125 w 152"/>
                  <a:gd name="T7" fmla="*/ 157 h 166"/>
                  <a:gd name="T8" fmla="*/ 101 w 152"/>
                  <a:gd name="T9" fmla="*/ 164 h 166"/>
                  <a:gd name="T10" fmla="*/ 75 w 152"/>
                  <a:gd name="T11" fmla="*/ 166 h 166"/>
                  <a:gd name="T12" fmla="*/ 51 w 152"/>
                  <a:gd name="T13" fmla="*/ 164 h 166"/>
                  <a:gd name="T14" fmla="*/ 27 w 152"/>
                  <a:gd name="T15" fmla="*/ 158 h 166"/>
                  <a:gd name="T16" fmla="*/ 7 w 152"/>
                  <a:gd name="T17" fmla="*/ 144 h 166"/>
                  <a:gd name="T18" fmla="*/ 0 w 152"/>
                  <a:gd name="T19" fmla="*/ 119 h 166"/>
                  <a:gd name="T20" fmla="*/ 0 w 152"/>
                  <a:gd name="T21" fmla="*/ 49 h 166"/>
                  <a:gd name="T22" fmla="*/ 5 w 152"/>
                  <a:gd name="T23" fmla="*/ 27 h 166"/>
                  <a:gd name="T24" fmla="*/ 18 w 152"/>
                  <a:gd name="T25" fmla="*/ 13 h 166"/>
                  <a:gd name="T26" fmla="*/ 37 w 152"/>
                  <a:gd name="T27" fmla="*/ 5 h 166"/>
                  <a:gd name="T28" fmla="*/ 57 w 152"/>
                  <a:gd name="T29" fmla="*/ 1 h 166"/>
                  <a:gd name="T30" fmla="*/ 75 w 152"/>
                  <a:gd name="T31" fmla="*/ 0 h 166"/>
                  <a:gd name="T32" fmla="*/ 94 w 152"/>
                  <a:gd name="T33" fmla="*/ 1 h 166"/>
                  <a:gd name="T34" fmla="*/ 114 w 152"/>
                  <a:gd name="T35" fmla="*/ 5 h 166"/>
                  <a:gd name="T36" fmla="*/ 133 w 152"/>
                  <a:gd name="T37" fmla="*/ 13 h 166"/>
                  <a:gd name="T38" fmla="*/ 146 w 152"/>
                  <a:gd name="T39" fmla="*/ 27 h 166"/>
                  <a:gd name="T40" fmla="*/ 152 w 152"/>
                  <a:gd name="T41" fmla="*/ 49 h 166"/>
                  <a:gd name="T42" fmla="*/ 113 w 152"/>
                  <a:gd name="T43" fmla="*/ 119 h 166"/>
                  <a:gd name="T44" fmla="*/ 113 w 152"/>
                  <a:gd name="T45" fmla="*/ 49 h 166"/>
                  <a:gd name="T46" fmla="*/ 104 w 152"/>
                  <a:gd name="T47" fmla="*/ 32 h 166"/>
                  <a:gd name="T48" fmla="*/ 76 w 152"/>
                  <a:gd name="T49" fmla="*/ 28 h 166"/>
                  <a:gd name="T50" fmla="*/ 47 w 152"/>
                  <a:gd name="T51" fmla="*/ 32 h 166"/>
                  <a:gd name="T52" fmla="*/ 38 w 152"/>
                  <a:gd name="T53" fmla="*/ 49 h 166"/>
                  <a:gd name="T54" fmla="*/ 38 w 152"/>
                  <a:gd name="T55" fmla="*/ 119 h 166"/>
                  <a:gd name="T56" fmla="*/ 41 w 152"/>
                  <a:gd name="T57" fmla="*/ 129 h 166"/>
                  <a:gd name="T58" fmla="*/ 51 w 152"/>
                  <a:gd name="T59" fmla="*/ 135 h 166"/>
                  <a:gd name="T60" fmla="*/ 62 w 152"/>
                  <a:gd name="T61" fmla="*/ 138 h 166"/>
                  <a:gd name="T62" fmla="*/ 76 w 152"/>
                  <a:gd name="T63" fmla="*/ 138 h 166"/>
                  <a:gd name="T64" fmla="*/ 90 w 152"/>
                  <a:gd name="T65" fmla="*/ 138 h 166"/>
                  <a:gd name="T66" fmla="*/ 101 w 152"/>
                  <a:gd name="T67" fmla="*/ 135 h 166"/>
                  <a:gd name="T68" fmla="*/ 110 w 152"/>
                  <a:gd name="T69" fmla="*/ 129 h 166"/>
                  <a:gd name="T70" fmla="*/ 113 w 152"/>
                  <a:gd name="T71" fmla="*/ 119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2" h="166">
                    <a:moveTo>
                      <a:pt x="152" y="49"/>
                    </a:moveTo>
                    <a:cubicBezTo>
                      <a:pt x="152" y="119"/>
                      <a:pt x="152" y="119"/>
                      <a:pt x="152" y="119"/>
                    </a:cubicBezTo>
                    <a:cubicBezTo>
                      <a:pt x="152" y="128"/>
                      <a:pt x="149" y="136"/>
                      <a:pt x="145" y="142"/>
                    </a:cubicBezTo>
                    <a:cubicBezTo>
                      <a:pt x="140" y="149"/>
                      <a:pt x="133" y="154"/>
                      <a:pt x="125" y="157"/>
                    </a:cubicBezTo>
                    <a:cubicBezTo>
                      <a:pt x="117" y="160"/>
                      <a:pt x="109" y="162"/>
                      <a:pt x="101" y="164"/>
                    </a:cubicBezTo>
                    <a:cubicBezTo>
                      <a:pt x="93" y="165"/>
                      <a:pt x="84" y="166"/>
                      <a:pt x="75" y="166"/>
                    </a:cubicBezTo>
                    <a:cubicBezTo>
                      <a:pt x="67" y="166"/>
                      <a:pt x="59" y="165"/>
                      <a:pt x="51" y="164"/>
                    </a:cubicBezTo>
                    <a:cubicBezTo>
                      <a:pt x="44" y="163"/>
                      <a:pt x="36" y="161"/>
                      <a:pt x="27" y="158"/>
                    </a:cubicBezTo>
                    <a:cubicBezTo>
                      <a:pt x="19" y="155"/>
                      <a:pt x="12" y="150"/>
                      <a:pt x="7" y="144"/>
                    </a:cubicBezTo>
                    <a:cubicBezTo>
                      <a:pt x="2" y="137"/>
                      <a:pt x="0" y="129"/>
                      <a:pt x="0" y="119"/>
                    </a:cubicBezTo>
                    <a:cubicBezTo>
                      <a:pt x="0" y="49"/>
                      <a:pt x="0" y="49"/>
                      <a:pt x="0" y="49"/>
                    </a:cubicBezTo>
                    <a:cubicBezTo>
                      <a:pt x="0" y="41"/>
                      <a:pt x="1" y="34"/>
                      <a:pt x="5" y="27"/>
                    </a:cubicBezTo>
                    <a:cubicBezTo>
                      <a:pt x="9" y="21"/>
                      <a:pt x="13" y="16"/>
                      <a:pt x="18" y="13"/>
                    </a:cubicBezTo>
                    <a:cubicBezTo>
                      <a:pt x="24" y="10"/>
                      <a:pt x="30" y="7"/>
                      <a:pt x="37" y="5"/>
                    </a:cubicBezTo>
                    <a:cubicBezTo>
                      <a:pt x="45" y="3"/>
                      <a:pt x="51" y="2"/>
                      <a:pt x="57" y="1"/>
                    </a:cubicBezTo>
                    <a:cubicBezTo>
                      <a:pt x="63" y="1"/>
                      <a:pt x="69" y="0"/>
                      <a:pt x="75" y="0"/>
                    </a:cubicBezTo>
                    <a:cubicBezTo>
                      <a:pt x="82" y="0"/>
                      <a:pt x="88" y="1"/>
                      <a:pt x="94" y="1"/>
                    </a:cubicBezTo>
                    <a:cubicBezTo>
                      <a:pt x="100" y="2"/>
                      <a:pt x="107" y="3"/>
                      <a:pt x="114" y="5"/>
                    </a:cubicBezTo>
                    <a:cubicBezTo>
                      <a:pt x="121" y="7"/>
                      <a:pt x="128" y="10"/>
                      <a:pt x="133" y="13"/>
                    </a:cubicBezTo>
                    <a:cubicBezTo>
                      <a:pt x="138" y="16"/>
                      <a:pt x="143" y="21"/>
                      <a:pt x="146" y="27"/>
                    </a:cubicBezTo>
                    <a:cubicBezTo>
                      <a:pt x="150" y="33"/>
                      <a:pt x="152" y="41"/>
                      <a:pt x="152" y="49"/>
                    </a:cubicBezTo>
                    <a:close/>
                    <a:moveTo>
                      <a:pt x="113" y="119"/>
                    </a:moveTo>
                    <a:cubicBezTo>
                      <a:pt x="113" y="49"/>
                      <a:pt x="113" y="49"/>
                      <a:pt x="113" y="49"/>
                    </a:cubicBezTo>
                    <a:cubicBezTo>
                      <a:pt x="113" y="41"/>
                      <a:pt x="110" y="36"/>
                      <a:pt x="104" y="32"/>
                    </a:cubicBezTo>
                    <a:cubicBezTo>
                      <a:pt x="97" y="29"/>
                      <a:pt x="88" y="28"/>
                      <a:pt x="76" y="28"/>
                    </a:cubicBezTo>
                    <a:cubicBezTo>
                      <a:pt x="63" y="28"/>
                      <a:pt x="54" y="29"/>
                      <a:pt x="47" y="32"/>
                    </a:cubicBezTo>
                    <a:cubicBezTo>
                      <a:pt x="41" y="35"/>
                      <a:pt x="38" y="41"/>
                      <a:pt x="38" y="49"/>
                    </a:cubicBezTo>
                    <a:cubicBezTo>
                      <a:pt x="38" y="119"/>
                      <a:pt x="38" y="119"/>
                      <a:pt x="38" y="119"/>
                    </a:cubicBezTo>
                    <a:cubicBezTo>
                      <a:pt x="38" y="123"/>
                      <a:pt x="39" y="127"/>
                      <a:pt x="41" y="129"/>
                    </a:cubicBezTo>
                    <a:cubicBezTo>
                      <a:pt x="43" y="132"/>
                      <a:pt x="47" y="134"/>
                      <a:pt x="51" y="135"/>
                    </a:cubicBezTo>
                    <a:cubicBezTo>
                      <a:pt x="55" y="136"/>
                      <a:pt x="58" y="137"/>
                      <a:pt x="62" y="138"/>
                    </a:cubicBezTo>
                    <a:cubicBezTo>
                      <a:pt x="66" y="138"/>
                      <a:pt x="70" y="138"/>
                      <a:pt x="76" y="138"/>
                    </a:cubicBezTo>
                    <a:cubicBezTo>
                      <a:pt x="81" y="138"/>
                      <a:pt x="86" y="138"/>
                      <a:pt x="90" y="138"/>
                    </a:cubicBezTo>
                    <a:cubicBezTo>
                      <a:pt x="93" y="137"/>
                      <a:pt x="97" y="136"/>
                      <a:pt x="101" y="135"/>
                    </a:cubicBezTo>
                    <a:cubicBezTo>
                      <a:pt x="105" y="134"/>
                      <a:pt x="108" y="132"/>
                      <a:pt x="110" y="129"/>
                    </a:cubicBezTo>
                    <a:cubicBezTo>
                      <a:pt x="112" y="127"/>
                      <a:pt x="113" y="123"/>
                      <a:pt x="113" y="119"/>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82" name="Freeform 22"/>
              <p:cNvSpPr>
                <a:spLocks/>
              </p:cNvSpPr>
              <p:nvPr userDrawn="1"/>
            </p:nvSpPr>
            <p:spPr bwMode="auto">
              <a:xfrm>
                <a:off x="4095456" y="776181"/>
                <a:ext cx="418634" cy="491111"/>
              </a:xfrm>
              <a:custGeom>
                <a:avLst/>
                <a:gdLst>
                  <a:gd name="T0" fmla="*/ 139 w 139"/>
                  <a:gd name="T1" fmla="*/ 0 h 163"/>
                  <a:gd name="T2" fmla="*/ 139 w 139"/>
                  <a:gd name="T3" fmla="*/ 116 h 163"/>
                  <a:gd name="T4" fmla="*/ 70 w 139"/>
                  <a:gd name="T5" fmla="*/ 163 h 163"/>
                  <a:gd name="T6" fmla="*/ 0 w 139"/>
                  <a:gd name="T7" fmla="*/ 116 h 163"/>
                  <a:gd name="T8" fmla="*/ 0 w 139"/>
                  <a:gd name="T9" fmla="*/ 0 h 163"/>
                  <a:gd name="T10" fmla="*/ 39 w 139"/>
                  <a:gd name="T11" fmla="*/ 0 h 163"/>
                  <a:gd name="T12" fmla="*/ 39 w 139"/>
                  <a:gd name="T13" fmla="*/ 116 h 163"/>
                  <a:gd name="T14" fmla="*/ 46 w 139"/>
                  <a:gd name="T15" fmla="*/ 131 h 163"/>
                  <a:gd name="T16" fmla="*/ 70 w 139"/>
                  <a:gd name="T17" fmla="*/ 135 h 163"/>
                  <a:gd name="T18" fmla="*/ 94 w 139"/>
                  <a:gd name="T19" fmla="*/ 131 h 163"/>
                  <a:gd name="T20" fmla="*/ 101 w 139"/>
                  <a:gd name="T21" fmla="*/ 116 h 163"/>
                  <a:gd name="T22" fmla="*/ 101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6"/>
                      <a:pt x="139" y="116"/>
                      <a:pt x="139" y="116"/>
                    </a:cubicBezTo>
                    <a:cubicBezTo>
                      <a:pt x="139" y="147"/>
                      <a:pt x="116" y="163"/>
                      <a:pt x="70" y="163"/>
                    </a:cubicBezTo>
                    <a:cubicBezTo>
                      <a:pt x="23" y="163"/>
                      <a:pt x="0" y="147"/>
                      <a:pt x="0" y="116"/>
                    </a:cubicBezTo>
                    <a:cubicBezTo>
                      <a:pt x="0" y="0"/>
                      <a:pt x="0" y="0"/>
                      <a:pt x="0" y="0"/>
                    </a:cubicBezTo>
                    <a:cubicBezTo>
                      <a:pt x="39" y="0"/>
                      <a:pt x="39" y="0"/>
                      <a:pt x="39" y="0"/>
                    </a:cubicBezTo>
                    <a:cubicBezTo>
                      <a:pt x="39" y="116"/>
                      <a:pt x="39" y="116"/>
                      <a:pt x="39" y="116"/>
                    </a:cubicBezTo>
                    <a:cubicBezTo>
                      <a:pt x="39" y="123"/>
                      <a:pt x="41" y="128"/>
                      <a:pt x="46" y="131"/>
                    </a:cubicBezTo>
                    <a:cubicBezTo>
                      <a:pt x="51" y="134"/>
                      <a:pt x="59" y="135"/>
                      <a:pt x="70" y="135"/>
                    </a:cubicBezTo>
                    <a:cubicBezTo>
                      <a:pt x="81" y="135"/>
                      <a:pt x="89" y="134"/>
                      <a:pt x="94" y="131"/>
                    </a:cubicBezTo>
                    <a:cubicBezTo>
                      <a:pt x="99" y="128"/>
                      <a:pt x="101" y="123"/>
                      <a:pt x="101" y="116"/>
                    </a:cubicBezTo>
                    <a:cubicBezTo>
                      <a:pt x="101" y="0"/>
                      <a:pt x="101" y="0"/>
                      <a:pt x="101"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83" name="Freeform 23"/>
              <p:cNvSpPr>
                <a:spLocks noEditPoints="1"/>
              </p:cNvSpPr>
              <p:nvPr userDrawn="1"/>
            </p:nvSpPr>
            <p:spPr bwMode="auto">
              <a:xfrm>
                <a:off x="4609545" y="776181"/>
                <a:ext cx="428631" cy="481114"/>
              </a:xfrm>
              <a:custGeom>
                <a:avLst/>
                <a:gdLst>
                  <a:gd name="T0" fmla="*/ 142 w 142"/>
                  <a:gd name="T1" fmla="*/ 160 h 160"/>
                  <a:gd name="T2" fmla="*/ 98 w 142"/>
                  <a:gd name="T3" fmla="*/ 160 h 160"/>
                  <a:gd name="T4" fmla="*/ 56 w 142"/>
                  <a:gd name="T5" fmla="*/ 97 h 160"/>
                  <a:gd name="T6" fmla="*/ 38 w 142"/>
                  <a:gd name="T7" fmla="*/ 97 h 160"/>
                  <a:gd name="T8" fmla="*/ 38 w 142"/>
                  <a:gd name="T9" fmla="*/ 160 h 160"/>
                  <a:gd name="T10" fmla="*/ 0 w 142"/>
                  <a:gd name="T11" fmla="*/ 160 h 160"/>
                  <a:gd name="T12" fmla="*/ 0 w 142"/>
                  <a:gd name="T13" fmla="*/ 0 h 160"/>
                  <a:gd name="T14" fmla="*/ 72 w 142"/>
                  <a:gd name="T15" fmla="*/ 0 h 160"/>
                  <a:gd name="T16" fmla="*/ 118 w 142"/>
                  <a:gd name="T17" fmla="*/ 7 h 160"/>
                  <a:gd name="T18" fmla="*/ 132 w 142"/>
                  <a:gd name="T19" fmla="*/ 34 h 160"/>
                  <a:gd name="T20" fmla="*/ 132 w 142"/>
                  <a:gd name="T21" fmla="*/ 62 h 160"/>
                  <a:gd name="T22" fmla="*/ 122 w 142"/>
                  <a:gd name="T23" fmla="*/ 84 h 160"/>
                  <a:gd name="T24" fmla="*/ 96 w 142"/>
                  <a:gd name="T25" fmla="*/ 94 h 160"/>
                  <a:gd name="T26" fmla="*/ 142 w 142"/>
                  <a:gd name="T27" fmla="*/ 160 h 160"/>
                  <a:gd name="T28" fmla="*/ 95 w 142"/>
                  <a:gd name="T29" fmla="*/ 54 h 160"/>
                  <a:gd name="T30" fmla="*/ 95 w 142"/>
                  <a:gd name="T31" fmla="*/ 43 h 160"/>
                  <a:gd name="T32" fmla="*/ 89 w 142"/>
                  <a:gd name="T33" fmla="*/ 31 h 160"/>
                  <a:gd name="T34" fmla="*/ 71 w 142"/>
                  <a:gd name="T35" fmla="*/ 27 h 160"/>
                  <a:gd name="T36" fmla="*/ 38 w 142"/>
                  <a:gd name="T37" fmla="*/ 27 h 160"/>
                  <a:gd name="T38" fmla="*/ 38 w 142"/>
                  <a:gd name="T39" fmla="*/ 72 h 160"/>
                  <a:gd name="T40" fmla="*/ 71 w 142"/>
                  <a:gd name="T41" fmla="*/ 72 h 160"/>
                  <a:gd name="T42" fmla="*/ 90 w 142"/>
                  <a:gd name="T43" fmla="*/ 68 h 160"/>
                  <a:gd name="T44" fmla="*/ 95 w 142"/>
                  <a:gd name="T45" fmla="*/ 5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2" h="160">
                    <a:moveTo>
                      <a:pt x="142" y="160"/>
                    </a:moveTo>
                    <a:cubicBezTo>
                      <a:pt x="98" y="160"/>
                      <a:pt x="98" y="160"/>
                      <a:pt x="98" y="160"/>
                    </a:cubicBezTo>
                    <a:cubicBezTo>
                      <a:pt x="56" y="97"/>
                      <a:pt x="56" y="97"/>
                      <a:pt x="56" y="97"/>
                    </a:cubicBezTo>
                    <a:cubicBezTo>
                      <a:pt x="38" y="97"/>
                      <a:pt x="38" y="97"/>
                      <a:pt x="38" y="97"/>
                    </a:cubicBezTo>
                    <a:cubicBezTo>
                      <a:pt x="38" y="160"/>
                      <a:pt x="38" y="160"/>
                      <a:pt x="38" y="160"/>
                    </a:cubicBezTo>
                    <a:cubicBezTo>
                      <a:pt x="0" y="160"/>
                      <a:pt x="0" y="160"/>
                      <a:pt x="0" y="160"/>
                    </a:cubicBezTo>
                    <a:cubicBezTo>
                      <a:pt x="0" y="0"/>
                      <a:pt x="0" y="0"/>
                      <a:pt x="0" y="0"/>
                    </a:cubicBezTo>
                    <a:cubicBezTo>
                      <a:pt x="72" y="0"/>
                      <a:pt x="72" y="0"/>
                      <a:pt x="72" y="0"/>
                    </a:cubicBezTo>
                    <a:cubicBezTo>
                      <a:pt x="93" y="0"/>
                      <a:pt x="108" y="2"/>
                      <a:pt x="118" y="7"/>
                    </a:cubicBezTo>
                    <a:cubicBezTo>
                      <a:pt x="128" y="13"/>
                      <a:pt x="132" y="21"/>
                      <a:pt x="132" y="34"/>
                    </a:cubicBezTo>
                    <a:cubicBezTo>
                      <a:pt x="132" y="62"/>
                      <a:pt x="132" y="62"/>
                      <a:pt x="132" y="62"/>
                    </a:cubicBezTo>
                    <a:cubicBezTo>
                      <a:pt x="132" y="72"/>
                      <a:pt x="129" y="79"/>
                      <a:pt x="122" y="84"/>
                    </a:cubicBezTo>
                    <a:cubicBezTo>
                      <a:pt x="115" y="90"/>
                      <a:pt x="106" y="93"/>
                      <a:pt x="96" y="94"/>
                    </a:cubicBezTo>
                    <a:lnTo>
                      <a:pt x="142" y="160"/>
                    </a:lnTo>
                    <a:close/>
                    <a:moveTo>
                      <a:pt x="95" y="54"/>
                    </a:moveTo>
                    <a:cubicBezTo>
                      <a:pt x="95" y="43"/>
                      <a:pt x="95" y="43"/>
                      <a:pt x="95" y="43"/>
                    </a:cubicBezTo>
                    <a:cubicBezTo>
                      <a:pt x="95" y="37"/>
                      <a:pt x="93" y="33"/>
                      <a:pt x="89" y="31"/>
                    </a:cubicBezTo>
                    <a:cubicBezTo>
                      <a:pt x="86" y="28"/>
                      <a:pt x="80" y="27"/>
                      <a:pt x="71" y="27"/>
                    </a:cubicBezTo>
                    <a:cubicBezTo>
                      <a:pt x="38" y="27"/>
                      <a:pt x="38" y="27"/>
                      <a:pt x="38" y="27"/>
                    </a:cubicBezTo>
                    <a:cubicBezTo>
                      <a:pt x="38" y="72"/>
                      <a:pt x="38" y="72"/>
                      <a:pt x="38" y="72"/>
                    </a:cubicBezTo>
                    <a:cubicBezTo>
                      <a:pt x="71" y="72"/>
                      <a:pt x="71" y="72"/>
                      <a:pt x="71" y="72"/>
                    </a:cubicBezTo>
                    <a:cubicBezTo>
                      <a:pt x="80" y="72"/>
                      <a:pt x="86" y="70"/>
                      <a:pt x="90" y="68"/>
                    </a:cubicBezTo>
                    <a:cubicBezTo>
                      <a:pt x="93" y="66"/>
                      <a:pt x="95" y="61"/>
                      <a:pt x="95" y="54"/>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84" name="Freeform 24"/>
              <p:cNvSpPr>
                <a:spLocks/>
              </p:cNvSpPr>
              <p:nvPr userDrawn="1"/>
            </p:nvSpPr>
            <p:spPr bwMode="auto">
              <a:xfrm>
                <a:off x="5076396" y="767433"/>
                <a:ext cx="379894" cy="499859"/>
              </a:xfrm>
              <a:custGeom>
                <a:avLst/>
                <a:gdLst>
                  <a:gd name="T0" fmla="*/ 126 w 126"/>
                  <a:gd name="T1" fmla="*/ 160 h 166"/>
                  <a:gd name="T2" fmla="*/ 74 w 126"/>
                  <a:gd name="T3" fmla="*/ 166 h 166"/>
                  <a:gd name="T4" fmla="*/ 56 w 126"/>
                  <a:gd name="T5" fmla="*/ 165 h 166"/>
                  <a:gd name="T6" fmla="*/ 36 w 126"/>
                  <a:gd name="T7" fmla="*/ 161 h 166"/>
                  <a:gd name="T8" fmla="*/ 18 w 126"/>
                  <a:gd name="T9" fmla="*/ 153 h 166"/>
                  <a:gd name="T10" fmla="*/ 5 w 126"/>
                  <a:gd name="T11" fmla="*/ 140 h 166"/>
                  <a:gd name="T12" fmla="*/ 0 w 126"/>
                  <a:gd name="T13" fmla="*/ 119 h 166"/>
                  <a:gd name="T14" fmla="*/ 0 w 126"/>
                  <a:gd name="T15" fmla="*/ 49 h 166"/>
                  <a:gd name="T16" fmla="*/ 74 w 126"/>
                  <a:gd name="T17" fmla="*/ 0 h 166"/>
                  <a:gd name="T18" fmla="*/ 125 w 126"/>
                  <a:gd name="T19" fmla="*/ 6 h 166"/>
                  <a:gd name="T20" fmla="*/ 125 w 126"/>
                  <a:gd name="T21" fmla="*/ 35 h 166"/>
                  <a:gd name="T22" fmla="*/ 75 w 126"/>
                  <a:gd name="T23" fmla="*/ 28 h 166"/>
                  <a:gd name="T24" fmla="*/ 61 w 126"/>
                  <a:gd name="T25" fmla="*/ 28 h 166"/>
                  <a:gd name="T26" fmla="*/ 50 w 126"/>
                  <a:gd name="T27" fmla="*/ 31 h 166"/>
                  <a:gd name="T28" fmla="*/ 41 w 126"/>
                  <a:gd name="T29" fmla="*/ 37 h 166"/>
                  <a:gd name="T30" fmla="*/ 39 w 126"/>
                  <a:gd name="T31" fmla="*/ 48 h 166"/>
                  <a:gd name="T32" fmla="*/ 39 w 126"/>
                  <a:gd name="T33" fmla="*/ 116 h 166"/>
                  <a:gd name="T34" fmla="*/ 78 w 126"/>
                  <a:gd name="T35" fmla="*/ 138 h 166"/>
                  <a:gd name="T36" fmla="*/ 126 w 126"/>
                  <a:gd name="T37" fmla="*/ 131 h 166"/>
                  <a:gd name="T38" fmla="*/ 126 w 126"/>
                  <a:gd name="T39" fmla="*/ 16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6" h="166">
                    <a:moveTo>
                      <a:pt x="126" y="160"/>
                    </a:moveTo>
                    <a:cubicBezTo>
                      <a:pt x="108" y="164"/>
                      <a:pt x="91" y="166"/>
                      <a:pt x="74" y="166"/>
                    </a:cubicBezTo>
                    <a:cubicBezTo>
                      <a:pt x="68" y="166"/>
                      <a:pt x="62" y="165"/>
                      <a:pt x="56" y="165"/>
                    </a:cubicBezTo>
                    <a:cubicBezTo>
                      <a:pt x="50" y="164"/>
                      <a:pt x="43" y="163"/>
                      <a:pt x="36" y="161"/>
                    </a:cubicBezTo>
                    <a:cubicBezTo>
                      <a:pt x="29" y="159"/>
                      <a:pt x="23" y="157"/>
                      <a:pt x="18" y="153"/>
                    </a:cubicBezTo>
                    <a:cubicBezTo>
                      <a:pt x="13" y="150"/>
                      <a:pt x="9" y="146"/>
                      <a:pt x="5" y="140"/>
                    </a:cubicBezTo>
                    <a:cubicBezTo>
                      <a:pt x="2" y="134"/>
                      <a:pt x="0" y="127"/>
                      <a:pt x="0" y="119"/>
                    </a:cubicBezTo>
                    <a:cubicBezTo>
                      <a:pt x="0" y="49"/>
                      <a:pt x="0" y="49"/>
                      <a:pt x="0" y="49"/>
                    </a:cubicBezTo>
                    <a:cubicBezTo>
                      <a:pt x="0" y="16"/>
                      <a:pt x="25" y="0"/>
                      <a:pt x="74" y="0"/>
                    </a:cubicBezTo>
                    <a:cubicBezTo>
                      <a:pt x="87" y="0"/>
                      <a:pt x="104" y="2"/>
                      <a:pt x="125" y="6"/>
                    </a:cubicBezTo>
                    <a:cubicBezTo>
                      <a:pt x="125" y="35"/>
                      <a:pt x="125" y="35"/>
                      <a:pt x="125" y="35"/>
                    </a:cubicBezTo>
                    <a:cubicBezTo>
                      <a:pt x="106" y="30"/>
                      <a:pt x="89" y="28"/>
                      <a:pt x="75" y="28"/>
                    </a:cubicBezTo>
                    <a:cubicBezTo>
                      <a:pt x="69" y="28"/>
                      <a:pt x="65" y="28"/>
                      <a:pt x="61" y="28"/>
                    </a:cubicBezTo>
                    <a:cubicBezTo>
                      <a:pt x="58" y="29"/>
                      <a:pt x="54" y="29"/>
                      <a:pt x="50" y="31"/>
                    </a:cubicBezTo>
                    <a:cubicBezTo>
                      <a:pt x="46" y="32"/>
                      <a:pt x="43" y="34"/>
                      <a:pt x="41" y="37"/>
                    </a:cubicBezTo>
                    <a:cubicBezTo>
                      <a:pt x="40" y="40"/>
                      <a:pt x="39" y="44"/>
                      <a:pt x="39" y="48"/>
                    </a:cubicBezTo>
                    <a:cubicBezTo>
                      <a:pt x="39" y="116"/>
                      <a:pt x="39" y="116"/>
                      <a:pt x="39" y="116"/>
                    </a:cubicBezTo>
                    <a:cubicBezTo>
                      <a:pt x="39" y="131"/>
                      <a:pt x="52" y="138"/>
                      <a:pt x="78" y="138"/>
                    </a:cubicBezTo>
                    <a:cubicBezTo>
                      <a:pt x="90" y="138"/>
                      <a:pt x="106" y="136"/>
                      <a:pt x="126" y="131"/>
                    </a:cubicBezTo>
                    <a:lnTo>
                      <a:pt x="126" y="16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85" name="Freeform 25"/>
              <p:cNvSpPr>
                <a:spLocks/>
              </p:cNvSpPr>
              <p:nvPr userDrawn="1"/>
            </p:nvSpPr>
            <p:spPr bwMode="auto">
              <a:xfrm>
                <a:off x="5547605" y="776181"/>
                <a:ext cx="377394" cy="481114"/>
              </a:xfrm>
              <a:custGeom>
                <a:avLst/>
                <a:gdLst>
                  <a:gd name="T0" fmla="*/ 302 w 302"/>
                  <a:gd name="T1" fmla="*/ 385 h 385"/>
                  <a:gd name="T2" fmla="*/ 0 w 302"/>
                  <a:gd name="T3" fmla="*/ 385 h 385"/>
                  <a:gd name="T4" fmla="*/ 0 w 302"/>
                  <a:gd name="T5" fmla="*/ 0 h 385"/>
                  <a:gd name="T6" fmla="*/ 294 w 302"/>
                  <a:gd name="T7" fmla="*/ 0 h 385"/>
                  <a:gd name="T8" fmla="*/ 294 w 302"/>
                  <a:gd name="T9" fmla="*/ 65 h 385"/>
                  <a:gd name="T10" fmla="*/ 94 w 302"/>
                  <a:gd name="T11" fmla="*/ 65 h 385"/>
                  <a:gd name="T12" fmla="*/ 94 w 302"/>
                  <a:gd name="T13" fmla="*/ 154 h 385"/>
                  <a:gd name="T14" fmla="*/ 275 w 302"/>
                  <a:gd name="T15" fmla="*/ 154 h 385"/>
                  <a:gd name="T16" fmla="*/ 275 w 302"/>
                  <a:gd name="T17" fmla="*/ 219 h 385"/>
                  <a:gd name="T18" fmla="*/ 94 w 302"/>
                  <a:gd name="T19" fmla="*/ 219 h 385"/>
                  <a:gd name="T20" fmla="*/ 94 w 302"/>
                  <a:gd name="T21" fmla="*/ 320 h 385"/>
                  <a:gd name="T22" fmla="*/ 302 w 302"/>
                  <a:gd name="T23" fmla="*/ 320 h 385"/>
                  <a:gd name="T24" fmla="*/ 302 w 302"/>
                  <a:gd name="T25"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2" h="385">
                    <a:moveTo>
                      <a:pt x="302" y="385"/>
                    </a:moveTo>
                    <a:lnTo>
                      <a:pt x="0" y="385"/>
                    </a:lnTo>
                    <a:lnTo>
                      <a:pt x="0" y="0"/>
                    </a:lnTo>
                    <a:lnTo>
                      <a:pt x="294" y="0"/>
                    </a:lnTo>
                    <a:lnTo>
                      <a:pt x="294" y="65"/>
                    </a:lnTo>
                    <a:lnTo>
                      <a:pt x="94" y="65"/>
                    </a:lnTo>
                    <a:lnTo>
                      <a:pt x="94" y="154"/>
                    </a:lnTo>
                    <a:lnTo>
                      <a:pt x="275" y="154"/>
                    </a:lnTo>
                    <a:lnTo>
                      <a:pt x="275" y="219"/>
                    </a:lnTo>
                    <a:lnTo>
                      <a:pt x="94" y="219"/>
                    </a:lnTo>
                    <a:lnTo>
                      <a:pt x="94" y="320"/>
                    </a:lnTo>
                    <a:lnTo>
                      <a:pt x="302" y="320"/>
                    </a:lnTo>
                    <a:lnTo>
                      <a:pt x="302" y="38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86" name="Freeform 26"/>
              <p:cNvSpPr>
                <a:spLocks/>
              </p:cNvSpPr>
              <p:nvPr userDrawn="1"/>
            </p:nvSpPr>
            <p:spPr bwMode="auto">
              <a:xfrm>
                <a:off x="5998431" y="767433"/>
                <a:ext cx="394888" cy="499859"/>
              </a:xfrm>
              <a:custGeom>
                <a:avLst/>
                <a:gdLst>
                  <a:gd name="T0" fmla="*/ 131 w 131"/>
                  <a:gd name="T1" fmla="*/ 107 h 166"/>
                  <a:gd name="T2" fmla="*/ 131 w 131"/>
                  <a:gd name="T3" fmla="*/ 117 h 166"/>
                  <a:gd name="T4" fmla="*/ 126 w 131"/>
                  <a:gd name="T5" fmla="*/ 141 h 166"/>
                  <a:gd name="T6" fmla="*/ 110 w 131"/>
                  <a:gd name="T7" fmla="*/ 156 h 166"/>
                  <a:gd name="T8" fmla="*/ 88 w 131"/>
                  <a:gd name="T9" fmla="*/ 163 h 166"/>
                  <a:gd name="T10" fmla="*/ 60 w 131"/>
                  <a:gd name="T11" fmla="*/ 166 h 166"/>
                  <a:gd name="T12" fmla="*/ 3 w 131"/>
                  <a:gd name="T13" fmla="*/ 161 h 166"/>
                  <a:gd name="T14" fmla="*/ 3 w 131"/>
                  <a:gd name="T15" fmla="*/ 132 h 166"/>
                  <a:gd name="T16" fmla="*/ 60 w 131"/>
                  <a:gd name="T17" fmla="*/ 138 h 166"/>
                  <a:gd name="T18" fmla="*/ 92 w 131"/>
                  <a:gd name="T19" fmla="*/ 122 h 166"/>
                  <a:gd name="T20" fmla="*/ 92 w 131"/>
                  <a:gd name="T21" fmla="*/ 111 h 166"/>
                  <a:gd name="T22" fmla="*/ 88 w 131"/>
                  <a:gd name="T23" fmla="*/ 100 h 166"/>
                  <a:gd name="T24" fmla="*/ 71 w 131"/>
                  <a:gd name="T25" fmla="*/ 95 h 166"/>
                  <a:gd name="T26" fmla="*/ 52 w 131"/>
                  <a:gd name="T27" fmla="*/ 95 h 166"/>
                  <a:gd name="T28" fmla="*/ 0 w 131"/>
                  <a:gd name="T29" fmla="*/ 53 h 166"/>
                  <a:gd name="T30" fmla="*/ 0 w 131"/>
                  <a:gd name="T31" fmla="*/ 41 h 166"/>
                  <a:gd name="T32" fmla="*/ 17 w 131"/>
                  <a:gd name="T33" fmla="*/ 10 h 166"/>
                  <a:gd name="T34" fmla="*/ 73 w 131"/>
                  <a:gd name="T35" fmla="*/ 0 h 166"/>
                  <a:gd name="T36" fmla="*/ 123 w 131"/>
                  <a:gd name="T37" fmla="*/ 4 h 166"/>
                  <a:gd name="T38" fmla="*/ 123 w 131"/>
                  <a:gd name="T39" fmla="*/ 32 h 166"/>
                  <a:gd name="T40" fmla="*/ 71 w 131"/>
                  <a:gd name="T41" fmla="*/ 28 h 166"/>
                  <a:gd name="T42" fmla="*/ 45 w 131"/>
                  <a:gd name="T43" fmla="*/ 31 h 166"/>
                  <a:gd name="T44" fmla="*/ 38 w 131"/>
                  <a:gd name="T45" fmla="*/ 42 h 166"/>
                  <a:gd name="T46" fmla="*/ 38 w 131"/>
                  <a:gd name="T47" fmla="*/ 53 h 166"/>
                  <a:gd name="T48" fmla="*/ 59 w 131"/>
                  <a:gd name="T49" fmla="*/ 66 h 166"/>
                  <a:gd name="T50" fmla="*/ 79 w 131"/>
                  <a:gd name="T51" fmla="*/ 66 h 166"/>
                  <a:gd name="T52" fmla="*/ 119 w 131"/>
                  <a:gd name="T53" fmla="*/ 76 h 166"/>
                  <a:gd name="T54" fmla="*/ 131 w 131"/>
                  <a:gd name="T5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6">
                    <a:moveTo>
                      <a:pt x="131" y="107"/>
                    </a:moveTo>
                    <a:cubicBezTo>
                      <a:pt x="131" y="117"/>
                      <a:pt x="131" y="117"/>
                      <a:pt x="131" y="117"/>
                    </a:cubicBezTo>
                    <a:cubicBezTo>
                      <a:pt x="131" y="127"/>
                      <a:pt x="129" y="135"/>
                      <a:pt x="126" y="141"/>
                    </a:cubicBezTo>
                    <a:cubicBezTo>
                      <a:pt x="122" y="148"/>
                      <a:pt x="117" y="153"/>
                      <a:pt x="110" y="156"/>
                    </a:cubicBezTo>
                    <a:cubicBezTo>
                      <a:pt x="103" y="160"/>
                      <a:pt x="96" y="162"/>
                      <a:pt x="88" y="163"/>
                    </a:cubicBezTo>
                    <a:cubicBezTo>
                      <a:pt x="80" y="165"/>
                      <a:pt x="71" y="166"/>
                      <a:pt x="60" y="166"/>
                    </a:cubicBezTo>
                    <a:cubicBezTo>
                      <a:pt x="44" y="166"/>
                      <a:pt x="25" y="164"/>
                      <a:pt x="3" y="161"/>
                    </a:cubicBezTo>
                    <a:cubicBezTo>
                      <a:pt x="3" y="132"/>
                      <a:pt x="3" y="132"/>
                      <a:pt x="3" y="132"/>
                    </a:cubicBezTo>
                    <a:cubicBezTo>
                      <a:pt x="30" y="136"/>
                      <a:pt x="49" y="138"/>
                      <a:pt x="60" y="138"/>
                    </a:cubicBezTo>
                    <a:cubicBezTo>
                      <a:pt x="81" y="138"/>
                      <a:pt x="92" y="133"/>
                      <a:pt x="92" y="122"/>
                    </a:cubicBezTo>
                    <a:cubicBezTo>
                      <a:pt x="92" y="111"/>
                      <a:pt x="92" y="111"/>
                      <a:pt x="92" y="111"/>
                    </a:cubicBezTo>
                    <a:cubicBezTo>
                      <a:pt x="92" y="106"/>
                      <a:pt x="91" y="103"/>
                      <a:pt x="88" y="100"/>
                    </a:cubicBezTo>
                    <a:cubicBezTo>
                      <a:pt x="85" y="96"/>
                      <a:pt x="80" y="95"/>
                      <a:pt x="71" y="95"/>
                    </a:cubicBezTo>
                    <a:cubicBezTo>
                      <a:pt x="52" y="95"/>
                      <a:pt x="52" y="95"/>
                      <a:pt x="52" y="95"/>
                    </a:cubicBezTo>
                    <a:cubicBezTo>
                      <a:pt x="17" y="95"/>
                      <a:pt x="0" y="81"/>
                      <a:pt x="0" y="53"/>
                    </a:cubicBezTo>
                    <a:cubicBezTo>
                      <a:pt x="0" y="41"/>
                      <a:pt x="0" y="41"/>
                      <a:pt x="0" y="41"/>
                    </a:cubicBezTo>
                    <a:cubicBezTo>
                      <a:pt x="0" y="27"/>
                      <a:pt x="5" y="17"/>
                      <a:pt x="17" y="10"/>
                    </a:cubicBezTo>
                    <a:cubicBezTo>
                      <a:pt x="29" y="4"/>
                      <a:pt x="47" y="0"/>
                      <a:pt x="73" y="0"/>
                    </a:cubicBezTo>
                    <a:cubicBezTo>
                      <a:pt x="85" y="0"/>
                      <a:pt x="102" y="1"/>
                      <a:pt x="123" y="4"/>
                    </a:cubicBezTo>
                    <a:cubicBezTo>
                      <a:pt x="123" y="32"/>
                      <a:pt x="123" y="32"/>
                      <a:pt x="123" y="32"/>
                    </a:cubicBezTo>
                    <a:cubicBezTo>
                      <a:pt x="98" y="29"/>
                      <a:pt x="81" y="28"/>
                      <a:pt x="71" y="28"/>
                    </a:cubicBezTo>
                    <a:cubicBezTo>
                      <a:pt x="59" y="28"/>
                      <a:pt x="50" y="29"/>
                      <a:pt x="45" y="31"/>
                    </a:cubicBezTo>
                    <a:cubicBezTo>
                      <a:pt x="40" y="33"/>
                      <a:pt x="38" y="37"/>
                      <a:pt x="38" y="42"/>
                    </a:cubicBezTo>
                    <a:cubicBezTo>
                      <a:pt x="38" y="53"/>
                      <a:pt x="38" y="53"/>
                      <a:pt x="38" y="53"/>
                    </a:cubicBezTo>
                    <a:cubicBezTo>
                      <a:pt x="38" y="62"/>
                      <a:pt x="45" y="66"/>
                      <a:pt x="59" y="66"/>
                    </a:cubicBezTo>
                    <a:cubicBezTo>
                      <a:pt x="79" y="66"/>
                      <a:pt x="79" y="66"/>
                      <a:pt x="79" y="66"/>
                    </a:cubicBezTo>
                    <a:cubicBezTo>
                      <a:pt x="97" y="66"/>
                      <a:pt x="111" y="69"/>
                      <a:pt x="119" y="76"/>
                    </a:cubicBezTo>
                    <a:cubicBezTo>
                      <a:pt x="127" y="83"/>
                      <a:pt x="131" y="93"/>
                      <a:pt x="131" y="107"/>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grpSp>
        <p:grpSp>
          <p:nvGrpSpPr>
            <p:cNvPr id="36" name="Group 35"/>
            <p:cNvGrpSpPr/>
            <p:nvPr userDrawn="1"/>
          </p:nvGrpSpPr>
          <p:grpSpPr>
            <a:xfrm>
              <a:off x="314326" y="1075660"/>
              <a:ext cx="1843867" cy="369143"/>
              <a:chOff x="1146212" y="1396551"/>
              <a:chExt cx="2484309" cy="497360"/>
            </a:xfrm>
            <a:grpFill/>
          </p:grpSpPr>
          <p:sp>
            <p:nvSpPr>
              <p:cNvPr id="73" name="Freeform 27"/>
              <p:cNvSpPr>
                <a:spLocks/>
              </p:cNvSpPr>
              <p:nvPr userDrawn="1"/>
            </p:nvSpPr>
            <p:spPr bwMode="auto">
              <a:xfrm>
                <a:off x="1146212" y="1396551"/>
                <a:ext cx="443627" cy="497359"/>
              </a:xfrm>
              <a:custGeom>
                <a:avLst/>
                <a:gdLst>
                  <a:gd name="T0" fmla="*/ 147 w 147"/>
                  <a:gd name="T1" fmla="*/ 155 h 165"/>
                  <a:gd name="T2" fmla="*/ 115 w 147"/>
                  <a:gd name="T3" fmla="*/ 162 h 165"/>
                  <a:gd name="T4" fmla="*/ 80 w 147"/>
                  <a:gd name="T5" fmla="*/ 165 h 165"/>
                  <a:gd name="T6" fmla="*/ 56 w 147"/>
                  <a:gd name="T7" fmla="*/ 164 h 165"/>
                  <a:gd name="T8" fmla="*/ 34 w 147"/>
                  <a:gd name="T9" fmla="*/ 160 h 165"/>
                  <a:gd name="T10" fmla="*/ 16 w 147"/>
                  <a:gd name="T11" fmla="*/ 152 h 165"/>
                  <a:gd name="T12" fmla="*/ 5 w 147"/>
                  <a:gd name="T13" fmla="*/ 138 h 165"/>
                  <a:gd name="T14" fmla="*/ 0 w 147"/>
                  <a:gd name="T15" fmla="*/ 119 h 165"/>
                  <a:gd name="T16" fmla="*/ 0 w 147"/>
                  <a:gd name="T17" fmla="*/ 52 h 165"/>
                  <a:gd name="T18" fmla="*/ 5 w 147"/>
                  <a:gd name="T19" fmla="*/ 30 h 165"/>
                  <a:gd name="T20" fmla="*/ 18 w 147"/>
                  <a:gd name="T21" fmla="*/ 15 h 165"/>
                  <a:gd name="T22" fmla="*/ 37 w 147"/>
                  <a:gd name="T23" fmla="*/ 6 h 165"/>
                  <a:gd name="T24" fmla="*/ 59 w 147"/>
                  <a:gd name="T25" fmla="*/ 1 h 165"/>
                  <a:gd name="T26" fmla="*/ 80 w 147"/>
                  <a:gd name="T27" fmla="*/ 0 h 165"/>
                  <a:gd name="T28" fmla="*/ 146 w 147"/>
                  <a:gd name="T29" fmla="*/ 5 h 165"/>
                  <a:gd name="T30" fmla="*/ 146 w 147"/>
                  <a:gd name="T31" fmla="*/ 34 h 165"/>
                  <a:gd name="T32" fmla="*/ 80 w 147"/>
                  <a:gd name="T33" fmla="*/ 27 h 165"/>
                  <a:gd name="T34" fmla="*/ 39 w 147"/>
                  <a:gd name="T35" fmla="*/ 51 h 165"/>
                  <a:gd name="T36" fmla="*/ 39 w 147"/>
                  <a:gd name="T37" fmla="*/ 116 h 165"/>
                  <a:gd name="T38" fmla="*/ 50 w 147"/>
                  <a:gd name="T39" fmla="*/ 133 h 165"/>
                  <a:gd name="T40" fmla="*/ 84 w 147"/>
                  <a:gd name="T41" fmla="*/ 138 h 165"/>
                  <a:gd name="T42" fmla="*/ 110 w 147"/>
                  <a:gd name="T43" fmla="*/ 134 h 165"/>
                  <a:gd name="T44" fmla="*/ 110 w 147"/>
                  <a:gd name="T45" fmla="*/ 97 h 165"/>
                  <a:gd name="T46" fmla="*/ 84 w 147"/>
                  <a:gd name="T47" fmla="*/ 97 h 165"/>
                  <a:gd name="T48" fmla="*/ 84 w 147"/>
                  <a:gd name="T49" fmla="*/ 71 h 165"/>
                  <a:gd name="T50" fmla="*/ 147 w 147"/>
                  <a:gd name="T51" fmla="*/ 71 h 165"/>
                  <a:gd name="T52" fmla="*/ 147 w 147"/>
                  <a:gd name="T53" fmla="*/ 15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7" h="165">
                    <a:moveTo>
                      <a:pt x="147" y="155"/>
                    </a:moveTo>
                    <a:cubicBezTo>
                      <a:pt x="138" y="158"/>
                      <a:pt x="128" y="160"/>
                      <a:pt x="115" y="162"/>
                    </a:cubicBezTo>
                    <a:cubicBezTo>
                      <a:pt x="102" y="164"/>
                      <a:pt x="91" y="165"/>
                      <a:pt x="80" y="165"/>
                    </a:cubicBezTo>
                    <a:cubicBezTo>
                      <a:pt x="71" y="165"/>
                      <a:pt x="63" y="165"/>
                      <a:pt x="56" y="164"/>
                    </a:cubicBezTo>
                    <a:cubicBezTo>
                      <a:pt x="49" y="163"/>
                      <a:pt x="42" y="162"/>
                      <a:pt x="34" y="160"/>
                    </a:cubicBezTo>
                    <a:cubicBezTo>
                      <a:pt x="27" y="158"/>
                      <a:pt x="21" y="155"/>
                      <a:pt x="16" y="152"/>
                    </a:cubicBezTo>
                    <a:cubicBezTo>
                      <a:pt x="11" y="148"/>
                      <a:pt x="8" y="144"/>
                      <a:pt x="5" y="138"/>
                    </a:cubicBezTo>
                    <a:cubicBezTo>
                      <a:pt x="2" y="133"/>
                      <a:pt x="0" y="126"/>
                      <a:pt x="0" y="119"/>
                    </a:cubicBezTo>
                    <a:cubicBezTo>
                      <a:pt x="0" y="52"/>
                      <a:pt x="0" y="52"/>
                      <a:pt x="0" y="52"/>
                    </a:cubicBezTo>
                    <a:cubicBezTo>
                      <a:pt x="0" y="43"/>
                      <a:pt x="2" y="36"/>
                      <a:pt x="5" y="30"/>
                    </a:cubicBezTo>
                    <a:cubicBezTo>
                      <a:pt x="9" y="23"/>
                      <a:pt x="13" y="18"/>
                      <a:pt x="18" y="15"/>
                    </a:cubicBezTo>
                    <a:cubicBezTo>
                      <a:pt x="24" y="11"/>
                      <a:pt x="30" y="8"/>
                      <a:pt x="37" y="6"/>
                    </a:cubicBezTo>
                    <a:cubicBezTo>
                      <a:pt x="45" y="3"/>
                      <a:pt x="52" y="2"/>
                      <a:pt x="59" y="1"/>
                    </a:cubicBezTo>
                    <a:cubicBezTo>
                      <a:pt x="66" y="0"/>
                      <a:pt x="73" y="0"/>
                      <a:pt x="80" y="0"/>
                    </a:cubicBezTo>
                    <a:cubicBezTo>
                      <a:pt x="103" y="0"/>
                      <a:pt x="125" y="1"/>
                      <a:pt x="146" y="5"/>
                    </a:cubicBezTo>
                    <a:cubicBezTo>
                      <a:pt x="146" y="34"/>
                      <a:pt x="146" y="34"/>
                      <a:pt x="146" y="34"/>
                    </a:cubicBezTo>
                    <a:cubicBezTo>
                      <a:pt x="126" y="29"/>
                      <a:pt x="104" y="27"/>
                      <a:pt x="80" y="27"/>
                    </a:cubicBezTo>
                    <a:cubicBezTo>
                      <a:pt x="53" y="27"/>
                      <a:pt x="39" y="35"/>
                      <a:pt x="39" y="51"/>
                    </a:cubicBezTo>
                    <a:cubicBezTo>
                      <a:pt x="39" y="116"/>
                      <a:pt x="39" y="116"/>
                      <a:pt x="39" y="116"/>
                    </a:cubicBezTo>
                    <a:cubicBezTo>
                      <a:pt x="39" y="124"/>
                      <a:pt x="43" y="130"/>
                      <a:pt x="50" y="133"/>
                    </a:cubicBezTo>
                    <a:cubicBezTo>
                      <a:pt x="58" y="136"/>
                      <a:pt x="69" y="138"/>
                      <a:pt x="84" y="138"/>
                    </a:cubicBezTo>
                    <a:cubicBezTo>
                      <a:pt x="92" y="138"/>
                      <a:pt x="101" y="136"/>
                      <a:pt x="110" y="134"/>
                    </a:cubicBezTo>
                    <a:cubicBezTo>
                      <a:pt x="110" y="97"/>
                      <a:pt x="110" y="97"/>
                      <a:pt x="110" y="97"/>
                    </a:cubicBezTo>
                    <a:cubicBezTo>
                      <a:pt x="84" y="97"/>
                      <a:pt x="84" y="97"/>
                      <a:pt x="84" y="97"/>
                    </a:cubicBezTo>
                    <a:cubicBezTo>
                      <a:pt x="84" y="71"/>
                      <a:pt x="84" y="71"/>
                      <a:pt x="84" y="71"/>
                    </a:cubicBezTo>
                    <a:cubicBezTo>
                      <a:pt x="147" y="71"/>
                      <a:pt x="147" y="71"/>
                      <a:pt x="147" y="71"/>
                    </a:cubicBezTo>
                    <a:lnTo>
                      <a:pt x="147" y="15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74" name="Freeform 28"/>
              <p:cNvSpPr>
                <a:spLocks noEditPoints="1"/>
              </p:cNvSpPr>
              <p:nvPr userDrawn="1"/>
            </p:nvSpPr>
            <p:spPr bwMode="auto">
              <a:xfrm>
                <a:off x="1697852" y="1402799"/>
                <a:ext cx="431129" cy="484862"/>
              </a:xfrm>
              <a:custGeom>
                <a:avLst/>
                <a:gdLst>
                  <a:gd name="T0" fmla="*/ 143 w 143"/>
                  <a:gd name="T1" fmla="*/ 161 h 161"/>
                  <a:gd name="T2" fmla="*/ 98 w 143"/>
                  <a:gd name="T3" fmla="*/ 161 h 161"/>
                  <a:gd name="T4" fmla="*/ 56 w 143"/>
                  <a:gd name="T5" fmla="*/ 98 h 161"/>
                  <a:gd name="T6" fmla="*/ 38 w 143"/>
                  <a:gd name="T7" fmla="*/ 98 h 161"/>
                  <a:gd name="T8" fmla="*/ 38 w 143"/>
                  <a:gd name="T9" fmla="*/ 161 h 161"/>
                  <a:gd name="T10" fmla="*/ 0 w 143"/>
                  <a:gd name="T11" fmla="*/ 161 h 161"/>
                  <a:gd name="T12" fmla="*/ 0 w 143"/>
                  <a:gd name="T13" fmla="*/ 0 h 161"/>
                  <a:gd name="T14" fmla="*/ 72 w 143"/>
                  <a:gd name="T15" fmla="*/ 0 h 161"/>
                  <a:gd name="T16" fmla="*/ 118 w 143"/>
                  <a:gd name="T17" fmla="*/ 8 h 161"/>
                  <a:gd name="T18" fmla="*/ 133 w 143"/>
                  <a:gd name="T19" fmla="*/ 34 h 161"/>
                  <a:gd name="T20" fmla="*/ 133 w 143"/>
                  <a:gd name="T21" fmla="*/ 62 h 161"/>
                  <a:gd name="T22" fmla="*/ 122 w 143"/>
                  <a:gd name="T23" fmla="*/ 85 h 161"/>
                  <a:gd name="T24" fmla="*/ 96 w 143"/>
                  <a:gd name="T25" fmla="*/ 95 h 161"/>
                  <a:gd name="T26" fmla="*/ 143 w 143"/>
                  <a:gd name="T27" fmla="*/ 161 h 161"/>
                  <a:gd name="T28" fmla="*/ 95 w 143"/>
                  <a:gd name="T29" fmla="*/ 55 h 161"/>
                  <a:gd name="T30" fmla="*/ 95 w 143"/>
                  <a:gd name="T31" fmla="*/ 43 h 161"/>
                  <a:gd name="T32" fmla="*/ 90 w 143"/>
                  <a:gd name="T33" fmla="*/ 31 h 161"/>
                  <a:gd name="T34" fmla="*/ 71 w 143"/>
                  <a:gd name="T35" fmla="*/ 28 h 161"/>
                  <a:gd name="T36" fmla="*/ 38 w 143"/>
                  <a:gd name="T37" fmla="*/ 28 h 161"/>
                  <a:gd name="T38" fmla="*/ 38 w 143"/>
                  <a:gd name="T39" fmla="*/ 72 h 161"/>
                  <a:gd name="T40" fmla="*/ 71 w 143"/>
                  <a:gd name="T41" fmla="*/ 72 h 161"/>
                  <a:gd name="T42" fmla="*/ 90 w 143"/>
                  <a:gd name="T43" fmla="*/ 69 h 161"/>
                  <a:gd name="T44" fmla="*/ 95 w 143"/>
                  <a:gd name="T45" fmla="*/ 5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3" h="161">
                    <a:moveTo>
                      <a:pt x="143" y="161"/>
                    </a:moveTo>
                    <a:cubicBezTo>
                      <a:pt x="98" y="161"/>
                      <a:pt x="98" y="161"/>
                      <a:pt x="98" y="161"/>
                    </a:cubicBezTo>
                    <a:cubicBezTo>
                      <a:pt x="56" y="98"/>
                      <a:pt x="56" y="98"/>
                      <a:pt x="56" y="98"/>
                    </a:cubicBezTo>
                    <a:cubicBezTo>
                      <a:pt x="38" y="98"/>
                      <a:pt x="38" y="98"/>
                      <a:pt x="38" y="98"/>
                    </a:cubicBezTo>
                    <a:cubicBezTo>
                      <a:pt x="38" y="161"/>
                      <a:pt x="38" y="161"/>
                      <a:pt x="38" y="161"/>
                    </a:cubicBezTo>
                    <a:cubicBezTo>
                      <a:pt x="0" y="161"/>
                      <a:pt x="0" y="161"/>
                      <a:pt x="0" y="161"/>
                    </a:cubicBezTo>
                    <a:cubicBezTo>
                      <a:pt x="0" y="0"/>
                      <a:pt x="0" y="0"/>
                      <a:pt x="0" y="0"/>
                    </a:cubicBezTo>
                    <a:cubicBezTo>
                      <a:pt x="72" y="0"/>
                      <a:pt x="72" y="0"/>
                      <a:pt x="72" y="0"/>
                    </a:cubicBezTo>
                    <a:cubicBezTo>
                      <a:pt x="93" y="0"/>
                      <a:pt x="108" y="3"/>
                      <a:pt x="118" y="8"/>
                    </a:cubicBezTo>
                    <a:cubicBezTo>
                      <a:pt x="128" y="13"/>
                      <a:pt x="133" y="22"/>
                      <a:pt x="133" y="34"/>
                    </a:cubicBezTo>
                    <a:cubicBezTo>
                      <a:pt x="133" y="62"/>
                      <a:pt x="133" y="62"/>
                      <a:pt x="133" y="62"/>
                    </a:cubicBezTo>
                    <a:cubicBezTo>
                      <a:pt x="133" y="72"/>
                      <a:pt x="129" y="79"/>
                      <a:pt x="122" y="85"/>
                    </a:cubicBezTo>
                    <a:cubicBezTo>
                      <a:pt x="115" y="90"/>
                      <a:pt x="106" y="93"/>
                      <a:pt x="96" y="95"/>
                    </a:cubicBezTo>
                    <a:lnTo>
                      <a:pt x="143" y="161"/>
                    </a:lnTo>
                    <a:close/>
                    <a:moveTo>
                      <a:pt x="95" y="55"/>
                    </a:moveTo>
                    <a:cubicBezTo>
                      <a:pt x="95" y="43"/>
                      <a:pt x="95" y="43"/>
                      <a:pt x="95" y="43"/>
                    </a:cubicBezTo>
                    <a:cubicBezTo>
                      <a:pt x="95" y="37"/>
                      <a:pt x="93" y="33"/>
                      <a:pt x="90" y="31"/>
                    </a:cubicBezTo>
                    <a:cubicBezTo>
                      <a:pt x="86" y="29"/>
                      <a:pt x="80" y="28"/>
                      <a:pt x="71" y="28"/>
                    </a:cubicBezTo>
                    <a:cubicBezTo>
                      <a:pt x="38" y="28"/>
                      <a:pt x="38" y="28"/>
                      <a:pt x="38" y="28"/>
                    </a:cubicBezTo>
                    <a:cubicBezTo>
                      <a:pt x="38" y="72"/>
                      <a:pt x="38" y="72"/>
                      <a:pt x="38" y="72"/>
                    </a:cubicBezTo>
                    <a:cubicBezTo>
                      <a:pt x="71" y="72"/>
                      <a:pt x="71" y="72"/>
                      <a:pt x="71" y="72"/>
                    </a:cubicBezTo>
                    <a:cubicBezTo>
                      <a:pt x="80" y="72"/>
                      <a:pt x="87" y="71"/>
                      <a:pt x="90" y="69"/>
                    </a:cubicBezTo>
                    <a:cubicBezTo>
                      <a:pt x="93" y="66"/>
                      <a:pt x="95" y="61"/>
                      <a:pt x="95" y="55"/>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75" name="Freeform 29"/>
              <p:cNvSpPr>
                <a:spLocks noEditPoints="1"/>
              </p:cNvSpPr>
              <p:nvPr userDrawn="1"/>
            </p:nvSpPr>
            <p:spPr bwMode="auto">
              <a:xfrm>
                <a:off x="2188536" y="1396552"/>
                <a:ext cx="458622" cy="497359"/>
              </a:xfrm>
              <a:custGeom>
                <a:avLst/>
                <a:gdLst>
                  <a:gd name="T0" fmla="*/ 152 w 152"/>
                  <a:gd name="T1" fmla="*/ 48 h 165"/>
                  <a:gd name="T2" fmla="*/ 152 w 152"/>
                  <a:gd name="T3" fmla="*/ 119 h 165"/>
                  <a:gd name="T4" fmla="*/ 145 w 152"/>
                  <a:gd name="T5" fmla="*/ 142 h 165"/>
                  <a:gd name="T6" fmla="*/ 126 w 152"/>
                  <a:gd name="T7" fmla="*/ 156 h 165"/>
                  <a:gd name="T8" fmla="*/ 102 w 152"/>
                  <a:gd name="T9" fmla="*/ 163 h 165"/>
                  <a:gd name="T10" fmla="*/ 76 w 152"/>
                  <a:gd name="T11" fmla="*/ 165 h 165"/>
                  <a:gd name="T12" fmla="*/ 52 w 152"/>
                  <a:gd name="T13" fmla="*/ 163 h 165"/>
                  <a:gd name="T14" fmla="*/ 28 w 152"/>
                  <a:gd name="T15" fmla="*/ 157 h 165"/>
                  <a:gd name="T16" fmla="*/ 8 w 152"/>
                  <a:gd name="T17" fmla="*/ 143 h 165"/>
                  <a:gd name="T18" fmla="*/ 0 w 152"/>
                  <a:gd name="T19" fmla="*/ 119 h 165"/>
                  <a:gd name="T20" fmla="*/ 0 w 152"/>
                  <a:gd name="T21" fmla="*/ 48 h 165"/>
                  <a:gd name="T22" fmla="*/ 6 w 152"/>
                  <a:gd name="T23" fmla="*/ 27 h 165"/>
                  <a:gd name="T24" fmla="*/ 19 w 152"/>
                  <a:gd name="T25" fmla="*/ 12 h 165"/>
                  <a:gd name="T26" fmla="*/ 38 w 152"/>
                  <a:gd name="T27" fmla="*/ 4 h 165"/>
                  <a:gd name="T28" fmla="*/ 58 w 152"/>
                  <a:gd name="T29" fmla="*/ 0 h 165"/>
                  <a:gd name="T30" fmla="*/ 76 w 152"/>
                  <a:gd name="T31" fmla="*/ 0 h 165"/>
                  <a:gd name="T32" fmla="*/ 95 w 152"/>
                  <a:gd name="T33" fmla="*/ 0 h 165"/>
                  <a:gd name="T34" fmla="*/ 115 w 152"/>
                  <a:gd name="T35" fmla="*/ 4 h 165"/>
                  <a:gd name="T36" fmla="*/ 134 w 152"/>
                  <a:gd name="T37" fmla="*/ 12 h 165"/>
                  <a:gd name="T38" fmla="*/ 147 w 152"/>
                  <a:gd name="T39" fmla="*/ 27 h 165"/>
                  <a:gd name="T40" fmla="*/ 152 w 152"/>
                  <a:gd name="T41" fmla="*/ 48 h 165"/>
                  <a:gd name="T42" fmla="*/ 114 w 152"/>
                  <a:gd name="T43" fmla="*/ 119 h 165"/>
                  <a:gd name="T44" fmla="*/ 114 w 152"/>
                  <a:gd name="T45" fmla="*/ 48 h 165"/>
                  <a:gd name="T46" fmla="*/ 104 w 152"/>
                  <a:gd name="T47" fmla="*/ 32 h 165"/>
                  <a:gd name="T48" fmla="*/ 76 w 152"/>
                  <a:gd name="T49" fmla="*/ 27 h 165"/>
                  <a:gd name="T50" fmla="*/ 48 w 152"/>
                  <a:gd name="T51" fmla="*/ 32 h 165"/>
                  <a:gd name="T52" fmla="*/ 39 w 152"/>
                  <a:gd name="T53" fmla="*/ 48 h 165"/>
                  <a:gd name="T54" fmla="*/ 39 w 152"/>
                  <a:gd name="T55" fmla="*/ 119 h 165"/>
                  <a:gd name="T56" fmla="*/ 42 w 152"/>
                  <a:gd name="T57" fmla="*/ 129 h 165"/>
                  <a:gd name="T58" fmla="*/ 51 w 152"/>
                  <a:gd name="T59" fmla="*/ 135 h 165"/>
                  <a:gd name="T60" fmla="*/ 63 w 152"/>
                  <a:gd name="T61" fmla="*/ 137 h 165"/>
                  <a:gd name="T62" fmla="*/ 77 w 152"/>
                  <a:gd name="T63" fmla="*/ 138 h 165"/>
                  <a:gd name="T64" fmla="*/ 90 w 152"/>
                  <a:gd name="T65" fmla="*/ 137 h 165"/>
                  <a:gd name="T66" fmla="*/ 102 w 152"/>
                  <a:gd name="T67" fmla="*/ 135 h 165"/>
                  <a:gd name="T68" fmla="*/ 111 w 152"/>
                  <a:gd name="T69" fmla="*/ 129 h 165"/>
                  <a:gd name="T70" fmla="*/ 114 w 152"/>
                  <a:gd name="T71" fmla="*/ 119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2" h="165">
                    <a:moveTo>
                      <a:pt x="152" y="48"/>
                    </a:moveTo>
                    <a:cubicBezTo>
                      <a:pt x="152" y="119"/>
                      <a:pt x="152" y="119"/>
                      <a:pt x="152" y="119"/>
                    </a:cubicBezTo>
                    <a:cubicBezTo>
                      <a:pt x="152" y="128"/>
                      <a:pt x="150" y="135"/>
                      <a:pt x="145" y="142"/>
                    </a:cubicBezTo>
                    <a:cubicBezTo>
                      <a:pt x="141" y="148"/>
                      <a:pt x="134" y="153"/>
                      <a:pt x="126" y="156"/>
                    </a:cubicBezTo>
                    <a:cubicBezTo>
                      <a:pt x="118" y="159"/>
                      <a:pt x="110" y="162"/>
                      <a:pt x="102" y="163"/>
                    </a:cubicBezTo>
                    <a:cubicBezTo>
                      <a:pt x="94" y="164"/>
                      <a:pt x="85" y="165"/>
                      <a:pt x="76" y="165"/>
                    </a:cubicBezTo>
                    <a:cubicBezTo>
                      <a:pt x="68" y="165"/>
                      <a:pt x="60" y="164"/>
                      <a:pt x="52" y="163"/>
                    </a:cubicBezTo>
                    <a:cubicBezTo>
                      <a:pt x="45" y="162"/>
                      <a:pt x="37" y="160"/>
                      <a:pt x="28" y="157"/>
                    </a:cubicBezTo>
                    <a:cubicBezTo>
                      <a:pt x="20" y="154"/>
                      <a:pt x="13" y="150"/>
                      <a:pt x="8" y="143"/>
                    </a:cubicBezTo>
                    <a:cubicBezTo>
                      <a:pt x="3" y="136"/>
                      <a:pt x="0" y="128"/>
                      <a:pt x="0" y="119"/>
                    </a:cubicBezTo>
                    <a:cubicBezTo>
                      <a:pt x="0" y="48"/>
                      <a:pt x="0" y="48"/>
                      <a:pt x="0" y="48"/>
                    </a:cubicBezTo>
                    <a:cubicBezTo>
                      <a:pt x="0" y="40"/>
                      <a:pt x="2" y="33"/>
                      <a:pt x="6" y="27"/>
                    </a:cubicBezTo>
                    <a:cubicBezTo>
                      <a:pt x="10" y="20"/>
                      <a:pt x="14" y="16"/>
                      <a:pt x="19" y="12"/>
                    </a:cubicBezTo>
                    <a:cubicBezTo>
                      <a:pt x="24" y="9"/>
                      <a:pt x="31" y="6"/>
                      <a:pt x="38" y="4"/>
                    </a:cubicBezTo>
                    <a:cubicBezTo>
                      <a:pt x="46" y="2"/>
                      <a:pt x="52" y="1"/>
                      <a:pt x="58" y="0"/>
                    </a:cubicBezTo>
                    <a:cubicBezTo>
                      <a:pt x="64" y="0"/>
                      <a:pt x="70" y="0"/>
                      <a:pt x="76" y="0"/>
                    </a:cubicBezTo>
                    <a:cubicBezTo>
                      <a:pt x="83" y="0"/>
                      <a:pt x="89" y="0"/>
                      <a:pt x="95" y="0"/>
                    </a:cubicBezTo>
                    <a:cubicBezTo>
                      <a:pt x="101" y="1"/>
                      <a:pt x="107" y="2"/>
                      <a:pt x="115" y="4"/>
                    </a:cubicBezTo>
                    <a:cubicBezTo>
                      <a:pt x="122" y="6"/>
                      <a:pt x="128" y="9"/>
                      <a:pt x="134" y="12"/>
                    </a:cubicBezTo>
                    <a:cubicBezTo>
                      <a:pt x="139" y="16"/>
                      <a:pt x="143" y="20"/>
                      <a:pt x="147" y="27"/>
                    </a:cubicBezTo>
                    <a:cubicBezTo>
                      <a:pt x="151" y="33"/>
                      <a:pt x="152" y="40"/>
                      <a:pt x="152" y="48"/>
                    </a:cubicBezTo>
                    <a:close/>
                    <a:moveTo>
                      <a:pt x="114" y="119"/>
                    </a:moveTo>
                    <a:cubicBezTo>
                      <a:pt x="114" y="48"/>
                      <a:pt x="114" y="48"/>
                      <a:pt x="114" y="48"/>
                    </a:cubicBezTo>
                    <a:cubicBezTo>
                      <a:pt x="114" y="40"/>
                      <a:pt x="111" y="35"/>
                      <a:pt x="104" y="32"/>
                    </a:cubicBezTo>
                    <a:cubicBezTo>
                      <a:pt x="98" y="29"/>
                      <a:pt x="89" y="27"/>
                      <a:pt x="76" y="27"/>
                    </a:cubicBezTo>
                    <a:cubicBezTo>
                      <a:pt x="64" y="27"/>
                      <a:pt x="54" y="29"/>
                      <a:pt x="48" y="32"/>
                    </a:cubicBezTo>
                    <a:cubicBezTo>
                      <a:pt x="42" y="35"/>
                      <a:pt x="39" y="40"/>
                      <a:pt x="39" y="48"/>
                    </a:cubicBezTo>
                    <a:cubicBezTo>
                      <a:pt x="39" y="119"/>
                      <a:pt x="39" y="119"/>
                      <a:pt x="39" y="119"/>
                    </a:cubicBezTo>
                    <a:cubicBezTo>
                      <a:pt x="39" y="123"/>
                      <a:pt x="40" y="126"/>
                      <a:pt x="42" y="129"/>
                    </a:cubicBezTo>
                    <a:cubicBezTo>
                      <a:pt x="44" y="132"/>
                      <a:pt x="47" y="133"/>
                      <a:pt x="51" y="135"/>
                    </a:cubicBezTo>
                    <a:cubicBezTo>
                      <a:pt x="55" y="136"/>
                      <a:pt x="59" y="137"/>
                      <a:pt x="63" y="137"/>
                    </a:cubicBezTo>
                    <a:cubicBezTo>
                      <a:pt x="67" y="137"/>
                      <a:pt x="71" y="138"/>
                      <a:pt x="77" y="138"/>
                    </a:cubicBezTo>
                    <a:cubicBezTo>
                      <a:pt x="82" y="138"/>
                      <a:pt x="87" y="137"/>
                      <a:pt x="90" y="137"/>
                    </a:cubicBezTo>
                    <a:cubicBezTo>
                      <a:pt x="94" y="137"/>
                      <a:pt x="98" y="136"/>
                      <a:pt x="102" y="135"/>
                    </a:cubicBezTo>
                    <a:cubicBezTo>
                      <a:pt x="106" y="133"/>
                      <a:pt x="109" y="132"/>
                      <a:pt x="111" y="129"/>
                    </a:cubicBezTo>
                    <a:cubicBezTo>
                      <a:pt x="113" y="126"/>
                      <a:pt x="114" y="123"/>
                      <a:pt x="114" y="119"/>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76" name="Freeform 30"/>
              <p:cNvSpPr>
                <a:spLocks/>
              </p:cNvSpPr>
              <p:nvPr userDrawn="1"/>
            </p:nvSpPr>
            <p:spPr bwMode="auto">
              <a:xfrm>
                <a:off x="2736993" y="1402799"/>
                <a:ext cx="418634" cy="491111"/>
              </a:xfrm>
              <a:custGeom>
                <a:avLst/>
                <a:gdLst>
                  <a:gd name="T0" fmla="*/ 139 w 139"/>
                  <a:gd name="T1" fmla="*/ 0 h 163"/>
                  <a:gd name="T2" fmla="*/ 139 w 139"/>
                  <a:gd name="T3" fmla="*/ 117 h 163"/>
                  <a:gd name="T4" fmla="*/ 70 w 139"/>
                  <a:gd name="T5" fmla="*/ 163 h 163"/>
                  <a:gd name="T6" fmla="*/ 0 w 139"/>
                  <a:gd name="T7" fmla="*/ 117 h 163"/>
                  <a:gd name="T8" fmla="*/ 0 w 139"/>
                  <a:gd name="T9" fmla="*/ 0 h 163"/>
                  <a:gd name="T10" fmla="*/ 39 w 139"/>
                  <a:gd name="T11" fmla="*/ 0 h 163"/>
                  <a:gd name="T12" fmla="*/ 39 w 139"/>
                  <a:gd name="T13" fmla="*/ 117 h 163"/>
                  <a:gd name="T14" fmla="*/ 46 w 139"/>
                  <a:gd name="T15" fmla="*/ 132 h 163"/>
                  <a:gd name="T16" fmla="*/ 70 w 139"/>
                  <a:gd name="T17" fmla="*/ 136 h 163"/>
                  <a:gd name="T18" fmla="*/ 94 w 139"/>
                  <a:gd name="T19" fmla="*/ 132 h 163"/>
                  <a:gd name="T20" fmla="*/ 101 w 139"/>
                  <a:gd name="T21" fmla="*/ 117 h 163"/>
                  <a:gd name="T22" fmla="*/ 101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7"/>
                      <a:pt x="139" y="117"/>
                      <a:pt x="139" y="117"/>
                    </a:cubicBezTo>
                    <a:cubicBezTo>
                      <a:pt x="139" y="148"/>
                      <a:pt x="116" y="163"/>
                      <a:pt x="70" y="163"/>
                    </a:cubicBezTo>
                    <a:cubicBezTo>
                      <a:pt x="23" y="163"/>
                      <a:pt x="0" y="148"/>
                      <a:pt x="0" y="117"/>
                    </a:cubicBezTo>
                    <a:cubicBezTo>
                      <a:pt x="0" y="0"/>
                      <a:pt x="0" y="0"/>
                      <a:pt x="0" y="0"/>
                    </a:cubicBezTo>
                    <a:cubicBezTo>
                      <a:pt x="39" y="0"/>
                      <a:pt x="39" y="0"/>
                      <a:pt x="39" y="0"/>
                    </a:cubicBezTo>
                    <a:cubicBezTo>
                      <a:pt x="39" y="117"/>
                      <a:pt x="39" y="117"/>
                      <a:pt x="39" y="117"/>
                    </a:cubicBezTo>
                    <a:cubicBezTo>
                      <a:pt x="39" y="124"/>
                      <a:pt x="41" y="129"/>
                      <a:pt x="46" y="132"/>
                    </a:cubicBezTo>
                    <a:cubicBezTo>
                      <a:pt x="51" y="134"/>
                      <a:pt x="59" y="136"/>
                      <a:pt x="70" y="136"/>
                    </a:cubicBezTo>
                    <a:cubicBezTo>
                      <a:pt x="81" y="136"/>
                      <a:pt x="89" y="134"/>
                      <a:pt x="94" y="132"/>
                    </a:cubicBezTo>
                    <a:cubicBezTo>
                      <a:pt x="98" y="129"/>
                      <a:pt x="101" y="124"/>
                      <a:pt x="101" y="117"/>
                    </a:cubicBezTo>
                    <a:cubicBezTo>
                      <a:pt x="101" y="0"/>
                      <a:pt x="101" y="0"/>
                      <a:pt x="101"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77" name="Freeform 31"/>
              <p:cNvSpPr>
                <a:spLocks noEditPoints="1"/>
              </p:cNvSpPr>
              <p:nvPr userDrawn="1"/>
            </p:nvSpPr>
            <p:spPr bwMode="auto">
              <a:xfrm>
                <a:off x="3244380" y="1402797"/>
                <a:ext cx="386141" cy="484862"/>
              </a:xfrm>
              <a:custGeom>
                <a:avLst/>
                <a:gdLst>
                  <a:gd name="T0" fmla="*/ 128 w 128"/>
                  <a:gd name="T1" fmla="*/ 37 h 161"/>
                  <a:gd name="T2" fmla="*/ 128 w 128"/>
                  <a:gd name="T3" fmla="*/ 67 h 161"/>
                  <a:gd name="T4" fmla="*/ 112 w 128"/>
                  <a:gd name="T5" fmla="*/ 100 h 161"/>
                  <a:gd name="T6" fmla="*/ 60 w 128"/>
                  <a:gd name="T7" fmla="*/ 108 h 161"/>
                  <a:gd name="T8" fmla="*/ 39 w 128"/>
                  <a:gd name="T9" fmla="*/ 108 h 161"/>
                  <a:gd name="T10" fmla="*/ 39 w 128"/>
                  <a:gd name="T11" fmla="*/ 161 h 161"/>
                  <a:gd name="T12" fmla="*/ 0 w 128"/>
                  <a:gd name="T13" fmla="*/ 161 h 161"/>
                  <a:gd name="T14" fmla="*/ 0 w 128"/>
                  <a:gd name="T15" fmla="*/ 0 h 161"/>
                  <a:gd name="T16" fmla="*/ 65 w 128"/>
                  <a:gd name="T17" fmla="*/ 0 h 161"/>
                  <a:gd name="T18" fmla="*/ 113 w 128"/>
                  <a:gd name="T19" fmla="*/ 8 h 161"/>
                  <a:gd name="T20" fmla="*/ 128 w 128"/>
                  <a:gd name="T21" fmla="*/ 37 h 161"/>
                  <a:gd name="T22" fmla="*/ 91 w 128"/>
                  <a:gd name="T23" fmla="*/ 66 h 161"/>
                  <a:gd name="T24" fmla="*/ 91 w 128"/>
                  <a:gd name="T25" fmla="*/ 40 h 161"/>
                  <a:gd name="T26" fmla="*/ 85 w 128"/>
                  <a:gd name="T27" fmla="*/ 30 h 161"/>
                  <a:gd name="T28" fmla="*/ 63 w 128"/>
                  <a:gd name="T29" fmla="*/ 28 h 161"/>
                  <a:gd name="T30" fmla="*/ 39 w 128"/>
                  <a:gd name="T31" fmla="*/ 28 h 161"/>
                  <a:gd name="T32" fmla="*/ 39 w 128"/>
                  <a:gd name="T33" fmla="*/ 82 h 161"/>
                  <a:gd name="T34" fmla="*/ 63 w 128"/>
                  <a:gd name="T35" fmla="*/ 82 h 161"/>
                  <a:gd name="T36" fmla="*/ 85 w 128"/>
                  <a:gd name="T37" fmla="*/ 78 h 161"/>
                  <a:gd name="T38" fmla="*/ 91 w 128"/>
                  <a:gd name="T39" fmla="*/ 6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8" h="161">
                    <a:moveTo>
                      <a:pt x="128" y="37"/>
                    </a:moveTo>
                    <a:cubicBezTo>
                      <a:pt x="128" y="67"/>
                      <a:pt x="128" y="67"/>
                      <a:pt x="128" y="67"/>
                    </a:cubicBezTo>
                    <a:cubicBezTo>
                      <a:pt x="128" y="83"/>
                      <a:pt x="123" y="94"/>
                      <a:pt x="112" y="100"/>
                    </a:cubicBezTo>
                    <a:cubicBezTo>
                      <a:pt x="102" y="106"/>
                      <a:pt x="84" y="108"/>
                      <a:pt x="60" y="108"/>
                    </a:cubicBezTo>
                    <a:cubicBezTo>
                      <a:pt x="39" y="108"/>
                      <a:pt x="39" y="108"/>
                      <a:pt x="39" y="108"/>
                    </a:cubicBezTo>
                    <a:cubicBezTo>
                      <a:pt x="39" y="161"/>
                      <a:pt x="39" y="161"/>
                      <a:pt x="39" y="161"/>
                    </a:cubicBezTo>
                    <a:cubicBezTo>
                      <a:pt x="0" y="161"/>
                      <a:pt x="0" y="161"/>
                      <a:pt x="0" y="161"/>
                    </a:cubicBezTo>
                    <a:cubicBezTo>
                      <a:pt x="0" y="0"/>
                      <a:pt x="0" y="0"/>
                      <a:pt x="0" y="0"/>
                    </a:cubicBezTo>
                    <a:cubicBezTo>
                      <a:pt x="65" y="0"/>
                      <a:pt x="65" y="0"/>
                      <a:pt x="65" y="0"/>
                    </a:cubicBezTo>
                    <a:cubicBezTo>
                      <a:pt x="87" y="0"/>
                      <a:pt x="103" y="3"/>
                      <a:pt x="113" y="8"/>
                    </a:cubicBezTo>
                    <a:cubicBezTo>
                      <a:pt x="123" y="13"/>
                      <a:pt x="128" y="23"/>
                      <a:pt x="128" y="37"/>
                    </a:cubicBezTo>
                    <a:close/>
                    <a:moveTo>
                      <a:pt x="91" y="66"/>
                    </a:moveTo>
                    <a:cubicBezTo>
                      <a:pt x="91" y="40"/>
                      <a:pt x="91" y="40"/>
                      <a:pt x="91" y="40"/>
                    </a:cubicBezTo>
                    <a:cubicBezTo>
                      <a:pt x="91" y="35"/>
                      <a:pt x="89" y="32"/>
                      <a:pt x="85" y="30"/>
                    </a:cubicBezTo>
                    <a:cubicBezTo>
                      <a:pt x="81" y="29"/>
                      <a:pt x="73" y="28"/>
                      <a:pt x="63" y="28"/>
                    </a:cubicBezTo>
                    <a:cubicBezTo>
                      <a:pt x="39" y="28"/>
                      <a:pt x="39" y="28"/>
                      <a:pt x="39" y="28"/>
                    </a:cubicBezTo>
                    <a:cubicBezTo>
                      <a:pt x="39" y="82"/>
                      <a:pt x="39" y="82"/>
                      <a:pt x="39" y="82"/>
                    </a:cubicBezTo>
                    <a:cubicBezTo>
                      <a:pt x="63" y="82"/>
                      <a:pt x="63" y="82"/>
                      <a:pt x="63" y="82"/>
                    </a:cubicBezTo>
                    <a:cubicBezTo>
                      <a:pt x="73" y="82"/>
                      <a:pt x="80" y="81"/>
                      <a:pt x="85" y="78"/>
                    </a:cubicBezTo>
                    <a:cubicBezTo>
                      <a:pt x="89" y="76"/>
                      <a:pt x="91" y="72"/>
                      <a:pt x="91" y="66"/>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grpSp>
        <p:grpSp>
          <p:nvGrpSpPr>
            <p:cNvPr id="37" name="Group 36"/>
            <p:cNvGrpSpPr/>
            <p:nvPr userDrawn="1"/>
          </p:nvGrpSpPr>
          <p:grpSpPr>
            <a:xfrm>
              <a:off x="314326" y="209071"/>
              <a:ext cx="2791230" cy="369145"/>
              <a:chOff x="314326" y="326116"/>
              <a:chExt cx="3760726" cy="497363"/>
            </a:xfrm>
            <a:grpFill/>
          </p:grpSpPr>
          <p:sp>
            <p:nvSpPr>
              <p:cNvPr id="41" name="Freeform 10"/>
              <p:cNvSpPr>
                <a:spLocks/>
              </p:cNvSpPr>
              <p:nvPr userDrawn="1"/>
            </p:nvSpPr>
            <p:spPr bwMode="auto">
              <a:xfrm>
                <a:off x="314326" y="332366"/>
                <a:ext cx="373645" cy="484863"/>
              </a:xfrm>
              <a:custGeom>
                <a:avLst/>
                <a:gdLst>
                  <a:gd name="T0" fmla="*/ 299 w 299"/>
                  <a:gd name="T1" fmla="*/ 388 h 388"/>
                  <a:gd name="T2" fmla="*/ 0 w 299"/>
                  <a:gd name="T3" fmla="*/ 388 h 388"/>
                  <a:gd name="T4" fmla="*/ 0 w 299"/>
                  <a:gd name="T5" fmla="*/ 0 h 388"/>
                  <a:gd name="T6" fmla="*/ 294 w 299"/>
                  <a:gd name="T7" fmla="*/ 0 h 388"/>
                  <a:gd name="T8" fmla="*/ 294 w 299"/>
                  <a:gd name="T9" fmla="*/ 68 h 388"/>
                  <a:gd name="T10" fmla="*/ 92 w 299"/>
                  <a:gd name="T11" fmla="*/ 68 h 388"/>
                  <a:gd name="T12" fmla="*/ 92 w 299"/>
                  <a:gd name="T13" fmla="*/ 157 h 388"/>
                  <a:gd name="T14" fmla="*/ 275 w 299"/>
                  <a:gd name="T15" fmla="*/ 157 h 388"/>
                  <a:gd name="T16" fmla="*/ 275 w 299"/>
                  <a:gd name="T17" fmla="*/ 222 h 388"/>
                  <a:gd name="T18" fmla="*/ 92 w 299"/>
                  <a:gd name="T19" fmla="*/ 222 h 388"/>
                  <a:gd name="T20" fmla="*/ 92 w 299"/>
                  <a:gd name="T21" fmla="*/ 321 h 388"/>
                  <a:gd name="T22" fmla="*/ 299 w 299"/>
                  <a:gd name="T23" fmla="*/ 321 h 388"/>
                  <a:gd name="T24" fmla="*/ 299 w 299"/>
                  <a:gd name="T25" fmla="*/ 38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9" h="388">
                    <a:moveTo>
                      <a:pt x="299" y="388"/>
                    </a:moveTo>
                    <a:lnTo>
                      <a:pt x="0" y="388"/>
                    </a:lnTo>
                    <a:lnTo>
                      <a:pt x="0" y="0"/>
                    </a:lnTo>
                    <a:lnTo>
                      <a:pt x="294" y="0"/>
                    </a:lnTo>
                    <a:lnTo>
                      <a:pt x="294" y="68"/>
                    </a:lnTo>
                    <a:lnTo>
                      <a:pt x="92" y="68"/>
                    </a:lnTo>
                    <a:lnTo>
                      <a:pt x="92" y="157"/>
                    </a:lnTo>
                    <a:lnTo>
                      <a:pt x="275" y="157"/>
                    </a:lnTo>
                    <a:lnTo>
                      <a:pt x="275" y="222"/>
                    </a:lnTo>
                    <a:lnTo>
                      <a:pt x="92" y="222"/>
                    </a:lnTo>
                    <a:lnTo>
                      <a:pt x="92" y="321"/>
                    </a:lnTo>
                    <a:lnTo>
                      <a:pt x="299" y="321"/>
                    </a:lnTo>
                    <a:lnTo>
                      <a:pt x="299" y="388"/>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47" name="Freeform 11"/>
              <p:cNvSpPr>
                <a:spLocks/>
              </p:cNvSpPr>
              <p:nvPr userDrawn="1"/>
            </p:nvSpPr>
            <p:spPr bwMode="auto">
              <a:xfrm>
                <a:off x="787838" y="332366"/>
                <a:ext cx="418634" cy="491113"/>
              </a:xfrm>
              <a:custGeom>
                <a:avLst/>
                <a:gdLst>
                  <a:gd name="T0" fmla="*/ 139 w 139"/>
                  <a:gd name="T1" fmla="*/ 0 h 163"/>
                  <a:gd name="T2" fmla="*/ 139 w 139"/>
                  <a:gd name="T3" fmla="*/ 117 h 163"/>
                  <a:gd name="T4" fmla="*/ 69 w 139"/>
                  <a:gd name="T5" fmla="*/ 163 h 163"/>
                  <a:gd name="T6" fmla="*/ 0 w 139"/>
                  <a:gd name="T7" fmla="*/ 117 h 163"/>
                  <a:gd name="T8" fmla="*/ 0 w 139"/>
                  <a:gd name="T9" fmla="*/ 0 h 163"/>
                  <a:gd name="T10" fmla="*/ 38 w 139"/>
                  <a:gd name="T11" fmla="*/ 0 h 163"/>
                  <a:gd name="T12" fmla="*/ 38 w 139"/>
                  <a:gd name="T13" fmla="*/ 117 h 163"/>
                  <a:gd name="T14" fmla="*/ 46 w 139"/>
                  <a:gd name="T15" fmla="*/ 132 h 163"/>
                  <a:gd name="T16" fmla="*/ 70 w 139"/>
                  <a:gd name="T17" fmla="*/ 136 h 163"/>
                  <a:gd name="T18" fmla="*/ 93 w 139"/>
                  <a:gd name="T19" fmla="*/ 132 h 163"/>
                  <a:gd name="T20" fmla="*/ 100 w 139"/>
                  <a:gd name="T21" fmla="*/ 117 h 163"/>
                  <a:gd name="T22" fmla="*/ 100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7"/>
                      <a:pt x="139" y="117"/>
                      <a:pt x="139" y="117"/>
                    </a:cubicBezTo>
                    <a:cubicBezTo>
                      <a:pt x="139" y="148"/>
                      <a:pt x="116" y="163"/>
                      <a:pt x="69" y="163"/>
                    </a:cubicBezTo>
                    <a:cubicBezTo>
                      <a:pt x="23" y="163"/>
                      <a:pt x="0" y="148"/>
                      <a:pt x="0" y="117"/>
                    </a:cubicBezTo>
                    <a:cubicBezTo>
                      <a:pt x="0" y="0"/>
                      <a:pt x="0" y="0"/>
                      <a:pt x="0" y="0"/>
                    </a:cubicBezTo>
                    <a:cubicBezTo>
                      <a:pt x="38" y="0"/>
                      <a:pt x="38" y="0"/>
                      <a:pt x="38" y="0"/>
                    </a:cubicBezTo>
                    <a:cubicBezTo>
                      <a:pt x="38" y="117"/>
                      <a:pt x="38" y="117"/>
                      <a:pt x="38" y="117"/>
                    </a:cubicBezTo>
                    <a:cubicBezTo>
                      <a:pt x="38" y="124"/>
                      <a:pt x="41" y="129"/>
                      <a:pt x="46" y="132"/>
                    </a:cubicBezTo>
                    <a:cubicBezTo>
                      <a:pt x="50" y="134"/>
                      <a:pt x="58" y="136"/>
                      <a:pt x="70" y="136"/>
                    </a:cubicBezTo>
                    <a:cubicBezTo>
                      <a:pt x="81" y="136"/>
                      <a:pt x="89" y="134"/>
                      <a:pt x="93" y="132"/>
                    </a:cubicBezTo>
                    <a:cubicBezTo>
                      <a:pt x="98" y="129"/>
                      <a:pt x="100" y="124"/>
                      <a:pt x="100" y="117"/>
                    </a:cubicBezTo>
                    <a:cubicBezTo>
                      <a:pt x="100" y="0"/>
                      <a:pt x="100" y="0"/>
                      <a:pt x="100"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66" name="Freeform 12"/>
              <p:cNvSpPr>
                <a:spLocks noEditPoints="1"/>
              </p:cNvSpPr>
              <p:nvPr userDrawn="1"/>
            </p:nvSpPr>
            <p:spPr bwMode="auto">
              <a:xfrm>
                <a:off x="1311898" y="332366"/>
                <a:ext cx="431129" cy="484863"/>
              </a:xfrm>
              <a:custGeom>
                <a:avLst/>
                <a:gdLst>
                  <a:gd name="T0" fmla="*/ 143 w 143"/>
                  <a:gd name="T1" fmla="*/ 161 h 161"/>
                  <a:gd name="T2" fmla="*/ 98 w 143"/>
                  <a:gd name="T3" fmla="*/ 161 h 161"/>
                  <a:gd name="T4" fmla="*/ 56 w 143"/>
                  <a:gd name="T5" fmla="*/ 98 h 161"/>
                  <a:gd name="T6" fmla="*/ 38 w 143"/>
                  <a:gd name="T7" fmla="*/ 98 h 161"/>
                  <a:gd name="T8" fmla="*/ 38 w 143"/>
                  <a:gd name="T9" fmla="*/ 161 h 161"/>
                  <a:gd name="T10" fmla="*/ 0 w 143"/>
                  <a:gd name="T11" fmla="*/ 161 h 161"/>
                  <a:gd name="T12" fmla="*/ 0 w 143"/>
                  <a:gd name="T13" fmla="*/ 0 h 161"/>
                  <a:gd name="T14" fmla="*/ 72 w 143"/>
                  <a:gd name="T15" fmla="*/ 0 h 161"/>
                  <a:gd name="T16" fmla="*/ 118 w 143"/>
                  <a:gd name="T17" fmla="*/ 8 h 161"/>
                  <a:gd name="T18" fmla="*/ 133 w 143"/>
                  <a:gd name="T19" fmla="*/ 34 h 161"/>
                  <a:gd name="T20" fmla="*/ 133 w 143"/>
                  <a:gd name="T21" fmla="*/ 62 h 161"/>
                  <a:gd name="T22" fmla="*/ 122 w 143"/>
                  <a:gd name="T23" fmla="*/ 85 h 161"/>
                  <a:gd name="T24" fmla="*/ 96 w 143"/>
                  <a:gd name="T25" fmla="*/ 95 h 161"/>
                  <a:gd name="T26" fmla="*/ 143 w 143"/>
                  <a:gd name="T27" fmla="*/ 161 h 161"/>
                  <a:gd name="T28" fmla="*/ 95 w 143"/>
                  <a:gd name="T29" fmla="*/ 55 h 161"/>
                  <a:gd name="T30" fmla="*/ 95 w 143"/>
                  <a:gd name="T31" fmla="*/ 43 h 161"/>
                  <a:gd name="T32" fmla="*/ 90 w 143"/>
                  <a:gd name="T33" fmla="*/ 31 h 161"/>
                  <a:gd name="T34" fmla="*/ 72 w 143"/>
                  <a:gd name="T35" fmla="*/ 28 h 161"/>
                  <a:gd name="T36" fmla="*/ 38 w 143"/>
                  <a:gd name="T37" fmla="*/ 28 h 161"/>
                  <a:gd name="T38" fmla="*/ 38 w 143"/>
                  <a:gd name="T39" fmla="*/ 72 h 161"/>
                  <a:gd name="T40" fmla="*/ 72 w 143"/>
                  <a:gd name="T41" fmla="*/ 72 h 161"/>
                  <a:gd name="T42" fmla="*/ 90 w 143"/>
                  <a:gd name="T43" fmla="*/ 69 h 161"/>
                  <a:gd name="T44" fmla="*/ 95 w 143"/>
                  <a:gd name="T45" fmla="*/ 5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3" h="161">
                    <a:moveTo>
                      <a:pt x="143" y="161"/>
                    </a:moveTo>
                    <a:cubicBezTo>
                      <a:pt x="98" y="161"/>
                      <a:pt x="98" y="161"/>
                      <a:pt x="98" y="161"/>
                    </a:cubicBezTo>
                    <a:cubicBezTo>
                      <a:pt x="56" y="98"/>
                      <a:pt x="56" y="98"/>
                      <a:pt x="56" y="98"/>
                    </a:cubicBezTo>
                    <a:cubicBezTo>
                      <a:pt x="38" y="98"/>
                      <a:pt x="38" y="98"/>
                      <a:pt x="38" y="98"/>
                    </a:cubicBezTo>
                    <a:cubicBezTo>
                      <a:pt x="38" y="161"/>
                      <a:pt x="38" y="161"/>
                      <a:pt x="38" y="161"/>
                    </a:cubicBezTo>
                    <a:cubicBezTo>
                      <a:pt x="0" y="161"/>
                      <a:pt x="0" y="161"/>
                      <a:pt x="0" y="161"/>
                    </a:cubicBezTo>
                    <a:cubicBezTo>
                      <a:pt x="0" y="0"/>
                      <a:pt x="0" y="0"/>
                      <a:pt x="0" y="0"/>
                    </a:cubicBezTo>
                    <a:cubicBezTo>
                      <a:pt x="72" y="0"/>
                      <a:pt x="72" y="0"/>
                      <a:pt x="72" y="0"/>
                    </a:cubicBezTo>
                    <a:cubicBezTo>
                      <a:pt x="93" y="0"/>
                      <a:pt x="109" y="3"/>
                      <a:pt x="118" y="8"/>
                    </a:cubicBezTo>
                    <a:cubicBezTo>
                      <a:pt x="128" y="13"/>
                      <a:pt x="133" y="22"/>
                      <a:pt x="133" y="34"/>
                    </a:cubicBezTo>
                    <a:cubicBezTo>
                      <a:pt x="133" y="62"/>
                      <a:pt x="133" y="62"/>
                      <a:pt x="133" y="62"/>
                    </a:cubicBezTo>
                    <a:cubicBezTo>
                      <a:pt x="133" y="72"/>
                      <a:pt x="129" y="80"/>
                      <a:pt x="122" y="85"/>
                    </a:cubicBezTo>
                    <a:cubicBezTo>
                      <a:pt x="115" y="90"/>
                      <a:pt x="107" y="93"/>
                      <a:pt x="96" y="95"/>
                    </a:cubicBezTo>
                    <a:lnTo>
                      <a:pt x="143" y="161"/>
                    </a:lnTo>
                    <a:close/>
                    <a:moveTo>
                      <a:pt x="95" y="55"/>
                    </a:moveTo>
                    <a:cubicBezTo>
                      <a:pt x="95" y="43"/>
                      <a:pt x="95" y="43"/>
                      <a:pt x="95" y="43"/>
                    </a:cubicBezTo>
                    <a:cubicBezTo>
                      <a:pt x="95" y="37"/>
                      <a:pt x="93" y="33"/>
                      <a:pt x="90" y="31"/>
                    </a:cubicBezTo>
                    <a:cubicBezTo>
                      <a:pt x="86" y="29"/>
                      <a:pt x="80" y="28"/>
                      <a:pt x="72" y="28"/>
                    </a:cubicBezTo>
                    <a:cubicBezTo>
                      <a:pt x="38" y="28"/>
                      <a:pt x="38" y="28"/>
                      <a:pt x="38" y="28"/>
                    </a:cubicBezTo>
                    <a:cubicBezTo>
                      <a:pt x="38" y="72"/>
                      <a:pt x="38" y="72"/>
                      <a:pt x="38" y="72"/>
                    </a:cubicBezTo>
                    <a:cubicBezTo>
                      <a:pt x="72" y="72"/>
                      <a:pt x="72" y="72"/>
                      <a:pt x="72" y="72"/>
                    </a:cubicBezTo>
                    <a:cubicBezTo>
                      <a:pt x="81" y="72"/>
                      <a:pt x="87" y="71"/>
                      <a:pt x="90" y="69"/>
                    </a:cubicBezTo>
                    <a:cubicBezTo>
                      <a:pt x="93" y="66"/>
                      <a:pt x="95" y="62"/>
                      <a:pt x="95" y="55"/>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67" name="Freeform 13"/>
              <p:cNvSpPr>
                <a:spLocks noEditPoints="1"/>
              </p:cNvSpPr>
              <p:nvPr userDrawn="1"/>
            </p:nvSpPr>
            <p:spPr bwMode="auto">
              <a:xfrm>
                <a:off x="1800735" y="332366"/>
                <a:ext cx="493611" cy="484863"/>
              </a:xfrm>
              <a:custGeom>
                <a:avLst/>
                <a:gdLst>
                  <a:gd name="T0" fmla="*/ 395 w 395"/>
                  <a:gd name="T1" fmla="*/ 388 h 388"/>
                  <a:gd name="T2" fmla="*/ 301 w 395"/>
                  <a:gd name="T3" fmla="*/ 388 h 388"/>
                  <a:gd name="T4" fmla="*/ 268 w 395"/>
                  <a:gd name="T5" fmla="*/ 285 h 388"/>
                  <a:gd name="T6" fmla="*/ 125 w 395"/>
                  <a:gd name="T7" fmla="*/ 285 h 388"/>
                  <a:gd name="T8" fmla="*/ 92 w 395"/>
                  <a:gd name="T9" fmla="*/ 388 h 388"/>
                  <a:gd name="T10" fmla="*/ 0 w 395"/>
                  <a:gd name="T11" fmla="*/ 388 h 388"/>
                  <a:gd name="T12" fmla="*/ 142 w 395"/>
                  <a:gd name="T13" fmla="*/ 0 h 388"/>
                  <a:gd name="T14" fmla="*/ 256 w 395"/>
                  <a:gd name="T15" fmla="*/ 0 h 388"/>
                  <a:gd name="T16" fmla="*/ 395 w 395"/>
                  <a:gd name="T17" fmla="*/ 388 h 388"/>
                  <a:gd name="T18" fmla="*/ 246 w 395"/>
                  <a:gd name="T19" fmla="*/ 224 h 388"/>
                  <a:gd name="T20" fmla="*/ 198 w 395"/>
                  <a:gd name="T21" fmla="*/ 77 h 388"/>
                  <a:gd name="T22" fmla="*/ 195 w 395"/>
                  <a:gd name="T23" fmla="*/ 77 h 388"/>
                  <a:gd name="T24" fmla="*/ 147 w 395"/>
                  <a:gd name="T25" fmla="*/ 224 h 388"/>
                  <a:gd name="T26" fmla="*/ 246 w 395"/>
                  <a:gd name="T27" fmla="*/ 224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5" h="388">
                    <a:moveTo>
                      <a:pt x="395" y="388"/>
                    </a:moveTo>
                    <a:lnTo>
                      <a:pt x="301" y="388"/>
                    </a:lnTo>
                    <a:lnTo>
                      <a:pt x="268" y="285"/>
                    </a:lnTo>
                    <a:lnTo>
                      <a:pt x="125" y="285"/>
                    </a:lnTo>
                    <a:lnTo>
                      <a:pt x="92" y="388"/>
                    </a:lnTo>
                    <a:lnTo>
                      <a:pt x="0" y="388"/>
                    </a:lnTo>
                    <a:lnTo>
                      <a:pt x="142" y="0"/>
                    </a:lnTo>
                    <a:lnTo>
                      <a:pt x="256" y="0"/>
                    </a:lnTo>
                    <a:lnTo>
                      <a:pt x="395" y="388"/>
                    </a:lnTo>
                    <a:close/>
                    <a:moveTo>
                      <a:pt x="246" y="224"/>
                    </a:moveTo>
                    <a:lnTo>
                      <a:pt x="198" y="77"/>
                    </a:lnTo>
                    <a:lnTo>
                      <a:pt x="195" y="77"/>
                    </a:lnTo>
                    <a:lnTo>
                      <a:pt x="147" y="224"/>
                    </a:lnTo>
                    <a:lnTo>
                      <a:pt x="246" y="224"/>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69" name="Freeform 14"/>
              <p:cNvSpPr>
                <a:spLocks/>
              </p:cNvSpPr>
              <p:nvPr userDrawn="1"/>
            </p:nvSpPr>
            <p:spPr bwMode="auto">
              <a:xfrm>
                <a:off x="2349541" y="326116"/>
                <a:ext cx="394889" cy="497359"/>
              </a:xfrm>
              <a:custGeom>
                <a:avLst/>
                <a:gdLst>
                  <a:gd name="T0" fmla="*/ 131 w 131"/>
                  <a:gd name="T1" fmla="*/ 106 h 165"/>
                  <a:gd name="T2" fmla="*/ 131 w 131"/>
                  <a:gd name="T3" fmla="*/ 117 h 165"/>
                  <a:gd name="T4" fmla="*/ 126 w 131"/>
                  <a:gd name="T5" fmla="*/ 141 h 165"/>
                  <a:gd name="T6" fmla="*/ 111 w 131"/>
                  <a:gd name="T7" fmla="*/ 156 h 165"/>
                  <a:gd name="T8" fmla="*/ 88 w 131"/>
                  <a:gd name="T9" fmla="*/ 163 h 165"/>
                  <a:gd name="T10" fmla="*/ 60 w 131"/>
                  <a:gd name="T11" fmla="*/ 165 h 165"/>
                  <a:gd name="T12" fmla="*/ 3 w 131"/>
                  <a:gd name="T13" fmla="*/ 161 h 165"/>
                  <a:gd name="T14" fmla="*/ 3 w 131"/>
                  <a:gd name="T15" fmla="*/ 131 h 165"/>
                  <a:gd name="T16" fmla="*/ 60 w 131"/>
                  <a:gd name="T17" fmla="*/ 138 h 165"/>
                  <a:gd name="T18" fmla="*/ 92 w 131"/>
                  <a:gd name="T19" fmla="*/ 121 h 165"/>
                  <a:gd name="T20" fmla="*/ 92 w 131"/>
                  <a:gd name="T21" fmla="*/ 111 h 165"/>
                  <a:gd name="T22" fmla="*/ 88 w 131"/>
                  <a:gd name="T23" fmla="*/ 99 h 165"/>
                  <a:gd name="T24" fmla="*/ 71 w 131"/>
                  <a:gd name="T25" fmla="*/ 94 h 165"/>
                  <a:gd name="T26" fmla="*/ 53 w 131"/>
                  <a:gd name="T27" fmla="*/ 94 h 165"/>
                  <a:gd name="T28" fmla="*/ 0 w 131"/>
                  <a:gd name="T29" fmla="*/ 53 h 165"/>
                  <a:gd name="T30" fmla="*/ 0 w 131"/>
                  <a:gd name="T31" fmla="*/ 41 h 165"/>
                  <a:gd name="T32" fmla="*/ 17 w 131"/>
                  <a:gd name="T33" fmla="*/ 10 h 165"/>
                  <a:gd name="T34" fmla="*/ 73 w 131"/>
                  <a:gd name="T35" fmla="*/ 0 h 165"/>
                  <a:gd name="T36" fmla="*/ 123 w 131"/>
                  <a:gd name="T37" fmla="*/ 3 h 165"/>
                  <a:gd name="T38" fmla="*/ 123 w 131"/>
                  <a:gd name="T39" fmla="*/ 32 h 165"/>
                  <a:gd name="T40" fmla="*/ 72 w 131"/>
                  <a:gd name="T41" fmla="*/ 27 h 165"/>
                  <a:gd name="T42" fmla="*/ 46 w 131"/>
                  <a:gd name="T43" fmla="*/ 31 h 165"/>
                  <a:gd name="T44" fmla="*/ 38 w 131"/>
                  <a:gd name="T45" fmla="*/ 41 h 165"/>
                  <a:gd name="T46" fmla="*/ 38 w 131"/>
                  <a:gd name="T47" fmla="*/ 53 h 165"/>
                  <a:gd name="T48" fmla="*/ 60 w 131"/>
                  <a:gd name="T49" fmla="*/ 65 h 165"/>
                  <a:gd name="T50" fmla="*/ 79 w 131"/>
                  <a:gd name="T51" fmla="*/ 65 h 165"/>
                  <a:gd name="T52" fmla="*/ 119 w 131"/>
                  <a:gd name="T53" fmla="*/ 76 h 165"/>
                  <a:gd name="T54" fmla="*/ 131 w 131"/>
                  <a:gd name="T55" fmla="*/ 106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5">
                    <a:moveTo>
                      <a:pt x="131" y="106"/>
                    </a:moveTo>
                    <a:cubicBezTo>
                      <a:pt x="131" y="117"/>
                      <a:pt x="131" y="117"/>
                      <a:pt x="131" y="117"/>
                    </a:cubicBezTo>
                    <a:cubicBezTo>
                      <a:pt x="131" y="127"/>
                      <a:pt x="129" y="135"/>
                      <a:pt x="126" y="141"/>
                    </a:cubicBezTo>
                    <a:cubicBezTo>
                      <a:pt x="122" y="148"/>
                      <a:pt x="117" y="153"/>
                      <a:pt x="111" y="156"/>
                    </a:cubicBezTo>
                    <a:cubicBezTo>
                      <a:pt x="104" y="159"/>
                      <a:pt x="96" y="162"/>
                      <a:pt x="88" y="163"/>
                    </a:cubicBezTo>
                    <a:cubicBezTo>
                      <a:pt x="80" y="164"/>
                      <a:pt x="71" y="165"/>
                      <a:pt x="60" y="165"/>
                    </a:cubicBezTo>
                    <a:cubicBezTo>
                      <a:pt x="45" y="165"/>
                      <a:pt x="26" y="164"/>
                      <a:pt x="3" y="161"/>
                    </a:cubicBezTo>
                    <a:cubicBezTo>
                      <a:pt x="3" y="131"/>
                      <a:pt x="3" y="131"/>
                      <a:pt x="3" y="131"/>
                    </a:cubicBezTo>
                    <a:cubicBezTo>
                      <a:pt x="30" y="136"/>
                      <a:pt x="49" y="138"/>
                      <a:pt x="60" y="138"/>
                    </a:cubicBezTo>
                    <a:cubicBezTo>
                      <a:pt x="82" y="138"/>
                      <a:pt x="92" y="132"/>
                      <a:pt x="92" y="121"/>
                    </a:cubicBezTo>
                    <a:cubicBezTo>
                      <a:pt x="92" y="111"/>
                      <a:pt x="92" y="111"/>
                      <a:pt x="92" y="111"/>
                    </a:cubicBezTo>
                    <a:cubicBezTo>
                      <a:pt x="92" y="106"/>
                      <a:pt x="91" y="102"/>
                      <a:pt x="88" y="99"/>
                    </a:cubicBezTo>
                    <a:cubicBezTo>
                      <a:pt x="85" y="96"/>
                      <a:pt x="80" y="94"/>
                      <a:pt x="71" y="94"/>
                    </a:cubicBezTo>
                    <a:cubicBezTo>
                      <a:pt x="53" y="94"/>
                      <a:pt x="53" y="94"/>
                      <a:pt x="53" y="94"/>
                    </a:cubicBezTo>
                    <a:cubicBezTo>
                      <a:pt x="17" y="94"/>
                      <a:pt x="0" y="81"/>
                      <a:pt x="0" y="53"/>
                    </a:cubicBezTo>
                    <a:cubicBezTo>
                      <a:pt x="0" y="41"/>
                      <a:pt x="0" y="41"/>
                      <a:pt x="0" y="41"/>
                    </a:cubicBezTo>
                    <a:cubicBezTo>
                      <a:pt x="0" y="27"/>
                      <a:pt x="6" y="17"/>
                      <a:pt x="17" y="10"/>
                    </a:cubicBezTo>
                    <a:cubicBezTo>
                      <a:pt x="29" y="3"/>
                      <a:pt x="47" y="0"/>
                      <a:pt x="73" y="0"/>
                    </a:cubicBezTo>
                    <a:cubicBezTo>
                      <a:pt x="85" y="0"/>
                      <a:pt x="102" y="1"/>
                      <a:pt x="123" y="3"/>
                    </a:cubicBezTo>
                    <a:cubicBezTo>
                      <a:pt x="123" y="32"/>
                      <a:pt x="123" y="32"/>
                      <a:pt x="123" y="32"/>
                    </a:cubicBezTo>
                    <a:cubicBezTo>
                      <a:pt x="98" y="29"/>
                      <a:pt x="81" y="27"/>
                      <a:pt x="72" y="27"/>
                    </a:cubicBezTo>
                    <a:cubicBezTo>
                      <a:pt x="59" y="27"/>
                      <a:pt x="50" y="28"/>
                      <a:pt x="46" y="31"/>
                    </a:cubicBezTo>
                    <a:cubicBezTo>
                      <a:pt x="41" y="33"/>
                      <a:pt x="38" y="36"/>
                      <a:pt x="38" y="41"/>
                    </a:cubicBezTo>
                    <a:cubicBezTo>
                      <a:pt x="38" y="53"/>
                      <a:pt x="38" y="53"/>
                      <a:pt x="38" y="53"/>
                    </a:cubicBezTo>
                    <a:cubicBezTo>
                      <a:pt x="38" y="61"/>
                      <a:pt x="45" y="65"/>
                      <a:pt x="60" y="65"/>
                    </a:cubicBezTo>
                    <a:cubicBezTo>
                      <a:pt x="79" y="65"/>
                      <a:pt x="79" y="65"/>
                      <a:pt x="79" y="65"/>
                    </a:cubicBezTo>
                    <a:cubicBezTo>
                      <a:pt x="98" y="65"/>
                      <a:pt x="111" y="69"/>
                      <a:pt x="119" y="76"/>
                    </a:cubicBezTo>
                    <a:cubicBezTo>
                      <a:pt x="127" y="83"/>
                      <a:pt x="131" y="93"/>
                      <a:pt x="131" y="106"/>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70" name="Rectangle 15"/>
              <p:cNvSpPr>
                <a:spLocks noChangeArrowheads="1"/>
              </p:cNvSpPr>
              <p:nvPr userDrawn="1"/>
            </p:nvSpPr>
            <p:spPr bwMode="auto">
              <a:xfrm>
                <a:off x="2854100" y="332365"/>
                <a:ext cx="114968" cy="484863"/>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71" name="Freeform 16"/>
              <p:cNvSpPr>
                <a:spLocks noEditPoints="1"/>
              </p:cNvSpPr>
              <p:nvPr userDrawn="1"/>
            </p:nvSpPr>
            <p:spPr bwMode="auto">
              <a:xfrm>
                <a:off x="3049957" y="332365"/>
                <a:ext cx="493611" cy="484863"/>
              </a:xfrm>
              <a:custGeom>
                <a:avLst/>
                <a:gdLst>
                  <a:gd name="T0" fmla="*/ 395 w 395"/>
                  <a:gd name="T1" fmla="*/ 388 h 388"/>
                  <a:gd name="T2" fmla="*/ 301 w 395"/>
                  <a:gd name="T3" fmla="*/ 388 h 388"/>
                  <a:gd name="T4" fmla="*/ 268 w 395"/>
                  <a:gd name="T5" fmla="*/ 285 h 388"/>
                  <a:gd name="T6" fmla="*/ 125 w 395"/>
                  <a:gd name="T7" fmla="*/ 285 h 388"/>
                  <a:gd name="T8" fmla="*/ 92 w 395"/>
                  <a:gd name="T9" fmla="*/ 388 h 388"/>
                  <a:gd name="T10" fmla="*/ 0 w 395"/>
                  <a:gd name="T11" fmla="*/ 388 h 388"/>
                  <a:gd name="T12" fmla="*/ 142 w 395"/>
                  <a:gd name="T13" fmla="*/ 0 h 388"/>
                  <a:gd name="T14" fmla="*/ 256 w 395"/>
                  <a:gd name="T15" fmla="*/ 0 h 388"/>
                  <a:gd name="T16" fmla="*/ 395 w 395"/>
                  <a:gd name="T17" fmla="*/ 388 h 388"/>
                  <a:gd name="T18" fmla="*/ 246 w 395"/>
                  <a:gd name="T19" fmla="*/ 224 h 388"/>
                  <a:gd name="T20" fmla="*/ 198 w 395"/>
                  <a:gd name="T21" fmla="*/ 77 h 388"/>
                  <a:gd name="T22" fmla="*/ 195 w 395"/>
                  <a:gd name="T23" fmla="*/ 77 h 388"/>
                  <a:gd name="T24" fmla="*/ 147 w 395"/>
                  <a:gd name="T25" fmla="*/ 224 h 388"/>
                  <a:gd name="T26" fmla="*/ 246 w 395"/>
                  <a:gd name="T27" fmla="*/ 224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5" h="388">
                    <a:moveTo>
                      <a:pt x="395" y="388"/>
                    </a:moveTo>
                    <a:lnTo>
                      <a:pt x="301" y="388"/>
                    </a:lnTo>
                    <a:lnTo>
                      <a:pt x="268" y="285"/>
                    </a:lnTo>
                    <a:lnTo>
                      <a:pt x="125" y="285"/>
                    </a:lnTo>
                    <a:lnTo>
                      <a:pt x="92" y="388"/>
                    </a:lnTo>
                    <a:lnTo>
                      <a:pt x="0" y="388"/>
                    </a:lnTo>
                    <a:lnTo>
                      <a:pt x="142" y="0"/>
                    </a:lnTo>
                    <a:lnTo>
                      <a:pt x="256" y="0"/>
                    </a:lnTo>
                    <a:lnTo>
                      <a:pt x="395" y="388"/>
                    </a:lnTo>
                    <a:close/>
                    <a:moveTo>
                      <a:pt x="246" y="224"/>
                    </a:moveTo>
                    <a:lnTo>
                      <a:pt x="198" y="77"/>
                    </a:lnTo>
                    <a:lnTo>
                      <a:pt x="195" y="77"/>
                    </a:lnTo>
                    <a:lnTo>
                      <a:pt x="147" y="224"/>
                    </a:lnTo>
                    <a:lnTo>
                      <a:pt x="246" y="224"/>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72" name="Freeform 17"/>
              <p:cNvSpPr>
                <a:spLocks/>
              </p:cNvSpPr>
              <p:nvPr userDrawn="1"/>
            </p:nvSpPr>
            <p:spPr bwMode="auto">
              <a:xfrm>
                <a:off x="3620180" y="332365"/>
                <a:ext cx="454872" cy="484863"/>
              </a:xfrm>
              <a:custGeom>
                <a:avLst/>
                <a:gdLst>
                  <a:gd name="T0" fmla="*/ 364 w 364"/>
                  <a:gd name="T1" fmla="*/ 388 h 388"/>
                  <a:gd name="T2" fmla="*/ 270 w 364"/>
                  <a:gd name="T3" fmla="*/ 388 h 388"/>
                  <a:gd name="T4" fmla="*/ 82 w 364"/>
                  <a:gd name="T5" fmla="*/ 121 h 388"/>
                  <a:gd name="T6" fmla="*/ 82 w 364"/>
                  <a:gd name="T7" fmla="*/ 388 h 388"/>
                  <a:gd name="T8" fmla="*/ 0 w 364"/>
                  <a:gd name="T9" fmla="*/ 388 h 388"/>
                  <a:gd name="T10" fmla="*/ 0 w 364"/>
                  <a:gd name="T11" fmla="*/ 0 h 388"/>
                  <a:gd name="T12" fmla="*/ 94 w 364"/>
                  <a:gd name="T13" fmla="*/ 0 h 388"/>
                  <a:gd name="T14" fmla="*/ 279 w 364"/>
                  <a:gd name="T15" fmla="*/ 265 h 388"/>
                  <a:gd name="T16" fmla="*/ 279 w 364"/>
                  <a:gd name="T17" fmla="*/ 0 h 388"/>
                  <a:gd name="T18" fmla="*/ 364 w 364"/>
                  <a:gd name="T19" fmla="*/ 0 h 388"/>
                  <a:gd name="T20" fmla="*/ 364 w 364"/>
                  <a:gd name="T21" fmla="*/ 38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388">
                    <a:moveTo>
                      <a:pt x="364" y="388"/>
                    </a:moveTo>
                    <a:lnTo>
                      <a:pt x="270" y="388"/>
                    </a:lnTo>
                    <a:lnTo>
                      <a:pt x="82" y="121"/>
                    </a:lnTo>
                    <a:lnTo>
                      <a:pt x="82" y="388"/>
                    </a:lnTo>
                    <a:lnTo>
                      <a:pt x="0" y="388"/>
                    </a:lnTo>
                    <a:lnTo>
                      <a:pt x="0" y="0"/>
                    </a:lnTo>
                    <a:lnTo>
                      <a:pt x="94" y="0"/>
                    </a:lnTo>
                    <a:lnTo>
                      <a:pt x="279" y="265"/>
                    </a:lnTo>
                    <a:lnTo>
                      <a:pt x="279" y="0"/>
                    </a:lnTo>
                    <a:lnTo>
                      <a:pt x="364" y="0"/>
                    </a:lnTo>
                    <a:lnTo>
                      <a:pt x="364" y="388"/>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grpSp>
      </p:grpSp>
      <p:pic>
        <p:nvPicPr>
          <p:cNvPr id="87" name="Picture 86"/>
          <p:cNvPicPr>
            <a:picLocks noChangeAspect="1"/>
          </p:cNvPicPr>
          <p:nvPr userDrawn="1"/>
        </p:nvPicPr>
        <p:blipFill rotWithShape="1">
          <a:blip r:embed="rId8" cstate="email">
            <a:extLst>
              <a:ext uri="{28A0092B-C50C-407E-A947-70E740481C1C}">
                <a14:useLocalDpi xmlns:a14="http://schemas.microsoft.com/office/drawing/2010/main"/>
              </a:ext>
            </a:extLst>
          </a:blip>
          <a:srcRect t="13455" b="21818"/>
          <a:stretch/>
        </p:blipFill>
        <p:spPr>
          <a:xfrm>
            <a:off x="10439402" y="240387"/>
            <a:ext cx="1530890" cy="1041871"/>
          </a:xfrm>
          <a:prstGeom prst="rect">
            <a:avLst/>
          </a:prstGeom>
        </p:spPr>
      </p:pic>
    </p:spTree>
    <p:extLst>
      <p:ext uri="{BB962C8B-B14F-4D97-AF65-F5344CB8AC3E}">
        <p14:creationId xmlns:p14="http://schemas.microsoft.com/office/powerpoint/2010/main" val="273532843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8_Title slid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824353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497" name="think-cell Slide" r:id="rId4" imgW="594" imgH="595" progId="TCLayout.ActiveDocument.1">
                  <p:embed/>
                </p:oleObj>
              </mc:Choice>
              <mc:Fallback>
                <p:oleObj name="think-cell Slide" r:id="rId4" imgW="594" imgH="595"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2" name="Picture 11">
            <a:extLst>
              <a:ext uri="{FF2B5EF4-FFF2-40B4-BE49-F238E27FC236}">
                <a16:creationId xmlns:a16="http://schemas.microsoft.com/office/drawing/2014/main" id="{188DFE37-68FB-4114-A26E-43C57BA2E07C}"/>
              </a:ext>
            </a:extLst>
          </p:cNvPr>
          <p:cNvPicPr>
            <a:picLocks noChangeAspect="1"/>
          </p:cNvPicPr>
          <p:nvPr userDrawn="1"/>
        </p:nvPicPr>
        <p:blipFill rotWithShape="1">
          <a:blip r:embed="rId6">
            <a:extLst>
              <a:ext uri="{28A0092B-C50C-407E-A947-70E740481C1C}">
                <a14:useLocalDpi xmlns:a14="http://schemas.microsoft.com/office/drawing/2010/main"/>
              </a:ext>
            </a:extLst>
          </a:blip>
          <a:srcRect t="34218" b="1245"/>
          <a:stretch/>
        </p:blipFill>
        <p:spPr>
          <a:xfrm>
            <a:off x="-1" y="0"/>
            <a:ext cx="12191999" cy="5243513"/>
          </a:xfrm>
          <a:prstGeom prst="rect">
            <a:avLst/>
          </a:prstGeom>
        </p:spPr>
      </p:pic>
      <p:sp>
        <p:nvSpPr>
          <p:cNvPr id="7" name="Rectangle 6"/>
          <p:cNvSpPr/>
          <p:nvPr userDrawn="1"/>
        </p:nvSpPr>
        <p:spPr>
          <a:xfrm>
            <a:off x="0" y="0"/>
            <a:ext cx="12192000" cy="5243513"/>
          </a:xfrm>
          <a:prstGeom prst="rect">
            <a:avLst/>
          </a:prstGeom>
          <a:gradFill flip="none" rotWithShape="1">
            <a:gsLst>
              <a:gs pos="100000">
                <a:schemeClr val="bg1">
                  <a:alpha val="0"/>
                </a:schemeClr>
              </a:gs>
              <a:gs pos="0">
                <a:srgbClr val="000000">
                  <a:alpha val="43000"/>
                </a:srgbClr>
              </a:gs>
              <a:gs pos="28000">
                <a:srgbClr val="000000">
                  <a:alpha val="0"/>
                </a:srgbClr>
              </a:gs>
            </a:gsLst>
            <a:lin ang="8100000" scaled="1"/>
            <a:tileRect/>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4" name="Text Placeholder 3"/>
          <p:cNvSpPr>
            <a:spLocks noGrp="1"/>
          </p:cNvSpPr>
          <p:nvPr>
            <p:ph type="body" sz="quarter" idx="11" hasCustomPrompt="1"/>
          </p:nvPr>
        </p:nvSpPr>
        <p:spPr>
          <a:xfrm>
            <a:off x="314325" y="5243512"/>
            <a:ext cx="11557000" cy="1614487"/>
          </a:xfrm>
          <a:prstGeom prst="rect">
            <a:avLst/>
          </a:prstGeom>
        </p:spPr>
        <p:txBody>
          <a:bodyPr lIns="0" tIns="0" rIns="0" bIns="0" anchor="ctr"/>
          <a:lstStyle>
            <a:lvl1pPr marL="0" indent="0">
              <a:buNone/>
              <a:defRPr sz="2400" b="1">
                <a:solidFill>
                  <a:schemeClr val="tx1"/>
                </a:solidFill>
              </a:defRPr>
            </a:lvl1pPr>
            <a:lvl2pPr marL="291586" indent="0">
              <a:buNone/>
              <a:defRPr sz="2400">
                <a:solidFill>
                  <a:schemeClr val="bg1"/>
                </a:solidFill>
              </a:defRPr>
            </a:lvl2pPr>
            <a:lvl3pPr marL="583171" indent="0">
              <a:buNone/>
              <a:defRPr sz="2400">
                <a:solidFill>
                  <a:schemeClr val="bg1"/>
                </a:solidFill>
              </a:defRPr>
            </a:lvl3pPr>
            <a:lvl4pPr marL="874756" indent="0">
              <a:buNone/>
              <a:defRPr sz="2400">
                <a:solidFill>
                  <a:schemeClr val="bg1"/>
                </a:solidFill>
              </a:defRPr>
            </a:lvl4pPr>
            <a:lvl5pPr marL="1166341" indent="0">
              <a:buNone/>
              <a:defRPr sz="2400">
                <a:solidFill>
                  <a:schemeClr val="bg1"/>
                </a:solidFill>
              </a:defRPr>
            </a:lvl5pPr>
          </a:lstStyle>
          <a:p>
            <a:pPr lvl="0"/>
            <a:r>
              <a:rPr lang="en-US" dirty="0"/>
              <a:t>Click to insert text</a:t>
            </a:r>
          </a:p>
        </p:txBody>
      </p:sp>
      <p:pic>
        <p:nvPicPr>
          <p:cNvPr id="8" name="Picture 7"/>
          <p:cNvPicPr>
            <a:picLocks noChangeAspect="1"/>
          </p:cNvPicPr>
          <p:nvPr userDrawn="1"/>
        </p:nvPicPr>
        <p:blipFill rotWithShape="1">
          <a:blip r:embed="rId7" cstate="email">
            <a:extLst>
              <a:ext uri="{28A0092B-C50C-407E-A947-70E740481C1C}">
                <a14:useLocalDpi xmlns:a14="http://schemas.microsoft.com/office/drawing/2010/main"/>
              </a:ext>
            </a:extLst>
          </a:blip>
          <a:srcRect t="13455" b="21818"/>
          <a:stretch/>
        </p:blipFill>
        <p:spPr>
          <a:xfrm>
            <a:off x="10439402" y="240387"/>
            <a:ext cx="1530890" cy="1041871"/>
          </a:xfrm>
          <a:prstGeom prst="rect">
            <a:avLst/>
          </a:prstGeom>
        </p:spPr>
      </p:pic>
    </p:spTree>
    <p:extLst>
      <p:ext uri="{BB962C8B-B14F-4D97-AF65-F5344CB8AC3E}">
        <p14:creationId xmlns:p14="http://schemas.microsoft.com/office/powerpoint/2010/main" val="157240103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48_Title slid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6168207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521" name="think-cell Slide" r:id="rId4" imgW="594" imgH="595" progId="TCLayout.ActiveDocument.1">
                  <p:embed/>
                </p:oleObj>
              </mc:Choice>
              <mc:Fallback>
                <p:oleObj name="think-cell Slide" r:id="rId4" imgW="594" imgH="595"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AC27095E-716A-4407-8322-32B0AC5076B7}"/>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l="10017" b="9121"/>
          <a:stretch/>
        </p:blipFill>
        <p:spPr>
          <a:xfrm>
            <a:off x="2002420" y="0"/>
            <a:ext cx="10189579" cy="6858000"/>
          </a:xfrm>
          <a:prstGeom prst="rect">
            <a:avLst/>
          </a:prstGeom>
        </p:spPr>
      </p:pic>
      <p:pic>
        <p:nvPicPr>
          <p:cNvPr id="87" name="Picture 86"/>
          <p:cNvPicPr>
            <a:picLocks noChangeAspect="1"/>
          </p:cNvPicPr>
          <p:nvPr userDrawn="1"/>
        </p:nvPicPr>
        <p:blipFill rotWithShape="1">
          <a:blip r:embed="rId7" cstate="email">
            <a:extLst>
              <a:ext uri="{28A0092B-C50C-407E-A947-70E740481C1C}">
                <a14:useLocalDpi xmlns:a14="http://schemas.microsoft.com/office/drawing/2010/main"/>
              </a:ext>
            </a:extLst>
          </a:blip>
          <a:srcRect t="13455" b="21818"/>
          <a:stretch/>
        </p:blipFill>
        <p:spPr>
          <a:xfrm>
            <a:off x="10439402" y="240387"/>
            <a:ext cx="1530890" cy="1041871"/>
          </a:xfrm>
          <a:prstGeom prst="rect">
            <a:avLst/>
          </a:prstGeom>
        </p:spPr>
      </p:pic>
      <p:sp>
        <p:nvSpPr>
          <p:cNvPr id="11" name="Rectangle 10">
            <a:extLst>
              <a:ext uri="{FF2B5EF4-FFF2-40B4-BE49-F238E27FC236}">
                <a16:creationId xmlns:a16="http://schemas.microsoft.com/office/drawing/2014/main" id="{7ABCB74D-F483-4662-AE2A-215DA8E0E04D}"/>
              </a:ext>
            </a:extLst>
          </p:cNvPr>
          <p:cNvSpPr/>
          <p:nvPr userDrawn="1"/>
        </p:nvSpPr>
        <p:spPr>
          <a:xfrm>
            <a:off x="2002420" y="0"/>
            <a:ext cx="8187160" cy="6858000"/>
          </a:xfrm>
          <a:prstGeom prst="rect">
            <a:avLst/>
          </a:prstGeom>
          <a:gradFill flip="none" rotWithShape="1">
            <a:gsLst>
              <a:gs pos="8000">
                <a:schemeClr val="bg1"/>
              </a:gs>
              <a:gs pos="30000">
                <a:schemeClr val="bg1">
                  <a:alpha val="78000"/>
                </a:schemeClr>
              </a:gs>
              <a:gs pos="70000">
                <a:schemeClr val="bg1">
                  <a:alpha val="0"/>
                </a:schemeClr>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4" name="Text Placeholder 3"/>
          <p:cNvSpPr>
            <a:spLocks noGrp="1"/>
          </p:cNvSpPr>
          <p:nvPr userDrawn="1">
            <p:ph type="body" sz="quarter" idx="12" hasCustomPrompt="1"/>
          </p:nvPr>
        </p:nvSpPr>
        <p:spPr>
          <a:xfrm>
            <a:off x="323033" y="2986268"/>
            <a:ext cx="2771005" cy="885464"/>
          </a:xfrm>
          <a:prstGeom prst="rect">
            <a:avLst/>
          </a:prstGeom>
        </p:spPr>
        <p:txBody>
          <a:bodyPr lIns="0" tIns="0" rIns="0" bIns="0" anchor="ctr"/>
          <a:lstStyle>
            <a:lvl1pPr marL="0" marR="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sz="2400" b="1" baseline="0">
                <a:solidFill>
                  <a:schemeClr val="tx1"/>
                </a:solidFill>
              </a:defRPr>
            </a:lvl1pPr>
            <a:lvl2pPr marL="291586" indent="0">
              <a:buNone/>
              <a:defRPr>
                <a:solidFill>
                  <a:schemeClr val="bg1"/>
                </a:solidFill>
              </a:defRPr>
            </a:lvl2pPr>
            <a:lvl3pPr marL="583171" indent="0">
              <a:buNone/>
              <a:defRPr>
                <a:solidFill>
                  <a:schemeClr val="bg1"/>
                </a:solidFill>
              </a:defRPr>
            </a:lvl3pPr>
            <a:lvl4pPr marL="874756" indent="0">
              <a:buNone/>
              <a:defRPr>
                <a:solidFill>
                  <a:schemeClr val="bg1"/>
                </a:solidFill>
              </a:defRPr>
            </a:lvl4pPr>
            <a:lvl5pPr marL="1166341" indent="0">
              <a:buNone/>
              <a:defRPr>
                <a:solidFill>
                  <a:schemeClr val="bg1"/>
                </a:solidFill>
              </a:defRPr>
            </a:lvl5pPr>
          </a:lstStyle>
          <a:p>
            <a:pPr lvl="0"/>
            <a:r>
              <a:rPr lang="en-US" dirty="0"/>
              <a:t>Click to insert text</a:t>
            </a:r>
          </a:p>
        </p:txBody>
      </p:sp>
    </p:spTree>
    <p:extLst>
      <p:ext uri="{BB962C8B-B14F-4D97-AF65-F5344CB8AC3E}">
        <p14:creationId xmlns:p14="http://schemas.microsoft.com/office/powerpoint/2010/main" val="31908690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15207652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545"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84209" cy="704850"/>
          </a:xfrm>
        </p:spPr>
        <p:txBody>
          <a:bodyPr vert="horz"/>
          <a:lstStyle>
            <a:lvl1pPr>
              <a:defRPr sz="1800">
                <a:solidFill>
                  <a:schemeClr val="accent5">
                    <a:lumMod val="75000"/>
                    <a:lumOff val="25000"/>
                  </a:schemeClr>
                </a:solidFill>
              </a:defRPr>
            </a:lvl1pPr>
          </a:lstStyle>
          <a:p>
            <a:r>
              <a:rPr lang="en-US" dirty="0"/>
              <a:t>Click to add title</a:t>
            </a:r>
            <a:endParaRPr lang="ru-RU" dirty="0"/>
          </a:p>
        </p:txBody>
      </p:sp>
      <p:sp>
        <p:nvSpPr>
          <p:cNvPr id="6" name="Text Placeholder 5"/>
          <p:cNvSpPr>
            <a:spLocks noGrp="1"/>
          </p:cNvSpPr>
          <p:nvPr>
            <p:ph type="body" sz="quarter" idx="10" hasCustomPrompt="1"/>
          </p:nvPr>
        </p:nvSpPr>
        <p:spPr>
          <a:xfrm>
            <a:off x="317500" y="6438901"/>
            <a:ext cx="10584209" cy="292100"/>
          </a:xfrm>
          <a:prstGeom prst="rect">
            <a:avLst/>
          </a:prstGeom>
        </p:spPr>
        <p:txBody>
          <a:bodyPr lIns="0" tIns="0" rIns="0" bIns="0" anchor="b" anchorCtr="0"/>
          <a:lstStyle>
            <a:lvl1pPr marL="0" indent="0">
              <a:lnSpc>
                <a:spcPct val="100000"/>
              </a:lnSpc>
              <a:spcBef>
                <a:spcPts val="0"/>
              </a:spcBef>
              <a:buNone/>
              <a:defRPr sz="800">
                <a:solidFill>
                  <a:schemeClr val="tx1"/>
                </a:solidFill>
              </a:defRPr>
            </a:lvl1pPr>
            <a:lvl2pPr marL="291586" indent="0">
              <a:buNone/>
              <a:defRPr/>
            </a:lvl2pPr>
            <a:lvl3pPr marL="583171" indent="0">
              <a:buNone/>
              <a:defRPr/>
            </a:lvl3pPr>
            <a:lvl4pPr marL="874756" indent="0">
              <a:buNone/>
              <a:defRPr/>
            </a:lvl4pPr>
            <a:lvl5pPr marL="1166341" indent="0">
              <a:buNone/>
              <a:defRPr/>
            </a:lvl5pPr>
          </a:lstStyle>
          <a:p>
            <a:pPr lvl="0"/>
            <a:r>
              <a:rPr lang="en-US" dirty="0"/>
              <a:t>Footnotes</a:t>
            </a:r>
          </a:p>
        </p:txBody>
      </p:sp>
    </p:spTree>
    <p:extLst>
      <p:ext uri="{BB962C8B-B14F-4D97-AF65-F5344CB8AC3E}">
        <p14:creationId xmlns:p14="http://schemas.microsoft.com/office/powerpoint/2010/main" val="88582391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7110194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569"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83863" cy="704850"/>
          </a:xfrm>
        </p:spPr>
        <p:txBody>
          <a:bodyPr vert="horz"/>
          <a:lstStyle>
            <a:lvl1pPr>
              <a:defRPr sz="1800">
                <a:solidFill>
                  <a:schemeClr val="accent5">
                    <a:lumMod val="75000"/>
                    <a:lumOff val="25000"/>
                  </a:schemeClr>
                </a:solidFill>
              </a:defRPr>
            </a:lvl1pPr>
          </a:lstStyle>
          <a:p>
            <a:r>
              <a:rPr lang="en-US" dirty="0"/>
              <a:t>Click to add title</a:t>
            </a:r>
            <a:endParaRPr lang="ru-RU" dirty="0"/>
          </a:p>
        </p:txBody>
      </p:sp>
      <p:sp>
        <p:nvSpPr>
          <p:cNvPr id="11" name="Text Placeholder 10"/>
          <p:cNvSpPr>
            <a:spLocks noGrp="1"/>
          </p:cNvSpPr>
          <p:nvPr>
            <p:ph type="body" sz="quarter" idx="12" hasCustomPrompt="1"/>
          </p:nvPr>
        </p:nvSpPr>
        <p:spPr>
          <a:xfrm>
            <a:off x="314325" y="1614488"/>
            <a:ext cx="11563350" cy="3629026"/>
          </a:xfrm>
          <a:prstGeom prst="rect">
            <a:avLst/>
          </a:prstGeom>
        </p:spPr>
        <p:txBody>
          <a:bodyPr lIns="0" tIns="0" rIns="0" bIns="0"/>
          <a:lstStyle>
            <a:lvl1pPr marL="0" indent="0">
              <a:spcAft>
                <a:spcPts val="300"/>
              </a:spcAft>
              <a:buNone/>
              <a:defRPr lang="en-US" sz="1600" b="0" dirty="0">
                <a:solidFill>
                  <a:schemeClr val="tx1"/>
                </a:solidFill>
              </a:defRPr>
            </a:lvl1pPr>
          </a:lstStyle>
          <a:p>
            <a:pPr marL="145792" lvl="0" indent="-145792">
              <a:lnSpc>
                <a:spcPct val="100000"/>
              </a:lnSpc>
              <a:spcBef>
                <a:spcPts val="0"/>
              </a:spcBef>
            </a:pPr>
            <a:r>
              <a:rPr lang="en-US" dirty="0"/>
              <a:t>Click to insert text</a:t>
            </a:r>
          </a:p>
        </p:txBody>
      </p:sp>
    </p:spTree>
    <p:extLst>
      <p:ext uri="{BB962C8B-B14F-4D97-AF65-F5344CB8AC3E}">
        <p14:creationId xmlns:p14="http://schemas.microsoft.com/office/powerpoint/2010/main" val="56999664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11265660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593"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9" name="Picture Placeholder 8"/>
          <p:cNvSpPr>
            <a:spLocks noGrp="1"/>
          </p:cNvSpPr>
          <p:nvPr>
            <p:ph type="pic" sz="quarter" idx="11" hasCustomPrompt="1"/>
          </p:nvPr>
        </p:nvSpPr>
        <p:spPr>
          <a:xfrm>
            <a:off x="0" y="3425825"/>
            <a:ext cx="12192000" cy="2725738"/>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77593" cy="704850"/>
          </a:xfrm>
        </p:spPr>
        <p:txBody>
          <a:bodyPr vert="horz"/>
          <a:lstStyle>
            <a:lvl1pPr>
              <a:defRPr sz="1800">
                <a:solidFill>
                  <a:schemeClr val="accent5">
                    <a:lumMod val="75000"/>
                    <a:lumOff val="25000"/>
                  </a:schemeClr>
                </a:solidFill>
              </a:defRPr>
            </a:lvl1pPr>
          </a:lstStyle>
          <a:p>
            <a:r>
              <a:rPr lang="en-US" dirty="0"/>
              <a:t>Click to add title</a:t>
            </a:r>
            <a:endParaRPr lang="ru-RU" dirty="0"/>
          </a:p>
        </p:txBody>
      </p:sp>
    </p:spTree>
    <p:extLst>
      <p:ext uri="{BB962C8B-B14F-4D97-AF65-F5344CB8AC3E}">
        <p14:creationId xmlns:p14="http://schemas.microsoft.com/office/powerpoint/2010/main" val="117553708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 pictur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33296547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617"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83863" cy="704850"/>
          </a:xfrm>
        </p:spPr>
        <p:txBody>
          <a:bodyPr/>
          <a:lstStyle>
            <a:lvl1pPr>
              <a:defRPr sz="1800"/>
            </a:lvl1pPr>
          </a:lstStyle>
          <a:p>
            <a:r>
              <a:rPr lang="en-US" dirty="0"/>
              <a:t>Click to add title</a:t>
            </a:r>
            <a:endParaRPr lang="ru-RU" dirty="0"/>
          </a:p>
        </p:txBody>
      </p:sp>
      <p:sp>
        <p:nvSpPr>
          <p:cNvPr id="15" name="Picture Placeholder 8"/>
          <p:cNvSpPr>
            <a:spLocks noGrp="1"/>
          </p:cNvSpPr>
          <p:nvPr>
            <p:ph type="pic" sz="quarter" idx="13" hasCustomPrompt="1"/>
          </p:nvPr>
        </p:nvSpPr>
        <p:spPr>
          <a:xfrm>
            <a:off x="4217989" y="1614488"/>
            <a:ext cx="7974012" cy="4537075"/>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Tree>
    <p:extLst>
      <p:ext uri="{BB962C8B-B14F-4D97-AF65-F5344CB8AC3E}">
        <p14:creationId xmlns:p14="http://schemas.microsoft.com/office/powerpoint/2010/main" val="70301885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ext + pictur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33187960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641"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83863" cy="704850"/>
          </a:xfrm>
        </p:spPr>
        <p:txBody>
          <a:bodyPr/>
          <a:lstStyle>
            <a:lvl1pPr>
              <a:defRPr sz="1800"/>
            </a:lvl1pPr>
          </a:lstStyle>
          <a:p>
            <a:r>
              <a:rPr lang="en-US" dirty="0"/>
              <a:t>Click to add title</a:t>
            </a:r>
            <a:endParaRPr lang="ru-RU" dirty="0"/>
          </a:p>
        </p:txBody>
      </p:sp>
      <p:sp>
        <p:nvSpPr>
          <p:cNvPr id="11" name="Text Placeholder 10"/>
          <p:cNvSpPr>
            <a:spLocks noGrp="1"/>
          </p:cNvSpPr>
          <p:nvPr>
            <p:ph type="body" sz="quarter" idx="12" hasCustomPrompt="1"/>
          </p:nvPr>
        </p:nvSpPr>
        <p:spPr>
          <a:xfrm>
            <a:off x="317500" y="1614488"/>
            <a:ext cx="3752850" cy="4537075"/>
          </a:xfrm>
          <a:prstGeom prst="rect">
            <a:avLst/>
          </a:prstGeom>
        </p:spPr>
        <p:txBody>
          <a:bodyPr lIns="0" tIns="0" rIns="0" bIns="0"/>
          <a:lstStyle>
            <a:lvl1pPr marL="0" indent="0">
              <a:spcAft>
                <a:spcPts val="300"/>
              </a:spcAft>
              <a:buNone/>
              <a:defRPr lang="en-US" sz="1600" b="0" dirty="0">
                <a:solidFill>
                  <a:schemeClr val="tx1"/>
                </a:solidFill>
              </a:defRPr>
            </a:lvl1pPr>
          </a:lstStyle>
          <a:p>
            <a:pPr marL="145792" lvl="0" indent="-145792">
              <a:lnSpc>
                <a:spcPct val="100000"/>
              </a:lnSpc>
              <a:spcBef>
                <a:spcPts val="0"/>
              </a:spcBef>
            </a:pPr>
            <a:r>
              <a:rPr lang="en-US" dirty="0"/>
              <a:t>Click to insert text</a:t>
            </a:r>
          </a:p>
        </p:txBody>
      </p:sp>
      <p:sp>
        <p:nvSpPr>
          <p:cNvPr id="15" name="Picture Placeholder 8"/>
          <p:cNvSpPr>
            <a:spLocks noGrp="1"/>
          </p:cNvSpPr>
          <p:nvPr>
            <p:ph type="pic" sz="quarter" idx="13" hasCustomPrompt="1"/>
          </p:nvPr>
        </p:nvSpPr>
        <p:spPr>
          <a:xfrm>
            <a:off x="4217989" y="1614488"/>
            <a:ext cx="7974012" cy="4537075"/>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Tree>
    <p:extLst>
      <p:ext uri="{BB962C8B-B14F-4D97-AF65-F5344CB8AC3E}">
        <p14:creationId xmlns:p14="http://schemas.microsoft.com/office/powerpoint/2010/main" val="323095055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picture slide 2">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32820686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665"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9" name="Picture Placeholder 8"/>
          <p:cNvSpPr>
            <a:spLocks noGrp="1"/>
          </p:cNvSpPr>
          <p:nvPr>
            <p:ph type="pic" sz="quarter" idx="11" hasCustomPrompt="1"/>
          </p:nvPr>
        </p:nvSpPr>
        <p:spPr>
          <a:xfrm>
            <a:off x="0" y="3425825"/>
            <a:ext cx="12192000" cy="2725738"/>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77594" cy="704850"/>
          </a:xfrm>
        </p:spPr>
        <p:txBody>
          <a:bodyPr/>
          <a:lstStyle>
            <a:lvl1pPr>
              <a:defRPr sz="1800"/>
            </a:lvl1pPr>
          </a:lstStyle>
          <a:p>
            <a:r>
              <a:rPr lang="en-US" dirty="0"/>
              <a:t>Click to add title</a:t>
            </a:r>
            <a:endParaRPr lang="ru-RU" dirty="0"/>
          </a:p>
        </p:txBody>
      </p:sp>
      <p:sp>
        <p:nvSpPr>
          <p:cNvPr id="11" name="Text Placeholder 10"/>
          <p:cNvSpPr>
            <a:spLocks noGrp="1"/>
          </p:cNvSpPr>
          <p:nvPr>
            <p:ph type="body" sz="quarter" idx="12" hasCustomPrompt="1"/>
          </p:nvPr>
        </p:nvSpPr>
        <p:spPr>
          <a:xfrm>
            <a:off x="317499" y="1614488"/>
            <a:ext cx="11560173" cy="1666936"/>
          </a:xfrm>
          <a:prstGeom prst="rect">
            <a:avLst/>
          </a:prstGeom>
        </p:spPr>
        <p:txBody>
          <a:bodyPr lIns="0" tIns="0" rIns="0" bIns="0"/>
          <a:lstStyle>
            <a:lvl1pPr marL="0" indent="0">
              <a:spcAft>
                <a:spcPts val="300"/>
              </a:spcAft>
              <a:buNone/>
              <a:defRPr lang="en-US" sz="1600" b="0" dirty="0">
                <a:solidFill>
                  <a:schemeClr val="tx1"/>
                </a:solidFill>
              </a:defRPr>
            </a:lvl1pPr>
          </a:lstStyle>
          <a:p>
            <a:pPr marL="145792" lvl="0" indent="-145792">
              <a:lnSpc>
                <a:spcPct val="100000"/>
              </a:lnSpc>
              <a:spcBef>
                <a:spcPts val="0"/>
              </a:spcBef>
            </a:pPr>
            <a:r>
              <a:rPr lang="en-US" dirty="0"/>
              <a:t>Click to insert text</a:t>
            </a:r>
          </a:p>
        </p:txBody>
      </p:sp>
    </p:spTree>
    <p:extLst>
      <p:ext uri="{BB962C8B-B14F-4D97-AF65-F5344CB8AC3E}">
        <p14:creationId xmlns:p14="http://schemas.microsoft.com/office/powerpoint/2010/main" val="263269828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 picture slide 3">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17767843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689"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9" name="Picture Placeholder 8"/>
          <p:cNvSpPr>
            <a:spLocks noGrp="1"/>
          </p:cNvSpPr>
          <p:nvPr>
            <p:ph type="pic" sz="quarter" idx="11" hasCustomPrompt="1"/>
          </p:nvPr>
        </p:nvSpPr>
        <p:spPr>
          <a:xfrm>
            <a:off x="0" y="3425825"/>
            <a:ext cx="4070350" cy="2725738"/>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77594" cy="704850"/>
          </a:xfrm>
        </p:spPr>
        <p:txBody>
          <a:bodyPr vert="horz" lIns="0" tIns="0" rIns="0" bIns="0" rtlCol="0" anchor="ctr">
            <a:noAutofit/>
          </a:bodyPr>
          <a:lstStyle>
            <a:lvl1pPr marL="0" indent="0">
              <a:buFont typeface="Arial" panose="020B0604020202020204" pitchFamily="34" charset="0"/>
              <a:buNone/>
              <a:defRPr lang="ru-RU" dirty="0"/>
            </a:lvl1pPr>
          </a:lstStyle>
          <a:p>
            <a:pPr lvl="0"/>
            <a:r>
              <a:rPr lang="en-US" dirty="0"/>
              <a:t>Click to add title</a:t>
            </a:r>
            <a:endParaRPr lang="ru-RU" dirty="0"/>
          </a:p>
        </p:txBody>
      </p:sp>
      <p:sp>
        <p:nvSpPr>
          <p:cNvPr id="11" name="Text Placeholder 10"/>
          <p:cNvSpPr>
            <a:spLocks noGrp="1"/>
          </p:cNvSpPr>
          <p:nvPr>
            <p:ph type="body" sz="quarter" idx="12" hasCustomPrompt="1"/>
          </p:nvPr>
        </p:nvSpPr>
        <p:spPr>
          <a:xfrm>
            <a:off x="317499" y="1614487"/>
            <a:ext cx="11560173" cy="1665287"/>
          </a:xfrm>
          <a:prstGeom prst="rect">
            <a:avLst/>
          </a:prstGeom>
        </p:spPr>
        <p:txBody>
          <a:bodyPr lIns="0" tIns="0" rIns="0" bIns="0"/>
          <a:lstStyle>
            <a:lvl1pPr marL="0" indent="0">
              <a:spcAft>
                <a:spcPts val="300"/>
              </a:spcAft>
              <a:buNone/>
              <a:defRPr lang="en-US" sz="1600" b="0" dirty="0">
                <a:solidFill>
                  <a:schemeClr val="tx1"/>
                </a:solidFill>
              </a:defRPr>
            </a:lvl1pPr>
          </a:lstStyle>
          <a:p>
            <a:pPr marL="145792" lvl="0" indent="-145792">
              <a:lnSpc>
                <a:spcPct val="100000"/>
              </a:lnSpc>
              <a:spcBef>
                <a:spcPts val="0"/>
              </a:spcBef>
            </a:pPr>
            <a:r>
              <a:rPr lang="en-US" dirty="0"/>
              <a:t>Click to insert text</a:t>
            </a:r>
          </a:p>
        </p:txBody>
      </p:sp>
      <p:sp>
        <p:nvSpPr>
          <p:cNvPr id="8" name="Picture Placeholder 8"/>
          <p:cNvSpPr>
            <a:spLocks noGrp="1"/>
          </p:cNvSpPr>
          <p:nvPr>
            <p:ph type="pic" sz="quarter" idx="13" hasCustomPrompt="1"/>
          </p:nvPr>
        </p:nvSpPr>
        <p:spPr>
          <a:xfrm>
            <a:off x="4217988" y="3425825"/>
            <a:ext cx="3757612" cy="2725738"/>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
        <p:nvSpPr>
          <p:cNvPr id="10" name="Picture Placeholder 8"/>
          <p:cNvSpPr>
            <a:spLocks noGrp="1"/>
          </p:cNvSpPr>
          <p:nvPr>
            <p:ph type="pic" sz="quarter" idx="14" hasCustomPrompt="1"/>
          </p:nvPr>
        </p:nvSpPr>
        <p:spPr>
          <a:xfrm>
            <a:off x="8123238" y="3425825"/>
            <a:ext cx="4068762" cy="2725738"/>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Tree>
    <p:extLst>
      <p:ext uri="{BB962C8B-B14F-4D97-AF65-F5344CB8AC3E}">
        <p14:creationId xmlns:p14="http://schemas.microsoft.com/office/powerpoint/2010/main" val="142447407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 picture slide 4">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25444308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713"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9" name="Picture Placeholder 8"/>
          <p:cNvSpPr>
            <a:spLocks noGrp="1"/>
          </p:cNvSpPr>
          <p:nvPr>
            <p:ph type="pic" sz="quarter" idx="11" hasCustomPrompt="1"/>
          </p:nvPr>
        </p:nvSpPr>
        <p:spPr>
          <a:xfrm>
            <a:off x="9099550" y="1614488"/>
            <a:ext cx="3092450" cy="4537076"/>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77594" cy="704850"/>
          </a:xfrm>
        </p:spPr>
        <p:txBody>
          <a:bodyPr vert="horz" lIns="0" tIns="0" rIns="0" bIns="0" rtlCol="0" anchor="ctr">
            <a:noAutofit/>
          </a:bodyPr>
          <a:lstStyle>
            <a:lvl1pPr marL="0" indent="0">
              <a:buFont typeface="Arial" panose="020B0604020202020204" pitchFamily="34" charset="0"/>
              <a:buNone/>
              <a:defRPr lang="ru-RU" dirty="0"/>
            </a:lvl1pPr>
          </a:lstStyle>
          <a:p>
            <a:pPr lvl="0"/>
            <a:r>
              <a:rPr lang="en-US" dirty="0"/>
              <a:t>Click to add title</a:t>
            </a:r>
            <a:endParaRPr lang="ru-RU" dirty="0"/>
          </a:p>
        </p:txBody>
      </p:sp>
      <p:sp>
        <p:nvSpPr>
          <p:cNvPr id="11" name="Text Placeholder 10"/>
          <p:cNvSpPr>
            <a:spLocks noGrp="1"/>
          </p:cNvSpPr>
          <p:nvPr>
            <p:ph type="body" sz="quarter" idx="12" hasCustomPrompt="1"/>
          </p:nvPr>
        </p:nvSpPr>
        <p:spPr>
          <a:xfrm>
            <a:off x="317499" y="1614488"/>
            <a:ext cx="5705475" cy="4537076"/>
          </a:xfrm>
          <a:prstGeom prst="rect">
            <a:avLst/>
          </a:prstGeom>
        </p:spPr>
        <p:txBody>
          <a:bodyPr lIns="0" tIns="0" rIns="0" bIns="0"/>
          <a:lstStyle>
            <a:lvl1pPr marL="0" indent="0">
              <a:spcAft>
                <a:spcPts val="300"/>
              </a:spcAft>
              <a:buNone/>
              <a:defRPr lang="en-US" sz="1600" b="0" dirty="0">
                <a:solidFill>
                  <a:schemeClr val="tx1"/>
                </a:solidFill>
              </a:defRPr>
            </a:lvl1pPr>
          </a:lstStyle>
          <a:p>
            <a:pPr marL="145792" lvl="0" indent="-145792">
              <a:lnSpc>
                <a:spcPct val="100000"/>
              </a:lnSpc>
              <a:spcBef>
                <a:spcPts val="0"/>
              </a:spcBef>
            </a:pPr>
            <a:r>
              <a:rPr lang="en-US" dirty="0"/>
              <a:t>Click to insert text</a:t>
            </a:r>
          </a:p>
        </p:txBody>
      </p:sp>
      <p:sp>
        <p:nvSpPr>
          <p:cNvPr id="8" name="Picture Placeholder 8"/>
          <p:cNvSpPr>
            <a:spLocks noGrp="1"/>
          </p:cNvSpPr>
          <p:nvPr>
            <p:ph type="pic" sz="quarter" idx="13" hasCustomPrompt="1"/>
          </p:nvPr>
        </p:nvSpPr>
        <p:spPr>
          <a:xfrm>
            <a:off x="6170612" y="2522538"/>
            <a:ext cx="2778125" cy="4335462"/>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Tree>
    <p:extLst>
      <p:ext uri="{BB962C8B-B14F-4D97-AF65-F5344CB8AC3E}">
        <p14:creationId xmlns:p14="http://schemas.microsoft.com/office/powerpoint/2010/main" val="224200827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ext + picture slide 4">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5085856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737"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9" name="Picture Placeholder 8"/>
          <p:cNvSpPr>
            <a:spLocks noGrp="1"/>
          </p:cNvSpPr>
          <p:nvPr>
            <p:ph type="pic" sz="quarter" idx="11" hasCustomPrompt="1"/>
          </p:nvPr>
        </p:nvSpPr>
        <p:spPr>
          <a:xfrm>
            <a:off x="9099550" y="1614488"/>
            <a:ext cx="3092450" cy="4537076"/>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77593" cy="704850"/>
          </a:xfrm>
        </p:spPr>
        <p:txBody>
          <a:bodyPr vert="horz" lIns="0" tIns="0" rIns="0" bIns="0" rtlCol="0" anchor="ctr">
            <a:noAutofit/>
          </a:bodyPr>
          <a:lstStyle>
            <a:lvl1pPr marL="0" indent="0">
              <a:buFont typeface="Arial" panose="020B0604020202020204" pitchFamily="34" charset="0"/>
              <a:buNone/>
              <a:defRPr lang="ru-RU" dirty="0"/>
            </a:lvl1pPr>
          </a:lstStyle>
          <a:p>
            <a:pPr lvl="0"/>
            <a:r>
              <a:rPr lang="en-US" dirty="0"/>
              <a:t>Click to add title</a:t>
            </a:r>
            <a:endParaRPr lang="ru-RU" dirty="0"/>
          </a:p>
        </p:txBody>
      </p:sp>
      <p:sp>
        <p:nvSpPr>
          <p:cNvPr id="8" name="Picture Placeholder 8"/>
          <p:cNvSpPr>
            <a:spLocks noGrp="1"/>
          </p:cNvSpPr>
          <p:nvPr>
            <p:ph type="pic" sz="quarter" idx="13" hasCustomPrompt="1"/>
          </p:nvPr>
        </p:nvSpPr>
        <p:spPr>
          <a:xfrm>
            <a:off x="6170612" y="2522538"/>
            <a:ext cx="2778125" cy="4335462"/>
          </a:xfrm>
          <a:prstGeom prst="rect">
            <a:avLst/>
          </a:prstGeom>
        </p:spPr>
        <p:txBody>
          <a:bodyPr lIns="0" tIns="0" rIns="0" bIns="0" anchor="ctr"/>
          <a:lstStyle>
            <a:lvl1pPr marL="0" indent="0" algn="ctr">
              <a:buNone/>
              <a:defRPr lang="en-US" sz="1800" b="0" dirty="0">
                <a:solidFill>
                  <a:schemeClr val="tx1"/>
                </a:solidFill>
              </a:defRPr>
            </a:lvl1pPr>
          </a:lstStyle>
          <a:p>
            <a:pPr marL="145792" lvl="0" indent="-145792"/>
            <a:r>
              <a:rPr lang="en-US" dirty="0"/>
              <a:t>Click to insert picture</a:t>
            </a:r>
          </a:p>
        </p:txBody>
      </p:sp>
    </p:spTree>
    <p:extLst>
      <p:ext uri="{BB962C8B-B14F-4D97-AF65-F5344CB8AC3E}">
        <p14:creationId xmlns:p14="http://schemas.microsoft.com/office/powerpoint/2010/main" val="198325584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am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2796387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4761"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77593" cy="704850"/>
          </a:xfrm>
        </p:spPr>
        <p:txBody>
          <a:bodyPr vert="horz"/>
          <a:lstStyle>
            <a:lvl1pPr>
              <a:defRPr sz="1800">
                <a:solidFill>
                  <a:schemeClr val="accent5">
                    <a:lumMod val="75000"/>
                    <a:lumOff val="25000"/>
                  </a:schemeClr>
                </a:solidFill>
              </a:defRPr>
            </a:lvl1pPr>
          </a:lstStyle>
          <a:p>
            <a:r>
              <a:rPr lang="en-US" dirty="0"/>
              <a:t>Click to add title</a:t>
            </a:r>
            <a:endParaRPr lang="ru-RU" dirty="0"/>
          </a:p>
        </p:txBody>
      </p:sp>
      <p:sp>
        <p:nvSpPr>
          <p:cNvPr id="11" name="Text Placeholder 10"/>
          <p:cNvSpPr>
            <a:spLocks noGrp="1"/>
          </p:cNvSpPr>
          <p:nvPr>
            <p:ph type="body" sz="quarter" idx="12" hasCustomPrompt="1"/>
          </p:nvPr>
        </p:nvSpPr>
        <p:spPr>
          <a:xfrm>
            <a:off x="1293812" y="1614488"/>
            <a:ext cx="1800225" cy="1698055"/>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12" name="Text Placeholder 10"/>
          <p:cNvSpPr>
            <a:spLocks noGrp="1"/>
          </p:cNvSpPr>
          <p:nvPr>
            <p:ph type="body" sz="quarter" idx="14" hasCustomPrompt="1"/>
          </p:nvPr>
        </p:nvSpPr>
        <p:spPr>
          <a:xfrm>
            <a:off x="4219046" y="1614488"/>
            <a:ext cx="1800000" cy="1698055"/>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13" name="Picture Placeholder 8"/>
          <p:cNvSpPr>
            <a:spLocks noGrp="1"/>
          </p:cNvSpPr>
          <p:nvPr>
            <p:ph type="pic" sz="quarter" idx="15" hasCustomPrompt="1"/>
          </p:nvPr>
        </p:nvSpPr>
        <p:spPr>
          <a:xfrm>
            <a:off x="3243263" y="1614491"/>
            <a:ext cx="828000" cy="908048"/>
          </a:xfrm>
          <a:prstGeom prst="rect">
            <a:avLst/>
          </a:prstGeom>
        </p:spPr>
        <p:txBody>
          <a:bodyPr lIns="0" tIns="0" rIns="0" bIns="0" anchor="ctr"/>
          <a:lstStyle>
            <a:lvl1pPr marL="145792" marR="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45792" marR="0" lvl="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a:pPr>
            <a:r>
              <a:rPr lang="en-US" dirty="0"/>
              <a:t>Picture</a:t>
            </a:r>
          </a:p>
        </p:txBody>
      </p:sp>
      <p:sp>
        <p:nvSpPr>
          <p:cNvPr id="14" name="Text Placeholder 10"/>
          <p:cNvSpPr>
            <a:spLocks noGrp="1"/>
          </p:cNvSpPr>
          <p:nvPr>
            <p:ph type="body" sz="quarter" idx="16" hasCustomPrompt="1"/>
          </p:nvPr>
        </p:nvSpPr>
        <p:spPr>
          <a:xfrm>
            <a:off x="7146925" y="1614488"/>
            <a:ext cx="1800000" cy="1698055"/>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15" name="Picture Placeholder 8"/>
          <p:cNvSpPr>
            <a:spLocks noGrp="1"/>
          </p:cNvSpPr>
          <p:nvPr>
            <p:ph type="pic" sz="quarter" idx="17" hasCustomPrompt="1"/>
          </p:nvPr>
        </p:nvSpPr>
        <p:spPr>
          <a:xfrm>
            <a:off x="6171140" y="1614491"/>
            <a:ext cx="828000" cy="908048"/>
          </a:xfrm>
          <a:prstGeom prst="rect">
            <a:avLst/>
          </a:prstGeom>
        </p:spPr>
        <p:txBody>
          <a:bodyPr lIns="0" tIns="0" rIns="0" bIns="0" anchor="ctr"/>
          <a:lstStyle>
            <a:lvl1pPr marL="145792" marR="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45792" marR="0" lvl="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a:pPr>
            <a:r>
              <a:rPr lang="en-US" dirty="0"/>
              <a:t>Picture</a:t>
            </a:r>
          </a:p>
        </p:txBody>
      </p:sp>
      <p:sp>
        <p:nvSpPr>
          <p:cNvPr id="16" name="Text Placeholder 10"/>
          <p:cNvSpPr>
            <a:spLocks noGrp="1"/>
          </p:cNvSpPr>
          <p:nvPr>
            <p:ph type="body" sz="quarter" idx="18" hasCustomPrompt="1"/>
          </p:nvPr>
        </p:nvSpPr>
        <p:spPr>
          <a:xfrm>
            <a:off x="10066298" y="1614488"/>
            <a:ext cx="1800000" cy="1698055"/>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17" name="Picture Placeholder 8"/>
          <p:cNvSpPr>
            <a:spLocks noGrp="1"/>
          </p:cNvSpPr>
          <p:nvPr>
            <p:ph type="pic" sz="quarter" idx="19" hasCustomPrompt="1"/>
          </p:nvPr>
        </p:nvSpPr>
        <p:spPr>
          <a:xfrm>
            <a:off x="9090025" y="1614491"/>
            <a:ext cx="828000" cy="908048"/>
          </a:xfrm>
          <a:prstGeom prst="rect">
            <a:avLst/>
          </a:prstGeom>
        </p:spPr>
        <p:txBody>
          <a:bodyPr lIns="0" tIns="0" rIns="0" bIns="0" anchor="ctr"/>
          <a:lstStyle>
            <a:lvl1pPr marL="145792" marR="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45792" marR="0" lvl="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a:pPr>
            <a:r>
              <a:rPr lang="en-US" dirty="0"/>
              <a:t>Picture</a:t>
            </a:r>
          </a:p>
        </p:txBody>
      </p:sp>
      <p:sp>
        <p:nvSpPr>
          <p:cNvPr id="18" name="Text Placeholder 10"/>
          <p:cNvSpPr>
            <a:spLocks noGrp="1"/>
          </p:cNvSpPr>
          <p:nvPr>
            <p:ph type="body" sz="quarter" idx="20" hasCustomPrompt="1"/>
          </p:nvPr>
        </p:nvSpPr>
        <p:spPr>
          <a:xfrm>
            <a:off x="1293812" y="3425825"/>
            <a:ext cx="1800225" cy="1699200"/>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20" name="Text Placeholder 10"/>
          <p:cNvSpPr>
            <a:spLocks noGrp="1"/>
          </p:cNvSpPr>
          <p:nvPr>
            <p:ph type="body" sz="quarter" idx="22" hasCustomPrompt="1"/>
          </p:nvPr>
        </p:nvSpPr>
        <p:spPr>
          <a:xfrm>
            <a:off x="4219046" y="3425825"/>
            <a:ext cx="1800000" cy="1699200"/>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21" name="Picture Placeholder 8"/>
          <p:cNvSpPr>
            <a:spLocks noGrp="1"/>
          </p:cNvSpPr>
          <p:nvPr>
            <p:ph type="pic" sz="quarter" idx="23" hasCustomPrompt="1"/>
          </p:nvPr>
        </p:nvSpPr>
        <p:spPr>
          <a:xfrm>
            <a:off x="3243263" y="3425828"/>
            <a:ext cx="828000" cy="908048"/>
          </a:xfrm>
          <a:prstGeom prst="rect">
            <a:avLst/>
          </a:prstGeom>
        </p:spPr>
        <p:txBody>
          <a:bodyPr lIns="0" tIns="0" rIns="0" bIns="0" anchor="ctr"/>
          <a:lstStyle>
            <a:lvl1pPr marL="145792" marR="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45792" marR="0" lvl="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a:pPr>
            <a:r>
              <a:rPr lang="en-US" dirty="0"/>
              <a:t>Picture</a:t>
            </a:r>
          </a:p>
        </p:txBody>
      </p:sp>
      <p:sp>
        <p:nvSpPr>
          <p:cNvPr id="22" name="Text Placeholder 10"/>
          <p:cNvSpPr>
            <a:spLocks noGrp="1"/>
          </p:cNvSpPr>
          <p:nvPr>
            <p:ph type="body" sz="quarter" idx="24" hasCustomPrompt="1"/>
          </p:nvPr>
        </p:nvSpPr>
        <p:spPr>
          <a:xfrm>
            <a:off x="7146925" y="3425825"/>
            <a:ext cx="1800000" cy="1699200"/>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23" name="Picture Placeholder 8"/>
          <p:cNvSpPr>
            <a:spLocks noGrp="1"/>
          </p:cNvSpPr>
          <p:nvPr>
            <p:ph type="pic" sz="quarter" idx="25" hasCustomPrompt="1"/>
          </p:nvPr>
        </p:nvSpPr>
        <p:spPr>
          <a:xfrm>
            <a:off x="6171140" y="3425828"/>
            <a:ext cx="828000" cy="908048"/>
          </a:xfrm>
          <a:prstGeom prst="rect">
            <a:avLst/>
          </a:prstGeom>
        </p:spPr>
        <p:txBody>
          <a:bodyPr lIns="0" tIns="0" rIns="0" bIns="0" anchor="ctr"/>
          <a:lstStyle>
            <a:lvl1pPr marL="145792" marR="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45792" marR="0" lvl="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a:pPr>
            <a:r>
              <a:rPr lang="en-US" dirty="0"/>
              <a:t>Picture</a:t>
            </a:r>
          </a:p>
        </p:txBody>
      </p:sp>
      <p:sp>
        <p:nvSpPr>
          <p:cNvPr id="24" name="Text Placeholder 10"/>
          <p:cNvSpPr>
            <a:spLocks noGrp="1"/>
          </p:cNvSpPr>
          <p:nvPr>
            <p:ph type="body" sz="quarter" idx="26" hasCustomPrompt="1"/>
          </p:nvPr>
        </p:nvSpPr>
        <p:spPr>
          <a:xfrm>
            <a:off x="10066298" y="3425825"/>
            <a:ext cx="1800000" cy="1699200"/>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25" name="Picture Placeholder 8"/>
          <p:cNvSpPr>
            <a:spLocks noGrp="1"/>
          </p:cNvSpPr>
          <p:nvPr>
            <p:ph type="pic" sz="quarter" idx="27" hasCustomPrompt="1"/>
          </p:nvPr>
        </p:nvSpPr>
        <p:spPr>
          <a:xfrm>
            <a:off x="9090025" y="3425828"/>
            <a:ext cx="828000" cy="908048"/>
          </a:xfrm>
          <a:prstGeom prst="rect">
            <a:avLst/>
          </a:prstGeom>
        </p:spPr>
        <p:txBody>
          <a:bodyPr lIns="0" tIns="0" rIns="0" bIns="0" anchor="ctr"/>
          <a:lstStyle>
            <a:lvl1pPr marL="145792" marR="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45792" marR="0" lvl="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a:pPr>
            <a:r>
              <a:rPr lang="en-US" dirty="0"/>
              <a:t>Picture</a:t>
            </a:r>
          </a:p>
        </p:txBody>
      </p:sp>
      <p:sp>
        <p:nvSpPr>
          <p:cNvPr id="26" name="Picture Placeholder 8"/>
          <p:cNvSpPr>
            <a:spLocks noGrp="1"/>
          </p:cNvSpPr>
          <p:nvPr>
            <p:ph type="pic" sz="quarter" idx="28" hasCustomPrompt="1"/>
          </p:nvPr>
        </p:nvSpPr>
        <p:spPr>
          <a:xfrm>
            <a:off x="321525" y="1614491"/>
            <a:ext cx="828000" cy="908048"/>
          </a:xfrm>
          <a:prstGeom prst="rect">
            <a:avLst/>
          </a:prstGeom>
        </p:spPr>
        <p:txBody>
          <a:bodyPr lIns="0" tIns="0" rIns="0" bIns="0" anchor="ctr"/>
          <a:lstStyle>
            <a:lvl1pPr marL="0" marR="0" indent="0"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71450" marR="0" lvl="0" indent="-171450" algn="ctr" defTabSz="583170" rtl="0" eaLnBrk="1" fontAlgn="auto" latinLnBrk="0" hangingPunct="1">
              <a:lnSpc>
                <a:spcPct val="90000"/>
              </a:lnSpc>
              <a:spcBef>
                <a:spcPts val="638"/>
              </a:spcBef>
              <a:spcAft>
                <a:spcPts val="0"/>
              </a:spcAft>
              <a:buClrTx/>
              <a:buSzTx/>
              <a:tabLst/>
              <a:defRPr/>
            </a:pPr>
            <a:r>
              <a:rPr lang="en-US" dirty="0"/>
              <a:t>Picture</a:t>
            </a:r>
          </a:p>
        </p:txBody>
      </p:sp>
      <p:sp>
        <p:nvSpPr>
          <p:cNvPr id="27" name="Picture Placeholder 8"/>
          <p:cNvSpPr>
            <a:spLocks noGrp="1"/>
          </p:cNvSpPr>
          <p:nvPr>
            <p:ph type="pic" sz="quarter" idx="29" hasCustomPrompt="1"/>
          </p:nvPr>
        </p:nvSpPr>
        <p:spPr>
          <a:xfrm>
            <a:off x="319763" y="3425828"/>
            <a:ext cx="828000" cy="908048"/>
          </a:xfrm>
          <a:prstGeom prst="rect">
            <a:avLst/>
          </a:prstGeom>
        </p:spPr>
        <p:txBody>
          <a:bodyPr lIns="0" tIns="0" rIns="0" bIns="0" anchor="ctr"/>
          <a:lstStyle>
            <a:lvl1pPr marL="0" marR="0" indent="0"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a:solidFill>
                  <a:schemeClr val="tx1"/>
                </a:solidFill>
              </a:defRPr>
            </a:lvl1pPr>
          </a:lstStyle>
          <a:p>
            <a:pPr marL="171450" marR="0" lvl="0" indent="-171450" algn="ctr" defTabSz="583170" rtl="0" eaLnBrk="1" fontAlgn="auto" latinLnBrk="0" hangingPunct="1">
              <a:lnSpc>
                <a:spcPct val="90000"/>
              </a:lnSpc>
              <a:spcBef>
                <a:spcPts val="638"/>
              </a:spcBef>
              <a:spcAft>
                <a:spcPts val="0"/>
              </a:spcAft>
              <a:buClrTx/>
              <a:buSzTx/>
              <a:tabLst/>
              <a:defRPr/>
            </a:pPr>
            <a:r>
              <a:rPr lang="en-US" dirty="0"/>
              <a:t>Picture</a:t>
            </a:r>
          </a:p>
        </p:txBody>
      </p:sp>
    </p:spTree>
    <p:extLst>
      <p:ext uri="{BB962C8B-B14F-4D97-AF65-F5344CB8AC3E}">
        <p14:creationId xmlns:p14="http://schemas.microsoft.com/office/powerpoint/2010/main" val="1894123640"/>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slide 2">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3520903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5785"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4" name="Заголовок 3">
            <a:extLst>
              <a:ext uri="{FF2B5EF4-FFF2-40B4-BE49-F238E27FC236}">
                <a16:creationId xmlns:a16="http://schemas.microsoft.com/office/drawing/2014/main" id="{898F256F-6194-490C-839E-F1645E028C11}"/>
              </a:ext>
            </a:extLst>
          </p:cNvPr>
          <p:cNvSpPr>
            <a:spLocks noGrp="1"/>
          </p:cNvSpPr>
          <p:nvPr>
            <p:ph type="title" hasCustomPrompt="1"/>
          </p:nvPr>
        </p:nvSpPr>
        <p:spPr>
          <a:xfrm>
            <a:off x="317499" y="0"/>
            <a:ext cx="10577593" cy="704850"/>
          </a:xfrm>
        </p:spPr>
        <p:txBody>
          <a:bodyPr vert="horz"/>
          <a:lstStyle>
            <a:lvl1pPr>
              <a:defRPr sz="1800">
                <a:solidFill>
                  <a:schemeClr val="accent5">
                    <a:lumMod val="75000"/>
                    <a:lumOff val="25000"/>
                  </a:schemeClr>
                </a:solidFill>
              </a:defRPr>
            </a:lvl1pPr>
          </a:lstStyle>
          <a:p>
            <a:r>
              <a:rPr lang="en-US" dirty="0"/>
              <a:t>Click to add title</a:t>
            </a:r>
            <a:endParaRPr lang="ru-RU" dirty="0"/>
          </a:p>
        </p:txBody>
      </p:sp>
      <p:sp>
        <p:nvSpPr>
          <p:cNvPr id="11" name="Text Placeholder 10"/>
          <p:cNvSpPr>
            <a:spLocks noGrp="1"/>
          </p:cNvSpPr>
          <p:nvPr>
            <p:ph type="body" sz="quarter" idx="12" hasCustomPrompt="1"/>
          </p:nvPr>
        </p:nvSpPr>
        <p:spPr>
          <a:xfrm>
            <a:off x="1297515" y="1614488"/>
            <a:ext cx="4725459" cy="1699200"/>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14" name="Text Placeholder 10"/>
          <p:cNvSpPr>
            <a:spLocks noGrp="1"/>
          </p:cNvSpPr>
          <p:nvPr>
            <p:ph type="body" sz="quarter" idx="16" hasCustomPrompt="1"/>
          </p:nvPr>
        </p:nvSpPr>
        <p:spPr>
          <a:xfrm>
            <a:off x="7146925" y="1614488"/>
            <a:ext cx="4726800" cy="1699200"/>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15" name="Picture Placeholder 8"/>
          <p:cNvSpPr>
            <a:spLocks noGrp="1"/>
          </p:cNvSpPr>
          <p:nvPr>
            <p:ph type="pic" sz="quarter" idx="17" hasCustomPrompt="1"/>
          </p:nvPr>
        </p:nvSpPr>
        <p:spPr>
          <a:xfrm>
            <a:off x="6167438" y="1614491"/>
            <a:ext cx="828675" cy="908048"/>
          </a:xfrm>
          <a:prstGeom prst="rect">
            <a:avLst/>
          </a:prstGeom>
        </p:spPr>
        <p:txBody>
          <a:bodyPr lIns="0" tIns="0" rIns="0" bIns="0" anchor="ctr"/>
          <a:lstStyle>
            <a:lvl1pPr marL="145792" marR="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45792" marR="0" lvl="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a:pPr>
            <a:r>
              <a:rPr lang="en-US" dirty="0"/>
              <a:t>Picture</a:t>
            </a:r>
          </a:p>
        </p:txBody>
      </p:sp>
      <p:sp>
        <p:nvSpPr>
          <p:cNvPr id="18" name="Text Placeholder 10"/>
          <p:cNvSpPr>
            <a:spLocks noGrp="1"/>
          </p:cNvSpPr>
          <p:nvPr>
            <p:ph type="body" sz="quarter" idx="20" hasCustomPrompt="1"/>
          </p:nvPr>
        </p:nvSpPr>
        <p:spPr>
          <a:xfrm>
            <a:off x="1297515" y="3429792"/>
            <a:ext cx="4725459" cy="1699200"/>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22" name="Text Placeholder 10"/>
          <p:cNvSpPr>
            <a:spLocks noGrp="1"/>
          </p:cNvSpPr>
          <p:nvPr>
            <p:ph type="body" sz="quarter" idx="24" hasCustomPrompt="1"/>
          </p:nvPr>
        </p:nvSpPr>
        <p:spPr>
          <a:xfrm>
            <a:off x="7146925" y="3429792"/>
            <a:ext cx="4726800" cy="1699200"/>
          </a:xfrm>
          <a:prstGeom prst="rect">
            <a:avLst/>
          </a:prstGeom>
        </p:spPr>
        <p:txBody>
          <a:bodyPr lIns="0" tIns="0" rIns="0" bIns="0"/>
          <a:lstStyle>
            <a:lvl1pPr marL="0" indent="0">
              <a:buNone/>
              <a:defRPr lang="en-US" sz="1200" b="0" kern="1200" dirty="0">
                <a:solidFill>
                  <a:schemeClr val="tx1"/>
                </a:solidFill>
                <a:latin typeface="+mn-lt"/>
                <a:ea typeface="+mn-ea"/>
                <a:cs typeface="+mn-cs"/>
              </a:defRPr>
            </a:lvl1pPr>
          </a:lstStyle>
          <a:p>
            <a:pPr marL="145792" lvl="0" indent="-145792" algn="l" defTabSz="583170" rtl="0" eaLnBrk="1" latinLnBrk="0" hangingPunct="1">
              <a:lnSpc>
                <a:spcPct val="100000"/>
              </a:lnSpc>
              <a:spcBef>
                <a:spcPts val="0"/>
              </a:spcBef>
              <a:buFont typeface="Arial" panose="020B0604020202020204" pitchFamily="34" charset="0"/>
              <a:buNone/>
            </a:pPr>
            <a:r>
              <a:rPr lang="en-US" dirty="0"/>
              <a:t>Click to insert text</a:t>
            </a:r>
          </a:p>
        </p:txBody>
      </p:sp>
      <p:sp>
        <p:nvSpPr>
          <p:cNvPr id="23" name="Picture Placeholder 8"/>
          <p:cNvSpPr>
            <a:spLocks noGrp="1"/>
          </p:cNvSpPr>
          <p:nvPr>
            <p:ph type="pic" sz="quarter" idx="25" hasCustomPrompt="1"/>
          </p:nvPr>
        </p:nvSpPr>
        <p:spPr>
          <a:xfrm>
            <a:off x="6167438" y="3429795"/>
            <a:ext cx="828675" cy="908048"/>
          </a:xfrm>
          <a:prstGeom prst="rect">
            <a:avLst/>
          </a:prstGeom>
        </p:spPr>
        <p:txBody>
          <a:bodyPr lIns="0" tIns="0" rIns="0" bIns="0" anchor="ctr"/>
          <a:lstStyle>
            <a:lvl1pPr marL="145792" marR="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45792" marR="0" lvl="0" indent="-145792"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a:pPr>
            <a:r>
              <a:rPr lang="en-US" dirty="0"/>
              <a:t>Picture</a:t>
            </a:r>
          </a:p>
        </p:txBody>
      </p:sp>
      <p:sp>
        <p:nvSpPr>
          <p:cNvPr id="26" name="Picture Placeholder 8"/>
          <p:cNvSpPr>
            <a:spLocks noGrp="1"/>
          </p:cNvSpPr>
          <p:nvPr>
            <p:ph type="pic" sz="quarter" idx="28" hasCustomPrompt="1"/>
          </p:nvPr>
        </p:nvSpPr>
        <p:spPr>
          <a:xfrm>
            <a:off x="317500" y="1614491"/>
            <a:ext cx="828675" cy="908048"/>
          </a:xfrm>
          <a:prstGeom prst="rect">
            <a:avLst/>
          </a:prstGeom>
        </p:spPr>
        <p:txBody>
          <a:bodyPr lIns="0" tIns="0" rIns="0" bIns="0" anchor="ctr"/>
          <a:lstStyle>
            <a:lvl1pPr marL="0" marR="0" indent="0"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dirty="0">
                <a:solidFill>
                  <a:schemeClr val="tx1"/>
                </a:solidFill>
              </a:defRPr>
            </a:lvl1pPr>
          </a:lstStyle>
          <a:p>
            <a:pPr marL="171450" marR="0" lvl="0" indent="-171450" algn="ctr" defTabSz="583170" rtl="0" eaLnBrk="1" fontAlgn="auto" latinLnBrk="0" hangingPunct="1">
              <a:lnSpc>
                <a:spcPct val="90000"/>
              </a:lnSpc>
              <a:spcBef>
                <a:spcPts val="638"/>
              </a:spcBef>
              <a:spcAft>
                <a:spcPts val="0"/>
              </a:spcAft>
              <a:buClrTx/>
              <a:buSzTx/>
              <a:tabLst/>
              <a:defRPr/>
            </a:pPr>
            <a:r>
              <a:rPr lang="en-US" dirty="0"/>
              <a:t>Picture</a:t>
            </a:r>
          </a:p>
        </p:txBody>
      </p:sp>
      <p:sp>
        <p:nvSpPr>
          <p:cNvPr id="27" name="Picture Placeholder 8"/>
          <p:cNvSpPr>
            <a:spLocks noGrp="1"/>
          </p:cNvSpPr>
          <p:nvPr>
            <p:ph type="pic" sz="quarter" idx="29" hasCustomPrompt="1"/>
          </p:nvPr>
        </p:nvSpPr>
        <p:spPr>
          <a:xfrm>
            <a:off x="317500" y="3429795"/>
            <a:ext cx="828675" cy="908048"/>
          </a:xfrm>
          <a:prstGeom prst="rect">
            <a:avLst/>
          </a:prstGeom>
        </p:spPr>
        <p:txBody>
          <a:bodyPr lIns="0" tIns="0" rIns="0" bIns="0" anchor="ctr"/>
          <a:lstStyle>
            <a:lvl1pPr marL="0" marR="0" indent="0" algn="ctr" defTabSz="583170" rtl="0" eaLnBrk="1" fontAlgn="auto" latinLnBrk="0" hangingPunct="1">
              <a:lnSpc>
                <a:spcPct val="90000"/>
              </a:lnSpc>
              <a:spcBef>
                <a:spcPts val="638"/>
              </a:spcBef>
              <a:spcAft>
                <a:spcPts val="0"/>
              </a:spcAft>
              <a:buClrTx/>
              <a:buSzTx/>
              <a:buFont typeface="Arial" panose="020B0604020202020204" pitchFamily="34" charset="0"/>
              <a:buNone/>
              <a:tabLst/>
              <a:defRPr lang="en-US" sz="1200" b="0">
                <a:solidFill>
                  <a:schemeClr val="tx1"/>
                </a:solidFill>
              </a:defRPr>
            </a:lvl1pPr>
          </a:lstStyle>
          <a:p>
            <a:pPr marL="171450" marR="0" lvl="0" indent="-171450" algn="ctr" defTabSz="583170" rtl="0" eaLnBrk="1" fontAlgn="auto" latinLnBrk="0" hangingPunct="1">
              <a:lnSpc>
                <a:spcPct val="90000"/>
              </a:lnSpc>
              <a:spcBef>
                <a:spcPts val="638"/>
              </a:spcBef>
              <a:spcAft>
                <a:spcPts val="0"/>
              </a:spcAft>
              <a:buClrTx/>
              <a:buSzTx/>
              <a:tabLst/>
              <a:defRPr/>
            </a:pPr>
            <a:r>
              <a:rPr lang="en-US" dirty="0"/>
              <a:t>Picture</a:t>
            </a:r>
          </a:p>
        </p:txBody>
      </p:sp>
    </p:spTree>
    <p:extLst>
      <p:ext uri="{BB962C8B-B14F-4D97-AF65-F5344CB8AC3E}">
        <p14:creationId xmlns:p14="http://schemas.microsoft.com/office/powerpoint/2010/main" val="317208057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49_Title slid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6809" name="think-cell Slide" r:id="rId5" imgW="594" imgH="595" progId="TCLayout.ActiveDocument.1">
                  <p:embed/>
                </p:oleObj>
              </mc:Choice>
              <mc:Fallback>
                <p:oleObj name="think-cell Slide" r:id="rId5" imgW="594" imgH="595"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5" name="Picture 4">
            <a:extLst>
              <a:ext uri="{FF2B5EF4-FFF2-40B4-BE49-F238E27FC236}">
                <a16:creationId xmlns:a16="http://schemas.microsoft.com/office/drawing/2014/main" id="{73F2B1D7-D6EC-430A-AA0B-EAE6B296E5BC}"/>
              </a:ext>
            </a:extLst>
          </p:cNvPr>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4413489" y="0"/>
            <a:ext cx="7778511" cy="6869939"/>
          </a:xfrm>
          <a:prstGeom prst="rect">
            <a:avLst/>
          </a:prstGeom>
        </p:spPr>
      </p:pic>
      <p:sp>
        <p:nvSpPr>
          <p:cNvPr id="7" name="Rectangle 6" hidden="1"/>
          <p:cNvSpPr/>
          <p:nvPr userDrawn="1">
            <p:custDataLst>
              <p:tags r:id="rId3"/>
            </p:custDataLst>
          </p:nvPr>
        </p:nvSpPr>
        <p:spPr>
          <a:xfrm>
            <a:off x="0" y="0"/>
            <a:ext cx="158750" cy="15875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1800" b="0" i="0" baseline="0" dirty="0">
              <a:solidFill>
                <a:schemeClr val="tx1"/>
              </a:solidFill>
              <a:latin typeface="Arial" panose="020B0604020202020204" pitchFamily="34" charset="0"/>
              <a:ea typeface="+mj-ea"/>
              <a:cs typeface="+mj-cs"/>
              <a:sym typeface="Arial" panose="020B0604020202020204" pitchFamily="34" charset="0"/>
            </a:endParaRPr>
          </a:p>
        </p:txBody>
      </p:sp>
      <p:sp>
        <p:nvSpPr>
          <p:cNvPr id="6" name="Text Placeholder 5"/>
          <p:cNvSpPr>
            <a:spLocks noGrp="1"/>
          </p:cNvSpPr>
          <p:nvPr userDrawn="1">
            <p:ph type="body" sz="quarter" idx="13" hasCustomPrompt="1"/>
          </p:nvPr>
        </p:nvSpPr>
        <p:spPr>
          <a:xfrm>
            <a:off x="323034" y="5243514"/>
            <a:ext cx="4728391" cy="908050"/>
          </a:xfrm>
          <a:prstGeom prst="rect">
            <a:avLst/>
          </a:prstGeom>
        </p:spPr>
        <p:txBody>
          <a:bodyPr lIns="0" tIns="0" rIns="0" bIns="0" anchor="b" anchorCtr="0"/>
          <a:lstStyle>
            <a:lvl1pPr marL="0" marR="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sz="1800">
                <a:solidFill>
                  <a:schemeClr val="tx1"/>
                </a:solidFill>
              </a:defRPr>
            </a:lvl1pPr>
            <a:lvl2pPr marL="291586" indent="0">
              <a:buNone/>
              <a:defRPr>
                <a:solidFill>
                  <a:schemeClr val="bg1"/>
                </a:solidFill>
              </a:defRPr>
            </a:lvl2pPr>
            <a:lvl3pPr marL="583171" indent="0">
              <a:buNone/>
              <a:defRPr>
                <a:solidFill>
                  <a:schemeClr val="bg1"/>
                </a:solidFill>
              </a:defRPr>
            </a:lvl3pPr>
            <a:lvl4pPr marL="874756" indent="0">
              <a:buNone/>
              <a:defRPr>
                <a:solidFill>
                  <a:schemeClr val="bg1"/>
                </a:solidFill>
              </a:defRPr>
            </a:lvl4pPr>
            <a:lvl5pPr marL="1166341" indent="0">
              <a:buNone/>
              <a:defRPr>
                <a:solidFill>
                  <a:schemeClr val="bg1"/>
                </a:solidFill>
              </a:defRPr>
            </a:lvl5pPr>
          </a:lstStyle>
          <a:p>
            <a:pPr lvl="0"/>
            <a:r>
              <a:rPr lang="en-US" dirty="0"/>
              <a:t>Click to insert name</a:t>
            </a:r>
          </a:p>
        </p:txBody>
      </p:sp>
      <p:sp>
        <p:nvSpPr>
          <p:cNvPr id="4" name="Text Placeholder 3"/>
          <p:cNvSpPr>
            <a:spLocks noGrp="1"/>
          </p:cNvSpPr>
          <p:nvPr userDrawn="1">
            <p:ph type="body" sz="quarter" idx="12" hasCustomPrompt="1"/>
          </p:nvPr>
        </p:nvSpPr>
        <p:spPr>
          <a:xfrm>
            <a:off x="323034" y="1614489"/>
            <a:ext cx="4728391" cy="1811336"/>
          </a:xfrm>
          <a:prstGeom prst="rect">
            <a:avLst/>
          </a:prstGeom>
        </p:spPr>
        <p:txBody>
          <a:bodyPr lIns="0" tIns="0" rIns="0" bIns="0"/>
          <a:lstStyle>
            <a:lvl1pPr marL="0" marR="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sz="2400" b="1" baseline="0">
                <a:solidFill>
                  <a:schemeClr val="tx1"/>
                </a:solidFill>
              </a:defRPr>
            </a:lvl1pPr>
            <a:lvl2pPr marL="291586" indent="0">
              <a:buNone/>
              <a:defRPr>
                <a:solidFill>
                  <a:schemeClr val="bg1"/>
                </a:solidFill>
              </a:defRPr>
            </a:lvl2pPr>
            <a:lvl3pPr marL="583171" indent="0">
              <a:buNone/>
              <a:defRPr>
                <a:solidFill>
                  <a:schemeClr val="bg1"/>
                </a:solidFill>
              </a:defRPr>
            </a:lvl3pPr>
            <a:lvl4pPr marL="874756" indent="0">
              <a:buNone/>
              <a:defRPr>
                <a:solidFill>
                  <a:schemeClr val="bg1"/>
                </a:solidFill>
              </a:defRPr>
            </a:lvl4pPr>
            <a:lvl5pPr marL="1166341" indent="0">
              <a:buNone/>
              <a:defRPr>
                <a:solidFill>
                  <a:schemeClr val="bg1"/>
                </a:solidFill>
              </a:defRPr>
            </a:lvl5pPr>
          </a:lstStyle>
          <a:p>
            <a:pPr lvl="0"/>
            <a:r>
              <a:rPr lang="en-US" dirty="0"/>
              <a:t>Click to insert presentation title</a:t>
            </a:r>
          </a:p>
        </p:txBody>
      </p:sp>
      <p:grpSp>
        <p:nvGrpSpPr>
          <p:cNvPr id="40" name="Group 39">
            <a:extLst>
              <a:ext uri="{FF2B5EF4-FFF2-40B4-BE49-F238E27FC236}">
                <a16:creationId xmlns:a16="http://schemas.microsoft.com/office/drawing/2014/main" id="{A86BEDC9-965A-45EC-B1D7-B9DB3626FDBC}"/>
              </a:ext>
            </a:extLst>
          </p:cNvPr>
          <p:cNvGrpSpPr/>
          <p:nvPr userDrawn="1"/>
        </p:nvGrpSpPr>
        <p:grpSpPr>
          <a:xfrm>
            <a:off x="323034" y="191783"/>
            <a:ext cx="2920832" cy="1139078"/>
            <a:chOff x="314326" y="209071"/>
            <a:chExt cx="3168670" cy="1235732"/>
          </a:xfrm>
          <a:solidFill>
            <a:schemeClr val="tx1"/>
          </a:solidFill>
        </p:grpSpPr>
        <p:grpSp>
          <p:nvGrpSpPr>
            <p:cNvPr id="42" name="Group 41">
              <a:extLst>
                <a:ext uri="{FF2B5EF4-FFF2-40B4-BE49-F238E27FC236}">
                  <a16:creationId xmlns:a16="http://schemas.microsoft.com/office/drawing/2014/main" id="{B62A1388-C399-409B-9992-BA2612513C15}"/>
                </a:ext>
              </a:extLst>
            </p:cNvPr>
            <p:cNvGrpSpPr/>
            <p:nvPr userDrawn="1"/>
          </p:nvGrpSpPr>
          <p:grpSpPr>
            <a:xfrm>
              <a:off x="314326" y="641439"/>
              <a:ext cx="3168670" cy="370998"/>
              <a:chOff x="2124054" y="767433"/>
              <a:chExt cx="4269265" cy="499859"/>
            </a:xfrm>
            <a:grpFill/>
          </p:grpSpPr>
          <p:sp>
            <p:nvSpPr>
              <p:cNvPr id="59" name="Freeform 18">
                <a:extLst>
                  <a:ext uri="{FF2B5EF4-FFF2-40B4-BE49-F238E27FC236}">
                    <a16:creationId xmlns:a16="http://schemas.microsoft.com/office/drawing/2014/main" id="{444631B9-2E71-497D-8618-22DC90D7C96A}"/>
                  </a:ext>
                </a:extLst>
              </p:cNvPr>
              <p:cNvSpPr>
                <a:spLocks noEditPoints="1"/>
              </p:cNvSpPr>
              <p:nvPr userDrawn="1"/>
            </p:nvSpPr>
            <p:spPr bwMode="auto">
              <a:xfrm>
                <a:off x="2124054" y="776181"/>
                <a:ext cx="427381" cy="481114"/>
              </a:xfrm>
              <a:custGeom>
                <a:avLst/>
                <a:gdLst>
                  <a:gd name="T0" fmla="*/ 142 w 142"/>
                  <a:gd name="T1" fmla="*/ 160 h 160"/>
                  <a:gd name="T2" fmla="*/ 98 w 142"/>
                  <a:gd name="T3" fmla="*/ 160 h 160"/>
                  <a:gd name="T4" fmla="*/ 56 w 142"/>
                  <a:gd name="T5" fmla="*/ 97 h 160"/>
                  <a:gd name="T6" fmla="*/ 38 w 142"/>
                  <a:gd name="T7" fmla="*/ 97 h 160"/>
                  <a:gd name="T8" fmla="*/ 38 w 142"/>
                  <a:gd name="T9" fmla="*/ 160 h 160"/>
                  <a:gd name="T10" fmla="*/ 0 w 142"/>
                  <a:gd name="T11" fmla="*/ 160 h 160"/>
                  <a:gd name="T12" fmla="*/ 0 w 142"/>
                  <a:gd name="T13" fmla="*/ 0 h 160"/>
                  <a:gd name="T14" fmla="*/ 72 w 142"/>
                  <a:gd name="T15" fmla="*/ 0 h 160"/>
                  <a:gd name="T16" fmla="*/ 118 w 142"/>
                  <a:gd name="T17" fmla="*/ 7 h 160"/>
                  <a:gd name="T18" fmla="*/ 133 w 142"/>
                  <a:gd name="T19" fmla="*/ 34 h 160"/>
                  <a:gd name="T20" fmla="*/ 133 w 142"/>
                  <a:gd name="T21" fmla="*/ 62 h 160"/>
                  <a:gd name="T22" fmla="*/ 122 w 142"/>
                  <a:gd name="T23" fmla="*/ 84 h 160"/>
                  <a:gd name="T24" fmla="*/ 96 w 142"/>
                  <a:gd name="T25" fmla="*/ 94 h 160"/>
                  <a:gd name="T26" fmla="*/ 142 w 142"/>
                  <a:gd name="T27" fmla="*/ 160 h 160"/>
                  <a:gd name="T28" fmla="*/ 95 w 142"/>
                  <a:gd name="T29" fmla="*/ 54 h 160"/>
                  <a:gd name="T30" fmla="*/ 95 w 142"/>
                  <a:gd name="T31" fmla="*/ 43 h 160"/>
                  <a:gd name="T32" fmla="*/ 89 w 142"/>
                  <a:gd name="T33" fmla="*/ 31 h 160"/>
                  <a:gd name="T34" fmla="*/ 71 w 142"/>
                  <a:gd name="T35" fmla="*/ 27 h 160"/>
                  <a:gd name="T36" fmla="*/ 38 w 142"/>
                  <a:gd name="T37" fmla="*/ 27 h 160"/>
                  <a:gd name="T38" fmla="*/ 38 w 142"/>
                  <a:gd name="T39" fmla="*/ 72 h 160"/>
                  <a:gd name="T40" fmla="*/ 71 w 142"/>
                  <a:gd name="T41" fmla="*/ 72 h 160"/>
                  <a:gd name="T42" fmla="*/ 90 w 142"/>
                  <a:gd name="T43" fmla="*/ 68 h 160"/>
                  <a:gd name="T44" fmla="*/ 95 w 142"/>
                  <a:gd name="T45" fmla="*/ 5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2" h="160">
                    <a:moveTo>
                      <a:pt x="142" y="160"/>
                    </a:moveTo>
                    <a:cubicBezTo>
                      <a:pt x="98" y="160"/>
                      <a:pt x="98" y="160"/>
                      <a:pt x="98" y="160"/>
                    </a:cubicBezTo>
                    <a:cubicBezTo>
                      <a:pt x="56" y="97"/>
                      <a:pt x="56" y="97"/>
                      <a:pt x="56" y="97"/>
                    </a:cubicBezTo>
                    <a:cubicBezTo>
                      <a:pt x="38" y="97"/>
                      <a:pt x="38" y="97"/>
                      <a:pt x="38" y="97"/>
                    </a:cubicBezTo>
                    <a:cubicBezTo>
                      <a:pt x="38" y="160"/>
                      <a:pt x="38" y="160"/>
                      <a:pt x="38" y="160"/>
                    </a:cubicBezTo>
                    <a:cubicBezTo>
                      <a:pt x="0" y="160"/>
                      <a:pt x="0" y="160"/>
                      <a:pt x="0" y="160"/>
                    </a:cubicBezTo>
                    <a:cubicBezTo>
                      <a:pt x="0" y="0"/>
                      <a:pt x="0" y="0"/>
                      <a:pt x="0" y="0"/>
                    </a:cubicBezTo>
                    <a:cubicBezTo>
                      <a:pt x="72" y="0"/>
                      <a:pt x="72" y="0"/>
                      <a:pt x="72" y="0"/>
                    </a:cubicBezTo>
                    <a:cubicBezTo>
                      <a:pt x="93" y="0"/>
                      <a:pt x="108" y="2"/>
                      <a:pt x="118" y="7"/>
                    </a:cubicBezTo>
                    <a:cubicBezTo>
                      <a:pt x="128" y="13"/>
                      <a:pt x="133" y="21"/>
                      <a:pt x="133" y="34"/>
                    </a:cubicBezTo>
                    <a:cubicBezTo>
                      <a:pt x="133" y="62"/>
                      <a:pt x="133" y="62"/>
                      <a:pt x="133" y="62"/>
                    </a:cubicBezTo>
                    <a:cubicBezTo>
                      <a:pt x="133" y="72"/>
                      <a:pt x="129" y="79"/>
                      <a:pt x="122" y="84"/>
                    </a:cubicBezTo>
                    <a:cubicBezTo>
                      <a:pt x="115" y="90"/>
                      <a:pt x="106" y="93"/>
                      <a:pt x="96" y="94"/>
                    </a:cubicBezTo>
                    <a:lnTo>
                      <a:pt x="142" y="160"/>
                    </a:lnTo>
                    <a:close/>
                    <a:moveTo>
                      <a:pt x="95" y="54"/>
                    </a:moveTo>
                    <a:cubicBezTo>
                      <a:pt x="95" y="43"/>
                      <a:pt x="95" y="43"/>
                      <a:pt x="95" y="43"/>
                    </a:cubicBezTo>
                    <a:cubicBezTo>
                      <a:pt x="95" y="37"/>
                      <a:pt x="93" y="33"/>
                      <a:pt x="89" y="31"/>
                    </a:cubicBezTo>
                    <a:cubicBezTo>
                      <a:pt x="86" y="28"/>
                      <a:pt x="80" y="27"/>
                      <a:pt x="71" y="27"/>
                    </a:cubicBezTo>
                    <a:cubicBezTo>
                      <a:pt x="38" y="27"/>
                      <a:pt x="38" y="27"/>
                      <a:pt x="38" y="27"/>
                    </a:cubicBezTo>
                    <a:cubicBezTo>
                      <a:pt x="38" y="72"/>
                      <a:pt x="38" y="72"/>
                      <a:pt x="38" y="72"/>
                    </a:cubicBezTo>
                    <a:cubicBezTo>
                      <a:pt x="71" y="72"/>
                      <a:pt x="71" y="72"/>
                      <a:pt x="71" y="72"/>
                    </a:cubicBezTo>
                    <a:cubicBezTo>
                      <a:pt x="80" y="72"/>
                      <a:pt x="86" y="70"/>
                      <a:pt x="90" y="68"/>
                    </a:cubicBezTo>
                    <a:cubicBezTo>
                      <a:pt x="93" y="66"/>
                      <a:pt x="95" y="61"/>
                      <a:pt x="95" y="54"/>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60" name="Freeform 19">
                <a:extLst>
                  <a:ext uri="{FF2B5EF4-FFF2-40B4-BE49-F238E27FC236}">
                    <a16:creationId xmlns:a16="http://schemas.microsoft.com/office/drawing/2014/main" id="{5DCF69FA-E44E-418C-84EE-DB27D41D25A4}"/>
                  </a:ext>
                </a:extLst>
              </p:cNvPr>
              <p:cNvSpPr>
                <a:spLocks/>
              </p:cNvSpPr>
              <p:nvPr userDrawn="1"/>
            </p:nvSpPr>
            <p:spPr bwMode="auto">
              <a:xfrm>
                <a:off x="2622907" y="776181"/>
                <a:ext cx="372396" cy="481114"/>
              </a:xfrm>
              <a:custGeom>
                <a:avLst/>
                <a:gdLst>
                  <a:gd name="T0" fmla="*/ 298 w 298"/>
                  <a:gd name="T1" fmla="*/ 385 h 385"/>
                  <a:gd name="T2" fmla="*/ 0 w 298"/>
                  <a:gd name="T3" fmla="*/ 385 h 385"/>
                  <a:gd name="T4" fmla="*/ 0 w 298"/>
                  <a:gd name="T5" fmla="*/ 0 h 385"/>
                  <a:gd name="T6" fmla="*/ 294 w 298"/>
                  <a:gd name="T7" fmla="*/ 0 h 385"/>
                  <a:gd name="T8" fmla="*/ 294 w 298"/>
                  <a:gd name="T9" fmla="*/ 65 h 385"/>
                  <a:gd name="T10" fmla="*/ 91 w 298"/>
                  <a:gd name="T11" fmla="*/ 65 h 385"/>
                  <a:gd name="T12" fmla="*/ 91 w 298"/>
                  <a:gd name="T13" fmla="*/ 154 h 385"/>
                  <a:gd name="T14" fmla="*/ 274 w 298"/>
                  <a:gd name="T15" fmla="*/ 154 h 385"/>
                  <a:gd name="T16" fmla="*/ 274 w 298"/>
                  <a:gd name="T17" fmla="*/ 219 h 385"/>
                  <a:gd name="T18" fmla="*/ 91 w 298"/>
                  <a:gd name="T19" fmla="*/ 219 h 385"/>
                  <a:gd name="T20" fmla="*/ 91 w 298"/>
                  <a:gd name="T21" fmla="*/ 320 h 385"/>
                  <a:gd name="T22" fmla="*/ 298 w 298"/>
                  <a:gd name="T23" fmla="*/ 320 h 385"/>
                  <a:gd name="T24" fmla="*/ 298 w 298"/>
                  <a:gd name="T25"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8" h="385">
                    <a:moveTo>
                      <a:pt x="298" y="385"/>
                    </a:moveTo>
                    <a:lnTo>
                      <a:pt x="0" y="385"/>
                    </a:lnTo>
                    <a:lnTo>
                      <a:pt x="0" y="0"/>
                    </a:lnTo>
                    <a:lnTo>
                      <a:pt x="294" y="0"/>
                    </a:lnTo>
                    <a:lnTo>
                      <a:pt x="294" y="65"/>
                    </a:lnTo>
                    <a:lnTo>
                      <a:pt x="91" y="65"/>
                    </a:lnTo>
                    <a:lnTo>
                      <a:pt x="91" y="154"/>
                    </a:lnTo>
                    <a:lnTo>
                      <a:pt x="274" y="154"/>
                    </a:lnTo>
                    <a:lnTo>
                      <a:pt x="274" y="219"/>
                    </a:lnTo>
                    <a:lnTo>
                      <a:pt x="91" y="219"/>
                    </a:lnTo>
                    <a:lnTo>
                      <a:pt x="91" y="320"/>
                    </a:lnTo>
                    <a:lnTo>
                      <a:pt x="298" y="320"/>
                    </a:lnTo>
                    <a:lnTo>
                      <a:pt x="298" y="38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61" name="Freeform 20">
                <a:extLst>
                  <a:ext uri="{FF2B5EF4-FFF2-40B4-BE49-F238E27FC236}">
                    <a16:creationId xmlns:a16="http://schemas.microsoft.com/office/drawing/2014/main" id="{4174FB1A-EF00-4C86-BF07-E242CDEDCE86}"/>
                  </a:ext>
                </a:extLst>
              </p:cNvPr>
              <p:cNvSpPr>
                <a:spLocks/>
              </p:cNvSpPr>
              <p:nvPr userDrawn="1"/>
            </p:nvSpPr>
            <p:spPr bwMode="auto">
              <a:xfrm>
                <a:off x="3076292" y="767433"/>
                <a:ext cx="394888" cy="499859"/>
              </a:xfrm>
              <a:custGeom>
                <a:avLst/>
                <a:gdLst>
                  <a:gd name="T0" fmla="*/ 131 w 131"/>
                  <a:gd name="T1" fmla="*/ 107 h 166"/>
                  <a:gd name="T2" fmla="*/ 131 w 131"/>
                  <a:gd name="T3" fmla="*/ 117 h 166"/>
                  <a:gd name="T4" fmla="*/ 126 w 131"/>
                  <a:gd name="T5" fmla="*/ 141 h 166"/>
                  <a:gd name="T6" fmla="*/ 111 w 131"/>
                  <a:gd name="T7" fmla="*/ 156 h 166"/>
                  <a:gd name="T8" fmla="*/ 89 w 131"/>
                  <a:gd name="T9" fmla="*/ 163 h 166"/>
                  <a:gd name="T10" fmla="*/ 60 w 131"/>
                  <a:gd name="T11" fmla="*/ 166 h 166"/>
                  <a:gd name="T12" fmla="*/ 3 w 131"/>
                  <a:gd name="T13" fmla="*/ 161 h 166"/>
                  <a:gd name="T14" fmla="*/ 3 w 131"/>
                  <a:gd name="T15" fmla="*/ 132 h 166"/>
                  <a:gd name="T16" fmla="*/ 61 w 131"/>
                  <a:gd name="T17" fmla="*/ 138 h 166"/>
                  <a:gd name="T18" fmla="*/ 93 w 131"/>
                  <a:gd name="T19" fmla="*/ 122 h 166"/>
                  <a:gd name="T20" fmla="*/ 93 w 131"/>
                  <a:gd name="T21" fmla="*/ 111 h 166"/>
                  <a:gd name="T22" fmla="*/ 89 w 131"/>
                  <a:gd name="T23" fmla="*/ 100 h 166"/>
                  <a:gd name="T24" fmla="*/ 72 w 131"/>
                  <a:gd name="T25" fmla="*/ 95 h 166"/>
                  <a:gd name="T26" fmla="*/ 53 w 131"/>
                  <a:gd name="T27" fmla="*/ 95 h 166"/>
                  <a:gd name="T28" fmla="*/ 0 w 131"/>
                  <a:gd name="T29" fmla="*/ 53 h 166"/>
                  <a:gd name="T30" fmla="*/ 0 w 131"/>
                  <a:gd name="T31" fmla="*/ 41 h 166"/>
                  <a:gd name="T32" fmla="*/ 18 w 131"/>
                  <a:gd name="T33" fmla="*/ 10 h 166"/>
                  <a:gd name="T34" fmla="*/ 73 w 131"/>
                  <a:gd name="T35" fmla="*/ 0 h 166"/>
                  <a:gd name="T36" fmla="*/ 123 w 131"/>
                  <a:gd name="T37" fmla="*/ 4 h 166"/>
                  <a:gd name="T38" fmla="*/ 123 w 131"/>
                  <a:gd name="T39" fmla="*/ 32 h 166"/>
                  <a:gd name="T40" fmla="*/ 72 w 131"/>
                  <a:gd name="T41" fmla="*/ 28 h 166"/>
                  <a:gd name="T42" fmla="*/ 46 w 131"/>
                  <a:gd name="T43" fmla="*/ 31 h 166"/>
                  <a:gd name="T44" fmla="*/ 39 w 131"/>
                  <a:gd name="T45" fmla="*/ 42 h 166"/>
                  <a:gd name="T46" fmla="*/ 39 w 131"/>
                  <a:gd name="T47" fmla="*/ 53 h 166"/>
                  <a:gd name="T48" fmla="*/ 60 w 131"/>
                  <a:gd name="T49" fmla="*/ 66 h 166"/>
                  <a:gd name="T50" fmla="*/ 79 w 131"/>
                  <a:gd name="T51" fmla="*/ 66 h 166"/>
                  <a:gd name="T52" fmla="*/ 119 w 131"/>
                  <a:gd name="T53" fmla="*/ 76 h 166"/>
                  <a:gd name="T54" fmla="*/ 131 w 131"/>
                  <a:gd name="T5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6">
                    <a:moveTo>
                      <a:pt x="131" y="107"/>
                    </a:moveTo>
                    <a:cubicBezTo>
                      <a:pt x="131" y="117"/>
                      <a:pt x="131" y="117"/>
                      <a:pt x="131" y="117"/>
                    </a:cubicBezTo>
                    <a:cubicBezTo>
                      <a:pt x="131" y="127"/>
                      <a:pt x="130" y="135"/>
                      <a:pt x="126" y="141"/>
                    </a:cubicBezTo>
                    <a:cubicBezTo>
                      <a:pt x="123" y="148"/>
                      <a:pt x="118" y="153"/>
                      <a:pt x="111" y="156"/>
                    </a:cubicBezTo>
                    <a:cubicBezTo>
                      <a:pt x="104" y="160"/>
                      <a:pt x="97" y="162"/>
                      <a:pt x="89" y="163"/>
                    </a:cubicBezTo>
                    <a:cubicBezTo>
                      <a:pt x="81" y="165"/>
                      <a:pt x="71" y="166"/>
                      <a:pt x="60" y="166"/>
                    </a:cubicBezTo>
                    <a:cubicBezTo>
                      <a:pt x="45" y="166"/>
                      <a:pt x="26" y="164"/>
                      <a:pt x="3" y="161"/>
                    </a:cubicBezTo>
                    <a:cubicBezTo>
                      <a:pt x="3" y="132"/>
                      <a:pt x="3" y="132"/>
                      <a:pt x="3" y="132"/>
                    </a:cubicBezTo>
                    <a:cubicBezTo>
                      <a:pt x="31" y="136"/>
                      <a:pt x="50" y="138"/>
                      <a:pt x="61" y="138"/>
                    </a:cubicBezTo>
                    <a:cubicBezTo>
                      <a:pt x="82" y="138"/>
                      <a:pt x="93" y="133"/>
                      <a:pt x="93" y="122"/>
                    </a:cubicBezTo>
                    <a:cubicBezTo>
                      <a:pt x="93" y="111"/>
                      <a:pt x="93" y="111"/>
                      <a:pt x="93" y="111"/>
                    </a:cubicBezTo>
                    <a:cubicBezTo>
                      <a:pt x="93" y="106"/>
                      <a:pt x="91" y="103"/>
                      <a:pt x="89" y="100"/>
                    </a:cubicBezTo>
                    <a:cubicBezTo>
                      <a:pt x="86" y="96"/>
                      <a:pt x="80" y="95"/>
                      <a:pt x="72" y="95"/>
                    </a:cubicBezTo>
                    <a:cubicBezTo>
                      <a:pt x="53" y="95"/>
                      <a:pt x="53" y="95"/>
                      <a:pt x="53" y="95"/>
                    </a:cubicBezTo>
                    <a:cubicBezTo>
                      <a:pt x="18" y="95"/>
                      <a:pt x="0" y="81"/>
                      <a:pt x="0" y="53"/>
                    </a:cubicBezTo>
                    <a:cubicBezTo>
                      <a:pt x="0" y="41"/>
                      <a:pt x="0" y="41"/>
                      <a:pt x="0" y="41"/>
                    </a:cubicBezTo>
                    <a:cubicBezTo>
                      <a:pt x="0" y="27"/>
                      <a:pt x="6" y="17"/>
                      <a:pt x="18" y="10"/>
                    </a:cubicBezTo>
                    <a:cubicBezTo>
                      <a:pt x="29" y="4"/>
                      <a:pt x="48" y="0"/>
                      <a:pt x="73" y="0"/>
                    </a:cubicBezTo>
                    <a:cubicBezTo>
                      <a:pt x="86" y="0"/>
                      <a:pt x="102" y="1"/>
                      <a:pt x="123" y="4"/>
                    </a:cubicBezTo>
                    <a:cubicBezTo>
                      <a:pt x="123" y="32"/>
                      <a:pt x="123" y="32"/>
                      <a:pt x="123" y="32"/>
                    </a:cubicBezTo>
                    <a:cubicBezTo>
                      <a:pt x="98" y="29"/>
                      <a:pt x="81" y="28"/>
                      <a:pt x="72" y="28"/>
                    </a:cubicBezTo>
                    <a:cubicBezTo>
                      <a:pt x="59" y="28"/>
                      <a:pt x="51" y="29"/>
                      <a:pt x="46" y="31"/>
                    </a:cubicBezTo>
                    <a:cubicBezTo>
                      <a:pt x="41" y="33"/>
                      <a:pt x="39" y="37"/>
                      <a:pt x="39" y="42"/>
                    </a:cubicBezTo>
                    <a:cubicBezTo>
                      <a:pt x="39" y="53"/>
                      <a:pt x="39" y="53"/>
                      <a:pt x="39" y="53"/>
                    </a:cubicBezTo>
                    <a:cubicBezTo>
                      <a:pt x="39" y="62"/>
                      <a:pt x="46" y="66"/>
                      <a:pt x="60" y="66"/>
                    </a:cubicBezTo>
                    <a:cubicBezTo>
                      <a:pt x="79" y="66"/>
                      <a:pt x="79" y="66"/>
                      <a:pt x="79" y="66"/>
                    </a:cubicBezTo>
                    <a:cubicBezTo>
                      <a:pt x="98" y="66"/>
                      <a:pt x="111" y="69"/>
                      <a:pt x="119" y="76"/>
                    </a:cubicBezTo>
                    <a:cubicBezTo>
                      <a:pt x="127" y="83"/>
                      <a:pt x="131" y="93"/>
                      <a:pt x="131" y="107"/>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62" name="Freeform 21">
                <a:extLst>
                  <a:ext uri="{FF2B5EF4-FFF2-40B4-BE49-F238E27FC236}">
                    <a16:creationId xmlns:a16="http://schemas.microsoft.com/office/drawing/2014/main" id="{24D2E891-8374-4997-A37B-A2DE209C3A46}"/>
                  </a:ext>
                </a:extLst>
              </p:cNvPr>
              <p:cNvSpPr>
                <a:spLocks noEditPoints="1"/>
              </p:cNvSpPr>
              <p:nvPr userDrawn="1"/>
            </p:nvSpPr>
            <p:spPr bwMode="auto">
              <a:xfrm>
                <a:off x="3549399" y="767433"/>
                <a:ext cx="458622" cy="499859"/>
              </a:xfrm>
              <a:custGeom>
                <a:avLst/>
                <a:gdLst>
                  <a:gd name="T0" fmla="*/ 152 w 152"/>
                  <a:gd name="T1" fmla="*/ 49 h 166"/>
                  <a:gd name="T2" fmla="*/ 152 w 152"/>
                  <a:gd name="T3" fmla="*/ 119 h 166"/>
                  <a:gd name="T4" fmla="*/ 145 w 152"/>
                  <a:gd name="T5" fmla="*/ 142 h 166"/>
                  <a:gd name="T6" fmla="*/ 125 w 152"/>
                  <a:gd name="T7" fmla="*/ 157 h 166"/>
                  <a:gd name="T8" fmla="*/ 101 w 152"/>
                  <a:gd name="T9" fmla="*/ 164 h 166"/>
                  <a:gd name="T10" fmla="*/ 75 w 152"/>
                  <a:gd name="T11" fmla="*/ 166 h 166"/>
                  <a:gd name="T12" fmla="*/ 51 w 152"/>
                  <a:gd name="T13" fmla="*/ 164 h 166"/>
                  <a:gd name="T14" fmla="*/ 27 w 152"/>
                  <a:gd name="T15" fmla="*/ 158 h 166"/>
                  <a:gd name="T16" fmla="*/ 7 w 152"/>
                  <a:gd name="T17" fmla="*/ 144 h 166"/>
                  <a:gd name="T18" fmla="*/ 0 w 152"/>
                  <a:gd name="T19" fmla="*/ 119 h 166"/>
                  <a:gd name="T20" fmla="*/ 0 w 152"/>
                  <a:gd name="T21" fmla="*/ 49 h 166"/>
                  <a:gd name="T22" fmla="*/ 5 w 152"/>
                  <a:gd name="T23" fmla="*/ 27 h 166"/>
                  <a:gd name="T24" fmla="*/ 18 w 152"/>
                  <a:gd name="T25" fmla="*/ 13 h 166"/>
                  <a:gd name="T26" fmla="*/ 37 w 152"/>
                  <a:gd name="T27" fmla="*/ 5 h 166"/>
                  <a:gd name="T28" fmla="*/ 57 w 152"/>
                  <a:gd name="T29" fmla="*/ 1 h 166"/>
                  <a:gd name="T30" fmla="*/ 75 w 152"/>
                  <a:gd name="T31" fmla="*/ 0 h 166"/>
                  <a:gd name="T32" fmla="*/ 94 w 152"/>
                  <a:gd name="T33" fmla="*/ 1 h 166"/>
                  <a:gd name="T34" fmla="*/ 114 w 152"/>
                  <a:gd name="T35" fmla="*/ 5 h 166"/>
                  <a:gd name="T36" fmla="*/ 133 w 152"/>
                  <a:gd name="T37" fmla="*/ 13 h 166"/>
                  <a:gd name="T38" fmla="*/ 146 w 152"/>
                  <a:gd name="T39" fmla="*/ 27 h 166"/>
                  <a:gd name="T40" fmla="*/ 152 w 152"/>
                  <a:gd name="T41" fmla="*/ 49 h 166"/>
                  <a:gd name="T42" fmla="*/ 113 w 152"/>
                  <a:gd name="T43" fmla="*/ 119 h 166"/>
                  <a:gd name="T44" fmla="*/ 113 w 152"/>
                  <a:gd name="T45" fmla="*/ 49 h 166"/>
                  <a:gd name="T46" fmla="*/ 104 w 152"/>
                  <a:gd name="T47" fmla="*/ 32 h 166"/>
                  <a:gd name="T48" fmla="*/ 76 w 152"/>
                  <a:gd name="T49" fmla="*/ 28 h 166"/>
                  <a:gd name="T50" fmla="*/ 47 w 152"/>
                  <a:gd name="T51" fmla="*/ 32 h 166"/>
                  <a:gd name="T52" fmla="*/ 38 w 152"/>
                  <a:gd name="T53" fmla="*/ 49 h 166"/>
                  <a:gd name="T54" fmla="*/ 38 w 152"/>
                  <a:gd name="T55" fmla="*/ 119 h 166"/>
                  <a:gd name="T56" fmla="*/ 41 w 152"/>
                  <a:gd name="T57" fmla="*/ 129 h 166"/>
                  <a:gd name="T58" fmla="*/ 51 w 152"/>
                  <a:gd name="T59" fmla="*/ 135 h 166"/>
                  <a:gd name="T60" fmla="*/ 62 w 152"/>
                  <a:gd name="T61" fmla="*/ 138 h 166"/>
                  <a:gd name="T62" fmla="*/ 76 w 152"/>
                  <a:gd name="T63" fmla="*/ 138 h 166"/>
                  <a:gd name="T64" fmla="*/ 90 w 152"/>
                  <a:gd name="T65" fmla="*/ 138 h 166"/>
                  <a:gd name="T66" fmla="*/ 101 w 152"/>
                  <a:gd name="T67" fmla="*/ 135 h 166"/>
                  <a:gd name="T68" fmla="*/ 110 w 152"/>
                  <a:gd name="T69" fmla="*/ 129 h 166"/>
                  <a:gd name="T70" fmla="*/ 113 w 152"/>
                  <a:gd name="T71" fmla="*/ 119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2" h="166">
                    <a:moveTo>
                      <a:pt x="152" y="49"/>
                    </a:moveTo>
                    <a:cubicBezTo>
                      <a:pt x="152" y="119"/>
                      <a:pt x="152" y="119"/>
                      <a:pt x="152" y="119"/>
                    </a:cubicBezTo>
                    <a:cubicBezTo>
                      <a:pt x="152" y="128"/>
                      <a:pt x="149" y="136"/>
                      <a:pt x="145" y="142"/>
                    </a:cubicBezTo>
                    <a:cubicBezTo>
                      <a:pt x="140" y="149"/>
                      <a:pt x="133" y="154"/>
                      <a:pt x="125" y="157"/>
                    </a:cubicBezTo>
                    <a:cubicBezTo>
                      <a:pt x="117" y="160"/>
                      <a:pt x="109" y="162"/>
                      <a:pt x="101" y="164"/>
                    </a:cubicBezTo>
                    <a:cubicBezTo>
                      <a:pt x="93" y="165"/>
                      <a:pt x="84" y="166"/>
                      <a:pt x="75" y="166"/>
                    </a:cubicBezTo>
                    <a:cubicBezTo>
                      <a:pt x="67" y="166"/>
                      <a:pt x="59" y="165"/>
                      <a:pt x="51" y="164"/>
                    </a:cubicBezTo>
                    <a:cubicBezTo>
                      <a:pt x="44" y="163"/>
                      <a:pt x="36" y="161"/>
                      <a:pt x="27" y="158"/>
                    </a:cubicBezTo>
                    <a:cubicBezTo>
                      <a:pt x="19" y="155"/>
                      <a:pt x="12" y="150"/>
                      <a:pt x="7" y="144"/>
                    </a:cubicBezTo>
                    <a:cubicBezTo>
                      <a:pt x="2" y="137"/>
                      <a:pt x="0" y="129"/>
                      <a:pt x="0" y="119"/>
                    </a:cubicBezTo>
                    <a:cubicBezTo>
                      <a:pt x="0" y="49"/>
                      <a:pt x="0" y="49"/>
                      <a:pt x="0" y="49"/>
                    </a:cubicBezTo>
                    <a:cubicBezTo>
                      <a:pt x="0" y="41"/>
                      <a:pt x="1" y="34"/>
                      <a:pt x="5" y="27"/>
                    </a:cubicBezTo>
                    <a:cubicBezTo>
                      <a:pt x="9" y="21"/>
                      <a:pt x="13" y="16"/>
                      <a:pt x="18" y="13"/>
                    </a:cubicBezTo>
                    <a:cubicBezTo>
                      <a:pt x="24" y="10"/>
                      <a:pt x="30" y="7"/>
                      <a:pt x="37" y="5"/>
                    </a:cubicBezTo>
                    <a:cubicBezTo>
                      <a:pt x="45" y="3"/>
                      <a:pt x="51" y="2"/>
                      <a:pt x="57" y="1"/>
                    </a:cubicBezTo>
                    <a:cubicBezTo>
                      <a:pt x="63" y="1"/>
                      <a:pt x="69" y="0"/>
                      <a:pt x="75" y="0"/>
                    </a:cubicBezTo>
                    <a:cubicBezTo>
                      <a:pt x="82" y="0"/>
                      <a:pt x="88" y="1"/>
                      <a:pt x="94" y="1"/>
                    </a:cubicBezTo>
                    <a:cubicBezTo>
                      <a:pt x="100" y="2"/>
                      <a:pt x="107" y="3"/>
                      <a:pt x="114" y="5"/>
                    </a:cubicBezTo>
                    <a:cubicBezTo>
                      <a:pt x="121" y="7"/>
                      <a:pt x="128" y="10"/>
                      <a:pt x="133" y="13"/>
                    </a:cubicBezTo>
                    <a:cubicBezTo>
                      <a:pt x="138" y="16"/>
                      <a:pt x="143" y="21"/>
                      <a:pt x="146" y="27"/>
                    </a:cubicBezTo>
                    <a:cubicBezTo>
                      <a:pt x="150" y="33"/>
                      <a:pt x="152" y="41"/>
                      <a:pt x="152" y="49"/>
                    </a:cubicBezTo>
                    <a:close/>
                    <a:moveTo>
                      <a:pt x="113" y="119"/>
                    </a:moveTo>
                    <a:cubicBezTo>
                      <a:pt x="113" y="49"/>
                      <a:pt x="113" y="49"/>
                      <a:pt x="113" y="49"/>
                    </a:cubicBezTo>
                    <a:cubicBezTo>
                      <a:pt x="113" y="41"/>
                      <a:pt x="110" y="36"/>
                      <a:pt x="104" y="32"/>
                    </a:cubicBezTo>
                    <a:cubicBezTo>
                      <a:pt x="97" y="29"/>
                      <a:pt x="88" y="28"/>
                      <a:pt x="76" y="28"/>
                    </a:cubicBezTo>
                    <a:cubicBezTo>
                      <a:pt x="63" y="28"/>
                      <a:pt x="54" y="29"/>
                      <a:pt x="47" y="32"/>
                    </a:cubicBezTo>
                    <a:cubicBezTo>
                      <a:pt x="41" y="35"/>
                      <a:pt x="38" y="41"/>
                      <a:pt x="38" y="49"/>
                    </a:cubicBezTo>
                    <a:cubicBezTo>
                      <a:pt x="38" y="119"/>
                      <a:pt x="38" y="119"/>
                      <a:pt x="38" y="119"/>
                    </a:cubicBezTo>
                    <a:cubicBezTo>
                      <a:pt x="38" y="123"/>
                      <a:pt x="39" y="127"/>
                      <a:pt x="41" y="129"/>
                    </a:cubicBezTo>
                    <a:cubicBezTo>
                      <a:pt x="43" y="132"/>
                      <a:pt x="47" y="134"/>
                      <a:pt x="51" y="135"/>
                    </a:cubicBezTo>
                    <a:cubicBezTo>
                      <a:pt x="55" y="136"/>
                      <a:pt x="58" y="137"/>
                      <a:pt x="62" y="138"/>
                    </a:cubicBezTo>
                    <a:cubicBezTo>
                      <a:pt x="66" y="138"/>
                      <a:pt x="70" y="138"/>
                      <a:pt x="76" y="138"/>
                    </a:cubicBezTo>
                    <a:cubicBezTo>
                      <a:pt x="81" y="138"/>
                      <a:pt x="86" y="138"/>
                      <a:pt x="90" y="138"/>
                    </a:cubicBezTo>
                    <a:cubicBezTo>
                      <a:pt x="93" y="137"/>
                      <a:pt x="97" y="136"/>
                      <a:pt x="101" y="135"/>
                    </a:cubicBezTo>
                    <a:cubicBezTo>
                      <a:pt x="105" y="134"/>
                      <a:pt x="108" y="132"/>
                      <a:pt x="110" y="129"/>
                    </a:cubicBezTo>
                    <a:cubicBezTo>
                      <a:pt x="112" y="127"/>
                      <a:pt x="113" y="123"/>
                      <a:pt x="113" y="119"/>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63" name="Freeform 22">
                <a:extLst>
                  <a:ext uri="{FF2B5EF4-FFF2-40B4-BE49-F238E27FC236}">
                    <a16:creationId xmlns:a16="http://schemas.microsoft.com/office/drawing/2014/main" id="{CF00ACE4-7025-4B53-BF97-23146417B965}"/>
                  </a:ext>
                </a:extLst>
              </p:cNvPr>
              <p:cNvSpPr>
                <a:spLocks/>
              </p:cNvSpPr>
              <p:nvPr userDrawn="1"/>
            </p:nvSpPr>
            <p:spPr bwMode="auto">
              <a:xfrm>
                <a:off x="4095456" y="776181"/>
                <a:ext cx="418634" cy="491111"/>
              </a:xfrm>
              <a:custGeom>
                <a:avLst/>
                <a:gdLst>
                  <a:gd name="T0" fmla="*/ 139 w 139"/>
                  <a:gd name="T1" fmla="*/ 0 h 163"/>
                  <a:gd name="T2" fmla="*/ 139 w 139"/>
                  <a:gd name="T3" fmla="*/ 116 h 163"/>
                  <a:gd name="T4" fmla="*/ 70 w 139"/>
                  <a:gd name="T5" fmla="*/ 163 h 163"/>
                  <a:gd name="T6" fmla="*/ 0 w 139"/>
                  <a:gd name="T7" fmla="*/ 116 h 163"/>
                  <a:gd name="T8" fmla="*/ 0 w 139"/>
                  <a:gd name="T9" fmla="*/ 0 h 163"/>
                  <a:gd name="T10" fmla="*/ 39 w 139"/>
                  <a:gd name="T11" fmla="*/ 0 h 163"/>
                  <a:gd name="T12" fmla="*/ 39 w 139"/>
                  <a:gd name="T13" fmla="*/ 116 h 163"/>
                  <a:gd name="T14" fmla="*/ 46 w 139"/>
                  <a:gd name="T15" fmla="*/ 131 h 163"/>
                  <a:gd name="T16" fmla="*/ 70 w 139"/>
                  <a:gd name="T17" fmla="*/ 135 h 163"/>
                  <a:gd name="T18" fmla="*/ 94 w 139"/>
                  <a:gd name="T19" fmla="*/ 131 h 163"/>
                  <a:gd name="T20" fmla="*/ 101 w 139"/>
                  <a:gd name="T21" fmla="*/ 116 h 163"/>
                  <a:gd name="T22" fmla="*/ 101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6"/>
                      <a:pt x="139" y="116"/>
                      <a:pt x="139" y="116"/>
                    </a:cubicBezTo>
                    <a:cubicBezTo>
                      <a:pt x="139" y="147"/>
                      <a:pt x="116" y="163"/>
                      <a:pt x="70" y="163"/>
                    </a:cubicBezTo>
                    <a:cubicBezTo>
                      <a:pt x="23" y="163"/>
                      <a:pt x="0" y="147"/>
                      <a:pt x="0" y="116"/>
                    </a:cubicBezTo>
                    <a:cubicBezTo>
                      <a:pt x="0" y="0"/>
                      <a:pt x="0" y="0"/>
                      <a:pt x="0" y="0"/>
                    </a:cubicBezTo>
                    <a:cubicBezTo>
                      <a:pt x="39" y="0"/>
                      <a:pt x="39" y="0"/>
                      <a:pt x="39" y="0"/>
                    </a:cubicBezTo>
                    <a:cubicBezTo>
                      <a:pt x="39" y="116"/>
                      <a:pt x="39" y="116"/>
                      <a:pt x="39" y="116"/>
                    </a:cubicBezTo>
                    <a:cubicBezTo>
                      <a:pt x="39" y="123"/>
                      <a:pt x="41" y="128"/>
                      <a:pt x="46" y="131"/>
                    </a:cubicBezTo>
                    <a:cubicBezTo>
                      <a:pt x="51" y="134"/>
                      <a:pt x="59" y="135"/>
                      <a:pt x="70" y="135"/>
                    </a:cubicBezTo>
                    <a:cubicBezTo>
                      <a:pt x="81" y="135"/>
                      <a:pt x="89" y="134"/>
                      <a:pt x="94" y="131"/>
                    </a:cubicBezTo>
                    <a:cubicBezTo>
                      <a:pt x="99" y="128"/>
                      <a:pt x="101" y="123"/>
                      <a:pt x="101" y="116"/>
                    </a:cubicBezTo>
                    <a:cubicBezTo>
                      <a:pt x="101" y="0"/>
                      <a:pt x="101" y="0"/>
                      <a:pt x="101"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64" name="Freeform 23">
                <a:extLst>
                  <a:ext uri="{FF2B5EF4-FFF2-40B4-BE49-F238E27FC236}">
                    <a16:creationId xmlns:a16="http://schemas.microsoft.com/office/drawing/2014/main" id="{199E54AC-FFA8-4062-99D9-9DEC98C1687C}"/>
                  </a:ext>
                </a:extLst>
              </p:cNvPr>
              <p:cNvSpPr>
                <a:spLocks noEditPoints="1"/>
              </p:cNvSpPr>
              <p:nvPr userDrawn="1"/>
            </p:nvSpPr>
            <p:spPr bwMode="auto">
              <a:xfrm>
                <a:off x="4609545" y="776181"/>
                <a:ext cx="428631" cy="481114"/>
              </a:xfrm>
              <a:custGeom>
                <a:avLst/>
                <a:gdLst>
                  <a:gd name="T0" fmla="*/ 142 w 142"/>
                  <a:gd name="T1" fmla="*/ 160 h 160"/>
                  <a:gd name="T2" fmla="*/ 98 w 142"/>
                  <a:gd name="T3" fmla="*/ 160 h 160"/>
                  <a:gd name="T4" fmla="*/ 56 w 142"/>
                  <a:gd name="T5" fmla="*/ 97 h 160"/>
                  <a:gd name="T6" fmla="*/ 38 w 142"/>
                  <a:gd name="T7" fmla="*/ 97 h 160"/>
                  <a:gd name="T8" fmla="*/ 38 w 142"/>
                  <a:gd name="T9" fmla="*/ 160 h 160"/>
                  <a:gd name="T10" fmla="*/ 0 w 142"/>
                  <a:gd name="T11" fmla="*/ 160 h 160"/>
                  <a:gd name="T12" fmla="*/ 0 w 142"/>
                  <a:gd name="T13" fmla="*/ 0 h 160"/>
                  <a:gd name="T14" fmla="*/ 72 w 142"/>
                  <a:gd name="T15" fmla="*/ 0 h 160"/>
                  <a:gd name="T16" fmla="*/ 118 w 142"/>
                  <a:gd name="T17" fmla="*/ 7 h 160"/>
                  <a:gd name="T18" fmla="*/ 132 w 142"/>
                  <a:gd name="T19" fmla="*/ 34 h 160"/>
                  <a:gd name="T20" fmla="*/ 132 w 142"/>
                  <a:gd name="T21" fmla="*/ 62 h 160"/>
                  <a:gd name="T22" fmla="*/ 122 w 142"/>
                  <a:gd name="T23" fmla="*/ 84 h 160"/>
                  <a:gd name="T24" fmla="*/ 96 w 142"/>
                  <a:gd name="T25" fmla="*/ 94 h 160"/>
                  <a:gd name="T26" fmla="*/ 142 w 142"/>
                  <a:gd name="T27" fmla="*/ 160 h 160"/>
                  <a:gd name="T28" fmla="*/ 95 w 142"/>
                  <a:gd name="T29" fmla="*/ 54 h 160"/>
                  <a:gd name="T30" fmla="*/ 95 w 142"/>
                  <a:gd name="T31" fmla="*/ 43 h 160"/>
                  <a:gd name="T32" fmla="*/ 89 w 142"/>
                  <a:gd name="T33" fmla="*/ 31 h 160"/>
                  <a:gd name="T34" fmla="*/ 71 w 142"/>
                  <a:gd name="T35" fmla="*/ 27 h 160"/>
                  <a:gd name="T36" fmla="*/ 38 w 142"/>
                  <a:gd name="T37" fmla="*/ 27 h 160"/>
                  <a:gd name="T38" fmla="*/ 38 w 142"/>
                  <a:gd name="T39" fmla="*/ 72 h 160"/>
                  <a:gd name="T40" fmla="*/ 71 w 142"/>
                  <a:gd name="T41" fmla="*/ 72 h 160"/>
                  <a:gd name="T42" fmla="*/ 90 w 142"/>
                  <a:gd name="T43" fmla="*/ 68 h 160"/>
                  <a:gd name="T44" fmla="*/ 95 w 142"/>
                  <a:gd name="T45" fmla="*/ 5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2" h="160">
                    <a:moveTo>
                      <a:pt x="142" y="160"/>
                    </a:moveTo>
                    <a:cubicBezTo>
                      <a:pt x="98" y="160"/>
                      <a:pt x="98" y="160"/>
                      <a:pt x="98" y="160"/>
                    </a:cubicBezTo>
                    <a:cubicBezTo>
                      <a:pt x="56" y="97"/>
                      <a:pt x="56" y="97"/>
                      <a:pt x="56" y="97"/>
                    </a:cubicBezTo>
                    <a:cubicBezTo>
                      <a:pt x="38" y="97"/>
                      <a:pt x="38" y="97"/>
                      <a:pt x="38" y="97"/>
                    </a:cubicBezTo>
                    <a:cubicBezTo>
                      <a:pt x="38" y="160"/>
                      <a:pt x="38" y="160"/>
                      <a:pt x="38" y="160"/>
                    </a:cubicBezTo>
                    <a:cubicBezTo>
                      <a:pt x="0" y="160"/>
                      <a:pt x="0" y="160"/>
                      <a:pt x="0" y="160"/>
                    </a:cubicBezTo>
                    <a:cubicBezTo>
                      <a:pt x="0" y="0"/>
                      <a:pt x="0" y="0"/>
                      <a:pt x="0" y="0"/>
                    </a:cubicBezTo>
                    <a:cubicBezTo>
                      <a:pt x="72" y="0"/>
                      <a:pt x="72" y="0"/>
                      <a:pt x="72" y="0"/>
                    </a:cubicBezTo>
                    <a:cubicBezTo>
                      <a:pt x="93" y="0"/>
                      <a:pt x="108" y="2"/>
                      <a:pt x="118" y="7"/>
                    </a:cubicBezTo>
                    <a:cubicBezTo>
                      <a:pt x="128" y="13"/>
                      <a:pt x="132" y="21"/>
                      <a:pt x="132" y="34"/>
                    </a:cubicBezTo>
                    <a:cubicBezTo>
                      <a:pt x="132" y="62"/>
                      <a:pt x="132" y="62"/>
                      <a:pt x="132" y="62"/>
                    </a:cubicBezTo>
                    <a:cubicBezTo>
                      <a:pt x="132" y="72"/>
                      <a:pt x="129" y="79"/>
                      <a:pt x="122" y="84"/>
                    </a:cubicBezTo>
                    <a:cubicBezTo>
                      <a:pt x="115" y="90"/>
                      <a:pt x="106" y="93"/>
                      <a:pt x="96" y="94"/>
                    </a:cubicBezTo>
                    <a:lnTo>
                      <a:pt x="142" y="160"/>
                    </a:lnTo>
                    <a:close/>
                    <a:moveTo>
                      <a:pt x="95" y="54"/>
                    </a:moveTo>
                    <a:cubicBezTo>
                      <a:pt x="95" y="43"/>
                      <a:pt x="95" y="43"/>
                      <a:pt x="95" y="43"/>
                    </a:cubicBezTo>
                    <a:cubicBezTo>
                      <a:pt x="95" y="37"/>
                      <a:pt x="93" y="33"/>
                      <a:pt x="89" y="31"/>
                    </a:cubicBezTo>
                    <a:cubicBezTo>
                      <a:pt x="86" y="28"/>
                      <a:pt x="80" y="27"/>
                      <a:pt x="71" y="27"/>
                    </a:cubicBezTo>
                    <a:cubicBezTo>
                      <a:pt x="38" y="27"/>
                      <a:pt x="38" y="27"/>
                      <a:pt x="38" y="27"/>
                    </a:cubicBezTo>
                    <a:cubicBezTo>
                      <a:pt x="38" y="72"/>
                      <a:pt x="38" y="72"/>
                      <a:pt x="38" y="72"/>
                    </a:cubicBezTo>
                    <a:cubicBezTo>
                      <a:pt x="71" y="72"/>
                      <a:pt x="71" y="72"/>
                      <a:pt x="71" y="72"/>
                    </a:cubicBezTo>
                    <a:cubicBezTo>
                      <a:pt x="80" y="72"/>
                      <a:pt x="86" y="70"/>
                      <a:pt x="90" y="68"/>
                    </a:cubicBezTo>
                    <a:cubicBezTo>
                      <a:pt x="93" y="66"/>
                      <a:pt x="95" y="61"/>
                      <a:pt x="95" y="54"/>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65" name="Freeform 24">
                <a:extLst>
                  <a:ext uri="{FF2B5EF4-FFF2-40B4-BE49-F238E27FC236}">
                    <a16:creationId xmlns:a16="http://schemas.microsoft.com/office/drawing/2014/main" id="{FCBE1446-7A21-44E9-B707-7E0F763FF291}"/>
                  </a:ext>
                </a:extLst>
              </p:cNvPr>
              <p:cNvSpPr>
                <a:spLocks/>
              </p:cNvSpPr>
              <p:nvPr userDrawn="1"/>
            </p:nvSpPr>
            <p:spPr bwMode="auto">
              <a:xfrm>
                <a:off x="5076396" y="767433"/>
                <a:ext cx="379894" cy="499859"/>
              </a:xfrm>
              <a:custGeom>
                <a:avLst/>
                <a:gdLst>
                  <a:gd name="T0" fmla="*/ 126 w 126"/>
                  <a:gd name="T1" fmla="*/ 160 h 166"/>
                  <a:gd name="T2" fmla="*/ 74 w 126"/>
                  <a:gd name="T3" fmla="*/ 166 h 166"/>
                  <a:gd name="T4" fmla="*/ 56 w 126"/>
                  <a:gd name="T5" fmla="*/ 165 h 166"/>
                  <a:gd name="T6" fmla="*/ 36 w 126"/>
                  <a:gd name="T7" fmla="*/ 161 h 166"/>
                  <a:gd name="T8" fmla="*/ 18 w 126"/>
                  <a:gd name="T9" fmla="*/ 153 h 166"/>
                  <a:gd name="T10" fmla="*/ 5 w 126"/>
                  <a:gd name="T11" fmla="*/ 140 h 166"/>
                  <a:gd name="T12" fmla="*/ 0 w 126"/>
                  <a:gd name="T13" fmla="*/ 119 h 166"/>
                  <a:gd name="T14" fmla="*/ 0 w 126"/>
                  <a:gd name="T15" fmla="*/ 49 h 166"/>
                  <a:gd name="T16" fmla="*/ 74 w 126"/>
                  <a:gd name="T17" fmla="*/ 0 h 166"/>
                  <a:gd name="T18" fmla="*/ 125 w 126"/>
                  <a:gd name="T19" fmla="*/ 6 h 166"/>
                  <a:gd name="T20" fmla="*/ 125 w 126"/>
                  <a:gd name="T21" fmla="*/ 35 h 166"/>
                  <a:gd name="T22" fmla="*/ 75 w 126"/>
                  <a:gd name="T23" fmla="*/ 28 h 166"/>
                  <a:gd name="T24" fmla="*/ 61 w 126"/>
                  <a:gd name="T25" fmla="*/ 28 h 166"/>
                  <a:gd name="T26" fmla="*/ 50 w 126"/>
                  <a:gd name="T27" fmla="*/ 31 h 166"/>
                  <a:gd name="T28" fmla="*/ 41 w 126"/>
                  <a:gd name="T29" fmla="*/ 37 h 166"/>
                  <a:gd name="T30" fmla="*/ 39 w 126"/>
                  <a:gd name="T31" fmla="*/ 48 h 166"/>
                  <a:gd name="T32" fmla="*/ 39 w 126"/>
                  <a:gd name="T33" fmla="*/ 116 h 166"/>
                  <a:gd name="T34" fmla="*/ 78 w 126"/>
                  <a:gd name="T35" fmla="*/ 138 h 166"/>
                  <a:gd name="T36" fmla="*/ 126 w 126"/>
                  <a:gd name="T37" fmla="*/ 131 h 166"/>
                  <a:gd name="T38" fmla="*/ 126 w 126"/>
                  <a:gd name="T39" fmla="*/ 16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6" h="166">
                    <a:moveTo>
                      <a:pt x="126" y="160"/>
                    </a:moveTo>
                    <a:cubicBezTo>
                      <a:pt x="108" y="164"/>
                      <a:pt x="91" y="166"/>
                      <a:pt x="74" y="166"/>
                    </a:cubicBezTo>
                    <a:cubicBezTo>
                      <a:pt x="68" y="166"/>
                      <a:pt x="62" y="165"/>
                      <a:pt x="56" y="165"/>
                    </a:cubicBezTo>
                    <a:cubicBezTo>
                      <a:pt x="50" y="164"/>
                      <a:pt x="43" y="163"/>
                      <a:pt x="36" y="161"/>
                    </a:cubicBezTo>
                    <a:cubicBezTo>
                      <a:pt x="29" y="159"/>
                      <a:pt x="23" y="157"/>
                      <a:pt x="18" y="153"/>
                    </a:cubicBezTo>
                    <a:cubicBezTo>
                      <a:pt x="13" y="150"/>
                      <a:pt x="9" y="146"/>
                      <a:pt x="5" y="140"/>
                    </a:cubicBezTo>
                    <a:cubicBezTo>
                      <a:pt x="2" y="134"/>
                      <a:pt x="0" y="127"/>
                      <a:pt x="0" y="119"/>
                    </a:cubicBezTo>
                    <a:cubicBezTo>
                      <a:pt x="0" y="49"/>
                      <a:pt x="0" y="49"/>
                      <a:pt x="0" y="49"/>
                    </a:cubicBezTo>
                    <a:cubicBezTo>
                      <a:pt x="0" y="16"/>
                      <a:pt x="25" y="0"/>
                      <a:pt x="74" y="0"/>
                    </a:cubicBezTo>
                    <a:cubicBezTo>
                      <a:pt x="87" y="0"/>
                      <a:pt x="104" y="2"/>
                      <a:pt x="125" y="6"/>
                    </a:cubicBezTo>
                    <a:cubicBezTo>
                      <a:pt x="125" y="35"/>
                      <a:pt x="125" y="35"/>
                      <a:pt x="125" y="35"/>
                    </a:cubicBezTo>
                    <a:cubicBezTo>
                      <a:pt x="106" y="30"/>
                      <a:pt x="89" y="28"/>
                      <a:pt x="75" y="28"/>
                    </a:cubicBezTo>
                    <a:cubicBezTo>
                      <a:pt x="69" y="28"/>
                      <a:pt x="65" y="28"/>
                      <a:pt x="61" y="28"/>
                    </a:cubicBezTo>
                    <a:cubicBezTo>
                      <a:pt x="58" y="29"/>
                      <a:pt x="54" y="29"/>
                      <a:pt x="50" y="31"/>
                    </a:cubicBezTo>
                    <a:cubicBezTo>
                      <a:pt x="46" y="32"/>
                      <a:pt x="43" y="34"/>
                      <a:pt x="41" y="37"/>
                    </a:cubicBezTo>
                    <a:cubicBezTo>
                      <a:pt x="40" y="40"/>
                      <a:pt x="39" y="44"/>
                      <a:pt x="39" y="48"/>
                    </a:cubicBezTo>
                    <a:cubicBezTo>
                      <a:pt x="39" y="116"/>
                      <a:pt x="39" y="116"/>
                      <a:pt x="39" y="116"/>
                    </a:cubicBezTo>
                    <a:cubicBezTo>
                      <a:pt x="39" y="131"/>
                      <a:pt x="52" y="138"/>
                      <a:pt x="78" y="138"/>
                    </a:cubicBezTo>
                    <a:cubicBezTo>
                      <a:pt x="90" y="138"/>
                      <a:pt x="106" y="136"/>
                      <a:pt x="126" y="131"/>
                    </a:cubicBezTo>
                    <a:lnTo>
                      <a:pt x="126" y="16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68" name="Freeform 25">
                <a:extLst>
                  <a:ext uri="{FF2B5EF4-FFF2-40B4-BE49-F238E27FC236}">
                    <a16:creationId xmlns:a16="http://schemas.microsoft.com/office/drawing/2014/main" id="{59AC60CB-859F-4074-8D3B-6A61BBE310AB}"/>
                  </a:ext>
                </a:extLst>
              </p:cNvPr>
              <p:cNvSpPr>
                <a:spLocks/>
              </p:cNvSpPr>
              <p:nvPr userDrawn="1"/>
            </p:nvSpPr>
            <p:spPr bwMode="auto">
              <a:xfrm>
                <a:off x="5547605" y="776181"/>
                <a:ext cx="377394" cy="481114"/>
              </a:xfrm>
              <a:custGeom>
                <a:avLst/>
                <a:gdLst>
                  <a:gd name="T0" fmla="*/ 302 w 302"/>
                  <a:gd name="T1" fmla="*/ 385 h 385"/>
                  <a:gd name="T2" fmla="*/ 0 w 302"/>
                  <a:gd name="T3" fmla="*/ 385 h 385"/>
                  <a:gd name="T4" fmla="*/ 0 w 302"/>
                  <a:gd name="T5" fmla="*/ 0 h 385"/>
                  <a:gd name="T6" fmla="*/ 294 w 302"/>
                  <a:gd name="T7" fmla="*/ 0 h 385"/>
                  <a:gd name="T8" fmla="*/ 294 w 302"/>
                  <a:gd name="T9" fmla="*/ 65 h 385"/>
                  <a:gd name="T10" fmla="*/ 94 w 302"/>
                  <a:gd name="T11" fmla="*/ 65 h 385"/>
                  <a:gd name="T12" fmla="*/ 94 w 302"/>
                  <a:gd name="T13" fmla="*/ 154 h 385"/>
                  <a:gd name="T14" fmla="*/ 275 w 302"/>
                  <a:gd name="T15" fmla="*/ 154 h 385"/>
                  <a:gd name="T16" fmla="*/ 275 w 302"/>
                  <a:gd name="T17" fmla="*/ 219 h 385"/>
                  <a:gd name="T18" fmla="*/ 94 w 302"/>
                  <a:gd name="T19" fmla="*/ 219 h 385"/>
                  <a:gd name="T20" fmla="*/ 94 w 302"/>
                  <a:gd name="T21" fmla="*/ 320 h 385"/>
                  <a:gd name="T22" fmla="*/ 302 w 302"/>
                  <a:gd name="T23" fmla="*/ 320 h 385"/>
                  <a:gd name="T24" fmla="*/ 302 w 302"/>
                  <a:gd name="T25"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2" h="385">
                    <a:moveTo>
                      <a:pt x="302" y="385"/>
                    </a:moveTo>
                    <a:lnTo>
                      <a:pt x="0" y="385"/>
                    </a:lnTo>
                    <a:lnTo>
                      <a:pt x="0" y="0"/>
                    </a:lnTo>
                    <a:lnTo>
                      <a:pt x="294" y="0"/>
                    </a:lnTo>
                    <a:lnTo>
                      <a:pt x="294" y="65"/>
                    </a:lnTo>
                    <a:lnTo>
                      <a:pt x="94" y="65"/>
                    </a:lnTo>
                    <a:lnTo>
                      <a:pt x="94" y="154"/>
                    </a:lnTo>
                    <a:lnTo>
                      <a:pt x="275" y="154"/>
                    </a:lnTo>
                    <a:lnTo>
                      <a:pt x="275" y="219"/>
                    </a:lnTo>
                    <a:lnTo>
                      <a:pt x="94" y="219"/>
                    </a:lnTo>
                    <a:lnTo>
                      <a:pt x="94" y="320"/>
                    </a:lnTo>
                    <a:lnTo>
                      <a:pt x="302" y="320"/>
                    </a:lnTo>
                    <a:lnTo>
                      <a:pt x="302" y="38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88" name="Freeform 26">
                <a:extLst>
                  <a:ext uri="{FF2B5EF4-FFF2-40B4-BE49-F238E27FC236}">
                    <a16:creationId xmlns:a16="http://schemas.microsoft.com/office/drawing/2014/main" id="{4CC8A7D7-1B7E-4227-ACB9-14FCC6B79477}"/>
                  </a:ext>
                </a:extLst>
              </p:cNvPr>
              <p:cNvSpPr>
                <a:spLocks/>
              </p:cNvSpPr>
              <p:nvPr userDrawn="1"/>
            </p:nvSpPr>
            <p:spPr bwMode="auto">
              <a:xfrm>
                <a:off x="5998431" y="767433"/>
                <a:ext cx="394888" cy="499859"/>
              </a:xfrm>
              <a:custGeom>
                <a:avLst/>
                <a:gdLst>
                  <a:gd name="T0" fmla="*/ 131 w 131"/>
                  <a:gd name="T1" fmla="*/ 107 h 166"/>
                  <a:gd name="T2" fmla="*/ 131 w 131"/>
                  <a:gd name="T3" fmla="*/ 117 h 166"/>
                  <a:gd name="T4" fmla="*/ 126 w 131"/>
                  <a:gd name="T5" fmla="*/ 141 h 166"/>
                  <a:gd name="T6" fmla="*/ 110 w 131"/>
                  <a:gd name="T7" fmla="*/ 156 h 166"/>
                  <a:gd name="T8" fmla="*/ 88 w 131"/>
                  <a:gd name="T9" fmla="*/ 163 h 166"/>
                  <a:gd name="T10" fmla="*/ 60 w 131"/>
                  <a:gd name="T11" fmla="*/ 166 h 166"/>
                  <a:gd name="T12" fmla="*/ 3 w 131"/>
                  <a:gd name="T13" fmla="*/ 161 h 166"/>
                  <a:gd name="T14" fmla="*/ 3 w 131"/>
                  <a:gd name="T15" fmla="*/ 132 h 166"/>
                  <a:gd name="T16" fmla="*/ 60 w 131"/>
                  <a:gd name="T17" fmla="*/ 138 h 166"/>
                  <a:gd name="T18" fmla="*/ 92 w 131"/>
                  <a:gd name="T19" fmla="*/ 122 h 166"/>
                  <a:gd name="T20" fmla="*/ 92 w 131"/>
                  <a:gd name="T21" fmla="*/ 111 h 166"/>
                  <a:gd name="T22" fmla="*/ 88 w 131"/>
                  <a:gd name="T23" fmla="*/ 100 h 166"/>
                  <a:gd name="T24" fmla="*/ 71 w 131"/>
                  <a:gd name="T25" fmla="*/ 95 h 166"/>
                  <a:gd name="T26" fmla="*/ 52 w 131"/>
                  <a:gd name="T27" fmla="*/ 95 h 166"/>
                  <a:gd name="T28" fmla="*/ 0 w 131"/>
                  <a:gd name="T29" fmla="*/ 53 h 166"/>
                  <a:gd name="T30" fmla="*/ 0 w 131"/>
                  <a:gd name="T31" fmla="*/ 41 h 166"/>
                  <a:gd name="T32" fmla="*/ 17 w 131"/>
                  <a:gd name="T33" fmla="*/ 10 h 166"/>
                  <a:gd name="T34" fmla="*/ 73 w 131"/>
                  <a:gd name="T35" fmla="*/ 0 h 166"/>
                  <a:gd name="T36" fmla="*/ 123 w 131"/>
                  <a:gd name="T37" fmla="*/ 4 h 166"/>
                  <a:gd name="T38" fmla="*/ 123 w 131"/>
                  <a:gd name="T39" fmla="*/ 32 h 166"/>
                  <a:gd name="T40" fmla="*/ 71 w 131"/>
                  <a:gd name="T41" fmla="*/ 28 h 166"/>
                  <a:gd name="T42" fmla="*/ 45 w 131"/>
                  <a:gd name="T43" fmla="*/ 31 h 166"/>
                  <a:gd name="T44" fmla="*/ 38 w 131"/>
                  <a:gd name="T45" fmla="*/ 42 h 166"/>
                  <a:gd name="T46" fmla="*/ 38 w 131"/>
                  <a:gd name="T47" fmla="*/ 53 h 166"/>
                  <a:gd name="T48" fmla="*/ 59 w 131"/>
                  <a:gd name="T49" fmla="*/ 66 h 166"/>
                  <a:gd name="T50" fmla="*/ 79 w 131"/>
                  <a:gd name="T51" fmla="*/ 66 h 166"/>
                  <a:gd name="T52" fmla="*/ 119 w 131"/>
                  <a:gd name="T53" fmla="*/ 76 h 166"/>
                  <a:gd name="T54" fmla="*/ 131 w 131"/>
                  <a:gd name="T5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6">
                    <a:moveTo>
                      <a:pt x="131" y="107"/>
                    </a:moveTo>
                    <a:cubicBezTo>
                      <a:pt x="131" y="117"/>
                      <a:pt x="131" y="117"/>
                      <a:pt x="131" y="117"/>
                    </a:cubicBezTo>
                    <a:cubicBezTo>
                      <a:pt x="131" y="127"/>
                      <a:pt x="129" y="135"/>
                      <a:pt x="126" y="141"/>
                    </a:cubicBezTo>
                    <a:cubicBezTo>
                      <a:pt x="122" y="148"/>
                      <a:pt x="117" y="153"/>
                      <a:pt x="110" y="156"/>
                    </a:cubicBezTo>
                    <a:cubicBezTo>
                      <a:pt x="103" y="160"/>
                      <a:pt x="96" y="162"/>
                      <a:pt x="88" y="163"/>
                    </a:cubicBezTo>
                    <a:cubicBezTo>
                      <a:pt x="80" y="165"/>
                      <a:pt x="71" y="166"/>
                      <a:pt x="60" y="166"/>
                    </a:cubicBezTo>
                    <a:cubicBezTo>
                      <a:pt x="44" y="166"/>
                      <a:pt x="25" y="164"/>
                      <a:pt x="3" y="161"/>
                    </a:cubicBezTo>
                    <a:cubicBezTo>
                      <a:pt x="3" y="132"/>
                      <a:pt x="3" y="132"/>
                      <a:pt x="3" y="132"/>
                    </a:cubicBezTo>
                    <a:cubicBezTo>
                      <a:pt x="30" y="136"/>
                      <a:pt x="49" y="138"/>
                      <a:pt x="60" y="138"/>
                    </a:cubicBezTo>
                    <a:cubicBezTo>
                      <a:pt x="81" y="138"/>
                      <a:pt x="92" y="133"/>
                      <a:pt x="92" y="122"/>
                    </a:cubicBezTo>
                    <a:cubicBezTo>
                      <a:pt x="92" y="111"/>
                      <a:pt x="92" y="111"/>
                      <a:pt x="92" y="111"/>
                    </a:cubicBezTo>
                    <a:cubicBezTo>
                      <a:pt x="92" y="106"/>
                      <a:pt x="91" y="103"/>
                      <a:pt x="88" y="100"/>
                    </a:cubicBezTo>
                    <a:cubicBezTo>
                      <a:pt x="85" y="96"/>
                      <a:pt x="80" y="95"/>
                      <a:pt x="71" y="95"/>
                    </a:cubicBezTo>
                    <a:cubicBezTo>
                      <a:pt x="52" y="95"/>
                      <a:pt x="52" y="95"/>
                      <a:pt x="52" y="95"/>
                    </a:cubicBezTo>
                    <a:cubicBezTo>
                      <a:pt x="17" y="95"/>
                      <a:pt x="0" y="81"/>
                      <a:pt x="0" y="53"/>
                    </a:cubicBezTo>
                    <a:cubicBezTo>
                      <a:pt x="0" y="41"/>
                      <a:pt x="0" y="41"/>
                      <a:pt x="0" y="41"/>
                    </a:cubicBezTo>
                    <a:cubicBezTo>
                      <a:pt x="0" y="27"/>
                      <a:pt x="5" y="17"/>
                      <a:pt x="17" y="10"/>
                    </a:cubicBezTo>
                    <a:cubicBezTo>
                      <a:pt x="29" y="4"/>
                      <a:pt x="47" y="0"/>
                      <a:pt x="73" y="0"/>
                    </a:cubicBezTo>
                    <a:cubicBezTo>
                      <a:pt x="85" y="0"/>
                      <a:pt x="102" y="1"/>
                      <a:pt x="123" y="4"/>
                    </a:cubicBezTo>
                    <a:cubicBezTo>
                      <a:pt x="123" y="32"/>
                      <a:pt x="123" y="32"/>
                      <a:pt x="123" y="32"/>
                    </a:cubicBezTo>
                    <a:cubicBezTo>
                      <a:pt x="98" y="29"/>
                      <a:pt x="81" y="28"/>
                      <a:pt x="71" y="28"/>
                    </a:cubicBezTo>
                    <a:cubicBezTo>
                      <a:pt x="59" y="28"/>
                      <a:pt x="50" y="29"/>
                      <a:pt x="45" y="31"/>
                    </a:cubicBezTo>
                    <a:cubicBezTo>
                      <a:pt x="40" y="33"/>
                      <a:pt x="38" y="37"/>
                      <a:pt x="38" y="42"/>
                    </a:cubicBezTo>
                    <a:cubicBezTo>
                      <a:pt x="38" y="53"/>
                      <a:pt x="38" y="53"/>
                      <a:pt x="38" y="53"/>
                    </a:cubicBezTo>
                    <a:cubicBezTo>
                      <a:pt x="38" y="62"/>
                      <a:pt x="45" y="66"/>
                      <a:pt x="59" y="66"/>
                    </a:cubicBezTo>
                    <a:cubicBezTo>
                      <a:pt x="79" y="66"/>
                      <a:pt x="79" y="66"/>
                      <a:pt x="79" y="66"/>
                    </a:cubicBezTo>
                    <a:cubicBezTo>
                      <a:pt x="97" y="66"/>
                      <a:pt x="111" y="69"/>
                      <a:pt x="119" y="76"/>
                    </a:cubicBezTo>
                    <a:cubicBezTo>
                      <a:pt x="127" y="83"/>
                      <a:pt x="131" y="93"/>
                      <a:pt x="131" y="107"/>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grpSp>
        <p:grpSp>
          <p:nvGrpSpPr>
            <p:cNvPr id="43" name="Group 42">
              <a:extLst>
                <a:ext uri="{FF2B5EF4-FFF2-40B4-BE49-F238E27FC236}">
                  <a16:creationId xmlns:a16="http://schemas.microsoft.com/office/drawing/2014/main" id="{AFB155C1-49B1-4E67-8570-39F8D5F699C8}"/>
                </a:ext>
              </a:extLst>
            </p:cNvPr>
            <p:cNvGrpSpPr/>
            <p:nvPr userDrawn="1"/>
          </p:nvGrpSpPr>
          <p:grpSpPr>
            <a:xfrm>
              <a:off x="314326" y="1075660"/>
              <a:ext cx="1843867" cy="369143"/>
              <a:chOff x="1146212" y="1396551"/>
              <a:chExt cx="2484309" cy="497360"/>
            </a:xfrm>
            <a:grpFill/>
          </p:grpSpPr>
          <p:sp>
            <p:nvSpPr>
              <p:cNvPr id="54" name="Freeform 27">
                <a:extLst>
                  <a:ext uri="{FF2B5EF4-FFF2-40B4-BE49-F238E27FC236}">
                    <a16:creationId xmlns:a16="http://schemas.microsoft.com/office/drawing/2014/main" id="{25417960-39AF-44D1-85A2-C9BF491B6653}"/>
                  </a:ext>
                </a:extLst>
              </p:cNvPr>
              <p:cNvSpPr>
                <a:spLocks/>
              </p:cNvSpPr>
              <p:nvPr userDrawn="1"/>
            </p:nvSpPr>
            <p:spPr bwMode="auto">
              <a:xfrm>
                <a:off x="1146212" y="1396551"/>
                <a:ext cx="443627" cy="497359"/>
              </a:xfrm>
              <a:custGeom>
                <a:avLst/>
                <a:gdLst>
                  <a:gd name="T0" fmla="*/ 147 w 147"/>
                  <a:gd name="T1" fmla="*/ 155 h 165"/>
                  <a:gd name="T2" fmla="*/ 115 w 147"/>
                  <a:gd name="T3" fmla="*/ 162 h 165"/>
                  <a:gd name="T4" fmla="*/ 80 w 147"/>
                  <a:gd name="T5" fmla="*/ 165 h 165"/>
                  <a:gd name="T6" fmla="*/ 56 w 147"/>
                  <a:gd name="T7" fmla="*/ 164 h 165"/>
                  <a:gd name="T8" fmla="*/ 34 w 147"/>
                  <a:gd name="T9" fmla="*/ 160 h 165"/>
                  <a:gd name="T10" fmla="*/ 16 w 147"/>
                  <a:gd name="T11" fmla="*/ 152 h 165"/>
                  <a:gd name="T12" fmla="*/ 5 w 147"/>
                  <a:gd name="T13" fmla="*/ 138 h 165"/>
                  <a:gd name="T14" fmla="*/ 0 w 147"/>
                  <a:gd name="T15" fmla="*/ 119 h 165"/>
                  <a:gd name="T16" fmla="*/ 0 w 147"/>
                  <a:gd name="T17" fmla="*/ 52 h 165"/>
                  <a:gd name="T18" fmla="*/ 5 w 147"/>
                  <a:gd name="T19" fmla="*/ 30 h 165"/>
                  <a:gd name="T20" fmla="*/ 18 w 147"/>
                  <a:gd name="T21" fmla="*/ 15 h 165"/>
                  <a:gd name="T22" fmla="*/ 37 w 147"/>
                  <a:gd name="T23" fmla="*/ 6 h 165"/>
                  <a:gd name="T24" fmla="*/ 59 w 147"/>
                  <a:gd name="T25" fmla="*/ 1 h 165"/>
                  <a:gd name="T26" fmla="*/ 80 w 147"/>
                  <a:gd name="T27" fmla="*/ 0 h 165"/>
                  <a:gd name="T28" fmla="*/ 146 w 147"/>
                  <a:gd name="T29" fmla="*/ 5 h 165"/>
                  <a:gd name="T30" fmla="*/ 146 w 147"/>
                  <a:gd name="T31" fmla="*/ 34 h 165"/>
                  <a:gd name="T32" fmla="*/ 80 w 147"/>
                  <a:gd name="T33" fmla="*/ 27 h 165"/>
                  <a:gd name="T34" fmla="*/ 39 w 147"/>
                  <a:gd name="T35" fmla="*/ 51 h 165"/>
                  <a:gd name="T36" fmla="*/ 39 w 147"/>
                  <a:gd name="T37" fmla="*/ 116 h 165"/>
                  <a:gd name="T38" fmla="*/ 50 w 147"/>
                  <a:gd name="T39" fmla="*/ 133 h 165"/>
                  <a:gd name="T40" fmla="*/ 84 w 147"/>
                  <a:gd name="T41" fmla="*/ 138 h 165"/>
                  <a:gd name="T42" fmla="*/ 110 w 147"/>
                  <a:gd name="T43" fmla="*/ 134 h 165"/>
                  <a:gd name="T44" fmla="*/ 110 w 147"/>
                  <a:gd name="T45" fmla="*/ 97 h 165"/>
                  <a:gd name="T46" fmla="*/ 84 w 147"/>
                  <a:gd name="T47" fmla="*/ 97 h 165"/>
                  <a:gd name="T48" fmla="*/ 84 w 147"/>
                  <a:gd name="T49" fmla="*/ 71 h 165"/>
                  <a:gd name="T50" fmla="*/ 147 w 147"/>
                  <a:gd name="T51" fmla="*/ 71 h 165"/>
                  <a:gd name="T52" fmla="*/ 147 w 147"/>
                  <a:gd name="T53" fmla="*/ 15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7" h="165">
                    <a:moveTo>
                      <a:pt x="147" y="155"/>
                    </a:moveTo>
                    <a:cubicBezTo>
                      <a:pt x="138" y="158"/>
                      <a:pt x="128" y="160"/>
                      <a:pt x="115" y="162"/>
                    </a:cubicBezTo>
                    <a:cubicBezTo>
                      <a:pt x="102" y="164"/>
                      <a:pt x="91" y="165"/>
                      <a:pt x="80" y="165"/>
                    </a:cubicBezTo>
                    <a:cubicBezTo>
                      <a:pt x="71" y="165"/>
                      <a:pt x="63" y="165"/>
                      <a:pt x="56" y="164"/>
                    </a:cubicBezTo>
                    <a:cubicBezTo>
                      <a:pt x="49" y="163"/>
                      <a:pt x="42" y="162"/>
                      <a:pt x="34" y="160"/>
                    </a:cubicBezTo>
                    <a:cubicBezTo>
                      <a:pt x="27" y="158"/>
                      <a:pt x="21" y="155"/>
                      <a:pt x="16" y="152"/>
                    </a:cubicBezTo>
                    <a:cubicBezTo>
                      <a:pt x="11" y="148"/>
                      <a:pt x="8" y="144"/>
                      <a:pt x="5" y="138"/>
                    </a:cubicBezTo>
                    <a:cubicBezTo>
                      <a:pt x="2" y="133"/>
                      <a:pt x="0" y="126"/>
                      <a:pt x="0" y="119"/>
                    </a:cubicBezTo>
                    <a:cubicBezTo>
                      <a:pt x="0" y="52"/>
                      <a:pt x="0" y="52"/>
                      <a:pt x="0" y="52"/>
                    </a:cubicBezTo>
                    <a:cubicBezTo>
                      <a:pt x="0" y="43"/>
                      <a:pt x="2" y="36"/>
                      <a:pt x="5" y="30"/>
                    </a:cubicBezTo>
                    <a:cubicBezTo>
                      <a:pt x="9" y="23"/>
                      <a:pt x="13" y="18"/>
                      <a:pt x="18" y="15"/>
                    </a:cubicBezTo>
                    <a:cubicBezTo>
                      <a:pt x="24" y="11"/>
                      <a:pt x="30" y="8"/>
                      <a:pt x="37" y="6"/>
                    </a:cubicBezTo>
                    <a:cubicBezTo>
                      <a:pt x="45" y="3"/>
                      <a:pt x="52" y="2"/>
                      <a:pt x="59" y="1"/>
                    </a:cubicBezTo>
                    <a:cubicBezTo>
                      <a:pt x="66" y="0"/>
                      <a:pt x="73" y="0"/>
                      <a:pt x="80" y="0"/>
                    </a:cubicBezTo>
                    <a:cubicBezTo>
                      <a:pt x="103" y="0"/>
                      <a:pt x="125" y="1"/>
                      <a:pt x="146" y="5"/>
                    </a:cubicBezTo>
                    <a:cubicBezTo>
                      <a:pt x="146" y="34"/>
                      <a:pt x="146" y="34"/>
                      <a:pt x="146" y="34"/>
                    </a:cubicBezTo>
                    <a:cubicBezTo>
                      <a:pt x="126" y="29"/>
                      <a:pt x="104" y="27"/>
                      <a:pt x="80" y="27"/>
                    </a:cubicBezTo>
                    <a:cubicBezTo>
                      <a:pt x="53" y="27"/>
                      <a:pt x="39" y="35"/>
                      <a:pt x="39" y="51"/>
                    </a:cubicBezTo>
                    <a:cubicBezTo>
                      <a:pt x="39" y="116"/>
                      <a:pt x="39" y="116"/>
                      <a:pt x="39" y="116"/>
                    </a:cubicBezTo>
                    <a:cubicBezTo>
                      <a:pt x="39" y="124"/>
                      <a:pt x="43" y="130"/>
                      <a:pt x="50" y="133"/>
                    </a:cubicBezTo>
                    <a:cubicBezTo>
                      <a:pt x="58" y="136"/>
                      <a:pt x="69" y="138"/>
                      <a:pt x="84" y="138"/>
                    </a:cubicBezTo>
                    <a:cubicBezTo>
                      <a:pt x="92" y="138"/>
                      <a:pt x="101" y="136"/>
                      <a:pt x="110" y="134"/>
                    </a:cubicBezTo>
                    <a:cubicBezTo>
                      <a:pt x="110" y="97"/>
                      <a:pt x="110" y="97"/>
                      <a:pt x="110" y="97"/>
                    </a:cubicBezTo>
                    <a:cubicBezTo>
                      <a:pt x="84" y="97"/>
                      <a:pt x="84" y="97"/>
                      <a:pt x="84" y="97"/>
                    </a:cubicBezTo>
                    <a:cubicBezTo>
                      <a:pt x="84" y="71"/>
                      <a:pt x="84" y="71"/>
                      <a:pt x="84" y="71"/>
                    </a:cubicBezTo>
                    <a:cubicBezTo>
                      <a:pt x="147" y="71"/>
                      <a:pt x="147" y="71"/>
                      <a:pt x="147" y="71"/>
                    </a:cubicBezTo>
                    <a:lnTo>
                      <a:pt x="147" y="15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55" name="Freeform 28">
                <a:extLst>
                  <a:ext uri="{FF2B5EF4-FFF2-40B4-BE49-F238E27FC236}">
                    <a16:creationId xmlns:a16="http://schemas.microsoft.com/office/drawing/2014/main" id="{8099CD5B-750D-458E-8F75-C8001CBEDBBE}"/>
                  </a:ext>
                </a:extLst>
              </p:cNvPr>
              <p:cNvSpPr>
                <a:spLocks noEditPoints="1"/>
              </p:cNvSpPr>
              <p:nvPr userDrawn="1"/>
            </p:nvSpPr>
            <p:spPr bwMode="auto">
              <a:xfrm>
                <a:off x="1697852" y="1402799"/>
                <a:ext cx="431129" cy="484862"/>
              </a:xfrm>
              <a:custGeom>
                <a:avLst/>
                <a:gdLst>
                  <a:gd name="T0" fmla="*/ 143 w 143"/>
                  <a:gd name="T1" fmla="*/ 161 h 161"/>
                  <a:gd name="T2" fmla="*/ 98 w 143"/>
                  <a:gd name="T3" fmla="*/ 161 h 161"/>
                  <a:gd name="T4" fmla="*/ 56 w 143"/>
                  <a:gd name="T5" fmla="*/ 98 h 161"/>
                  <a:gd name="T6" fmla="*/ 38 w 143"/>
                  <a:gd name="T7" fmla="*/ 98 h 161"/>
                  <a:gd name="T8" fmla="*/ 38 w 143"/>
                  <a:gd name="T9" fmla="*/ 161 h 161"/>
                  <a:gd name="T10" fmla="*/ 0 w 143"/>
                  <a:gd name="T11" fmla="*/ 161 h 161"/>
                  <a:gd name="T12" fmla="*/ 0 w 143"/>
                  <a:gd name="T13" fmla="*/ 0 h 161"/>
                  <a:gd name="T14" fmla="*/ 72 w 143"/>
                  <a:gd name="T15" fmla="*/ 0 h 161"/>
                  <a:gd name="T16" fmla="*/ 118 w 143"/>
                  <a:gd name="T17" fmla="*/ 8 h 161"/>
                  <a:gd name="T18" fmla="*/ 133 w 143"/>
                  <a:gd name="T19" fmla="*/ 34 h 161"/>
                  <a:gd name="T20" fmla="*/ 133 w 143"/>
                  <a:gd name="T21" fmla="*/ 62 h 161"/>
                  <a:gd name="T22" fmla="*/ 122 w 143"/>
                  <a:gd name="T23" fmla="*/ 85 h 161"/>
                  <a:gd name="T24" fmla="*/ 96 w 143"/>
                  <a:gd name="T25" fmla="*/ 95 h 161"/>
                  <a:gd name="T26" fmla="*/ 143 w 143"/>
                  <a:gd name="T27" fmla="*/ 161 h 161"/>
                  <a:gd name="T28" fmla="*/ 95 w 143"/>
                  <a:gd name="T29" fmla="*/ 55 h 161"/>
                  <a:gd name="T30" fmla="*/ 95 w 143"/>
                  <a:gd name="T31" fmla="*/ 43 h 161"/>
                  <a:gd name="T32" fmla="*/ 90 w 143"/>
                  <a:gd name="T33" fmla="*/ 31 h 161"/>
                  <a:gd name="T34" fmla="*/ 71 w 143"/>
                  <a:gd name="T35" fmla="*/ 28 h 161"/>
                  <a:gd name="T36" fmla="*/ 38 w 143"/>
                  <a:gd name="T37" fmla="*/ 28 h 161"/>
                  <a:gd name="T38" fmla="*/ 38 w 143"/>
                  <a:gd name="T39" fmla="*/ 72 h 161"/>
                  <a:gd name="T40" fmla="*/ 71 w 143"/>
                  <a:gd name="T41" fmla="*/ 72 h 161"/>
                  <a:gd name="T42" fmla="*/ 90 w 143"/>
                  <a:gd name="T43" fmla="*/ 69 h 161"/>
                  <a:gd name="T44" fmla="*/ 95 w 143"/>
                  <a:gd name="T45" fmla="*/ 5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3" h="161">
                    <a:moveTo>
                      <a:pt x="143" y="161"/>
                    </a:moveTo>
                    <a:cubicBezTo>
                      <a:pt x="98" y="161"/>
                      <a:pt x="98" y="161"/>
                      <a:pt x="98" y="161"/>
                    </a:cubicBezTo>
                    <a:cubicBezTo>
                      <a:pt x="56" y="98"/>
                      <a:pt x="56" y="98"/>
                      <a:pt x="56" y="98"/>
                    </a:cubicBezTo>
                    <a:cubicBezTo>
                      <a:pt x="38" y="98"/>
                      <a:pt x="38" y="98"/>
                      <a:pt x="38" y="98"/>
                    </a:cubicBezTo>
                    <a:cubicBezTo>
                      <a:pt x="38" y="161"/>
                      <a:pt x="38" y="161"/>
                      <a:pt x="38" y="161"/>
                    </a:cubicBezTo>
                    <a:cubicBezTo>
                      <a:pt x="0" y="161"/>
                      <a:pt x="0" y="161"/>
                      <a:pt x="0" y="161"/>
                    </a:cubicBezTo>
                    <a:cubicBezTo>
                      <a:pt x="0" y="0"/>
                      <a:pt x="0" y="0"/>
                      <a:pt x="0" y="0"/>
                    </a:cubicBezTo>
                    <a:cubicBezTo>
                      <a:pt x="72" y="0"/>
                      <a:pt x="72" y="0"/>
                      <a:pt x="72" y="0"/>
                    </a:cubicBezTo>
                    <a:cubicBezTo>
                      <a:pt x="93" y="0"/>
                      <a:pt x="108" y="3"/>
                      <a:pt x="118" y="8"/>
                    </a:cubicBezTo>
                    <a:cubicBezTo>
                      <a:pt x="128" y="13"/>
                      <a:pt x="133" y="22"/>
                      <a:pt x="133" y="34"/>
                    </a:cubicBezTo>
                    <a:cubicBezTo>
                      <a:pt x="133" y="62"/>
                      <a:pt x="133" y="62"/>
                      <a:pt x="133" y="62"/>
                    </a:cubicBezTo>
                    <a:cubicBezTo>
                      <a:pt x="133" y="72"/>
                      <a:pt x="129" y="79"/>
                      <a:pt x="122" y="85"/>
                    </a:cubicBezTo>
                    <a:cubicBezTo>
                      <a:pt x="115" y="90"/>
                      <a:pt x="106" y="93"/>
                      <a:pt x="96" y="95"/>
                    </a:cubicBezTo>
                    <a:lnTo>
                      <a:pt x="143" y="161"/>
                    </a:lnTo>
                    <a:close/>
                    <a:moveTo>
                      <a:pt x="95" y="55"/>
                    </a:moveTo>
                    <a:cubicBezTo>
                      <a:pt x="95" y="43"/>
                      <a:pt x="95" y="43"/>
                      <a:pt x="95" y="43"/>
                    </a:cubicBezTo>
                    <a:cubicBezTo>
                      <a:pt x="95" y="37"/>
                      <a:pt x="93" y="33"/>
                      <a:pt x="90" y="31"/>
                    </a:cubicBezTo>
                    <a:cubicBezTo>
                      <a:pt x="86" y="29"/>
                      <a:pt x="80" y="28"/>
                      <a:pt x="71" y="28"/>
                    </a:cubicBezTo>
                    <a:cubicBezTo>
                      <a:pt x="38" y="28"/>
                      <a:pt x="38" y="28"/>
                      <a:pt x="38" y="28"/>
                    </a:cubicBezTo>
                    <a:cubicBezTo>
                      <a:pt x="38" y="72"/>
                      <a:pt x="38" y="72"/>
                      <a:pt x="38" y="72"/>
                    </a:cubicBezTo>
                    <a:cubicBezTo>
                      <a:pt x="71" y="72"/>
                      <a:pt x="71" y="72"/>
                      <a:pt x="71" y="72"/>
                    </a:cubicBezTo>
                    <a:cubicBezTo>
                      <a:pt x="80" y="72"/>
                      <a:pt x="87" y="71"/>
                      <a:pt x="90" y="69"/>
                    </a:cubicBezTo>
                    <a:cubicBezTo>
                      <a:pt x="93" y="66"/>
                      <a:pt x="95" y="61"/>
                      <a:pt x="95" y="55"/>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56" name="Freeform 29">
                <a:extLst>
                  <a:ext uri="{FF2B5EF4-FFF2-40B4-BE49-F238E27FC236}">
                    <a16:creationId xmlns:a16="http://schemas.microsoft.com/office/drawing/2014/main" id="{2915455C-5CA4-41ED-AE0B-97B5ED2C0334}"/>
                  </a:ext>
                </a:extLst>
              </p:cNvPr>
              <p:cNvSpPr>
                <a:spLocks noEditPoints="1"/>
              </p:cNvSpPr>
              <p:nvPr userDrawn="1"/>
            </p:nvSpPr>
            <p:spPr bwMode="auto">
              <a:xfrm>
                <a:off x="2188536" y="1396552"/>
                <a:ext cx="458622" cy="497359"/>
              </a:xfrm>
              <a:custGeom>
                <a:avLst/>
                <a:gdLst>
                  <a:gd name="T0" fmla="*/ 152 w 152"/>
                  <a:gd name="T1" fmla="*/ 48 h 165"/>
                  <a:gd name="T2" fmla="*/ 152 w 152"/>
                  <a:gd name="T3" fmla="*/ 119 h 165"/>
                  <a:gd name="T4" fmla="*/ 145 w 152"/>
                  <a:gd name="T5" fmla="*/ 142 h 165"/>
                  <a:gd name="T6" fmla="*/ 126 w 152"/>
                  <a:gd name="T7" fmla="*/ 156 h 165"/>
                  <a:gd name="T8" fmla="*/ 102 w 152"/>
                  <a:gd name="T9" fmla="*/ 163 h 165"/>
                  <a:gd name="T10" fmla="*/ 76 w 152"/>
                  <a:gd name="T11" fmla="*/ 165 h 165"/>
                  <a:gd name="T12" fmla="*/ 52 w 152"/>
                  <a:gd name="T13" fmla="*/ 163 h 165"/>
                  <a:gd name="T14" fmla="*/ 28 w 152"/>
                  <a:gd name="T15" fmla="*/ 157 h 165"/>
                  <a:gd name="T16" fmla="*/ 8 w 152"/>
                  <a:gd name="T17" fmla="*/ 143 h 165"/>
                  <a:gd name="T18" fmla="*/ 0 w 152"/>
                  <a:gd name="T19" fmla="*/ 119 h 165"/>
                  <a:gd name="T20" fmla="*/ 0 w 152"/>
                  <a:gd name="T21" fmla="*/ 48 h 165"/>
                  <a:gd name="T22" fmla="*/ 6 w 152"/>
                  <a:gd name="T23" fmla="*/ 27 h 165"/>
                  <a:gd name="T24" fmla="*/ 19 w 152"/>
                  <a:gd name="T25" fmla="*/ 12 h 165"/>
                  <a:gd name="T26" fmla="*/ 38 w 152"/>
                  <a:gd name="T27" fmla="*/ 4 h 165"/>
                  <a:gd name="T28" fmla="*/ 58 w 152"/>
                  <a:gd name="T29" fmla="*/ 0 h 165"/>
                  <a:gd name="T30" fmla="*/ 76 w 152"/>
                  <a:gd name="T31" fmla="*/ 0 h 165"/>
                  <a:gd name="T32" fmla="*/ 95 w 152"/>
                  <a:gd name="T33" fmla="*/ 0 h 165"/>
                  <a:gd name="T34" fmla="*/ 115 w 152"/>
                  <a:gd name="T35" fmla="*/ 4 h 165"/>
                  <a:gd name="T36" fmla="*/ 134 w 152"/>
                  <a:gd name="T37" fmla="*/ 12 h 165"/>
                  <a:gd name="T38" fmla="*/ 147 w 152"/>
                  <a:gd name="T39" fmla="*/ 27 h 165"/>
                  <a:gd name="T40" fmla="*/ 152 w 152"/>
                  <a:gd name="T41" fmla="*/ 48 h 165"/>
                  <a:gd name="T42" fmla="*/ 114 w 152"/>
                  <a:gd name="T43" fmla="*/ 119 h 165"/>
                  <a:gd name="T44" fmla="*/ 114 w 152"/>
                  <a:gd name="T45" fmla="*/ 48 h 165"/>
                  <a:gd name="T46" fmla="*/ 104 w 152"/>
                  <a:gd name="T47" fmla="*/ 32 h 165"/>
                  <a:gd name="T48" fmla="*/ 76 w 152"/>
                  <a:gd name="T49" fmla="*/ 27 h 165"/>
                  <a:gd name="T50" fmla="*/ 48 w 152"/>
                  <a:gd name="T51" fmla="*/ 32 h 165"/>
                  <a:gd name="T52" fmla="*/ 39 w 152"/>
                  <a:gd name="T53" fmla="*/ 48 h 165"/>
                  <a:gd name="T54" fmla="*/ 39 w 152"/>
                  <a:gd name="T55" fmla="*/ 119 h 165"/>
                  <a:gd name="T56" fmla="*/ 42 w 152"/>
                  <a:gd name="T57" fmla="*/ 129 h 165"/>
                  <a:gd name="T58" fmla="*/ 51 w 152"/>
                  <a:gd name="T59" fmla="*/ 135 h 165"/>
                  <a:gd name="T60" fmla="*/ 63 w 152"/>
                  <a:gd name="T61" fmla="*/ 137 h 165"/>
                  <a:gd name="T62" fmla="*/ 77 w 152"/>
                  <a:gd name="T63" fmla="*/ 138 h 165"/>
                  <a:gd name="T64" fmla="*/ 90 w 152"/>
                  <a:gd name="T65" fmla="*/ 137 h 165"/>
                  <a:gd name="T66" fmla="*/ 102 w 152"/>
                  <a:gd name="T67" fmla="*/ 135 h 165"/>
                  <a:gd name="T68" fmla="*/ 111 w 152"/>
                  <a:gd name="T69" fmla="*/ 129 h 165"/>
                  <a:gd name="T70" fmla="*/ 114 w 152"/>
                  <a:gd name="T71" fmla="*/ 119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2" h="165">
                    <a:moveTo>
                      <a:pt x="152" y="48"/>
                    </a:moveTo>
                    <a:cubicBezTo>
                      <a:pt x="152" y="119"/>
                      <a:pt x="152" y="119"/>
                      <a:pt x="152" y="119"/>
                    </a:cubicBezTo>
                    <a:cubicBezTo>
                      <a:pt x="152" y="128"/>
                      <a:pt x="150" y="135"/>
                      <a:pt x="145" y="142"/>
                    </a:cubicBezTo>
                    <a:cubicBezTo>
                      <a:pt x="141" y="148"/>
                      <a:pt x="134" y="153"/>
                      <a:pt x="126" y="156"/>
                    </a:cubicBezTo>
                    <a:cubicBezTo>
                      <a:pt x="118" y="159"/>
                      <a:pt x="110" y="162"/>
                      <a:pt x="102" y="163"/>
                    </a:cubicBezTo>
                    <a:cubicBezTo>
                      <a:pt x="94" y="164"/>
                      <a:pt x="85" y="165"/>
                      <a:pt x="76" y="165"/>
                    </a:cubicBezTo>
                    <a:cubicBezTo>
                      <a:pt x="68" y="165"/>
                      <a:pt x="60" y="164"/>
                      <a:pt x="52" y="163"/>
                    </a:cubicBezTo>
                    <a:cubicBezTo>
                      <a:pt x="45" y="162"/>
                      <a:pt x="37" y="160"/>
                      <a:pt x="28" y="157"/>
                    </a:cubicBezTo>
                    <a:cubicBezTo>
                      <a:pt x="20" y="154"/>
                      <a:pt x="13" y="150"/>
                      <a:pt x="8" y="143"/>
                    </a:cubicBezTo>
                    <a:cubicBezTo>
                      <a:pt x="3" y="136"/>
                      <a:pt x="0" y="128"/>
                      <a:pt x="0" y="119"/>
                    </a:cubicBezTo>
                    <a:cubicBezTo>
                      <a:pt x="0" y="48"/>
                      <a:pt x="0" y="48"/>
                      <a:pt x="0" y="48"/>
                    </a:cubicBezTo>
                    <a:cubicBezTo>
                      <a:pt x="0" y="40"/>
                      <a:pt x="2" y="33"/>
                      <a:pt x="6" y="27"/>
                    </a:cubicBezTo>
                    <a:cubicBezTo>
                      <a:pt x="10" y="20"/>
                      <a:pt x="14" y="16"/>
                      <a:pt x="19" y="12"/>
                    </a:cubicBezTo>
                    <a:cubicBezTo>
                      <a:pt x="24" y="9"/>
                      <a:pt x="31" y="6"/>
                      <a:pt x="38" y="4"/>
                    </a:cubicBezTo>
                    <a:cubicBezTo>
                      <a:pt x="46" y="2"/>
                      <a:pt x="52" y="1"/>
                      <a:pt x="58" y="0"/>
                    </a:cubicBezTo>
                    <a:cubicBezTo>
                      <a:pt x="64" y="0"/>
                      <a:pt x="70" y="0"/>
                      <a:pt x="76" y="0"/>
                    </a:cubicBezTo>
                    <a:cubicBezTo>
                      <a:pt x="83" y="0"/>
                      <a:pt x="89" y="0"/>
                      <a:pt x="95" y="0"/>
                    </a:cubicBezTo>
                    <a:cubicBezTo>
                      <a:pt x="101" y="1"/>
                      <a:pt x="107" y="2"/>
                      <a:pt x="115" y="4"/>
                    </a:cubicBezTo>
                    <a:cubicBezTo>
                      <a:pt x="122" y="6"/>
                      <a:pt x="128" y="9"/>
                      <a:pt x="134" y="12"/>
                    </a:cubicBezTo>
                    <a:cubicBezTo>
                      <a:pt x="139" y="16"/>
                      <a:pt x="143" y="20"/>
                      <a:pt x="147" y="27"/>
                    </a:cubicBezTo>
                    <a:cubicBezTo>
                      <a:pt x="151" y="33"/>
                      <a:pt x="152" y="40"/>
                      <a:pt x="152" y="48"/>
                    </a:cubicBezTo>
                    <a:close/>
                    <a:moveTo>
                      <a:pt x="114" y="119"/>
                    </a:moveTo>
                    <a:cubicBezTo>
                      <a:pt x="114" y="48"/>
                      <a:pt x="114" y="48"/>
                      <a:pt x="114" y="48"/>
                    </a:cubicBezTo>
                    <a:cubicBezTo>
                      <a:pt x="114" y="40"/>
                      <a:pt x="111" y="35"/>
                      <a:pt x="104" y="32"/>
                    </a:cubicBezTo>
                    <a:cubicBezTo>
                      <a:pt x="98" y="29"/>
                      <a:pt x="89" y="27"/>
                      <a:pt x="76" y="27"/>
                    </a:cubicBezTo>
                    <a:cubicBezTo>
                      <a:pt x="64" y="27"/>
                      <a:pt x="54" y="29"/>
                      <a:pt x="48" y="32"/>
                    </a:cubicBezTo>
                    <a:cubicBezTo>
                      <a:pt x="42" y="35"/>
                      <a:pt x="39" y="40"/>
                      <a:pt x="39" y="48"/>
                    </a:cubicBezTo>
                    <a:cubicBezTo>
                      <a:pt x="39" y="119"/>
                      <a:pt x="39" y="119"/>
                      <a:pt x="39" y="119"/>
                    </a:cubicBezTo>
                    <a:cubicBezTo>
                      <a:pt x="39" y="123"/>
                      <a:pt x="40" y="126"/>
                      <a:pt x="42" y="129"/>
                    </a:cubicBezTo>
                    <a:cubicBezTo>
                      <a:pt x="44" y="132"/>
                      <a:pt x="47" y="133"/>
                      <a:pt x="51" y="135"/>
                    </a:cubicBezTo>
                    <a:cubicBezTo>
                      <a:pt x="55" y="136"/>
                      <a:pt x="59" y="137"/>
                      <a:pt x="63" y="137"/>
                    </a:cubicBezTo>
                    <a:cubicBezTo>
                      <a:pt x="67" y="137"/>
                      <a:pt x="71" y="138"/>
                      <a:pt x="77" y="138"/>
                    </a:cubicBezTo>
                    <a:cubicBezTo>
                      <a:pt x="82" y="138"/>
                      <a:pt x="87" y="137"/>
                      <a:pt x="90" y="137"/>
                    </a:cubicBezTo>
                    <a:cubicBezTo>
                      <a:pt x="94" y="137"/>
                      <a:pt x="98" y="136"/>
                      <a:pt x="102" y="135"/>
                    </a:cubicBezTo>
                    <a:cubicBezTo>
                      <a:pt x="106" y="133"/>
                      <a:pt x="109" y="132"/>
                      <a:pt x="111" y="129"/>
                    </a:cubicBezTo>
                    <a:cubicBezTo>
                      <a:pt x="113" y="126"/>
                      <a:pt x="114" y="123"/>
                      <a:pt x="114" y="119"/>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57" name="Freeform 30">
                <a:extLst>
                  <a:ext uri="{FF2B5EF4-FFF2-40B4-BE49-F238E27FC236}">
                    <a16:creationId xmlns:a16="http://schemas.microsoft.com/office/drawing/2014/main" id="{62C70695-3DC4-4797-8617-E6A7BD94B4C4}"/>
                  </a:ext>
                </a:extLst>
              </p:cNvPr>
              <p:cNvSpPr>
                <a:spLocks/>
              </p:cNvSpPr>
              <p:nvPr userDrawn="1"/>
            </p:nvSpPr>
            <p:spPr bwMode="auto">
              <a:xfrm>
                <a:off x="2736993" y="1402799"/>
                <a:ext cx="418634" cy="491111"/>
              </a:xfrm>
              <a:custGeom>
                <a:avLst/>
                <a:gdLst>
                  <a:gd name="T0" fmla="*/ 139 w 139"/>
                  <a:gd name="T1" fmla="*/ 0 h 163"/>
                  <a:gd name="T2" fmla="*/ 139 w 139"/>
                  <a:gd name="T3" fmla="*/ 117 h 163"/>
                  <a:gd name="T4" fmla="*/ 70 w 139"/>
                  <a:gd name="T5" fmla="*/ 163 h 163"/>
                  <a:gd name="T6" fmla="*/ 0 w 139"/>
                  <a:gd name="T7" fmla="*/ 117 h 163"/>
                  <a:gd name="T8" fmla="*/ 0 w 139"/>
                  <a:gd name="T9" fmla="*/ 0 h 163"/>
                  <a:gd name="T10" fmla="*/ 39 w 139"/>
                  <a:gd name="T11" fmla="*/ 0 h 163"/>
                  <a:gd name="T12" fmla="*/ 39 w 139"/>
                  <a:gd name="T13" fmla="*/ 117 h 163"/>
                  <a:gd name="T14" fmla="*/ 46 w 139"/>
                  <a:gd name="T15" fmla="*/ 132 h 163"/>
                  <a:gd name="T16" fmla="*/ 70 w 139"/>
                  <a:gd name="T17" fmla="*/ 136 h 163"/>
                  <a:gd name="T18" fmla="*/ 94 w 139"/>
                  <a:gd name="T19" fmla="*/ 132 h 163"/>
                  <a:gd name="T20" fmla="*/ 101 w 139"/>
                  <a:gd name="T21" fmla="*/ 117 h 163"/>
                  <a:gd name="T22" fmla="*/ 101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7"/>
                      <a:pt x="139" y="117"/>
                      <a:pt x="139" y="117"/>
                    </a:cubicBezTo>
                    <a:cubicBezTo>
                      <a:pt x="139" y="148"/>
                      <a:pt x="116" y="163"/>
                      <a:pt x="70" y="163"/>
                    </a:cubicBezTo>
                    <a:cubicBezTo>
                      <a:pt x="23" y="163"/>
                      <a:pt x="0" y="148"/>
                      <a:pt x="0" y="117"/>
                    </a:cubicBezTo>
                    <a:cubicBezTo>
                      <a:pt x="0" y="0"/>
                      <a:pt x="0" y="0"/>
                      <a:pt x="0" y="0"/>
                    </a:cubicBezTo>
                    <a:cubicBezTo>
                      <a:pt x="39" y="0"/>
                      <a:pt x="39" y="0"/>
                      <a:pt x="39" y="0"/>
                    </a:cubicBezTo>
                    <a:cubicBezTo>
                      <a:pt x="39" y="117"/>
                      <a:pt x="39" y="117"/>
                      <a:pt x="39" y="117"/>
                    </a:cubicBezTo>
                    <a:cubicBezTo>
                      <a:pt x="39" y="124"/>
                      <a:pt x="41" y="129"/>
                      <a:pt x="46" y="132"/>
                    </a:cubicBezTo>
                    <a:cubicBezTo>
                      <a:pt x="51" y="134"/>
                      <a:pt x="59" y="136"/>
                      <a:pt x="70" y="136"/>
                    </a:cubicBezTo>
                    <a:cubicBezTo>
                      <a:pt x="81" y="136"/>
                      <a:pt x="89" y="134"/>
                      <a:pt x="94" y="132"/>
                    </a:cubicBezTo>
                    <a:cubicBezTo>
                      <a:pt x="98" y="129"/>
                      <a:pt x="101" y="124"/>
                      <a:pt x="101" y="117"/>
                    </a:cubicBezTo>
                    <a:cubicBezTo>
                      <a:pt x="101" y="0"/>
                      <a:pt x="101" y="0"/>
                      <a:pt x="101"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sp>
            <p:nvSpPr>
              <p:cNvPr id="58" name="Freeform 31">
                <a:extLst>
                  <a:ext uri="{FF2B5EF4-FFF2-40B4-BE49-F238E27FC236}">
                    <a16:creationId xmlns:a16="http://schemas.microsoft.com/office/drawing/2014/main" id="{F77F4960-1BB0-4D78-96F8-0170B0E3985A}"/>
                  </a:ext>
                </a:extLst>
              </p:cNvPr>
              <p:cNvSpPr>
                <a:spLocks noEditPoints="1"/>
              </p:cNvSpPr>
              <p:nvPr userDrawn="1"/>
            </p:nvSpPr>
            <p:spPr bwMode="auto">
              <a:xfrm>
                <a:off x="3244380" y="1402797"/>
                <a:ext cx="386141" cy="484862"/>
              </a:xfrm>
              <a:custGeom>
                <a:avLst/>
                <a:gdLst>
                  <a:gd name="T0" fmla="*/ 128 w 128"/>
                  <a:gd name="T1" fmla="*/ 37 h 161"/>
                  <a:gd name="T2" fmla="*/ 128 w 128"/>
                  <a:gd name="T3" fmla="*/ 67 h 161"/>
                  <a:gd name="T4" fmla="*/ 112 w 128"/>
                  <a:gd name="T5" fmla="*/ 100 h 161"/>
                  <a:gd name="T6" fmla="*/ 60 w 128"/>
                  <a:gd name="T7" fmla="*/ 108 h 161"/>
                  <a:gd name="T8" fmla="*/ 39 w 128"/>
                  <a:gd name="T9" fmla="*/ 108 h 161"/>
                  <a:gd name="T10" fmla="*/ 39 w 128"/>
                  <a:gd name="T11" fmla="*/ 161 h 161"/>
                  <a:gd name="T12" fmla="*/ 0 w 128"/>
                  <a:gd name="T13" fmla="*/ 161 h 161"/>
                  <a:gd name="T14" fmla="*/ 0 w 128"/>
                  <a:gd name="T15" fmla="*/ 0 h 161"/>
                  <a:gd name="T16" fmla="*/ 65 w 128"/>
                  <a:gd name="T17" fmla="*/ 0 h 161"/>
                  <a:gd name="T18" fmla="*/ 113 w 128"/>
                  <a:gd name="T19" fmla="*/ 8 h 161"/>
                  <a:gd name="T20" fmla="*/ 128 w 128"/>
                  <a:gd name="T21" fmla="*/ 37 h 161"/>
                  <a:gd name="T22" fmla="*/ 91 w 128"/>
                  <a:gd name="T23" fmla="*/ 66 h 161"/>
                  <a:gd name="T24" fmla="*/ 91 w 128"/>
                  <a:gd name="T25" fmla="*/ 40 h 161"/>
                  <a:gd name="T26" fmla="*/ 85 w 128"/>
                  <a:gd name="T27" fmla="*/ 30 h 161"/>
                  <a:gd name="T28" fmla="*/ 63 w 128"/>
                  <a:gd name="T29" fmla="*/ 28 h 161"/>
                  <a:gd name="T30" fmla="*/ 39 w 128"/>
                  <a:gd name="T31" fmla="*/ 28 h 161"/>
                  <a:gd name="T32" fmla="*/ 39 w 128"/>
                  <a:gd name="T33" fmla="*/ 82 h 161"/>
                  <a:gd name="T34" fmla="*/ 63 w 128"/>
                  <a:gd name="T35" fmla="*/ 82 h 161"/>
                  <a:gd name="T36" fmla="*/ 85 w 128"/>
                  <a:gd name="T37" fmla="*/ 78 h 161"/>
                  <a:gd name="T38" fmla="*/ 91 w 128"/>
                  <a:gd name="T39" fmla="*/ 6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8" h="161">
                    <a:moveTo>
                      <a:pt x="128" y="37"/>
                    </a:moveTo>
                    <a:cubicBezTo>
                      <a:pt x="128" y="67"/>
                      <a:pt x="128" y="67"/>
                      <a:pt x="128" y="67"/>
                    </a:cubicBezTo>
                    <a:cubicBezTo>
                      <a:pt x="128" y="83"/>
                      <a:pt x="123" y="94"/>
                      <a:pt x="112" y="100"/>
                    </a:cubicBezTo>
                    <a:cubicBezTo>
                      <a:pt x="102" y="106"/>
                      <a:pt x="84" y="108"/>
                      <a:pt x="60" y="108"/>
                    </a:cubicBezTo>
                    <a:cubicBezTo>
                      <a:pt x="39" y="108"/>
                      <a:pt x="39" y="108"/>
                      <a:pt x="39" y="108"/>
                    </a:cubicBezTo>
                    <a:cubicBezTo>
                      <a:pt x="39" y="161"/>
                      <a:pt x="39" y="161"/>
                      <a:pt x="39" y="161"/>
                    </a:cubicBezTo>
                    <a:cubicBezTo>
                      <a:pt x="0" y="161"/>
                      <a:pt x="0" y="161"/>
                      <a:pt x="0" y="161"/>
                    </a:cubicBezTo>
                    <a:cubicBezTo>
                      <a:pt x="0" y="0"/>
                      <a:pt x="0" y="0"/>
                      <a:pt x="0" y="0"/>
                    </a:cubicBezTo>
                    <a:cubicBezTo>
                      <a:pt x="65" y="0"/>
                      <a:pt x="65" y="0"/>
                      <a:pt x="65" y="0"/>
                    </a:cubicBezTo>
                    <a:cubicBezTo>
                      <a:pt x="87" y="0"/>
                      <a:pt x="103" y="3"/>
                      <a:pt x="113" y="8"/>
                    </a:cubicBezTo>
                    <a:cubicBezTo>
                      <a:pt x="123" y="13"/>
                      <a:pt x="128" y="23"/>
                      <a:pt x="128" y="37"/>
                    </a:cubicBezTo>
                    <a:close/>
                    <a:moveTo>
                      <a:pt x="91" y="66"/>
                    </a:moveTo>
                    <a:cubicBezTo>
                      <a:pt x="91" y="40"/>
                      <a:pt x="91" y="40"/>
                      <a:pt x="91" y="40"/>
                    </a:cubicBezTo>
                    <a:cubicBezTo>
                      <a:pt x="91" y="35"/>
                      <a:pt x="89" y="32"/>
                      <a:pt x="85" y="30"/>
                    </a:cubicBezTo>
                    <a:cubicBezTo>
                      <a:pt x="81" y="29"/>
                      <a:pt x="73" y="28"/>
                      <a:pt x="63" y="28"/>
                    </a:cubicBezTo>
                    <a:cubicBezTo>
                      <a:pt x="39" y="28"/>
                      <a:pt x="39" y="28"/>
                      <a:pt x="39" y="28"/>
                    </a:cubicBezTo>
                    <a:cubicBezTo>
                      <a:pt x="39" y="82"/>
                      <a:pt x="39" y="82"/>
                      <a:pt x="39" y="82"/>
                    </a:cubicBezTo>
                    <a:cubicBezTo>
                      <a:pt x="63" y="82"/>
                      <a:pt x="63" y="82"/>
                      <a:pt x="63" y="82"/>
                    </a:cubicBezTo>
                    <a:cubicBezTo>
                      <a:pt x="73" y="82"/>
                      <a:pt x="80" y="81"/>
                      <a:pt x="85" y="78"/>
                    </a:cubicBezTo>
                    <a:cubicBezTo>
                      <a:pt x="89" y="76"/>
                      <a:pt x="91" y="72"/>
                      <a:pt x="91" y="66"/>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a:endParaRPr lang="en-US" dirty="0">
                  <a:solidFill>
                    <a:schemeClr val="accent1"/>
                  </a:solidFill>
                </a:endParaRPr>
              </a:p>
            </p:txBody>
          </p:sp>
        </p:grpSp>
        <p:grpSp>
          <p:nvGrpSpPr>
            <p:cNvPr id="44" name="Group 43">
              <a:extLst>
                <a:ext uri="{FF2B5EF4-FFF2-40B4-BE49-F238E27FC236}">
                  <a16:creationId xmlns:a16="http://schemas.microsoft.com/office/drawing/2014/main" id="{DAFB0047-EEE7-4C6C-AC6D-797233A592CA}"/>
                </a:ext>
              </a:extLst>
            </p:cNvPr>
            <p:cNvGrpSpPr/>
            <p:nvPr userDrawn="1"/>
          </p:nvGrpSpPr>
          <p:grpSpPr>
            <a:xfrm>
              <a:off x="314326" y="209071"/>
              <a:ext cx="2791230" cy="369145"/>
              <a:chOff x="314326" y="326116"/>
              <a:chExt cx="3760726" cy="497363"/>
            </a:xfrm>
            <a:grpFill/>
          </p:grpSpPr>
          <p:sp>
            <p:nvSpPr>
              <p:cNvPr id="45" name="Freeform 10">
                <a:extLst>
                  <a:ext uri="{FF2B5EF4-FFF2-40B4-BE49-F238E27FC236}">
                    <a16:creationId xmlns:a16="http://schemas.microsoft.com/office/drawing/2014/main" id="{25845AF7-E78F-4B08-8830-49B36993DB02}"/>
                  </a:ext>
                </a:extLst>
              </p:cNvPr>
              <p:cNvSpPr>
                <a:spLocks/>
              </p:cNvSpPr>
              <p:nvPr userDrawn="1"/>
            </p:nvSpPr>
            <p:spPr bwMode="auto">
              <a:xfrm>
                <a:off x="314326" y="332366"/>
                <a:ext cx="373645" cy="484863"/>
              </a:xfrm>
              <a:custGeom>
                <a:avLst/>
                <a:gdLst>
                  <a:gd name="T0" fmla="*/ 299 w 299"/>
                  <a:gd name="T1" fmla="*/ 388 h 388"/>
                  <a:gd name="T2" fmla="*/ 0 w 299"/>
                  <a:gd name="T3" fmla="*/ 388 h 388"/>
                  <a:gd name="T4" fmla="*/ 0 w 299"/>
                  <a:gd name="T5" fmla="*/ 0 h 388"/>
                  <a:gd name="T6" fmla="*/ 294 w 299"/>
                  <a:gd name="T7" fmla="*/ 0 h 388"/>
                  <a:gd name="T8" fmla="*/ 294 w 299"/>
                  <a:gd name="T9" fmla="*/ 68 h 388"/>
                  <a:gd name="T10" fmla="*/ 92 w 299"/>
                  <a:gd name="T11" fmla="*/ 68 h 388"/>
                  <a:gd name="T12" fmla="*/ 92 w 299"/>
                  <a:gd name="T13" fmla="*/ 157 h 388"/>
                  <a:gd name="T14" fmla="*/ 275 w 299"/>
                  <a:gd name="T15" fmla="*/ 157 h 388"/>
                  <a:gd name="T16" fmla="*/ 275 w 299"/>
                  <a:gd name="T17" fmla="*/ 222 h 388"/>
                  <a:gd name="T18" fmla="*/ 92 w 299"/>
                  <a:gd name="T19" fmla="*/ 222 h 388"/>
                  <a:gd name="T20" fmla="*/ 92 w 299"/>
                  <a:gd name="T21" fmla="*/ 321 h 388"/>
                  <a:gd name="T22" fmla="*/ 299 w 299"/>
                  <a:gd name="T23" fmla="*/ 321 h 388"/>
                  <a:gd name="T24" fmla="*/ 299 w 299"/>
                  <a:gd name="T25" fmla="*/ 38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9" h="388">
                    <a:moveTo>
                      <a:pt x="299" y="388"/>
                    </a:moveTo>
                    <a:lnTo>
                      <a:pt x="0" y="388"/>
                    </a:lnTo>
                    <a:lnTo>
                      <a:pt x="0" y="0"/>
                    </a:lnTo>
                    <a:lnTo>
                      <a:pt x="294" y="0"/>
                    </a:lnTo>
                    <a:lnTo>
                      <a:pt x="294" y="68"/>
                    </a:lnTo>
                    <a:lnTo>
                      <a:pt x="92" y="68"/>
                    </a:lnTo>
                    <a:lnTo>
                      <a:pt x="92" y="157"/>
                    </a:lnTo>
                    <a:lnTo>
                      <a:pt x="275" y="157"/>
                    </a:lnTo>
                    <a:lnTo>
                      <a:pt x="275" y="222"/>
                    </a:lnTo>
                    <a:lnTo>
                      <a:pt x="92" y="222"/>
                    </a:lnTo>
                    <a:lnTo>
                      <a:pt x="92" y="321"/>
                    </a:lnTo>
                    <a:lnTo>
                      <a:pt x="299" y="321"/>
                    </a:lnTo>
                    <a:lnTo>
                      <a:pt x="299" y="388"/>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46" name="Freeform 11">
                <a:extLst>
                  <a:ext uri="{FF2B5EF4-FFF2-40B4-BE49-F238E27FC236}">
                    <a16:creationId xmlns:a16="http://schemas.microsoft.com/office/drawing/2014/main" id="{9F50CCA8-21E0-4298-9F75-86E83B51CE99}"/>
                  </a:ext>
                </a:extLst>
              </p:cNvPr>
              <p:cNvSpPr>
                <a:spLocks/>
              </p:cNvSpPr>
              <p:nvPr userDrawn="1"/>
            </p:nvSpPr>
            <p:spPr bwMode="auto">
              <a:xfrm>
                <a:off x="787838" y="332366"/>
                <a:ext cx="418634" cy="491113"/>
              </a:xfrm>
              <a:custGeom>
                <a:avLst/>
                <a:gdLst>
                  <a:gd name="T0" fmla="*/ 139 w 139"/>
                  <a:gd name="T1" fmla="*/ 0 h 163"/>
                  <a:gd name="T2" fmla="*/ 139 w 139"/>
                  <a:gd name="T3" fmla="*/ 117 h 163"/>
                  <a:gd name="T4" fmla="*/ 69 w 139"/>
                  <a:gd name="T5" fmla="*/ 163 h 163"/>
                  <a:gd name="T6" fmla="*/ 0 w 139"/>
                  <a:gd name="T7" fmla="*/ 117 h 163"/>
                  <a:gd name="T8" fmla="*/ 0 w 139"/>
                  <a:gd name="T9" fmla="*/ 0 h 163"/>
                  <a:gd name="T10" fmla="*/ 38 w 139"/>
                  <a:gd name="T11" fmla="*/ 0 h 163"/>
                  <a:gd name="T12" fmla="*/ 38 w 139"/>
                  <a:gd name="T13" fmla="*/ 117 h 163"/>
                  <a:gd name="T14" fmla="*/ 46 w 139"/>
                  <a:gd name="T15" fmla="*/ 132 h 163"/>
                  <a:gd name="T16" fmla="*/ 70 w 139"/>
                  <a:gd name="T17" fmla="*/ 136 h 163"/>
                  <a:gd name="T18" fmla="*/ 93 w 139"/>
                  <a:gd name="T19" fmla="*/ 132 h 163"/>
                  <a:gd name="T20" fmla="*/ 100 w 139"/>
                  <a:gd name="T21" fmla="*/ 117 h 163"/>
                  <a:gd name="T22" fmla="*/ 100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7"/>
                      <a:pt x="139" y="117"/>
                      <a:pt x="139" y="117"/>
                    </a:cubicBezTo>
                    <a:cubicBezTo>
                      <a:pt x="139" y="148"/>
                      <a:pt x="116" y="163"/>
                      <a:pt x="69" y="163"/>
                    </a:cubicBezTo>
                    <a:cubicBezTo>
                      <a:pt x="23" y="163"/>
                      <a:pt x="0" y="148"/>
                      <a:pt x="0" y="117"/>
                    </a:cubicBezTo>
                    <a:cubicBezTo>
                      <a:pt x="0" y="0"/>
                      <a:pt x="0" y="0"/>
                      <a:pt x="0" y="0"/>
                    </a:cubicBezTo>
                    <a:cubicBezTo>
                      <a:pt x="38" y="0"/>
                      <a:pt x="38" y="0"/>
                      <a:pt x="38" y="0"/>
                    </a:cubicBezTo>
                    <a:cubicBezTo>
                      <a:pt x="38" y="117"/>
                      <a:pt x="38" y="117"/>
                      <a:pt x="38" y="117"/>
                    </a:cubicBezTo>
                    <a:cubicBezTo>
                      <a:pt x="38" y="124"/>
                      <a:pt x="41" y="129"/>
                      <a:pt x="46" y="132"/>
                    </a:cubicBezTo>
                    <a:cubicBezTo>
                      <a:pt x="50" y="134"/>
                      <a:pt x="58" y="136"/>
                      <a:pt x="70" y="136"/>
                    </a:cubicBezTo>
                    <a:cubicBezTo>
                      <a:pt x="81" y="136"/>
                      <a:pt x="89" y="134"/>
                      <a:pt x="93" y="132"/>
                    </a:cubicBezTo>
                    <a:cubicBezTo>
                      <a:pt x="98" y="129"/>
                      <a:pt x="100" y="124"/>
                      <a:pt x="100" y="117"/>
                    </a:cubicBezTo>
                    <a:cubicBezTo>
                      <a:pt x="100" y="0"/>
                      <a:pt x="100" y="0"/>
                      <a:pt x="100"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48" name="Freeform 12">
                <a:extLst>
                  <a:ext uri="{FF2B5EF4-FFF2-40B4-BE49-F238E27FC236}">
                    <a16:creationId xmlns:a16="http://schemas.microsoft.com/office/drawing/2014/main" id="{95EFB7F8-2292-4F01-97CB-3FD1B5FB2AE2}"/>
                  </a:ext>
                </a:extLst>
              </p:cNvPr>
              <p:cNvSpPr>
                <a:spLocks noEditPoints="1"/>
              </p:cNvSpPr>
              <p:nvPr userDrawn="1"/>
            </p:nvSpPr>
            <p:spPr bwMode="auto">
              <a:xfrm>
                <a:off x="1311898" y="332366"/>
                <a:ext cx="431129" cy="484863"/>
              </a:xfrm>
              <a:custGeom>
                <a:avLst/>
                <a:gdLst>
                  <a:gd name="T0" fmla="*/ 143 w 143"/>
                  <a:gd name="T1" fmla="*/ 161 h 161"/>
                  <a:gd name="T2" fmla="*/ 98 w 143"/>
                  <a:gd name="T3" fmla="*/ 161 h 161"/>
                  <a:gd name="T4" fmla="*/ 56 w 143"/>
                  <a:gd name="T5" fmla="*/ 98 h 161"/>
                  <a:gd name="T6" fmla="*/ 38 w 143"/>
                  <a:gd name="T7" fmla="*/ 98 h 161"/>
                  <a:gd name="T8" fmla="*/ 38 w 143"/>
                  <a:gd name="T9" fmla="*/ 161 h 161"/>
                  <a:gd name="T10" fmla="*/ 0 w 143"/>
                  <a:gd name="T11" fmla="*/ 161 h 161"/>
                  <a:gd name="T12" fmla="*/ 0 w 143"/>
                  <a:gd name="T13" fmla="*/ 0 h 161"/>
                  <a:gd name="T14" fmla="*/ 72 w 143"/>
                  <a:gd name="T15" fmla="*/ 0 h 161"/>
                  <a:gd name="T16" fmla="*/ 118 w 143"/>
                  <a:gd name="T17" fmla="*/ 8 h 161"/>
                  <a:gd name="T18" fmla="*/ 133 w 143"/>
                  <a:gd name="T19" fmla="*/ 34 h 161"/>
                  <a:gd name="T20" fmla="*/ 133 w 143"/>
                  <a:gd name="T21" fmla="*/ 62 h 161"/>
                  <a:gd name="T22" fmla="*/ 122 w 143"/>
                  <a:gd name="T23" fmla="*/ 85 h 161"/>
                  <a:gd name="T24" fmla="*/ 96 w 143"/>
                  <a:gd name="T25" fmla="*/ 95 h 161"/>
                  <a:gd name="T26" fmla="*/ 143 w 143"/>
                  <a:gd name="T27" fmla="*/ 161 h 161"/>
                  <a:gd name="T28" fmla="*/ 95 w 143"/>
                  <a:gd name="T29" fmla="*/ 55 h 161"/>
                  <a:gd name="T30" fmla="*/ 95 w 143"/>
                  <a:gd name="T31" fmla="*/ 43 h 161"/>
                  <a:gd name="T32" fmla="*/ 90 w 143"/>
                  <a:gd name="T33" fmla="*/ 31 h 161"/>
                  <a:gd name="T34" fmla="*/ 72 w 143"/>
                  <a:gd name="T35" fmla="*/ 28 h 161"/>
                  <a:gd name="T36" fmla="*/ 38 w 143"/>
                  <a:gd name="T37" fmla="*/ 28 h 161"/>
                  <a:gd name="T38" fmla="*/ 38 w 143"/>
                  <a:gd name="T39" fmla="*/ 72 h 161"/>
                  <a:gd name="T40" fmla="*/ 72 w 143"/>
                  <a:gd name="T41" fmla="*/ 72 h 161"/>
                  <a:gd name="T42" fmla="*/ 90 w 143"/>
                  <a:gd name="T43" fmla="*/ 69 h 161"/>
                  <a:gd name="T44" fmla="*/ 95 w 143"/>
                  <a:gd name="T45" fmla="*/ 5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3" h="161">
                    <a:moveTo>
                      <a:pt x="143" y="161"/>
                    </a:moveTo>
                    <a:cubicBezTo>
                      <a:pt x="98" y="161"/>
                      <a:pt x="98" y="161"/>
                      <a:pt x="98" y="161"/>
                    </a:cubicBezTo>
                    <a:cubicBezTo>
                      <a:pt x="56" y="98"/>
                      <a:pt x="56" y="98"/>
                      <a:pt x="56" y="98"/>
                    </a:cubicBezTo>
                    <a:cubicBezTo>
                      <a:pt x="38" y="98"/>
                      <a:pt x="38" y="98"/>
                      <a:pt x="38" y="98"/>
                    </a:cubicBezTo>
                    <a:cubicBezTo>
                      <a:pt x="38" y="161"/>
                      <a:pt x="38" y="161"/>
                      <a:pt x="38" y="161"/>
                    </a:cubicBezTo>
                    <a:cubicBezTo>
                      <a:pt x="0" y="161"/>
                      <a:pt x="0" y="161"/>
                      <a:pt x="0" y="161"/>
                    </a:cubicBezTo>
                    <a:cubicBezTo>
                      <a:pt x="0" y="0"/>
                      <a:pt x="0" y="0"/>
                      <a:pt x="0" y="0"/>
                    </a:cubicBezTo>
                    <a:cubicBezTo>
                      <a:pt x="72" y="0"/>
                      <a:pt x="72" y="0"/>
                      <a:pt x="72" y="0"/>
                    </a:cubicBezTo>
                    <a:cubicBezTo>
                      <a:pt x="93" y="0"/>
                      <a:pt x="109" y="3"/>
                      <a:pt x="118" y="8"/>
                    </a:cubicBezTo>
                    <a:cubicBezTo>
                      <a:pt x="128" y="13"/>
                      <a:pt x="133" y="22"/>
                      <a:pt x="133" y="34"/>
                    </a:cubicBezTo>
                    <a:cubicBezTo>
                      <a:pt x="133" y="62"/>
                      <a:pt x="133" y="62"/>
                      <a:pt x="133" y="62"/>
                    </a:cubicBezTo>
                    <a:cubicBezTo>
                      <a:pt x="133" y="72"/>
                      <a:pt x="129" y="80"/>
                      <a:pt x="122" y="85"/>
                    </a:cubicBezTo>
                    <a:cubicBezTo>
                      <a:pt x="115" y="90"/>
                      <a:pt x="107" y="93"/>
                      <a:pt x="96" y="95"/>
                    </a:cubicBezTo>
                    <a:lnTo>
                      <a:pt x="143" y="161"/>
                    </a:lnTo>
                    <a:close/>
                    <a:moveTo>
                      <a:pt x="95" y="55"/>
                    </a:moveTo>
                    <a:cubicBezTo>
                      <a:pt x="95" y="43"/>
                      <a:pt x="95" y="43"/>
                      <a:pt x="95" y="43"/>
                    </a:cubicBezTo>
                    <a:cubicBezTo>
                      <a:pt x="95" y="37"/>
                      <a:pt x="93" y="33"/>
                      <a:pt x="90" y="31"/>
                    </a:cubicBezTo>
                    <a:cubicBezTo>
                      <a:pt x="86" y="29"/>
                      <a:pt x="80" y="28"/>
                      <a:pt x="72" y="28"/>
                    </a:cubicBezTo>
                    <a:cubicBezTo>
                      <a:pt x="38" y="28"/>
                      <a:pt x="38" y="28"/>
                      <a:pt x="38" y="28"/>
                    </a:cubicBezTo>
                    <a:cubicBezTo>
                      <a:pt x="38" y="72"/>
                      <a:pt x="38" y="72"/>
                      <a:pt x="38" y="72"/>
                    </a:cubicBezTo>
                    <a:cubicBezTo>
                      <a:pt x="72" y="72"/>
                      <a:pt x="72" y="72"/>
                      <a:pt x="72" y="72"/>
                    </a:cubicBezTo>
                    <a:cubicBezTo>
                      <a:pt x="81" y="72"/>
                      <a:pt x="87" y="71"/>
                      <a:pt x="90" y="69"/>
                    </a:cubicBezTo>
                    <a:cubicBezTo>
                      <a:pt x="93" y="66"/>
                      <a:pt x="95" y="62"/>
                      <a:pt x="95" y="55"/>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49" name="Freeform 13">
                <a:extLst>
                  <a:ext uri="{FF2B5EF4-FFF2-40B4-BE49-F238E27FC236}">
                    <a16:creationId xmlns:a16="http://schemas.microsoft.com/office/drawing/2014/main" id="{506A292B-19F3-41B4-AA13-24EAF2EDD591}"/>
                  </a:ext>
                </a:extLst>
              </p:cNvPr>
              <p:cNvSpPr>
                <a:spLocks noEditPoints="1"/>
              </p:cNvSpPr>
              <p:nvPr userDrawn="1"/>
            </p:nvSpPr>
            <p:spPr bwMode="auto">
              <a:xfrm>
                <a:off x="1800735" y="332366"/>
                <a:ext cx="493611" cy="484863"/>
              </a:xfrm>
              <a:custGeom>
                <a:avLst/>
                <a:gdLst>
                  <a:gd name="T0" fmla="*/ 395 w 395"/>
                  <a:gd name="T1" fmla="*/ 388 h 388"/>
                  <a:gd name="T2" fmla="*/ 301 w 395"/>
                  <a:gd name="T3" fmla="*/ 388 h 388"/>
                  <a:gd name="T4" fmla="*/ 268 w 395"/>
                  <a:gd name="T5" fmla="*/ 285 h 388"/>
                  <a:gd name="T6" fmla="*/ 125 w 395"/>
                  <a:gd name="T7" fmla="*/ 285 h 388"/>
                  <a:gd name="T8" fmla="*/ 92 w 395"/>
                  <a:gd name="T9" fmla="*/ 388 h 388"/>
                  <a:gd name="T10" fmla="*/ 0 w 395"/>
                  <a:gd name="T11" fmla="*/ 388 h 388"/>
                  <a:gd name="T12" fmla="*/ 142 w 395"/>
                  <a:gd name="T13" fmla="*/ 0 h 388"/>
                  <a:gd name="T14" fmla="*/ 256 w 395"/>
                  <a:gd name="T15" fmla="*/ 0 h 388"/>
                  <a:gd name="T16" fmla="*/ 395 w 395"/>
                  <a:gd name="T17" fmla="*/ 388 h 388"/>
                  <a:gd name="T18" fmla="*/ 246 w 395"/>
                  <a:gd name="T19" fmla="*/ 224 h 388"/>
                  <a:gd name="T20" fmla="*/ 198 w 395"/>
                  <a:gd name="T21" fmla="*/ 77 h 388"/>
                  <a:gd name="T22" fmla="*/ 195 w 395"/>
                  <a:gd name="T23" fmla="*/ 77 h 388"/>
                  <a:gd name="T24" fmla="*/ 147 w 395"/>
                  <a:gd name="T25" fmla="*/ 224 h 388"/>
                  <a:gd name="T26" fmla="*/ 246 w 395"/>
                  <a:gd name="T27" fmla="*/ 224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5" h="388">
                    <a:moveTo>
                      <a:pt x="395" y="388"/>
                    </a:moveTo>
                    <a:lnTo>
                      <a:pt x="301" y="388"/>
                    </a:lnTo>
                    <a:lnTo>
                      <a:pt x="268" y="285"/>
                    </a:lnTo>
                    <a:lnTo>
                      <a:pt x="125" y="285"/>
                    </a:lnTo>
                    <a:lnTo>
                      <a:pt x="92" y="388"/>
                    </a:lnTo>
                    <a:lnTo>
                      <a:pt x="0" y="388"/>
                    </a:lnTo>
                    <a:lnTo>
                      <a:pt x="142" y="0"/>
                    </a:lnTo>
                    <a:lnTo>
                      <a:pt x="256" y="0"/>
                    </a:lnTo>
                    <a:lnTo>
                      <a:pt x="395" y="388"/>
                    </a:lnTo>
                    <a:close/>
                    <a:moveTo>
                      <a:pt x="246" y="224"/>
                    </a:moveTo>
                    <a:lnTo>
                      <a:pt x="198" y="77"/>
                    </a:lnTo>
                    <a:lnTo>
                      <a:pt x="195" y="77"/>
                    </a:lnTo>
                    <a:lnTo>
                      <a:pt x="147" y="224"/>
                    </a:lnTo>
                    <a:lnTo>
                      <a:pt x="246" y="224"/>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50" name="Freeform 14">
                <a:extLst>
                  <a:ext uri="{FF2B5EF4-FFF2-40B4-BE49-F238E27FC236}">
                    <a16:creationId xmlns:a16="http://schemas.microsoft.com/office/drawing/2014/main" id="{A9F3F879-D1B4-4281-AA1B-9CC978728586}"/>
                  </a:ext>
                </a:extLst>
              </p:cNvPr>
              <p:cNvSpPr>
                <a:spLocks/>
              </p:cNvSpPr>
              <p:nvPr userDrawn="1"/>
            </p:nvSpPr>
            <p:spPr bwMode="auto">
              <a:xfrm>
                <a:off x="2349541" y="326116"/>
                <a:ext cx="394889" cy="497359"/>
              </a:xfrm>
              <a:custGeom>
                <a:avLst/>
                <a:gdLst>
                  <a:gd name="T0" fmla="*/ 131 w 131"/>
                  <a:gd name="T1" fmla="*/ 106 h 165"/>
                  <a:gd name="T2" fmla="*/ 131 w 131"/>
                  <a:gd name="T3" fmla="*/ 117 h 165"/>
                  <a:gd name="T4" fmla="*/ 126 w 131"/>
                  <a:gd name="T5" fmla="*/ 141 h 165"/>
                  <a:gd name="T6" fmla="*/ 111 w 131"/>
                  <a:gd name="T7" fmla="*/ 156 h 165"/>
                  <a:gd name="T8" fmla="*/ 88 w 131"/>
                  <a:gd name="T9" fmla="*/ 163 h 165"/>
                  <a:gd name="T10" fmla="*/ 60 w 131"/>
                  <a:gd name="T11" fmla="*/ 165 h 165"/>
                  <a:gd name="T12" fmla="*/ 3 w 131"/>
                  <a:gd name="T13" fmla="*/ 161 h 165"/>
                  <a:gd name="T14" fmla="*/ 3 w 131"/>
                  <a:gd name="T15" fmla="*/ 131 h 165"/>
                  <a:gd name="T16" fmla="*/ 60 w 131"/>
                  <a:gd name="T17" fmla="*/ 138 h 165"/>
                  <a:gd name="T18" fmla="*/ 92 w 131"/>
                  <a:gd name="T19" fmla="*/ 121 h 165"/>
                  <a:gd name="T20" fmla="*/ 92 w 131"/>
                  <a:gd name="T21" fmla="*/ 111 h 165"/>
                  <a:gd name="T22" fmla="*/ 88 w 131"/>
                  <a:gd name="T23" fmla="*/ 99 h 165"/>
                  <a:gd name="T24" fmla="*/ 71 w 131"/>
                  <a:gd name="T25" fmla="*/ 94 h 165"/>
                  <a:gd name="T26" fmla="*/ 53 w 131"/>
                  <a:gd name="T27" fmla="*/ 94 h 165"/>
                  <a:gd name="T28" fmla="*/ 0 w 131"/>
                  <a:gd name="T29" fmla="*/ 53 h 165"/>
                  <a:gd name="T30" fmla="*/ 0 w 131"/>
                  <a:gd name="T31" fmla="*/ 41 h 165"/>
                  <a:gd name="T32" fmla="*/ 17 w 131"/>
                  <a:gd name="T33" fmla="*/ 10 h 165"/>
                  <a:gd name="T34" fmla="*/ 73 w 131"/>
                  <a:gd name="T35" fmla="*/ 0 h 165"/>
                  <a:gd name="T36" fmla="*/ 123 w 131"/>
                  <a:gd name="T37" fmla="*/ 3 h 165"/>
                  <a:gd name="T38" fmla="*/ 123 w 131"/>
                  <a:gd name="T39" fmla="*/ 32 h 165"/>
                  <a:gd name="T40" fmla="*/ 72 w 131"/>
                  <a:gd name="T41" fmla="*/ 27 h 165"/>
                  <a:gd name="T42" fmla="*/ 46 w 131"/>
                  <a:gd name="T43" fmla="*/ 31 h 165"/>
                  <a:gd name="T44" fmla="*/ 38 w 131"/>
                  <a:gd name="T45" fmla="*/ 41 h 165"/>
                  <a:gd name="T46" fmla="*/ 38 w 131"/>
                  <a:gd name="T47" fmla="*/ 53 h 165"/>
                  <a:gd name="T48" fmla="*/ 60 w 131"/>
                  <a:gd name="T49" fmla="*/ 65 h 165"/>
                  <a:gd name="T50" fmla="*/ 79 w 131"/>
                  <a:gd name="T51" fmla="*/ 65 h 165"/>
                  <a:gd name="T52" fmla="*/ 119 w 131"/>
                  <a:gd name="T53" fmla="*/ 76 h 165"/>
                  <a:gd name="T54" fmla="*/ 131 w 131"/>
                  <a:gd name="T55" fmla="*/ 106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5">
                    <a:moveTo>
                      <a:pt x="131" y="106"/>
                    </a:moveTo>
                    <a:cubicBezTo>
                      <a:pt x="131" y="117"/>
                      <a:pt x="131" y="117"/>
                      <a:pt x="131" y="117"/>
                    </a:cubicBezTo>
                    <a:cubicBezTo>
                      <a:pt x="131" y="127"/>
                      <a:pt x="129" y="135"/>
                      <a:pt x="126" y="141"/>
                    </a:cubicBezTo>
                    <a:cubicBezTo>
                      <a:pt x="122" y="148"/>
                      <a:pt x="117" y="153"/>
                      <a:pt x="111" y="156"/>
                    </a:cubicBezTo>
                    <a:cubicBezTo>
                      <a:pt x="104" y="159"/>
                      <a:pt x="96" y="162"/>
                      <a:pt x="88" y="163"/>
                    </a:cubicBezTo>
                    <a:cubicBezTo>
                      <a:pt x="80" y="164"/>
                      <a:pt x="71" y="165"/>
                      <a:pt x="60" y="165"/>
                    </a:cubicBezTo>
                    <a:cubicBezTo>
                      <a:pt x="45" y="165"/>
                      <a:pt x="26" y="164"/>
                      <a:pt x="3" y="161"/>
                    </a:cubicBezTo>
                    <a:cubicBezTo>
                      <a:pt x="3" y="131"/>
                      <a:pt x="3" y="131"/>
                      <a:pt x="3" y="131"/>
                    </a:cubicBezTo>
                    <a:cubicBezTo>
                      <a:pt x="30" y="136"/>
                      <a:pt x="49" y="138"/>
                      <a:pt x="60" y="138"/>
                    </a:cubicBezTo>
                    <a:cubicBezTo>
                      <a:pt x="82" y="138"/>
                      <a:pt x="92" y="132"/>
                      <a:pt x="92" y="121"/>
                    </a:cubicBezTo>
                    <a:cubicBezTo>
                      <a:pt x="92" y="111"/>
                      <a:pt x="92" y="111"/>
                      <a:pt x="92" y="111"/>
                    </a:cubicBezTo>
                    <a:cubicBezTo>
                      <a:pt x="92" y="106"/>
                      <a:pt x="91" y="102"/>
                      <a:pt x="88" y="99"/>
                    </a:cubicBezTo>
                    <a:cubicBezTo>
                      <a:pt x="85" y="96"/>
                      <a:pt x="80" y="94"/>
                      <a:pt x="71" y="94"/>
                    </a:cubicBezTo>
                    <a:cubicBezTo>
                      <a:pt x="53" y="94"/>
                      <a:pt x="53" y="94"/>
                      <a:pt x="53" y="94"/>
                    </a:cubicBezTo>
                    <a:cubicBezTo>
                      <a:pt x="17" y="94"/>
                      <a:pt x="0" y="81"/>
                      <a:pt x="0" y="53"/>
                    </a:cubicBezTo>
                    <a:cubicBezTo>
                      <a:pt x="0" y="41"/>
                      <a:pt x="0" y="41"/>
                      <a:pt x="0" y="41"/>
                    </a:cubicBezTo>
                    <a:cubicBezTo>
                      <a:pt x="0" y="27"/>
                      <a:pt x="6" y="17"/>
                      <a:pt x="17" y="10"/>
                    </a:cubicBezTo>
                    <a:cubicBezTo>
                      <a:pt x="29" y="3"/>
                      <a:pt x="47" y="0"/>
                      <a:pt x="73" y="0"/>
                    </a:cubicBezTo>
                    <a:cubicBezTo>
                      <a:pt x="85" y="0"/>
                      <a:pt x="102" y="1"/>
                      <a:pt x="123" y="3"/>
                    </a:cubicBezTo>
                    <a:cubicBezTo>
                      <a:pt x="123" y="32"/>
                      <a:pt x="123" y="32"/>
                      <a:pt x="123" y="32"/>
                    </a:cubicBezTo>
                    <a:cubicBezTo>
                      <a:pt x="98" y="29"/>
                      <a:pt x="81" y="27"/>
                      <a:pt x="72" y="27"/>
                    </a:cubicBezTo>
                    <a:cubicBezTo>
                      <a:pt x="59" y="27"/>
                      <a:pt x="50" y="28"/>
                      <a:pt x="46" y="31"/>
                    </a:cubicBezTo>
                    <a:cubicBezTo>
                      <a:pt x="41" y="33"/>
                      <a:pt x="38" y="36"/>
                      <a:pt x="38" y="41"/>
                    </a:cubicBezTo>
                    <a:cubicBezTo>
                      <a:pt x="38" y="53"/>
                      <a:pt x="38" y="53"/>
                      <a:pt x="38" y="53"/>
                    </a:cubicBezTo>
                    <a:cubicBezTo>
                      <a:pt x="38" y="61"/>
                      <a:pt x="45" y="65"/>
                      <a:pt x="60" y="65"/>
                    </a:cubicBezTo>
                    <a:cubicBezTo>
                      <a:pt x="79" y="65"/>
                      <a:pt x="79" y="65"/>
                      <a:pt x="79" y="65"/>
                    </a:cubicBezTo>
                    <a:cubicBezTo>
                      <a:pt x="98" y="65"/>
                      <a:pt x="111" y="69"/>
                      <a:pt x="119" y="76"/>
                    </a:cubicBezTo>
                    <a:cubicBezTo>
                      <a:pt x="127" y="83"/>
                      <a:pt x="131" y="93"/>
                      <a:pt x="131" y="106"/>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51" name="Rectangle 15">
                <a:extLst>
                  <a:ext uri="{FF2B5EF4-FFF2-40B4-BE49-F238E27FC236}">
                    <a16:creationId xmlns:a16="http://schemas.microsoft.com/office/drawing/2014/main" id="{7DC173A5-DEFA-4242-979B-29A364D0F570}"/>
                  </a:ext>
                </a:extLst>
              </p:cNvPr>
              <p:cNvSpPr>
                <a:spLocks noChangeArrowheads="1"/>
              </p:cNvSpPr>
              <p:nvPr userDrawn="1"/>
            </p:nvSpPr>
            <p:spPr bwMode="auto">
              <a:xfrm>
                <a:off x="2854100" y="332365"/>
                <a:ext cx="114968" cy="484863"/>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52" name="Freeform 16">
                <a:extLst>
                  <a:ext uri="{FF2B5EF4-FFF2-40B4-BE49-F238E27FC236}">
                    <a16:creationId xmlns:a16="http://schemas.microsoft.com/office/drawing/2014/main" id="{F6B36562-A5AA-48B9-8F1D-9C3661A5E8D8}"/>
                  </a:ext>
                </a:extLst>
              </p:cNvPr>
              <p:cNvSpPr>
                <a:spLocks noEditPoints="1"/>
              </p:cNvSpPr>
              <p:nvPr userDrawn="1"/>
            </p:nvSpPr>
            <p:spPr bwMode="auto">
              <a:xfrm>
                <a:off x="3049957" y="332365"/>
                <a:ext cx="493611" cy="484863"/>
              </a:xfrm>
              <a:custGeom>
                <a:avLst/>
                <a:gdLst>
                  <a:gd name="T0" fmla="*/ 395 w 395"/>
                  <a:gd name="T1" fmla="*/ 388 h 388"/>
                  <a:gd name="T2" fmla="*/ 301 w 395"/>
                  <a:gd name="T3" fmla="*/ 388 h 388"/>
                  <a:gd name="T4" fmla="*/ 268 w 395"/>
                  <a:gd name="T5" fmla="*/ 285 h 388"/>
                  <a:gd name="T6" fmla="*/ 125 w 395"/>
                  <a:gd name="T7" fmla="*/ 285 h 388"/>
                  <a:gd name="T8" fmla="*/ 92 w 395"/>
                  <a:gd name="T9" fmla="*/ 388 h 388"/>
                  <a:gd name="T10" fmla="*/ 0 w 395"/>
                  <a:gd name="T11" fmla="*/ 388 h 388"/>
                  <a:gd name="T12" fmla="*/ 142 w 395"/>
                  <a:gd name="T13" fmla="*/ 0 h 388"/>
                  <a:gd name="T14" fmla="*/ 256 w 395"/>
                  <a:gd name="T15" fmla="*/ 0 h 388"/>
                  <a:gd name="T16" fmla="*/ 395 w 395"/>
                  <a:gd name="T17" fmla="*/ 388 h 388"/>
                  <a:gd name="T18" fmla="*/ 246 w 395"/>
                  <a:gd name="T19" fmla="*/ 224 h 388"/>
                  <a:gd name="T20" fmla="*/ 198 w 395"/>
                  <a:gd name="T21" fmla="*/ 77 h 388"/>
                  <a:gd name="T22" fmla="*/ 195 w 395"/>
                  <a:gd name="T23" fmla="*/ 77 h 388"/>
                  <a:gd name="T24" fmla="*/ 147 w 395"/>
                  <a:gd name="T25" fmla="*/ 224 h 388"/>
                  <a:gd name="T26" fmla="*/ 246 w 395"/>
                  <a:gd name="T27" fmla="*/ 224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5" h="388">
                    <a:moveTo>
                      <a:pt x="395" y="388"/>
                    </a:moveTo>
                    <a:lnTo>
                      <a:pt x="301" y="388"/>
                    </a:lnTo>
                    <a:lnTo>
                      <a:pt x="268" y="285"/>
                    </a:lnTo>
                    <a:lnTo>
                      <a:pt x="125" y="285"/>
                    </a:lnTo>
                    <a:lnTo>
                      <a:pt x="92" y="388"/>
                    </a:lnTo>
                    <a:lnTo>
                      <a:pt x="0" y="388"/>
                    </a:lnTo>
                    <a:lnTo>
                      <a:pt x="142" y="0"/>
                    </a:lnTo>
                    <a:lnTo>
                      <a:pt x="256" y="0"/>
                    </a:lnTo>
                    <a:lnTo>
                      <a:pt x="395" y="388"/>
                    </a:lnTo>
                    <a:close/>
                    <a:moveTo>
                      <a:pt x="246" y="224"/>
                    </a:moveTo>
                    <a:lnTo>
                      <a:pt x="198" y="77"/>
                    </a:lnTo>
                    <a:lnTo>
                      <a:pt x="195" y="77"/>
                    </a:lnTo>
                    <a:lnTo>
                      <a:pt x="147" y="224"/>
                    </a:lnTo>
                    <a:lnTo>
                      <a:pt x="246" y="224"/>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sp>
            <p:nvSpPr>
              <p:cNvPr id="53" name="Freeform 17">
                <a:extLst>
                  <a:ext uri="{FF2B5EF4-FFF2-40B4-BE49-F238E27FC236}">
                    <a16:creationId xmlns:a16="http://schemas.microsoft.com/office/drawing/2014/main" id="{00BF1AFD-F2B8-4E31-8A2E-85B4F4B6F569}"/>
                  </a:ext>
                </a:extLst>
              </p:cNvPr>
              <p:cNvSpPr>
                <a:spLocks/>
              </p:cNvSpPr>
              <p:nvPr userDrawn="1"/>
            </p:nvSpPr>
            <p:spPr bwMode="auto">
              <a:xfrm>
                <a:off x="3620180" y="332365"/>
                <a:ext cx="454872" cy="484863"/>
              </a:xfrm>
              <a:custGeom>
                <a:avLst/>
                <a:gdLst>
                  <a:gd name="T0" fmla="*/ 364 w 364"/>
                  <a:gd name="T1" fmla="*/ 388 h 388"/>
                  <a:gd name="T2" fmla="*/ 270 w 364"/>
                  <a:gd name="T3" fmla="*/ 388 h 388"/>
                  <a:gd name="T4" fmla="*/ 82 w 364"/>
                  <a:gd name="T5" fmla="*/ 121 h 388"/>
                  <a:gd name="T6" fmla="*/ 82 w 364"/>
                  <a:gd name="T7" fmla="*/ 388 h 388"/>
                  <a:gd name="T8" fmla="*/ 0 w 364"/>
                  <a:gd name="T9" fmla="*/ 388 h 388"/>
                  <a:gd name="T10" fmla="*/ 0 w 364"/>
                  <a:gd name="T11" fmla="*/ 0 h 388"/>
                  <a:gd name="T12" fmla="*/ 94 w 364"/>
                  <a:gd name="T13" fmla="*/ 0 h 388"/>
                  <a:gd name="T14" fmla="*/ 279 w 364"/>
                  <a:gd name="T15" fmla="*/ 265 h 388"/>
                  <a:gd name="T16" fmla="*/ 279 w 364"/>
                  <a:gd name="T17" fmla="*/ 0 h 388"/>
                  <a:gd name="T18" fmla="*/ 364 w 364"/>
                  <a:gd name="T19" fmla="*/ 0 h 388"/>
                  <a:gd name="T20" fmla="*/ 364 w 364"/>
                  <a:gd name="T21" fmla="*/ 38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388">
                    <a:moveTo>
                      <a:pt x="364" y="388"/>
                    </a:moveTo>
                    <a:lnTo>
                      <a:pt x="270" y="388"/>
                    </a:lnTo>
                    <a:lnTo>
                      <a:pt x="82" y="121"/>
                    </a:lnTo>
                    <a:lnTo>
                      <a:pt x="82" y="388"/>
                    </a:lnTo>
                    <a:lnTo>
                      <a:pt x="0" y="388"/>
                    </a:lnTo>
                    <a:lnTo>
                      <a:pt x="0" y="0"/>
                    </a:lnTo>
                    <a:lnTo>
                      <a:pt x="94" y="0"/>
                    </a:lnTo>
                    <a:lnTo>
                      <a:pt x="279" y="265"/>
                    </a:lnTo>
                    <a:lnTo>
                      <a:pt x="279" y="0"/>
                    </a:lnTo>
                    <a:lnTo>
                      <a:pt x="364" y="0"/>
                    </a:lnTo>
                    <a:lnTo>
                      <a:pt x="364" y="388"/>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accent1"/>
                  </a:solidFill>
                </a:endParaRPr>
              </a:p>
            </p:txBody>
          </p:sp>
        </p:grpSp>
      </p:grpSp>
      <p:sp>
        <p:nvSpPr>
          <p:cNvPr id="93" name="Rectangle: Rounded Corners 92">
            <a:extLst>
              <a:ext uri="{FF2B5EF4-FFF2-40B4-BE49-F238E27FC236}">
                <a16:creationId xmlns:a16="http://schemas.microsoft.com/office/drawing/2014/main" id="{687D92D9-D514-4304-916C-C2F194DC6BAA}"/>
              </a:ext>
            </a:extLst>
          </p:cNvPr>
          <p:cNvSpPr/>
          <p:nvPr userDrawn="1"/>
        </p:nvSpPr>
        <p:spPr>
          <a:xfrm rot="2700000">
            <a:off x="6976012" y="4607187"/>
            <a:ext cx="1071472" cy="1046373"/>
          </a:xfrm>
          <a:prstGeom prst="roundRect">
            <a:avLst>
              <a:gd name="adj" fmla="val 13662"/>
            </a:avLst>
          </a:prstGeom>
          <a:solidFill>
            <a:schemeClr val="tx2">
              <a:lumMod val="40000"/>
              <a:lumOff val="6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400" dirty="0">
              <a:solidFill>
                <a:schemeClr val="tx1"/>
              </a:solidFill>
            </a:endParaRPr>
          </a:p>
        </p:txBody>
      </p:sp>
      <p:sp>
        <p:nvSpPr>
          <p:cNvPr id="170" name="Rectangle: Rounded Corners 169">
            <a:extLst>
              <a:ext uri="{FF2B5EF4-FFF2-40B4-BE49-F238E27FC236}">
                <a16:creationId xmlns:a16="http://schemas.microsoft.com/office/drawing/2014/main" id="{A281C622-40E7-4F3D-AEF9-8C78BFD3931A}"/>
              </a:ext>
            </a:extLst>
          </p:cNvPr>
          <p:cNvSpPr/>
          <p:nvPr userDrawn="1"/>
        </p:nvSpPr>
        <p:spPr>
          <a:xfrm rot="2700000">
            <a:off x="9394762" y="819584"/>
            <a:ext cx="702288" cy="699501"/>
          </a:xfrm>
          <a:prstGeom prst="roundRect">
            <a:avLst>
              <a:gd name="adj" fmla="val 19208"/>
            </a:avLst>
          </a:prstGeom>
          <a:solidFill>
            <a:schemeClr val="tx2">
              <a:lumMod val="40000"/>
              <a:lumOff val="6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71" name="Rectangle: Rounded Corners 170">
            <a:extLst>
              <a:ext uri="{FF2B5EF4-FFF2-40B4-BE49-F238E27FC236}">
                <a16:creationId xmlns:a16="http://schemas.microsoft.com/office/drawing/2014/main" id="{5A7246B0-C461-44A6-B070-C319C0941BA2}"/>
              </a:ext>
            </a:extLst>
          </p:cNvPr>
          <p:cNvSpPr/>
          <p:nvPr userDrawn="1"/>
        </p:nvSpPr>
        <p:spPr>
          <a:xfrm rot="2700000">
            <a:off x="8903393" y="-183311"/>
            <a:ext cx="702288" cy="699501"/>
          </a:xfrm>
          <a:prstGeom prst="roundRect">
            <a:avLst>
              <a:gd name="adj" fmla="val 14894"/>
            </a:avLst>
          </a:prstGeom>
          <a:solidFill>
            <a:schemeClr val="bg1">
              <a:lumMod val="95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400" dirty="0">
              <a:solidFill>
                <a:schemeClr val="tx1"/>
              </a:solidFill>
            </a:endParaRPr>
          </a:p>
        </p:txBody>
      </p:sp>
      <p:sp>
        <p:nvSpPr>
          <p:cNvPr id="174" name="Rectangle: Rounded Corners 173">
            <a:extLst>
              <a:ext uri="{FF2B5EF4-FFF2-40B4-BE49-F238E27FC236}">
                <a16:creationId xmlns:a16="http://schemas.microsoft.com/office/drawing/2014/main" id="{165FCDA4-5E4A-4178-B887-1A013F676351}"/>
              </a:ext>
            </a:extLst>
          </p:cNvPr>
          <p:cNvSpPr/>
          <p:nvPr userDrawn="1"/>
        </p:nvSpPr>
        <p:spPr>
          <a:xfrm rot="2700000">
            <a:off x="11145267" y="5024817"/>
            <a:ext cx="702288" cy="699501"/>
          </a:xfrm>
          <a:prstGeom prst="roundRect">
            <a:avLst>
              <a:gd name="adj" fmla="val 13662"/>
            </a:avLst>
          </a:prstGeom>
          <a:solidFill>
            <a:schemeClr val="bg1">
              <a:lumMod val="95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400" dirty="0">
              <a:solidFill>
                <a:schemeClr val="tx1"/>
              </a:solidFill>
            </a:endParaRPr>
          </a:p>
        </p:txBody>
      </p:sp>
      <p:sp>
        <p:nvSpPr>
          <p:cNvPr id="175" name="Rectangle: Rounded Corners 174">
            <a:extLst>
              <a:ext uri="{FF2B5EF4-FFF2-40B4-BE49-F238E27FC236}">
                <a16:creationId xmlns:a16="http://schemas.microsoft.com/office/drawing/2014/main" id="{97EB82B2-4EF9-4CF3-AFC4-DFAF4CFD1C1B}"/>
              </a:ext>
            </a:extLst>
          </p:cNvPr>
          <p:cNvSpPr/>
          <p:nvPr userDrawn="1"/>
        </p:nvSpPr>
        <p:spPr>
          <a:xfrm rot="2700000">
            <a:off x="6656335" y="6024581"/>
            <a:ext cx="702288" cy="699501"/>
          </a:xfrm>
          <a:prstGeom prst="roundRect">
            <a:avLst>
              <a:gd name="adj" fmla="val 13662"/>
            </a:avLst>
          </a:prstGeom>
          <a:solidFill>
            <a:schemeClr val="bg1">
              <a:lumMod val="95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76" name="Rectangle: Rounded Corners 175">
            <a:extLst>
              <a:ext uri="{FF2B5EF4-FFF2-40B4-BE49-F238E27FC236}">
                <a16:creationId xmlns:a16="http://schemas.microsoft.com/office/drawing/2014/main" id="{2EFDABFC-4F81-4A75-B91D-48AF2F9255A0}"/>
              </a:ext>
            </a:extLst>
          </p:cNvPr>
          <p:cNvSpPr/>
          <p:nvPr userDrawn="1"/>
        </p:nvSpPr>
        <p:spPr>
          <a:xfrm rot="2700000">
            <a:off x="5927566" y="1791733"/>
            <a:ext cx="702288" cy="699501"/>
          </a:xfrm>
          <a:prstGeom prst="roundRect">
            <a:avLst>
              <a:gd name="adj" fmla="val 16127"/>
            </a:avLst>
          </a:prstGeom>
          <a:solidFill>
            <a:schemeClr val="tx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78" name="Rectangle: Rounded Corners 177">
            <a:extLst>
              <a:ext uri="{FF2B5EF4-FFF2-40B4-BE49-F238E27FC236}">
                <a16:creationId xmlns:a16="http://schemas.microsoft.com/office/drawing/2014/main" id="{DAD79B56-A3B8-4EF7-BDD0-940C36AF1F6A}"/>
              </a:ext>
            </a:extLst>
          </p:cNvPr>
          <p:cNvSpPr/>
          <p:nvPr userDrawn="1"/>
        </p:nvSpPr>
        <p:spPr>
          <a:xfrm rot="2700000">
            <a:off x="10364882" y="1037856"/>
            <a:ext cx="1742456" cy="1742456"/>
          </a:xfrm>
          <a:prstGeom prst="roundRect">
            <a:avLst>
              <a:gd name="adj" fmla="val 10368"/>
            </a:avLst>
          </a:prstGeom>
          <a:gradFill flip="none" rotWithShape="1">
            <a:gsLst>
              <a:gs pos="61000">
                <a:schemeClr val="bg1">
                  <a:alpha val="0"/>
                </a:schemeClr>
              </a:gs>
              <a:gs pos="38000">
                <a:srgbClr val="FFFFFF">
                  <a:alpha val="74000"/>
                </a:srgbClr>
              </a:gs>
              <a:gs pos="23000">
                <a:schemeClr val="bg1"/>
              </a:gs>
            </a:gsLst>
            <a:lin ang="27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pic>
        <p:nvPicPr>
          <p:cNvPr id="180" name="Picture 179">
            <a:extLst>
              <a:ext uri="{FF2B5EF4-FFF2-40B4-BE49-F238E27FC236}">
                <a16:creationId xmlns:a16="http://schemas.microsoft.com/office/drawing/2014/main" id="{ABB88A78-2EF7-46E4-B0B7-C524DB12DE28}"/>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10529958" y="261464"/>
            <a:ext cx="1395342" cy="986311"/>
          </a:xfrm>
          <a:prstGeom prst="rect">
            <a:avLst/>
          </a:prstGeom>
        </p:spPr>
      </p:pic>
      <p:sp>
        <p:nvSpPr>
          <p:cNvPr id="183" name="Rectangle: Rounded Corners 182">
            <a:extLst>
              <a:ext uri="{FF2B5EF4-FFF2-40B4-BE49-F238E27FC236}">
                <a16:creationId xmlns:a16="http://schemas.microsoft.com/office/drawing/2014/main" id="{64E8B6F5-0B1D-454A-98A9-D60683981A89}"/>
              </a:ext>
            </a:extLst>
          </p:cNvPr>
          <p:cNvSpPr/>
          <p:nvPr userDrawn="1"/>
        </p:nvSpPr>
        <p:spPr>
          <a:xfrm rot="2700000">
            <a:off x="4756285" y="3101550"/>
            <a:ext cx="2100377" cy="2089671"/>
          </a:xfrm>
          <a:prstGeom prst="roundRect">
            <a:avLst>
              <a:gd name="adj" fmla="val 10368"/>
            </a:avLst>
          </a:prstGeom>
          <a:gradFill flip="none" rotWithShape="1">
            <a:gsLst>
              <a:gs pos="44000">
                <a:schemeClr val="bg1">
                  <a:alpha val="0"/>
                </a:schemeClr>
              </a:gs>
              <a:gs pos="28000">
                <a:srgbClr val="FFFFFF">
                  <a:alpha val="74000"/>
                </a:srgbClr>
              </a:gs>
              <a:gs pos="12000">
                <a:schemeClr val="bg1"/>
              </a:gs>
            </a:gsLst>
            <a:lin ang="189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400" dirty="0">
              <a:solidFill>
                <a:schemeClr val="tx1"/>
              </a:solidFill>
            </a:endParaRPr>
          </a:p>
        </p:txBody>
      </p:sp>
    </p:spTree>
    <p:extLst>
      <p:ext uri="{BB962C8B-B14F-4D97-AF65-F5344CB8AC3E}">
        <p14:creationId xmlns:p14="http://schemas.microsoft.com/office/powerpoint/2010/main" val="409988013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56_Title slide">
    <p:bg>
      <p:bgPr>
        <a:gradFill flip="none" rotWithShape="1">
          <a:gsLst>
            <a:gs pos="0">
              <a:schemeClr val="bg1"/>
            </a:gs>
            <a:gs pos="100000">
              <a:schemeClr val="bg2">
                <a:lumMod val="85000"/>
                <a:alpha val="0"/>
              </a:schemeClr>
            </a:gs>
          </a:gsLst>
          <a:lin ang="54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3191" name="think-cell Slide" r:id="rId317" imgW="594" imgH="595" progId="TCLayout.ActiveDocument.1">
                  <p:embed/>
                </p:oleObj>
              </mc:Choice>
              <mc:Fallback>
                <p:oleObj name="think-cell Slide" r:id="rId317" imgW="594" imgH="595" progId="TCLayout.ActiveDocument.1">
                  <p:embed/>
                  <p:pic>
                    <p:nvPicPr>
                      <p:cNvPr id="3" name="Object 2" hidden="1"/>
                      <p:cNvPicPr/>
                      <p:nvPr/>
                    </p:nvPicPr>
                    <p:blipFill>
                      <a:blip r:embed="rId318"/>
                      <a:stretch>
                        <a:fillRect/>
                      </a:stretch>
                    </p:blipFill>
                    <p:spPr>
                      <a:xfrm>
                        <a:off x="1588" y="1588"/>
                        <a:ext cx="1588" cy="1588"/>
                      </a:xfrm>
                      <a:prstGeom prst="rect">
                        <a:avLst/>
                      </a:prstGeom>
                    </p:spPr>
                  </p:pic>
                </p:oleObj>
              </mc:Fallback>
            </mc:AlternateContent>
          </a:graphicData>
        </a:graphic>
      </p:graphicFrame>
      <p:grpSp>
        <p:nvGrpSpPr>
          <p:cNvPr id="73" name="Group 72">
            <a:extLst>
              <a:ext uri="{FF2B5EF4-FFF2-40B4-BE49-F238E27FC236}">
                <a16:creationId xmlns:a16="http://schemas.microsoft.com/office/drawing/2014/main" id="{1316C3E7-6B2F-4340-ABCC-0AF4D0600851}"/>
              </a:ext>
            </a:extLst>
          </p:cNvPr>
          <p:cNvGrpSpPr/>
          <p:nvPr userDrawn="1"/>
        </p:nvGrpSpPr>
        <p:grpSpPr>
          <a:xfrm>
            <a:off x="317502" y="1226035"/>
            <a:ext cx="8398236" cy="4294941"/>
            <a:chOff x="3243263" y="1616869"/>
            <a:chExt cx="8634412" cy="4415723"/>
          </a:xfrm>
          <a:solidFill>
            <a:schemeClr val="tx2">
              <a:lumMod val="20000"/>
              <a:lumOff val="80000"/>
              <a:alpha val="40000"/>
            </a:schemeClr>
          </a:solidFill>
        </p:grpSpPr>
        <p:sp>
          <p:nvSpPr>
            <p:cNvPr id="74" name="Freeform 3">
              <a:extLst>
                <a:ext uri="{FF2B5EF4-FFF2-40B4-BE49-F238E27FC236}">
                  <a16:creationId xmlns:a16="http://schemas.microsoft.com/office/drawing/2014/main" id="{B96CE3F3-F4E3-43E3-9237-B4BCC1F127D5}"/>
                </a:ext>
              </a:extLst>
            </p:cNvPr>
            <p:cNvSpPr>
              <a:spLocks/>
            </p:cNvSpPr>
            <p:nvPr>
              <p:custDataLst>
                <p:tags r:id="rId4"/>
              </p:custDataLst>
            </p:nvPr>
          </p:nvSpPr>
          <p:spPr bwMode="auto">
            <a:xfrm>
              <a:off x="4428999" y="2149923"/>
              <a:ext cx="446850" cy="211110"/>
            </a:xfrm>
            <a:custGeom>
              <a:avLst/>
              <a:gdLst>
                <a:gd name="T0" fmla="*/ 90310 w 509"/>
                <a:gd name="T1" fmla="*/ 41275 h 240"/>
                <a:gd name="T2" fmla="*/ 93478 w 509"/>
                <a:gd name="T3" fmla="*/ 44450 h 240"/>
                <a:gd name="T4" fmla="*/ 90310 w 509"/>
                <a:gd name="T5" fmla="*/ 47625 h 240"/>
                <a:gd name="T6" fmla="*/ 76050 w 509"/>
                <a:gd name="T7" fmla="*/ 44450 h 240"/>
                <a:gd name="T8" fmla="*/ 65752 w 509"/>
                <a:gd name="T9" fmla="*/ 44450 h 240"/>
                <a:gd name="T10" fmla="*/ 55453 w 509"/>
                <a:gd name="T11" fmla="*/ 44450 h 240"/>
                <a:gd name="T12" fmla="*/ 48324 w 509"/>
                <a:gd name="T13" fmla="*/ 47625 h 240"/>
                <a:gd name="T14" fmla="*/ 34064 w 509"/>
                <a:gd name="T15" fmla="*/ 47625 h 240"/>
                <a:gd name="T16" fmla="*/ 30895 w 509"/>
                <a:gd name="T17" fmla="*/ 44450 h 240"/>
                <a:gd name="T18" fmla="*/ 23766 w 509"/>
                <a:gd name="T19" fmla="*/ 44450 h 240"/>
                <a:gd name="T20" fmla="*/ 13467 w 509"/>
                <a:gd name="T21" fmla="*/ 44450 h 240"/>
                <a:gd name="T22" fmla="*/ 6338 w 509"/>
                <a:gd name="T23" fmla="*/ 37306 h 240"/>
                <a:gd name="T24" fmla="*/ 20597 w 509"/>
                <a:gd name="T25" fmla="*/ 34131 h 240"/>
                <a:gd name="T26" fmla="*/ 30895 w 509"/>
                <a:gd name="T27" fmla="*/ 34131 h 240"/>
                <a:gd name="T28" fmla="*/ 23766 w 509"/>
                <a:gd name="T29" fmla="*/ 30956 h 240"/>
                <a:gd name="T30" fmla="*/ 13467 w 509"/>
                <a:gd name="T31" fmla="*/ 30956 h 240"/>
                <a:gd name="T32" fmla="*/ 3169 w 509"/>
                <a:gd name="T33" fmla="*/ 26988 h 240"/>
                <a:gd name="T34" fmla="*/ 10298 w 509"/>
                <a:gd name="T35" fmla="*/ 23813 h 240"/>
                <a:gd name="T36" fmla="*/ 3169 w 509"/>
                <a:gd name="T37" fmla="*/ 23813 h 240"/>
                <a:gd name="T38" fmla="*/ 0 w 509"/>
                <a:gd name="T39" fmla="*/ 20638 h 240"/>
                <a:gd name="T40" fmla="*/ 13467 w 509"/>
                <a:gd name="T41" fmla="*/ 7144 h 240"/>
                <a:gd name="T42" fmla="*/ 23766 w 509"/>
                <a:gd name="T43" fmla="*/ 7144 h 240"/>
                <a:gd name="T44" fmla="*/ 27727 w 509"/>
                <a:gd name="T45" fmla="*/ 13494 h 240"/>
                <a:gd name="T46" fmla="*/ 30895 w 509"/>
                <a:gd name="T47" fmla="*/ 7144 h 240"/>
                <a:gd name="T48" fmla="*/ 41194 w 509"/>
                <a:gd name="T49" fmla="*/ 10319 h 240"/>
                <a:gd name="T50" fmla="*/ 45155 w 509"/>
                <a:gd name="T51" fmla="*/ 13494 h 240"/>
                <a:gd name="T52" fmla="*/ 48324 w 509"/>
                <a:gd name="T53" fmla="*/ 10319 h 240"/>
                <a:gd name="T54" fmla="*/ 55453 w 509"/>
                <a:gd name="T55" fmla="*/ 10319 h 240"/>
                <a:gd name="T56" fmla="*/ 55453 w 509"/>
                <a:gd name="T57" fmla="*/ 17463 h 240"/>
                <a:gd name="T58" fmla="*/ 58622 w 509"/>
                <a:gd name="T59" fmla="*/ 20638 h 240"/>
                <a:gd name="T60" fmla="*/ 58622 w 509"/>
                <a:gd name="T61" fmla="*/ 13494 h 240"/>
                <a:gd name="T62" fmla="*/ 55453 w 509"/>
                <a:gd name="T63" fmla="*/ 7144 h 240"/>
                <a:gd name="T64" fmla="*/ 61791 w 509"/>
                <a:gd name="T65" fmla="*/ 3175 h 240"/>
                <a:gd name="T66" fmla="*/ 65752 w 509"/>
                <a:gd name="T67" fmla="*/ 0 h 240"/>
                <a:gd name="T68" fmla="*/ 72882 w 509"/>
                <a:gd name="T69" fmla="*/ 0 h 240"/>
                <a:gd name="T70" fmla="*/ 76050 w 509"/>
                <a:gd name="T71" fmla="*/ 3175 h 240"/>
                <a:gd name="T72" fmla="*/ 76050 w 509"/>
                <a:gd name="T73" fmla="*/ 10319 h 240"/>
                <a:gd name="T74" fmla="*/ 76050 w 509"/>
                <a:gd name="T75" fmla="*/ 20638 h 240"/>
                <a:gd name="T76" fmla="*/ 83180 w 509"/>
                <a:gd name="T77" fmla="*/ 30956 h 240"/>
                <a:gd name="T78" fmla="*/ 100608 w 509"/>
                <a:gd name="T79" fmla="*/ 37306 h 240"/>
                <a:gd name="T80" fmla="*/ 93478 w 509"/>
                <a:gd name="T81" fmla="*/ 37306 h 2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09"/>
                <a:gd name="T124" fmla="*/ 0 h 240"/>
                <a:gd name="T125" fmla="*/ 509 w 509"/>
                <a:gd name="T126" fmla="*/ 240 h 2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09" h="240">
                  <a:moveTo>
                    <a:pt x="457" y="188"/>
                  </a:moveTo>
                  <a:lnTo>
                    <a:pt x="457" y="205"/>
                  </a:lnTo>
                  <a:lnTo>
                    <a:pt x="457" y="223"/>
                  </a:lnTo>
                  <a:lnTo>
                    <a:pt x="475" y="223"/>
                  </a:lnTo>
                  <a:lnTo>
                    <a:pt x="457" y="223"/>
                  </a:lnTo>
                  <a:lnTo>
                    <a:pt x="457" y="240"/>
                  </a:lnTo>
                  <a:lnTo>
                    <a:pt x="423" y="240"/>
                  </a:lnTo>
                  <a:lnTo>
                    <a:pt x="386" y="223"/>
                  </a:lnTo>
                  <a:lnTo>
                    <a:pt x="369" y="223"/>
                  </a:lnTo>
                  <a:lnTo>
                    <a:pt x="333" y="223"/>
                  </a:lnTo>
                  <a:lnTo>
                    <a:pt x="315" y="223"/>
                  </a:lnTo>
                  <a:lnTo>
                    <a:pt x="281" y="223"/>
                  </a:lnTo>
                  <a:lnTo>
                    <a:pt x="281" y="240"/>
                  </a:lnTo>
                  <a:lnTo>
                    <a:pt x="246" y="240"/>
                  </a:lnTo>
                  <a:lnTo>
                    <a:pt x="210" y="240"/>
                  </a:lnTo>
                  <a:lnTo>
                    <a:pt x="175" y="240"/>
                  </a:lnTo>
                  <a:lnTo>
                    <a:pt x="158" y="240"/>
                  </a:lnTo>
                  <a:lnTo>
                    <a:pt x="158" y="223"/>
                  </a:lnTo>
                  <a:lnTo>
                    <a:pt x="141" y="223"/>
                  </a:lnTo>
                  <a:lnTo>
                    <a:pt x="123" y="223"/>
                  </a:lnTo>
                  <a:lnTo>
                    <a:pt x="106" y="223"/>
                  </a:lnTo>
                  <a:lnTo>
                    <a:pt x="70" y="223"/>
                  </a:lnTo>
                  <a:lnTo>
                    <a:pt x="52" y="205"/>
                  </a:lnTo>
                  <a:lnTo>
                    <a:pt x="35" y="188"/>
                  </a:lnTo>
                  <a:lnTo>
                    <a:pt x="70" y="171"/>
                  </a:lnTo>
                  <a:lnTo>
                    <a:pt x="106" y="171"/>
                  </a:lnTo>
                  <a:lnTo>
                    <a:pt x="141" y="171"/>
                  </a:lnTo>
                  <a:lnTo>
                    <a:pt x="158" y="171"/>
                  </a:lnTo>
                  <a:lnTo>
                    <a:pt x="158" y="154"/>
                  </a:lnTo>
                  <a:lnTo>
                    <a:pt x="123" y="154"/>
                  </a:lnTo>
                  <a:lnTo>
                    <a:pt x="106" y="154"/>
                  </a:lnTo>
                  <a:lnTo>
                    <a:pt x="70" y="154"/>
                  </a:lnTo>
                  <a:lnTo>
                    <a:pt x="35" y="154"/>
                  </a:lnTo>
                  <a:lnTo>
                    <a:pt x="18" y="136"/>
                  </a:lnTo>
                  <a:lnTo>
                    <a:pt x="35" y="119"/>
                  </a:lnTo>
                  <a:lnTo>
                    <a:pt x="52" y="119"/>
                  </a:lnTo>
                  <a:lnTo>
                    <a:pt x="35" y="119"/>
                  </a:lnTo>
                  <a:lnTo>
                    <a:pt x="18" y="119"/>
                  </a:lnTo>
                  <a:lnTo>
                    <a:pt x="0" y="119"/>
                  </a:lnTo>
                  <a:lnTo>
                    <a:pt x="0" y="102"/>
                  </a:lnTo>
                  <a:lnTo>
                    <a:pt x="18" y="67"/>
                  </a:lnTo>
                  <a:lnTo>
                    <a:pt x="70" y="33"/>
                  </a:lnTo>
                  <a:lnTo>
                    <a:pt x="123" y="15"/>
                  </a:lnTo>
                  <a:lnTo>
                    <a:pt x="123" y="33"/>
                  </a:lnTo>
                  <a:lnTo>
                    <a:pt x="141" y="50"/>
                  </a:lnTo>
                  <a:lnTo>
                    <a:pt x="141" y="67"/>
                  </a:lnTo>
                  <a:lnTo>
                    <a:pt x="141" y="50"/>
                  </a:lnTo>
                  <a:lnTo>
                    <a:pt x="158" y="33"/>
                  </a:lnTo>
                  <a:lnTo>
                    <a:pt x="192" y="50"/>
                  </a:lnTo>
                  <a:lnTo>
                    <a:pt x="210" y="50"/>
                  </a:lnTo>
                  <a:lnTo>
                    <a:pt x="210" y="67"/>
                  </a:lnTo>
                  <a:lnTo>
                    <a:pt x="229" y="67"/>
                  </a:lnTo>
                  <a:lnTo>
                    <a:pt x="229" y="50"/>
                  </a:lnTo>
                  <a:lnTo>
                    <a:pt x="246" y="50"/>
                  </a:lnTo>
                  <a:lnTo>
                    <a:pt x="263" y="50"/>
                  </a:lnTo>
                  <a:lnTo>
                    <a:pt x="281" y="50"/>
                  </a:lnTo>
                  <a:lnTo>
                    <a:pt x="281" y="67"/>
                  </a:lnTo>
                  <a:lnTo>
                    <a:pt x="281" y="85"/>
                  </a:lnTo>
                  <a:lnTo>
                    <a:pt x="281" y="102"/>
                  </a:lnTo>
                  <a:lnTo>
                    <a:pt x="298" y="102"/>
                  </a:lnTo>
                  <a:lnTo>
                    <a:pt x="315" y="102"/>
                  </a:lnTo>
                  <a:lnTo>
                    <a:pt x="298" y="67"/>
                  </a:lnTo>
                  <a:lnTo>
                    <a:pt x="298" y="50"/>
                  </a:lnTo>
                  <a:lnTo>
                    <a:pt x="281" y="33"/>
                  </a:lnTo>
                  <a:lnTo>
                    <a:pt x="298" y="15"/>
                  </a:lnTo>
                  <a:lnTo>
                    <a:pt x="315" y="15"/>
                  </a:lnTo>
                  <a:lnTo>
                    <a:pt x="333" y="15"/>
                  </a:lnTo>
                  <a:lnTo>
                    <a:pt x="333" y="0"/>
                  </a:lnTo>
                  <a:lnTo>
                    <a:pt x="350" y="0"/>
                  </a:lnTo>
                  <a:lnTo>
                    <a:pt x="369" y="0"/>
                  </a:lnTo>
                  <a:lnTo>
                    <a:pt x="386" y="0"/>
                  </a:lnTo>
                  <a:lnTo>
                    <a:pt x="386" y="15"/>
                  </a:lnTo>
                  <a:lnTo>
                    <a:pt x="386" y="33"/>
                  </a:lnTo>
                  <a:lnTo>
                    <a:pt x="386" y="50"/>
                  </a:lnTo>
                  <a:lnTo>
                    <a:pt x="386" y="67"/>
                  </a:lnTo>
                  <a:lnTo>
                    <a:pt x="386" y="102"/>
                  </a:lnTo>
                  <a:lnTo>
                    <a:pt x="405" y="119"/>
                  </a:lnTo>
                  <a:lnTo>
                    <a:pt x="423" y="154"/>
                  </a:lnTo>
                  <a:lnTo>
                    <a:pt x="457" y="171"/>
                  </a:lnTo>
                  <a:lnTo>
                    <a:pt x="509" y="188"/>
                  </a:lnTo>
                  <a:lnTo>
                    <a:pt x="492" y="188"/>
                  </a:lnTo>
                  <a:lnTo>
                    <a:pt x="475" y="188"/>
                  </a:lnTo>
                  <a:lnTo>
                    <a:pt x="457" y="18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75" name="Freeform 4">
              <a:extLst>
                <a:ext uri="{FF2B5EF4-FFF2-40B4-BE49-F238E27FC236}">
                  <a16:creationId xmlns:a16="http://schemas.microsoft.com/office/drawing/2014/main" id="{C45EE6F0-9E0F-4A36-B2AD-C07C90C86B66}"/>
                </a:ext>
              </a:extLst>
            </p:cNvPr>
            <p:cNvSpPr>
              <a:spLocks/>
            </p:cNvSpPr>
            <p:nvPr>
              <p:custDataLst>
                <p:tags r:id="rId5"/>
              </p:custDataLst>
            </p:nvPr>
          </p:nvSpPr>
          <p:spPr bwMode="auto">
            <a:xfrm>
              <a:off x="4256593" y="2102423"/>
              <a:ext cx="265648" cy="167130"/>
            </a:xfrm>
            <a:custGeom>
              <a:avLst/>
              <a:gdLst>
                <a:gd name="T0" fmla="*/ 10353 w 301"/>
                <a:gd name="T1" fmla="*/ 34925 h 190"/>
                <a:gd name="T2" fmla="*/ 10353 w 301"/>
                <a:gd name="T3" fmla="*/ 30956 h 190"/>
                <a:gd name="T4" fmla="*/ 7167 w 301"/>
                <a:gd name="T5" fmla="*/ 30956 h 190"/>
                <a:gd name="T6" fmla="*/ 3982 w 301"/>
                <a:gd name="T7" fmla="*/ 30956 h 190"/>
                <a:gd name="T8" fmla="*/ 0 w 301"/>
                <a:gd name="T9" fmla="*/ 27781 h 190"/>
                <a:gd name="T10" fmla="*/ 3982 w 301"/>
                <a:gd name="T11" fmla="*/ 23813 h 190"/>
                <a:gd name="T12" fmla="*/ 10353 w 301"/>
                <a:gd name="T13" fmla="*/ 14288 h 190"/>
                <a:gd name="T14" fmla="*/ 10353 w 301"/>
                <a:gd name="T15" fmla="*/ 10319 h 190"/>
                <a:gd name="T16" fmla="*/ 10353 w 301"/>
                <a:gd name="T17" fmla="*/ 7938 h 190"/>
                <a:gd name="T18" fmla="*/ 10353 w 301"/>
                <a:gd name="T19" fmla="*/ 3969 h 190"/>
                <a:gd name="T20" fmla="*/ 7167 w 301"/>
                <a:gd name="T21" fmla="*/ 3969 h 190"/>
                <a:gd name="T22" fmla="*/ 10353 w 301"/>
                <a:gd name="T23" fmla="*/ 0 h 190"/>
                <a:gd name="T24" fmla="*/ 14335 w 301"/>
                <a:gd name="T25" fmla="*/ 0 h 190"/>
                <a:gd name="T26" fmla="*/ 21502 w 301"/>
                <a:gd name="T27" fmla="*/ 3969 h 190"/>
                <a:gd name="T28" fmla="*/ 24688 w 301"/>
                <a:gd name="T29" fmla="*/ 0 h 190"/>
                <a:gd name="T30" fmla="*/ 27874 w 301"/>
                <a:gd name="T31" fmla="*/ 0 h 190"/>
                <a:gd name="T32" fmla="*/ 31856 w 301"/>
                <a:gd name="T33" fmla="*/ 3969 h 190"/>
                <a:gd name="T34" fmla="*/ 35837 w 301"/>
                <a:gd name="T35" fmla="*/ 3969 h 190"/>
                <a:gd name="T36" fmla="*/ 39023 w 301"/>
                <a:gd name="T37" fmla="*/ 7938 h 190"/>
                <a:gd name="T38" fmla="*/ 43005 w 301"/>
                <a:gd name="T39" fmla="*/ 3969 h 190"/>
                <a:gd name="T40" fmla="*/ 46191 w 301"/>
                <a:gd name="T41" fmla="*/ 3969 h 190"/>
                <a:gd name="T42" fmla="*/ 49376 w 301"/>
                <a:gd name="T43" fmla="*/ 7938 h 190"/>
                <a:gd name="T44" fmla="*/ 56544 w 301"/>
                <a:gd name="T45" fmla="*/ 10319 h 190"/>
                <a:gd name="T46" fmla="*/ 60526 w 301"/>
                <a:gd name="T47" fmla="*/ 10319 h 190"/>
                <a:gd name="T48" fmla="*/ 56544 w 301"/>
                <a:gd name="T49" fmla="*/ 14288 h 190"/>
                <a:gd name="T50" fmla="*/ 49376 w 301"/>
                <a:gd name="T51" fmla="*/ 17463 h 190"/>
                <a:gd name="T52" fmla="*/ 46191 w 301"/>
                <a:gd name="T53" fmla="*/ 17463 h 190"/>
                <a:gd name="T54" fmla="*/ 39023 w 301"/>
                <a:gd name="T55" fmla="*/ 20638 h 190"/>
                <a:gd name="T56" fmla="*/ 35837 w 301"/>
                <a:gd name="T57" fmla="*/ 23813 h 190"/>
                <a:gd name="T58" fmla="*/ 31856 w 301"/>
                <a:gd name="T59" fmla="*/ 30956 h 190"/>
                <a:gd name="T60" fmla="*/ 27874 w 301"/>
                <a:gd name="T61" fmla="*/ 34925 h 190"/>
                <a:gd name="T62" fmla="*/ 21502 w 301"/>
                <a:gd name="T63" fmla="*/ 34925 h 190"/>
                <a:gd name="T64" fmla="*/ 14335 w 301"/>
                <a:gd name="T65" fmla="*/ 38100 h 190"/>
                <a:gd name="T66" fmla="*/ 14335 w 301"/>
                <a:gd name="T67" fmla="*/ 34925 h 190"/>
                <a:gd name="T68" fmla="*/ 10353 w 301"/>
                <a:gd name="T69" fmla="*/ 34925 h 19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01"/>
                <a:gd name="T106" fmla="*/ 0 h 190"/>
                <a:gd name="T107" fmla="*/ 301 w 301"/>
                <a:gd name="T108" fmla="*/ 190 h 19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01" h="190">
                  <a:moveTo>
                    <a:pt x="51" y="173"/>
                  </a:moveTo>
                  <a:lnTo>
                    <a:pt x="51" y="156"/>
                  </a:lnTo>
                  <a:lnTo>
                    <a:pt x="34" y="156"/>
                  </a:lnTo>
                  <a:lnTo>
                    <a:pt x="17" y="156"/>
                  </a:lnTo>
                  <a:lnTo>
                    <a:pt x="0" y="139"/>
                  </a:lnTo>
                  <a:lnTo>
                    <a:pt x="17" y="121"/>
                  </a:lnTo>
                  <a:lnTo>
                    <a:pt x="51" y="69"/>
                  </a:lnTo>
                  <a:lnTo>
                    <a:pt x="51" y="54"/>
                  </a:lnTo>
                  <a:lnTo>
                    <a:pt x="51" y="37"/>
                  </a:lnTo>
                  <a:lnTo>
                    <a:pt x="51" y="20"/>
                  </a:lnTo>
                  <a:lnTo>
                    <a:pt x="34" y="20"/>
                  </a:lnTo>
                  <a:lnTo>
                    <a:pt x="51" y="0"/>
                  </a:lnTo>
                  <a:lnTo>
                    <a:pt x="71" y="0"/>
                  </a:lnTo>
                  <a:lnTo>
                    <a:pt x="105" y="20"/>
                  </a:lnTo>
                  <a:lnTo>
                    <a:pt x="122" y="0"/>
                  </a:lnTo>
                  <a:lnTo>
                    <a:pt x="140" y="0"/>
                  </a:lnTo>
                  <a:lnTo>
                    <a:pt x="159" y="20"/>
                  </a:lnTo>
                  <a:lnTo>
                    <a:pt x="178" y="20"/>
                  </a:lnTo>
                  <a:lnTo>
                    <a:pt x="195" y="37"/>
                  </a:lnTo>
                  <a:lnTo>
                    <a:pt x="213" y="20"/>
                  </a:lnTo>
                  <a:lnTo>
                    <a:pt x="230" y="20"/>
                  </a:lnTo>
                  <a:lnTo>
                    <a:pt x="247" y="37"/>
                  </a:lnTo>
                  <a:lnTo>
                    <a:pt x="284" y="54"/>
                  </a:lnTo>
                  <a:lnTo>
                    <a:pt x="301" y="54"/>
                  </a:lnTo>
                  <a:lnTo>
                    <a:pt x="284" y="69"/>
                  </a:lnTo>
                  <a:lnTo>
                    <a:pt x="247" y="87"/>
                  </a:lnTo>
                  <a:lnTo>
                    <a:pt x="230" y="87"/>
                  </a:lnTo>
                  <a:lnTo>
                    <a:pt x="195" y="104"/>
                  </a:lnTo>
                  <a:lnTo>
                    <a:pt x="178" y="121"/>
                  </a:lnTo>
                  <a:lnTo>
                    <a:pt x="159" y="156"/>
                  </a:lnTo>
                  <a:lnTo>
                    <a:pt x="140" y="173"/>
                  </a:lnTo>
                  <a:lnTo>
                    <a:pt x="105" y="173"/>
                  </a:lnTo>
                  <a:lnTo>
                    <a:pt x="71" y="190"/>
                  </a:lnTo>
                  <a:lnTo>
                    <a:pt x="71" y="173"/>
                  </a:lnTo>
                  <a:lnTo>
                    <a:pt x="51" y="17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76" name="Freeform 5">
              <a:extLst>
                <a:ext uri="{FF2B5EF4-FFF2-40B4-BE49-F238E27FC236}">
                  <a16:creationId xmlns:a16="http://schemas.microsoft.com/office/drawing/2014/main" id="{A5658724-0B6D-4C3D-AD39-0C4C0B10EFA7}"/>
                </a:ext>
              </a:extLst>
            </p:cNvPr>
            <p:cNvSpPr>
              <a:spLocks/>
            </p:cNvSpPr>
            <p:nvPr>
              <p:custDataLst>
                <p:tags r:id="rId6"/>
              </p:custDataLst>
            </p:nvPr>
          </p:nvSpPr>
          <p:spPr bwMode="auto">
            <a:xfrm>
              <a:off x="4460666" y="1996867"/>
              <a:ext cx="288517" cy="121389"/>
            </a:xfrm>
            <a:custGeom>
              <a:avLst/>
              <a:gdLst>
                <a:gd name="T0" fmla="*/ 20637 w 328"/>
                <a:gd name="T1" fmla="*/ 23813 h 138"/>
                <a:gd name="T2" fmla="*/ 20637 w 328"/>
                <a:gd name="T3" fmla="*/ 23813 h 138"/>
                <a:gd name="T4" fmla="*/ 23812 w 328"/>
                <a:gd name="T5" fmla="*/ 19844 h 138"/>
                <a:gd name="T6" fmla="*/ 20637 w 328"/>
                <a:gd name="T7" fmla="*/ 16669 h 138"/>
                <a:gd name="T8" fmla="*/ 16669 w 328"/>
                <a:gd name="T9" fmla="*/ 19844 h 138"/>
                <a:gd name="T10" fmla="*/ 10319 w 328"/>
                <a:gd name="T11" fmla="*/ 19844 h 138"/>
                <a:gd name="T12" fmla="*/ 3969 w 328"/>
                <a:gd name="T13" fmla="*/ 19844 h 138"/>
                <a:gd name="T14" fmla="*/ 0 w 328"/>
                <a:gd name="T15" fmla="*/ 16669 h 138"/>
                <a:gd name="T16" fmla="*/ 3969 w 328"/>
                <a:gd name="T17" fmla="*/ 13494 h 138"/>
                <a:gd name="T18" fmla="*/ 10319 w 328"/>
                <a:gd name="T19" fmla="*/ 13494 h 138"/>
                <a:gd name="T20" fmla="*/ 10319 w 328"/>
                <a:gd name="T21" fmla="*/ 13494 h 138"/>
                <a:gd name="T22" fmla="*/ 3969 w 328"/>
                <a:gd name="T23" fmla="*/ 13494 h 138"/>
                <a:gd name="T24" fmla="*/ 7144 w 328"/>
                <a:gd name="T25" fmla="*/ 9525 h 138"/>
                <a:gd name="T26" fmla="*/ 14288 w 328"/>
                <a:gd name="T27" fmla="*/ 9525 h 138"/>
                <a:gd name="T28" fmla="*/ 14288 w 328"/>
                <a:gd name="T29" fmla="*/ 9525 h 138"/>
                <a:gd name="T30" fmla="*/ 7144 w 328"/>
                <a:gd name="T31" fmla="*/ 9525 h 138"/>
                <a:gd name="T32" fmla="*/ 10319 w 328"/>
                <a:gd name="T33" fmla="*/ 7144 h 138"/>
                <a:gd name="T34" fmla="*/ 10319 w 328"/>
                <a:gd name="T35" fmla="*/ 3175 h 138"/>
                <a:gd name="T36" fmla="*/ 16669 w 328"/>
                <a:gd name="T37" fmla="*/ 3175 h 138"/>
                <a:gd name="T38" fmla="*/ 23812 w 328"/>
                <a:gd name="T39" fmla="*/ 7144 h 138"/>
                <a:gd name="T40" fmla="*/ 34131 w 328"/>
                <a:gd name="T41" fmla="*/ 13494 h 138"/>
                <a:gd name="T42" fmla="*/ 44450 w 328"/>
                <a:gd name="T43" fmla="*/ 13494 h 138"/>
                <a:gd name="T44" fmla="*/ 44450 w 328"/>
                <a:gd name="T45" fmla="*/ 13494 h 138"/>
                <a:gd name="T46" fmla="*/ 44450 w 328"/>
                <a:gd name="T47" fmla="*/ 9525 h 138"/>
                <a:gd name="T48" fmla="*/ 40481 w 328"/>
                <a:gd name="T49" fmla="*/ 7144 h 138"/>
                <a:gd name="T50" fmla="*/ 37306 w 328"/>
                <a:gd name="T51" fmla="*/ 3175 h 138"/>
                <a:gd name="T52" fmla="*/ 44450 w 328"/>
                <a:gd name="T53" fmla="*/ 0 h 138"/>
                <a:gd name="T54" fmla="*/ 47625 w 328"/>
                <a:gd name="T55" fmla="*/ 3175 h 138"/>
                <a:gd name="T56" fmla="*/ 51594 w 328"/>
                <a:gd name="T57" fmla="*/ 9525 h 138"/>
                <a:gd name="T58" fmla="*/ 61913 w 328"/>
                <a:gd name="T59" fmla="*/ 7144 h 138"/>
                <a:gd name="T60" fmla="*/ 65088 w 328"/>
                <a:gd name="T61" fmla="*/ 9525 h 138"/>
                <a:gd name="T62" fmla="*/ 61913 w 328"/>
                <a:gd name="T63" fmla="*/ 19844 h 138"/>
                <a:gd name="T64" fmla="*/ 47625 w 328"/>
                <a:gd name="T65" fmla="*/ 19844 h 138"/>
                <a:gd name="T66" fmla="*/ 37306 w 328"/>
                <a:gd name="T67" fmla="*/ 23813 h 138"/>
                <a:gd name="T68" fmla="*/ 30956 w 328"/>
                <a:gd name="T69" fmla="*/ 23813 h 138"/>
                <a:gd name="T70" fmla="*/ 23812 w 328"/>
                <a:gd name="T71" fmla="*/ 27781 h 13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28"/>
                <a:gd name="T109" fmla="*/ 0 h 138"/>
                <a:gd name="T110" fmla="*/ 328 w 328"/>
                <a:gd name="T111" fmla="*/ 138 h 13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28" h="138">
                  <a:moveTo>
                    <a:pt x="121" y="138"/>
                  </a:moveTo>
                  <a:lnTo>
                    <a:pt x="104" y="120"/>
                  </a:lnTo>
                  <a:lnTo>
                    <a:pt x="86" y="120"/>
                  </a:lnTo>
                  <a:lnTo>
                    <a:pt x="104" y="120"/>
                  </a:lnTo>
                  <a:lnTo>
                    <a:pt x="121" y="120"/>
                  </a:lnTo>
                  <a:lnTo>
                    <a:pt x="121" y="103"/>
                  </a:lnTo>
                  <a:lnTo>
                    <a:pt x="104" y="103"/>
                  </a:lnTo>
                  <a:lnTo>
                    <a:pt x="104" y="86"/>
                  </a:lnTo>
                  <a:lnTo>
                    <a:pt x="86" y="86"/>
                  </a:lnTo>
                  <a:lnTo>
                    <a:pt x="86" y="103"/>
                  </a:lnTo>
                  <a:lnTo>
                    <a:pt x="69" y="103"/>
                  </a:lnTo>
                  <a:lnTo>
                    <a:pt x="52" y="103"/>
                  </a:lnTo>
                  <a:lnTo>
                    <a:pt x="34" y="103"/>
                  </a:lnTo>
                  <a:lnTo>
                    <a:pt x="17" y="103"/>
                  </a:lnTo>
                  <a:lnTo>
                    <a:pt x="0" y="103"/>
                  </a:lnTo>
                  <a:lnTo>
                    <a:pt x="0" y="86"/>
                  </a:lnTo>
                  <a:lnTo>
                    <a:pt x="0" y="69"/>
                  </a:lnTo>
                  <a:lnTo>
                    <a:pt x="17" y="69"/>
                  </a:lnTo>
                  <a:lnTo>
                    <a:pt x="34" y="69"/>
                  </a:lnTo>
                  <a:lnTo>
                    <a:pt x="52" y="69"/>
                  </a:lnTo>
                  <a:lnTo>
                    <a:pt x="69" y="69"/>
                  </a:lnTo>
                  <a:lnTo>
                    <a:pt x="52" y="69"/>
                  </a:lnTo>
                  <a:lnTo>
                    <a:pt x="34" y="69"/>
                  </a:lnTo>
                  <a:lnTo>
                    <a:pt x="17" y="69"/>
                  </a:lnTo>
                  <a:lnTo>
                    <a:pt x="17" y="51"/>
                  </a:lnTo>
                  <a:lnTo>
                    <a:pt x="34" y="51"/>
                  </a:lnTo>
                  <a:lnTo>
                    <a:pt x="52" y="51"/>
                  </a:lnTo>
                  <a:lnTo>
                    <a:pt x="69" y="51"/>
                  </a:lnTo>
                  <a:lnTo>
                    <a:pt x="86" y="51"/>
                  </a:lnTo>
                  <a:lnTo>
                    <a:pt x="69" y="51"/>
                  </a:lnTo>
                  <a:lnTo>
                    <a:pt x="52" y="51"/>
                  </a:lnTo>
                  <a:lnTo>
                    <a:pt x="34" y="51"/>
                  </a:lnTo>
                  <a:lnTo>
                    <a:pt x="34" y="34"/>
                  </a:lnTo>
                  <a:lnTo>
                    <a:pt x="52" y="34"/>
                  </a:lnTo>
                  <a:lnTo>
                    <a:pt x="69" y="34"/>
                  </a:lnTo>
                  <a:lnTo>
                    <a:pt x="52" y="17"/>
                  </a:lnTo>
                  <a:lnTo>
                    <a:pt x="69" y="17"/>
                  </a:lnTo>
                  <a:lnTo>
                    <a:pt x="86" y="17"/>
                  </a:lnTo>
                  <a:lnTo>
                    <a:pt x="104" y="34"/>
                  </a:lnTo>
                  <a:lnTo>
                    <a:pt x="121" y="34"/>
                  </a:lnTo>
                  <a:lnTo>
                    <a:pt x="138" y="51"/>
                  </a:lnTo>
                  <a:lnTo>
                    <a:pt x="173" y="69"/>
                  </a:lnTo>
                  <a:lnTo>
                    <a:pt x="207" y="69"/>
                  </a:lnTo>
                  <a:lnTo>
                    <a:pt x="225" y="69"/>
                  </a:lnTo>
                  <a:lnTo>
                    <a:pt x="242" y="69"/>
                  </a:lnTo>
                  <a:lnTo>
                    <a:pt x="225" y="69"/>
                  </a:lnTo>
                  <a:lnTo>
                    <a:pt x="207" y="69"/>
                  </a:lnTo>
                  <a:lnTo>
                    <a:pt x="225" y="51"/>
                  </a:lnTo>
                  <a:lnTo>
                    <a:pt x="225" y="34"/>
                  </a:lnTo>
                  <a:lnTo>
                    <a:pt x="207" y="34"/>
                  </a:lnTo>
                  <a:lnTo>
                    <a:pt x="190" y="34"/>
                  </a:lnTo>
                  <a:lnTo>
                    <a:pt x="190" y="17"/>
                  </a:lnTo>
                  <a:lnTo>
                    <a:pt x="207" y="0"/>
                  </a:lnTo>
                  <a:lnTo>
                    <a:pt x="225" y="0"/>
                  </a:lnTo>
                  <a:lnTo>
                    <a:pt x="242" y="0"/>
                  </a:lnTo>
                  <a:lnTo>
                    <a:pt x="242" y="17"/>
                  </a:lnTo>
                  <a:lnTo>
                    <a:pt x="242" y="34"/>
                  </a:lnTo>
                  <a:lnTo>
                    <a:pt x="259" y="51"/>
                  </a:lnTo>
                  <a:lnTo>
                    <a:pt x="294" y="51"/>
                  </a:lnTo>
                  <a:lnTo>
                    <a:pt x="311" y="34"/>
                  </a:lnTo>
                  <a:lnTo>
                    <a:pt x="311" y="51"/>
                  </a:lnTo>
                  <a:lnTo>
                    <a:pt x="328" y="51"/>
                  </a:lnTo>
                  <a:lnTo>
                    <a:pt x="328" y="69"/>
                  </a:lnTo>
                  <a:lnTo>
                    <a:pt x="311" y="103"/>
                  </a:lnTo>
                  <a:lnTo>
                    <a:pt x="294" y="103"/>
                  </a:lnTo>
                  <a:lnTo>
                    <a:pt x="242" y="103"/>
                  </a:lnTo>
                  <a:lnTo>
                    <a:pt x="225" y="120"/>
                  </a:lnTo>
                  <a:lnTo>
                    <a:pt x="190" y="120"/>
                  </a:lnTo>
                  <a:lnTo>
                    <a:pt x="173" y="120"/>
                  </a:lnTo>
                  <a:lnTo>
                    <a:pt x="155" y="120"/>
                  </a:lnTo>
                  <a:lnTo>
                    <a:pt x="138" y="120"/>
                  </a:lnTo>
                  <a:lnTo>
                    <a:pt x="121" y="13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77" name="Freeform 6">
              <a:extLst>
                <a:ext uri="{FF2B5EF4-FFF2-40B4-BE49-F238E27FC236}">
                  <a16:creationId xmlns:a16="http://schemas.microsoft.com/office/drawing/2014/main" id="{47F0CFED-B495-4C44-92FC-965B617C23DB}"/>
                </a:ext>
              </a:extLst>
            </p:cNvPr>
            <p:cNvSpPr>
              <a:spLocks/>
            </p:cNvSpPr>
            <p:nvPr>
              <p:custDataLst>
                <p:tags r:id="rId7"/>
              </p:custDataLst>
            </p:nvPr>
          </p:nvSpPr>
          <p:spPr bwMode="auto">
            <a:xfrm>
              <a:off x="4334000" y="1965201"/>
              <a:ext cx="172407" cy="91481"/>
            </a:xfrm>
            <a:custGeom>
              <a:avLst/>
              <a:gdLst>
                <a:gd name="T0" fmla="*/ 38894 w 196"/>
                <a:gd name="T1" fmla="*/ 0 h 104"/>
                <a:gd name="T2" fmla="*/ 38894 w 196"/>
                <a:gd name="T3" fmla="*/ 3969 h 104"/>
                <a:gd name="T4" fmla="*/ 35719 w 196"/>
                <a:gd name="T5" fmla="*/ 3969 h 104"/>
                <a:gd name="T6" fmla="*/ 35719 w 196"/>
                <a:gd name="T7" fmla="*/ 7144 h 104"/>
                <a:gd name="T8" fmla="*/ 38894 w 196"/>
                <a:gd name="T9" fmla="*/ 7144 h 104"/>
                <a:gd name="T10" fmla="*/ 35719 w 196"/>
                <a:gd name="T11" fmla="*/ 7144 h 104"/>
                <a:gd name="T12" fmla="*/ 28575 w 196"/>
                <a:gd name="T13" fmla="*/ 14288 h 104"/>
                <a:gd name="T14" fmla="*/ 24606 w 196"/>
                <a:gd name="T15" fmla="*/ 10319 h 104"/>
                <a:gd name="T16" fmla="*/ 24606 w 196"/>
                <a:gd name="T17" fmla="*/ 7144 h 104"/>
                <a:gd name="T18" fmla="*/ 20637 w 196"/>
                <a:gd name="T19" fmla="*/ 10319 h 104"/>
                <a:gd name="T20" fmla="*/ 20637 w 196"/>
                <a:gd name="T21" fmla="*/ 14288 h 104"/>
                <a:gd name="T22" fmla="*/ 18256 w 196"/>
                <a:gd name="T23" fmla="*/ 14288 h 104"/>
                <a:gd name="T24" fmla="*/ 18256 w 196"/>
                <a:gd name="T25" fmla="*/ 17463 h 104"/>
                <a:gd name="T26" fmla="*/ 18256 w 196"/>
                <a:gd name="T27" fmla="*/ 20638 h 104"/>
                <a:gd name="T28" fmla="*/ 14288 w 196"/>
                <a:gd name="T29" fmla="*/ 20638 h 104"/>
                <a:gd name="T30" fmla="*/ 10319 w 196"/>
                <a:gd name="T31" fmla="*/ 20638 h 104"/>
                <a:gd name="T32" fmla="*/ 10319 w 196"/>
                <a:gd name="T33" fmla="*/ 17463 h 104"/>
                <a:gd name="T34" fmla="*/ 7144 w 196"/>
                <a:gd name="T35" fmla="*/ 17463 h 104"/>
                <a:gd name="T36" fmla="*/ 3969 w 196"/>
                <a:gd name="T37" fmla="*/ 17463 h 104"/>
                <a:gd name="T38" fmla="*/ 0 w 196"/>
                <a:gd name="T39" fmla="*/ 17463 h 104"/>
                <a:gd name="T40" fmla="*/ 0 w 196"/>
                <a:gd name="T41" fmla="*/ 14288 h 104"/>
                <a:gd name="T42" fmla="*/ 3969 w 196"/>
                <a:gd name="T43" fmla="*/ 10319 h 104"/>
                <a:gd name="T44" fmla="*/ 7144 w 196"/>
                <a:gd name="T45" fmla="*/ 10319 h 104"/>
                <a:gd name="T46" fmla="*/ 10319 w 196"/>
                <a:gd name="T47" fmla="*/ 7144 h 104"/>
                <a:gd name="T48" fmla="*/ 14288 w 196"/>
                <a:gd name="T49" fmla="*/ 7144 h 104"/>
                <a:gd name="T50" fmla="*/ 18256 w 196"/>
                <a:gd name="T51" fmla="*/ 7144 h 104"/>
                <a:gd name="T52" fmla="*/ 18256 w 196"/>
                <a:gd name="T53" fmla="*/ 3969 h 104"/>
                <a:gd name="T54" fmla="*/ 20637 w 196"/>
                <a:gd name="T55" fmla="*/ 0 h 104"/>
                <a:gd name="T56" fmla="*/ 24606 w 196"/>
                <a:gd name="T57" fmla="*/ 0 h 104"/>
                <a:gd name="T58" fmla="*/ 28575 w 196"/>
                <a:gd name="T59" fmla="*/ 0 h 104"/>
                <a:gd name="T60" fmla="*/ 35719 w 196"/>
                <a:gd name="T61" fmla="*/ 0 h 104"/>
                <a:gd name="T62" fmla="*/ 38894 w 196"/>
                <a:gd name="T63" fmla="*/ 0 h 10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6"/>
                <a:gd name="T97" fmla="*/ 0 h 104"/>
                <a:gd name="T98" fmla="*/ 196 w 196"/>
                <a:gd name="T99" fmla="*/ 104 h 10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6" h="104">
                  <a:moveTo>
                    <a:pt x="196" y="0"/>
                  </a:moveTo>
                  <a:lnTo>
                    <a:pt x="196" y="17"/>
                  </a:lnTo>
                  <a:lnTo>
                    <a:pt x="177" y="17"/>
                  </a:lnTo>
                  <a:lnTo>
                    <a:pt x="177" y="35"/>
                  </a:lnTo>
                  <a:lnTo>
                    <a:pt x="196" y="35"/>
                  </a:lnTo>
                  <a:lnTo>
                    <a:pt x="177" y="35"/>
                  </a:lnTo>
                  <a:lnTo>
                    <a:pt x="142" y="69"/>
                  </a:lnTo>
                  <a:lnTo>
                    <a:pt x="125" y="52"/>
                  </a:lnTo>
                  <a:lnTo>
                    <a:pt x="125" y="35"/>
                  </a:lnTo>
                  <a:lnTo>
                    <a:pt x="107" y="52"/>
                  </a:lnTo>
                  <a:lnTo>
                    <a:pt x="107" y="69"/>
                  </a:lnTo>
                  <a:lnTo>
                    <a:pt x="90" y="69"/>
                  </a:lnTo>
                  <a:lnTo>
                    <a:pt x="90" y="86"/>
                  </a:lnTo>
                  <a:lnTo>
                    <a:pt x="90" y="104"/>
                  </a:lnTo>
                  <a:lnTo>
                    <a:pt x="69" y="104"/>
                  </a:lnTo>
                  <a:lnTo>
                    <a:pt x="52" y="104"/>
                  </a:lnTo>
                  <a:lnTo>
                    <a:pt x="52" y="86"/>
                  </a:lnTo>
                  <a:lnTo>
                    <a:pt x="34" y="86"/>
                  </a:lnTo>
                  <a:lnTo>
                    <a:pt x="17" y="86"/>
                  </a:lnTo>
                  <a:lnTo>
                    <a:pt x="0" y="86"/>
                  </a:lnTo>
                  <a:lnTo>
                    <a:pt x="0" y="69"/>
                  </a:lnTo>
                  <a:lnTo>
                    <a:pt x="17" y="52"/>
                  </a:lnTo>
                  <a:lnTo>
                    <a:pt x="34" y="52"/>
                  </a:lnTo>
                  <a:lnTo>
                    <a:pt x="52" y="35"/>
                  </a:lnTo>
                  <a:lnTo>
                    <a:pt x="69" y="35"/>
                  </a:lnTo>
                  <a:lnTo>
                    <a:pt x="90" y="35"/>
                  </a:lnTo>
                  <a:lnTo>
                    <a:pt x="90" y="17"/>
                  </a:lnTo>
                  <a:lnTo>
                    <a:pt x="107" y="0"/>
                  </a:lnTo>
                  <a:lnTo>
                    <a:pt x="125" y="0"/>
                  </a:lnTo>
                  <a:lnTo>
                    <a:pt x="142" y="0"/>
                  </a:lnTo>
                  <a:lnTo>
                    <a:pt x="177" y="0"/>
                  </a:lnTo>
                  <a:lnTo>
                    <a:pt x="196"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78" name="Freeform 7">
              <a:extLst>
                <a:ext uri="{FF2B5EF4-FFF2-40B4-BE49-F238E27FC236}">
                  <a16:creationId xmlns:a16="http://schemas.microsoft.com/office/drawing/2014/main" id="{0575780A-C81F-4EE5-8CB1-8E48F8DF6831}"/>
                </a:ext>
              </a:extLst>
            </p:cNvPr>
            <p:cNvSpPr>
              <a:spLocks/>
            </p:cNvSpPr>
            <p:nvPr>
              <p:custDataLst>
                <p:tags r:id="rId8"/>
              </p:custDataLst>
            </p:nvPr>
          </p:nvSpPr>
          <p:spPr bwMode="auto">
            <a:xfrm>
              <a:off x="4564462" y="1905386"/>
              <a:ext cx="93241" cy="31667"/>
            </a:xfrm>
            <a:custGeom>
              <a:avLst/>
              <a:gdLst>
                <a:gd name="T0" fmla="*/ 7144 w 106"/>
                <a:gd name="T1" fmla="*/ 7144 h 36"/>
                <a:gd name="T2" fmla="*/ 3969 w 106"/>
                <a:gd name="T3" fmla="*/ 3969 h 36"/>
                <a:gd name="T4" fmla="*/ 0 w 106"/>
                <a:gd name="T5" fmla="*/ 3969 h 36"/>
                <a:gd name="T6" fmla="*/ 0 w 106"/>
                <a:gd name="T7" fmla="*/ 7144 h 36"/>
                <a:gd name="T8" fmla="*/ 0 w 106"/>
                <a:gd name="T9" fmla="*/ 0 h 36"/>
                <a:gd name="T10" fmla="*/ 7144 w 106"/>
                <a:gd name="T11" fmla="*/ 0 h 36"/>
                <a:gd name="T12" fmla="*/ 10319 w 106"/>
                <a:gd name="T13" fmla="*/ 0 h 36"/>
                <a:gd name="T14" fmla="*/ 14288 w 106"/>
                <a:gd name="T15" fmla="*/ 0 h 36"/>
                <a:gd name="T16" fmla="*/ 17463 w 106"/>
                <a:gd name="T17" fmla="*/ 0 h 36"/>
                <a:gd name="T18" fmla="*/ 21431 w 106"/>
                <a:gd name="T19" fmla="*/ 3969 h 36"/>
                <a:gd name="T20" fmla="*/ 17463 w 106"/>
                <a:gd name="T21" fmla="*/ 3969 h 36"/>
                <a:gd name="T22" fmla="*/ 14288 w 106"/>
                <a:gd name="T23" fmla="*/ 7144 h 36"/>
                <a:gd name="T24" fmla="*/ 10319 w 106"/>
                <a:gd name="T25" fmla="*/ 7144 h 36"/>
                <a:gd name="T26" fmla="*/ 7144 w 106"/>
                <a:gd name="T27" fmla="*/ 7144 h 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6"/>
                <a:gd name="T43" fmla="*/ 0 h 36"/>
                <a:gd name="T44" fmla="*/ 106 w 106"/>
                <a:gd name="T45" fmla="*/ 36 h 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6" h="36">
                  <a:moveTo>
                    <a:pt x="36" y="36"/>
                  </a:moveTo>
                  <a:lnTo>
                    <a:pt x="17" y="17"/>
                  </a:lnTo>
                  <a:lnTo>
                    <a:pt x="0" y="17"/>
                  </a:lnTo>
                  <a:lnTo>
                    <a:pt x="0" y="36"/>
                  </a:lnTo>
                  <a:lnTo>
                    <a:pt x="0" y="0"/>
                  </a:lnTo>
                  <a:lnTo>
                    <a:pt x="36" y="0"/>
                  </a:lnTo>
                  <a:lnTo>
                    <a:pt x="54" y="0"/>
                  </a:lnTo>
                  <a:lnTo>
                    <a:pt x="71" y="0"/>
                  </a:lnTo>
                  <a:lnTo>
                    <a:pt x="88" y="0"/>
                  </a:lnTo>
                  <a:lnTo>
                    <a:pt x="106" y="17"/>
                  </a:lnTo>
                  <a:lnTo>
                    <a:pt x="88" y="17"/>
                  </a:lnTo>
                  <a:lnTo>
                    <a:pt x="71" y="36"/>
                  </a:lnTo>
                  <a:lnTo>
                    <a:pt x="54" y="36"/>
                  </a:lnTo>
                  <a:lnTo>
                    <a:pt x="36" y="3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79" name="Freeform 8">
              <a:extLst>
                <a:ext uri="{FF2B5EF4-FFF2-40B4-BE49-F238E27FC236}">
                  <a16:creationId xmlns:a16="http://schemas.microsoft.com/office/drawing/2014/main" id="{C4D6C0FD-57A7-44E1-B5D3-22252EBF33D8}"/>
                </a:ext>
              </a:extLst>
            </p:cNvPr>
            <p:cNvSpPr>
              <a:spLocks/>
            </p:cNvSpPr>
            <p:nvPr>
              <p:custDataLst>
                <p:tags r:id="rId9"/>
              </p:custDataLst>
            </p:nvPr>
          </p:nvSpPr>
          <p:spPr bwMode="auto">
            <a:xfrm>
              <a:off x="4564462" y="1937053"/>
              <a:ext cx="79167" cy="45741"/>
            </a:xfrm>
            <a:custGeom>
              <a:avLst/>
              <a:gdLst>
                <a:gd name="T0" fmla="*/ 14612 w 88"/>
                <a:gd name="T1" fmla="*/ 3969 h 52"/>
                <a:gd name="T2" fmla="*/ 11365 w 88"/>
                <a:gd name="T3" fmla="*/ 7144 h 52"/>
                <a:gd name="T4" fmla="*/ 4059 w 88"/>
                <a:gd name="T5" fmla="*/ 10319 h 52"/>
                <a:gd name="T6" fmla="*/ 0 w 88"/>
                <a:gd name="T7" fmla="*/ 7144 h 52"/>
                <a:gd name="T8" fmla="*/ 0 w 88"/>
                <a:gd name="T9" fmla="*/ 3969 h 52"/>
                <a:gd name="T10" fmla="*/ 0 w 88"/>
                <a:gd name="T11" fmla="*/ 0 h 52"/>
                <a:gd name="T12" fmla="*/ 11365 w 88"/>
                <a:gd name="T13" fmla="*/ 0 h 52"/>
                <a:gd name="T14" fmla="*/ 14612 w 88"/>
                <a:gd name="T15" fmla="*/ 0 h 52"/>
                <a:gd name="T16" fmla="*/ 18671 w 88"/>
                <a:gd name="T17" fmla="*/ 0 h 52"/>
                <a:gd name="T18" fmla="*/ 18671 w 88"/>
                <a:gd name="T19" fmla="*/ 3969 h 52"/>
                <a:gd name="T20" fmla="*/ 14612 w 88"/>
                <a:gd name="T21" fmla="*/ 3969 h 52"/>
                <a:gd name="T22" fmla="*/ 11365 w 88"/>
                <a:gd name="T23" fmla="*/ 3969 h 52"/>
                <a:gd name="T24" fmla="*/ 14612 w 88"/>
                <a:gd name="T25" fmla="*/ 3969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8"/>
                <a:gd name="T40" fmla="*/ 0 h 52"/>
                <a:gd name="T41" fmla="*/ 88 w 88"/>
                <a:gd name="T42" fmla="*/ 52 h 5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8" h="52">
                  <a:moveTo>
                    <a:pt x="71" y="18"/>
                  </a:moveTo>
                  <a:lnTo>
                    <a:pt x="54" y="35"/>
                  </a:lnTo>
                  <a:lnTo>
                    <a:pt x="17" y="52"/>
                  </a:lnTo>
                  <a:lnTo>
                    <a:pt x="0" y="35"/>
                  </a:lnTo>
                  <a:lnTo>
                    <a:pt x="0" y="18"/>
                  </a:lnTo>
                  <a:lnTo>
                    <a:pt x="0" y="0"/>
                  </a:lnTo>
                  <a:lnTo>
                    <a:pt x="54" y="0"/>
                  </a:lnTo>
                  <a:lnTo>
                    <a:pt x="71" y="0"/>
                  </a:lnTo>
                  <a:lnTo>
                    <a:pt x="88" y="0"/>
                  </a:lnTo>
                  <a:lnTo>
                    <a:pt x="88" y="18"/>
                  </a:lnTo>
                  <a:lnTo>
                    <a:pt x="71" y="18"/>
                  </a:lnTo>
                  <a:lnTo>
                    <a:pt x="54" y="18"/>
                  </a:lnTo>
                  <a:lnTo>
                    <a:pt x="71" y="1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80" name="Freeform 9">
              <a:extLst>
                <a:ext uri="{FF2B5EF4-FFF2-40B4-BE49-F238E27FC236}">
                  <a16:creationId xmlns:a16="http://schemas.microsoft.com/office/drawing/2014/main" id="{4DA9C3C5-B266-4586-9A6D-CE05C66D3634}"/>
                </a:ext>
              </a:extLst>
            </p:cNvPr>
            <p:cNvSpPr>
              <a:spLocks/>
            </p:cNvSpPr>
            <p:nvPr>
              <p:custDataLst>
                <p:tags r:id="rId10"/>
              </p:custDataLst>
            </p:nvPr>
          </p:nvSpPr>
          <p:spPr bwMode="auto">
            <a:xfrm>
              <a:off x="4522240" y="1996867"/>
              <a:ext cx="29908" cy="0"/>
            </a:xfrm>
            <a:custGeom>
              <a:avLst/>
              <a:gdLst>
                <a:gd name="T0" fmla="*/ 3084 w 35"/>
                <a:gd name="T1" fmla="*/ 0 w 35"/>
                <a:gd name="T2" fmla="*/ 3084 w 35"/>
                <a:gd name="T3" fmla="*/ 6169 w 35"/>
                <a:gd name="T4" fmla="*/ 3084 w 35"/>
                <a:gd name="T5" fmla="*/ 0 60000 65536"/>
                <a:gd name="T6" fmla="*/ 0 60000 65536"/>
                <a:gd name="T7" fmla="*/ 0 60000 65536"/>
                <a:gd name="T8" fmla="*/ 0 60000 65536"/>
                <a:gd name="T9" fmla="*/ 0 60000 65536"/>
                <a:gd name="T10" fmla="*/ 0 w 35"/>
                <a:gd name="T11" fmla="*/ 35 w 35"/>
              </a:gdLst>
              <a:ahLst/>
              <a:cxnLst>
                <a:cxn ang="T5">
                  <a:pos x="T0" y="0"/>
                </a:cxn>
                <a:cxn ang="T6">
                  <a:pos x="T1" y="0"/>
                </a:cxn>
                <a:cxn ang="T7">
                  <a:pos x="T2" y="0"/>
                </a:cxn>
                <a:cxn ang="T8">
                  <a:pos x="T3" y="0"/>
                </a:cxn>
                <a:cxn ang="T9">
                  <a:pos x="T4" y="0"/>
                </a:cxn>
              </a:cxnLst>
              <a:rect l="T10" t="0" r="T11" b="0"/>
              <a:pathLst>
                <a:path w="35">
                  <a:moveTo>
                    <a:pt x="17" y="0"/>
                  </a:moveTo>
                  <a:lnTo>
                    <a:pt x="0" y="0"/>
                  </a:lnTo>
                  <a:lnTo>
                    <a:pt x="17" y="0"/>
                  </a:lnTo>
                  <a:lnTo>
                    <a:pt x="35" y="0"/>
                  </a:lnTo>
                  <a:lnTo>
                    <a:pt x="17" y="0"/>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1" name="Freeform 10">
              <a:extLst>
                <a:ext uri="{FF2B5EF4-FFF2-40B4-BE49-F238E27FC236}">
                  <a16:creationId xmlns:a16="http://schemas.microsoft.com/office/drawing/2014/main" id="{37B151A3-5FE3-4FD6-B986-DFCEE4EE2413}"/>
                </a:ext>
              </a:extLst>
            </p:cNvPr>
            <p:cNvSpPr>
              <a:spLocks/>
            </p:cNvSpPr>
            <p:nvPr>
              <p:custDataLst>
                <p:tags r:id="rId11"/>
              </p:custDataLst>
            </p:nvPr>
          </p:nvSpPr>
          <p:spPr bwMode="auto">
            <a:xfrm>
              <a:off x="4768536" y="1996867"/>
              <a:ext cx="170648" cy="93241"/>
            </a:xfrm>
            <a:custGeom>
              <a:avLst/>
              <a:gdLst>
                <a:gd name="T0" fmla="*/ 3969 w 194"/>
                <a:gd name="T1" fmla="*/ 7212 h 105"/>
                <a:gd name="T2" fmla="*/ 3969 w 194"/>
                <a:gd name="T3" fmla="*/ 4007 h 105"/>
                <a:gd name="T4" fmla="*/ 0 w 194"/>
                <a:gd name="T5" fmla="*/ 0 h 105"/>
                <a:gd name="T6" fmla="*/ 3969 w 194"/>
                <a:gd name="T7" fmla="*/ 0 h 105"/>
                <a:gd name="T8" fmla="*/ 10319 w 194"/>
                <a:gd name="T9" fmla="*/ 4007 h 105"/>
                <a:gd name="T10" fmla="*/ 14288 w 194"/>
                <a:gd name="T11" fmla="*/ 11218 h 105"/>
                <a:gd name="T12" fmla="*/ 20638 w 194"/>
                <a:gd name="T13" fmla="*/ 11218 h 105"/>
                <a:gd name="T14" fmla="*/ 18256 w 194"/>
                <a:gd name="T15" fmla="*/ 11218 h 105"/>
                <a:gd name="T16" fmla="*/ 14288 w 194"/>
                <a:gd name="T17" fmla="*/ 7212 h 105"/>
                <a:gd name="T18" fmla="*/ 14288 w 194"/>
                <a:gd name="T19" fmla="*/ 4007 h 105"/>
                <a:gd name="T20" fmla="*/ 18256 w 194"/>
                <a:gd name="T21" fmla="*/ 7212 h 105"/>
                <a:gd name="T22" fmla="*/ 24606 w 194"/>
                <a:gd name="T23" fmla="*/ 7212 h 105"/>
                <a:gd name="T24" fmla="*/ 24606 w 194"/>
                <a:gd name="T25" fmla="*/ 11218 h 105"/>
                <a:gd name="T26" fmla="*/ 24606 w 194"/>
                <a:gd name="T27" fmla="*/ 7212 h 105"/>
                <a:gd name="T28" fmla="*/ 24606 w 194"/>
                <a:gd name="T29" fmla="*/ 4007 h 105"/>
                <a:gd name="T30" fmla="*/ 20638 w 194"/>
                <a:gd name="T31" fmla="*/ 4007 h 105"/>
                <a:gd name="T32" fmla="*/ 20638 w 194"/>
                <a:gd name="T33" fmla="*/ 0 h 105"/>
                <a:gd name="T34" fmla="*/ 24606 w 194"/>
                <a:gd name="T35" fmla="*/ 0 h 105"/>
                <a:gd name="T36" fmla="*/ 28575 w 194"/>
                <a:gd name="T37" fmla="*/ 4007 h 105"/>
                <a:gd name="T38" fmla="*/ 31750 w 194"/>
                <a:gd name="T39" fmla="*/ 4007 h 105"/>
                <a:gd name="T40" fmla="*/ 35719 w 194"/>
                <a:gd name="T41" fmla="*/ 4007 h 105"/>
                <a:gd name="T42" fmla="*/ 35719 w 194"/>
                <a:gd name="T43" fmla="*/ 0 h 105"/>
                <a:gd name="T44" fmla="*/ 35719 w 194"/>
                <a:gd name="T45" fmla="*/ 4007 h 105"/>
                <a:gd name="T46" fmla="*/ 38894 w 194"/>
                <a:gd name="T47" fmla="*/ 4007 h 105"/>
                <a:gd name="T48" fmla="*/ 38894 w 194"/>
                <a:gd name="T49" fmla="*/ 7212 h 105"/>
                <a:gd name="T50" fmla="*/ 38894 w 194"/>
                <a:gd name="T51" fmla="*/ 14424 h 105"/>
                <a:gd name="T52" fmla="*/ 35719 w 194"/>
                <a:gd name="T53" fmla="*/ 14424 h 105"/>
                <a:gd name="T54" fmla="*/ 35719 w 194"/>
                <a:gd name="T55" fmla="*/ 21635 h 105"/>
                <a:gd name="T56" fmla="*/ 31750 w 194"/>
                <a:gd name="T57" fmla="*/ 21635 h 105"/>
                <a:gd name="T58" fmla="*/ 28575 w 194"/>
                <a:gd name="T59" fmla="*/ 21635 h 105"/>
                <a:gd name="T60" fmla="*/ 24606 w 194"/>
                <a:gd name="T61" fmla="*/ 21635 h 105"/>
                <a:gd name="T62" fmla="*/ 24606 w 194"/>
                <a:gd name="T63" fmla="*/ 17629 h 105"/>
                <a:gd name="T64" fmla="*/ 24606 w 194"/>
                <a:gd name="T65" fmla="*/ 14424 h 105"/>
                <a:gd name="T66" fmla="*/ 28575 w 194"/>
                <a:gd name="T67" fmla="*/ 14424 h 105"/>
                <a:gd name="T68" fmla="*/ 24606 w 194"/>
                <a:gd name="T69" fmla="*/ 14424 h 105"/>
                <a:gd name="T70" fmla="*/ 18256 w 194"/>
                <a:gd name="T71" fmla="*/ 14424 h 105"/>
                <a:gd name="T72" fmla="*/ 14288 w 194"/>
                <a:gd name="T73" fmla="*/ 14424 h 105"/>
                <a:gd name="T74" fmla="*/ 10319 w 194"/>
                <a:gd name="T75" fmla="*/ 14424 h 105"/>
                <a:gd name="T76" fmla="*/ 7938 w 194"/>
                <a:gd name="T77" fmla="*/ 14424 h 105"/>
                <a:gd name="T78" fmla="*/ 7938 w 194"/>
                <a:gd name="T79" fmla="*/ 11218 h 105"/>
                <a:gd name="T80" fmla="*/ 3969 w 194"/>
                <a:gd name="T81" fmla="*/ 11218 h 105"/>
                <a:gd name="T82" fmla="*/ 3969 w 194"/>
                <a:gd name="T83" fmla="*/ 7212 h 105"/>
                <a:gd name="T84" fmla="*/ 3969 w 194"/>
                <a:gd name="T85" fmla="*/ 4007 h 105"/>
                <a:gd name="T86" fmla="*/ 3969 w 194"/>
                <a:gd name="T87" fmla="*/ 7212 h 10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4"/>
                <a:gd name="T133" fmla="*/ 0 h 105"/>
                <a:gd name="T134" fmla="*/ 194 w 194"/>
                <a:gd name="T135" fmla="*/ 105 h 10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4" h="105">
                  <a:moveTo>
                    <a:pt x="19" y="34"/>
                  </a:moveTo>
                  <a:lnTo>
                    <a:pt x="19" y="17"/>
                  </a:lnTo>
                  <a:lnTo>
                    <a:pt x="0" y="0"/>
                  </a:lnTo>
                  <a:lnTo>
                    <a:pt x="19" y="0"/>
                  </a:lnTo>
                  <a:lnTo>
                    <a:pt x="54" y="17"/>
                  </a:lnTo>
                  <a:lnTo>
                    <a:pt x="71" y="53"/>
                  </a:lnTo>
                  <a:lnTo>
                    <a:pt x="106" y="53"/>
                  </a:lnTo>
                  <a:lnTo>
                    <a:pt x="89" y="53"/>
                  </a:lnTo>
                  <a:lnTo>
                    <a:pt x="71" y="34"/>
                  </a:lnTo>
                  <a:lnTo>
                    <a:pt x="71" y="17"/>
                  </a:lnTo>
                  <a:lnTo>
                    <a:pt x="89" y="34"/>
                  </a:lnTo>
                  <a:lnTo>
                    <a:pt x="125" y="34"/>
                  </a:lnTo>
                  <a:lnTo>
                    <a:pt x="125" y="53"/>
                  </a:lnTo>
                  <a:lnTo>
                    <a:pt x="125" y="34"/>
                  </a:lnTo>
                  <a:lnTo>
                    <a:pt x="125" y="17"/>
                  </a:lnTo>
                  <a:lnTo>
                    <a:pt x="106" y="17"/>
                  </a:lnTo>
                  <a:lnTo>
                    <a:pt x="106" y="0"/>
                  </a:lnTo>
                  <a:lnTo>
                    <a:pt x="125" y="0"/>
                  </a:lnTo>
                  <a:lnTo>
                    <a:pt x="142" y="17"/>
                  </a:lnTo>
                  <a:lnTo>
                    <a:pt x="160" y="17"/>
                  </a:lnTo>
                  <a:lnTo>
                    <a:pt x="177" y="17"/>
                  </a:lnTo>
                  <a:lnTo>
                    <a:pt x="177" y="0"/>
                  </a:lnTo>
                  <a:lnTo>
                    <a:pt x="177" y="17"/>
                  </a:lnTo>
                  <a:lnTo>
                    <a:pt x="194" y="17"/>
                  </a:lnTo>
                  <a:lnTo>
                    <a:pt x="194" y="34"/>
                  </a:lnTo>
                  <a:lnTo>
                    <a:pt x="194" y="71"/>
                  </a:lnTo>
                  <a:lnTo>
                    <a:pt x="177" y="71"/>
                  </a:lnTo>
                  <a:lnTo>
                    <a:pt x="177" y="105"/>
                  </a:lnTo>
                  <a:lnTo>
                    <a:pt x="160" y="105"/>
                  </a:lnTo>
                  <a:lnTo>
                    <a:pt x="142" y="105"/>
                  </a:lnTo>
                  <a:lnTo>
                    <a:pt x="125" y="105"/>
                  </a:lnTo>
                  <a:lnTo>
                    <a:pt x="125" y="88"/>
                  </a:lnTo>
                  <a:lnTo>
                    <a:pt x="125" y="71"/>
                  </a:lnTo>
                  <a:lnTo>
                    <a:pt x="142" y="71"/>
                  </a:lnTo>
                  <a:lnTo>
                    <a:pt x="125" y="71"/>
                  </a:lnTo>
                  <a:lnTo>
                    <a:pt x="89" y="71"/>
                  </a:lnTo>
                  <a:lnTo>
                    <a:pt x="71" y="71"/>
                  </a:lnTo>
                  <a:lnTo>
                    <a:pt x="54" y="71"/>
                  </a:lnTo>
                  <a:lnTo>
                    <a:pt x="37" y="71"/>
                  </a:lnTo>
                  <a:lnTo>
                    <a:pt x="37" y="53"/>
                  </a:lnTo>
                  <a:lnTo>
                    <a:pt x="19" y="53"/>
                  </a:lnTo>
                  <a:lnTo>
                    <a:pt x="19" y="34"/>
                  </a:lnTo>
                  <a:lnTo>
                    <a:pt x="19" y="17"/>
                  </a:lnTo>
                  <a:lnTo>
                    <a:pt x="19" y="34"/>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2" name="Freeform 11">
              <a:extLst>
                <a:ext uri="{FF2B5EF4-FFF2-40B4-BE49-F238E27FC236}">
                  <a16:creationId xmlns:a16="http://schemas.microsoft.com/office/drawing/2014/main" id="{68742C97-FDD4-44ED-BBA4-35D4C2375EB3}"/>
                </a:ext>
              </a:extLst>
            </p:cNvPr>
            <p:cNvSpPr>
              <a:spLocks/>
            </p:cNvSpPr>
            <p:nvPr>
              <p:custDataLst>
                <p:tags r:id="rId12"/>
              </p:custDataLst>
            </p:nvPr>
          </p:nvSpPr>
          <p:spPr bwMode="auto">
            <a:xfrm>
              <a:off x="4733351" y="1951127"/>
              <a:ext cx="35185" cy="31667"/>
            </a:xfrm>
            <a:custGeom>
              <a:avLst/>
              <a:gdLst>
                <a:gd name="T0" fmla="*/ 9191 w 38"/>
                <a:gd name="T1" fmla="*/ 3969 h 36"/>
                <a:gd name="T2" fmla="*/ 9191 w 38"/>
                <a:gd name="T3" fmla="*/ 7144 h 36"/>
                <a:gd name="T4" fmla="*/ 4178 w 38"/>
                <a:gd name="T5" fmla="*/ 7144 h 36"/>
                <a:gd name="T6" fmla="*/ 0 w 38"/>
                <a:gd name="T7" fmla="*/ 3969 h 36"/>
                <a:gd name="T8" fmla="*/ 0 w 38"/>
                <a:gd name="T9" fmla="*/ 0 h 36"/>
                <a:gd name="T10" fmla="*/ 4178 w 38"/>
                <a:gd name="T11" fmla="*/ 0 h 36"/>
                <a:gd name="T12" fmla="*/ 9191 w 38"/>
                <a:gd name="T13" fmla="*/ 3969 h 36"/>
                <a:gd name="T14" fmla="*/ 0 60000 65536"/>
                <a:gd name="T15" fmla="*/ 0 60000 65536"/>
                <a:gd name="T16" fmla="*/ 0 60000 65536"/>
                <a:gd name="T17" fmla="*/ 0 60000 65536"/>
                <a:gd name="T18" fmla="*/ 0 60000 65536"/>
                <a:gd name="T19" fmla="*/ 0 60000 65536"/>
                <a:gd name="T20" fmla="*/ 0 60000 65536"/>
                <a:gd name="T21" fmla="*/ 0 w 38"/>
                <a:gd name="T22" fmla="*/ 0 h 36"/>
                <a:gd name="T23" fmla="*/ 38 w 38"/>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36">
                  <a:moveTo>
                    <a:pt x="38" y="17"/>
                  </a:moveTo>
                  <a:lnTo>
                    <a:pt x="38" y="36"/>
                  </a:lnTo>
                  <a:lnTo>
                    <a:pt x="19" y="36"/>
                  </a:lnTo>
                  <a:lnTo>
                    <a:pt x="0" y="17"/>
                  </a:lnTo>
                  <a:lnTo>
                    <a:pt x="0" y="0"/>
                  </a:lnTo>
                  <a:lnTo>
                    <a:pt x="19" y="0"/>
                  </a:lnTo>
                  <a:lnTo>
                    <a:pt x="38" y="17"/>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3" name="Freeform 12">
              <a:extLst>
                <a:ext uri="{FF2B5EF4-FFF2-40B4-BE49-F238E27FC236}">
                  <a16:creationId xmlns:a16="http://schemas.microsoft.com/office/drawing/2014/main" id="{174F0C2C-0C83-4B32-81F6-382028FA5908}"/>
                </a:ext>
              </a:extLst>
            </p:cNvPr>
            <p:cNvSpPr>
              <a:spLocks/>
            </p:cNvSpPr>
            <p:nvPr>
              <p:custDataLst>
                <p:tags r:id="rId13"/>
              </p:custDataLst>
            </p:nvPr>
          </p:nvSpPr>
          <p:spPr bwMode="auto">
            <a:xfrm>
              <a:off x="4768536" y="2056682"/>
              <a:ext cx="33426" cy="33426"/>
            </a:xfrm>
            <a:custGeom>
              <a:avLst/>
              <a:gdLst>
                <a:gd name="T0" fmla="*/ 3094 w 39"/>
                <a:gd name="T1" fmla="*/ 0 h 36"/>
                <a:gd name="T2" fmla="*/ 6961 w 39"/>
                <a:gd name="T3" fmla="*/ 4189 h 36"/>
                <a:gd name="T4" fmla="*/ 3094 w 39"/>
                <a:gd name="T5" fmla="*/ 8379 h 36"/>
                <a:gd name="T6" fmla="*/ 0 w 39"/>
                <a:gd name="T7" fmla="*/ 8379 h 36"/>
                <a:gd name="T8" fmla="*/ 0 w 39"/>
                <a:gd name="T9" fmla="*/ 4189 h 36"/>
                <a:gd name="T10" fmla="*/ 0 w 39"/>
                <a:gd name="T11" fmla="*/ 0 h 36"/>
                <a:gd name="T12" fmla="*/ 3094 w 39"/>
                <a:gd name="T13" fmla="*/ 0 h 36"/>
                <a:gd name="T14" fmla="*/ 0 60000 65536"/>
                <a:gd name="T15" fmla="*/ 0 60000 65536"/>
                <a:gd name="T16" fmla="*/ 0 60000 65536"/>
                <a:gd name="T17" fmla="*/ 0 60000 65536"/>
                <a:gd name="T18" fmla="*/ 0 60000 65536"/>
                <a:gd name="T19" fmla="*/ 0 60000 65536"/>
                <a:gd name="T20" fmla="*/ 0 60000 65536"/>
                <a:gd name="T21" fmla="*/ 0 w 39"/>
                <a:gd name="T22" fmla="*/ 0 h 36"/>
                <a:gd name="T23" fmla="*/ 39 w 39"/>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36">
                  <a:moveTo>
                    <a:pt x="19" y="0"/>
                  </a:moveTo>
                  <a:lnTo>
                    <a:pt x="39" y="19"/>
                  </a:lnTo>
                  <a:lnTo>
                    <a:pt x="19" y="36"/>
                  </a:lnTo>
                  <a:lnTo>
                    <a:pt x="0" y="36"/>
                  </a:lnTo>
                  <a:lnTo>
                    <a:pt x="0" y="19"/>
                  </a:lnTo>
                  <a:lnTo>
                    <a:pt x="0" y="0"/>
                  </a:lnTo>
                  <a:lnTo>
                    <a:pt x="19" y="0"/>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4" name="Freeform 13">
              <a:extLst>
                <a:ext uri="{FF2B5EF4-FFF2-40B4-BE49-F238E27FC236}">
                  <a16:creationId xmlns:a16="http://schemas.microsoft.com/office/drawing/2014/main" id="{040DEAD3-3700-474F-BE54-0D32D81325B4}"/>
                </a:ext>
              </a:extLst>
            </p:cNvPr>
            <p:cNvSpPr>
              <a:spLocks/>
            </p:cNvSpPr>
            <p:nvPr>
              <p:custDataLst>
                <p:tags r:id="rId14"/>
              </p:custDataLst>
            </p:nvPr>
          </p:nvSpPr>
          <p:spPr bwMode="auto">
            <a:xfrm>
              <a:off x="4828350" y="1937053"/>
              <a:ext cx="31667" cy="14074"/>
            </a:xfrm>
            <a:custGeom>
              <a:avLst/>
              <a:gdLst>
                <a:gd name="T0" fmla="*/ 0 w 37"/>
                <a:gd name="T1" fmla="*/ 3175 h 16"/>
                <a:gd name="T2" fmla="*/ 0 w 37"/>
                <a:gd name="T3" fmla="*/ 0 h 16"/>
                <a:gd name="T4" fmla="*/ 3861 w 37"/>
                <a:gd name="T5" fmla="*/ 0 h 16"/>
                <a:gd name="T6" fmla="*/ 3861 w 37"/>
                <a:gd name="T7" fmla="*/ 3175 h 16"/>
                <a:gd name="T8" fmla="*/ 6951 w 37"/>
                <a:gd name="T9" fmla="*/ 3175 h 16"/>
                <a:gd name="T10" fmla="*/ 3861 w 37"/>
                <a:gd name="T11" fmla="*/ 3175 h 16"/>
                <a:gd name="T12" fmla="*/ 0 w 37"/>
                <a:gd name="T13" fmla="*/ 3175 h 16"/>
                <a:gd name="T14" fmla="*/ 0 60000 65536"/>
                <a:gd name="T15" fmla="*/ 0 60000 65536"/>
                <a:gd name="T16" fmla="*/ 0 60000 65536"/>
                <a:gd name="T17" fmla="*/ 0 60000 65536"/>
                <a:gd name="T18" fmla="*/ 0 60000 65536"/>
                <a:gd name="T19" fmla="*/ 0 60000 65536"/>
                <a:gd name="T20" fmla="*/ 0 60000 65536"/>
                <a:gd name="T21" fmla="*/ 0 w 37"/>
                <a:gd name="T22" fmla="*/ 0 h 16"/>
                <a:gd name="T23" fmla="*/ 37 w 37"/>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16">
                  <a:moveTo>
                    <a:pt x="0" y="16"/>
                  </a:moveTo>
                  <a:lnTo>
                    <a:pt x="0" y="0"/>
                  </a:lnTo>
                  <a:lnTo>
                    <a:pt x="20" y="0"/>
                  </a:lnTo>
                  <a:lnTo>
                    <a:pt x="20" y="16"/>
                  </a:lnTo>
                  <a:lnTo>
                    <a:pt x="37" y="16"/>
                  </a:lnTo>
                  <a:lnTo>
                    <a:pt x="20" y="16"/>
                  </a:lnTo>
                  <a:lnTo>
                    <a:pt x="0" y="16"/>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5" name="Freeform 14">
              <a:extLst>
                <a:ext uri="{FF2B5EF4-FFF2-40B4-BE49-F238E27FC236}">
                  <a16:creationId xmlns:a16="http://schemas.microsoft.com/office/drawing/2014/main" id="{A0B091B4-B478-4CF8-96BC-EB7B9DA19F53}"/>
                </a:ext>
              </a:extLst>
            </p:cNvPr>
            <p:cNvSpPr>
              <a:spLocks/>
            </p:cNvSpPr>
            <p:nvPr>
              <p:custDataLst>
                <p:tags r:id="rId15"/>
              </p:custDataLst>
            </p:nvPr>
          </p:nvSpPr>
          <p:spPr bwMode="auto">
            <a:xfrm>
              <a:off x="4891683" y="1829739"/>
              <a:ext cx="31667" cy="15834"/>
            </a:xfrm>
            <a:custGeom>
              <a:avLst/>
              <a:gdLst>
                <a:gd name="T0" fmla="*/ 6951 w 37"/>
                <a:gd name="T1" fmla="*/ 0 h 19"/>
                <a:gd name="T2" fmla="*/ 6951 w 37"/>
                <a:gd name="T3" fmla="*/ 3008 h 19"/>
                <a:gd name="T4" fmla="*/ 3089 w 37"/>
                <a:gd name="T5" fmla="*/ 3008 h 19"/>
                <a:gd name="T6" fmla="*/ 0 w 37"/>
                <a:gd name="T7" fmla="*/ 0 h 19"/>
                <a:gd name="T8" fmla="*/ 3089 w 37"/>
                <a:gd name="T9" fmla="*/ 0 h 19"/>
                <a:gd name="T10" fmla="*/ 6951 w 37"/>
                <a:gd name="T11" fmla="*/ 0 h 19"/>
                <a:gd name="T12" fmla="*/ 0 60000 65536"/>
                <a:gd name="T13" fmla="*/ 0 60000 65536"/>
                <a:gd name="T14" fmla="*/ 0 60000 65536"/>
                <a:gd name="T15" fmla="*/ 0 60000 65536"/>
                <a:gd name="T16" fmla="*/ 0 60000 65536"/>
                <a:gd name="T17" fmla="*/ 0 60000 65536"/>
                <a:gd name="T18" fmla="*/ 0 w 37"/>
                <a:gd name="T19" fmla="*/ 0 h 19"/>
                <a:gd name="T20" fmla="*/ 37 w 37"/>
                <a:gd name="T21" fmla="*/ 19 h 19"/>
              </a:gdLst>
              <a:ahLst/>
              <a:cxnLst>
                <a:cxn ang="T12">
                  <a:pos x="T0" y="T1"/>
                </a:cxn>
                <a:cxn ang="T13">
                  <a:pos x="T2" y="T3"/>
                </a:cxn>
                <a:cxn ang="T14">
                  <a:pos x="T4" y="T5"/>
                </a:cxn>
                <a:cxn ang="T15">
                  <a:pos x="T6" y="T7"/>
                </a:cxn>
                <a:cxn ang="T16">
                  <a:pos x="T8" y="T9"/>
                </a:cxn>
                <a:cxn ang="T17">
                  <a:pos x="T10" y="T11"/>
                </a:cxn>
              </a:cxnLst>
              <a:rect l="T18" t="T19" r="T20" b="T21"/>
              <a:pathLst>
                <a:path w="37" h="19">
                  <a:moveTo>
                    <a:pt x="37" y="0"/>
                  </a:moveTo>
                  <a:lnTo>
                    <a:pt x="37" y="19"/>
                  </a:lnTo>
                  <a:lnTo>
                    <a:pt x="18" y="19"/>
                  </a:lnTo>
                  <a:lnTo>
                    <a:pt x="0" y="0"/>
                  </a:lnTo>
                  <a:lnTo>
                    <a:pt x="18" y="0"/>
                  </a:lnTo>
                  <a:lnTo>
                    <a:pt x="37" y="0"/>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6" name="Freeform 15">
              <a:extLst>
                <a:ext uri="{FF2B5EF4-FFF2-40B4-BE49-F238E27FC236}">
                  <a16:creationId xmlns:a16="http://schemas.microsoft.com/office/drawing/2014/main" id="{199B729D-320A-494F-AF19-9ABCA3631D8A}"/>
                </a:ext>
              </a:extLst>
            </p:cNvPr>
            <p:cNvSpPr>
              <a:spLocks/>
            </p:cNvSpPr>
            <p:nvPr>
              <p:custDataLst>
                <p:tags r:id="rId16"/>
              </p:custDataLst>
            </p:nvPr>
          </p:nvSpPr>
          <p:spPr bwMode="auto">
            <a:xfrm>
              <a:off x="4754462" y="1861406"/>
              <a:ext cx="156574" cy="89722"/>
            </a:xfrm>
            <a:custGeom>
              <a:avLst/>
              <a:gdLst>
                <a:gd name="T0" fmla="*/ 24469 w 179"/>
                <a:gd name="T1" fmla="*/ 16669 h 102"/>
                <a:gd name="T2" fmla="*/ 17365 w 179"/>
                <a:gd name="T3" fmla="*/ 13494 h 102"/>
                <a:gd name="T4" fmla="*/ 14208 w 179"/>
                <a:gd name="T5" fmla="*/ 13494 h 102"/>
                <a:gd name="T6" fmla="*/ 11050 w 179"/>
                <a:gd name="T7" fmla="*/ 13494 h 102"/>
                <a:gd name="T8" fmla="*/ 7104 w 179"/>
                <a:gd name="T9" fmla="*/ 13494 h 102"/>
                <a:gd name="T10" fmla="*/ 3157 w 179"/>
                <a:gd name="T11" fmla="*/ 13494 h 102"/>
                <a:gd name="T12" fmla="*/ 3157 w 179"/>
                <a:gd name="T13" fmla="*/ 10319 h 102"/>
                <a:gd name="T14" fmla="*/ 7104 w 179"/>
                <a:gd name="T15" fmla="*/ 10319 h 102"/>
                <a:gd name="T16" fmla="*/ 3157 w 179"/>
                <a:gd name="T17" fmla="*/ 10319 h 102"/>
                <a:gd name="T18" fmla="*/ 3157 w 179"/>
                <a:gd name="T19" fmla="*/ 7144 h 102"/>
                <a:gd name="T20" fmla="*/ 0 w 179"/>
                <a:gd name="T21" fmla="*/ 7144 h 102"/>
                <a:gd name="T22" fmla="*/ 0 w 179"/>
                <a:gd name="T23" fmla="*/ 2381 h 102"/>
                <a:gd name="T24" fmla="*/ 3157 w 179"/>
                <a:gd name="T25" fmla="*/ 2381 h 102"/>
                <a:gd name="T26" fmla="*/ 3157 w 179"/>
                <a:gd name="T27" fmla="*/ 0 h 102"/>
                <a:gd name="T28" fmla="*/ 7104 w 179"/>
                <a:gd name="T29" fmla="*/ 2381 h 102"/>
                <a:gd name="T30" fmla="*/ 11050 w 179"/>
                <a:gd name="T31" fmla="*/ 2381 h 102"/>
                <a:gd name="T32" fmla="*/ 14208 w 179"/>
                <a:gd name="T33" fmla="*/ 7144 h 102"/>
                <a:gd name="T34" fmla="*/ 14208 w 179"/>
                <a:gd name="T35" fmla="*/ 2381 h 102"/>
                <a:gd name="T36" fmla="*/ 17365 w 179"/>
                <a:gd name="T37" fmla="*/ 2381 h 102"/>
                <a:gd name="T38" fmla="*/ 21312 w 179"/>
                <a:gd name="T39" fmla="*/ 7144 h 102"/>
                <a:gd name="T40" fmla="*/ 21312 w 179"/>
                <a:gd name="T41" fmla="*/ 10319 h 102"/>
                <a:gd name="T42" fmla="*/ 24469 w 179"/>
                <a:gd name="T43" fmla="*/ 10319 h 102"/>
                <a:gd name="T44" fmla="*/ 24469 w 179"/>
                <a:gd name="T45" fmla="*/ 7144 h 102"/>
                <a:gd name="T46" fmla="*/ 28415 w 179"/>
                <a:gd name="T47" fmla="*/ 7144 h 102"/>
                <a:gd name="T48" fmla="*/ 28415 w 179"/>
                <a:gd name="T49" fmla="*/ 10319 h 102"/>
                <a:gd name="T50" fmla="*/ 31573 w 179"/>
                <a:gd name="T51" fmla="*/ 10319 h 102"/>
                <a:gd name="T52" fmla="*/ 28415 w 179"/>
                <a:gd name="T53" fmla="*/ 10319 h 102"/>
                <a:gd name="T54" fmla="*/ 31573 w 179"/>
                <a:gd name="T55" fmla="*/ 13494 h 102"/>
                <a:gd name="T56" fmla="*/ 34730 w 179"/>
                <a:gd name="T57" fmla="*/ 16669 h 102"/>
                <a:gd name="T58" fmla="*/ 34730 w 179"/>
                <a:gd name="T59" fmla="*/ 20638 h 102"/>
                <a:gd name="T60" fmla="*/ 31573 w 179"/>
                <a:gd name="T61" fmla="*/ 20638 h 102"/>
                <a:gd name="T62" fmla="*/ 28415 w 179"/>
                <a:gd name="T63" fmla="*/ 20638 h 102"/>
                <a:gd name="T64" fmla="*/ 28415 w 179"/>
                <a:gd name="T65" fmla="*/ 16669 h 102"/>
                <a:gd name="T66" fmla="*/ 24469 w 179"/>
                <a:gd name="T67" fmla="*/ 16669 h 10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79"/>
                <a:gd name="T103" fmla="*/ 0 h 102"/>
                <a:gd name="T104" fmla="*/ 179 w 179"/>
                <a:gd name="T105" fmla="*/ 102 h 10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79" h="102">
                  <a:moveTo>
                    <a:pt x="127" y="84"/>
                  </a:moveTo>
                  <a:lnTo>
                    <a:pt x="90" y="67"/>
                  </a:lnTo>
                  <a:lnTo>
                    <a:pt x="73" y="67"/>
                  </a:lnTo>
                  <a:lnTo>
                    <a:pt x="56" y="67"/>
                  </a:lnTo>
                  <a:lnTo>
                    <a:pt x="39" y="67"/>
                  </a:lnTo>
                  <a:lnTo>
                    <a:pt x="19" y="67"/>
                  </a:lnTo>
                  <a:lnTo>
                    <a:pt x="19" y="50"/>
                  </a:lnTo>
                  <a:lnTo>
                    <a:pt x="39" y="50"/>
                  </a:lnTo>
                  <a:lnTo>
                    <a:pt x="19" y="50"/>
                  </a:lnTo>
                  <a:lnTo>
                    <a:pt x="19" y="33"/>
                  </a:lnTo>
                  <a:lnTo>
                    <a:pt x="0" y="33"/>
                  </a:lnTo>
                  <a:lnTo>
                    <a:pt x="0" y="15"/>
                  </a:lnTo>
                  <a:lnTo>
                    <a:pt x="19" y="15"/>
                  </a:lnTo>
                  <a:lnTo>
                    <a:pt x="19" y="0"/>
                  </a:lnTo>
                  <a:lnTo>
                    <a:pt x="39" y="15"/>
                  </a:lnTo>
                  <a:lnTo>
                    <a:pt x="56" y="15"/>
                  </a:lnTo>
                  <a:lnTo>
                    <a:pt x="73" y="33"/>
                  </a:lnTo>
                  <a:lnTo>
                    <a:pt x="73" y="15"/>
                  </a:lnTo>
                  <a:lnTo>
                    <a:pt x="90" y="15"/>
                  </a:lnTo>
                  <a:lnTo>
                    <a:pt x="108" y="33"/>
                  </a:lnTo>
                  <a:lnTo>
                    <a:pt x="108" y="50"/>
                  </a:lnTo>
                  <a:lnTo>
                    <a:pt x="127" y="50"/>
                  </a:lnTo>
                  <a:lnTo>
                    <a:pt x="127" y="33"/>
                  </a:lnTo>
                  <a:lnTo>
                    <a:pt x="144" y="33"/>
                  </a:lnTo>
                  <a:lnTo>
                    <a:pt x="144" y="50"/>
                  </a:lnTo>
                  <a:lnTo>
                    <a:pt x="161" y="50"/>
                  </a:lnTo>
                  <a:lnTo>
                    <a:pt x="144" y="50"/>
                  </a:lnTo>
                  <a:lnTo>
                    <a:pt x="161" y="67"/>
                  </a:lnTo>
                  <a:lnTo>
                    <a:pt x="179" y="84"/>
                  </a:lnTo>
                  <a:lnTo>
                    <a:pt x="179" y="102"/>
                  </a:lnTo>
                  <a:lnTo>
                    <a:pt x="161" y="102"/>
                  </a:lnTo>
                  <a:lnTo>
                    <a:pt x="144" y="102"/>
                  </a:lnTo>
                  <a:lnTo>
                    <a:pt x="144" y="84"/>
                  </a:lnTo>
                  <a:lnTo>
                    <a:pt x="127" y="84"/>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7" name="Freeform 16">
              <a:extLst>
                <a:ext uri="{FF2B5EF4-FFF2-40B4-BE49-F238E27FC236}">
                  <a16:creationId xmlns:a16="http://schemas.microsoft.com/office/drawing/2014/main" id="{213F93A0-F900-4184-91F9-875F75ACA847}"/>
                </a:ext>
              </a:extLst>
            </p:cNvPr>
            <p:cNvSpPr>
              <a:spLocks/>
            </p:cNvSpPr>
            <p:nvPr>
              <p:custDataLst>
                <p:tags r:id="rId17"/>
              </p:custDataLst>
            </p:nvPr>
          </p:nvSpPr>
          <p:spPr bwMode="auto">
            <a:xfrm>
              <a:off x="4969090" y="1982793"/>
              <a:ext cx="418702" cy="119629"/>
            </a:xfrm>
            <a:custGeom>
              <a:avLst/>
              <a:gdLst>
                <a:gd name="T0" fmla="*/ 91281 w 476"/>
                <a:gd name="T1" fmla="*/ 20637 h 136"/>
                <a:gd name="T2" fmla="*/ 91281 w 476"/>
                <a:gd name="T3" fmla="*/ 23019 h 136"/>
                <a:gd name="T4" fmla="*/ 94456 w 476"/>
                <a:gd name="T5" fmla="*/ 23019 h 136"/>
                <a:gd name="T6" fmla="*/ 91281 w 476"/>
                <a:gd name="T7" fmla="*/ 26988 h 136"/>
                <a:gd name="T8" fmla="*/ 84138 w 476"/>
                <a:gd name="T9" fmla="*/ 26988 h 136"/>
                <a:gd name="T10" fmla="*/ 76994 w 476"/>
                <a:gd name="T11" fmla="*/ 26988 h 136"/>
                <a:gd name="T12" fmla="*/ 73819 w 476"/>
                <a:gd name="T13" fmla="*/ 26988 h 136"/>
                <a:gd name="T14" fmla="*/ 70644 w 476"/>
                <a:gd name="T15" fmla="*/ 26988 h 136"/>
                <a:gd name="T16" fmla="*/ 63500 w 476"/>
                <a:gd name="T17" fmla="*/ 26988 h 136"/>
                <a:gd name="T18" fmla="*/ 56356 w 476"/>
                <a:gd name="T19" fmla="*/ 26988 h 136"/>
                <a:gd name="T20" fmla="*/ 53181 w 476"/>
                <a:gd name="T21" fmla="*/ 26988 h 136"/>
                <a:gd name="T22" fmla="*/ 48419 w 476"/>
                <a:gd name="T23" fmla="*/ 26988 h 136"/>
                <a:gd name="T24" fmla="*/ 45244 w 476"/>
                <a:gd name="T25" fmla="*/ 26988 h 136"/>
                <a:gd name="T26" fmla="*/ 42069 w 476"/>
                <a:gd name="T27" fmla="*/ 26988 h 136"/>
                <a:gd name="T28" fmla="*/ 38100 w 476"/>
                <a:gd name="T29" fmla="*/ 26988 h 136"/>
                <a:gd name="T30" fmla="*/ 31750 w 476"/>
                <a:gd name="T31" fmla="*/ 26988 h 136"/>
                <a:gd name="T32" fmla="*/ 23812 w 476"/>
                <a:gd name="T33" fmla="*/ 23019 h 136"/>
                <a:gd name="T34" fmla="*/ 21431 w 476"/>
                <a:gd name="T35" fmla="*/ 20637 h 136"/>
                <a:gd name="T36" fmla="*/ 23812 w 476"/>
                <a:gd name="T37" fmla="*/ 20637 h 136"/>
                <a:gd name="T38" fmla="*/ 23812 w 476"/>
                <a:gd name="T39" fmla="*/ 16669 h 136"/>
                <a:gd name="T40" fmla="*/ 21431 w 476"/>
                <a:gd name="T41" fmla="*/ 16669 h 136"/>
                <a:gd name="T42" fmla="*/ 17463 w 476"/>
                <a:gd name="T43" fmla="*/ 10319 h 136"/>
                <a:gd name="T44" fmla="*/ 17463 w 476"/>
                <a:gd name="T45" fmla="*/ 7144 h 136"/>
                <a:gd name="T46" fmla="*/ 14288 w 476"/>
                <a:gd name="T47" fmla="*/ 10319 h 136"/>
                <a:gd name="T48" fmla="*/ 7144 w 476"/>
                <a:gd name="T49" fmla="*/ 7144 h 136"/>
                <a:gd name="T50" fmla="*/ 3969 w 476"/>
                <a:gd name="T51" fmla="*/ 3175 h 136"/>
                <a:gd name="T52" fmla="*/ 0 w 476"/>
                <a:gd name="T53" fmla="*/ 3175 h 136"/>
                <a:gd name="T54" fmla="*/ 3969 w 476"/>
                <a:gd name="T55" fmla="*/ 3175 h 136"/>
                <a:gd name="T56" fmla="*/ 3969 w 476"/>
                <a:gd name="T57" fmla="*/ 0 h 136"/>
                <a:gd name="T58" fmla="*/ 14288 w 476"/>
                <a:gd name="T59" fmla="*/ 3175 h 136"/>
                <a:gd name="T60" fmla="*/ 21431 w 476"/>
                <a:gd name="T61" fmla="*/ 7144 h 136"/>
                <a:gd name="T62" fmla="*/ 23812 w 476"/>
                <a:gd name="T63" fmla="*/ 7144 h 136"/>
                <a:gd name="T64" fmla="*/ 23812 w 476"/>
                <a:gd name="T65" fmla="*/ 3175 h 136"/>
                <a:gd name="T66" fmla="*/ 27781 w 476"/>
                <a:gd name="T67" fmla="*/ 3175 h 136"/>
                <a:gd name="T68" fmla="*/ 27781 w 476"/>
                <a:gd name="T69" fmla="*/ 7144 h 136"/>
                <a:gd name="T70" fmla="*/ 34925 w 476"/>
                <a:gd name="T71" fmla="*/ 10319 h 136"/>
                <a:gd name="T72" fmla="*/ 38100 w 476"/>
                <a:gd name="T73" fmla="*/ 10319 h 136"/>
                <a:gd name="T74" fmla="*/ 31750 w 476"/>
                <a:gd name="T75" fmla="*/ 10319 h 136"/>
                <a:gd name="T76" fmla="*/ 27781 w 476"/>
                <a:gd name="T77" fmla="*/ 10319 h 136"/>
                <a:gd name="T78" fmla="*/ 31750 w 476"/>
                <a:gd name="T79" fmla="*/ 16669 h 136"/>
                <a:gd name="T80" fmla="*/ 34925 w 476"/>
                <a:gd name="T81" fmla="*/ 16669 h 136"/>
                <a:gd name="T82" fmla="*/ 38100 w 476"/>
                <a:gd name="T83" fmla="*/ 16669 h 136"/>
                <a:gd name="T84" fmla="*/ 45244 w 476"/>
                <a:gd name="T85" fmla="*/ 16669 h 136"/>
                <a:gd name="T86" fmla="*/ 48419 w 476"/>
                <a:gd name="T87" fmla="*/ 20637 h 136"/>
                <a:gd name="T88" fmla="*/ 53181 w 476"/>
                <a:gd name="T89" fmla="*/ 20637 h 136"/>
                <a:gd name="T90" fmla="*/ 59531 w 476"/>
                <a:gd name="T91" fmla="*/ 16669 h 136"/>
                <a:gd name="T92" fmla="*/ 70644 w 476"/>
                <a:gd name="T93" fmla="*/ 16669 h 136"/>
                <a:gd name="T94" fmla="*/ 76994 w 476"/>
                <a:gd name="T95" fmla="*/ 16669 h 136"/>
                <a:gd name="T96" fmla="*/ 84138 w 476"/>
                <a:gd name="T97" fmla="*/ 16669 h 136"/>
                <a:gd name="T98" fmla="*/ 87313 w 476"/>
                <a:gd name="T99" fmla="*/ 16669 h 136"/>
                <a:gd name="T100" fmla="*/ 94456 w 476"/>
                <a:gd name="T101" fmla="*/ 20637 h 136"/>
                <a:gd name="T102" fmla="*/ 91281 w 476"/>
                <a:gd name="T103" fmla="*/ 20637 h 1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76"/>
                <a:gd name="T157" fmla="*/ 0 h 136"/>
                <a:gd name="T158" fmla="*/ 476 w 476"/>
                <a:gd name="T159" fmla="*/ 136 h 1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76" h="136">
                  <a:moveTo>
                    <a:pt x="457" y="104"/>
                  </a:moveTo>
                  <a:lnTo>
                    <a:pt x="457" y="119"/>
                  </a:lnTo>
                  <a:lnTo>
                    <a:pt x="476" y="119"/>
                  </a:lnTo>
                  <a:lnTo>
                    <a:pt x="457" y="136"/>
                  </a:lnTo>
                  <a:lnTo>
                    <a:pt x="422" y="136"/>
                  </a:lnTo>
                  <a:lnTo>
                    <a:pt x="388" y="136"/>
                  </a:lnTo>
                  <a:lnTo>
                    <a:pt x="370" y="136"/>
                  </a:lnTo>
                  <a:lnTo>
                    <a:pt x="353" y="136"/>
                  </a:lnTo>
                  <a:lnTo>
                    <a:pt x="317" y="136"/>
                  </a:lnTo>
                  <a:lnTo>
                    <a:pt x="282" y="136"/>
                  </a:lnTo>
                  <a:lnTo>
                    <a:pt x="265" y="136"/>
                  </a:lnTo>
                  <a:lnTo>
                    <a:pt x="247" y="136"/>
                  </a:lnTo>
                  <a:lnTo>
                    <a:pt x="228" y="136"/>
                  </a:lnTo>
                  <a:lnTo>
                    <a:pt x="211" y="136"/>
                  </a:lnTo>
                  <a:lnTo>
                    <a:pt x="192" y="136"/>
                  </a:lnTo>
                  <a:lnTo>
                    <a:pt x="157" y="136"/>
                  </a:lnTo>
                  <a:lnTo>
                    <a:pt x="123" y="119"/>
                  </a:lnTo>
                  <a:lnTo>
                    <a:pt x="105" y="104"/>
                  </a:lnTo>
                  <a:lnTo>
                    <a:pt x="123" y="104"/>
                  </a:lnTo>
                  <a:lnTo>
                    <a:pt x="123" y="87"/>
                  </a:lnTo>
                  <a:lnTo>
                    <a:pt x="105" y="87"/>
                  </a:lnTo>
                  <a:lnTo>
                    <a:pt x="86" y="52"/>
                  </a:lnTo>
                  <a:lnTo>
                    <a:pt x="86" y="35"/>
                  </a:lnTo>
                  <a:lnTo>
                    <a:pt x="69" y="52"/>
                  </a:lnTo>
                  <a:lnTo>
                    <a:pt x="34" y="35"/>
                  </a:lnTo>
                  <a:lnTo>
                    <a:pt x="17" y="17"/>
                  </a:lnTo>
                  <a:lnTo>
                    <a:pt x="0" y="17"/>
                  </a:lnTo>
                  <a:lnTo>
                    <a:pt x="17" y="17"/>
                  </a:lnTo>
                  <a:lnTo>
                    <a:pt x="17" y="0"/>
                  </a:lnTo>
                  <a:lnTo>
                    <a:pt x="69" y="17"/>
                  </a:lnTo>
                  <a:lnTo>
                    <a:pt x="105" y="35"/>
                  </a:lnTo>
                  <a:lnTo>
                    <a:pt x="123" y="35"/>
                  </a:lnTo>
                  <a:lnTo>
                    <a:pt x="123" y="17"/>
                  </a:lnTo>
                  <a:lnTo>
                    <a:pt x="140" y="17"/>
                  </a:lnTo>
                  <a:lnTo>
                    <a:pt x="140" y="35"/>
                  </a:lnTo>
                  <a:lnTo>
                    <a:pt x="174" y="52"/>
                  </a:lnTo>
                  <a:lnTo>
                    <a:pt x="192" y="52"/>
                  </a:lnTo>
                  <a:lnTo>
                    <a:pt x="157" y="52"/>
                  </a:lnTo>
                  <a:lnTo>
                    <a:pt x="140" y="52"/>
                  </a:lnTo>
                  <a:lnTo>
                    <a:pt x="157" y="87"/>
                  </a:lnTo>
                  <a:lnTo>
                    <a:pt x="174" y="87"/>
                  </a:lnTo>
                  <a:lnTo>
                    <a:pt x="192" y="87"/>
                  </a:lnTo>
                  <a:lnTo>
                    <a:pt x="228" y="87"/>
                  </a:lnTo>
                  <a:lnTo>
                    <a:pt x="247" y="104"/>
                  </a:lnTo>
                  <a:lnTo>
                    <a:pt x="265" y="104"/>
                  </a:lnTo>
                  <a:lnTo>
                    <a:pt x="299" y="87"/>
                  </a:lnTo>
                  <a:lnTo>
                    <a:pt x="353" y="87"/>
                  </a:lnTo>
                  <a:lnTo>
                    <a:pt x="388" y="87"/>
                  </a:lnTo>
                  <a:lnTo>
                    <a:pt x="422" y="87"/>
                  </a:lnTo>
                  <a:lnTo>
                    <a:pt x="439" y="87"/>
                  </a:lnTo>
                  <a:lnTo>
                    <a:pt x="476" y="104"/>
                  </a:lnTo>
                  <a:lnTo>
                    <a:pt x="457" y="104"/>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8" name="Freeform 17">
              <a:extLst>
                <a:ext uri="{FF2B5EF4-FFF2-40B4-BE49-F238E27FC236}">
                  <a16:creationId xmlns:a16="http://schemas.microsoft.com/office/drawing/2014/main" id="{4C4E3F00-6F87-4960-A99D-904C95E1322A}"/>
                </a:ext>
              </a:extLst>
            </p:cNvPr>
            <p:cNvSpPr>
              <a:spLocks/>
            </p:cNvSpPr>
            <p:nvPr>
              <p:custDataLst>
                <p:tags r:id="rId18"/>
              </p:custDataLst>
            </p:nvPr>
          </p:nvSpPr>
          <p:spPr bwMode="auto">
            <a:xfrm>
              <a:off x="4969090" y="2056682"/>
              <a:ext cx="75648" cy="45741"/>
            </a:xfrm>
            <a:custGeom>
              <a:avLst/>
              <a:gdLst>
                <a:gd name="T0" fmla="*/ 3969 w 86"/>
                <a:gd name="T1" fmla="*/ 4047 h 51"/>
                <a:gd name="T2" fmla="*/ 3969 w 86"/>
                <a:gd name="T3" fmla="*/ 0 h 51"/>
                <a:gd name="T4" fmla="*/ 10319 w 86"/>
                <a:gd name="T5" fmla="*/ 0 h 51"/>
                <a:gd name="T6" fmla="*/ 14288 w 86"/>
                <a:gd name="T7" fmla="*/ 0 h 51"/>
                <a:gd name="T8" fmla="*/ 14288 w 86"/>
                <a:gd name="T9" fmla="*/ 4047 h 51"/>
                <a:gd name="T10" fmla="*/ 17463 w 86"/>
                <a:gd name="T11" fmla="*/ 7284 h 51"/>
                <a:gd name="T12" fmla="*/ 14288 w 86"/>
                <a:gd name="T13" fmla="*/ 10521 h 51"/>
                <a:gd name="T14" fmla="*/ 10319 w 86"/>
                <a:gd name="T15" fmla="*/ 10521 h 51"/>
                <a:gd name="T16" fmla="*/ 3969 w 86"/>
                <a:gd name="T17" fmla="*/ 7284 h 51"/>
                <a:gd name="T18" fmla="*/ 0 w 86"/>
                <a:gd name="T19" fmla="*/ 7284 h 51"/>
                <a:gd name="T20" fmla="*/ 3969 w 86"/>
                <a:gd name="T21" fmla="*/ 4047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51"/>
                <a:gd name="T35" fmla="*/ 86 w 86"/>
                <a:gd name="T36" fmla="*/ 51 h 5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51">
                  <a:moveTo>
                    <a:pt x="17" y="17"/>
                  </a:moveTo>
                  <a:lnTo>
                    <a:pt x="17" y="0"/>
                  </a:lnTo>
                  <a:lnTo>
                    <a:pt x="52" y="0"/>
                  </a:lnTo>
                  <a:lnTo>
                    <a:pt x="69" y="0"/>
                  </a:lnTo>
                  <a:lnTo>
                    <a:pt x="69" y="17"/>
                  </a:lnTo>
                  <a:lnTo>
                    <a:pt x="86" y="34"/>
                  </a:lnTo>
                  <a:lnTo>
                    <a:pt x="69" y="51"/>
                  </a:lnTo>
                  <a:lnTo>
                    <a:pt x="52" y="51"/>
                  </a:lnTo>
                  <a:lnTo>
                    <a:pt x="17" y="34"/>
                  </a:lnTo>
                  <a:lnTo>
                    <a:pt x="0" y="34"/>
                  </a:lnTo>
                  <a:lnTo>
                    <a:pt x="17" y="17"/>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89" name="Freeform 18">
              <a:extLst>
                <a:ext uri="{FF2B5EF4-FFF2-40B4-BE49-F238E27FC236}">
                  <a16:creationId xmlns:a16="http://schemas.microsoft.com/office/drawing/2014/main" id="{427BB383-02C3-4B9B-89B3-E3E92E7AF653}"/>
                </a:ext>
              </a:extLst>
            </p:cNvPr>
            <p:cNvSpPr>
              <a:spLocks/>
            </p:cNvSpPr>
            <p:nvPr>
              <p:custDataLst>
                <p:tags r:id="rId19"/>
              </p:custDataLst>
            </p:nvPr>
          </p:nvSpPr>
          <p:spPr bwMode="auto">
            <a:xfrm>
              <a:off x="4983164" y="1951127"/>
              <a:ext cx="61574" cy="14074"/>
            </a:xfrm>
            <a:custGeom>
              <a:avLst/>
              <a:gdLst>
                <a:gd name="T0" fmla="*/ 10174 w 71"/>
                <a:gd name="T1" fmla="*/ 0 h 17"/>
                <a:gd name="T2" fmla="*/ 13304 w 71"/>
                <a:gd name="T3" fmla="*/ 0 h 17"/>
                <a:gd name="T4" fmla="*/ 13304 w 71"/>
                <a:gd name="T5" fmla="*/ 2988 h 17"/>
                <a:gd name="T6" fmla="*/ 10174 w 71"/>
                <a:gd name="T7" fmla="*/ 2988 h 17"/>
                <a:gd name="T8" fmla="*/ 7043 w 71"/>
                <a:gd name="T9" fmla="*/ 2988 h 17"/>
                <a:gd name="T10" fmla="*/ 0 w 71"/>
                <a:gd name="T11" fmla="*/ 0 h 17"/>
                <a:gd name="T12" fmla="*/ 7043 w 71"/>
                <a:gd name="T13" fmla="*/ 0 h 17"/>
                <a:gd name="T14" fmla="*/ 10174 w 71"/>
                <a:gd name="T15" fmla="*/ 0 h 17"/>
                <a:gd name="T16" fmla="*/ 0 60000 65536"/>
                <a:gd name="T17" fmla="*/ 0 60000 65536"/>
                <a:gd name="T18" fmla="*/ 0 60000 65536"/>
                <a:gd name="T19" fmla="*/ 0 60000 65536"/>
                <a:gd name="T20" fmla="*/ 0 60000 65536"/>
                <a:gd name="T21" fmla="*/ 0 60000 65536"/>
                <a:gd name="T22" fmla="*/ 0 60000 65536"/>
                <a:gd name="T23" fmla="*/ 0 60000 65536"/>
                <a:gd name="T24" fmla="*/ 0 w 71"/>
                <a:gd name="T25" fmla="*/ 0 h 17"/>
                <a:gd name="T26" fmla="*/ 71 w 71"/>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 h="17">
                  <a:moveTo>
                    <a:pt x="54" y="0"/>
                  </a:moveTo>
                  <a:lnTo>
                    <a:pt x="71" y="0"/>
                  </a:lnTo>
                  <a:lnTo>
                    <a:pt x="71" y="17"/>
                  </a:lnTo>
                  <a:lnTo>
                    <a:pt x="54" y="17"/>
                  </a:lnTo>
                  <a:lnTo>
                    <a:pt x="37" y="17"/>
                  </a:lnTo>
                  <a:lnTo>
                    <a:pt x="0" y="0"/>
                  </a:lnTo>
                  <a:lnTo>
                    <a:pt x="37" y="0"/>
                  </a:lnTo>
                  <a:lnTo>
                    <a:pt x="54" y="0"/>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90" name="Freeform 19">
              <a:extLst>
                <a:ext uri="{FF2B5EF4-FFF2-40B4-BE49-F238E27FC236}">
                  <a16:creationId xmlns:a16="http://schemas.microsoft.com/office/drawing/2014/main" id="{F04EC11F-F752-4ABC-9368-9F1BE52B0229}"/>
                </a:ext>
              </a:extLst>
            </p:cNvPr>
            <p:cNvSpPr>
              <a:spLocks/>
            </p:cNvSpPr>
            <p:nvPr>
              <p:custDataLst>
                <p:tags r:id="rId20"/>
              </p:custDataLst>
            </p:nvPr>
          </p:nvSpPr>
          <p:spPr bwMode="auto">
            <a:xfrm>
              <a:off x="4928627" y="1889554"/>
              <a:ext cx="91481" cy="61574"/>
            </a:xfrm>
            <a:custGeom>
              <a:avLst/>
              <a:gdLst>
                <a:gd name="T0" fmla="*/ 7144 w 104"/>
                <a:gd name="T1" fmla="*/ 14495 h 69"/>
                <a:gd name="T2" fmla="*/ 7144 w 104"/>
                <a:gd name="T3" fmla="*/ 10468 h 69"/>
                <a:gd name="T4" fmla="*/ 3969 w 104"/>
                <a:gd name="T5" fmla="*/ 7247 h 69"/>
                <a:gd name="T6" fmla="*/ 0 w 104"/>
                <a:gd name="T7" fmla="*/ 4026 h 69"/>
                <a:gd name="T8" fmla="*/ 3969 w 104"/>
                <a:gd name="T9" fmla="*/ 0 h 69"/>
                <a:gd name="T10" fmla="*/ 7144 w 104"/>
                <a:gd name="T11" fmla="*/ 0 h 69"/>
                <a:gd name="T12" fmla="*/ 7144 w 104"/>
                <a:gd name="T13" fmla="*/ 4026 h 69"/>
                <a:gd name="T14" fmla="*/ 10319 w 104"/>
                <a:gd name="T15" fmla="*/ 4026 h 69"/>
                <a:gd name="T16" fmla="*/ 14288 w 104"/>
                <a:gd name="T17" fmla="*/ 4026 h 69"/>
                <a:gd name="T18" fmla="*/ 17463 w 104"/>
                <a:gd name="T19" fmla="*/ 4026 h 69"/>
                <a:gd name="T20" fmla="*/ 20638 w 104"/>
                <a:gd name="T21" fmla="*/ 7247 h 69"/>
                <a:gd name="T22" fmla="*/ 17463 w 104"/>
                <a:gd name="T23" fmla="*/ 7247 h 69"/>
                <a:gd name="T24" fmla="*/ 17463 w 104"/>
                <a:gd name="T25" fmla="*/ 10468 h 69"/>
                <a:gd name="T26" fmla="*/ 20638 w 104"/>
                <a:gd name="T27" fmla="*/ 14495 h 69"/>
                <a:gd name="T28" fmla="*/ 14288 w 104"/>
                <a:gd name="T29" fmla="*/ 14495 h 69"/>
                <a:gd name="T30" fmla="*/ 7144 w 104"/>
                <a:gd name="T31" fmla="*/ 14495 h 6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4"/>
                <a:gd name="T49" fmla="*/ 0 h 69"/>
                <a:gd name="T50" fmla="*/ 104 w 104"/>
                <a:gd name="T51" fmla="*/ 69 h 6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4" h="69">
                  <a:moveTo>
                    <a:pt x="34" y="69"/>
                  </a:moveTo>
                  <a:lnTo>
                    <a:pt x="34" y="51"/>
                  </a:lnTo>
                  <a:lnTo>
                    <a:pt x="17" y="34"/>
                  </a:lnTo>
                  <a:lnTo>
                    <a:pt x="0" y="17"/>
                  </a:lnTo>
                  <a:lnTo>
                    <a:pt x="17" y="0"/>
                  </a:lnTo>
                  <a:lnTo>
                    <a:pt x="34" y="0"/>
                  </a:lnTo>
                  <a:lnTo>
                    <a:pt x="34" y="17"/>
                  </a:lnTo>
                  <a:lnTo>
                    <a:pt x="52" y="17"/>
                  </a:lnTo>
                  <a:lnTo>
                    <a:pt x="69" y="17"/>
                  </a:lnTo>
                  <a:lnTo>
                    <a:pt x="86" y="17"/>
                  </a:lnTo>
                  <a:lnTo>
                    <a:pt x="104" y="34"/>
                  </a:lnTo>
                  <a:lnTo>
                    <a:pt x="86" y="34"/>
                  </a:lnTo>
                  <a:lnTo>
                    <a:pt x="86" y="51"/>
                  </a:lnTo>
                  <a:lnTo>
                    <a:pt x="104" y="69"/>
                  </a:lnTo>
                  <a:lnTo>
                    <a:pt x="69" y="69"/>
                  </a:lnTo>
                  <a:lnTo>
                    <a:pt x="34" y="69"/>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91" name="Freeform 20">
              <a:extLst>
                <a:ext uri="{FF2B5EF4-FFF2-40B4-BE49-F238E27FC236}">
                  <a16:creationId xmlns:a16="http://schemas.microsoft.com/office/drawing/2014/main" id="{EFA8013F-B6A8-466C-9545-B2440082EE1E}"/>
                </a:ext>
              </a:extLst>
            </p:cNvPr>
            <p:cNvSpPr>
              <a:spLocks/>
            </p:cNvSpPr>
            <p:nvPr>
              <p:custDataLst>
                <p:tags r:id="rId21"/>
              </p:custDataLst>
            </p:nvPr>
          </p:nvSpPr>
          <p:spPr bwMode="auto">
            <a:xfrm>
              <a:off x="4983164" y="1754091"/>
              <a:ext cx="249814" cy="182962"/>
            </a:xfrm>
            <a:custGeom>
              <a:avLst/>
              <a:gdLst>
                <a:gd name="T0" fmla="*/ 42069 w 284"/>
                <a:gd name="T1" fmla="*/ 17379 h 209"/>
                <a:gd name="T2" fmla="*/ 45244 w 284"/>
                <a:gd name="T3" fmla="*/ 13429 h 209"/>
                <a:gd name="T4" fmla="*/ 45244 w 284"/>
                <a:gd name="T5" fmla="*/ 20539 h 209"/>
                <a:gd name="T6" fmla="*/ 53181 w 284"/>
                <a:gd name="T7" fmla="*/ 20539 h 209"/>
                <a:gd name="T8" fmla="*/ 56356 w 284"/>
                <a:gd name="T9" fmla="*/ 26858 h 209"/>
                <a:gd name="T10" fmla="*/ 45244 w 284"/>
                <a:gd name="T11" fmla="*/ 33968 h 209"/>
                <a:gd name="T12" fmla="*/ 42069 w 284"/>
                <a:gd name="T13" fmla="*/ 30808 h 209"/>
                <a:gd name="T14" fmla="*/ 38894 w 284"/>
                <a:gd name="T15" fmla="*/ 33968 h 209"/>
                <a:gd name="T16" fmla="*/ 42069 w 284"/>
                <a:gd name="T17" fmla="*/ 37128 h 209"/>
                <a:gd name="T18" fmla="*/ 38894 w 284"/>
                <a:gd name="T19" fmla="*/ 41078 h 209"/>
                <a:gd name="T20" fmla="*/ 34925 w 284"/>
                <a:gd name="T21" fmla="*/ 33968 h 209"/>
                <a:gd name="T22" fmla="*/ 30956 w 284"/>
                <a:gd name="T23" fmla="*/ 41078 h 209"/>
                <a:gd name="T24" fmla="*/ 23812 w 284"/>
                <a:gd name="T25" fmla="*/ 41078 h 209"/>
                <a:gd name="T26" fmla="*/ 20637 w 284"/>
                <a:gd name="T27" fmla="*/ 33968 h 209"/>
                <a:gd name="T28" fmla="*/ 14287 w 284"/>
                <a:gd name="T29" fmla="*/ 30808 h 209"/>
                <a:gd name="T30" fmla="*/ 20637 w 284"/>
                <a:gd name="T31" fmla="*/ 26858 h 209"/>
                <a:gd name="T32" fmla="*/ 23812 w 284"/>
                <a:gd name="T33" fmla="*/ 26858 h 209"/>
                <a:gd name="T34" fmla="*/ 17462 w 284"/>
                <a:gd name="T35" fmla="*/ 23699 h 209"/>
                <a:gd name="T36" fmla="*/ 14287 w 284"/>
                <a:gd name="T37" fmla="*/ 26858 h 209"/>
                <a:gd name="T38" fmla="*/ 10319 w 284"/>
                <a:gd name="T39" fmla="*/ 26858 h 209"/>
                <a:gd name="T40" fmla="*/ 10319 w 284"/>
                <a:gd name="T41" fmla="*/ 23699 h 209"/>
                <a:gd name="T42" fmla="*/ 7144 w 284"/>
                <a:gd name="T43" fmla="*/ 20539 h 209"/>
                <a:gd name="T44" fmla="*/ 0 w 284"/>
                <a:gd name="T45" fmla="*/ 17379 h 209"/>
                <a:gd name="T46" fmla="*/ 7144 w 284"/>
                <a:gd name="T47" fmla="*/ 17379 h 209"/>
                <a:gd name="T48" fmla="*/ 7144 w 284"/>
                <a:gd name="T49" fmla="*/ 13429 h 209"/>
                <a:gd name="T50" fmla="*/ 0 w 284"/>
                <a:gd name="T51" fmla="*/ 10269 h 209"/>
                <a:gd name="T52" fmla="*/ 7144 w 284"/>
                <a:gd name="T53" fmla="*/ 10269 h 209"/>
                <a:gd name="T54" fmla="*/ 14287 w 284"/>
                <a:gd name="T55" fmla="*/ 10269 h 209"/>
                <a:gd name="T56" fmla="*/ 7144 w 284"/>
                <a:gd name="T57" fmla="*/ 10269 h 209"/>
                <a:gd name="T58" fmla="*/ 10319 w 284"/>
                <a:gd name="T59" fmla="*/ 3160 h 209"/>
                <a:gd name="T60" fmla="*/ 14287 w 284"/>
                <a:gd name="T61" fmla="*/ 6320 h 209"/>
                <a:gd name="T62" fmla="*/ 14287 w 284"/>
                <a:gd name="T63" fmla="*/ 3160 h 209"/>
                <a:gd name="T64" fmla="*/ 10319 w 284"/>
                <a:gd name="T65" fmla="*/ 0 h 209"/>
                <a:gd name="T66" fmla="*/ 20637 w 284"/>
                <a:gd name="T67" fmla="*/ 0 h 209"/>
                <a:gd name="T68" fmla="*/ 23812 w 284"/>
                <a:gd name="T69" fmla="*/ 6320 h 209"/>
                <a:gd name="T70" fmla="*/ 27781 w 284"/>
                <a:gd name="T71" fmla="*/ 10269 h 209"/>
                <a:gd name="T72" fmla="*/ 34925 w 284"/>
                <a:gd name="T73" fmla="*/ 10269 h 209"/>
                <a:gd name="T74" fmla="*/ 38894 w 284"/>
                <a:gd name="T75" fmla="*/ 17379 h 20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84"/>
                <a:gd name="T115" fmla="*/ 0 h 209"/>
                <a:gd name="T116" fmla="*/ 284 w 284"/>
                <a:gd name="T117" fmla="*/ 209 h 20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84" h="209">
                  <a:moveTo>
                    <a:pt x="196" y="88"/>
                  </a:moveTo>
                  <a:lnTo>
                    <a:pt x="213" y="88"/>
                  </a:lnTo>
                  <a:lnTo>
                    <a:pt x="213" y="71"/>
                  </a:lnTo>
                  <a:lnTo>
                    <a:pt x="230" y="71"/>
                  </a:lnTo>
                  <a:lnTo>
                    <a:pt x="230" y="88"/>
                  </a:lnTo>
                  <a:lnTo>
                    <a:pt x="230" y="106"/>
                  </a:lnTo>
                  <a:lnTo>
                    <a:pt x="250" y="106"/>
                  </a:lnTo>
                  <a:lnTo>
                    <a:pt x="267" y="106"/>
                  </a:lnTo>
                  <a:lnTo>
                    <a:pt x="284" y="123"/>
                  </a:lnTo>
                  <a:lnTo>
                    <a:pt x="284" y="138"/>
                  </a:lnTo>
                  <a:lnTo>
                    <a:pt x="250" y="156"/>
                  </a:lnTo>
                  <a:lnTo>
                    <a:pt x="230" y="173"/>
                  </a:lnTo>
                  <a:lnTo>
                    <a:pt x="213" y="173"/>
                  </a:lnTo>
                  <a:lnTo>
                    <a:pt x="213" y="156"/>
                  </a:lnTo>
                  <a:lnTo>
                    <a:pt x="213" y="173"/>
                  </a:lnTo>
                  <a:lnTo>
                    <a:pt x="196" y="173"/>
                  </a:lnTo>
                  <a:lnTo>
                    <a:pt x="213" y="173"/>
                  </a:lnTo>
                  <a:lnTo>
                    <a:pt x="213" y="190"/>
                  </a:lnTo>
                  <a:lnTo>
                    <a:pt x="196" y="190"/>
                  </a:lnTo>
                  <a:lnTo>
                    <a:pt x="196" y="209"/>
                  </a:lnTo>
                  <a:lnTo>
                    <a:pt x="177" y="190"/>
                  </a:lnTo>
                  <a:lnTo>
                    <a:pt x="177" y="173"/>
                  </a:lnTo>
                  <a:lnTo>
                    <a:pt x="159" y="190"/>
                  </a:lnTo>
                  <a:lnTo>
                    <a:pt x="159" y="209"/>
                  </a:lnTo>
                  <a:lnTo>
                    <a:pt x="140" y="209"/>
                  </a:lnTo>
                  <a:lnTo>
                    <a:pt x="123" y="209"/>
                  </a:lnTo>
                  <a:lnTo>
                    <a:pt x="106" y="190"/>
                  </a:lnTo>
                  <a:lnTo>
                    <a:pt x="106" y="173"/>
                  </a:lnTo>
                  <a:lnTo>
                    <a:pt x="71" y="173"/>
                  </a:lnTo>
                  <a:lnTo>
                    <a:pt x="71" y="156"/>
                  </a:lnTo>
                  <a:lnTo>
                    <a:pt x="88" y="138"/>
                  </a:lnTo>
                  <a:lnTo>
                    <a:pt x="106" y="138"/>
                  </a:lnTo>
                  <a:lnTo>
                    <a:pt x="140" y="138"/>
                  </a:lnTo>
                  <a:lnTo>
                    <a:pt x="123" y="138"/>
                  </a:lnTo>
                  <a:lnTo>
                    <a:pt x="106" y="123"/>
                  </a:lnTo>
                  <a:lnTo>
                    <a:pt x="88" y="123"/>
                  </a:lnTo>
                  <a:lnTo>
                    <a:pt x="88" y="138"/>
                  </a:lnTo>
                  <a:lnTo>
                    <a:pt x="71" y="138"/>
                  </a:lnTo>
                  <a:lnTo>
                    <a:pt x="54" y="123"/>
                  </a:lnTo>
                  <a:lnTo>
                    <a:pt x="54" y="138"/>
                  </a:lnTo>
                  <a:lnTo>
                    <a:pt x="35" y="123"/>
                  </a:lnTo>
                  <a:lnTo>
                    <a:pt x="54" y="123"/>
                  </a:lnTo>
                  <a:lnTo>
                    <a:pt x="54" y="106"/>
                  </a:lnTo>
                  <a:lnTo>
                    <a:pt x="35" y="106"/>
                  </a:lnTo>
                  <a:lnTo>
                    <a:pt x="0" y="106"/>
                  </a:lnTo>
                  <a:lnTo>
                    <a:pt x="0" y="88"/>
                  </a:lnTo>
                  <a:lnTo>
                    <a:pt x="17" y="88"/>
                  </a:lnTo>
                  <a:lnTo>
                    <a:pt x="35" y="88"/>
                  </a:lnTo>
                  <a:lnTo>
                    <a:pt x="54" y="88"/>
                  </a:lnTo>
                  <a:lnTo>
                    <a:pt x="35" y="71"/>
                  </a:lnTo>
                  <a:lnTo>
                    <a:pt x="17" y="71"/>
                  </a:lnTo>
                  <a:lnTo>
                    <a:pt x="0" y="54"/>
                  </a:lnTo>
                  <a:lnTo>
                    <a:pt x="17" y="54"/>
                  </a:lnTo>
                  <a:lnTo>
                    <a:pt x="35" y="54"/>
                  </a:lnTo>
                  <a:lnTo>
                    <a:pt x="54" y="54"/>
                  </a:lnTo>
                  <a:lnTo>
                    <a:pt x="71" y="54"/>
                  </a:lnTo>
                  <a:lnTo>
                    <a:pt x="54" y="54"/>
                  </a:lnTo>
                  <a:lnTo>
                    <a:pt x="35" y="54"/>
                  </a:lnTo>
                  <a:lnTo>
                    <a:pt x="35" y="35"/>
                  </a:lnTo>
                  <a:lnTo>
                    <a:pt x="54" y="17"/>
                  </a:lnTo>
                  <a:lnTo>
                    <a:pt x="54" y="35"/>
                  </a:lnTo>
                  <a:lnTo>
                    <a:pt x="71" y="35"/>
                  </a:lnTo>
                  <a:lnTo>
                    <a:pt x="88" y="35"/>
                  </a:lnTo>
                  <a:lnTo>
                    <a:pt x="71" y="17"/>
                  </a:lnTo>
                  <a:lnTo>
                    <a:pt x="54" y="17"/>
                  </a:lnTo>
                  <a:lnTo>
                    <a:pt x="54" y="0"/>
                  </a:lnTo>
                  <a:lnTo>
                    <a:pt x="71" y="0"/>
                  </a:lnTo>
                  <a:lnTo>
                    <a:pt x="106" y="0"/>
                  </a:lnTo>
                  <a:lnTo>
                    <a:pt x="106" y="17"/>
                  </a:lnTo>
                  <a:lnTo>
                    <a:pt x="123" y="35"/>
                  </a:lnTo>
                  <a:lnTo>
                    <a:pt x="123" y="54"/>
                  </a:lnTo>
                  <a:lnTo>
                    <a:pt x="140" y="54"/>
                  </a:lnTo>
                  <a:lnTo>
                    <a:pt x="159" y="54"/>
                  </a:lnTo>
                  <a:lnTo>
                    <a:pt x="177" y="54"/>
                  </a:lnTo>
                  <a:lnTo>
                    <a:pt x="196" y="71"/>
                  </a:lnTo>
                  <a:lnTo>
                    <a:pt x="196" y="8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92" name="Freeform 21">
              <a:extLst>
                <a:ext uri="{FF2B5EF4-FFF2-40B4-BE49-F238E27FC236}">
                  <a16:creationId xmlns:a16="http://schemas.microsoft.com/office/drawing/2014/main" id="{768E6CB3-37DB-4778-9AF0-6179738E755A}"/>
                </a:ext>
              </a:extLst>
            </p:cNvPr>
            <p:cNvSpPr>
              <a:spLocks/>
            </p:cNvSpPr>
            <p:nvPr>
              <p:custDataLst>
                <p:tags r:id="rId22"/>
              </p:custDataLst>
            </p:nvPr>
          </p:nvSpPr>
          <p:spPr bwMode="auto">
            <a:xfrm>
              <a:off x="5074646" y="1648536"/>
              <a:ext cx="747683" cy="378240"/>
            </a:xfrm>
            <a:custGeom>
              <a:avLst/>
              <a:gdLst>
                <a:gd name="T0" fmla="*/ 134460 w 848"/>
                <a:gd name="T1" fmla="*/ 7144 h 430"/>
                <a:gd name="T2" fmla="*/ 151964 w 848"/>
                <a:gd name="T3" fmla="*/ 3969 h 430"/>
                <a:gd name="T4" fmla="*/ 165490 w 848"/>
                <a:gd name="T5" fmla="*/ 10319 h 430"/>
                <a:gd name="T6" fmla="*/ 165490 w 848"/>
                <a:gd name="T7" fmla="*/ 14288 h 430"/>
                <a:gd name="T8" fmla="*/ 137643 w 848"/>
                <a:gd name="T9" fmla="*/ 23813 h 430"/>
                <a:gd name="T10" fmla="*/ 151964 w 848"/>
                <a:gd name="T11" fmla="*/ 23813 h 430"/>
                <a:gd name="T12" fmla="*/ 130482 w 848"/>
                <a:gd name="T13" fmla="*/ 34925 h 430"/>
                <a:gd name="T14" fmla="*/ 112978 w 848"/>
                <a:gd name="T15" fmla="*/ 44450 h 430"/>
                <a:gd name="T16" fmla="*/ 102635 w 848"/>
                <a:gd name="T17" fmla="*/ 44450 h 430"/>
                <a:gd name="T18" fmla="*/ 95475 w 848"/>
                <a:gd name="T19" fmla="*/ 51594 h 430"/>
                <a:gd name="T20" fmla="*/ 95475 w 848"/>
                <a:gd name="T21" fmla="*/ 57944 h 430"/>
                <a:gd name="T22" fmla="*/ 85132 w 848"/>
                <a:gd name="T23" fmla="*/ 68263 h 430"/>
                <a:gd name="T24" fmla="*/ 77971 w 848"/>
                <a:gd name="T25" fmla="*/ 72231 h 430"/>
                <a:gd name="T26" fmla="*/ 73993 w 848"/>
                <a:gd name="T27" fmla="*/ 78581 h 430"/>
                <a:gd name="T28" fmla="*/ 70810 w 848"/>
                <a:gd name="T29" fmla="*/ 85725 h 430"/>
                <a:gd name="T30" fmla="*/ 56489 w 848"/>
                <a:gd name="T31" fmla="*/ 82550 h 430"/>
                <a:gd name="T32" fmla="*/ 38986 w 848"/>
                <a:gd name="T33" fmla="*/ 82550 h 430"/>
                <a:gd name="T34" fmla="*/ 32621 w 848"/>
                <a:gd name="T35" fmla="*/ 85725 h 430"/>
                <a:gd name="T36" fmla="*/ 14321 w 848"/>
                <a:gd name="T37" fmla="*/ 82550 h 430"/>
                <a:gd name="T38" fmla="*/ 28642 w 848"/>
                <a:gd name="T39" fmla="*/ 75406 h 430"/>
                <a:gd name="T40" fmla="*/ 24664 w 848"/>
                <a:gd name="T41" fmla="*/ 68263 h 430"/>
                <a:gd name="T42" fmla="*/ 38986 w 848"/>
                <a:gd name="T43" fmla="*/ 72231 h 430"/>
                <a:gd name="T44" fmla="*/ 35803 w 848"/>
                <a:gd name="T45" fmla="*/ 68263 h 430"/>
                <a:gd name="T46" fmla="*/ 28642 w 848"/>
                <a:gd name="T47" fmla="*/ 65088 h 430"/>
                <a:gd name="T48" fmla="*/ 24664 w 848"/>
                <a:gd name="T49" fmla="*/ 57944 h 430"/>
                <a:gd name="T50" fmla="*/ 35803 w 848"/>
                <a:gd name="T51" fmla="*/ 57944 h 430"/>
                <a:gd name="T52" fmla="*/ 38986 w 848"/>
                <a:gd name="T53" fmla="*/ 44450 h 430"/>
                <a:gd name="T54" fmla="*/ 32621 w 848"/>
                <a:gd name="T55" fmla="*/ 41275 h 430"/>
                <a:gd name="T56" fmla="*/ 32621 w 848"/>
                <a:gd name="T57" fmla="*/ 38100 h 430"/>
                <a:gd name="T58" fmla="*/ 42964 w 848"/>
                <a:gd name="T59" fmla="*/ 38100 h 430"/>
                <a:gd name="T60" fmla="*/ 56489 w 848"/>
                <a:gd name="T61" fmla="*/ 44450 h 430"/>
                <a:gd name="T62" fmla="*/ 49329 w 848"/>
                <a:gd name="T63" fmla="*/ 38100 h 430"/>
                <a:gd name="T64" fmla="*/ 60467 w 848"/>
                <a:gd name="T65" fmla="*/ 38100 h 430"/>
                <a:gd name="T66" fmla="*/ 70810 w 848"/>
                <a:gd name="T67" fmla="*/ 34925 h 430"/>
                <a:gd name="T68" fmla="*/ 56489 w 848"/>
                <a:gd name="T69" fmla="*/ 34925 h 430"/>
                <a:gd name="T70" fmla="*/ 42964 w 848"/>
                <a:gd name="T71" fmla="*/ 34925 h 430"/>
                <a:gd name="T72" fmla="*/ 32621 w 848"/>
                <a:gd name="T73" fmla="*/ 34925 h 430"/>
                <a:gd name="T74" fmla="*/ 18299 w 848"/>
                <a:gd name="T75" fmla="*/ 34925 h 430"/>
                <a:gd name="T76" fmla="*/ 21482 w 848"/>
                <a:gd name="T77" fmla="*/ 27781 h 430"/>
                <a:gd name="T78" fmla="*/ 14321 w 848"/>
                <a:gd name="T79" fmla="*/ 23813 h 430"/>
                <a:gd name="T80" fmla="*/ 21482 w 848"/>
                <a:gd name="T81" fmla="*/ 23813 h 430"/>
                <a:gd name="T82" fmla="*/ 11139 w 848"/>
                <a:gd name="T83" fmla="*/ 23813 h 430"/>
                <a:gd name="T84" fmla="*/ 7161 w 848"/>
                <a:gd name="T85" fmla="*/ 23813 h 430"/>
                <a:gd name="T86" fmla="*/ 3978 w 848"/>
                <a:gd name="T87" fmla="*/ 20638 h 430"/>
                <a:gd name="T88" fmla="*/ 24664 w 848"/>
                <a:gd name="T89" fmla="*/ 14288 h 430"/>
                <a:gd name="T90" fmla="*/ 38986 w 848"/>
                <a:gd name="T91" fmla="*/ 10319 h 430"/>
                <a:gd name="T92" fmla="*/ 49329 w 848"/>
                <a:gd name="T93" fmla="*/ 10319 h 430"/>
                <a:gd name="T94" fmla="*/ 60467 w 848"/>
                <a:gd name="T95" fmla="*/ 7144 h 430"/>
                <a:gd name="T96" fmla="*/ 70810 w 848"/>
                <a:gd name="T97" fmla="*/ 3969 h 430"/>
                <a:gd name="T98" fmla="*/ 88314 w 848"/>
                <a:gd name="T99" fmla="*/ 0 h 430"/>
                <a:gd name="T100" fmla="*/ 98657 w 848"/>
                <a:gd name="T101" fmla="*/ 3969 h 430"/>
                <a:gd name="T102" fmla="*/ 105818 w 848"/>
                <a:gd name="T103" fmla="*/ 0 h 430"/>
                <a:gd name="T104" fmla="*/ 120139 w 848"/>
                <a:gd name="T105" fmla="*/ 0 h 43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48"/>
                <a:gd name="T160" fmla="*/ 0 h 430"/>
                <a:gd name="T161" fmla="*/ 848 w 848"/>
                <a:gd name="T162" fmla="*/ 430 h 43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48" h="430">
                  <a:moveTo>
                    <a:pt x="708" y="17"/>
                  </a:moveTo>
                  <a:lnTo>
                    <a:pt x="689" y="35"/>
                  </a:lnTo>
                  <a:lnTo>
                    <a:pt x="672" y="35"/>
                  </a:lnTo>
                  <a:lnTo>
                    <a:pt x="708" y="35"/>
                  </a:lnTo>
                  <a:lnTo>
                    <a:pt x="725" y="17"/>
                  </a:lnTo>
                  <a:lnTo>
                    <a:pt x="760" y="17"/>
                  </a:lnTo>
                  <a:lnTo>
                    <a:pt x="777" y="35"/>
                  </a:lnTo>
                  <a:lnTo>
                    <a:pt x="814" y="52"/>
                  </a:lnTo>
                  <a:lnTo>
                    <a:pt x="831" y="52"/>
                  </a:lnTo>
                  <a:lnTo>
                    <a:pt x="848" y="52"/>
                  </a:lnTo>
                  <a:lnTo>
                    <a:pt x="848" y="69"/>
                  </a:lnTo>
                  <a:lnTo>
                    <a:pt x="831" y="69"/>
                  </a:lnTo>
                  <a:lnTo>
                    <a:pt x="777" y="87"/>
                  </a:lnTo>
                  <a:lnTo>
                    <a:pt x="743" y="104"/>
                  </a:lnTo>
                  <a:lnTo>
                    <a:pt x="689" y="121"/>
                  </a:lnTo>
                  <a:lnTo>
                    <a:pt x="708" y="121"/>
                  </a:lnTo>
                  <a:lnTo>
                    <a:pt x="743" y="121"/>
                  </a:lnTo>
                  <a:lnTo>
                    <a:pt x="760" y="121"/>
                  </a:lnTo>
                  <a:lnTo>
                    <a:pt x="725" y="138"/>
                  </a:lnTo>
                  <a:lnTo>
                    <a:pt x="689" y="156"/>
                  </a:lnTo>
                  <a:lnTo>
                    <a:pt x="654" y="173"/>
                  </a:lnTo>
                  <a:lnTo>
                    <a:pt x="620" y="173"/>
                  </a:lnTo>
                  <a:lnTo>
                    <a:pt x="583" y="207"/>
                  </a:lnTo>
                  <a:lnTo>
                    <a:pt x="566" y="225"/>
                  </a:lnTo>
                  <a:lnTo>
                    <a:pt x="549" y="225"/>
                  </a:lnTo>
                  <a:lnTo>
                    <a:pt x="531" y="225"/>
                  </a:lnTo>
                  <a:lnTo>
                    <a:pt x="514" y="225"/>
                  </a:lnTo>
                  <a:lnTo>
                    <a:pt x="478" y="242"/>
                  </a:lnTo>
                  <a:lnTo>
                    <a:pt x="459" y="257"/>
                  </a:lnTo>
                  <a:lnTo>
                    <a:pt x="478" y="257"/>
                  </a:lnTo>
                  <a:lnTo>
                    <a:pt x="478" y="275"/>
                  </a:lnTo>
                  <a:lnTo>
                    <a:pt x="459" y="275"/>
                  </a:lnTo>
                  <a:lnTo>
                    <a:pt x="478" y="292"/>
                  </a:lnTo>
                  <a:lnTo>
                    <a:pt x="459" y="309"/>
                  </a:lnTo>
                  <a:lnTo>
                    <a:pt x="441" y="326"/>
                  </a:lnTo>
                  <a:lnTo>
                    <a:pt x="424" y="344"/>
                  </a:lnTo>
                  <a:lnTo>
                    <a:pt x="407" y="344"/>
                  </a:lnTo>
                  <a:lnTo>
                    <a:pt x="389" y="344"/>
                  </a:lnTo>
                  <a:lnTo>
                    <a:pt x="389" y="361"/>
                  </a:lnTo>
                  <a:lnTo>
                    <a:pt x="353" y="378"/>
                  </a:lnTo>
                  <a:lnTo>
                    <a:pt x="353" y="396"/>
                  </a:lnTo>
                  <a:lnTo>
                    <a:pt x="372" y="396"/>
                  </a:lnTo>
                  <a:lnTo>
                    <a:pt x="389" y="396"/>
                  </a:lnTo>
                  <a:lnTo>
                    <a:pt x="372" y="413"/>
                  </a:lnTo>
                  <a:lnTo>
                    <a:pt x="353" y="430"/>
                  </a:lnTo>
                  <a:lnTo>
                    <a:pt x="318" y="430"/>
                  </a:lnTo>
                  <a:lnTo>
                    <a:pt x="301" y="430"/>
                  </a:lnTo>
                  <a:lnTo>
                    <a:pt x="284" y="413"/>
                  </a:lnTo>
                  <a:lnTo>
                    <a:pt x="247" y="413"/>
                  </a:lnTo>
                  <a:lnTo>
                    <a:pt x="213" y="413"/>
                  </a:lnTo>
                  <a:lnTo>
                    <a:pt x="196" y="413"/>
                  </a:lnTo>
                  <a:lnTo>
                    <a:pt x="196" y="430"/>
                  </a:lnTo>
                  <a:lnTo>
                    <a:pt x="178" y="430"/>
                  </a:lnTo>
                  <a:lnTo>
                    <a:pt x="161" y="430"/>
                  </a:lnTo>
                  <a:lnTo>
                    <a:pt x="124" y="413"/>
                  </a:lnTo>
                  <a:lnTo>
                    <a:pt x="90" y="413"/>
                  </a:lnTo>
                  <a:lnTo>
                    <a:pt x="71" y="413"/>
                  </a:lnTo>
                  <a:lnTo>
                    <a:pt x="90" y="396"/>
                  </a:lnTo>
                  <a:lnTo>
                    <a:pt x="124" y="378"/>
                  </a:lnTo>
                  <a:lnTo>
                    <a:pt x="142" y="378"/>
                  </a:lnTo>
                  <a:lnTo>
                    <a:pt x="124" y="361"/>
                  </a:lnTo>
                  <a:lnTo>
                    <a:pt x="107" y="344"/>
                  </a:lnTo>
                  <a:lnTo>
                    <a:pt x="124" y="344"/>
                  </a:lnTo>
                  <a:lnTo>
                    <a:pt x="161" y="344"/>
                  </a:lnTo>
                  <a:lnTo>
                    <a:pt x="178" y="344"/>
                  </a:lnTo>
                  <a:lnTo>
                    <a:pt x="196" y="361"/>
                  </a:lnTo>
                  <a:lnTo>
                    <a:pt x="213" y="361"/>
                  </a:lnTo>
                  <a:lnTo>
                    <a:pt x="196" y="344"/>
                  </a:lnTo>
                  <a:lnTo>
                    <a:pt x="178" y="344"/>
                  </a:lnTo>
                  <a:lnTo>
                    <a:pt x="178" y="326"/>
                  </a:lnTo>
                  <a:lnTo>
                    <a:pt x="161" y="326"/>
                  </a:lnTo>
                  <a:lnTo>
                    <a:pt x="142" y="326"/>
                  </a:lnTo>
                  <a:lnTo>
                    <a:pt x="124" y="326"/>
                  </a:lnTo>
                  <a:lnTo>
                    <a:pt x="124" y="309"/>
                  </a:lnTo>
                  <a:lnTo>
                    <a:pt x="124" y="292"/>
                  </a:lnTo>
                  <a:lnTo>
                    <a:pt x="142" y="292"/>
                  </a:lnTo>
                  <a:lnTo>
                    <a:pt x="161" y="292"/>
                  </a:lnTo>
                  <a:lnTo>
                    <a:pt x="178" y="292"/>
                  </a:lnTo>
                  <a:lnTo>
                    <a:pt x="196" y="275"/>
                  </a:lnTo>
                  <a:lnTo>
                    <a:pt x="213" y="257"/>
                  </a:lnTo>
                  <a:lnTo>
                    <a:pt x="196" y="225"/>
                  </a:lnTo>
                  <a:lnTo>
                    <a:pt x="161" y="225"/>
                  </a:lnTo>
                  <a:lnTo>
                    <a:pt x="142" y="207"/>
                  </a:lnTo>
                  <a:lnTo>
                    <a:pt x="161" y="207"/>
                  </a:lnTo>
                  <a:lnTo>
                    <a:pt x="178" y="207"/>
                  </a:lnTo>
                  <a:lnTo>
                    <a:pt x="161" y="207"/>
                  </a:lnTo>
                  <a:lnTo>
                    <a:pt x="161" y="190"/>
                  </a:lnTo>
                  <a:lnTo>
                    <a:pt x="178" y="190"/>
                  </a:lnTo>
                  <a:lnTo>
                    <a:pt x="196" y="190"/>
                  </a:lnTo>
                  <a:lnTo>
                    <a:pt x="213" y="190"/>
                  </a:lnTo>
                  <a:lnTo>
                    <a:pt x="247" y="207"/>
                  </a:lnTo>
                  <a:lnTo>
                    <a:pt x="247" y="225"/>
                  </a:lnTo>
                  <a:lnTo>
                    <a:pt x="284" y="225"/>
                  </a:lnTo>
                  <a:lnTo>
                    <a:pt x="267" y="225"/>
                  </a:lnTo>
                  <a:lnTo>
                    <a:pt x="247" y="207"/>
                  </a:lnTo>
                  <a:lnTo>
                    <a:pt x="247" y="190"/>
                  </a:lnTo>
                  <a:lnTo>
                    <a:pt x="267" y="190"/>
                  </a:lnTo>
                  <a:lnTo>
                    <a:pt x="284" y="190"/>
                  </a:lnTo>
                  <a:lnTo>
                    <a:pt x="301" y="190"/>
                  </a:lnTo>
                  <a:lnTo>
                    <a:pt x="318" y="173"/>
                  </a:lnTo>
                  <a:lnTo>
                    <a:pt x="336" y="173"/>
                  </a:lnTo>
                  <a:lnTo>
                    <a:pt x="353" y="173"/>
                  </a:lnTo>
                  <a:lnTo>
                    <a:pt x="336" y="173"/>
                  </a:lnTo>
                  <a:lnTo>
                    <a:pt x="301" y="173"/>
                  </a:lnTo>
                  <a:lnTo>
                    <a:pt x="284" y="173"/>
                  </a:lnTo>
                  <a:lnTo>
                    <a:pt x="247" y="173"/>
                  </a:lnTo>
                  <a:lnTo>
                    <a:pt x="230" y="173"/>
                  </a:lnTo>
                  <a:lnTo>
                    <a:pt x="213" y="173"/>
                  </a:lnTo>
                  <a:lnTo>
                    <a:pt x="196" y="173"/>
                  </a:lnTo>
                  <a:lnTo>
                    <a:pt x="178" y="173"/>
                  </a:lnTo>
                  <a:lnTo>
                    <a:pt x="161" y="173"/>
                  </a:lnTo>
                  <a:lnTo>
                    <a:pt x="142" y="173"/>
                  </a:lnTo>
                  <a:lnTo>
                    <a:pt x="124" y="173"/>
                  </a:lnTo>
                  <a:lnTo>
                    <a:pt x="90" y="173"/>
                  </a:lnTo>
                  <a:lnTo>
                    <a:pt x="71" y="156"/>
                  </a:lnTo>
                  <a:lnTo>
                    <a:pt x="90" y="156"/>
                  </a:lnTo>
                  <a:lnTo>
                    <a:pt x="107" y="138"/>
                  </a:lnTo>
                  <a:lnTo>
                    <a:pt x="90" y="138"/>
                  </a:lnTo>
                  <a:lnTo>
                    <a:pt x="71" y="138"/>
                  </a:lnTo>
                  <a:lnTo>
                    <a:pt x="71" y="121"/>
                  </a:lnTo>
                  <a:lnTo>
                    <a:pt x="90" y="121"/>
                  </a:lnTo>
                  <a:lnTo>
                    <a:pt x="124" y="121"/>
                  </a:lnTo>
                  <a:lnTo>
                    <a:pt x="107" y="121"/>
                  </a:lnTo>
                  <a:lnTo>
                    <a:pt x="90" y="121"/>
                  </a:lnTo>
                  <a:lnTo>
                    <a:pt x="71" y="121"/>
                  </a:lnTo>
                  <a:lnTo>
                    <a:pt x="53" y="121"/>
                  </a:lnTo>
                  <a:lnTo>
                    <a:pt x="71" y="121"/>
                  </a:lnTo>
                  <a:lnTo>
                    <a:pt x="53" y="121"/>
                  </a:lnTo>
                  <a:lnTo>
                    <a:pt x="36" y="121"/>
                  </a:lnTo>
                  <a:lnTo>
                    <a:pt x="17" y="121"/>
                  </a:lnTo>
                  <a:lnTo>
                    <a:pt x="0" y="121"/>
                  </a:lnTo>
                  <a:lnTo>
                    <a:pt x="17" y="104"/>
                  </a:lnTo>
                  <a:lnTo>
                    <a:pt x="71" y="87"/>
                  </a:lnTo>
                  <a:lnTo>
                    <a:pt x="107" y="69"/>
                  </a:lnTo>
                  <a:lnTo>
                    <a:pt x="124" y="69"/>
                  </a:lnTo>
                  <a:lnTo>
                    <a:pt x="161" y="52"/>
                  </a:lnTo>
                  <a:lnTo>
                    <a:pt x="178" y="52"/>
                  </a:lnTo>
                  <a:lnTo>
                    <a:pt x="196" y="52"/>
                  </a:lnTo>
                  <a:lnTo>
                    <a:pt x="213" y="52"/>
                  </a:lnTo>
                  <a:lnTo>
                    <a:pt x="247" y="69"/>
                  </a:lnTo>
                  <a:lnTo>
                    <a:pt x="247" y="52"/>
                  </a:lnTo>
                  <a:lnTo>
                    <a:pt x="267" y="35"/>
                  </a:lnTo>
                  <a:lnTo>
                    <a:pt x="284" y="35"/>
                  </a:lnTo>
                  <a:lnTo>
                    <a:pt x="301" y="35"/>
                  </a:lnTo>
                  <a:lnTo>
                    <a:pt x="301" y="17"/>
                  </a:lnTo>
                  <a:lnTo>
                    <a:pt x="318" y="17"/>
                  </a:lnTo>
                  <a:lnTo>
                    <a:pt x="353" y="17"/>
                  </a:lnTo>
                  <a:lnTo>
                    <a:pt x="389" y="17"/>
                  </a:lnTo>
                  <a:lnTo>
                    <a:pt x="424" y="17"/>
                  </a:lnTo>
                  <a:lnTo>
                    <a:pt x="441" y="0"/>
                  </a:lnTo>
                  <a:lnTo>
                    <a:pt x="459" y="0"/>
                  </a:lnTo>
                  <a:lnTo>
                    <a:pt x="478" y="17"/>
                  </a:lnTo>
                  <a:lnTo>
                    <a:pt x="495" y="17"/>
                  </a:lnTo>
                  <a:lnTo>
                    <a:pt x="495" y="0"/>
                  </a:lnTo>
                  <a:lnTo>
                    <a:pt x="514" y="0"/>
                  </a:lnTo>
                  <a:lnTo>
                    <a:pt x="531" y="0"/>
                  </a:lnTo>
                  <a:lnTo>
                    <a:pt x="549" y="0"/>
                  </a:lnTo>
                  <a:lnTo>
                    <a:pt x="566" y="0"/>
                  </a:lnTo>
                  <a:lnTo>
                    <a:pt x="602" y="0"/>
                  </a:lnTo>
                  <a:lnTo>
                    <a:pt x="654" y="17"/>
                  </a:lnTo>
                  <a:lnTo>
                    <a:pt x="708" y="1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93" name="Freeform 22">
              <a:extLst>
                <a:ext uri="{FF2B5EF4-FFF2-40B4-BE49-F238E27FC236}">
                  <a16:creationId xmlns:a16="http://schemas.microsoft.com/office/drawing/2014/main" id="{D5BA6C71-FFC5-48F9-8282-18F35877F346}"/>
                </a:ext>
              </a:extLst>
            </p:cNvPr>
            <p:cNvSpPr>
              <a:spLocks/>
            </p:cNvSpPr>
            <p:nvPr>
              <p:custDataLst>
                <p:tags r:id="rId23"/>
              </p:custDataLst>
            </p:nvPr>
          </p:nvSpPr>
          <p:spPr bwMode="auto">
            <a:xfrm>
              <a:off x="4828350" y="2149923"/>
              <a:ext cx="154814" cy="105555"/>
            </a:xfrm>
            <a:custGeom>
              <a:avLst/>
              <a:gdLst>
                <a:gd name="T0" fmla="*/ 28738 w 175"/>
                <a:gd name="T1" fmla="*/ 7204 h 119"/>
                <a:gd name="T2" fmla="*/ 28738 w 175"/>
                <a:gd name="T3" fmla="*/ 10405 h 119"/>
                <a:gd name="T4" fmla="*/ 28738 w 175"/>
                <a:gd name="T5" fmla="*/ 13607 h 119"/>
                <a:gd name="T6" fmla="*/ 31931 w 175"/>
                <a:gd name="T7" fmla="*/ 13607 h 119"/>
                <a:gd name="T8" fmla="*/ 35125 w 175"/>
                <a:gd name="T9" fmla="*/ 13607 h 119"/>
                <a:gd name="T10" fmla="*/ 31931 w 175"/>
                <a:gd name="T11" fmla="*/ 17609 h 119"/>
                <a:gd name="T12" fmla="*/ 31931 w 175"/>
                <a:gd name="T13" fmla="*/ 20811 h 119"/>
                <a:gd name="T14" fmla="*/ 24747 w 175"/>
                <a:gd name="T15" fmla="*/ 24013 h 119"/>
                <a:gd name="T16" fmla="*/ 21554 w 175"/>
                <a:gd name="T17" fmla="*/ 24013 h 119"/>
                <a:gd name="T18" fmla="*/ 18361 w 175"/>
                <a:gd name="T19" fmla="*/ 24013 h 119"/>
                <a:gd name="T20" fmla="*/ 18361 w 175"/>
                <a:gd name="T21" fmla="*/ 20811 h 119"/>
                <a:gd name="T22" fmla="*/ 11176 w 175"/>
                <a:gd name="T23" fmla="*/ 17609 h 119"/>
                <a:gd name="T24" fmla="*/ 7185 w 175"/>
                <a:gd name="T25" fmla="*/ 13607 h 119"/>
                <a:gd name="T26" fmla="*/ 0 w 175"/>
                <a:gd name="T27" fmla="*/ 13607 h 119"/>
                <a:gd name="T28" fmla="*/ 0 w 175"/>
                <a:gd name="T29" fmla="*/ 10405 h 119"/>
                <a:gd name="T30" fmla="*/ 0 w 175"/>
                <a:gd name="T31" fmla="*/ 7204 h 119"/>
                <a:gd name="T32" fmla="*/ 3991 w 175"/>
                <a:gd name="T33" fmla="*/ 10405 h 119"/>
                <a:gd name="T34" fmla="*/ 7185 w 175"/>
                <a:gd name="T35" fmla="*/ 10405 h 119"/>
                <a:gd name="T36" fmla="*/ 11176 w 175"/>
                <a:gd name="T37" fmla="*/ 10405 h 119"/>
                <a:gd name="T38" fmla="*/ 11176 w 175"/>
                <a:gd name="T39" fmla="*/ 7204 h 119"/>
                <a:gd name="T40" fmla="*/ 11176 w 175"/>
                <a:gd name="T41" fmla="*/ 3202 h 119"/>
                <a:gd name="T42" fmla="*/ 7185 w 175"/>
                <a:gd name="T43" fmla="*/ 3202 h 119"/>
                <a:gd name="T44" fmla="*/ 7185 w 175"/>
                <a:gd name="T45" fmla="*/ 0 h 119"/>
                <a:gd name="T46" fmla="*/ 11176 w 175"/>
                <a:gd name="T47" fmla="*/ 0 h 119"/>
                <a:gd name="T48" fmla="*/ 14369 w 175"/>
                <a:gd name="T49" fmla="*/ 0 h 119"/>
                <a:gd name="T50" fmla="*/ 21554 w 175"/>
                <a:gd name="T51" fmla="*/ 0 h 119"/>
                <a:gd name="T52" fmla="*/ 24747 w 175"/>
                <a:gd name="T53" fmla="*/ 0 h 119"/>
                <a:gd name="T54" fmla="*/ 28738 w 175"/>
                <a:gd name="T55" fmla="*/ 0 h 119"/>
                <a:gd name="T56" fmla="*/ 28738 w 175"/>
                <a:gd name="T57" fmla="*/ 3202 h 119"/>
                <a:gd name="T58" fmla="*/ 24747 w 175"/>
                <a:gd name="T59" fmla="*/ 7204 h 119"/>
                <a:gd name="T60" fmla="*/ 21554 w 175"/>
                <a:gd name="T61" fmla="*/ 7204 h 119"/>
                <a:gd name="T62" fmla="*/ 24747 w 175"/>
                <a:gd name="T63" fmla="*/ 7204 h 119"/>
                <a:gd name="T64" fmla="*/ 28738 w 175"/>
                <a:gd name="T65" fmla="*/ 7204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5"/>
                <a:gd name="T100" fmla="*/ 0 h 119"/>
                <a:gd name="T101" fmla="*/ 175 w 175"/>
                <a:gd name="T102" fmla="*/ 119 h 1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5" h="119">
                  <a:moveTo>
                    <a:pt x="141" y="33"/>
                  </a:moveTo>
                  <a:lnTo>
                    <a:pt x="141" y="50"/>
                  </a:lnTo>
                  <a:lnTo>
                    <a:pt x="141" y="67"/>
                  </a:lnTo>
                  <a:lnTo>
                    <a:pt x="158" y="67"/>
                  </a:lnTo>
                  <a:lnTo>
                    <a:pt x="175" y="67"/>
                  </a:lnTo>
                  <a:lnTo>
                    <a:pt x="158" y="85"/>
                  </a:lnTo>
                  <a:lnTo>
                    <a:pt x="158" y="102"/>
                  </a:lnTo>
                  <a:lnTo>
                    <a:pt x="123" y="119"/>
                  </a:lnTo>
                  <a:lnTo>
                    <a:pt x="106" y="119"/>
                  </a:lnTo>
                  <a:lnTo>
                    <a:pt x="89" y="119"/>
                  </a:lnTo>
                  <a:lnTo>
                    <a:pt x="89" y="102"/>
                  </a:lnTo>
                  <a:lnTo>
                    <a:pt x="54" y="85"/>
                  </a:lnTo>
                  <a:lnTo>
                    <a:pt x="35" y="67"/>
                  </a:lnTo>
                  <a:lnTo>
                    <a:pt x="0" y="67"/>
                  </a:lnTo>
                  <a:lnTo>
                    <a:pt x="0" y="50"/>
                  </a:lnTo>
                  <a:lnTo>
                    <a:pt x="0" y="33"/>
                  </a:lnTo>
                  <a:lnTo>
                    <a:pt x="18" y="50"/>
                  </a:lnTo>
                  <a:lnTo>
                    <a:pt x="35" y="50"/>
                  </a:lnTo>
                  <a:lnTo>
                    <a:pt x="54" y="50"/>
                  </a:lnTo>
                  <a:lnTo>
                    <a:pt x="54" y="33"/>
                  </a:lnTo>
                  <a:lnTo>
                    <a:pt x="54" y="15"/>
                  </a:lnTo>
                  <a:lnTo>
                    <a:pt x="35" y="15"/>
                  </a:lnTo>
                  <a:lnTo>
                    <a:pt x="35" y="0"/>
                  </a:lnTo>
                  <a:lnTo>
                    <a:pt x="54" y="0"/>
                  </a:lnTo>
                  <a:lnTo>
                    <a:pt x="71" y="0"/>
                  </a:lnTo>
                  <a:lnTo>
                    <a:pt x="106" y="0"/>
                  </a:lnTo>
                  <a:lnTo>
                    <a:pt x="123" y="0"/>
                  </a:lnTo>
                  <a:lnTo>
                    <a:pt x="141" y="0"/>
                  </a:lnTo>
                  <a:lnTo>
                    <a:pt x="141" y="15"/>
                  </a:lnTo>
                  <a:lnTo>
                    <a:pt x="123" y="33"/>
                  </a:lnTo>
                  <a:lnTo>
                    <a:pt x="106" y="33"/>
                  </a:lnTo>
                  <a:lnTo>
                    <a:pt x="123" y="33"/>
                  </a:lnTo>
                  <a:lnTo>
                    <a:pt x="141" y="3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94" name="Freeform 23">
              <a:extLst>
                <a:ext uri="{FF2B5EF4-FFF2-40B4-BE49-F238E27FC236}">
                  <a16:creationId xmlns:a16="http://schemas.microsoft.com/office/drawing/2014/main" id="{988F2D7A-120F-4162-B4E2-F115B5669E99}"/>
                </a:ext>
              </a:extLst>
            </p:cNvPr>
            <p:cNvSpPr>
              <a:spLocks/>
            </p:cNvSpPr>
            <p:nvPr>
              <p:custDataLst>
                <p:tags r:id="rId24"/>
              </p:custDataLst>
            </p:nvPr>
          </p:nvSpPr>
          <p:spPr bwMode="auto">
            <a:xfrm>
              <a:off x="4905757" y="2313533"/>
              <a:ext cx="91481" cy="65093"/>
            </a:xfrm>
            <a:custGeom>
              <a:avLst/>
              <a:gdLst>
                <a:gd name="T0" fmla="*/ 17632 w 103"/>
                <a:gd name="T1" fmla="*/ 15288 h 73"/>
                <a:gd name="T2" fmla="*/ 10419 w 103"/>
                <a:gd name="T3" fmla="*/ 11265 h 73"/>
                <a:gd name="T4" fmla="*/ 4007 w 103"/>
                <a:gd name="T5" fmla="*/ 8046 h 73"/>
                <a:gd name="T6" fmla="*/ 0 w 103"/>
                <a:gd name="T7" fmla="*/ 8046 h 73"/>
                <a:gd name="T8" fmla="*/ 4007 w 103"/>
                <a:gd name="T9" fmla="*/ 8046 h 73"/>
                <a:gd name="T10" fmla="*/ 4007 w 103"/>
                <a:gd name="T11" fmla="*/ 4023 h 73"/>
                <a:gd name="T12" fmla="*/ 7213 w 103"/>
                <a:gd name="T13" fmla="*/ 0 h 73"/>
                <a:gd name="T14" fmla="*/ 14426 w 103"/>
                <a:gd name="T15" fmla="*/ 4023 h 73"/>
                <a:gd name="T16" fmla="*/ 17632 w 103"/>
                <a:gd name="T17" fmla="*/ 8046 h 73"/>
                <a:gd name="T18" fmla="*/ 20838 w 103"/>
                <a:gd name="T19" fmla="*/ 11265 h 73"/>
                <a:gd name="T20" fmla="*/ 17632 w 103"/>
                <a:gd name="T21" fmla="*/ 11265 h 73"/>
                <a:gd name="T22" fmla="*/ 17632 w 103"/>
                <a:gd name="T23" fmla="*/ 15288 h 7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3"/>
                <a:gd name="T37" fmla="*/ 0 h 73"/>
                <a:gd name="T38" fmla="*/ 103 w 103"/>
                <a:gd name="T39" fmla="*/ 73 h 7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3" h="73">
                  <a:moveTo>
                    <a:pt x="86" y="73"/>
                  </a:moveTo>
                  <a:lnTo>
                    <a:pt x="52" y="56"/>
                  </a:lnTo>
                  <a:lnTo>
                    <a:pt x="17" y="37"/>
                  </a:lnTo>
                  <a:lnTo>
                    <a:pt x="0" y="37"/>
                  </a:lnTo>
                  <a:lnTo>
                    <a:pt x="17" y="37"/>
                  </a:lnTo>
                  <a:lnTo>
                    <a:pt x="17" y="19"/>
                  </a:lnTo>
                  <a:lnTo>
                    <a:pt x="34" y="0"/>
                  </a:lnTo>
                  <a:lnTo>
                    <a:pt x="69" y="19"/>
                  </a:lnTo>
                  <a:lnTo>
                    <a:pt x="86" y="37"/>
                  </a:lnTo>
                  <a:lnTo>
                    <a:pt x="103" y="56"/>
                  </a:lnTo>
                  <a:lnTo>
                    <a:pt x="86" y="56"/>
                  </a:lnTo>
                  <a:lnTo>
                    <a:pt x="86" y="73"/>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95" name="Freeform 24">
              <a:extLst>
                <a:ext uri="{FF2B5EF4-FFF2-40B4-BE49-F238E27FC236}">
                  <a16:creationId xmlns:a16="http://schemas.microsoft.com/office/drawing/2014/main" id="{0F381C3D-44F6-4957-9A52-3DB939A17B37}"/>
                </a:ext>
              </a:extLst>
            </p:cNvPr>
            <p:cNvSpPr>
              <a:spLocks/>
            </p:cNvSpPr>
            <p:nvPr>
              <p:custDataLst>
                <p:tags r:id="rId25"/>
              </p:custDataLst>
            </p:nvPr>
          </p:nvSpPr>
          <p:spPr bwMode="auto">
            <a:xfrm>
              <a:off x="4983164" y="2118256"/>
              <a:ext cx="138982" cy="105555"/>
            </a:xfrm>
            <a:custGeom>
              <a:avLst/>
              <a:gdLst>
                <a:gd name="T0" fmla="*/ 30762 w 159"/>
                <a:gd name="T1" fmla="*/ 6298 h 121"/>
                <a:gd name="T2" fmla="*/ 27607 w 159"/>
                <a:gd name="T3" fmla="*/ 6298 h 121"/>
                <a:gd name="T4" fmla="*/ 24452 w 159"/>
                <a:gd name="T5" fmla="*/ 6298 h 121"/>
                <a:gd name="T6" fmla="*/ 21297 w 159"/>
                <a:gd name="T7" fmla="*/ 13382 h 121"/>
                <a:gd name="T8" fmla="*/ 21297 w 159"/>
                <a:gd name="T9" fmla="*/ 16531 h 121"/>
                <a:gd name="T10" fmla="*/ 13409 w 159"/>
                <a:gd name="T11" fmla="*/ 16531 h 121"/>
                <a:gd name="T12" fmla="*/ 10254 w 159"/>
                <a:gd name="T13" fmla="*/ 16531 h 121"/>
                <a:gd name="T14" fmla="*/ 10254 w 159"/>
                <a:gd name="T15" fmla="*/ 19680 h 121"/>
                <a:gd name="T16" fmla="*/ 10254 w 159"/>
                <a:gd name="T17" fmla="*/ 23616 h 121"/>
                <a:gd name="T18" fmla="*/ 6310 w 159"/>
                <a:gd name="T19" fmla="*/ 23616 h 121"/>
                <a:gd name="T20" fmla="*/ 3155 w 159"/>
                <a:gd name="T21" fmla="*/ 23616 h 121"/>
                <a:gd name="T22" fmla="*/ 3155 w 159"/>
                <a:gd name="T23" fmla="*/ 19680 h 121"/>
                <a:gd name="T24" fmla="*/ 3155 w 159"/>
                <a:gd name="T25" fmla="*/ 16531 h 121"/>
                <a:gd name="T26" fmla="*/ 3155 w 159"/>
                <a:gd name="T27" fmla="*/ 13382 h 121"/>
                <a:gd name="T28" fmla="*/ 0 w 159"/>
                <a:gd name="T29" fmla="*/ 6298 h 121"/>
                <a:gd name="T30" fmla="*/ 3155 w 159"/>
                <a:gd name="T31" fmla="*/ 6298 h 121"/>
                <a:gd name="T32" fmla="*/ 6310 w 159"/>
                <a:gd name="T33" fmla="*/ 6298 h 121"/>
                <a:gd name="T34" fmla="*/ 6310 w 159"/>
                <a:gd name="T35" fmla="*/ 3149 h 121"/>
                <a:gd name="T36" fmla="*/ 10254 w 159"/>
                <a:gd name="T37" fmla="*/ 3149 h 121"/>
                <a:gd name="T38" fmla="*/ 10254 w 159"/>
                <a:gd name="T39" fmla="*/ 0 h 121"/>
                <a:gd name="T40" fmla="*/ 17353 w 159"/>
                <a:gd name="T41" fmla="*/ 3149 h 121"/>
                <a:gd name="T42" fmla="*/ 21297 w 159"/>
                <a:gd name="T43" fmla="*/ 3149 h 121"/>
                <a:gd name="T44" fmla="*/ 30762 w 159"/>
                <a:gd name="T45" fmla="*/ 3149 h 121"/>
                <a:gd name="T46" fmla="*/ 30762 w 159"/>
                <a:gd name="T47" fmla="*/ 6298 h 12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9"/>
                <a:gd name="T73" fmla="*/ 0 h 121"/>
                <a:gd name="T74" fmla="*/ 159 w 159"/>
                <a:gd name="T75" fmla="*/ 121 h 12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9" h="121">
                  <a:moveTo>
                    <a:pt x="159" y="34"/>
                  </a:moveTo>
                  <a:lnTo>
                    <a:pt x="142" y="34"/>
                  </a:lnTo>
                  <a:lnTo>
                    <a:pt x="125" y="34"/>
                  </a:lnTo>
                  <a:lnTo>
                    <a:pt x="108" y="69"/>
                  </a:lnTo>
                  <a:lnTo>
                    <a:pt x="108" y="86"/>
                  </a:lnTo>
                  <a:lnTo>
                    <a:pt x="71" y="86"/>
                  </a:lnTo>
                  <a:lnTo>
                    <a:pt x="54" y="86"/>
                  </a:lnTo>
                  <a:lnTo>
                    <a:pt x="54" y="103"/>
                  </a:lnTo>
                  <a:lnTo>
                    <a:pt x="54" y="121"/>
                  </a:lnTo>
                  <a:lnTo>
                    <a:pt x="35" y="121"/>
                  </a:lnTo>
                  <a:lnTo>
                    <a:pt x="17" y="121"/>
                  </a:lnTo>
                  <a:lnTo>
                    <a:pt x="17" y="103"/>
                  </a:lnTo>
                  <a:lnTo>
                    <a:pt x="17" y="86"/>
                  </a:lnTo>
                  <a:lnTo>
                    <a:pt x="17" y="69"/>
                  </a:lnTo>
                  <a:lnTo>
                    <a:pt x="0" y="34"/>
                  </a:lnTo>
                  <a:lnTo>
                    <a:pt x="17" y="34"/>
                  </a:lnTo>
                  <a:lnTo>
                    <a:pt x="35" y="34"/>
                  </a:lnTo>
                  <a:lnTo>
                    <a:pt x="35" y="17"/>
                  </a:lnTo>
                  <a:lnTo>
                    <a:pt x="54" y="17"/>
                  </a:lnTo>
                  <a:lnTo>
                    <a:pt x="54" y="0"/>
                  </a:lnTo>
                  <a:lnTo>
                    <a:pt x="88" y="17"/>
                  </a:lnTo>
                  <a:lnTo>
                    <a:pt x="108" y="17"/>
                  </a:lnTo>
                  <a:lnTo>
                    <a:pt x="159" y="17"/>
                  </a:lnTo>
                  <a:lnTo>
                    <a:pt x="159" y="34"/>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96" name="Freeform 25">
              <a:extLst>
                <a:ext uri="{FF2B5EF4-FFF2-40B4-BE49-F238E27FC236}">
                  <a16:creationId xmlns:a16="http://schemas.microsoft.com/office/drawing/2014/main" id="{B1BD2965-8573-454C-B230-C47F06246E21}"/>
                </a:ext>
              </a:extLst>
            </p:cNvPr>
            <p:cNvSpPr>
              <a:spLocks/>
            </p:cNvSpPr>
            <p:nvPr>
              <p:custDataLst>
                <p:tags r:id="rId26"/>
              </p:custDataLst>
            </p:nvPr>
          </p:nvSpPr>
          <p:spPr bwMode="auto">
            <a:xfrm>
              <a:off x="5447607" y="2390940"/>
              <a:ext cx="45741" cy="31667"/>
            </a:xfrm>
            <a:custGeom>
              <a:avLst/>
              <a:gdLst>
                <a:gd name="T0" fmla="*/ 10319 w 52"/>
                <a:gd name="T1" fmla="*/ 3969 h 36"/>
                <a:gd name="T2" fmla="*/ 3969 w 52"/>
                <a:gd name="T3" fmla="*/ 7144 h 36"/>
                <a:gd name="T4" fmla="*/ 0 w 52"/>
                <a:gd name="T5" fmla="*/ 7144 h 36"/>
                <a:gd name="T6" fmla="*/ 0 w 52"/>
                <a:gd name="T7" fmla="*/ 3969 h 36"/>
                <a:gd name="T8" fmla="*/ 0 w 52"/>
                <a:gd name="T9" fmla="*/ 0 h 36"/>
                <a:gd name="T10" fmla="*/ 7144 w 52"/>
                <a:gd name="T11" fmla="*/ 0 h 36"/>
                <a:gd name="T12" fmla="*/ 10319 w 52"/>
                <a:gd name="T13" fmla="*/ 3969 h 36"/>
                <a:gd name="T14" fmla="*/ 0 60000 65536"/>
                <a:gd name="T15" fmla="*/ 0 60000 65536"/>
                <a:gd name="T16" fmla="*/ 0 60000 65536"/>
                <a:gd name="T17" fmla="*/ 0 60000 65536"/>
                <a:gd name="T18" fmla="*/ 0 60000 65536"/>
                <a:gd name="T19" fmla="*/ 0 60000 65536"/>
                <a:gd name="T20" fmla="*/ 0 60000 65536"/>
                <a:gd name="T21" fmla="*/ 0 w 52"/>
                <a:gd name="T22" fmla="*/ 0 h 36"/>
                <a:gd name="T23" fmla="*/ 52 w 52"/>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 h="36">
                  <a:moveTo>
                    <a:pt x="52" y="19"/>
                  </a:moveTo>
                  <a:lnTo>
                    <a:pt x="17" y="36"/>
                  </a:lnTo>
                  <a:lnTo>
                    <a:pt x="0" y="36"/>
                  </a:lnTo>
                  <a:lnTo>
                    <a:pt x="0" y="19"/>
                  </a:lnTo>
                  <a:lnTo>
                    <a:pt x="0" y="0"/>
                  </a:lnTo>
                  <a:lnTo>
                    <a:pt x="35" y="0"/>
                  </a:lnTo>
                  <a:lnTo>
                    <a:pt x="52" y="19"/>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97" name="Freeform 26">
              <a:extLst>
                <a:ext uri="{FF2B5EF4-FFF2-40B4-BE49-F238E27FC236}">
                  <a16:creationId xmlns:a16="http://schemas.microsoft.com/office/drawing/2014/main" id="{3F942DA4-64D9-4E5A-9C15-FA020F8BC7A4}"/>
                </a:ext>
              </a:extLst>
            </p:cNvPr>
            <p:cNvSpPr>
              <a:spLocks/>
            </p:cNvSpPr>
            <p:nvPr>
              <p:custDataLst>
                <p:tags r:id="rId27"/>
              </p:custDataLst>
            </p:nvPr>
          </p:nvSpPr>
          <p:spPr bwMode="auto">
            <a:xfrm>
              <a:off x="5338533" y="2149923"/>
              <a:ext cx="124907" cy="43982"/>
            </a:xfrm>
            <a:custGeom>
              <a:avLst/>
              <a:gdLst>
                <a:gd name="T0" fmla="*/ 10319 w 142"/>
                <a:gd name="T1" fmla="*/ 10319 h 50"/>
                <a:gd name="T2" fmla="*/ 7144 w 142"/>
                <a:gd name="T3" fmla="*/ 10319 h 50"/>
                <a:gd name="T4" fmla="*/ 7144 w 142"/>
                <a:gd name="T5" fmla="*/ 7144 h 50"/>
                <a:gd name="T6" fmla="*/ 3175 w 142"/>
                <a:gd name="T7" fmla="*/ 2381 h 50"/>
                <a:gd name="T8" fmla="*/ 0 w 142"/>
                <a:gd name="T9" fmla="*/ 2381 h 50"/>
                <a:gd name="T10" fmla="*/ 0 w 142"/>
                <a:gd name="T11" fmla="*/ 0 h 50"/>
                <a:gd name="T12" fmla="*/ 3175 w 142"/>
                <a:gd name="T13" fmla="*/ 0 h 50"/>
                <a:gd name="T14" fmla="*/ 10319 w 142"/>
                <a:gd name="T15" fmla="*/ 0 h 50"/>
                <a:gd name="T16" fmla="*/ 14288 w 142"/>
                <a:gd name="T17" fmla="*/ 0 h 50"/>
                <a:gd name="T18" fmla="*/ 21431 w 142"/>
                <a:gd name="T19" fmla="*/ 0 h 50"/>
                <a:gd name="T20" fmla="*/ 24606 w 142"/>
                <a:gd name="T21" fmla="*/ 2381 h 50"/>
                <a:gd name="T22" fmla="*/ 28575 w 142"/>
                <a:gd name="T23" fmla="*/ 7144 h 50"/>
                <a:gd name="T24" fmla="*/ 24606 w 142"/>
                <a:gd name="T25" fmla="*/ 7144 h 50"/>
                <a:gd name="T26" fmla="*/ 24606 w 142"/>
                <a:gd name="T27" fmla="*/ 10319 h 50"/>
                <a:gd name="T28" fmla="*/ 21431 w 142"/>
                <a:gd name="T29" fmla="*/ 10319 h 50"/>
                <a:gd name="T30" fmla="*/ 17463 w 142"/>
                <a:gd name="T31" fmla="*/ 7144 h 50"/>
                <a:gd name="T32" fmla="*/ 17463 w 142"/>
                <a:gd name="T33" fmla="*/ 10319 h 50"/>
                <a:gd name="T34" fmla="*/ 14288 w 142"/>
                <a:gd name="T35" fmla="*/ 10319 h 50"/>
                <a:gd name="T36" fmla="*/ 10319 w 142"/>
                <a:gd name="T37" fmla="*/ 10319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2"/>
                <a:gd name="T58" fmla="*/ 0 h 50"/>
                <a:gd name="T59" fmla="*/ 142 w 142"/>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2" h="50">
                  <a:moveTo>
                    <a:pt x="54" y="50"/>
                  </a:moveTo>
                  <a:lnTo>
                    <a:pt x="37" y="50"/>
                  </a:lnTo>
                  <a:lnTo>
                    <a:pt x="37" y="33"/>
                  </a:lnTo>
                  <a:lnTo>
                    <a:pt x="19" y="15"/>
                  </a:lnTo>
                  <a:lnTo>
                    <a:pt x="0" y="15"/>
                  </a:lnTo>
                  <a:lnTo>
                    <a:pt x="0" y="0"/>
                  </a:lnTo>
                  <a:lnTo>
                    <a:pt x="19" y="0"/>
                  </a:lnTo>
                  <a:lnTo>
                    <a:pt x="54" y="0"/>
                  </a:lnTo>
                  <a:lnTo>
                    <a:pt x="71" y="0"/>
                  </a:lnTo>
                  <a:lnTo>
                    <a:pt x="108" y="0"/>
                  </a:lnTo>
                  <a:lnTo>
                    <a:pt x="125" y="15"/>
                  </a:lnTo>
                  <a:lnTo>
                    <a:pt x="142" y="33"/>
                  </a:lnTo>
                  <a:lnTo>
                    <a:pt x="125" y="33"/>
                  </a:lnTo>
                  <a:lnTo>
                    <a:pt x="125" y="50"/>
                  </a:lnTo>
                  <a:lnTo>
                    <a:pt x="108" y="50"/>
                  </a:lnTo>
                  <a:lnTo>
                    <a:pt x="90" y="33"/>
                  </a:lnTo>
                  <a:lnTo>
                    <a:pt x="90" y="50"/>
                  </a:lnTo>
                  <a:lnTo>
                    <a:pt x="71" y="50"/>
                  </a:lnTo>
                  <a:lnTo>
                    <a:pt x="54" y="50"/>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98" name="Freeform 27">
              <a:extLst>
                <a:ext uri="{FF2B5EF4-FFF2-40B4-BE49-F238E27FC236}">
                  <a16:creationId xmlns:a16="http://schemas.microsoft.com/office/drawing/2014/main" id="{DCF380DA-EB74-438F-AF99-4FC61D220D9B}"/>
                </a:ext>
              </a:extLst>
            </p:cNvPr>
            <p:cNvSpPr>
              <a:spLocks/>
            </p:cNvSpPr>
            <p:nvPr>
              <p:custDataLst>
                <p:tags r:id="rId28"/>
              </p:custDataLst>
            </p:nvPr>
          </p:nvSpPr>
          <p:spPr bwMode="auto">
            <a:xfrm>
              <a:off x="5387793" y="2345199"/>
              <a:ext cx="12315" cy="0"/>
            </a:xfrm>
            <a:custGeom>
              <a:avLst/>
              <a:gdLst>
                <a:gd name="T0" fmla="*/ 0 w 13"/>
                <a:gd name="T1" fmla="*/ 3419 w 13"/>
                <a:gd name="T2" fmla="*/ 0 w 13"/>
                <a:gd name="T3" fmla="*/ 0 60000 65536"/>
                <a:gd name="T4" fmla="*/ 0 60000 65536"/>
                <a:gd name="T5" fmla="*/ 0 60000 65536"/>
                <a:gd name="T6" fmla="*/ 0 w 13"/>
                <a:gd name="T7" fmla="*/ 13 w 13"/>
              </a:gdLst>
              <a:ahLst/>
              <a:cxnLst>
                <a:cxn ang="T3">
                  <a:pos x="T0" y="0"/>
                </a:cxn>
                <a:cxn ang="T4">
                  <a:pos x="T1" y="0"/>
                </a:cxn>
                <a:cxn ang="T5">
                  <a:pos x="T2" y="0"/>
                </a:cxn>
              </a:cxnLst>
              <a:rect l="T6" t="0" r="T7" b="0"/>
              <a:pathLst>
                <a:path w="13">
                  <a:moveTo>
                    <a:pt x="0" y="0"/>
                  </a:moveTo>
                  <a:lnTo>
                    <a:pt x="13" y="0"/>
                  </a:lnTo>
                  <a:lnTo>
                    <a:pt x="0" y="0"/>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99" name="Freeform 28">
              <a:extLst>
                <a:ext uri="{FF2B5EF4-FFF2-40B4-BE49-F238E27FC236}">
                  <a16:creationId xmlns:a16="http://schemas.microsoft.com/office/drawing/2014/main" id="{EBDBCDD7-C675-4ECE-9322-8EF8D3BADB49}"/>
                </a:ext>
              </a:extLst>
            </p:cNvPr>
            <p:cNvSpPr>
              <a:spLocks/>
            </p:cNvSpPr>
            <p:nvPr>
              <p:custDataLst>
                <p:tags r:id="rId29"/>
              </p:custDataLst>
            </p:nvPr>
          </p:nvSpPr>
          <p:spPr bwMode="auto">
            <a:xfrm>
              <a:off x="5122145" y="2149923"/>
              <a:ext cx="700183" cy="471480"/>
            </a:xfrm>
            <a:custGeom>
              <a:avLst/>
              <a:gdLst>
                <a:gd name="T0" fmla="*/ 143849 w 795"/>
                <a:gd name="T1" fmla="*/ 78728 h 535"/>
                <a:gd name="T2" fmla="*/ 127160 w 795"/>
                <a:gd name="T3" fmla="*/ 69185 h 535"/>
                <a:gd name="T4" fmla="*/ 127160 w 795"/>
                <a:gd name="T5" fmla="*/ 72366 h 535"/>
                <a:gd name="T6" fmla="*/ 127160 w 795"/>
                <a:gd name="T7" fmla="*/ 75547 h 535"/>
                <a:gd name="T8" fmla="*/ 133518 w 795"/>
                <a:gd name="T9" fmla="*/ 78728 h 535"/>
                <a:gd name="T10" fmla="*/ 140670 w 795"/>
                <a:gd name="T11" fmla="*/ 82704 h 535"/>
                <a:gd name="T12" fmla="*/ 140670 w 795"/>
                <a:gd name="T13" fmla="*/ 93042 h 535"/>
                <a:gd name="T14" fmla="*/ 133518 w 795"/>
                <a:gd name="T15" fmla="*/ 96223 h 535"/>
                <a:gd name="T16" fmla="*/ 123186 w 795"/>
                <a:gd name="T17" fmla="*/ 96223 h 535"/>
                <a:gd name="T18" fmla="*/ 130339 w 795"/>
                <a:gd name="T19" fmla="*/ 106561 h 535"/>
                <a:gd name="T20" fmla="*/ 120007 w 795"/>
                <a:gd name="T21" fmla="*/ 100199 h 535"/>
                <a:gd name="T22" fmla="*/ 102523 w 795"/>
                <a:gd name="T23" fmla="*/ 96223 h 535"/>
                <a:gd name="T24" fmla="*/ 92191 w 795"/>
                <a:gd name="T25" fmla="*/ 85885 h 535"/>
                <a:gd name="T26" fmla="*/ 81064 w 795"/>
                <a:gd name="T27" fmla="*/ 82704 h 535"/>
                <a:gd name="T28" fmla="*/ 66759 w 795"/>
                <a:gd name="T29" fmla="*/ 82704 h 535"/>
                <a:gd name="T30" fmla="*/ 73912 w 795"/>
                <a:gd name="T31" fmla="*/ 78728 h 535"/>
                <a:gd name="T32" fmla="*/ 85038 w 795"/>
                <a:gd name="T33" fmla="*/ 78728 h 535"/>
                <a:gd name="T34" fmla="*/ 88217 w 795"/>
                <a:gd name="T35" fmla="*/ 75547 h 535"/>
                <a:gd name="T36" fmla="*/ 88217 w 795"/>
                <a:gd name="T37" fmla="*/ 69185 h 535"/>
                <a:gd name="T38" fmla="*/ 95370 w 795"/>
                <a:gd name="T39" fmla="*/ 65209 h 535"/>
                <a:gd name="T40" fmla="*/ 88217 w 795"/>
                <a:gd name="T41" fmla="*/ 48509 h 535"/>
                <a:gd name="T42" fmla="*/ 77885 w 795"/>
                <a:gd name="T43" fmla="*/ 48509 h 535"/>
                <a:gd name="T44" fmla="*/ 77885 w 795"/>
                <a:gd name="T45" fmla="*/ 45328 h 535"/>
                <a:gd name="T46" fmla="*/ 63580 w 795"/>
                <a:gd name="T47" fmla="*/ 34195 h 535"/>
                <a:gd name="T48" fmla="*/ 57222 w 795"/>
                <a:gd name="T49" fmla="*/ 41352 h 535"/>
                <a:gd name="T50" fmla="*/ 46095 w 795"/>
                <a:gd name="T51" fmla="*/ 34195 h 535"/>
                <a:gd name="T52" fmla="*/ 25432 w 795"/>
                <a:gd name="T53" fmla="*/ 34195 h 535"/>
                <a:gd name="T54" fmla="*/ 15100 w 795"/>
                <a:gd name="T55" fmla="*/ 34195 h 535"/>
                <a:gd name="T56" fmla="*/ 3974 w 795"/>
                <a:gd name="T57" fmla="*/ 27038 h 535"/>
                <a:gd name="T58" fmla="*/ 15100 w 795"/>
                <a:gd name="T59" fmla="*/ 27038 h 535"/>
                <a:gd name="T60" fmla="*/ 3974 w 795"/>
                <a:gd name="T61" fmla="*/ 23857 h 535"/>
                <a:gd name="T62" fmla="*/ 3974 w 795"/>
                <a:gd name="T63" fmla="*/ 13519 h 535"/>
                <a:gd name="T64" fmla="*/ 11126 w 795"/>
                <a:gd name="T65" fmla="*/ 0 h 535"/>
                <a:gd name="T66" fmla="*/ 25432 w 795"/>
                <a:gd name="T67" fmla="*/ 0 h 535"/>
                <a:gd name="T68" fmla="*/ 18279 w 795"/>
                <a:gd name="T69" fmla="*/ 10338 h 535"/>
                <a:gd name="T70" fmla="*/ 21458 w 795"/>
                <a:gd name="T71" fmla="*/ 17495 h 535"/>
                <a:gd name="T72" fmla="*/ 25432 w 795"/>
                <a:gd name="T73" fmla="*/ 10338 h 535"/>
                <a:gd name="T74" fmla="*/ 46095 w 795"/>
                <a:gd name="T75" fmla="*/ 0 h 535"/>
                <a:gd name="T76" fmla="*/ 53248 w 795"/>
                <a:gd name="T77" fmla="*/ 13519 h 535"/>
                <a:gd name="T78" fmla="*/ 63580 w 795"/>
                <a:gd name="T79" fmla="*/ 13519 h 535"/>
                <a:gd name="T80" fmla="*/ 73912 w 795"/>
                <a:gd name="T81" fmla="*/ 10338 h 535"/>
                <a:gd name="T82" fmla="*/ 85038 w 795"/>
                <a:gd name="T83" fmla="*/ 17495 h 535"/>
                <a:gd name="T84" fmla="*/ 98549 w 795"/>
                <a:gd name="T85" fmla="*/ 23857 h 535"/>
                <a:gd name="T86" fmla="*/ 109675 w 795"/>
                <a:gd name="T87" fmla="*/ 27038 h 535"/>
                <a:gd name="T88" fmla="*/ 120007 w 795"/>
                <a:gd name="T89" fmla="*/ 34195 h 535"/>
                <a:gd name="T90" fmla="*/ 130339 w 795"/>
                <a:gd name="T91" fmla="*/ 37376 h 535"/>
                <a:gd name="T92" fmla="*/ 120007 w 795"/>
                <a:gd name="T93" fmla="*/ 41352 h 535"/>
                <a:gd name="T94" fmla="*/ 130339 w 795"/>
                <a:gd name="T95" fmla="*/ 41352 h 535"/>
                <a:gd name="T96" fmla="*/ 123186 w 795"/>
                <a:gd name="T97" fmla="*/ 48509 h 535"/>
                <a:gd name="T98" fmla="*/ 130339 w 795"/>
                <a:gd name="T99" fmla="*/ 51690 h 535"/>
                <a:gd name="T100" fmla="*/ 140670 w 795"/>
                <a:gd name="T101" fmla="*/ 58847 h 535"/>
                <a:gd name="T102" fmla="*/ 147823 w 795"/>
                <a:gd name="T103" fmla="*/ 62028 h 535"/>
                <a:gd name="T104" fmla="*/ 154976 w 795"/>
                <a:gd name="T105" fmla="*/ 69185 h 535"/>
                <a:gd name="T106" fmla="*/ 154976 w 795"/>
                <a:gd name="T107" fmla="*/ 72366 h 535"/>
                <a:gd name="T108" fmla="*/ 147823 w 795"/>
                <a:gd name="T109" fmla="*/ 75547 h 53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95"/>
                <a:gd name="T166" fmla="*/ 0 h 535"/>
                <a:gd name="T167" fmla="*/ 795 w 795"/>
                <a:gd name="T168" fmla="*/ 535 h 53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95" h="535">
                  <a:moveTo>
                    <a:pt x="741" y="378"/>
                  </a:moveTo>
                  <a:lnTo>
                    <a:pt x="741" y="395"/>
                  </a:lnTo>
                  <a:lnTo>
                    <a:pt x="724" y="395"/>
                  </a:lnTo>
                  <a:lnTo>
                    <a:pt x="690" y="395"/>
                  </a:lnTo>
                  <a:lnTo>
                    <a:pt x="672" y="361"/>
                  </a:lnTo>
                  <a:lnTo>
                    <a:pt x="638" y="346"/>
                  </a:lnTo>
                  <a:lnTo>
                    <a:pt x="619" y="346"/>
                  </a:lnTo>
                  <a:lnTo>
                    <a:pt x="619" y="361"/>
                  </a:lnTo>
                  <a:lnTo>
                    <a:pt x="638" y="361"/>
                  </a:lnTo>
                  <a:lnTo>
                    <a:pt x="619" y="361"/>
                  </a:lnTo>
                  <a:lnTo>
                    <a:pt x="619" y="378"/>
                  </a:lnTo>
                  <a:lnTo>
                    <a:pt x="638" y="378"/>
                  </a:lnTo>
                  <a:lnTo>
                    <a:pt x="638" y="395"/>
                  </a:lnTo>
                  <a:lnTo>
                    <a:pt x="655" y="395"/>
                  </a:lnTo>
                  <a:lnTo>
                    <a:pt x="672" y="395"/>
                  </a:lnTo>
                  <a:lnTo>
                    <a:pt x="672" y="413"/>
                  </a:lnTo>
                  <a:lnTo>
                    <a:pt x="690" y="413"/>
                  </a:lnTo>
                  <a:lnTo>
                    <a:pt x="707" y="413"/>
                  </a:lnTo>
                  <a:lnTo>
                    <a:pt x="707" y="430"/>
                  </a:lnTo>
                  <a:lnTo>
                    <a:pt x="707" y="447"/>
                  </a:lnTo>
                  <a:lnTo>
                    <a:pt x="707" y="466"/>
                  </a:lnTo>
                  <a:lnTo>
                    <a:pt x="707" y="484"/>
                  </a:lnTo>
                  <a:lnTo>
                    <a:pt x="707" y="501"/>
                  </a:lnTo>
                  <a:lnTo>
                    <a:pt x="672" y="484"/>
                  </a:lnTo>
                  <a:lnTo>
                    <a:pt x="638" y="466"/>
                  </a:lnTo>
                  <a:lnTo>
                    <a:pt x="601" y="447"/>
                  </a:lnTo>
                  <a:lnTo>
                    <a:pt x="619" y="484"/>
                  </a:lnTo>
                  <a:lnTo>
                    <a:pt x="655" y="501"/>
                  </a:lnTo>
                  <a:lnTo>
                    <a:pt x="655" y="518"/>
                  </a:lnTo>
                  <a:lnTo>
                    <a:pt x="655" y="535"/>
                  </a:lnTo>
                  <a:lnTo>
                    <a:pt x="655" y="518"/>
                  </a:lnTo>
                  <a:lnTo>
                    <a:pt x="619" y="501"/>
                  </a:lnTo>
                  <a:lnTo>
                    <a:pt x="601" y="501"/>
                  </a:lnTo>
                  <a:lnTo>
                    <a:pt x="584" y="501"/>
                  </a:lnTo>
                  <a:lnTo>
                    <a:pt x="532" y="501"/>
                  </a:lnTo>
                  <a:lnTo>
                    <a:pt x="515" y="484"/>
                  </a:lnTo>
                  <a:lnTo>
                    <a:pt x="515" y="447"/>
                  </a:lnTo>
                  <a:lnTo>
                    <a:pt x="478" y="447"/>
                  </a:lnTo>
                  <a:lnTo>
                    <a:pt x="461" y="430"/>
                  </a:lnTo>
                  <a:lnTo>
                    <a:pt x="425" y="413"/>
                  </a:lnTo>
                  <a:lnTo>
                    <a:pt x="425" y="430"/>
                  </a:lnTo>
                  <a:lnTo>
                    <a:pt x="407" y="413"/>
                  </a:lnTo>
                  <a:lnTo>
                    <a:pt x="390" y="413"/>
                  </a:lnTo>
                  <a:lnTo>
                    <a:pt x="371" y="430"/>
                  </a:lnTo>
                  <a:lnTo>
                    <a:pt x="336" y="413"/>
                  </a:lnTo>
                  <a:lnTo>
                    <a:pt x="336" y="395"/>
                  </a:lnTo>
                  <a:lnTo>
                    <a:pt x="354" y="395"/>
                  </a:lnTo>
                  <a:lnTo>
                    <a:pt x="371" y="395"/>
                  </a:lnTo>
                  <a:lnTo>
                    <a:pt x="390" y="395"/>
                  </a:lnTo>
                  <a:lnTo>
                    <a:pt x="407" y="395"/>
                  </a:lnTo>
                  <a:lnTo>
                    <a:pt x="425" y="395"/>
                  </a:lnTo>
                  <a:lnTo>
                    <a:pt x="442" y="395"/>
                  </a:lnTo>
                  <a:lnTo>
                    <a:pt x="461" y="378"/>
                  </a:lnTo>
                  <a:lnTo>
                    <a:pt x="442" y="378"/>
                  </a:lnTo>
                  <a:lnTo>
                    <a:pt x="442" y="361"/>
                  </a:lnTo>
                  <a:lnTo>
                    <a:pt x="425" y="361"/>
                  </a:lnTo>
                  <a:lnTo>
                    <a:pt x="442" y="346"/>
                  </a:lnTo>
                  <a:lnTo>
                    <a:pt x="461" y="346"/>
                  </a:lnTo>
                  <a:lnTo>
                    <a:pt x="478" y="346"/>
                  </a:lnTo>
                  <a:lnTo>
                    <a:pt x="478" y="328"/>
                  </a:lnTo>
                  <a:lnTo>
                    <a:pt x="478" y="311"/>
                  </a:lnTo>
                  <a:lnTo>
                    <a:pt x="478" y="276"/>
                  </a:lnTo>
                  <a:lnTo>
                    <a:pt x="442" y="242"/>
                  </a:lnTo>
                  <a:lnTo>
                    <a:pt x="407" y="225"/>
                  </a:lnTo>
                  <a:lnTo>
                    <a:pt x="407" y="242"/>
                  </a:lnTo>
                  <a:lnTo>
                    <a:pt x="390" y="242"/>
                  </a:lnTo>
                  <a:lnTo>
                    <a:pt x="371" y="242"/>
                  </a:lnTo>
                  <a:lnTo>
                    <a:pt x="371" y="225"/>
                  </a:lnTo>
                  <a:lnTo>
                    <a:pt x="390" y="225"/>
                  </a:lnTo>
                  <a:lnTo>
                    <a:pt x="371" y="205"/>
                  </a:lnTo>
                  <a:lnTo>
                    <a:pt x="354" y="171"/>
                  </a:lnTo>
                  <a:lnTo>
                    <a:pt x="319" y="171"/>
                  </a:lnTo>
                  <a:lnTo>
                    <a:pt x="302" y="171"/>
                  </a:lnTo>
                  <a:lnTo>
                    <a:pt x="302" y="188"/>
                  </a:lnTo>
                  <a:lnTo>
                    <a:pt x="285" y="205"/>
                  </a:lnTo>
                  <a:lnTo>
                    <a:pt x="267" y="205"/>
                  </a:lnTo>
                  <a:lnTo>
                    <a:pt x="267" y="188"/>
                  </a:lnTo>
                  <a:lnTo>
                    <a:pt x="231" y="171"/>
                  </a:lnTo>
                  <a:lnTo>
                    <a:pt x="179" y="188"/>
                  </a:lnTo>
                  <a:lnTo>
                    <a:pt x="125" y="188"/>
                  </a:lnTo>
                  <a:lnTo>
                    <a:pt x="125" y="171"/>
                  </a:lnTo>
                  <a:lnTo>
                    <a:pt x="108" y="171"/>
                  </a:lnTo>
                  <a:lnTo>
                    <a:pt x="91" y="171"/>
                  </a:lnTo>
                  <a:lnTo>
                    <a:pt x="73" y="171"/>
                  </a:lnTo>
                  <a:lnTo>
                    <a:pt x="56" y="171"/>
                  </a:lnTo>
                  <a:lnTo>
                    <a:pt x="39" y="154"/>
                  </a:lnTo>
                  <a:lnTo>
                    <a:pt x="20" y="136"/>
                  </a:lnTo>
                  <a:lnTo>
                    <a:pt x="39" y="136"/>
                  </a:lnTo>
                  <a:lnTo>
                    <a:pt x="56" y="136"/>
                  </a:lnTo>
                  <a:lnTo>
                    <a:pt x="73" y="136"/>
                  </a:lnTo>
                  <a:lnTo>
                    <a:pt x="73" y="119"/>
                  </a:lnTo>
                  <a:lnTo>
                    <a:pt x="56" y="119"/>
                  </a:lnTo>
                  <a:lnTo>
                    <a:pt x="20" y="119"/>
                  </a:lnTo>
                  <a:lnTo>
                    <a:pt x="20" y="102"/>
                  </a:lnTo>
                  <a:lnTo>
                    <a:pt x="0" y="102"/>
                  </a:lnTo>
                  <a:lnTo>
                    <a:pt x="20" y="67"/>
                  </a:lnTo>
                  <a:lnTo>
                    <a:pt x="20" y="50"/>
                  </a:lnTo>
                  <a:lnTo>
                    <a:pt x="20" y="33"/>
                  </a:lnTo>
                  <a:lnTo>
                    <a:pt x="56" y="0"/>
                  </a:lnTo>
                  <a:lnTo>
                    <a:pt x="73" y="0"/>
                  </a:lnTo>
                  <a:lnTo>
                    <a:pt x="108" y="0"/>
                  </a:lnTo>
                  <a:lnTo>
                    <a:pt x="125" y="0"/>
                  </a:lnTo>
                  <a:lnTo>
                    <a:pt x="125" y="15"/>
                  </a:lnTo>
                  <a:lnTo>
                    <a:pt x="108" y="33"/>
                  </a:lnTo>
                  <a:lnTo>
                    <a:pt x="91" y="50"/>
                  </a:lnTo>
                  <a:lnTo>
                    <a:pt x="91" y="67"/>
                  </a:lnTo>
                  <a:lnTo>
                    <a:pt x="108" y="67"/>
                  </a:lnTo>
                  <a:lnTo>
                    <a:pt x="108" y="85"/>
                  </a:lnTo>
                  <a:lnTo>
                    <a:pt x="125" y="85"/>
                  </a:lnTo>
                  <a:lnTo>
                    <a:pt x="125" y="67"/>
                  </a:lnTo>
                  <a:lnTo>
                    <a:pt x="125" y="50"/>
                  </a:lnTo>
                  <a:lnTo>
                    <a:pt x="143" y="15"/>
                  </a:lnTo>
                  <a:lnTo>
                    <a:pt x="196" y="0"/>
                  </a:lnTo>
                  <a:lnTo>
                    <a:pt x="231" y="0"/>
                  </a:lnTo>
                  <a:lnTo>
                    <a:pt x="248" y="0"/>
                  </a:lnTo>
                  <a:lnTo>
                    <a:pt x="248" y="33"/>
                  </a:lnTo>
                  <a:lnTo>
                    <a:pt x="267" y="67"/>
                  </a:lnTo>
                  <a:lnTo>
                    <a:pt x="285" y="67"/>
                  </a:lnTo>
                  <a:lnTo>
                    <a:pt x="302" y="67"/>
                  </a:lnTo>
                  <a:lnTo>
                    <a:pt x="319" y="67"/>
                  </a:lnTo>
                  <a:lnTo>
                    <a:pt x="336" y="67"/>
                  </a:lnTo>
                  <a:lnTo>
                    <a:pt x="354" y="50"/>
                  </a:lnTo>
                  <a:lnTo>
                    <a:pt x="371" y="50"/>
                  </a:lnTo>
                  <a:lnTo>
                    <a:pt x="390" y="67"/>
                  </a:lnTo>
                  <a:lnTo>
                    <a:pt x="425" y="67"/>
                  </a:lnTo>
                  <a:lnTo>
                    <a:pt x="425" y="85"/>
                  </a:lnTo>
                  <a:lnTo>
                    <a:pt x="442" y="102"/>
                  </a:lnTo>
                  <a:lnTo>
                    <a:pt x="478" y="119"/>
                  </a:lnTo>
                  <a:lnTo>
                    <a:pt x="496" y="119"/>
                  </a:lnTo>
                  <a:lnTo>
                    <a:pt x="515" y="119"/>
                  </a:lnTo>
                  <a:lnTo>
                    <a:pt x="532" y="119"/>
                  </a:lnTo>
                  <a:lnTo>
                    <a:pt x="549" y="136"/>
                  </a:lnTo>
                  <a:lnTo>
                    <a:pt x="584" y="154"/>
                  </a:lnTo>
                  <a:lnTo>
                    <a:pt x="601" y="154"/>
                  </a:lnTo>
                  <a:lnTo>
                    <a:pt x="601" y="171"/>
                  </a:lnTo>
                  <a:lnTo>
                    <a:pt x="619" y="171"/>
                  </a:lnTo>
                  <a:lnTo>
                    <a:pt x="638" y="171"/>
                  </a:lnTo>
                  <a:lnTo>
                    <a:pt x="655" y="188"/>
                  </a:lnTo>
                  <a:lnTo>
                    <a:pt x="638" y="188"/>
                  </a:lnTo>
                  <a:lnTo>
                    <a:pt x="619" y="205"/>
                  </a:lnTo>
                  <a:lnTo>
                    <a:pt x="601" y="205"/>
                  </a:lnTo>
                  <a:lnTo>
                    <a:pt x="619" y="205"/>
                  </a:lnTo>
                  <a:lnTo>
                    <a:pt x="638" y="205"/>
                  </a:lnTo>
                  <a:lnTo>
                    <a:pt x="655" y="205"/>
                  </a:lnTo>
                  <a:lnTo>
                    <a:pt x="655" y="225"/>
                  </a:lnTo>
                  <a:lnTo>
                    <a:pt x="638" y="225"/>
                  </a:lnTo>
                  <a:lnTo>
                    <a:pt x="619" y="242"/>
                  </a:lnTo>
                  <a:lnTo>
                    <a:pt x="638" y="242"/>
                  </a:lnTo>
                  <a:lnTo>
                    <a:pt x="655" y="242"/>
                  </a:lnTo>
                  <a:lnTo>
                    <a:pt x="655" y="259"/>
                  </a:lnTo>
                  <a:lnTo>
                    <a:pt x="672" y="276"/>
                  </a:lnTo>
                  <a:lnTo>
                    <a:pt x="690" y="294"/>
                  </a:lnTo>
                  <a:lnTo>
                    <a:pt x="707" y="294"/>
                  </a:lnTo>
                  <a:lnTo>
                    <a:pt x="707" y="311"/>
                  </a:lnTo>
                  <a:lnTo>
                    <a:pt x="724" y="311"/>
                  </a:lnTo>
                  <a:lnTo>
                    <a:pt x="741" y="311"/>
                  </a:lnTo>
                  <a:lnTo>
                    <a:pt x="761" y="328"/>
                  </a:lnTo>
                  <a:lnTo>
                    <a:pt x="778" y="328"/>
                  </a:lnTo>
                  <a:lnTo>
                    <a:pt x="778" y="346"/>
                  </a:lnTo>
                  <a:lnTo>
                    <a:pt x="795" y="346"/>
                  </a:lnTo>
                  <a:lnTo>
                    <a:pt x="778" y="346"/>
                  </a:lnTo>
                  <a:lnTo>
                    <a:pt x="778" y="361"/>
                  </a:lnTo>
                  <a:lnTo>
                    <a:pt x="778" y="378"/>
                  </a:lnTo>
                  <a:lnTo>
                    <a:pt x="761" y="378"/>
                  </a:lnTo>
                  <a:lnTo>
                    <a:pt x="741" y="378"/>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00" name="Freeform 29">
              <a:extLst>
                <a:ext uri="{FF2B5EF4-FFF2-40B4-BE49-F238E27FC236}">
                  <a16:creationId xmlns:a16="http://schemas.microsoft.com/office/drawing/2014/main" id="{7CF35412-3300-42CC-9F02-A364D9AF2BAF}"/>
                </a:ext>
              </a:extLst>
            </p:cNvPr>
            <p:cNvSpPr>
              <a:spLocks/>
            </p:cNvSpPr>
            <p:nvPr>
              <p:custDataLst>
                <p:tags r:id="rId30"/>
              </p:custDataLst>
            </p:nvPr>
          </p:nvSpPr>
          <p:spPr bwMode="auto">
            <a:xfrm>
              <a:off x="5540847" y="1616869"/>
              <a:ext cx="1423236" cy="1062588"/>
            </a:xfrm>
            <a:custGeom>
              <a:avLst/>
              <a:gdLst>
                <a:gd name="T0" fmla="*/ 119063 w 1618"/>
                <a:gd name="T1" fmla="*/ 153860 h 1209"/>
                <a:gd name="T2" fmla="*/ 104775 w 1618"/>
                <a:gd name="T3" fmla="*/ 150688 h 1209"/>
                <a:gd name="T4" fmla="*/ 104775 w 1618"/>
                <a:gd name="T5" fmla="*/ 140378 h 1209"/>
                <a:gd name="T6" fmla="*/ 90488 w 1618"/>
                <a:gd name="T7" fmla="*/ 140378 h 1209"/>
                <a:gd name="T8" fmla="*/ 90488 w 1618"/>
                <a:gd name="T9" fmla="*/ 126102 h 1209"/>
                <a:gd name="T10" fmla="*/ 69850 w 1618"/>
                <a:gd name="T11" fmla="*/ 99137 h 1209"/>
                <a:gd name="T12" fmla="*/ 41275 w 1618"/>
                <a:gd name="T13" fmla="*/ 95171 h 1209"/>
                <a:gd name="T14" fmla="*/ 31750 w 1618"/>
                <a:gd name="T15" fmla="*/ 95171 h 1209"/>
                <a:gd name="T16" fmla="*/ 23813 w 1618"/>
                <a:gd name="T17" fmla="*/ 88826 h 1209"/>
                <a:gd name="T18" fmla="*/ 10319 w 1618"/>
                <a:gd name="T19" fmla="*/ 85654 h 1209"/>
                <a:gd name="T20" fmla="*/ 23813 w 1618"/>
                <a:gd name="T21" fmla="*/ 81689 h 1209"/>
                <a:gd name="T22" fmla="*/ 31750 w 1618"/>
                <a:gd name="T23" fmla="*/ 75344 h 1209"/>
                <a:gd name="T24" fmla="*/ 7144 w 1618"/>
                <a:gd name="T25" fmla="*/ 75344 h 1209"/>
                <a:gd name="T26" fmla="*/ 14288 w 1618"/>
                <a:gd name="T27" fmla="*/ 65034 h 1209"/>
                <a:gd name="T28" fmla="*/ 34925 w 1618"/>
                <a:gd name="T29" fmla="*/ 57896 h 1209"/>
                <a:gd name="T30" fmla="*/ 27781 w 1618"/>
                <a:gd name="T31" fmla="*/ 44413 h 1209"/>
                <a:gd name="T32" fmla="*/ 52388 w 1618"/>
                <a:gd name="T33" fmla="*/ 30138 h 1209"/>
                <a:gd name="T34" fmla="*/ 69850 w 1618"/>
                <a:gd name="T35" fmla="*/ 23793 h 1209"/>
                <a:gd name="T36" fmla="*/ 94456 w 1618"/>
                <a:gd name="T37" fmla="*/ 16655 h 1209"/>
                <a:gd name="T38" fmla="*/ 104775 w 1618"/>
                <a:gd name="T39" fmla="*/ 19827 h 1209"/>
                <a:gd name="T40" fmla="*/ 129381 w 1618"/>
                <a:gd name="T41" fmla="*/ 16655 h 1209"/>
                <a:gd name="T42" fmla="*/ 132556 w 1618"/>
                <a:gd name="T43" fmla="*/ 16655 h 1209"/>
                <a:gd name="T44" fmla="*/ 139700 w 1618"/>
                <a:gd name="T45" fmla="*/ 6345 h 1209"/>
                <a:gd name="T46" fmla="*/ 163513 w 1618"/>
                <a:gd name="T47" fmla="*/ 6345 h 1209"/>
                <a:gd name="T48" fmla="*/ 191294 w 1618"/>
                <a:gd name="T49" fmla="*/ 0 h 1209"/>
                <a:gd name="T50" fmla="*/ 237331 w 1618"/>
                <a:gd name="T51" fmla="*/ 3172 h 1209"/>
                <a:gd name="T52" fmla="*/ 272256 w 1618"/>
                <a:gd name="T53" fmla="*/ 13483 h 1209"/>
                <a:gd name="T54" fmla="*/ 234156 w 1618"/>
                <a:gd name="T55" fmla="*/ 19827 h 1209"/>
                <a:gd name="T56" fmla="*/ 241300 w 1618"/>
                <a:gd name="T57" fmla="*/ 19827 h 1209"/>
                <a:gd name="T58" fmla="*/ 251619 w 1618"/>
                <a:gd name="T59" fmla="*/ 30138 h 1209"/>
                <a:gd name="T60" fmla="*/ 272256 w 1618"/>
                <a:gd name="T61" fmla="*/ 26965 h 1209"/>
                <a:gd name="T62" fmla="*/ 272256 w 1618"/>
                <a:gd name="T63" fmla="*/ 30138 h 1209"/>
                <a:gd name="T64" fmla="*/ 293688 w 1618"/>
                <a:gd name="T65" fmla="*/ 26965 h 1209"/>
                <a:gd name="T66" fmla="*/ 311150 w 1618"/>
                <a:gd name="T67" fmla="*/ 23793 h 1209"/>
                <a:gd name="T68" fmla="*/ 321469 w 1618"/>
                <a:gd name="T69" fmla="*/ 30138 h 1209"/>
                <a:gd name="T70" fmla="*/ 300038 w 1618"/>
                <a:gd name="T71" fmla="*/ 44413 h 1209"/>
                <a:gd name="T72" fmla="*/ 286544 w 1618"/>
                <a:gd name="T73" fmla="*/ 51551 h 1209"/>
                <a:gd name="T74" fmla="*/ 276225 w 1618"/>
                <a:gd name="T75" fmla="*/ 65034 h 1209"/>
                <a:gd name="T76" fmla="*/ 286544 w 1618"/>
                <a:gd name="T77" fmla="*/ 71378 h 1209"/>
                <a:gd name="T78" fmla="*/ 293688 w 1618"/>
                <a:gd name="T79" fmla="*/ 81689 h 1209"/>
                <a:gd name="T80" fmla="*/ 276225 w 1618"/>
                <a:gd name="T81" fmla="*/ 88826 h 1209"/>
                <a:gd name="T82" fmla="*/ 286544 w 1618"/>
                <a:gd name="T83" fmla="*/ 102309 h 1209"/>
                <a:gd name="T84" fmla="*/ 286544 w 1618"/>
                <a:gd name="T85" fmla="*/ 109447 h 1209"/>
                <a:gd name="T86" fmla="*/ 272256 w 1618"/>
                <a:gd name="T87" fmla="*/ 122929 h 1209"/>
                <a:gd name="T88" fmla="*/ 269081 w 1618"/>
                <a:gd name="T89" fmla="*/ 122929 h 1209"/>
                <a:gd name="T90" fmla="*/ 261938 w 1618"/>
                <a:gd name="T91" fmla="*/ 130067 h 1209"/>
                <a:gd name="T92" fmla="*/ 272256 w 1618"/>
                <a:gd name="T93" fmla="*/ 140378 h 1209"/>
                <a:gd name="T94" fmla="*/ 261938 w 1618"/>
                <a:gd name="T95" fmla="*/ 143550 h 1209"/>
                <a:gd name="T96" fmla="*/ 255588 w 1618"/>
                <a:gd name="T97" fmla="*/ 153860 h 1209"/>
                <a:gd name="T98" fmla="*/ 258763 w 1618"/>
                <a:gd name="T99" fmla="*/ 160205 h 1209"/>
                <a:gd name="T100" fmla="*/ 223838 w 1618"/>
                <a:gd name="T101" fmla="*/ 170515 h 1209"/>
                <a:gd name="T102" fmla="*/ 213519 w 1618"/>
                <a:gd name="T103" fmla="*/ 177653 h 1209"/>
                <a:gd name="T104" fmla="*/ 195263 w 1618"/>
                <a:gd name="T105" fmla="*/ 191135 h 1209"/>
                <a:gd name="T106" fmla="*/ 184944 w 1618"/>
                <a:gd name="T107" fmla="*/ 191135 h 1209"/>
                <a:gd name="T108" fmla="*/ 170656 w 1618"/>
                <a:gd name="T109" fmla="*/ 205411 h 1209"/>
                <a:gd name="T110" fmla="*/ 160338 w 1618"/>
                <a:gd name="T111" fmla="*/ 218894 h 1209"/>
                <a:gd name="T112" fmla="*/ 157163 w 1618"/>
                <a:gd name="T113" fmla="*/ 239514 h 1209"/>
                <a:gd name="T114" fmla="*/ 146844 w 1618"/>
                <a:gd name="T115" fmla="*/ 235549 h 1209"/>
                <a:gd name="T116" fmla="*/ 129381 w 1618"/>
                <a:gd name="T117" fmla="*/ 229204 h 1209"/>
                <a:gd name="T118" fmla="*/ 115094 w 1618"/>
                <a:gd name="T119" fmla="*/ 211756 h 1209"/>
                <a:gd name="T120" fmla="*/ 111919 w 1618"/>
                <a:gd name="T121" fmla="*/ 201446 h 1209"/>
                <a:gd name="T122" fmla="*/ 100806 w 1618"/>
                <a:gd name="T123" fmla="*/ 188756 h 1209"/>
                <a:gd name="T124" fmla="*/ 108744 w 1618"/>
                <a:gd name="T125" fmla="*/ 170515 h 120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618"/>
                <a:gd name="T190" fmla="*/ 0 h 1209"/>
                <a:gd name="T191" fmla="*/ 1618 w 1618"/>
                <a:gd name="T192" fmla="*/ 1209 h 1209"/>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618" h="1209">
                  <a:moveTo>
                    <a:pt x="545" y="846"/>
                  </a:moveTo>
                  <a:lnTo>
                    <a:pt x="562" y="846"/>
                  </a:lnTo>
                  <a:lnTo>
                    <a:pt x="562" y="829"/>
                  </a:lnTo>
                  <a:lnTo>
                    <a:pt x="579" y="811"/>
                  </a:lnTo>
                  <a:lnTo>
                    <a:pt x="599" y="777"/>
                  </a:lnTo>
                  <a:lnTo>
                    <a:pt x="562" y="777"/>
                  </a:lnTo>
                  <a:lnTo>
                    <a:pt x="510" y="777"/>
                  </a:lnTo>
                  <a:lnTo>
                    <a:pt x="493" y="742"/>
                  </a:lnTo>
                  <a:lnTo>
                    <a:pt x="510" y="742"/>
                  </a:lnTo>
                  <a:lnTo>
                    <a:pt x="527" y="760"/>
                  </a:lnTo>
                  <a:lnTo>
                    <a:pt x="545" y="760"/>
                  </a:lnTo>
                  <a:lnTo>
                    <a:pt x="562" y="760"/>
                  </a:lnTo>
                  <a:lnTo>
                    <a:pt x="562" y="742"/>
                  </a:lnTo>
                  <a:lnTo>
                    <a:pt x="562" y="725"/>
                  </a:lnTo>
                  <a:lnTo>
                    <a:pt x="527" y="708"/>
                  </a:lnTo>
                  <a:lnTo>
                    <a:pt x="510" y="691"/>
                  </a:lnTo>
                  <a:lnTo>
                    <a:pt x="510" y="708"/>
                  </a:lnTo>
                  <a:lnTo>
                    <a:pt x="493" y="708"/>
                  </a:lnTo>
                  <a:lnTo>
                    <a:pt x="476" y="725"/>
                  </a:lnTo>
                  <a:lnTo>
                    <a:pt x="458" y="708"/>
                  </a:lnTo>
                  <a:lnTo>
                    <a:pt x="458" y="691"/>
                  </a:lnTo>
                  <a:lnTo>
                    <a:pt x="458" y="673"/>
                  </a:lnTo>
                  <a:lnTo>
                    <a:pt x="476" y="673"/>
                  </a:lnTo>
                  <a:lnTo>
                    <a:pt x="476" y="656"/>
                  </a:lnTo>
                  <a:lnTo>
                    <a:pt x="458" y="639"/>
                  </a:lnTo>
                  <a:lnTo>
                    <a:pt x="458" y="621"/>
                  </a:lnTo>
                  <a:lnTo>
                    <a:pt x="458" y="589"/>
                  </a:lnTo>
                  <a:lnTo>
                    <a:pt x="422" y="552"/>
                  </a:lnTo>
                  <a:lnTo>
                    <a:pt x="405" y="518"/>
                  </a:lnTo>
                  <a:lnTo>
                    <a:pt x="351" y="501"/>
                  </a:lnTo>
                  <a:lnTo>
                    <a:pt x="316" y="466"/>
                  </a:lnTo>
                  <a:lnTo>
                    <a:pt x="263" y="466"/>
                  </a:lnTo>
                  <a:lnTo>
                    <a:pt x="245" y="466"/>
                  </a:lnTo>
                  <a:lnTo>
                    <a:pt x="228" y="466"/>
                  </a:lnTo>
                  <a:lnTo>
                    <a:pt x="211" y="483"/>
                  </a:lnTo>
                  <a:lnTo>
                    <a:pt x="193" y="483"/>
                  </a:lnTo>
                  <a:lnTo>
                    <a:pt x="193" y="466"/>
                  </a:lnTo>
                  <a:lnTo>
                    <a:pt x="176" y="466"/>
                  </a:lnTo>
                  <a:lnTo>
                    <a:pt x="176" y="483"/>
                  </a:lnTo>
                  <a:lnTo>
                    <a:pt x="157" y="483"/>
                  </a:lnTo>
                  <a:lnTo>
                    <a:pt x="140" y="483"/>
                  </a:lnTo>
                  <a:lnTo>
                    <a:pt x="122" y="466"/>
                  </a:lnTo>
                  <a:lnTo>
                    <a:pt x="105" y="466"/>
                  </a:lnTo>
                  <a:lnTo>
                    <a:pt x="105" y="449"/>
                  </a:lnTo>
                  <a:lnTo>
                    <a:pt x="122" y="449"/>
                  </a:lnTo>
                  <a:lnTo>
                    <a:pt x="122" y="432"/>
                  </a:lnTo>
                  <a:lnTo>
                    <a:pt x="105" y="432"/>
                  </a:lnTo>
                  <a:lnTo>
                    <a:pt x="88" y="432"/>
                  </a:lnTo>
                  <a:lnTo>
                    <a:pt x="71" y="432"/>
                  </a:lnTo>
                  <a:lnTo>
                    <a:pt x="53" y="432"/>
                  </a:lnTo>
                  <a:lnTo>
                    <a:pt x="53" y="414"/>
                  </a:lnTo>
                  <a:lnTo>
                    <a:pt x="71" y="414"/>
                  </a:lnTo>
                  <a:lnTo>
                    <a:pt x="88" y="414"/>
                  </a:lnTo>
                  <a:lnTo>
                    <a:pt x="105" y="414"/>
                  </a:lnTo>
                  <a:lnTo>
                    <a:pt x="122" y="414"/>
                  </a:lnTo>
                  <a:lnTo>
                    <a:pt x="122" y="397"/>
                  </a:lnTo>
                  <a:lnTo>
                    <a:pt x="157" y="397"/>
                  </a:lnTo>
                  <a:lnTo>
                    <a:pt x="176" y="397"/>
                  </a:lnTo>
                  <a:lnTo>
                    <a:pt x="176" y="380"/>
                  </a:lnTo>
                  <a:lnTo>
                    <a:pt x="157" y="380"/>
                  </a:lnTo>
                  <a:lnTo>
                    <a:pt x="140" y="380"/>
                  </a:lnTo>
                  <a:lnTo>
                    <a:pt x="122" y="380"/>
                  </a:lnTo>
                  <a:lnTo>
                    <a:pt x="105" y="380"/>
                  </a:lnTo>
                  <a:lnTo>
                    <a:pt x="71" y="380"/>
                  </a:lnTo>
                  <a:lnTo>
                    <a:pt x="36" y="380"/>
                  </a:lnTo>
                  <a:lnTo>
                    <a:pt x="0" y="345"/>
                  </a:lnTo>
                  <a:lnTo>
                    <a:pt x="17" y="328"/>
                  </a:lnTo>
                  <a:lnTo>
                    <a:pt x="36" y="328"/>
                  </a:lnTo>
                  <a:lnTo>
                    <a:pt x="53" y="328"/>
                  </a:lnTo>
                  <a:lnTo>
                    <a:pt x="71" y="328"/>
                  </a:lnTo>
                  <a:lnTo>
                    <a:pt x="88" y="311"/>
                  </a:lnTo>
                  <a:lnTo>
                    <a:pt x="105" y="311"/>
                  </a:lnTo>
                  <a:lnTo>
                    <a:pt x="122" y="311"/>
                  </a:lnTo>
                  <a:lnTo>
                    <a:pt x="157" y="311"/>
                  </a:lnTo>
                  <a:lnTo>
                    <a:pt x="176" y="293"/>
                  </a:lnTo>
                  <a:lnTo>
                    <a:pt x="193" y="278"/>
                  </a:lnTo>
                  <a:lnTo>
                    <a:pt x="211" y="261"/>
                  </a:lnTo>
                  <a:lnTo>
                    <a:pt x="176" y="243"/>
                  </a:lnTo>
                  <a:lnTo>
                    <a:pt x="157" y="243"/>
                  </a:lnTo>
                  <a:lnTo>
                    <a:pt x="140" y="226"/>
                  </a:lnTo>
                  <a:lnTo>
                    <a:pt x="157" y="209"/>
                  </a:lnTo>
                  <a:lnTo>
                    <a:pt x="193" y="209"/>
                  </a:lnTo>
                  <a:lnTo>
                    <a:pt x="228" y="192"/>
                  </a:lnTo>
                  <a:lnTo>
                    <a:pt x="245" y="155"/>
                  </a:lnTo>
                  <a:lnTo>
                    <a:pt x="263" y="155"/>
                  </a:lnTo>
                  <a:lnTo>
                    <a:pt x="280" y="172"/>
                  </a:lnTo>
                  <a:lnTo>
                    <a:pt x="297" y="155"/>
                  </a:lnTo>
                  <a:lnTo>
                    <a:pt x="297" y="138"/>
                  </a:lnTo>
                  <a:lnTo>
                    <a:pt x="316" y="121"/>
                  </a:lnTo>
                  <a:lnTo>
                    <a:pt x="351" y="121"/>
                  </a:lnTo>
                  <a:lnTo>
                    <a:pt x="368" y="103"/>
                  </a:lnTo>
                  <a:lnTo>
                    <a:pt x="405" y="103"/>
                  </a:lnTo>
                  <a:lnTo>
                    <a:pt x="422" y="86"/>
                  </a:lnTo>
                  <a:lnTo>
                    <a:pt x="458" y="86"/>
                  </a:lnTo>
                  <a:lnTo>
                    <a:pt x="476" y="86"/>
                  </a:lnTo>
                  <a:lnTo>
                    <a:pt x="493" y="103"/>
                  </a:lnTo>
                  <a:lnTo>
                    <a:pt x="510" y="121"/>
                  </a:lnTo>
                  <a:lnTo>
                    <a:pt x="510" y="103"/>
                  </a:lnTo>
                  <a:lnTo>
                    <a:pt x="510" y="86"/>
                  </a:lnTo>
                  <a:lnTo>
                    <a:pt x="527" y="103"/>
                  </a:lnTo>
                  <a:lnTo>
                    <a:pt x="562" y="103"/>
                  </a:lnTo>
                  <a:lnTo>
                    <a:pt x="562" y="86"/>
                  </a:lnTo>
                  <a:lnTo>
                    <a:pt x="579" y="86"/>
                  </a:lnTo>
                  <a:lnTo>
                    <a:pt x="616" y="86"/>
                  </a:lnTo>
                  <a:lnTo>
                    <a:pt x="650" y="86"/>
                  </a:lnTo>
                  <a:lnTo>
                    <a:pt x="668" y="103"/>
                  </a:lnTo>
                  <a:lnTo>
                    <a:pt x="685" y="103"/>
                  </a:lnTo>
                  <a:lnTo>
                    <a:pt x="702" y="103"/>
                  </a:lnTo>
                  <a:lnTo>
                    <a:pt x="685" y="103"/>
                  </a:lnTo>
                  <a:lnTo>
                    <a:pt x="668" y="86"/>
                  </a:lnTo>
                  <a:lnTo>
                    <a:pt x="650" y="69"/>
                  </a:lnTo>
                  <a:lnTo>
                    <a:pt x="668" y="69"/>
                  </a:lnTo>
                  <a:lnTo>
                    <a:pt x="685" y="69"/>
                  </a:lnTo>
                  <a:lnTo>
                    <a:pt x="685" y="52"/>
                  </a:lnTo>
                  <a:lnTo>
                    <a:pt x="702" y="34"/>
                  </a:lnTo>
                  <a:lnTo>
                    <a:pt x="739" y="34"/>
                  </a:lnTo>
                  <a:lnTo>
                    <a:pt x="756" y="34"/>
                  </a:lnTo>
                  <a:lnTo>
                    <a:pt x="773" y="34"/>
                  </a:lnTo>
                  <a:lnTo>
                    <a:pt x="808" y="34"/>
                  </a:lnTo>
                  <a:lnTo>
                    <a:pt x="827" y="34"/>
                  </a:lnTo>
                  <a:lnTo>
                    <a:pt x="844" y="34"/>
                  </a:lnTo>
                  <a:lnTo>
                    <a:pt x="862" y="34"/>
                  </a:lnTo>
                  <a:lnTo>
                    <a:pt x="881" y="34"/>
                  </a:lnTo>
                  <a:lnTo>
                    <a:pt x="915" y="17"/>
                  </a:lnTo>
                  <a:lnTo>
                    <a:pt x="967" y="0"/>
                  </a:lnTo>
                  <a:lnTo>
                    <a:pt x="1004" y="0"/>
                  </a:lnTo>
                  <a:lnTo>
                    <a:pt x="1055" y="0"/>
                  </a:lnTo>
                  <a:lnTo>
                    <a:pt x="1090" y="0"/>
                  </a:lnTo>
                  <a:lnTo>
                    <a:pt x="1161" y="0"/>
                  </a:lnTo>
                  <a:lnTo>
                    <a:pt x="1196" y="17"/>
                  </a:lnTo>
                  <a:lnTo>
                    <a:pt x="1249" y="34"/>
                  </a:lnTo>
                  <a:lnTo>
                    <a:pt x="1286" y="52"/>
                  </a:lnTo>
                  <a:lnTo>
                    <a:pt x="1320" y="52"/>
                  </a:lnTo>
                  <a:lnTo>
                    <a:pt x="1338" y="52"/>
                  </a:lnTo>
                  <a:lnTo>
                    <a:pt x="1372" y="69"/>
                  </a:lnTo>
                  <a:lnTo>
                    <a:pt x="1355" y="86"/>
                  </a:lnTo>
                  <a:lnTo>
                    <a:pt x="1320" y="86"/>
                  </a:lnTo>
                  <a:lnTo>
                    <a:pt x="1267" y="86"/>
                  </a:lnTo>
                  <a:lnTo>
                    <a:pt x="1249" y="103"/>
                  </a:lnTo>
                  <a:lnTo>
                    <a:pt x="1178" y="103"/>
                  </a:lnTo>
                  <a:lnTo>
                    <a:pt x="1090" y="103"/>
                  </a:lnTo>
                  <a:lnTo>
                    <a:pt x="1073" y="103"/>
                  </a:lnTo>
                  <a:lnTo>
                    <a:pt x="1090" y="121"/>
                  </a:lnTo>
                  <a:lnTo>
                    <a:pt x="1161" y="103"/>
                  </a:lnTo>
                  <a:lnTo>
                    <a:pt x="1213" y="103"/>
                  </a:lnTo>
                  <a:lnTo>
                    <a:pt x="1267" y="103"/>
                  </a:lnTo>
                  <a:lnTo>
                    <a:pt x="1249" y="121"/>
                  </a:lnTo>
                  <a:lnTo>
                    <a:pt x="1230" y="155"/>
                  </a:lnTo>
                  <a:lnTo>
                    <a:pt x="1213" y="155"/>
                  </a:lnTo>
                  <a:lnTo>
                    <a:pt x="1267" y="155"/>
                  </a:lnTo>
                  <a:lnTo>
                    <a:pt x="1303" y="121"/>
                  </a:lnTo>
                  <a:lnTo>
                    <a:pt x="1338" y="103"/>
                  </a:lnTo>
                  <a:lnTo>
                    <a:pt x="1355" y="103"/>
                  </a:lnTo>
                  <a:lnTo>
                    <a:pt x="1355" y="121"/>
                  </a:lnTo>
                  <a:lnTo>
                    <a:pt x="1372" y="138"/>
                  </a:lnTo>
                  <a:lnTo>
                    <a:pt x="1338" y="155"/>
                  </a:lnTo>
                  <a:lnTo>
                    <a:pt x="1320" y="192"/>
                  </a:lnTo>
                  <a:lnTo>
                    <a:pt x="1303" y="209"/>
                  </a:lnTo>
                  <a:lnTo>
                    <a:pt x="1338" y="192"/>
                  </a:lnTo>
                  <a:lnTo>
                    <a:pt x="1372" y="155"/>
                  </a:lnTo>
                  <a:lnTo>
                    <a:pt x="1389" y="138"/>
                  </a:lnTo>
                  <a:lnTo>
                    <a:pt x="1407" y="138"/>
                  </a:lnTo>
                  <a:lnTo>
                    <a:pt x="1443" y="138"/>
                  </a:lnTo>
                  <a:lnTo>
                    <a:pt x="1460" y="138"/>
                  </a:lnTo>
                  <a:lnTo>
                    <a:pt x="1478" y="138"/>
                  </a:lnTo>
                  <a:lnTo>
                    <a:pt x="1495" y="138"/>
                  </a:lnTo>
                  <a:lnTo>
                    <a:pt x="1495" y="121"/>
                  </a:lnTo>
                  <a:lnTo>
                    <a:pt x="1512" y="121"/>
                  </a:lnTo>
                  <a:lnTo>
                    <a:pt x="1547" y="121"/>
                  </a:lnTo>
                  <a:lnTo>
                    <a:pt x="1566" y="121"/>
                  </a:lnTo>
                  <a:lnTo>
                    <a:pt x="1566" y="103"/>
                  </a:lnTo>
                  <a:lnTo>
                    <a:pt x="1601" y="103"/>
                  </a:lnTo>
                  <a:lnTo>
                    <a:pt x="1618" y="121"/>
                  </a:lnTo>
                  <a:lnTo>
                    <a:pt x="1618" y="138"/>
                  </a:lnTo>
                  <a:lnTo>
                    <a:pt x="1618" y="155"/>
                  </a:lnTo>
                  <a:lnTo>
                    <a:pt x="1566" y="172"/>
                  </a:lnTo>
                  <a:lnTo>
                    <a:pt x="1547" y="192"/>
                  </a:lnTo>
                  <a:lnTo>
                    <a:pt x="1512" y="209"/>
                  </a:lnTo>
                  <a:lnTo>
                    <a:pt x="1530" y="209"/>
                  </a:lnTo>
                  <a:lnTo>
                    <a:pt x="1512" y="226"/>
                  </a:lnTo>
                  <a:lnTo>
                    <a:pt x="1495" y="226"/>
                  </a:lnTo>
                  <a:lnTo>
                    <a:pt x="1495" y="243"/>
                  </a:lnTo>
                  <a:lnTo>
                    <a:pt x="1478" y="261"/>
                  </a:lnTo>
                  <a:lnTo>
                    <a:pt x="1460" y="261"/>
                  </a:lnTo>
                  <a:lnTo>
                    <a:pt x="1443" y="261"/>
                  </a:lnTo>
                  <a:lnTo>
                    <a:pt x="1443" y="278"/>
                  </a:lnTo>
                  <a:lnTo>
                    <a:pt x="1443" y="293"/>
                  </a:lnTo>
                  <a:lnTo>
                    <a:pt x="1426" y="311"/>
                  </a:lnTo>
                  <a:lnTo>
                    <a:pt x="1407" y="328"/>
                  </a:lnTo>
                  <a:lnTo>
                    <a:pt x="1389" y="328"/>
                  </a:lnTo>
                  <a:lnTo>
                    <a:pt x="1389" y="345"/>
                  </a:lnTo>
                  <a:lnTo>
                    <a:pt x="1389" y="362"/>
                  </a:lnTo>
                  <a:lnTo>
                    <a:pt x="1407" y="362"/>
                  </a:lnTo>
                  <a:lnTo>
                    <a:pt x="1426" y="362"/>
                  </a:lnTo>
                  <a:lnTo>
                    <a:pt x="1443" y="362"/>
                  </a:lnTo>
                  <a:lnTo>
                    <a:pt x="1443" y="380"/>
                  </a:lnTo>
                  <a:lnTo>
                    <a:pt x="1460" y="380"/>
                  </a:lnTo>
                  <a:lnTo>
                    <a:pt x="1443" y="380"/>
                  </a:lnTo>
                  <a:lnTo>
                    <a:pt x="1478" y="397"/>
                  </a:lnTo>
                  <a:lnTo>
                    <a:pt x="1478" y="414"/>
                  </a:lnTo>
                  <a:lnTo>
                    <a:pt x="1460" y="432"/>
                  </a:lnTo>
                  <a:lnTo>
                    <a:pt x="1443" y="432"/>
                  </a:lnTo>
                  <a:lnTo>
                    <a:pt x="1407" y="432"/>
                  </a:lnTo>
                  <a:lnTo>
                    <a:pt x="1389" y="432"/>
                  </a:lnTo>
                  <a:lnTo>
                    <a:pt x="1389" y="449"/>
                  </a:lnTo>
                  <a:lnTo>
                    <a:pt x="1407" y="449"/>
                  </a:lnTo>
                  <a:lnTo>
                    <a:pt x="1426" y="449"/>
                  </a:lnTo>
                  <a:lnTo>
                    <a:pt x="1443" y="483"/>
                  </a:lnTo>
                  <a:lnTo>
                    <a:pt x="1443" y="501"/>
                  </a:lnTo>
                  <a:lnTo>
                    <a:pt x="1443" y="518"/>
                  </a:lnTo>
                  <a:lnTo>
                    <a:pt x="1426" y="518"/>
                  </a:lnTo>
                  <a:lnTo>
                    <a:pt x="1407" y="518"/>
                  </a:lnTo>
                  <a:lnTo>
                    <a:pt x="1407" y="535"/>
                  </a:lnTo>
                  <a:lnTo>
                    <a:pt x="1426" y="552"/>
                  </a:lnTo>
                  <a:lnTo>
                    <a:pt x="1443" y="552"/>
                  </a:lnTo>
                  <a:lnTo>
                    <a:pt x="1426" y="572"/>
                  </a:lnTo>
                  <a:lnTo>
                    <a:pt x="1407" y="572"/>
                  </a:lnTo>
                  <a:lnTo>
                    <a:pt x="1407" y="589"/>
                  </a:lnTo>
                  <a:lnTo>
                    <a:pt x="1389" y="606"/>
                  </a:lnTo>
                  <a:lnTo>
                    <a:pt x="1372" y="621"/>
                  </a:lnTo>
                  <a:lnTo>
                    <a:pt x="1355" y="621"/>
                  </a:lnTo>
                  <a:lnTo>
                    <a:pt x="1338" y="606"/>
                  </a:lnTo>
                  <a:lnTo>
                    <a:pt x="1320" y="606"/>
                  </a:lnTo>
                  <a:lnTo>
                    <a:pt x="1338" y="621"/>
                  </a:lnTo>
                  <a:lnTo>
                    <a:pt x="1355" y="621"/>
                  </a:lnTo>
                  <a:lnTo>
                    <a:pt x="1372" y="656"/>
                  </a:lnTo>
                  <a:lnTo>
                    <a:pt x="1372" y="673"/>
                  </a:lnTo>
                  <a:lnTo>
                    <a:pt x="1355" y="673"/>
                  </a:lnTo>
                  <a:lnTo>
                    <a:pt x="1338" y="673"/>
                  </a:lnTo>
                  <a:lnTo>
                    <a:pt x="1320" y="656"/>
                  </a:lnTo>
                  <a:lnTo>
                    <a:pt x="1303" y="621"/>
                  </a:lnTo>
                  <a:lnTo>
                    <a:pt x="1286" y="621"/>
                  </a:lnTo>
                  <a:lnTo>
                    <a:pt x="1286" y="639"/>
                  </a:lnTo>
                  <a:lnTo>
                    <a:pt x="1338" y="673"/>
                  </a:lnTo>
                  <a:lnTo>
                    <a:pt x="1372" y="708"/>
                  </a:lnTo>
                  <a:lnTo>
                    <a:pt x="1389" y="742"/>
                  </a:lnTo>
                  <a:lnTo>
                    <a:pt x="1389" y="760"/>
                  </a:lnTo>
                  <a:lnTo>
                    <a:pt x="1372" y="760"/>
                  </a:lnTo>
                  <a:lnTo>
                    <a:pt x="1338" y="742"/>
                  </a:lnTo>
                  <a:lnTo>
                    <a:pt x="1320" y="725"/>
                  </a:lnTo>
                  <a:lnTo>
                    <a:pt x="1286" y="725"/>
                  </a:lnTo>
                  <a:lnTo>
                    <a:pt x="1267" y="725"/>
                  </a:lnTo>
                  <a:lnTo>
                    <a:pt x="1286" y="725"/>
                  </a:lnTo>
                  <a:lnTo>
                    <a:pt x="1267" y="742"/>
                  </a:lnTo>
                  <a:lnTo>
                    <a:pt x="1286" y="777"/>
                  </a:lnTo>
                  <a:lnTo>
                    <a:pt x="1338" y="777"/>
                  </a:lnTo>
                  <a:lnTo>
                    <a:pt x="1372" y="777"/>
                  </a:lnTo>
                  <a:lnTo>
                    <a:pt x="1355" y="777"/>
                  </a:lnTo>
                  <a:lnTo>
                    <a:pt x="1338" y="794"/>
                  </a:lnTo>
                  <a:lnTo>
                    <a:pt x="1303" y="811"/>
                  </a:lnTo>
                  <a:lnTo>
                    <a:pt x="1267" y="829"/>
                  </a:lnTo>
                  <a:lnTo>
                    <a:pt x="1213" y="846"/>
                  </a:lnTo>
                  <a:lnTo>
                    <a:pt x="1196" y="846"/>
                  </a:lnTo>
                  <a:lnTo>
                    <a:pt x="1161" y="863"/>
                  </a:lnTo>
                  <a:lnTo>
                    <a:pt x="1125" y="863"/>
                  </a:lnTo>
                  <a:lnTo>
                    <a:pt x="1107" y="863"/>
                  </a:lnTo>
                  <a:lnTo>
                    <a:pt x="1090" y="863"/>
                  </a:lnTo>
                  <a:lnTo>
                    <a:pt x="1090" y="881"/>
                  </a:lnTo>
                  <a:lnTo>
                    <a:pt x="1090" y="898"/>
                  </a:lnTo>
                  <a:lnTo>
                    <a:pt x="1073" y="898"/>
                  </a:lnTo>
                  <a:lnTo>
                    <a:pt x="1055" y="915"/>
                  </a:lnTo>
                  <a:lnTo>
                    <a:pt x="1038" y="932"/>
                  </a:lnTo>
                  <a:lnTo>
                    <a:pt x="1038" y="952"/>
                  </a:lnTo>
                  <a:lnTo>
                    <a:pt x="1021" y="952"/>
                  </a:lnTo>
                  <a:lnTo>
                    <a:pt x="984" y="967"/>
                  </a:lnTo>
                  <a:lnTo>
                    <a:pt x="967" y="967"/>
                  </a:lnTo>
                  <a:lnTo>
                    <a:pt x="950" y="967"/>
                  </a:lnTo>
                  <a:lnTo>
                    <a:pt x="950" y="952"/>
                  </a:lnTo>
                  <a:lnTo>
                    <a:pt x="933" y="952"/>
                  </a:lnTo>
                  <a:lnTo>
                    <a:pt x="933" y="967"/>
                  </a:lnTo>
                  <a:lnTo>
                    <a:pt x="933" y="984"/>
                  </a:lnTo>
                  <a:lnTo>
                    <a:pt x="915" y="1001"/>
                  </a:lnTo>
                  <a:lnTo>
                    <a:pt x="862" y="1001"/>
                  </a:lnTo>
                  <a:lnTo>
                    <a:pt x="862" y="1019"/>
                  </a:lnTo>
                  <a:lnTo>
                    <a:pt x="862" y="1036"/>
                  </a:lnTo>
                  <a:lnTo>
                    <a:pt x="862" y="1053"/>
                  </a:lnTo>
                  <a:lnTo>
                    <a:pt x="862" y="1070"/>
                  </a:lnTo>
                  <a:lnTo>
                    <a:pt x="827" y="1070"/>
                  </a:lnTo>
                  <a:lnTo>
                    <a:pt x="827" y="1105"/>
                  </a:lnTo>
                  <a:lnTo>
                    <a:pt x="808" y="1105"/>
                  </a:lnTo>
                  <a:lnTo>
                    <a:pt x="808" y="1122"/>
                  </a:lnTo>
                  <a:lnTo>
                    <a:pt x="827" y="1157"/>
                  </a:lnTo>
                  <a:lnTo>
                    <a:pt x="808" y="1157"/>
                  </a:lnTo>
                  <a:lnTo>
                    <a:pt x="808" y="1191"/>
                  </a:lnTo>
                  <a:lnTo>
                    <a:pt x="790" y="1209"/>
                  </a:lnTo>
                  <a:lnTo>
                    <a:pt x="773" y="1209"/>
                  </a:lnTo>
                  <a:lnTo>
                    <a:pt x="773" y="1191"/>
                  </a:lnTo>
                  <a:lnTo>
                    <a:pt x="756" y="1191"/>
                  </a:lnTo>
                  <a:lnTo>
                    <a:pt x="756" y="1209"/>
                  </a:lnTo>
                  <a:lnTo>
                    <a:pt x="739" y="1191"/>
                  </a:lnTo>
                  <a:lnTo>
                    <a:pt x="721" y="1157"/>
                  </a:lnTo>
                  <a:lnTo>
                    <a:pt x="702" y="1157"/>
                  </a:lnTo>
                  <a:lnTo>
                    <a:pt x="685" y="1157"/>
                  </a:lnTo>
                  <a:lnTo>
                    <a:pt x="668" y="1157"/>
                  </a:lnTo>
                  <a:lnTo>
                    <a:pt x="650" y="1157"/>
                  </a:lnTo>
                  <a:lnTo>
                    <a:pt x="633" y="1157"/>
                  </a:lnTo>
                  <a:lnTo>
                    <a:pt x="633" y="1140"/>
                  </a:lnTo>
                  <a:lnTo>
                    <a:pt x="633" y="1122"/>
                  </a:lnTo>
                  <a:lnTo>
                    <a:pt x="616" y="1105"/>
                  </a:lnTo>
                  <a:lnTo>
                    <a:pt x="579" y="1070"/>
                  </a:lnTo>
                  <a:lnTo>
                    <a:pt x="562" y="1053"/>
                  </a:lnTo>
                  <a:lnTo>
                    <a:pt x="562" y="1036"/>
                  </a:lnTo>
                  <a:lnTo>
                    <a:pt x="579" y="1036"/>
                  </a:lnTo>
                  <a:lnTo>
                    <a:pt x="579" y="1019"/>
                  </a:lnTo>
                  <a:lnTo>
                    <a:pt x="562" y="1019"/>
                  </a:lnTo>
                  <a:lnTo>
                    <a:pt x="545" y="1019"/>
                  </a:lnTo>
                  <a:lnTo>
                    <a:pt x="545" y="1001"/>
                  </a:lnTo>
                  <a:lnTo>
                    <a:pt x="527" y="1001"/>
                  </a:lnTo>
                  <a:lnTo>
                    <a:pt x="510" y="967"/>
                  </a:lnTo>
                  <a:lnTo>
                    <a:pt x="510" y="952"/>
                  </a:lnTo>
                  <a:lnTo>
                    <a:pt x="510" y="932"/>
                  </a:lnTo>
                  <a:lnTo>
                    <a:pt x="510" y="915"/>
                  </a:lnTo>
                  <a:lnTo>
                    <a:pt x="510" y="898"/>
                  </a:lnTo>
                  <a:lnTo>
                    <a:pt x="527" y="881"/>
                  </a:lnTo>
                  <a:lnTo>
                    <a:pt x="545" y="863"/>
                  </a:lnTo>
                  <a:lnTo>
                    <a:pt x="545" y="84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01" name="Freeform 30">
              <a:extLst>
                <a:ext uri="{FF2B5EF4-FFF2-40B4-BE49-F238E27FC236}">
                  <a16:creationId xmlns:a16="http://schemas.microsoft.com/office/drawing/2014/main" id="{29C5848B-6C01-45B8-8EF7-337E15266610}"/>
                </a:ext>
              </a:extLst>
            </p:cNvPr>
            <p:cNvSpPr>
              <a:spLocks/>
            </p:cNvSpPr>
            <p:nvPr>
              <p:custDataLst>
                <p:tags r:id="rId31"/>
              </p:custDataLst>
            </p:nvPr>
          </p:nvSpPr>
          <p:spPr bwMode="auto">
            <a:xfrm>
              <a:off x="5959549" y="2299459"/>
              <a:ext cx="77407" cy="45741"/>
            </a:xfrm>
            <a:custGeom>
              <a:avLst/>
              <a:gdLst>
                <a:gd name="T0" fmla="*/ 4061 w 86"/>
                <a:gd name="T1" fmla="*/ 10319 h 52"/>
                <a:gd name="T2" fmla="*/ 4061 w 86"/>
                <a:gd name="T3" fmla="*/ 7144 h 52"/>
                <a:gd name="T4" fmla="*/ 0 w 86"/>
                <a:gd name="T5" fmla="*/ 3969 h 52"/>
                <a:gd name="T6" fmla="*/ 0 w 86"/>
                <a:gd name="T7" fmla="*/ 0 h 52"/>
                <a:gd name="T8" fmla="*/ 4061 w 86"/>
                <a:gd name="T9" fmla="*/ 0 h 52"/>
                <a:gd name="T10" fmla="*/ 7310 w 86"/>
                <a:gd name="T11" fmla="*/ 0 h 52"/>
                <a:gd name="T12" fmla="*/ 10559 w 86"/>
                <a:gd name="T13" fmla="*/ 0 h 52"/>
                <a:gd name="T14" fmla="*/ 18681 w 86"/>
                <a:gd name="T15" fmla="*/ 3969 h 52"/>
                <a:gd name="T16" fmla="*/ 14620 w 86"/>
                <a:gd name="T17" fmla="*/ 7144 h 52"/>
                <a:gd name="T18" fmla="*/ 10559 w 86"/>
                <a:gd name="T19" fmla="*/ 10319 h 52"/>
                <a:gd name="T20" fmla="*/ 7310 w 86"/>
                <a:gd name="T21" fmla="*/ 10319 h 52"/>
                <a:gd name="T22" fmla="*/ 4061 w 86"/>
                <a:gd name="T23" fmla="*/ 10319 h 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6"/>
                <a:gd name="T37" fmla="*/ 0 h 52"/>
                <a:gd name="T38" fmla="*/ 86 w 86"/>
                <a:gd name="T39" fmla="*/ 52 h 5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6" h="52">
                  <a:moveTo>
                    <a:pt x="17" y="52"/>
                  </a:moveTo>
                  <a:lnTo>
                    <a:pt x="17" y="34"/>
                  </a:lnTo>
                  <a:lnTo>
                    <a:pt x="0" y="17"/>
                  </a:lnTo>
                  <a:lnTo>
                    <a:pt x="0" y="0"/>
                  </a:lnTo>
                  <a:lnTo>
                    <a:pt x="17" y="0"/>
                  </a:lnTo>
                  <a:lnTo>
                    <a:pt x="34" y="0"/>
                  </a:lnTo>
                  <a:lnTo>
                    <a:pt x="51" y="0"/>
                  </a:lnTo>
                  <a:lnTo>
                    <a:pt x="86" y="17"/>
                  </a:lnTo>
                  <a:lnTo>
                    <a:pt x="69" y="34"/>
                  </a:lnTo>
                  <a:lnTo>
                    <a:pt x="51" y="52"/>
                  </a:lnTo>
                  <a:lnTo>
                    <a:pt x="34" y="52"/>
                  </a:lnTo>
                  <a:lnTo>
                    <a:pt x="17" y="52"/>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02" name="Freeform 31">
              <a:extLst>
                <a:ext uri="{FF2B5EF4-FFF2-40B4-BE49-F238E27FC236}">
                  <a16:creationId xmlns:a16="http://schemas.microsoft.com/office/drawing/2014/main" id="{F96554C3-CB3C-4CC9-B26F-C0416444EEC5}"/>
                </a:ext>
              </a:extLst>
            </p:cNvPr>
            <p:cNvSpPr>
              <a:spLocks/>
            </p:cNvSpPr>
            <p:nvPr>
              <p:custDataLst>
                <p:tags r:id="rId32"/>
              </p:custDataLst>
            </p:nvPr>
          </p:nvSpPr>
          <p:spPr bwMode="auto">
            <a:xfrm>
              <a:off x="5387793" y="2345199"/>
              <a:ext cx="12315" cy="0"/>
            </a:xfrm>
            <a:custGeom>
              <a:avLst/>
              <a:gdLst>
                <a:gd name="T0" fmla="*/ 0 w 13"/>
                <a:gd name="T1" fmla="*/ 3419 w 13"/>
                <a:gd name="T2" fmla="*/ 0 w 13"/>
                <a:gd name="T3" fmla="*/ 0 60000 65536"/>
                <a:gd name="T4" fmla="*/ 0 60000 65536"/>
                <a:gd name="T5" fmla="*/ 0 60000 65536"/>
                <a:gd name="T6" fmla="*/ 0 w 13"/>
                <a:gd name="T7" fmla="*/ 13 w 13"/>
              </a:gdLst>
              <a:ahLst/>
              <a:cxnLst>
                <a:cxn ang="T3">
                  <a:pos x="T0" y="0"/>
                </a:cxn>
                <a:cxn ang="T4">
                  <a:pos x="T1" y="0"/>
                </a:cxn>
                <a:cxn ang="T5">
                  <a:pos x="T2" y="0"/>
                </a:cxn>
              </a:cxnLst>
              <a:rect l="T6" t="0" r="T7" b="0"/>
              <a:pathLst>
                <a:path w="13">
                  <a:moveTo>
                    <a:pt x="0" y="0"/>
                  </a:moveTo>
                  <a:lnTo>
                    <a:pt x="13" y="0"/>
                  </a:lnTo>
                  <a:lnTo>
                    <a:pt x="0" y="0"/>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03" name="Freeform 32">
              <a:extLst>
                <a:ext uri="{FF2B5EF4-FFF2-40B4-BE49-F238E27FC236}">
                  <a16:creationId xmlns:a16="http://schemas.microsoft.com/office/drawing/2014/main" id="{3382C64C-AE35-4AB5-BCF0-C43D7BE9D2B1}"/>
                </a:ext>
              </a:extLst>
            </p:cNvPr>
            <p:cNvSpPr>
              <a:spLocks/>
            </p:cNvSpPr>
            <p:nvPr>
              <p:custDataLst>
                <p:tags r:id="rId33"/>
              </p:custDataLst>
            </p:nvPr>
          </p:nvSpPr>
          <p:spPr bwMode="auto">
            <a:xfrm>
              <a:off x="6716028" y="2452514"/>
              <a:ext cx="233981" cy="91481"/>
            </a:xfrm>
            <a:custGeom>
              <a:avLst/>
              <a:gdLst>
                <a:gd name="T0" fmla="*/ 53382 w 265"/>
                <a:gd name="T1" fmla="*/ 10419 h 103"/>
                <a:gd name="T2" fmla="*/ 49398 w 265"/>
                <a:gd name="T3" fmla="*/ 10419 h 103"/>
                <a:gd name="T4" fmla="*/ 45415 w 265"/>
                <a:gd name="T5" fmla="*/ 14426 h 103"/>
                <a:gd name="T6" fmla="*/ 45415 w 265"/>
                <a:gd name="T7" fmla="*/ 17632 h 103"/>
                <a:gd name="T8" fmla="*/ 39041 w 265"/>
                <a:gd name="T9" fmla="*/ 17632 h 103"/>
                <a:gd name="T10" fmla="*/ 35057 w 265"/>
                <a:gd name="T11" fmla="*/ 20838 h 103"/>
                <a:gd name="T12" fmla="*/ 27886 w 265"/>
                <a:gd name="T13" fmla="*/ 20838 h 103"/>
                <a:gd name="T14" fmla="*/ 21512 w 265"/>
                <a:gd name="T15" fmla="*/ 20838 h 103"/>
                <a:gd name="T16" fmla="*/ 17528 w 265"/>
                <a:gd name="T17" fmla="*/ 20838 h 103"/>
                <a:gd name="T18" fmla="*/ 11154 w 265"/>
                <a:gd name="T19" fmla="*/ 17632 h 103"/>
                <a:gd name="T20" fmla="*/ 7171 w 265"/>
                <a:gd name="T21" fmla="*/ 14426 h 103"/>
                <a:gd name="T22" fmla="*/ 3984 w 265"/>
                <a:gd name="T23" fmla="*/ 14426 h 103"/>
                <a:gd name="T24" fmla="*/ 7171 w 265"/>
                <a:gd name="T25" fmla="*/ 14426 h 103"/>
                <a:gd name="T26" fmla="*/ 7171 w 265"/>
                <a:gd name="T27" fmla="*/ 10419 h 103"/>
                <a:gd name="T28" fmla="*/ 3984 w 265"/>
                <a:gd name="T29" fmla="*/ 10419 h 103"/>
                <a:gd name="T30" fmla="*/ 0 w 265"/>
                <a:gd name="T31" fmla="*/ 10419 h 103"/>
                <a:gd name="T32" fmla="*/ 7171 w 265"/>
                <a:gd name="T33" fmla="*/ 10419 h 103"/>
                <a:gd name="T34" fmla="*/ 11154 w 265"/>
                <a:gd name="T35" fmla="*/ 6412 h 103"/>
                <a:gd name="T36" fmla="*/ 7171 w 265"/>
                <a:gd name="T37" fmla="*/ 6412 h 103"/>
                <a:gd name="T38" fmla="*/ 3984 w 265"/>
                <a:gd name="T39" fmla="*/ 6412 h 103"/>
                <a:gd name="T40" fmla="*/ 0 w 265"/>
                <a:gd name="T41" fmla="*/ 3206 h 103"/>
                <a:gd name="T42" fmla="*/ 0 w 265"/>
                <a:gd name="T43" fmla="*/ 0 h 103"/>
                <a:gd name="T44" fmla="*/ 0 w 265"/>
                <a:gd name="T45" fmla="*/ 3206 h 103"/>
                <a:gd name="T46" fmla="*/ 0 w 265"/>
                <a:gd name="T47" fmla="*/ 0 h 103"/>
                <a:gd name="T48" fmla="*/ 3984 w 265"/>
                <a:gd name="T49" fmla="*/ 0 h 103"/>
                <a:gd name="T50" fmla="*/ 7171 w 265"/>
                <a:gd name="T51" fmla="*/ 0 h 103"/>
                <a:gd name="T52" fmla="*/ 11154 w 265"/>
                <a:gd name="T53" fmla="*/ 3206 h 103"/>
                <a:gd name="T54" fmla="*/ 11154 w 265"/>
                <a:gd name="T55" fmla="*/ 6412 h 103"/>
                <a:gd name="T56" fmla="*/ 11154 w 265"/>
                <a:gd name="T57" fmla="*/ 3206 h 103"/>
                <a:gd name="T58" fmla="*/ 14341 w 265"/>
                <a:gd name="T59" fmla="*/ 3206 h 103"/>
                <a:gd name="T60" fmla="*/ 14341 w 265"/>
                <a:gd name="T61" fmla="*/ 0 h 103"/>
                <a:gd name="T62" fmla="*/ 14341 w 265"/>
                <a:gd name="T63" fmla="*/ 3206 h 103"/>
                <a:gd name="T64" fmla="*/ 17528 w 265"/>
                <a:gd name="T65" fmla="*/ 3206 h 103"/>
                <a:gd name="T66" fmla="*/ 21512 w 265"/>
                <a:gd name="T67" fmla="*/ 3206 h 103"/>
                <a:gd name="T68" fmla="*/ 21512 w 265"/>
                <a:gd name="T69" fmla="*/ 0 h 103"/>
                <a:gd name="T70" fmla="*/ 24699 w 265"/>
                <a:gd name="T71" fmla="*/ 0 h 103"/>
                <a:gd name="T72" fmla="*/ 27886 w 265"/>
                <a:gd name="T73" fmla="*/ 0 h 103"/>
                <a:gd name="T74" fmla="*/ 31870 w 265"/>
                <a:gd name="T75" fmla="*/ 3206 h 103"/>
                <a:gd name="T76" fmla="*/ 31870 w 265"/>
                <a:gd name="T77" fmla="*/ 0 h 103"/>
                <a:gd name="T78" fmla="*/ 35057 w 265"/>
                <a:gd name="T79" fmla="*/ 0 h 103"/>
                <a:gd name="T80" fmla="*/ 39041 w 265"/>
                <a:gd name="T81" fmla="*/ 0 h 103"/>
                <a:gd name="T82" fmla="*/ 42228 w 265"/>
                <a:gd name="T83" fmla="*/ 0 h 103"/>
                <a:gd name="T84" fmla="*/ 45415 w 265"/>
                <a:gd name="T85" fmla="*/ 0 h 103"/>
                <a:gd name="T86" fmla="*/ 45415 w 265"/>
                <a:gd name="T87" fmla="*/ 6412 h 103"/>
                <a:gd name="T88" fmla="*/ 53382 w 265"/>
                <a:gd name="T89" fmla="*/ 10419 h 10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65"/>
                <a:gd name="T136" fmla="*/ 0 h 103"/>
                <a:gd name="T137" fmla="*/ 265 w 265"/>
                <a:gd name="T138" fmla="*/ 103 h 10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65" h="103">
                  <a:moveTo>
                    <a:pt x="265" y="49"/>
                  </a:moveTo>
                  <a:lnTo>
                    <a:pt x="245" y="49"/>
                  </a:lnTo>
                  <a:lnTo>
                    <a:pt x="228" y="69"/>
                  </a:lnTo>
                  <a:lnTo>
                    <a:pt x="228" y="86"/>
                  </a:lnTo>
                  <a:lnTo>
                    <a:pt x="194" y="86"/>
                  </a:lnTo>
                  <a:lnTo>
                    <a:pt x="176" y="103"/>
                  </a:lnTo>
                  <a:lnTo>
                    <a:pt x="140" y="103"/>
                  </a:lnTo>
                  <a:lnTo>
                    <a:pt x="105" y="103"/>
                  </a:lnTo>
                  <a:lnTo>
                    <a:pt x="88" y="103"/>
                  </a:lnTo>
                  <a:lnTo>
                    <a:pt x="53" y="86"/>
                  </a:lnTo>
                  <a:lnTo>
                    <a:pt x="34" y="69"/>
                  </a:lnTo>
                  <a:lnTo>
                    <a:pt x="17" y="69"/>
                  </a:lnTo>
                  <a:lnTo>
                    <a:pt x="34" y="69"/>
                  </a:lnTo>
                  <a:lnTo>
                    <a:pt x="34" y="49"/>
                  </a:lnTo>
                  <a:lnTo>
                    <a:pt x="17" y="49"/>
                  </a:lnTo>
                  <a:lnTo>
                    <a:pt x="0" y="49"/>
                  </a:lnTo>
                  <a:lnTo>
                    <a:pt x="34" y="49"/>
                  </a:lnTo>
                  <a:lnTo>
                    <a:pt x="53" y="32"/>
                  </a:lnTo>
                  <a:lnTo>
                    <a:pt x="34" y="32"/>
                  </a:lnTo>
                  <a:lnTo>
                    <a:pt x="17" y="32"/>
                  </a:lnTo>
                  <a:lnTo>
                    <a:pt x="0" y="15"/>
                  </a:lnTo>
                  <a:lnTo>
                    <a:pt x="0" y="0"/>
                  </a:lnTo>
                  <a:lnTo>
                    <a:pt x="0" y="15"/>
                  </a:lnTo>
                  <a:lnTo>
                    <a:pt x="0" y="0"/>
                  </a:lnTo>
                  <a:lnTo>
                    <a:pt x="17" y="0"/>
                  </a:lnTo>
                  <a:lnTo>
                    <a:pt x="34" y="0"/>
                  </a:lnTo>
                  <a:lnTo>
                    <a:pt x="53" y="15"/>
                  </a:lnTo>
                  <a:lnTo>
                    <a:pt x="53" y="32"/>
                  </a:lnTo>
                  <a:lnTo>
                    <a:pt x="53" y="15"/>
                  </a:lnTo>
                  <a:lnTo>
                    <a:pt x="71" y="15"/>
                  </a:lnTo>
                  <a:lnTo>
                    <a:pt x="71" y="0"/>
                  </a:lnTo>
                  <a:lnTo>
                    <a:pt x="71" y="15"/>
                  </a:lnTo>
                  <a:lnTo>
                    <a:pt x="88" y="15"/>
                  </a:lnTo>
                  <a:lnTo>
                    <a:pt x="105" y="15"/>
                  </a:lnTo>
                  <a:lnTo>
                    <a:pt x="105" y="0"/>
                  </a:lnTo>
                  <a:lnTo>
                    <a:pt x="123" y="0"/>
                  </a:lnTo>
                  <a:lnTo>
                    <a:pt x="140" y="0"/>
                  </a:lnTo>
                  <a:lnTo>
                    <a:pt x="159" y="15"/>
                  </a:lnTo>
                  <a:lnTo>
                    <a:pt x="159" y="0"/>
                  </a:lnTo>
                  <a:lnTo>
                    <a:pt x="176" y="0"/>
                  </a:lnTo>
                  <a:lnTo>
                    <a:pt x="194" y="0"/>
                  </a:lnTo>
                  <a:lnTo>
                    <a:pt x="211" y="0"/>
                  </a:lnTo>
                  <a:lnTo>
                    <a:pt x="228" y="0"/>
                  </a:lnTo>
                  <a:lnTo>
                    <a:pt x="228" y="32"/>
                  </a:lnTo>
                  <a:lnTo>
                    <a:pt x="265" y="49"/>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04" name="Freeform 33">
              <a:extLst>
                <a:ext uri="{FF2B5EF4-FFF2-40B4-BE49-F238E27FC236}">
                  <a16:creationId xmlns:a16="http://schemas.microsoft.com/office/drawing/2014/main" id="{C5EF66B3-DAAE-407B-B897-50EBA96B48BF}"/>
                </a:ext>
              </a:extLst>
            </p:cNvPr>
            <p:cNvSpPr>
              <a:spLocks/>
            </p:cNvSpPr>
            <p:nvPr>
              <p:custDataLst>
                <p:tags r:id="rId34"/>
              </p:custDataLst>
            </p:nvPr>
          </p:nvSpPr>
          <p:spPr bwMode="auto">
            <a:xfrm>
              <a:off x="5493348" y="2390940"/>
              <a:ext cx="33426" cy="15834"/>
            </a:xfrm>
            <a:custGeom>
              <a:avLst/>
              <a:gdLst>
                <a:gd name="T0" fmla="*/ 4189 w 36"/>
                <a:gd name="T1" fmla="*/ 4202 h 17"/>
                <a:gd name="T2" fmla="*/ 0 w 36"/>
                <a:gd name="T3" fmla="*/ 4202 h 17"/>
                <a:gd name="T4" fmla="*/ 0 w 36"/>
                <a:gd name="T5" fmla="*/ 0 h 17"/>
                <a:gd name="T6" fmla="*/ 4189 w 36"/>
                <a:gd name="T7" fmla="*/ 0 h 17"/>
                <a:gd name="T8" fmla="*/ 8379 w 36"/>
                <a:gd name="T9" fmla="*/ 4202 h 17"/>
                <a:gd name="T10" fmla="*/ 4189 w 36"/>
                <a:gd name="T11" fmla="*/ 4202 h 17"/>
                <a:gd name="T12" fmla="*/ 0 60000 65536"/>
                <a:gd name="T13" fmla="*/ 0 60000 65536"/>
                <a:gd name="T14" fmla="*/ 0 60000 65536"/>
                <a:gd name="T15" fmla="*/ 0 60000 65536"/>
                <a:gd name="T16" fmla="*/ 0 60000 65536"/>
                <a:gd name="T17" fmla="*/ 0 60000 65536"/>
                <a:gd name="T18" fmla="*/ 0 w 36"/>
                <a:gd name="T19" fmla="*/ 0 h 17"/>
                <a:gd name="T20" fmla="*/ 36 w 36"/>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36" h="17">
                  <a:moveTo>
                    <a:pt x="17" y="17"/>
                  </a:moveTo>
                  <a:lnTo>
                    <a:pt x="0" y="17"/>
                  </a:lnTo>
                  <a:lnTo>
                    <a:pt x="0" y="0"/>
                  </a:lnTo>
                  <a:lnTo>
                    <a:pt x="17" y="0"/>
                  </a:lnTo>
                  <a:lnTo>
                    <a:pt x="36" y="17"/>
                  </a:lnTo>
                  <a:lnTo>
                    <a:pt x="17" y="17"/>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05" name="Freeform 34">
              <a:extLst>
                <a:ext uri="{FF2B5EF4-FFF2-40B4-BE49-F238E27FC236}">
                  <a16:creationId xmlns:a16="http://schemas.microsoft.com/office/drawing/2014/main" id="{BE55B448-DD28-46D0-9C2C-F2D08FA1ECE1}"/>
                </a:ext>
              </a:extLst>
            </p:cNvPr>
            <p:cNvSpPr>
              <a:spLocks/>
            </p:cNvSpPr>
            <p:nvPr>
              <p:custDataLst>
                <p:tags r:id="rId35"/>
              </p:custDataLst>
            </p:nvPr>
          </p:nvSpPr>
          <p:spPr bwMode="auto">
            <a:xfrm>
              <a:off x="6811027" y="2056682"/>
              <a:ext cx="61574" cy="33426"/>
            </a:xfrm>
            <a:custGeom>
              <a:avLst/>
              <a:gdLst>
                <a:gd name="T0" fmla="*/ 4026 w 69"/>
                <a:gd name="T1" fmla="*/ 8379 h 36"/>
                <a:gd name="T2" fmla="*/ 4026 w 69"/>
                <a:gd name="T3" fmla="*/ 4189 h 36"/>
                <a:gd name="T4" fmla="*/ 0 w 69"/>
                <a:gd name="T5" fmla="*/ 4189 h 36"/>
                <a:gd name="T6" fmla="*/ 4026 w 69"/>
                <a:gd name="T7" fmla="*/ 4189 h 36"/>
                <a:gd name="T8" fmla="*/ 4026 w 69"/>
                <a:gd name="T9" fmla="*/ 0 h 36"/>
                <a:gd name="T10" fmla="*/ 7247 w 69"/>
                <a:gd name="T11" fmla="*/ 0 h 36"/>
                <a:gd name="T12" fmla="*/ 7247 w 69"/>
                <a:gd name="T13" fmla="*/ 4189 h 36"/>
                <a:gd name="T14" fmla="*/ 10468 w 69"/>
                <a:gd name="T15" fmla="*/ 4189 h 36"/>
                <a:gd name="T16" fmla="*/ 14495 w 69"/>
                <a:gd name="T17" fmla="*/ 4189 h 36"/>
                <a:gd name="T18" fmla="*/ 10468 w 69"/>
                <a:gd name="T19" fmla="*/ 4189 h 36"/>
                <a:gd name="T20" fmla="*/ 7247 w 69"/>
                <a:gd name="T21" fmla="*/ 8379 h 36"/>
                <a:gd name="T22" fmla="*/ 4026 w 69"/>
                <a:gd name="T23" fmla="*/ 8379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9"/>
                <a:gd name="T37" fmla="*/ 0 h 36"/>
                <a:gd name="T38" fmla="*/ 69 w 69"/>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9" h="36">
                  <a:moveTo>
                    <a:pt x="17" y="36"/>
                  </a:moveTo>
                  <a:lnTo>
                    <a:pt x="17" y="19"/>
                  </a:lnTo>
                  <a:lnTo>
                    <a:pt x="0" y="19"/>
                  </a:lnTo>
                  <a:lnTo>
                    <a:pt x="17" y="19"/>
                  </a:lnTo>
                  <a:lnTo>
                    <a:pt x="17" y="0"/>
                  </a:lnTo>
                  <a:lnTo>
                    <a:pt x="35" y="0"/>
                  </a:lnTo>
                  <a:lnTo>
                    <a:pt x="35" y="19"/>
                  </a:lnTo>
                  <a:lnTo>
                    <a:pt x="52" y="19"/>
                  </a:lnTo>
                  <a:lnTo>
                    <a:pt x="69" y="19"/>
                  </a:lnTo>
                  <a:lnTo>
                    <a:pt x="52" y="19"/>
                  </a:lnTo>
                  <a:lnTo>
                    <a:pt x="35" y="36"/>
                  </a:lnTo>
                  <a:lnTo>
                    <a:pt x="17" y="3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06" name="Freeform 35">
              <a:extLst>
                <a:ext uri="{FF2B5EF4-FFF2-40B4-BE49-F238E27FC236}">
                  <a16:creationId xmlns:a16="http://schemas.microsoft.com/office/drawing/2014/main" id="{C6D4AF23-B58C-4E9D-BEE2-A3237329BD0C}"/>
                </a:ext>
              </a:extLst>
            </p:cNvPr>
            <p:cNvSpPr>
              <a:spLocks/>
            </p:cNvSpPr>
            <p:nvPr>
              <p:custDataLst>
                <p:tags r:id="rId36"/>
              </p:custDataLst>
            </p:nvPr>
          </p:nvSpPr>
          <p:spPr bwMode="auto">
            <a:xfrm>
              <a:off x="3264374" y="2248441"/>
              <a:ext cx="900737" cy="856756"/>
            </a:xfrm>
            <a:custGeom>
              <a:avLst/>
              <a:gdLst>
                <a:gd name="T0" fmla="*/ 203399 w 1023"/>
                <a:gd name="T1" fmla="*/ 187133 h 975"/>
                <a:gd name="T2" fmla="*/ 193070 w 1023"/>
                <a:gd name="T3" fmla="*/ 171274 h 975"/>
                <a:gd name="T4" fmla="*/ 178768 w 1023"/>
                <a:gd name="T5" fmla="*/ 152244 h 975"/>
                <a:gd name="T6" fmla="*/ 168439 w 1023"/>
                <a:gd name="T7" fmla="*/ 145107 h 975"/>
                <a:gd name="T8" fmla="*/ 154933 w 1023"/>
                <a:gd name="T9" fmla="*/ 139557 h 975"/>
                <a:gd name="T10" fmla="*/ 144604 w 1023"/>
                <a:gd name="T11" fmla="*/ 139557 h 975"/>
                <a:gd name="T12" fmla="*/ 144604 w 1023"/>
                <a:gd name="T13" fmla="*/ 25374 h 975"/>
                <a:gd name="T14" fmla="*/ 123946 w 1023"/>
                <a:gd name="T15" fmla="*/ 22202 h 975"/>
                <a:gd name="T16" fmla="*/ 110439 w 1023"/>
                <a:gd name="T17" fmla="*/ 19030 h 975"/>
                <a:gd name="T18" fmla="*/ 86603 w 1023"/>
                <a:gd name="T19" fmla="*/ 12687 h 975"/>
                <a:gd name="T20" fmla="*/ 72302 w 1023"/>
                <a:gd name="T21" fmla="*/ 6343 h 975"/>
                <a:gd name="T22" fmla="*/ 62768 w 1023"/>
                <a:gd name="T23" fmla="*/ 0 h 975"/>
                <a:gd name="T24" fmla="*/ 48466 w 1023"/>
                <a:gd name="T25" fmla="*/ 9515 h 975"/>
                <a:gd name="T26" fmla="*/ 34959 w 1023"/>
                <a:gd name="T27" fmla="*/ 15859 h 975"/>
                <a:gd name="T28" fmla="*/ 24630 w 1023"/>
                <a:gd name="T29" fmla="*/ 34889 h 975"/>
                <a:gd name="T30" fmla="*/ 7151 w 1023"/>
                <a:gd name="T31" fmla="*/ 44404 h 975"/>
                <a:gd name="T32" fmla="*/ 24630 w 1023"/>
                <a:gd name="T33" fmla="*/ 60263 h 975"/>
                <a:gd name="T34" fmla="*/ 31781 w 1023"/>
                <a:gd name="T35" fmla="*/ 72950 h 975"/>
                <a:gd name="T36" fmla="*/ 20658 w 1023"/>
                <a:gd name="T37" fmla="*/ 66607 h 975"/>
                <a:gd name="T38" fmla="*/ 3973 w 1023"/>
                <a:gd name="T39" fmla="*/ 72950 h 975"/>
                <a:gd name="T40" fmla="*/ 7151 w 1023"/>
                <a:gd name="T41" fmla="*/ 82465 h 975"/>
                <a:gd name="T42" fmla="*/ 7151 w 1023"/>
                <a:gd name="T43" fmla="*/ 88809 h 975"/>
                <a:gd name="T44" fmla="*/ 20658 w 1023"/>
                <a:gd name="T45" fmla="*/ 91981 h 975"/>
                <a:gd name="T46" fmla="*/ 34959 w 1023"/>
                <a:gd name="T47" fmla="*/ 88809 h 975"/>
                <a:gd name="T48" fmla="*/ 38137 w 1023"/>
                <a:gd name="T49" fmla="*/ 97531 h 975"/>
                <a:gd name="T50" fmla="*/ 27808 w 1023"/>
                <a:gd name="T51" fmla="*/ 104668 h 975"/>
                <a:gd name="T52" fmla="*/ 20658 w 1023"/>
                <a:gd name="T53" fmla="*/ 107046 h 975"/>
                <a:gd name="T54" fmla="*/ 10329 w 1023"/>
                <a:gd name="T55" fmla="*/ 123698 h 975"/>
                <a:gd name="T56" fmla="*/ 24630 w 1023"/>
                <a:gd name="T57" fmla="*/ 142729 h 975"/>
                <a:gd name="T58" fmla="*/ 31781 w 1023"/>
                <a:gd name="T59" fmla="*/ 145107 h 975"/>
                <a:gd name="T60" fmla="*/ 34959 w 1023"/>
                <a:gd name="T61" fmla="*/ 152244 h 975"/>
                <a:gd name="T62" fmla="*/ 48466 w 1023"/>
                <a:gd name="T63" fmla="*/ 154623 h 975"/>
                <a:gd name="T64" fmla="*/ 55617 w 1023"/>
                <a:gd name="T65" fmla="*/ 152244 h 975"/>
                <a:gd name="T66" fmla="*/ 55617 w 1023"/>
                <a:gd name="T67" fmla="*/ 164138 h 975"/>
                <a:gd name="T68" fmla="*/ 27808 w 1023"/>
                <a:gd name="T69" fmla="*/ 180790 h 975"/>
                <a:gd name="T70" fmla="*/ 14301 w 1023"/>
                <a:gd name="T71" fmla="*/ 190305 h 975"/>
                <a:gd name="T72" fmla="*/ 34959 w 1023"/>
                <a:gd name="T73" fmla="*/ 183168 h 975"/>
                <a:gd name="T74" fmla="*/ 52439 w 1023"/>
                <a:gd name="T75" fmla="*/ 173653 h 975"/>
                <a:gd name="T76" fmla="*/ 76274 w 1023"/>
                <a:gd name="T77" fmla="*/ 154623 h 975"/>
                <a:gd name="T78" fmla="*/ 72302 w 1023"/>
                <a:gd name="T79" fmla="*/ 149072 h 975"/>
                <a:gd name="T80" fmla="*/ 82631 w 1023"/>
                <a:gd name="T81" fmla="*/ 139557 h 975"/>
                <a:gd name="T82" fmla="*/ 92960 w 1023"/>
                <a:gd name="T83" fmla="*/ 126077 h 975"/>
                <a:gd name="T84" fmla="*/ 92960 w 1023"/>
                <a:gd name="T85" fmla="*/ 130042 h 975"/>
                <a:gd name="T86" fmla="*/ 86603 w 1023"/>
                <a:gd name="T87" fmla="*/ 142729 h 975"/>
                <a:gd name="T88" fmla="*/ 86603 w 1023"/>
                <a:gd name="T89" fmla="*/ 149072 h 975"/>
                <a:gd name="T90" fmla="*/ 100110 w 1023"/>
                <a:gd name="T91" fmla="*/ 142729 h 975"/>
                <a:gd name="T92" fmla="*/ 107261 w 1023"/>
                <a:gd name="T93" fmla="*/ 135592 h 975"/>
                <a:gd name="T94" fmla="*/ 113617 w 1023"/>
                <a:gd name="T95" fmla="*/ 133213 h 975"/>
                <a:gd name="T96" fmla="*/ 138248 w 1023"/>
                <a:gd name="T97" fmla="*/ 139557 h 975"/>
                <a:gd name="T98" fmla="*/ 151754 w 1023"/>
                <a:gd name="T99" fmla="*/ 142729 h 975"/>
                <a:gd name="T100" fmla="*/ 168439 w 1023"/>
                <a:gd name="T101" fmla="*/ 158587 h 975"/>
                <a:gd name="T102" fmla="*/ 175590 w 1023"/>
                <a:gd name="T103" fmla="*/ 161759 h 975"/>
                <a:gd name="T104" fmla="*/ 175590 w 1023"/>
                <a:gd name="T105" fmla="*/ 158587 h 975"/>
                <a:gd name="T106" fmla="*/ 178768 w 1023"/>
                <a:gd name="T107" fmla="*/ 168103 h 975"/>
                <a:gd name="T108" fmla="*/ 189097 w 1023"/>
                <a:gd name="T109" fmla="*/ 171274 h 975"/>
                <a:gd name="T110" fmla="*/ 182741 w 1023"/>
                <a:gd name="T111" fmla="*/ 171274 h 975"/>
                <a:gd name="T112" fmla="*/ 185919 w 1023"/>
                <a:gd name="T113" fmla="*/ 173653 h 975"/>
                <a:gd name="T114" fmla="*/ 193070 w 1023"/>
                <a:gd name="T115" fmla="*/ 190305 h 975"/>
                <a:gd name="T116" fmla="*/ 189097 w 1023"/>
                <a:gd name="T117" fmla="*/ 177618 h 975"/>
                <a:gd name="T118" fmla="*/ 193070 w 1023"/>
                <a:gd name="T119" fmla="*/ 180790 h 975"/>
                <a:gd name="T120" fmla="*/ 200221 w 1023"/>
                <a:gd name="T121" fmla="*/ 190305 h 97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23"/>
                <a:gd name="T184" fmla="*/ 0 h 975"/>
                <a:gd name="T185" fmla="*/ 1023 w 1023"/>
                <a:gd name="T186" fmla="*/ 975 h 97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23" h="975">
                  <a:moveTo>
                    <a:pt x="1023" y="945"/>
                  </a:moveTo>
                  <a:lnTo>
                    <a:pt x="1023" y="945"/>
                  </a:lnTo>
                  <a:lnTo>
                    <a:pt x="1023" y="897"/>
                  </a:lnTo>
                  <a:lnTo>
                    <a:pt x="971" y="864"/>
                  </a:lnTo>
                  <a:lnTo>
                    <a:pt x="917" y="768"/>
                  </a:lnTo>
                  <a:lnTo>
                    <a:pt x="900" y="768"/>
                  </a:lnTo>
                  <a:lnTo>
                    <a:pt x="883" y="720"/>
                  </a:lnTo>
                  <a:lnTo>
                    <a:pt x="848" y="735"/>
                  </a:lnTo>
                  <a:lnTo>
                    <a:pt x="831" y="753"/>
                  </a:lnTo>
                  <a:lnTo>
                    <a:pt x="779" y="705"/>
                  </a:lnTo>
                  <a:lnTo>
                    <a:pt x="779" y="687"/>
                  </a:lnTo>
                  <a:lnTo>
                    <a:pt x="727" y="705"/>
                  </a:lnTo>
                  <a:lnTo>
                    <a:pt x="727" y="687"/>
                  </a:lnTo>
                  <a:lnTo>
                    <a:pt x="727" y="129"/>
                  </a:lnTo>
                  <a:lnTo>
                    <a:pt x="675" y="96"/>
                  </a:lnTo>
                  <a:lnTo>
                    <a:pt x="624" y="112"/>
                  </a:lnTo>
                  <a:lnTo>
                    <a:pt x="589" y="96"/>
                  </a:lnTo>
                  <a:lnTo>
                    <a:pt x="555" y="96"/>
                  </a:lnTo>
                  <a:lnTo>
                    <a:pt x="503" y="64"/>
                  </a:lnTo>
                  <a:lnTo>
                    <a:pt x="434" y="64"/>
                  </a:lnTo>
                  <a:lnTo>
                    <a:pt x="416" y="33"/>
                  </a:lnTo>
                  <a:lnTo>
                    <a:pt x="364" y="33"/>
                  </a:lnTo>
                  <a:lnTo>
                    <a:pt x="347" y="16"/>
                  </a:lnTo>
                  <a:lnTo>
                    <a:pt x="313" y="0"/>
                  </a:lnTo>
                  <a:lnTo>
                    <a:pt x="278" y="33"/>
                  </a:lnTo>
                  <a:lnTo>
                    <a:pt x="244" y="48"/>
                  </a:lnTo>
                  <a:lnTo>
                    <a:pt x="192" y="81"/>
                  </a:lnTo>
                  <a:lnTo>
                    <a:pt x="174" y="81"/>
                  </a:lnTo>
                  <a:lnTo>
                    <a:pt x="140" y="112"/>
                  </a:lnTo>
                  <a:lnTo>
                    <a:pt x="123" y="177"/>
                  </a:lnTo>
                  <a:lnTo>
                    <a:pt x="52" y="192"/>
                  </a:lnTo>
                  <a:lnTo>
                    <a:pt x="34" y="225"/>
                  </a:lnTo>
                  <a:lnTo>
                    <a:pt x="103" y="273"/>
                  </a:lnTo>
                  <a:lnTo>
                    <a:pt x="123" y="304"/>
                  </a:lnTo>
                  <a:lnTo>
                    <a:pt x="157" y="352"/>
                  </a:lnTo>
                  <a:lnTo>
                    <a:pt x="157" y="369"/>
                  </a:lnTo>
                  <a:lnTo>
                    <a:pt x="103" y="369"/>
                  </a:lnTo>
                  <a:lnTo>
                    <a:pt x="103" y="336"/>
                  </a:lnTo>
                  <a:lnTo>
                    <a:pt x="86" y="336"/>
                  </a:lnTo>
                  <a:lnTo>
                    <a:pt x="17" y="369"/>
                  </a:lnTo>
                  <a:lnTo>
                    <a:pt x="0" y="400"/>
                  </a:lnTo>
                  <a:lnTo>
                    <a:pt x="34" y="417"/>
                  </a:lnTo>
                  <a:lnTo>
                    <a:pt x="34" y="432"/>
                  </a:lnTo>
                  <a:lnTo>
                    <a:pt x="34" y="448"/>
                  </a:lnTo>
                  <a:lnTo>
                    <a:pt x="69" y="465"/>
                  </a:lnTo>
                  <a:lnTo>
                    <a:pt x="103" y="465"/>
                  </a:lnTo>
                  <a:lnTo>
                    <a:pt x="140" y="465"/>
                  </a:lnTo>
                  <a:lnTo>
                    <a:pt x="174" y="448"/>
                  </a:lnTo>
                  <a:lnTo>
                    <a:pt x="174" y="465"/>
                  </a:lnTo>
                  <a:lnTo>
                    <a:pt x="192" y="495"/>
                  </a:lnTo>
                  <a:lnTo>
                    <a:pt x="174" y="528"/>
                  </a:lnTo>
                  <a:lnTo>
                    <a:pt x="140" y="528"/>
                  </a:lnTo>
                  <a:lnTo>
                    <a:pt x="123" y="543"/>
                  </a:lnTo>
                  <a:lnTo>
                    <a:pt x="103" y="543"/>
                  </a:lnTo>
                  <a:lnTo>
                    <a:pt x="86" y="543"/>
                  </a:lnTo>
                  <a:lnTo>
                    <a:pt x="52" y="624"/>
                  </a:lnTo>
                  <a:lnTo>
                    <a:pt x="103" y="720"/>
                  </a:lnTo>
                  <a:lnTo>
                    <a:pt x="123" y="720"/>
                  </a:lnTo>
                  <a:lnTo>
                    <a:pt x="157" y="705"/>
                  </a:lnTo>
                  <a:lnTo>
                    <a:pt x="157" y="735"/>
                  </a:lnTo>
                  <a:lnTo>
                    <a:pt x="157" y="753"/>
                  </a:lnTo>
                  <a:lnTo>
                    <a:pt x="174" y="768"/>
                  </a:lnTo>
                  <a:lnTo>
                    <a:pt x="226" y="768"/>
                  </a:lnTo>
                  <a:lnTo>
                    <a:pt x="244" y="783"/>
                  </a:lnTo>
                  <a:lnTo>
                    <a:pt x="244" y="768"/>
                  </a:lnTo>
                  <a:lnTo>
                    <a:pt x="278" y="768"/>
                  </a:lnTo>
                  <a:lnTo>
                    <a:pt x="278" y="801"/>
                  </a:lnTo>
                  <a:lnTo>
                    <a:pt x="278" y="831"/>
                  </a:lnTo>
                  <a:lnTo>
                    <a:pt x="192" y="897"/>
                  </a:lnTo>
                  <a:lnTo>
                    <a:pt x="140" y="912"/>
                  </a:lnTo>
                  <a:lnTo>
                    <a:pt x="123" y="927"/>
                  </a:lnTo>
                  <a:lnTo>
                    <a:pt x="69" y="960"/>
                  </a:lnTo>
                  <a:lnTo>
                    <a:pt x="86" y="975"/>
                  </a:lnTo>
                  <a:lnTo>
                    <a:pt x="174" y="927"/>
                  </a:lnTo>
                  <a:lnTo>
                    <a:pt x="244" y="897"/>
                  </a:lnTo>
                  <a:lnTo>
                    <a:pt x="261" y="879"/>
                  </a:lnTo>
                  <a:lnTo>
                    <a:pt x="295" y="849"/>
                  </a:lnTo>
                  <a:lnTo>
                    <a:pt x="382" y="783"/>
                  </a:lnTo>
                  <a:lnTo>
                    <a:pt x="399" y="768"/>
                  </a:lnTo>
                  <a:lnTo>
                    <a:pt x="364" y="753"/>
                  </a:lnTo>
                  <a:lnTo>
                    <a:pt x="382" y="735"/>
                  </a:lnTo>
                  <a:lnTo>
                    <a:pt x="416" y="705"/>
                  </a:lnTo>
                  <a:lnTo>
                    <a:pt x="416" y="672"/>
                  </a:lnTo>
                  <a:lnTo>
                    <a:pt x="468" y="639"/>
                  </a:lnTo>
                  <a:lnTo>
                    <a:pt x="485" y="639"/>
                  </a:lnTo>
                  <a:lnTo>
                    <a:pt x="468" y="657"/>
                  </a:lnTo>
                  <a:lnTo>
                    <a:pt x="451" y="672"/>
                  </a:lnTo>
                  <a:lnTo>
                    <a:pt x="434" y="720"/>
                  </a:lnTo>
                  <a:lnTo>
                    <a:pt x="451" y="735"/>
                  </a:lnTo>
                  <a:lnTo>
                    <a:pt x="434" y="753"/>
                  </a:lnTo>
                  <a:lnTo>
                    <a:pt x="451" y="753"/>
                  </a:lnTo>
                  <a:lnTo>
                    <a:pt x="503" y="720"/>
                  </a:lnTo>
                  <a:lnTo>
                    <a:pt x="520" y="720"/>
                  </a:lnTo>
                  <a:lnTo>
                    <a:pt x="537" y="687"/>
                  </a:lnTo>
                  <a:lnTo>
                    <a:pt x="520" y="657"/>
                  </a:lnTo>
                  <a:lnTo>
                    <a:pt x="572" y="672"/>
                  </a:lnTo>
                  <a:lnTo>
                    <a:pt x="641" y="705"/>
                  </a:lnTo>
                  <a:lnTo>
                    <a:pt x="693" y="705"/>
                  </a:lnTo>
                  <a:lnTo>
                    <a:pt x="745" y="720"/>
                  </a:lnTo>
                  <a:lnTo>
                    <a:pt x="762" y="720"/>
                  </a:lnTo>
                  <a:lnTo>
                    <a:pt x="762" y="735"/>
                  </a:lnTo>
                  <a:lnTo>
                    <a:pt x="848" y="801"/>
                  </a:lnTo>
                  <a:lnTo>
                    <a:pt x="900" y="897"/>
                  </a:lnTo>
                  <a:lnTo>
                    <a:pt x="883" y="816"/>
                  </a:lnTo>
                  <a:lnTo>
                    <a:pt x="866" y="801"/>
                  </a:lnTo>
                  <a:lnTo>
                    <a:pt x="883" y="801"/>
                  </a:lnTo>
                  <a:lnTo>
                    <a:pt x="883" y="768"/>
                  </a:lnTo>
                  <a:lnTo>
                    <a:pt x="900" y="849"/>
                  </a:lnTo>
                  <a:lnTo>
                    <a:pt x="917" y="831"/>
                  </a:lnTo>
                  <a:lnTo>
                    <a:pt x="952" y="864"/>
                  </a:lnTo>
                  <a:lnTo>
                    <a:pt x="917" y="849"/>
                  </a:lnTo>
                  <a:lnTo>
                    <a:pt x="917" y="864"/>
                  </a:lnTo>
                  <a:lnTo>
                    <a:pt x="917" y="897"/>
                  </a:lnTo>
                  <a:lnTo>
                    <a:pt x="935" y="879"/>
                  </a:lnTo>
                  <a:lnTo>
                    <a:pt x="935" y="912"/>
                  </a:lnTo>
                  <a:lnTo>
                    <a:pt x="971" y="960"/>
                  </a:lnTo>
                  <a:lnTo>
                    <a:pt x="971" y="927"/>
                  </a:lnTo>
                  <a:lnTo>
                    <a:pt x="952" y="897"/>
                  </a:lnTo>
                  <a:lnTo>
                    <a:pt x="971" y="897"/>
                  </a:lnTo>
                  <a:lnTo>
                    <a:pt x="971" y="912"/>
                  </a:lnTo>
                  <a:lnTo>
                    <a:pt x="988" y="945"/>
                  </a:lnTo>
                  <a:lnTo>
                    <a:pt x="1006" y="960"/>
                  </a:lnTo>
                  <a:lnTo>
                    <a:pt x="1023" y="94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07" name="Freeform 36">
              <a:extLst>
                <a:ext uri="{FF2B5EF4-FFF2-40B4-BE49-F238E27FC236}">
                  <a16:creationId xmlns:a16="http://schemas.microsoft.com/office/drawing/2014/main" id="{07FA0FD6-A68D-4543-8A89-BD6E103D66E2}"/>
                </a:ext>
              </a:extLst>
            </p:cNvPr>
            <p:cNvSpPr>
              <a:spLocks/>
            </p:cNvSpPr>
            <p:nvPr>
              <p:custDataLst>
                <p:tags r:id="rId37"/>
              </p:custDataLst>
            </p:nvPr>
          </p:nvSpPr>
          <p:spPr bwMode="auto">
            <a:xfrm>
              <a:off x="5368440" y="3020752"/>
              <a:ext cx="31667" cy="28148"/>
            </a:xfrm>
            <a:custGeom>
              <a:avLst/>
              <a:gdLst>
                <a:gd name="T0" fmla="*/ 0 w 34"/>
                <a:gd name="T1" fmla="*/ 3079 h 33"/>
                <a:gd name="T2" fmla="*/ 0 w 34"/>
                <a:gd name="T3" fmla="*/ 3079 h 33"/>
                <a:gd name="T4" fmla="*/ 8404 w 34"/>
                <a:gd name="T5" fmla="*/ 6158 h 33"/>
                <a:gd name="T6" fmla="*/ 8404 w 34"/>
                <a:gd name="T7" fmla="*/ 0 h 33"/>
                <a:gd name="T8" fmla="*/ 0 w 34"/>
                <a:gd name="T9" fmla="*/ 3079 h 33"/>
                <a:gd name="T10" fmla="*/ 0 60000 65536"/>
                <a:gd name="T11" fmla="*/ 0 60000 65536"/>
                <a:gd name="T12" fmla="*/ 0 60000 65536"/>
                <a:gd name="T13" fmla="*/ 0 60000 65536"/>
                <a:gd name="T14" fmla="*/ 0 60000 65536"/>
                <a:gd name="T15" fmla="*/ 0 w 34"/>
                <a:gd name="T16" fmla="*/ 0 h 33"/>
                <a:gd name="T17" fmla="*/ 34 w 34"/>
                <a:gd name="T18" fmla="*/ 33 h 33"/>
              </a:gdLst>
              <a:ahLst/>
              <a:cxnLst>
                <a:cxn ang="T10">
                  <a:pos x="T0" y="T1"/>
                </a:cxn>
                <a:cxn ang="T11">
                  <a:pos x="T2" y="T3"/>
                </a:cxn>
                <a:cxn ang="T12">
                  <a:pos x="T4" y="T5"/>
                </a:cxn>
                <a:cxn ang="T13">
                  <a:pos x="T6" y="T7"/>
                </a:cxn>
                <a:cxn ang="T14">
                  <a:pos x="T8" y="T9"/>
                </a:cxn>
              </a:cxnLst>
              <a:rect l="T15" t="T16" r="T17" b="T18"/>
              <a:pathLst>
                <a:path w="34" h="33">
                  <a:moveTo>
                    <a:pt x="0" y="18"/>
                  </a:moveTo>
                  <a:lnTo>
                    <a:pt x="0" y="18"/>
                  </a:lnTo>
                  <a:lnTo>
                    <a:pt x="34" y="33"/>
                  </a:lnTo>
                  <a:lnTo>
                    <a:pt x="34" y="0"/>
                  </a:lnTo>
                  <a:lnTo>
                    <a:pt x="0" y="1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08" name="Freeform 37">
              <a:extLst>
                <a:ext uri="{FF2B5EF4-FFF2-40B4-BE49-F238E27FC236}">
                  <a16:creationId xmlns:a16="http://schemas.microsoft.com/office/drawing/2014/main" id="{7567F455-7E46-40D0-8A2E-08990412A3DF}"/>
                </a:ext>
              </a:extLst>
            </p:cNvPr>
            <p:cNvSpPr>
              <a:spLocks/>
            </p:cNvSpPr>
            <p:nvPr>
              <p:custDataLst>
                <p:tags r:id="rId38"/>
              </p:custDataLst>
            </p:nvPr>
          </p:nvSpPr>
          <p:spPr bwMode="auto">
            <a:xfrm>
              <a:off x="5322700" y="3147418"/>
              <a:ext cx="31667" cy="15834"/>
            </a:xfrm>
            <a:custGeom>
              <a:avLst/>
              <a:gdLst>
                <a:gd name="T0" fmla="*/ 0 w 34"/>
                <a:gd name="T1" fmla="*/ 0 h 17"/>
                <a:gd name="T2" fmla="*/ 0 w 34"/>
                <a:gd name="T3" fmla="*/ 0 h 17"/>
                <a:gd name="T4" fmla="*/ 8404 w 34"/>
                <a:gd name="T5" fmla="*/ 4202 h 17"/>
                <a:gd name="T6" fmla="*/ 8404 w 34"/>
                <a:gd name="T7" fmla="*/ 0 h 17"/>
                <a:gd name="T8" fmla="*/ 0 w 34"/>
                <a:gd name="T9" fmla="*/ 0 h 17"/>
                <a:gd name="T10" fmla="*/ 0 60000 65536"/>
                <a:gd name="T11" fmla="*/ 0 60000 65536"/>
                <a:gd name="T12" fmla="*/ 0 60000 65536"/>
                <a:gd name="T13" fmla="*/ 0 60000 65536"/>
                <a:gd name="T14" fmla="*/ 0 60000 65536"/>
                <a:gd name="T15" fmla="*/ 0 w 34"/>
                <a:gd name="T16" fmla="*/ 0 h 17"/>
                <a:gd name="T17" fmla="*/ 34 w 34"/>
                <a:gd name="T18" fmla="*/ 17 h 17"/>
              </a:gdLst>
              <a:ahLst/>
              <a:cxnLst>
                <a:cxn ang="T10">
                  <a:pos x="T0" y="T1"/>
                </a:cxn>
                <a:cxn ang="T11">
                  <a:pos x="T2" y="T3"/>
                </a:cxn>
                <a:cxn ang="T12">
                  <a:pos x="T4" y="T5"/>
                </a:cxn>
                <a:cxn ang="T13">
                  <a:pos x="T6" y="T7"/>
                </a:cxn>
                <a:cxn ang="T14">
                  <a:pos x="T8" y="T9"/>
                </a:cxn>
              </a:cxnLst>
              <a:rect l="T15" t="T16" r="T17" b="T18"/>
              <a:pathLst>
                <a:path w="34" h="17">
                  <a:moveTo>
                    <a:pt x="0" y="0"/>
                  </a:moveTo>
                  <a:lnTo>
                    <a:pt x="0" y="0"/>
                  </a:lnTo>
                  <a:lnTo>
                    <a:pt x="34" y="17"/>
                  </a:lnTo>
                  <a:lnTo>
                    <a:pt x="34"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09" name="Freeform 38">
              <a:extLst>
                <a:ext uri="{FF2B5EF4-FFF2-40B4-BE49-F238E27FC236}">
                  <a16:creationId xmlns:a16="http://schemas.microsoft.com/office/drawing/2014/main" id="{A998D264-7888-44C7-95C1-F0598DB6B43C}"/>
                </a:ext>
              </a:extLst>
            </p:cNvPr>
            <p:cNvSpPr>
              <a:spLocks/>
            </p:cNvSpPr>
            <p:nvPr>
              <p:custDataLst>
                <p:tags r:id="rId39"/>
              </p:custDataLst>
            </p:nvPr>
          </p:nvSpPr>
          <p:spPr bwMode="auto">
            <a:xfrm>
              <a:off x="3264374" y="2851864"/>
              <a:ext cx="45741" cy="28148"/>
            </a:xfrm>
            <a:custGeom>
              <a:avLst/>
              <a:gdLst>
                <a:gd name="T0" fmla="*/ 0 w 52"/>
                <a:gd name="T1" fmla="*/ 3079 h 33"/>
                <a:gd name="T2" fmla="*/ 0 w 52"/>
                <a:gd name="T3" fmla="*/ 3079 h 33"/>
                <a:gd name="T4" fmla="*/ 7144 w 52"/>
                <a:gd name="T5" fmla="*/ 6158 h 33"/>
                <a:gd name="T6" fmla="*/ 10319 w 52"/>
                <a:gd name="T7" fmla="*/ 3079 h 33"/>
                <a:gd name="T8" fmla="*/ 7144 w 52"/>
                <a:gd name="T9" fmla="*/ 0 h 33"/>
                <a:gd name="T10" fmla="*/ 0 w 52"/>
                <a:gd name="T11" fmla="*/ 3079 h 33"/>
                <a:gd name="T12" fmla="*/ 0 60000 65536"/>
                <a:gd name="T13" fmla="*/ 0 60000 65536"/>
                <a:gd name="T14" fmla="*/ 0 60000 65536"/>
                <a:gd name="T15" fmla="*/ 0 60000 65536"/>
                <a:gd name="T16" fmla="*/ 0 60000 65536"/>
                <a:gd name="T17" fmla="*/ 0 60000 65536"/>
                <a:gd name="T18" fmla="*/ 0 w 52"/>
                <a:gd name="T19" fmla="*/ 0 h 33"/>
                <a:gd name="T20" fmla="*/ 52 w 52"/>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52" h="33">
                  <a:moveTo>
                    <a:pt x="0" y="18"/>
                  </a:moveTo>
                  <a:lnTo>
                    <a:pt x="0" y="18"/>
                  </a:lnTo>
                  <a:lnTo>
                    <a:pt x="34" y="33"/>
                  </a:lnTo>
                  <a:lnTo>
                    <a:pt x="52" y="18"/>
                  </a:lnTo>
                  <a:lnTo>
                    <a:pt x="34" y="0"/>
                  </a:lnTo>
                  <a:lnTo>
                    <a:pt x="0" y="1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0" name="Freeform 39">
              <a:extLst>
                <a:ext uri="{FF2B5EF4-FFF2-40B4-BE49-F238E27FC236}">
                  <a16:creationId xmlns:a16="http://schemas.microsoft.com/office/drawing/2014/main" id="{B84FFB6A-EC75-41A4-9436-44552478E2E6}"/>
                </a:ext>
              </a:extLst>
            </p:cNvPr>
            <p:cNvSpPr>
              <a:spLocks/>
            </p:cNvSpPr>
            <p:nvPr>
              <p:custDataLst>
                <p:tags r:id="rId40"/>
              </p:custDataLst>
            </p:nvPr>
          </p:nvSpPr>
          <p:spPr bwMode="auto">
            <a:xfrm>
              <a:off x="3570484" y="2936308"/>
              <a:ext cx="75648" cy="70370"/>
            </a:xfrm>
            <a:custGeom>
              <a:avLst/>
              <a:gdLst>
                <a:gd name="T0" fmla="*/ 0 w 87"/>
                <a:gd name="T1" fmla="*/ 12543 h 81"/>
                <a:gd name="T2" fmla="*/ 0 w 87"/>
                <a:gd name="T3" fmla="*/ 12543 h 81"/>
                <a:gd name="T4" fmla="*/ 3139 w 87"/>
                <a:gd name="T5" fmla="*/ 15679 h 81"/>
                <a:gd name="T6" fmla="*/ 10200 w 87"/>
                <a:gd name="T7" fmla="*/ 9407 h 81"/>
                <a:gd name="T8" fmla="*/ 13339 w 87"/>
                <a:gd name="T9" fmla="*/ 9407 h 81"/>
                <a:gd name="T10" fmla="*/ 13339 w 87"/>
                <a:gd name="T11" fmla="*/ 6272 h 81"/>
                <a:gd name="T12" fmla="*/ 10200 w 87"/>
                <a:gd name="T13" fmla="*/ 6272 h 81"/>
                <a:gd name="T14" fmla="*/ 16477 w 87"/>
                <a:gd name="T15" fmla="*/ 3136 h 81"/>
                <a:gd name="T16" fmla="*/ 13339 w 87"/>
                <a:gd name="T17" fmla="*/ 0 h 81"/>
                <a:gd name="T18" fmla="*/ 0 w 87"/>
                <a:gd name="T19" fmla="*/ 12543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7"/>
                <a:gd name="T31" fmla="*/ 0 h 81"/>
                <a:gd name="T32" fmla="*/ 87 w 87"/>
                <a:gd name="T33" fmla="*/ 81 h 8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7" h="81">
                  <a:moveTo>
                    <a:pt x="0" y="66"/>
                  </a:moveTo>
                  <a:lnTo>
                    <a:pt x="0" y="66"/>
                  </a:lnTo>
                  <a:lnTo>
                    <a:pt x="17" y="81"/>
                  </a:lnTo>
                  <a:lnTo>
                    <a:pt x="52" y="48"/>
                  </a:lnTo>
                  <a:lnTo>
                    <a:pt x="69" y="48"/>
                  </a:lnTo>
                  <a:lnTo>
                    <a:pt x="69" y="33"/>
                  </a:lnTo>
                  <a:lnTo>
                    <a:pt x="52" y="33"/>
                  </a:lnTo>
                  <a:lnTo>
                    <a:pt x="87" y="18"/>
                  </a:lnTo>
                  <a:lnTo>
                    <a:pt x="69" y="0"/>
                  </a:lnTo>
                  <a:lnTo>
                    <a:pt x="0" y="6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1" name="Freeform 40">
              <a:extLst>
                <a:ext uri="{FF2B5EF4-FFF2-40B4-BE49-F238E27FC236}">
                  <a16:creationId xmlns:a16="http://schemas.microsoft.com/office/drawing/2014/main" id="{21CDCD4E-3FA2-42BD-A5B7-776A5A9659D9}"/>
                </a:ext>
              </a:extLst>
            </p:cNvPr>
            <p:cNvSpPr>
              <a:spLocks/>
            </p:cNvSpPr>
            <p:nvPr>
              <p:custDataLst>
                <p:tags r:id="rId41"/>
              </p:custDataLst>
            </p:nvPr>
          </p:nvSpPr>
          <p:spPr bwMode="auto">
            <a:xfrm>
              <a:off x="4101778" y="3105196"/>
              <a:ext cx="47500" cy="84444"/>
            </a:xfrm>
            <a:custGeom>
              <a:avLst/>
              <a:gdLst>
                <a:gd name="T0" fmla="*/ 0 w 54"/>
                <a:gd name="T1" fmla="*/ 0 h 96"/>
                <a:gd name="T2" fmla="*/ 0 w 54"/>
                <a:gd name="T3" fmla="*/ 0 h 96"/>
                <a:gd name="T4" fmla="*/ 0 w 54"/>
                <a:gd name="T5" fmla="*/ 7144 h 96"/>
                <a:gd name="T6" fmla="*/ 3969 w 54"/>
                <a:gd name="T7" fmla="*/ 16669 h 96"/>
                <a:gd name="T8" fmla="*/ 11113 w 54"/>
                <a:gd name="T9" fmla="*/ 19050 h 96"/>
                <a:gd name="T10" fmla="*/ 3969 w 54"/>
                <a:gd name="T11" fmla="*/ 13494 h 96"/>
                <a:gd name="T12" fmla="*/ 7144 w 54"/>
                <a:gd name="T13" fmla="*/ 9525 h 96"/>
                <a:gd name="T14" fmla="*/ 3969 w 54"/>
                <a:gd name="T15" fmla="*/ 7144 h 96"/>
                <a:gd name="T16" fmla="*/ 7144 w 54"/>
                <a:gd name="T17" fmla="*/ 0 h 96"/>
                <a:gd name="T18" fmla="*/ 0 w 54"/>
                <a:gd name="T19" fmla="*/ 0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4"/>
                <a:gd name="T31" fmla="*/ 0 h 96"/>
                <a:gd name="T32" fmla="*/ 54 w 54"/>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4" h="96">
                  <a:moveTo>
                    <a:pt x="0" y="0"/>
                  </a:moveTo>
                  <a:lnTo>
                    <a:pt x="0" y="0"/>
                  </a:lnTo>
                  <a:lnTo>
                    <a:pt x="0" y="33"/>
                  </a:lnTo>
                  <a:lnTo>
                    <a:pt x="19" y="81"/>
                  </a:lnTo>
                  <a:lnTo>
                    <a:pt x="54" y="96"/>
                  </a:lnTo>
                  <a:lnTo>
                    <a:pt x="19" y="65"/>
                  </a:lnTo>
                  <a:lnTo>
                    <a:pt x="36" y="48"/>
                  </a:lnTo>
                  <a:lnTo>
                    <a:pt x="19" y="33"/>
                  </a:lnTo>
                  <a:lnTo>
                    <a:pt x="36"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2" name="Freeform 41">
              <a:extLst>
                <a:ext uri="{FF2B5EF4-FFF2-40B4-BE49-F238E27FC236}">
                  <a16:creationId xmlns:a16="http://schemas.microsoft.com/office/drawing/2014/main" id="{F03CA8D0-D18B-457D-87A6-85A942A2D213}"/>
                </a:ext>
              </a:extLst>
            </p:cNvPr>
            <p:cNvSpPr>
              <a:spLocks/>
            </p:cNvSpPr>
            <p:nvPr>
              <p:custDataLst>
                <p:tags r:id="rId42"/>
              </p:custDataLst>
            </p:nvPr>
          </p:nvSpPr>
          <p:spPr bwMode="auto">
            <a:xfrm>
              <a:off x="4210852" y="3231863"/>
              <a:ext cx="123148" cy="84444"/>
            </a:xfrm>
            <a:custGeom>
              <a:avLst/>
              <a:gdLst>
                <a:gd name="T0" fmla="*/ 0 w 140"/>
                <a:gd name="T1" fmla="*/ 0 h 96"/>
                <a:gd name="T2" fmla="*/ 0 w 140"/>
                <a:gd name="T3" fmla="*/ 0 h 96"/>
                <a:gd name="T4" fmla="*/ 3175 w 140"/>
                <a:gd name="T5" fmla="*/ 7144 h 96"/>
                <a:gd name="T6" fmla="*/ 10319 w 140"/>
                <a:gd name="T7" fmla="*/ 9525 h 96"/>
                <a:gd name="T8" fmla="*/ 16669 w 140"/>
                <a:gd name="T9" fmla="*/ 13494 h 96"/>
                <a:gd name="T10" fmla="*/ 16669 w 140"/>
                <a:gd name="T11" fmla="*/ 16669 h 96"/>
                <a:gd name="T12" fmla="*/ 23812 w 140"/>
                <a:gd name="T13" fmla="*/ 19050 h 96"/>
                <a:gd name="T14" fmla="*/ 27781 w 140"/>
                <a:gd name="T15" fmla="*/ 19050 h 96"/>
                <a:gd name="T16" fmla="*/ 14287 w 140"/>
                <a:gd name="T17" fmla="*/ 3969 h 96"/>
                <a:gd name="T18" fmla="*/ 3175 w 140"/>
                <a:gd name="T19" fmla="*/ 0 h 96"/>
                <a:gd name="T20" fmla="*/ 0 w 140"/>
                <a:gd name="T21" fmla="*/ 0 h 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0"/>
                <a:gd name="T34" fmla="*/ 0 h 96"/>
                <a:gd name="T35" fmla="*/ 140 w 140"/>
                <a:gd name="T36" fmla="*/ 96 h 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0" h="96">
                  <a:moveTo>
                    <a:pt x="0" y="0"/>
                  </a:moveTo>
                  <a:lnTo>
                    <a:pt x="0" y="0"/>
                  </a:lnTo>
                  <a:lnTo>
                    <a:pt x="17" y="33"/>
                  </a:lnTo>
                  <a:lnTo>
                    <a:pt x="52" y="48"/>
                  </a:lnTo>
                  <a:lnTo>
                    <a:pt x="86" y="65"/>
                  </a:lnTo>
                  <a:lnTo>
                    <a:pt x="86" y="81"/>
                  </a:lnTo>
                  <a:lnTo>
                    <a:pt x="121" y="96"/>
                  </a:lnTo>
                  <a:lnTo>
                    <a:pt x="140" y="96"/>
                  </a:lnTo>
                  <a:lnTo>
                    <a:pt x="69" y="17"/>
                  </a:lnTo>
                  <a:lnTo>
                    <a:pt x="17"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3" name="Line 42">
              <a:extLst>
                <a:ext uri="{FF2B5EF4-FFF2-40B4-BE49-F238E27FC236}">
                  <a16:creationId xmlns:a16="http://schemas.microsoft.com/office/drawing/2014/main" id="{1674D9D4-A1B1-438B-9155-DEDD0DA921F3}"/>
                </a:ext>
              </a:extLst>
            </p:cNvPr>
            <p:cNvSpPr>
              <a:spLocks noChangeShapeType="1"/>
            </p:cNvSpPr>
            <p:nvPr>
              <p:custDataLst>
                <p:tags r:id="rId43"/>
              </p:custDataLst>
            </p:nvPr>
          </p:nvSpPr>
          <p:spPr bwMode="auto">
            <a:xfrm flipV="1">
              <a:off x="3243263" y="3140381"/>
              <a:ext cx="15834" cy="56296"/>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14" name="Freeform 43">
              <a:extLst>
                <a:ext uri="{FF2B5EF4-FFF2-40B4-BE49-F238E27FC236}">
                  <a16:creationId xmlns:a16="http://schemas.microsoft.com/office/drawing/2014/main" id="{D9E9B7A7-4134-443C-BB23-AF248F54180F}"/>
                </a:ext>
              </a:extLst>
            </p:cNvPr>
            <p:cNvSpPr>
              <a:spLocks/>
            </p:cNvSpPr>
            <p:nvPr>
              <p:custDataLst>
                <p:tags r:id="rId44"/>
              </p:custDataLst>
            </p:nvPr>
          </p:nvSpPr>
          <p:spPr bwMode="auto">
            <a:xfrm>
              <a:off x="3264374" y="3121030"/>
              <a:ext cx="31667" cy="12315"/>
            </a:xfrm>
            <a:custGeom>
              <a:avLst/>
              <a:gdLst>
                <a:gd name="T0" fmla="*/ 0 w 34"/>
                <a:gd name="T1" fmla="*/ 2084 h 16"/>
                <a:gd name="T2" fmla="*/ 0 w 34"/>
                <a:gd name="T3" fmla="*/ 2084 h 16"/>
                <a:gd name="T4" fmla="*/ 8404 w 34"/>
                <a:gd name="T5" fmla="*/ 2084 h 16"/>
                <a:gd name="T6" fmla="*/ 8404 w 34"/>
                <a:gd name="T7" fmla="*/ 0 h 16"/>
                <a:gd name="T8" fmla="*/ 4202 w 34"/>
                <a:gd name="T9" fmla="*/ 0 h 16"/>
                <a:gd name="T10" fmla="*/ 4202 w 34"/>
                <a:gd name="T11" fmla="*/ 2084 h 16"/>
                <a:gd name="T12" fmla="*/ 0 w 34"/>
                <a:gd name="T13" fmla="*/ 2084 h 16"/>
                <a:gd name="T14" fmla="*/ 0 60000 65536"/>
                <a:gd name="T15" fmla="*/ 0 60000 65536"/>
                <a:gd name="T16" fmla="*/ 0 60000 65536"/>
                <a:gd name="T17" fmla="*/ 0 60000 65536"/>
                <a:gd name="T18" fmla="*/ 0 60000 65536"/>
                <a:gd name="T19" fmla="*/ 0 60000 65536"/>
                <a:gd name="T20" fmla="*/ 0 60000 65536"/>
                <a:gd name="T21" fmla="*/ 0 w 34"/>
                <a:gd name="T22" fmla="*/ 0 h 16"/>
                <a:gd name="T23" fmla="*/ 34 w 34"/>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16">
                  <a:moveTo>
                    <a:pt x="0" y="16"/>
                  </a:moveTo>
                  <a:lnTo>
                    <a:pt x="0" y="16"/>
                  </a:lnTo>
                  <a:lnTo>
                    <a:pt x="34" y="16"/>
                  </a:lnTo>
                  <a:lnTo>
                    <a:pt x="34" y="0"/>
                  </a:lnTo>
                  <a:lnTo>
                    <a:pt x="17" y="0"/>
                  </a:lnTo>
                  <a:lnTo>
                    <a:pt x="17" y="16"/>
                  </a:lnTo>
                  <a:lnTo>
                    <a:pt x="0"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5" name="Freeform 44">
              <a:extLst>
                <a:ext uri="{FF2B5EF4-FFF2-40B4-BE49-F238E27FC236}">
                  <a16:creationId xmlns:a16="http://schemas.microsoft.com/office/drawing/2014/main" id="{89A1EECB-A991-4D6E-8360-8A3C59887DC6}"/>
                </a:ext>
              </a:extLst>
            </p:cNvPr>
            <p:cNvSpPr>
              <a:spLocks/>
            </p:cNvSpPr>
            <p:nvPr>
              <p:custDataLst>
                <p:tags r:id="rId45"/>
              </p:custDataLst>
            </p:nvPr>
          </p:nvSpPr>
          <p:spPr bwMode="auto">
            <a:xfrm>
              <a:off x="3906502" y="2227330"/>
              <a:ext cx="2056567" cy="1300088"/>
            </a:xfrm>
            <a:custGeom>
              <a:avLst/>
              <a:gdLst>
                <a:gd name="T0" fmla="*/ 336550 w 2338"/>
                <a:gd name="T1" fmla="*/ 284163 h 1478"/>
                <a:gd name="T2" fmla="*/ 319088 w 2338"/>
                <a:gd name="T3" fmla="*/ 284163 h 1478"/>
                <a:gd name="T4" fmla="*/ 329406 w 2338"/>
                <a:gd name="T5" fmla="*/ 274638 h 1478"/>
                <a:gd name="T6" fmla="*/ 305594 w 2338"/>
                <a:gd name="T7" fmla="*/ 258763 h 1478"/>
                <a:gd name="T8" fmla="*/ 288131 w 2338"/>
                <a:gd name="T9" fmla="*/ 239713 h 1478"/>
                <a:gd name="T10" fmla="*/ 254000 w 2338"/>
                <a:gd name="T11" fmla="*/ 242888 h 1478"/>
                <a:gd name="T12" fmla="*/ 96044 w 2338"/>
                <a:gd name="T13" fmla="*/ 239713 h 1478"/>
                <a:gd name="T14" fmla="*/ 71438 w 2338"/>
                <a:gd name="T15" fmla="*/ 223838 h 1478"/>
                <a:gd name="T16" fmla="*/ 57944 w 2338"/>
                <a:gd name="T17" fmla="*/ 197644 h 1478"/>
                <a:gd name="T18" fmla="*/ 37306 w 2338"/>
                <a:gd name="T19" fmla="*/ 156369 h 1478"/>
                <a:gd name="T20" fmla="*/ 20638 w 2338"/>
                <a:gd name="T21" fmla="*/ 153988 h 1478"/>
                <a:gd name="T22" fmla="*/ 0 w 2338"/>
                <a:gd name="T23" fmla="*/ 141288 h 1478"/>
                <a:gd name="T24" fmla="*/ 27781 w 2338"/>
                <a:gd name="T25" fmla="*/ 36513 h 1478"/>
                <a:gd name="T26" fmla="*/ 61119 w 2338"/>
                <a:gd name="T27" fmla="*/ 20638 h 1478"/>
                <a:gd name="T28" fmla="*/ 78581 w 2338"/>
                <a:gd name="T29" fmla="*/ 23019 h 1478"/>
                <a:gd name="T30" fmla="*/ 88900 w 2338"/>
                <a:gd name="T31" fmla="*/ 33338 h 1478"/>
                <a:gd name="T32" fmla="*/ 113506 w 2338"/>
                <a:gd name="T33" fmla="*/ 33338 h 1478"/>
                <a:gd name="T34" fmla="*/ 144463 w 2338"/>
                <a:gd name="T35" fmla="*/ 42069 h 1478"/>
                <a:gd name="T36" fmla="*/ 150813 w 2338"/>
                <a:gd name="T37" fmla="*/ 58738 h 1478"/>
                <a:gd name="T38" fmla="*/ 174625 w 2338"/>
                <a:gd name="T39" fmla="*/ 49213 h 1478"/>
                <a:gd name="T40" fmla="*/ 213519 w 2338"/>
                <a:gd name="T41" fmla="*/ 55563 h 1478"/>
                <a:gd name="T42" fmla="*/ 233363 w 2338"/>
                <a:gd name="T43" fmla="*/ 45244 h 1478"/>
                <a:gd name="T44" fmla="*/ 240506 w 2338"/>
                <a:gd name="T45" fmla="*/ 36513 h 1478"/>
                <a:gd name="T46" fmla="*/ 243681 w 2338"/>
                <a:gd name="T47" fmla="*/ 58738 h 1478"/>
                <a:gd name="T48" fmla="*/ 254000 w 2338"/>
                <a:gd name="T49" fmla="*/ 33338 h 1478"/>
                <a:gd name="T50" fmla="*/ 254000 w 2338"/>
                <a:gd name="T51" fmla="*/ 0 h 1478"/>
                <a:gd name="T52" fmla="*/ 278606 w 2338"/>
                <a:gd name="T53" fmla="*/ 45244 h 1478"/>
                <a:gd name="T54" fmla="*/ 292100 w 2338"/>
                <a:gd name="T55" fmla="*/ 61913 h 1478"/>
                <a:gd name="T56" fmla="*/ 302419 w 2338"/>
                <a:gd name="T57" fmla="*/ 26988 h 1478"/>
                <a:gd name="T58" fmla="*/ 323056 w 2338"/>
                <a:gd name="T59" fmla="*/ 36513 h 1478"/>
                <a:gd name="T60" fmla="*/ 323056 w 2338"/>
                <a:gd name="T61" fmla="*/ 58738 h 1478"/>
                <a:gd name="T62" fmla="*/ 302419 w 2338"/>
                <a:gd name="T63" fmla="*/ 71438 h 1478"/>
                <a:gd name="T64" fmla="*/ 292100 w 2338"/>
                <a:gd name="T65" fmla="*/ 89694 h 1478"/>
                <a:gd name="T66" fmla="*/ 274638 w 2338"/>
                <a:gd name="T67" fmla="*/ 115888 h 1478"/>
                <a:gd name="T68" fmla="*/ 257969 w 2338"/>
                <a:gd name="T69" fmla="*/ 128588 h 1478"/>
                <a:gd name="T70" fmla="*/ 261144 w 2338"/>
                <a:gd name="T71" fmla="*/ 156369 h 1478"/>
                <a:gd name="T72" fmla="*/ 288131 w 2338"/>
                <a:gd name="T73" fmla="*/ 182563 h 1478"/>
                <a:gd name="T74" fmla="*/ 319088 w 2338"/>
                <a:gd name="T75" fmla="*/ 211138 h 1478"/>
                <a:gd name="T76" fmla="*/ 339725 w 2338"/>
                <a:gd name="T77" fmla="*/ 192088 h 1478"/>
                <a:gd name="T78" fmla="*/ 339725 w 2338"/>
                <a:gd name="T79" fmla="*/ 153988 h 1478"/>
                <a:gd name="T80" fmla="*/ 339725 w 2338"/>
                <a:gd name="T81" fmla="*/ 138113 h 1478"/>
                <a:gd name="T82" fmla="*/ 343694 w 2338"/>
                <a:gd name="T83" fmla="*/ 119063 h 1478"/>
                <a:gd name="T84" fmla="*/ 374650 w 2338"/>
                <a:gd name="T85" fmla="*/ 131763 h 1478"/>
                <a:gd name="T86" fmla="*/ 398463 w 2338"/>
                <a:gd name="T87" fmla="*/ 163513 h 1478"/>
                <a:gd name="T88" fmla="*/ 408781 w 2338"/>
                <a:gd name="T89" fmla="*/ 146844 h 1478"/>
                <a:gd name="T90" fmla="*/ 430213 w 2338"/>
                <a:gd name="T91" fmla="*/ 182563 h 1478"/>
                <a:gd name="T92" fmla="*/ 446881 w 2338"/>
                <a:gd name="T93" fmla="*/ 192088 h 1478"/>
                <a:gd name="T94" fmla="*/ 454025 w 2338"/>
                <a:gd name="T95" fmla="*/ 204788 h 1478"/>
                <a:gd name="T96" fmla="*/ 464344 w 2338"/>
                <a:gd name="T97" fmla="*/ 217488 h 1478"/>
                <a:gd name="T98" fmla="*/ 430213 w 2338"/>
                <a:gd name="T99" fmla="*/ 233363 h 1478"/>
                <a:gd name="T100" fmla="*/ 395288 w 2338"/>
                <a:gd name="T101" fmla="*/ 239713 h 1478"/>
                <a:gd name="T102" fmla="*/ 392113 w 2338"/>
                <a:gd name="T103" fmla="*/ 246063 h 1478"/>
                <a:gd name="T104" fmla="*/ 416719 w 2338"/>
                <a:gd name="T105" fmla="*/ 246063 h 1478"/>
                <a:gd name="T106" fmla="*/ 412750 w 2338"/>
                <a:gd name="T107" fmla="*/ 249238 h 1478"/>
                <a:gd name="T108" fmla="*/ 430213 w 2338"/>
                <a:gd name="T109" fmla="*/ 265113 h 1478"/>
                <a:gd name="T110" fmla="*/ 440531 w 2338"/>
                <a:gd name="T111" fmla="*/ 261938 h 1478"/>
                <a:gd name="T112" fmla="*/ 408781 w 2338"/>
                <a:gd name="T113" fmla="*/ 280988 h 1478"/>
                <a:gd name="T114" fmla="*/ 412750 w 2338"/>
                <a:gd name="T115" fmla="*/ 265113 h 1478"/>
                <a:gd name="T116" fmla="*/ 395288 w 2338"/>
                <a:gd name="T117" fmla="*/ 255588 h 1478"/>
                <a:gd name="T118" fmla="*/ 381794 w 2338"/>
                <a:gd name="T119" fmla="*/ 268288 h 1478"/>
                <a:gd name="T120" fmla="*/ 346869 w 2338"/>
                <a:gd name="T121" fmla="*/ 277813 h 147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338"/>
                <a:gd name="T184" fmla="*/ 0 h 1478"/>
                <a:gd name="T185" fmla="*/ 2338 w 2338"/>
                <a:gd name="T186" fmla="*/ 1478 h 147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338" h="1478">
                  <a:moveTo>
                    <a:pt x="1682" y="1415"/>
                  </a:moveTo>
                  <a:lnTo>
                    <a:pt x="1682" y="1415"/>
                  </a:lnTo>
                  <a:lnTo>
                    <a:pt x="1697" y="1415"/>
                  </a:lnTo>
                  <a:lnTo>
                    <a:pt x="1697" y="1430"/>
                  </a:lnTo>
                  <a:lnTo>
                    <a:pt x="1628" y="1447"/>
                  </a:lnTo>
                  <a:lnTo>
                    <a:pt x="1611" y="1463"/>
                  </a:lnTo>
                  <a:lnTo>
                    <a:pt x="1576" y="1478"/>
                  </a:lnTo>
                  <a:lnTo>
                    <a:pt x="1611" y="1430"/>
                  </a:lnTo>
                  <a:lnTo>
                    <a:pt x="1594" y="1430"/>
                  </a:lnTo>
                  <a:lnTo>
                    <a:pt x="1628" y="1415"/>
                  </a:lnTo>
                  <a:lnTo>
                    <a:pt x="1628" y="1351"/>
                  </a:lnTo>
                  <a:lnTo>
                    <a:pt x="1663" y="1382"/>
                  </a:lnTo>
                  <a:lnTo>
                    <a:pt x="1682" y="1367"/>
                  </a:lnTo>
                  <a:lnTo>
                    <a:pt x="1645" y="1334"/>
                  </a:lnTo>
                  <a:lnTo>
                    <a:pt x="1559" y="1319"/>
                  </a:lnTo>
                  <a:lnTo>
                    <a:pt x="1542" y="1303"/>
                  </a:lnTo>
                  <a:lnTo>
                    <a:pt x="1525" y="1255"/>
                  </a:lnTo>
                  <a:lnTo>
                    <a:pt x="1507" y="1255"/>
                  </a:lnTo>
                  <a:lnTo>
                    <a:pt x="1490" y="1223"/>
                  </a:lnTo>
                  <a:lnTo>
                    <a:pt x="1455" y="1207"/>
                  </a:lnTo>
                  <a:lnTo>
                    <a:pt x="1404" y="1255"/>
                  </a:lnTo>
                  <a:lnTo>
                    <a:pt x="1352" y="1255"/>
                  </a:lnTo>
                  <a:lnTo>
                    <a:pt x="1317" y="1223"/>
                  </a:lnTo>
                  <a:lnTo>
                    <a:pt x="1281" y="1223"/>
                  </a:lnTo>
                  <a:lnTo>
                    <a:pt x="1265" y="1190"/>
                  </a:lnTo>
                  <a:lnTo>
                    <a:pt x="1248" y="1207"/>
                  </a:lnTo>
                  <a:lnTo>
                    <a:pt x="501" y="1207"/>
                  </a:lnTo>
                  <a:lnTo>
                    <a:pt x="486" y="1207"/>
                  </a:lnTo>
                  <a:lnTo>
                    <a:pt x="486" y="1190"/>
                  </a:lnTo>
                  <a:lnTo>
                    <a:pt x="467" y="1190"/>
                  </a:lnTo>
                  <a:lnTo>
                    <a:pt x="415" y="1159"/>
                  </a:lnTo>
                  <a:lnTo>
                    <a:pt x="363" y="1127"/>
                  </a:lnTo>
                  <a:lnTo>
                    <a:pt x="346" y="1079"/>
                  </a:lnTo>
                  <a:lnTo>
                    <a:pt x="328" y="1063"/>
                  </a:lnTo>
                  <a:lnTo>
                    <a:pt x="277" y="1015"/>
                  </a:lnTo>
                  <a:lnTo>
                    <a:pt x="294" y="998"/>
                  </a:lnTo>
                  <a:lnTo>
                    <a:pt x="294" y="968"/>
                  </a:lnTo>
                  <a:lnTo>
                    <a:pt x="294" y="920"/>
                  </a:lnTo>
                  <a:lnTo>
                    <a:pt x="242" y="887"/>
                  </a:lnTo>
                  <a:lnTo>
                    <a:pt x="188" y="791"/>
                  </a:lnTo>
                  <a:lnTo>
                    <a:pt x="173" y="791"/>
                  </a:lnTo>
                  <a:lnTo>
                    <a:pt x="156" y="743"/>
                  </a:lnTo>
                  <a:lnTo>
                    <a:pt x="121" y="758"/>
                  </a:lnTo>
                  <a:lnTo>
                    <a:pt x="104" y="776"/>
                  </a:lnTo>
                  <a:lnTo>
                    <a:pt x="52" y="728"/>
                  </a:lnTo>
                  <a:lnTo>
                    <a:pt x="52" y="710"/>
                  </a:lnTo>
                  <a:lnTo>
                    <a:pt x="0" y="728"/>
                  </a:lnTo>
                  <a:lnTo>
                    <a:pt x="0" y="710"/>
                  </a:lnTo>
                  <a:lnTo>
                    <a:pt x="0" y="152"/>
                  </a:lnTo>
                  <a:lnTo>
                    <a:pt x="33" y="152"/>
                  </a:lnTo>
                  <a:lnTo>
                    <a:pt x="137" y="215"/>
                  </a:lnTo>
                  <a:lnTo>
                    <a:pt x="137" y="183"/>
                  </a:lnTo>
                  <a:lnTo>
                    <a:pt x="156" y="167"/>
                  </a:lnTo>
                  <a:lnTo>
                    <a:pt x="188" y="152"/>
                  </a:lnTo>
                  <a:lnTo>
                    <a:pt x="208" y="167"/>
                  </a:lnTo>
                  <a:lnTo>
                    <a:pt x="311" y="104"/>
                  </a:lnTo>
                  <a:lnTo>
                    <a:pt x="311" y="135"/>
                  </a:lnTo>
                  <a:lnTo>
                    <a:pt x="346" y="135"/>
                  </a:lnTo>
                  <a:lnTo>
                    <a:pt x="363" y="87"/>
                  </a:lnTo>
                  <a:lnTo>
                    <a:pt x="398" y="119"/>
                  </a:lnTo>
                  <a:lnTo>
                    <a:pt x="398" y="152"/>
                  </a:lnTo>
                  <a:lnTo>
                    <a:pt x="434" y="167"/>
                  </a:lnTo>
                  <a:lnTo>
                    <a:pt x="449" y="135"/>
                  </a:lnTo>
                  <a:lnTo>
                    <a:pt x="449" y="167"/>
                  </a:lnTo>
                  <a:lnTo>
                    <a:pt x="486" y="167"/>
                  </a:lnTo>
                  <a:lnTo>
                    <a:pt x="486" y="135"/>
                  </a:lnTo>
                  <a:lnTo>
                    <a:pt x="538" y="135"/>
                  </a:lnTo>
                  <a:lnTo>
                    <a:pt x="570" y="167"/>
                  </a:lnTo>
                  <a:lnTo>
                    <a:pt x="605" y="183"/>
                  </a:lnTo>
                  <a:lnTo>
                    <a:pt x="641" y="200"/>
                  </a:lnTo>
                  <a:lnTo>
                    <a:pt x="676" y="200"/>
                  </a:lnTo>
                  <a:lnTo>
                    <a:pt x="728" y="215"/>
                  </a:lnTo>
                  <a:lnTo>
                    <a:pt x="728" y="248"/>
                  </a:lnTo>
                  <a:lnTo>
                    <a:pt x="709" y="263"/>
                  </a:lnTo>
                  <a:lnTo>
                    <a:pt x="709" y="279"/>
                  </a:lnTo>
                  <a:lnTo>
                    <a:pt x="760" y="296"/>
                  </a:lnTo>
                  <a:lnTo>
                    <a:pt x="849" y="263"/>
                  </a:lnTo>
                  <a:lnTo>
                    <a:pt x="901" y="296"/>
                  </a:lnTo>
                  <a:lnTo>
                    <a:pt x="901" y="263"/>
                  </a:lnTo>
                  <a:lnTo>
                    <a:pt x="883" y="248"/>
                  </a:lnTo>
                  <a:lnTo>
                    <a:pt x="901" y="231"/>
                  </a:lnTo>
                  <a:lnTo>
                    <a:pt x="970" y="200"/>
                  </a:lnTo>
                  <a:lnTo>
                    <a:pt x="987" y="248"/>
                  </a:lnTo>
                  <a:lnTo>
                    <a:pt x="1073" y="279"/>
                  </a:lnTo>
                  <a:lnTo>
                    <a:pt x="1125" y="296"/>
                  </a:lnTo>
                  <a:lnTo>
                    <a:pt x="1162" y="296"/>
                  </a:lnTo>
                  <a:lnTo>
                    <a:pt x="1162" y="248"/>
                  </a:lnTo>
                  <a:lnTo>
                    <a:pt x="1177" y="231"/>
                  </a:lnTo>
                  <a:lnTo>
                    <a:pt x="1125" y="200"/>
                  </a:lnTo>
                  <a:lnTo>
                    <a:pt x="1162" y="183"/>
                  </a:lnTo>
                  <a:lnTo>
                    <a:pt x="1177" y="135"/>
                  </a:lnTo>
                  <a:lnTo>
                    <a:pt x="1214" y="183"/>
                  </a:lnTo>
                  <a:lnTo>
                    <a:pt x="1248" y="215"/>
                  </a:lnTo>
                  <a:lnTo>
                    <a:pt x="1214" y="248"/>
                  </a:lnTo>
                  <a:lnTo>
                    <a:pt x="1214" y="279"/>
                  </a:lnTo>
                  <a:lnTo>
                    <a:pt x="1229" y="296"/>
                  </a:lnTo>
                  <a:lnTo>
                    <a:pt x="1248" y="263"/>
                  </a:lnTo>
                  <a:lnTo>
                    <a:pt x="1281" y="231"/>
                  </a:lnTo>
                  <a:lnTo>
                    <a:pt x="1265" y="200"/>
                  </a:lnTo>
                  <a:lnTo>
                    <a:pt x="1281" y="167"/>
                  </a:lnTo>
                  <a:lnTo>
                    <a:pt x="1248" y="135"/>
                  </a:lnTo>
                  <a:lnTo>
                    <a:pt x="1214" y="104"/>
                  </a:lnTo>
                  <a:lnTo>
                    <a:pt x="1229" y="8"/>
                  </a:lnTo>
                  <a:lnTo>
                    <a:pt x="1283" y="0"/>
                  </a:lnTo>
                  <a:lnTo>
                    <a:pt x="1352" y="119"/>
                  </a:lnTo>
                  <a:lnTo>
                    <a:pt x="1333" y="152"/>
                  </a:lnTo>
                  <a:lnTo>
                    <a:pt x="1352" y="167"/>
                  </a:lnTo>
                  <a:lnTo>
                    <a:pt x="1404" y="231"/>
                  </a:lnTo>
                  <a:lnTo>
                    <a:pt x="1421" y="183"/>
                  </a:lnTo>
                  <a:lnTo>
                    <a:pt x="1455" y="215"/>
                  </a:lnTo>
                  <a:lnTo>
                    <a:pt x="1436" y="279"/>
                  </a:lnTo>
                  <a:lnTo>
                    <a:pt x="1473" y="311"/>
                  </a:lnTo>
                  <a:lnTo>
                    <a:pt x="1490" y="311"/>
                  </a:lnTo>
                  <a:lnTo>
                    <a:pt x="1490" y="279"/>
                  </a:lnTo>
                  <a:lnTo>
                    <a:pt x="1525" y="263"/>
                  </a:lnTo>
                  <a:lnTo>
                    <a:pt x="1525" y="135"/>
                  </a:lnTo>
                  <a:lnTo>
                    <a:pt x="1559" y="135"/>
                  </a:lnTo>
                  <a:lnTo>
                    <a:pt x="1594" y="152"/>
                  </a:lnTo>
                  <a:lnTo>
                    <a:pt x="1594" y="183"/>
                  </a:lnTo>
                  <a:lnTo>
                    <a:pt x="1628" y="183"/>
                  </a:lnTo>
                  <a:lnTo>
                    <a:pt x="1628" y="231"/>
                  </a:lnTo>
                  <a:lnTo>
                    <a:pt x="1594" y="248"/>
                  </a:lnTo>
                  <a:lnTo>
                    <a:pt x="1594" y="279"/>
                  </a:lnTo>
                  <a:lnTo>
                    <a:pt x="1628" y="296"/>
                  </a:lnTo>
                  <a:lnTo>
                    <a:pt x="1628" y="327"/>
                  </a:lnTo>
                  <a:lnTo>
                    <a:pt x="1559" y="392"/>
                  </a:lnTo>
                  <a:lnTo>
                    <a:pt x="1525" y="375"/>
                  </a:lnTo>
                  <a:lnTo>
                    <a:pt x="1525" y="359"/>
                  </a:lnTo>
                  <a:lnTo>
                    <a:pt x="1490" y="359"/>
                  </a:lnTo>
                  <a:lnTo>
                    <a:pt x="1507" y="392"/>
                  </a:lnTo>
                  <a:lnTo>
                    <a:pt x="1473" y="423"/>
                  </a:lnTo>
                  <a:lnTo>
                    <a:pt x="1473" y="455"/>
                  </a:lnTo>
                  <a:lnTo>
                    <a:pt x="1436" y="518"/>
                  </a:lnTo>
                  <a:lnTo>
                    <a:pt x="1404" y="518"/>
                  </a:lnTo>
                  <a:lnTo>
                    <a:pt x="1369" y="551"/>
                  </a:lnTo>
                  <a:lnTo>
                    <a:pt x="1384" y="584"/>
                  </a:lnTo>
                  <a:lnTo>
                    <a:pt x="1333" y="599"/>
                  </a:lnTo>
                  <a:lnTo>
                    <a:pt x="1333" y="632"/>
                  </a:lnTo>
                  <a:lnTo>
                    <a:pt x="1317" y="632"/>
                  </a:lnTo>
                  <a:lnTo>
                    <a:pt x="1300" y="647"/>
                  </a:lnTo>
                  <a:lnTo>
                    <a:pt x="1265" y="728"/>
                  </a:lnTo>
                  <a:lnTo>
                    <a:pt x="1265" y="776"/>
                  </a:lnTo>
                  <a:lnTo>
                    <a:pt x="1281" y="791"/>
                  </a:lnTo>
                  <a:lnTo>
                    <a:pt x="1317" y="791"/>
                  </a:lnTo>
                  <a:lnTo>
                    <a:pt x="1333" y="887"/>
                  </a:lnTo>
                  <a:lnTo>
                    <a:pt x="1369" y="872"/>
                  </a:lnTo>
                  <a:lnTo>
                    <a:pt x="1421" y="887"/>
                  </a:lnTo>
                  <a:lnTo>
                    <a:pt x="1455" y="920"/>
                  </a:lnTo>
                  <a:lnTo>
                    <a:pt x="1525" y="950"/>
                  </a:lnTo>
                  <a:lnTo>
                    <a:pt x="1594" y="950"/>
                  </a:lnTo>
                  <a:lnTo>
                    <a:pt x="1611" y="968"/>
                  </a:lnTo>
                  <a:lnTo>
                    <a:pt x="1611" y="1063"/>
                  </a:lnTo>
                  <a:lnTo>
                    <a:pt x="1682" y="1127"/>
                  </a:lnTo>
                  <a:lnTo>
                    <a:pt x="1715" y="1094"/>
                  </a:lnTo>
                  <a:lnTo>
                    <a:pt x="1682" y="983"/>
                  </a:lnTo>
                  <a:lnTo>
                    <a:pt x="1715" y="968"/>
                  </a:lnTo>
                  <a:lnTo>
                    <a:pt x="1749" y="920"/>
                  </a:lnTo>
                  <a:lnTo>
                    <a:pt x="1734" y="824"/>
                  </a:lnTo>
                  <a:lnTo>
                    <a:pt x="1697" y="791"/>
                  </a:lnTo>
                  <a:lnTo>
                    <a:pt x="1715" y="776"/>
                  </a:lnTo>
                  <a:lnTo>
                    <a:pt x="1734" y="776"/>
                  </a:lnTo>
                  <a:lnTo>
                    <a:pt x="1734" y="758"/>
                  </a:lnTo>
                  <a:lnTo>
                    <a:pt x="1734" y="710"/>
                  </a:lnTo>
                  <a:lnTo>
                    <a:pt x="1715" y="695"/>
                  </a:lnTo>
                  <a:lnTo>
                    <a:pt x="1734" y="647"/>
                  </a:lnTo>
                  <a:lnTo>
                    <a:pt x="1715" y="632"/>
                  </a:lnTo>
                  <a:lnTo>
                    <a:pt x="1715" y="614"/>
                  </a:lnTo>
                  <a:lnTo>
                    <a:pt x="1734" y="599"/>
                  </a:lnTo>
                  <a:lnTo>
                    <a:pt x="1786" y="614"/>
                  </a:lnTo>
                  <a:lnTo>
                    <a:pt x="1837" y="599"/>
                  </a:lnTo>
                  <a:lnTo>
                    <a:pt x="1905" y="647"/>
                  </a:lnTo>
                  <a:lnTo>
                    <a:pt x="1889" y="662"/>
                  </a:lnTo>
                  <a:lnTo>
                    <a:pt x="1905" y="680"/>
                  </a:lnTo>
                  <a:lnTo>
                    <a:pt x="1956" y="680"/>
                  </a:lnTo>
                  <a:lnTo>
                    <a:pt x="1956" y="776"/>
                  </a:lnTo>
                  <a:lnTo>
                    <a:pt x="2008" y="824"/>
                  </a:lnTo>
                  <a:lnTo>
                    <a:pt x="2027" y="806"/>
                  </a:lnTo>
                  <a:lnTo>
                    <a:pt x="2060" y="776"/>
                  </a:lnTo>
                  <a:lnTo>
                    <a:pt x="2079" y="758"/>
                  </a:lnTo>
                  <a:lnTo>
                    <a:pt x="2060" y="743"/>
                  </a:lnTo>
                  <a:lnTo>
                    <a:pt x="2079" y="710"/>
                  </a:lnTo>
                  <a:lnTo>
                    <a:pt x="2183" y="872"/>
                  </a:lnTo>
                  <a:lnTo>
                    <a:pt x="2166" y="887"/>
                  </a:lnTo>
                  <a:lnTo>
                    <a:pt x="2166" y="920"/>
                  </a:lnTo>
                  <a:lnTo>
                    <a:pt x="2200" y="935"/>
                  </a:lnTo>
                  <a:lnTo>
                    <a:pt x="2200" y="950"/>
                  </a:lnTo>
                  <a:lnTo>
                    <a:pt x="2235" y="968"/>
                  </a:lnTo>
                  <a:lnTo>
                    <a:pt x="2252" y="968"/>
                  </a:lnTo>
                  <a:lnTo>
                    <a:pt x="2287" y="983"/>
                  </a:lnTo>
                  <a:lnTo>
                    <a:pt x="2252" y="998"/>
                  </a:lnTo>
                  <a:lnTo>
                    <a:pt x="2287" y="998"/>
                  </a:lnTo>
                  <a:lnTo>
                    <a:pt x="2287" y="1031"/>
                  </a:lnTo>
                  <a:lnTo>
                    <a:pt x="2306" y="1031"/>
                  </a:lnTo>
                  <a:lnTo>
                    <a:pt x="2321" y="1046"/>
                  </a:lnTo>
                  <a:lnTo>
                    <a:pt x="2321" y="1063"/>
                  </a:lnTo>
                  <a:lnTo>
                    <a:pt x="2338" y="1094"/>
                  </a:lnTo>
                  <a:lnTo>
                    <a:pt x="2306" y="1111"/>
                  </a:lnTo>
                  <a:lnTo>
                    <a:pt x="2252" y="1127"/>
                  </a:lnTo>
                  <a:lnTo>
                    <a:pt x="2218" y="1175"/>
                  </a:lnTo>
                  <a:lnTo>
                    <a:pt x="2166" y="1175"/>
                  </a:lnTo>
                  <a:lnTo>
                    <a:pt x="2114" y="1159"/>
                  </a:lnTo>
                  <a:lnTo>
                    <a:pt x="2027" y="1175"/>
                  </a:lnTo>
                  <a:lnTo>
                    <a:pt x="2008" y="1207"/>
                  </a:lnTo>
                  <a:lnTo>
                    <a:pt x="1993" y="1207"/>
                  </a:lnTo>
                  <a:lnTo>
                    <a:pt x="1956" y="1223"/>
                  </a:lnTo>
                  <a:lnTo>
                    <a:pt x="1905" y="1286"/>
                  </a:lnTo>
                  <a:lnTo>
                    <a:pt x="1924" y="1286"/>
                  </a:lnTo>
                  <a:lnTo>
                    <a:pt x="1976" y="1238"/>
                  </a:lnTo>
                  <a:lnTo>
                    <a:pt x="2027" y="1207"/>
                  </a:lnTo>
                  <a:lnTo>
                    <a:pt x="2079" y="1207"/>
                  </a:lnTo>
                  <a:lnTo>
                    <a:pt x="2097" y="1207"/>
                  </a:lnTo>
                  <a:lnTo>
                    <a:pt x="2097" y="1238"/>
                  </a:lnTo>
                  <a:lnTo>
                    <a:pt x="2060" y="1255"/>
                  </a:lnTo>
                  <a:lnTo>
                    <a:pt x="2045" y="1255"/>
                  </a:lnTo>
                  <a:lnTo>
                    <a:pt x="2060" y="1271"/>
                  </a:lnTo>
                  <a:lnTo>
                    <a:pt x="2079" y="1255"/>
                  </a:lnTo>
                  <a:lnTo>
                    <a:pt x="2079" y="1303"/>
                  </a:lnTo>
                  <a:lnTo>
                    <a:pt x="2097" y="1319"/>
                  </a:lnTo>
                  <a:lnTo>
                    <a:pt x="2131" y="1334"/>
                  </a:lnTo>
                  <a:lnTo>
                    <a:pt x="2166" y="1334"/>
                  </a:lnTo>
                  <a:lnTo>
                    <a:pt x="2166" y="1319"/>
                  </a:lnTo>
                  <a:lnTo>
                    <a:pt x="2200" y="1286"/>
                  </a:lnTo>
                  <a:lnTo>
                    <a:pt x="2200" y="1319"/>
                  </a:lnTo>
                  <a:lnTo>
                    <a:pt x="2218" y="1319"/>
                  </a:lnTo>
                  <a:lnTo>
                    <a:pt x="2183" y="1334"/>
                  </a:lnTo>
                  <a:lnTo>
                    <a:pt x="2183" y="1351"/>
                  </a:lnTo>
                  <a:lnTo>
                    <a:pt x="2097" y="1382"/>
                  </a:lnTo>
                  <a:lnTo>
                    <a:pt x="2060" y="1415"/>
                  </a:lnTo>
                  <a:lnTo>
                    <a:pt x="2045" y="1382"/>
                  </a:lnTo>
                  <a:lnTo>
                    <a:pt x="2097" y="1351"/>
                  </a:lnTo>
                  <a:lnTo>
                    <a:pt x="2079" y="1351"/>
                  </a:lnTo>
                  <a:lnTo>
                    <a:pt x="2079" y="1334"/>
                  </a:lnTo>
                  <a:lnTo>
                    <a:pt x="2045" y="1351"/>
                  </a:lnTo>
                  <a:lnTo>
                    <a:pt x="2027" y="1351"/>
                  </a:lnTo>
                  <a:lnTo>
                    <a:pt x="2008" y="1334"/>
                  </a:lnTo>
                  <a:lnTo>
                    <a:pt x="1993" y="1286"/>
                  </a:lnTo>
                  <a:lnTo>
                    <a:pt x="1993" y="1271"/>
                  </a:lnTo>
                  <a:lnTo>
                    <a:pt x="1976" y="1286"/>
                  </a:lnTo>
                  <a:lnTo>
                    <a:pt x="1956" y="1271"/>
                  </a:lnTo>
                  <a:lnTo>
                    <a:pt x="1924" y="1351"/>
                  </a:lnTo>
                  <a:lnTo>
                    <a:pt x="1889" y="1367"/>
                  </a:lnTo>
                  <a:lnTo>
                    <a:pt x="1801" y="1367"/>
                  </a:lnTo>
                  <a:lnTo>
                    <a:pt x="1766" y="1382"/>
                  </a:lnTo>
                  <a:lnTo>
                    <a:pt x="1749" y="1399"/>
                  </a:lnTo>
                  <a:lnTo>
                    <a:pt x="1682" y="14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6" name="Freeform 45">
              <a:extLst>
                <a:ext uri="{FF2B5EF4-FFF2-40B4-BE49-F238E27FC236}">
                  <a16:creationId xmlns:a16="http://schemas.microsoft.com/office/drawing/2014/main" id="{CAB02766-A41E-4BB5-945D-1381F5A222F9}"/>
                </a:ext>
              </a:extLst>
            </p:cNvPr>
            <p:cNvSpPr>
              <a:spLocks/>
            </p:cNvSpPr>
            <p:nvPr>
              <p:custDataLst>
                <p:tags r:id="rId46"/>
              </p:custDataLst>
            </p:nvPr>
          </p:nvSpPr>
          <p:spPr bwMode="auto">
            <a:xfrm>
              <a:off x="5567236" y="4090378"/>
              <a:ext cx="91481" cy="56296"/>
            </a:xfrm>
            <a:custGeom>
              <a:avLst/>
              <a:gdLst>
                <a:gd name="T0" fmla="*/ 0 w 104"/>
                <a:gd name="T1" fmla="*/ 9676 h 63"/>
                <a:gd name="T2" fmla="*/ 0 w 104"/>
                <a:gd name="T3" fmla="*/ 9676 h 63"/>
                <a:gd name="T4" fmla="*/ 0 w 104"/>
                <a:gd name="T5" fmla="*/ 0 h 63"/>
                <a:gd name="T6" fmla="*/ 10319 w 104"/>
                <a:gd name="T7" fmla="*/ 0 h 63"/>
                <a:gd name="T8" fmla="*/ 10319 w 104"/>
                <a:gd name="T9" fmla="*/ 3225 h 63"/>
                <a:gd name="T10" fmla="*/ 14288 w 104"/>
                <a:gd name="T11" fmla="*/ 3225 h 63"/>
                <a:gd name="T12" fmla="*/ 20638 w 104"/>
                <a:gd name="T13" fmla="*/ 6451 h 63"/>
                <a:gd name="T14" fmla="*/ 17463 w 104"/>
                <a:gd name="T15" fmla="*/ 9676 h 63"/>
                <a:gd name="T16" fmla="*/ 17463 w 104"/>
                <a:gd name="T17" fmla="*/ 6451 h 63"/>
                <a:gd name="T18" fmla="*/ 7144 w 104"/>
                <a:gd name="T19" fmla="*/ 9676 h 63"/>
                <a:gd name="T20" fmla="*/ 7144 w 104"/>
                <a:gd name="T21" fmla="*/ 6451 h 63"/>
                <a:gd name="T22" fmla="*/ 3969 w 104"/>
                <a:gd name="T23" fmla="*/ 9676 h 63"/>
                <a:gd name="T24" fmla="*/ 3969 w 104"/>
                <a:gd name="T25" fmla="*/ 12902 h 63"/>
                <a:gd name="T26" fmla="*/ 0 w 104"/>
                <a:gd name="T27" fmla="*/ 9676 h 6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4"/>
                <a:gd name="T43" fmla="*/ 0 h 63"/>
                <a:gd name="T44" fmla="*/ 104 w 104"/>
                <a:gd name="T45" fmla="*/ 63 h 6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4" h="63">
                  <a:moveTo>
                    <a:pt x="0" y="48"/>
                  </a:moveTo>
                  <a:lnTo>
                    <a:pt x="0" y="48"/>
                  </a:lnTo>
                  <a:lnTo>
                    <a:pt x="0" y="0"/>
                  </a:lnTo>
                  <a:lnTo>
                    <a:pt x="52" y="0"/>
                  </a:lnTo>
                  <a:lnTo>
                    <a:pt x="52" y="15"/>
                  </a:lnTo>
                  <a:lnTo>
                    <a:pt x="69" y="15"/>
                  </a:lnTo>
                  <a:lnTo>
                    <a:pt x="104" y="31"/>
                  </a:lnTo>
                  <a:lnTo>
                    <a:pt x="87" y="48"/>
                  </a:lnTo>
                  <a:lnTo>
                    <a:pt x="87" y="31"/>
                  </a:lnTo>
                  <a:lnTo>
                    <a:pt x="35" y="48"/>
                  </a:lnTo>
                  <a:lnTo>
                    <a:pt x="35" y="31"/>
                  </a:lnTo>
                  <a:lnTo>
                    <a:pt x="18" y="48"/>
                  </a:lnTo>
                  <a:lnTo>
                    <a:pt x="18" y="63"/>
                  </a:lnTo>
                  <a:lnTo>
                    <a:pt x="0"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7" name="Freeform 46">
              <a:extLst>
                <a:ext uri="{FF2B5EF4-FFF2-40B4-BE49-F238E27FC236}">
                  <a16:creationId xmlns:a16="http://schemas.microsoft.com/office/drawing/2014/main" id="{47A14417-7E86-4061-BFA0-A89B17EEC7F3}"/>
                </a:ext>
              </a:extLst>
            </p:cNvPr>
            <p:cNvSpPr>
              <a:spLocks/>
            </p:cNvSpPr>
            <p:nvPr>
              <p:custDataLst>
                <p:tags r:id="rId47"/>
              </p:custDataLst>
            </p:nvPr>
          </p:nvSpPr>
          <p:spPr bwMode="auto">
            <a:xfrm>
              <a:off x="5505662" y="4090378"/>
              <a:ext cx="61574" cy="42222"/>
            </a:xfrm>
            <a:custGeom>
              <a:avLst/>
              <a:gdLst>
                <a:gd name="T0" fmla="*/ 14495 w 69"/>
                <a:gd name="T1" fmla="*/ 9525 h 48"/>
                <a:gd name="T2" fmla="*/ 14495 w 69"/>
                <a:gd name="T3" fmla="*/ 9525 h 48"/>
                <a:gd name="T4" fmla="*/ 14495 w 69"/>
                <a:gd name="T5" fmla="*/ 0 h 48"/>
                <a:gd name="T6" fmla="*/ 7247 w 69"/>
                <a:gd name="T7" fmla="*/ 0 h 48"/>
                <a:gd name="T8" fmla="*/ 10468 w 69"/>
                <a:gd name="T9" fmla="*/ 5556 h 48"/>
                <a:gd name="T10" fmla="*/ 0 w 69"/>
                <a:gd name="T11" fmla="*/ 9525 h 48"/>
                <a:gd name="T12" fmla="*/ 4026 w 69"/>
                <a:gd name="T13" fmla="*/ 9525 h 48"/>
                <a:gd name="T14" fmla="*/ 14495 w 69"/>
                <a:gd name="T15" fmla="*/ 9525 h 48"/>
                <a:gd name="T16" fmla="*/ 0 60000 65536"/>
                <a:gd name="T17" fmla="*/ 0 60000 65536"/>
                <a:gd name="T18" fmla="*/ 0 60000 65536"/>
                <a:gd name="T19" fmla="*/ 0 60000 65536"/>
                <a:gd name="T20" fmla="*/ 0 60000 65536"/>
                <a:gd name="T21" fmla="*/ 0 60000 65536"/>
                <a:gd name="T22" fmla="*/ 0 60000 65536"/>
                <a:gd name="T23" fmla="*/ 0 60000 65536"/>
                <a:gd name="T24" fmla="*/ 0 w 69"/>
                <a:gd name="T25" fmla="*/ 0 h 48"/>
                <a:gd name="T26" fmla="*/ 69 w 69"/>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 h="48">
                  <a:moveTo>
                    <a:pt x="69" y="48"/>
                  </a:moveTo>
                  <a:lnTo>
                    <a:pt x="69" y="48"/>
                  </a:lnTo>
                  <a:lnTo>
                    <a:pt x="69" y="0"/>
                  </a:lnTo>
                  <a:lnTo>
                    <a:pt x="35" y="0"/>
                  </a:lnTo>
                  <a:lnTo>
                    <a:pt x="52" y="31"/>
                  </a:lnTo>
                  <a:lnTo>
                    <a:pt x="0" y="48"/>
                  </a:lnTo>
                  <a:lnTo>
                    <a:pt x="18" y="48"/>
                  </a:lnTo>
                  <a:lnTo>
                    <a:pt x="69"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8" name="Freeform 47">
              <a:extLst>
                <a:ext uri="{FF2B5EF4-FFF2-40B4-BE49-F238E27FC236}">
                  <a16:creationId xmlns:a16="http://schemas.microsoft.com/office/drawing/2014/main" id="{4855965B-051E-4EFB-BFF5-0F1AB6CBFF8C}"/>
                </a:ext>
              </a:extLst>
            </p:cNvPr>
            <p:cNvSpPr>
              <a:spLocks/>
            </p:cNvSpPr>
            <p:nvPr>
              <p:custDataLst>
                <p:tags r:id="rId48"/>
              </p:custDataLst>
            </p:nvPr>
          </p:nvSpPr>
          <p:spPr bwMode="auto">
            <a:xfrm>
              <a:off x="5811772" y="4301488"/>
              <a:ext cx="14074" cy="14074"/>
            </a:xfrm>
            <a:custGeom>
              <a:avLst/>
              <a:gdLst>
                <a:gd name="T0" fmla="*/ 0 w 17"/>
                <a:gd name="T1" fmla="*/ 3387 h 15"/>
                <a:gd name="T2" fmla="*/ 0 w 17"/>
                <a:gd name="T3" fmla="*/ 3387 h 15"/>
                <a:gd name="T4" fmla="*/ 2988 w 17"/>
                <a:gd name="T5" fmla="*/ 3387 h 15"/>
                <a:gd name="T6" fmla="*/ 2988 w 17"/>
                <a:gd name="T7" fmla="*/ 0 h 15"/>
                <a:gd name="T8" fmla="*/ 0 w 17"/>
                <a:gd name="T9" fmla="*/ 0 h 15"/>
                <a:gd name="T10" fmla="*/ 0 w 17"/>
                <a:gd name="T11" fmla="*/ 3387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15"/>
                  </a:moveTo>
                  <a:lnTo>
                    <a:pt x="0" y="15"/>
                  </a:lnTo>
                  <a:lnTo>
                    <a:pt x="17" y="15"/>
                  </a:lnTo>
                  <a:lnTo>
                    <a:pt x="17" y="0"/>
                  </a:lnTo>
                  <a:lnTo>
                    <a:pt x="0"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19" name="Freeform 48">
              <a:extLst>
                <a:ext uri="{FF2B5EF4-FFF2-40B4-BE49-F238E27FC236}">
                  <a16:creationId xmlns:a16="http://schemas.microsoft.com/office/drawing/2014/main" id="{67D1CEC8-53E0-41C8-900C-EC16D8BECF9C}"/>
                </a:ext>
              </a:extLst>
            </p:cNvPr>
            <p:cNvSpPr>
              <a:spLocks/>
            </p:cNvSpPr>
            <p:nvPr>
              <p:custDataLst>
                <p:tags r:id="rId49"/>
              </p:custDataLst>
            </p:nvPr>
          </p:nvSpPr>
          <p:spPr bwMode="auto">
            <a:xfrm>
              <a:off x="5414181" y="4118526"/>
              <a:ext cx="45741" cy="28148"/>
            </a:xfrm>
            <a:custGeom>
              <a:avLst/>
              <a:gdLst>
                <a:gd name="T0" fmla="*/ 0 w 51"/>
                <a:gd name="T1" fmla="*/ 3175 h 32"/>
                <a:gd name="T2" fmla="*/ 0 w 51"/>
                <a:gd name="T3" fmla="*/ 3175 h 32"/>
                <a:gd name="T4" fmla="*/ 7284 w 51"/>
                <a:gd name="T5" fmla="*/ 6350 h 32"/>
                <a:gd name="T6" fmla="*/ 10521 w 51"/>
                <a:gd name="T7" fmla="*/ 3175 h 32"/>
                <a:gd name="T8" fmla="*/ 4047 w 51"/>
                <a:gd name="T9" fmla="*/ 0 h 32"/>
                <a:gd name="T10" fmla="*/ 0 w 51"/>
                <a:gd name="T11" fmla="*/ 3175 h 32"/>
                <a:gd name="T12" fmla="*/ 0 60000 65536"/>
                <a:gd name="T13" fmla="*/ 0 60000 65536"/>
                <a:gd name="T14" fmla="*/ 0 60000 65536"/>
                <a:gd name="T15" fmla="*/ 0 60000 65536"/>
                <a:gd name="T16" fmla="*/ 0 60000 65536"/>
                <a:gd name="T17" fmla="*/ 0 60000 65536"/>
                <a:gd name="T18" fmla="*/ 0 w 51"/>
                <a:gd name="T19" fmla="*/ 0 h 32"/>
                <a:gd name="T20" fmla="*/ 51 w 51"/>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51" h="32">
                  <a:moveTo>
                    <a:pt x="0" y="17"/>
                  </a:moveTo>
                  <a:lnTo>
                    <a:pt x="0" y="17"/>
                  </a:lnTo>
                  <a:lnTo>
                    <a:pt x="34" y="32"/>
                  </a:lnTo>
                  <a:lnTo>
                    <a:pt x="51" y="17"/>
                  </a:lnTo>
                  <a:lnTo>
                    <a:pt x="17"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0" name="Freeform 49">
              <a:extLst>
                <a:ext uri="{FF2B5EF4-FFF2-40B4-BE49-F238E27FC236}">
                  <a16:creationId xmlns:a16="http://schemas.microsoft.com/office/drawing/2014/main" id="{11F5B434-1D98-4382-A276-9D3018B18B9D}"/>
                </a:ext>
              </a:extLst>
            </p:cNvPr>
            <p:cNvSpPr>
              <a:spLocks/>
            </p:cNvSpPr>
            <p:nvPr>
              <p:custDataLst>
                <p:tags r:id="rId50"/>
              </p:custDataLst>
            </p:nvPr>
          </p:nvSpPr>
          <p:spPr bwMode="auto">
            <a:xfrm>
              <a:off x="5262885" y="4005933"/>
              <a:ext cx="242777" cy="84444"/>
            </a:xfrm>
            <a:custGeom>
              <a:avLst/>
              <a:gdLst>
                <a:gd name="T0" fmla="*/ 0 w 276"/>
                <a:gd name="T1" fmla="*/ 9525 h 96"/>
                <a:gd name="T2" fmla="*/ 0 w 276"/>
                <a:gd name="T3" fmla="*/ 9525 h 96"/>
                <a:gd name="T4" fmla="*/ 3175 w 276"/>
                <a:gd name="T5" fmla="*/ 9525 h 96"/>
                <a:gd name="T6" fmla="*/ 10319 w 276"/>
                <a:gd name="T7" fmla="*/ 2381 h 96"/>
                <a:gd name="T8" fmla="*/ 16669 w 276"/>
                <a:gd name="T9" fmla="*/ 5556 h 96"/>
                <a:gd name="T10" fmla="*/ 13494 w 276"/>
                <a:gd name="T11" fmla="*/ 5556 h 96"/>
                <a:gd name="T12" fmla="*/ 16669 w 276"/>
                <a:gd name="T13" fmla="*/ 5556 h 96"/>
                <a:gd name="T14" fmla="*/ 30162 w 276"/>
                <a:gd name="T15" fmla="*/ 9525 h 96"/>
                <a:gd name="T16" fmla="*/ 34131 w 276"/>
                <a:gd name="T17" fmla="*/ 15875 h 96"/>
                <a:gd name="T18" fmla="*/ 40481 w 276"/>
                <a:gd name="T19" fmla="*/ 15875 h 96"/>
                <a:gd name="T20" fmla="*/ 37306 w 276"/>
                <a:gd name="T21" fmla="*/ 19050 h 96"/>
                <a:gd name="T22" fmla="*/ 54769 w 276"/>
                <a:gd name="T23" fmla="*/ 19050 h 96"/>
                <a:gd name="T24" fmla="*/ 51594 w 276"/>
                <a:gd name="T25" fmla="*/ 15875 h 96"/>
                <a:gd name="T26" fmla="*/ 47625 w 276"/>
                <a:gd name="T27" fmla="*/ 15875 h 96"/>
                <a:gd name="T28" fmla="*/ 47625 w 276"/>
                <a:gd name="T29" fmla="*/ 11906 h 96"/>
                <a:gd name="T30" fmla="*/ 34131 w 276"/>
                <a:gd name="T31" fmla="*/ 5556 h 96"/>
                <a:gd name="T32" fmla="*/ 16669 w 276"/>
                <a:gd name="T33" fmla="*/ 0 h 96"/>
                <a:gd name="T34" fmla="*/ 7144 w 276"/>
                <a:gd name="T35" fmla="*/ 2381 h 96"/>
                <a:gd name="T36" fmla="*/ 0 w 276"/>
                <a:gd name="T37" fmla="*/ 9525 h 9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76"/>
                <a:gd name="T58" fmla="*/ 0 h 96"/>
                <a:gd name="T59" fmla="*/ 276 w 276"/>
                <a:gd name="T60" fmla="*/ 96 h 9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76" h="96">
                  <a:moveTo>
                    <a:pt x="0" y="48"/>
                  </a:moveTo>
                  <a:lnTo>
                    <a:pt x="0" y="48"/>
                  </a:lnTo>
                  <a:lnTo>
                    <a:pt x="17" y="48"/>
                  </a:lnTo>
                  <a:lnTo>
                    <a:pt x="52" y="15"/>
                  </a:lnTo>
                  <a:lnTo>
                    <a:pt x="86" y="31"/>
                  </a:lnTo>
                  <a:lnTo>
                    <a:pt x="69" y="31"/>
                  </a:lnTo>
                  <a:lnTo>
                    <a:pt x="86" y="31"/>
                  </a:lnTo>
                  <a:lnTo>
                    <a:pt x="155" y="48"/>
                  </a:lnTo>
                  <a:lnTo>
                    <a:pt x="173" y="79"/>
                  </a:lnTo>
                  <a:lnTo>
                    <a:pt x="207" y="79"/>
                  </a:lnTo>
                  <a:lnTo>
                    <a:pt x="190" y="96"/>
                  </a:lnTo>
                  <a:lnTo>
                    <a:pt x="276" y="96"/>
                  </a:lnTo>
                  <a:lnTo>
                    <a:pt x="259" y="79"/>
                  </a:lnTo>
                  <a:lnTo>
                    <a:pt x="242" y="79"/>
                  </a:lnTo>
                  <a:lnTo>
                    <a:pt x="242" y="63"/>
                  </a:lnTo>
                  <a:lnTo>
                    <a:pt x="173" y="31"/>
                  </a:lnTo>
                  <a:lnTo>
                    <a:pt x="86" y="0"/>
                  </a:lnTo>
                  <a:lnTo>
                    <a:pt x="34" y="15"/>
                  </a:lnTo>
                  <a:lnTo>
                    <a:pt x="0"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1" name="Freeform 50">
              <a:extLst>
                <a:ext uri="{FF2B5EF4-FFF2-40B4-BE49-F238E27FC236}">
                  <a16:creationId xmlns:a16="http://schemas.microsoft.com/office/drawing/2014/main" id="{6BFCB4FA-4890-4CB7-8CF8-BB432337D625}"/>
                </a:ext>
              </a:extLst>
            </p:cNvPr>
            <p:cNvSpPr>
              <a:spLocks/>
            </p:cNvSpPr>
            <p:nvPr>
              <p:custDataLst>
                <p:tags r:id="rId51"/>
              </p:custDataLst>
            </p:nvPr>
          </p:nvSpPr>
          <p:spPr bwMode="auto">
            <a:xfrm>
              <a:off x="5690384" y="4118526"/>
              <a:ext cx="28148" cy="14074"/>
            </a:xfrm>
            <a:custGeom>
              <a:avLst/>
              <a:gdLst>
                <a:gd name="T0" fmla="*/ 0 w 33"/>
                <a:gd name="T1" fmla="*/ 2988 h 17"/>
                <a:gd name="T2" fmla="*/ 0 w 33"/>
                <a:gd name="T3" fmla="*/ 2988 h 17"/>
                <a:gd name="T4" fmla="*/ 6158 w 33"/>
                <a:gd name="T5" fmla="*/ 2988 h 17"/>
                <a:gd name="T6" fmla="*/ 0 w 33"/>
                <a:gd name="T7" fmla="*/ 0 h 17"/>
                <a:gd name="T8" fmla="*/ 0 w 33"/>
                <a:gd name="T9" fmla="*/ 2988 h 17"/>
                <a:gd name="T10" fmla="*/ 0 60000 65536"/>
                <a:gd name="T11" fmla="*/ 0 60000 65536"/>
                <a:gd name="T12" fmla="*/ 0 60000 65536"/>
                <a:gd name="T13" fmla="*/ 0 60000 65536"/>
                <a:gd name="T14" fmla="*/ 0 60000 65536"/>
                <a:gd name="T15" fmla="*/ 0 w 33"/>
                <a:gd name="T16" fmla="*/ 0 h 17"/>
                <a:gd name="T17" fmla="*/ 33 w 33"/>
                <a:gd name="T18" fmla="*/ 17 h 17"/>
              </a:gdLst>
              <a:ahLst/>
              <a:cxnLst>
                <a:cxn ang="T10">
                  <a:pos x="T0" y="T1"/>
                </a:cxn>
                <a:cxn ang="T11">
                  <a:pos x="T2" y="T3"/>
                </a:cxn>
                <a:cxn ang="T12">
                  <a:pos x="T4" y="T5"/>
                </a:cxn>
                <a:cxn ang="T13">
                  <a:pos x="T6" y="T7"/>
                </a:cxn>
                <a:cxn ang="T14">
                  <a:pos x="T8" y="T9"/>
                </a:cxn>
              </a:cxnLst>
              <a:rect l="T15" t="T16" r="T17" b="T18"/>
              <a:pathLst>
                <a:path w="33" h="17">
                  <a:moveTo>
                    <a:pt x="0" y="17"/>
                  </a:moveTo>
                  <a:lnTo>
                    <a:pt x="0" y="17"/>
                  </a:lnTo>
                  <a:lnTo>
                    <a:pt x="33" y="17"/>
                  </a:lnTo>
                  <a:lnTo>
                    <a:pt x="0"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2" name="Freeform 51">
              <a:extLst>
                <a:ext uri="{FF2B5EF4-FFF2-40B4-BE49-F238E27FC236}">
                  <a16:creationId xmlns:a16="http://schemas.microsoft.com/office/drawing/2014/main" id="{3E165D60-2C58-4534-B13C-D618FBBDCEC7}"/>
                </a:ext>
              </a:extLst>
            </p:cNvPr>
            <p:cNvSpPr>
              <a:spLocks/>
            </p:cNvSpPr>
            <p:nvPr>
              <p:custDataLst>
                <p:tags r:id="rId52"/>
              </p:custDataLst>
            </p:nvPr>
          </p:nvSpPr>
          <p:spPr bwMode="auto">
            <a:xfrm>
              <a:off x="5811772" y="4174822"/>
              <a:ext cx="14074" cy="14074"/>
            </a:xfrm>
            <a:custGeom>
              <a:avLst/>
              <a:gdLst>
                <a:gd name="T0" fmla="*/ 0 w 17"/>
                <a:gd name="T1" fmla="*/ 0 h 15"/>
                <a:gd name="T2" fmla="*/ 0 w 17"/>
                <a:gd name="T3" fmla="*/ 0 h 15"/>
                <a:gd name="T4" fmla="*/ 0 w 17"/>
                <a:gd name="T5" fmla="*/ 3387 h 15"/>
                <a:gd name="T6" fmla="*/ 2988 w 17"/>
                <a:gd name="T7" fmla="*/ 0 h 15"/>
                <a:gd name="T8" fmla="*/ 0 w 17"/>
                <a:gd name="T9" fmla="*/ 0 h 15"/>
                <a:gd name="T10" fmla="*/ 0 60000 65536"/>
                <a:gd name="T11" fmla="*/ 0 60000 65536"/>
                <a:gd name="T12" fmla="*/ 0 60000 65536"/>
                <a:gd name="T13" fmla="*/ 0 60000 65536"/>
                <a:gd name="T14" fmla="*/ 0 60000 65536"/>
                <a:gd name="T15" fmla="*/ 0 w 17"/>
                <a:gd name="T16" fmla="*/ 0 h 15"/>
                <a:gd name="T17" fmla="*/ 17 w 17"/>
                <a:gd name="T18" fmla="*/ 15 h 15"/>
              </a:gdLst>
              <a:ahLst/>
              <a:cxnLst>
                <a:cxn ang="T10">
                  <a:pos x="T0" y="T1"/>
                </a:cxn>
                <a:cxn ang="T11">
                  <a:pos x="T2" y="T3"/>
                </a:cxn>
                <a:cxn ang="T12">
                  <a:pos x="T4" y="T5"/>
                </a:cxn>
                <a:cxn ang="T13">
                  <a:pos x="T6" y="T7"/>
                </a:cxn>
                <a:cxn ang="T14">
                  <a:pos x="T8" y="T9"/>
                </a:cxn>
              </a:cxnLst>
              <a:rect l="T15" t="T16" r="T17" b="T18"/>
              <a:pathLst>
                <a:path w="17" h="15">
                  <a:moveTo>
                    <a:pt x="0" y="0"/>
                  </a:moveTo>
                  <a:lnTo>
                    <a:pt x="0" y="0"/>
                  </a:lnTo>
                  <a:lnTo>
                    <a:pt x="0" y="15"/>
                  </a:lnTo>
                  <a:lnTo>
                    <a:pt x="17"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3" name="Freeform 52">
              <a:extLst>
                <a:ext uri="{FF2B5EF4-FFF2-40B4-BE49-F238E27FC236}">
                  <a16:creationId xmlns:a16="http://schemas.microsoft.com/office/drawing/2014/main" id="{E341F324-E5B3-4884-A64A-EA0CE0E9072F}"/>
                </a:ext>
              </a:extLst>
            </p:cNvPr>
            <p:cNvSpPr>
              <a:spLocks/>
            </p:cNvSpPr>
            <p:nvPr>
              <p:custDataLst>
                <p:tags r:id="rId53"/>
              </p:custDataLst>
            </p:nvPr>
          </p:nvSpPr>
          <p:spPr bwMode="auto">
            <a:xfrm>
              <a:off x="5414181" y="3963711"/>
              <a:ext cx="15834" cy="42222"/>
            </a:xfrm>
            <a:custGeom>
              <a:avLst/>
              <a:gdLst>
                <a:gd name="T0" fmla="*/ 0 w 17"/>
                <a:gd name="T1" fmla="*/ 0 h 48"/>
                <a:gd name="T2" fmla="*/ 0 w 17"/>
                <a:gd name="T3" fmla="*/ 0 h 48"/>
                <a:gd name="T4" fmla="*/ 0 w 17"/>
                <a:gd name="T5" fmla="*/ 2381 h 48"/>
                <a:gd name="T6" fmla="*/ 4202 w 17"/>
                <a:gd name="T7" fmla="*/ 9525 h 48"/>
                <a:gd name="T8" fmla="*/ 4202 w 17"/>
                <a:gd name="T9" fmla="*/ 2381 h 48"/>
                <a:gd name="T10" fmla="*/ 0 w 17"/>
                <a:gd name="T11" fmla="*/ 0 h 48"/>
                <a:gd name="T12" fmla="*/ 0 60000 65536"/>
                <a:gd name="T13" fmla="*/ 0 60000 65536"/>
                <a:gd name="T14" fmla="*/ 0 60000 65536"/>
                <a:gd name="T15" fmla="*/ 0 60000 65536"/>
                <a:gd name="T16" fmla="*/ 0 60000 65536"/>
                <a:gd name="T17" fmla="*/ 0 60000 65536"/>
                <a:gd name="T18" fmla="*/ 0 w 17"/>
                <a:gd name="T19" fmla="*/ 0 h 48"/>
                <a:gd name="T20" fmla="*/ 17 w 17"/>
                <a:gd name="T21" fmla="*/ 48 h 48"/>
              </a:gdLst>
              <a:ahLst/>
              <a:cxnLst>
                <a:cxn ang="T12">
                  <a:pos x="T0" y="T1"/>
                </a:cxn>
                <a:cxn ang="T13">
                  <a:pos x="T2" y="T3"/>
                </a:cxn>
                <a:cxn ang="T14">
                  <a:pos x="T4" y="T5"/>
                </a:cxn>
                <a:cxn ang="T15">
                  <a:pos x="T6" y="T7"/>
                </a:cxn>
                <a:cxn ang="T16">
                  <a:pos x="T8" y="T9"/>
                </a:cxn>
                <a:cxn ang="T17">
                  <a:pos x="T10" y="T11"/>
                </a:cxn>
              </a:cxnLst>
              <a:rect l="T18" t="T19" r="T20" b="T21"/>
              <a:pathLst>
                <a:path w="17" h="48">
                  <a:moveTo>
                    <a:pt x="0" y="0"/>
                  </a:moveTo>
                  <a:lnTo>
                    <a:pt x="0" y="0"/>
                  </a:lnTo>
                  <a:lnTo>
                    <a:pt x="0" y="15"/>
                  </a:lnTo>
                  <a:lnTo>
                    <a:pt x="17" y="48"/>
                  </a:lnTo>
                  <a:lnTo>
                    <a:pt x="17" y="15"/>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4" name="Freeform 53">
              <a:extLst>
                <a:ext uri="{FF2B5EF4-FFF2-40B4-BE49-F238E27FC236}">
                  <a16:creationId xmlns:a16="http://schemas.microsoft.com/office/drawing/2014/main" id="{2467F36D-35B5-4DFC-98BD-40B4674CB40C}"/>
                </a:ext>
              </a:extLst>
            </p:cNvPr>
            <p:cNvSpPr>
              <a:spLocks/>
            </p:cNvSpPr>
            <p:nvPr>
              <p:custDataLst>
                <p:tags r:id="rId54"/>
              </p:custDataLst>
            </p:nvPr>
          </p:nvSpPr>
          <p:spPr bwMode="auto">
            <a:xfrm>
              <a:off x="5521496" y="3543251"/>
              <a:ext cx="45741" cy="12315"/>
            </a:xfrm>
            <a:custGeom>
              <a:avLst/>
              <a:gdLst>
                <a:gd name="T0" fmla="*/ 0 w 51"/>
                <a:gd name="T1" fmla="*/ 2084 h 16"/>
                <a:gd name="T2" fmla="*/ 10521 w 51"/>
                <a:gd name="T3" fmla="*/ 0 h 16"/>
                <a:gd name="T4" fmla="*/ 7284 w 51"/>
                <a:gd name="T5" fmla="*/ 0 h 16"/>
                <a:gd name="T6" fmla="*/ 0 w 51"/>
                <a:gd name="T7" fmla="*/ 2084 h 16"/>
                <a:gd name="T8" fmla="*/ 0 60000 65536"/>
                <a:gd name="T9" fmla="*/ 0 60000 65536"/>
                <a:gd name="T10" fmla="*/ 0 60000 65536"/>
                <a:gd name="T11" fmla="*/ 0 60000 65536"/>
                <a:gd name="T12" fmla="*/ 0 w 51"/>
                <a:gd name="T13" fmla="*/ 0 h 16"/>
                <a:gd name="T14" fmla="*/ 51 w 51"/>
                <a:gd name="T15" fmla="*/ 16 h 16"/>
              </a:gdLst>
              <a:ahLst/>
              <a:cxnLst>
                <a:cxn ang="T8">
                  <a:pos x="T0" y="T1"/>
                </a:cxn>
                <a:cxn ang="T9">
                  <a:pos x="T2" y="T3"/>
                </a:cxn>
                <a:cxn ang="T10">
                  <a:pos x="T4" y="T5"/>
                </a:cxn>
                <a:cxn ang="T11">
                  <a:pos x="T6" y="T7"/>
                </a:cxn>
              </a:cxnLst>
              <a:rect l="T12" t="T13" r="T14" b="T15"/>
              <a:pathLst>
                <a:path w="51" h="16">
                  <a:moveTo>
                    <a:pt x="0" y="16"/>
                  </a:moveTo>
                  <a:lnTo>
                    <a:pt x="51" y="0"/>
                  </a:lnTo>
                  <a:lnTo>
                    <a:pt x="34" y="0"/>
                  </a:lnTo>
                  <a:lnTo>
                    <a:pt x="0"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5" name="Freeform 54">
              <a:extLst>
                <a:ext uri="{FF2B5EF4-FFF2-40B4-BE49-F238E27FC236}">
                  <a16:creationId xmlns:a16="http://schemas.microsoft.com/office/drawing/2014/main" id="{DA38EDF6-E9E7-40D6-9138-DA6BB10929CB}"/>
                </a:ext>
              </a:extLst>
            </p:cNvPr>
            <p:cNvSpPr>
              <a:spLocks/>
            </p:cNvSpPr>
            <p:nvPr>
              <p:custDataLst>
                <p:tags r:id="rId55"/>
              </p:custDataLst>
            </p:nvPr>
          </p:nvSpPr>
          <p:spPr bwMode="auto">
            <a:xfrm>
              <a:off x="5748439" y="3260011"/>
              <a:ext cx="63333" cy="29908"/>
            </a:xfrm>
            <a:custGeom>
              <a:avLst/>
              <a:gdLst>
                <a:gd name="T0" fmla="*/ 0 w 71"/>
                <a:gd name="T1" fmla="*/ 0 h 32"/>
                <a:gd name="T2" fmla="*/ 0 w 71"/>
                <a:gd name="T3" fmla="*/ 0 h 32"/>
                <a:gd name="T4" fmla="*/ 7244 w 71"/>
                <a:gd name="T5" fmla="*/ 7590 h 32"/>
                <a:gd name="T6" fmla="*/ 14489 w 71"/>
                <a:gd name="T7" fmla="*/ 7590 h 32"/>
                <a:gd name="T8" fmla="*/ 7244 w 71"/>
                <a:gd name="T9" fmla="*/ 3374 h 32"/>
                <a:gd name="T10" fmla="*/ 0 w 71"/>
                <a:gd name="T11" fmla="*/ 0 h 32"/>
                <a:gd name="T12" fmla="*/ 0 60000 65536"/>
                <a:gd name="T13" fmla="*/ 0 60000 65536"/>
                <a:gd name="T14" fmla="*/ 0 60000 65536"/>
                <a:gd name="T15" fmla="*/ 0 60000 65536"/>
                <a:gd name="T16" fmla="*/ 0 60000 65536"/>
                <a:gd name="T17" fmla="*/ 0 60000 65536"/>
                <a:gd name="T18" fmla="*/ 0 w 71"/>
                <a:gd name="T19" fmla="*/ 0 h 32"/>
                <a:gd name="T20" fmla="*/ 71 w 71"/>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71" h="32">
                  <a:moveTo>
                    <a:pt x="0" y="0"/>
                  </a:moveTo>
                  <a:lnTo>
                    <a:pt x="0" y="0"/>
                  </a:lnTo>
                  <a:lnTo>
                    <a:pt x="34" y="32"/>
                  </a:lnTo>
                  <a:lnTo>
                    <a:pt x="71" y="32"/>
                  </a:lnTo>
                  <a:lnTo>
                    <a:pt x="34" y="15"/>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6" name="Freeform 55">
              <a:extLst>
                <a:ext uri="{FF2B5EF4-FFF2-40B4-BE49-F238E27FC236}">
                  <a16:creationId xmlns:a16="http://schemas.microsoft.com/office/drawing/2014/main" id="{A053116C-04CC-4A9E-A409-8D200C9D9DD2}"/>
                </a:ext>
              </a:extLst>
            </p:cNvPr>
            <p:cNvSpPr>
              <a:spLocks/>
            </p:cNvSpPr>
            <p:nvPr>
              <p:custDataLst>
                <p:tags r:id="rId56"/>
              </p:custDataLst>
            </p:nvPr>
          </p:nvSpPr>
          <p:spPr bwMode="auto">
            <a:xfrm>
              <a:off x="5748439" y="3358529"/>
              <a:ext cx="63333" cy="42222"/>
            </a:xfrm>
            <a:custGeom>
              <a:avLst/>
              <a:gdLst>
                <a:gd name="T0" fmla="*/ 0 w 71"/>
                <a:gd name="T1" fmla="*/ 3969 h 48"/>
                <a:gd name="T2" fmla="*/ 0 w 71"/>
                <a:gd name="T3" fmla="*/ 3969 h 48"/>
                <a:gd name="T4" fmla="*/ 10464 w 71"/>
                <a:gd name="T5" fmla="*/ 9525 h 48"/>
                <a:gd name="T6" fmla="*/ 10464 w 71"/>
                <a:gd name="T7" fmla="*/ 7144 h 48"/>
                <a:gd name="T8" fmla="*/ 14489 w 71"/>
                <a:gd name="T9" fmla="*/ 3969 h 48"/>
                <a:gd name="T10" fmla="*/ 7244 w 71"/>
                <a:gd name="T11" fmla="*/ 3969 h 48"/>
                <a:gd name="T12" fmla="*/ 4025 w 71"/>
                <a:gd name="T13" fmla="*/ 3969 h 48"/>
                <a:gd name="T14" fmla="*/ 4025 w 71"/>
                <a:gd name="T15" fmla="*/ 0 h 48"/>
                <a:gd name="T16" fmla="*/ 0 w 71"/>
                <a:gd name="T17" fmla="*/ 3969 h 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1"/>
                <a:gd name="T28" fmla="*/ 0 h 48"/>
                <a:gd name="T29" fmla="*/ 71 w 71"/>
                <a:gd name="T30" fmla="*/ 48 h 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1" h="48">
                  <a:moveTo>
                    <a:pt x="0" y="17"/>
                  </a:moveTo>
                  <a:lnTo>
                    <a:pt x="0" y="17"/>
                  </a:lnTo>
                  <a:lnTo>
                    <a:pt x="52" y="48"/>
                  </a:lnTo>
                  <a:lnTo>
                    <a:pt x="52" y="33"/>
                  </a:lnTo>
                  <a:lnTo>
                    <a:pt x="71" y="17"/>
                  </a:lnTo>
                  <a:lnTo>
                    <a:pt x="34" y="17"/>
                  </a:lnTo>
                  <a:lnTo>
                    <a:pt x="17" y="17"/>
                  </a:lnTo>
                  <a:lnTo>
                    <a:pt x="17"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7" name="Freeform 56">
              <a:extLst>
                <a:ext uri="{FF2B5EF4-FFF2-40B4-BE49-F238E27FC236}">
                  <a16:creationId xmlns:a16="http://schemas.microsoft.com/office/drawing/2014/main" id="{90112A92-429A-4C2E-AC98-89C5D0BC1C4C}"/>
                </a:ext>
              </a:extLst>
            </p:cNvPr>
            <p:cNvSpPr>
              <a:spLocks/>
            </p:cNvSpPr>
            <p:nvPr>
              <p:custDataLst>
                <p:tags r:id="rId57"/>
              </p:custDataLst>
            </p:nvPr>
          </p:nvSpPr>
          <p:spPr bwMode="auto">
            <a:xfrm>
              <a:off x="5869828" y="3205474"/>
              <a:ext cx="154814" cy="168888"/>
            </a:xfrm>
            <a:custGeom>
              <a:avLst/>
              <a:gdLst>
                <a:gd name="T0" fmla="*/ 0 w 175"/>
                <a:gd name="T1" fmla="*/ 28575 h 192"/>
                <a:gd name="T2" fmla="*/ 0 w 175"/>
                <a:gd name="T3" fmla="*/ 28575 h 192"/>
                <a:gd name="T4" fmla="*/ 0 w 175"/>
                <a:gd name="T5" fmla="*/ 31750 h 192"/>
                <a:gd name="T6" fmla="*/ 3991 w 175"/>
                <a:gd name="T7" fmla="*/ 31750 h 192"/>
                <a:gd name="T8" fmla="*/ 20755 w 175"/>
                <a:gd name="T9" fmla="*/ 31750 h 192"/>
                <a:gd name="T10" fmla="*/ 20755 w 175"/>
                <a:gd name="T11" fmla="*/ 34925 h 192"/>
                <a:gd name="T12" fmla="*/ 17562 w 175"/>
                <a:gd name="T13" fmla="*/ 34925 h 192"/>
                <a:gd name="T14" fmla="*/ 20755 w 175"/>
                <a:gd name="T15" fmla="*/ 34925 h 192"/>
                <a:gd name="T16" fmla="*/ 24747 w 175"/>
                <a:gd name="T17" fmla="*/ 31750 h 192"/>
                <a:gd name="T18" fmla="*/ 27940 w 175"/>
                <a:gd name="T19" fmla="*/ 31750 h 192"/>
                <a:gd name="T20" fmla="*/ 27940 w 175"/>
                <a:gd name="T21" fmla="*/ 34925 h 192"/>
                <a:gd name="T22" fmla="*/ 31931 w 175"/>
                <a:gd name="T23" fmla="*/ 34925 h 192"/>
                <a:gd name="T24" fmla="*/ 31931 w 175"/>
                <a:gd name="T25" fmla="*/ 38100 h 192"/>
                <a:gd name="T26" fmla="*/ 35125 w 175"/>
                <a:gd name="T27" fmla="*/ 38100 h 192"/>
                <a:gd name="T28" fmla="*/ 35125 w 175"/>
                <a:gd name="T29" fmla="*/ 31750 h 192"/>
                <a:gd name="T30" fmla="*/ 31931 w 175"/>
                <a:gd name="T31" fmla="*/ 31750 h 192"/>
                <a:gd name="T32" fmla="*/ 35125 w 175"/>
                <a:gd name="T33" fmla="*/ 28575 h 192"/>
                <a:gd name="T34" fmla="*/ 31931 w 175"/>
                <a:gd name="T35" fmla="*/ 31750 h 192"/>
                <a:gd name="T36" fmla="*/ 27940 w 175"/>
                <a:gd name="T37" fmla="*/ 28575 h 192"/>
                <a:gd name="T38" fmla="*/ 35125 w 175"/>
                <a:gd name="T39" fmla="*/ 22225 h 192"/>
                <a:gd name="T40" fmla="*/ 31931 w 175"/>
                <a:gd name="T41" fmla="*/ 24606 h 192"/>
                <a:gd name="T42" fmla="*/ 27940 w 175"/>
                <a:gd name="T43" fmla="*/ 22225 h 192"/>
                <a:gd name="T44" fmla="*/ 31931 w 175"/>
                <a:gd name="T45" fmla="*/ 19050 h 192"/>
                <a:gd name="T46" fmla="*/ 20755 w 175"/>
                <a:gd name="T47" fmla="*/ 19050 h 192"/>
                <a:gd name="T48" fmla="*/ 17562 w 175"/>
                <a:gd name="T49" fmla="*/ 15875 h 192"/>
                <a:gd name="T50" fmla="*/ 20755 w 175"/>
                <a:gd name="T51" fmla="*/ 12700 h 192"/>
                <a:gd name="T52" fmla="*/ 17562 w 175"/>
                <a:gd name="T53" fmla="*/ 12700 h 192"/>
                <a:gd name="T54" fmla="*/ 14369 w 175"/>
                <a:gd name="T55" fmla="*/ 15875 h 192"/>
                <a:gd name="T56" fmla="*/ 20755 w 175"/>
                <a:gd name="T57" fmla="*/ 0 h 192"/>
                <a:gd name="T58" fmla="*/ 14369 w 175"/>
                <a:gd name="T59" fmla="*/ 3175 h 192"/>
                <a:gd name="T60" fmla="*/ 3991 w 175"/>
                <a:gd name="T61" fmla="*/ 22225 h 192"/>
                <a:gd name="T62" fmla="*/ 3991 w 175"/>
                <a:gd name="T63" fmla="*/ 24606 h 192"/>
                <a:gd name="T64" fmla="*/ 0 w 175"/>
                <a:gd name="T65" fmla="*/ 28575 h 1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5"/>
                <a:gd name="T100" fmla="*/ 0 h 192"/>
                <a:gd name="T101" fmla="*/ 175 w 175"/>
                <a:gd name="T102" fmla="*/ 192 h 1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5" h="192">
                  <a:moveTo>
                    <a:pt x="0" y="144"/>
                  </a:moveTo>
                  <a:lnTo>
                    <a:pt x="0" y="144"/>
                  </a:lnTo>
                  <a:lnTo>
                    <a:pt x="0" y="160"/>
                  </a:lnTo>
                  <a:lnTo>
                    <a:pt x="17" y="160"/>
                  </a:lnTo>
                  <a:lnTo>
                    <a:pt x="104" y="160"/>
                  </a:lnTo>
                  <a:lnTo>
                    <a:pt x="104" y="175"/>
                  </a:lnTo>
                  <a:lnTo>
                    <a:pt x="86" y="175"/>
                  </a:lnTo>
                  <a:lnTo>
                    <a:pt x="104" y="175"/>
                  </a:lnTo>
                  <a:lnTo>
                    <a:pt x="121" y="160"/>
                  </a:lnTo>
                  <a:lnTo>
                    <a:pt x="140" y="160"/>
                  </a:lnTo>
                  <a:lnTo>
                    <a:pt x="140" y="175"/>
                  </a:lnTo>
                  <a:lnTo>
                    <a:pt x="157" y="175"/>
                  </a:lnTo>
                  <a:lnTo>
                    <a:pt x="157" y="192"/>
                  </a:lnTo>
                  <a:lnTo>
                    <a:pt x="175" y="192"/>
                  </a:lnTo>
                  <a:lnTo>
                    <a:pt x="175" y="160"/>
                  </a:lnTo>
                  <a:lnTo>
                    <a:pt x="157" y="160"/>
                  </a:lnTo>
                  <a:lnTo>
                    <a:pt x="175" y="144"/>
                  </a:lnTo>
                  <a:lnTo>
                    <a:pt x="157" y="160"/>
                  </a:lnTo>
                  <a:lnTo>
                    <a:pt x="140" y="144"/>
                  </a:lnTo>
                  <a:lnTo>
                    <a:pt x="175" y="112"/>
                  </a:lnTo>
                  <a:lnTo>
                    <a:pt x="157" y="127"/>
                  </a:lnTo>
                  <a:lnTo>
                    <a:pt x="140" y="112"/>
                  </a:lnTo>
                  <a:lnTo>
                    <a:pt x="157" y="96"/>
                  </a:lnTo>
                  <a:lnTo>
                    <a:pt x="104" y="96"/>
                  </a:lnTo>
                  <a:lnTo>
                    <a:pt x="86" y="79"/>
                  </a:lnTo>
                  <a:lnTo>
                    <a:pt x="104" y="64"/>
                  </a:lnTo>
                  <a:lnTo>
                    <a:pt x="86" y="64"/>
                  </a:lnTo>
                  <a:lnTo>
                    <a:pt x="69" y="79"/>
                  </a:lnTo>
                  <a:lnTo>
                    <a:pt x="104" y="0"/>
                  </a:lnTo>
                  <a:lnTo>
                    <a:pt x="69" y="16"/>
                  </a:lnTo>
                  <a:lnTo>
                    <a:pt x="17" y="112"/>
                  </a:lnTo>
                  <a:lnTo>
                    <a:pt x="17" y="127"/>
                  </a:lnTo>
                  <a:lnTo>
                    <a:pt x="0" y="144"/>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28" name="Line 57">
              <a:extLst>
                <a:ext uri="{FF2B5EF4-FFF2-40B4-BE49-F238E27FC236}">
                  <a16:creationId xmlns:a16="http://schemas.microsoft.com/office/drawing/2014/main" id="{6A7CDFE3-C348-4774-879F-5591CDB17566}"/>
                </a:ext>
              </a:extLst>
            </p:cNvPr>
            <p:cNvSpPr>
              <a:spLocks noChangeShapeType="1"/>
            </p:cNvSpPr>
            <p:nvPr>
              <p:custDataLst>
                <p:tags r:id="rId58"/>
              </p:custDataLst>
            </p:nvPr>
          </p:nvSpPr>
          <p:spPr bwMode="auto">
            <a:xfrm>
              <a:off x="5832883" y="4224081"/>
              <a:ext cx="15834" cy="14074"/>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29" name="Line 58">
              <a:extLst>
                <a:ext uri="{FF2B5EF4-FFF2-40B4-BE49-F238E27FC236}">
                  <a16:creationId xmlns:a16="http://schemas.microsoft.com/office/drawing/2014/main" id="{3FC09EA2-650A-4CAD-922F-F301FA04E652}"/>
                </a:ext>
              </a:extLst>
            </p:cNvPr>
            <p:cNvSpPr>
              <a:spLocks noChangeShapeType="1"/>
            </p:cNvSpPr>
            <p:nvPr>
              <p:custDataLst>
                <p:tags r:id="rId59"/>
              </p:custDataLst>
            </p:nvPr>
          </p:nvSpPr>
          <p:spPr bwMode="auto">
            <a:xfrm>
              <a:off x="5405385" y="3942600"/>
              <a:ext cx="33426" cy="14074"/>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30" name="Freeform 59">
              <a:extLst>
                <a:ext uri="{FF2B5EF4-FFF2-40B4-BE49-F238E27FC236}">
                  <a16:creationId xmlns:a16="http://schemas.microsoft.com/office/drawing/2014/main" id="{631E345F-7BB2-42CF-939B-882E445687B3}"/>
                </a:ext>
              </a:extLst>
            </p:cNvPr>
            <p:cNvSpPr>
              <a:spLocks/>
            </p:cNvSpPr>
            <p:nvPr>
              <p:custDataLst>
                <p:tags r:id="rId60"/>
              </p:custDataLst>
            </p:nvPr>
          </p:nvSpPr>
          <p:spPr bwMode="auto">
            <a:xfrm>
              <a:off x="5430015" y="3921489"/>
              <a:ext cx="15834" cy="28148"/>
            </a:xfrm>
            <a:custGeom>
              <a:avLst/>
              <a:gdLst>
                <a:gd name="T0" fmla="*/ 0 w 17"/>
                <a:gd name="T1" fmla="*/ 0 h 31"/>
                <a:gd name="T2" fmla="*/ 0 w 17"/>
                <a:gd name="T3" fmla="*/ 0 h 31"/>
                <a:gd name="T4" fmla="*/ 4202 w 17"/>
                <a:gd name="T5" fmla="*/ 3277 h 31"/>
                <a:gd name="T6" fmla="*/ 4202 w 17"/>
                <a:gd name="T7" fmla="*/ 6555 h 31"/>
                <a:gd name="T8" fmla="*/ 0 60000 65536"/>
                <a:gd name="T9" fmla="*/ 0 60000 65536"/>
                <a:gd name="T10" fmla="*/ 0 60000 65536"/>
                <a:gd name="T11" fmla="*/ 0 60000 65536"/>
                <a:gd name="T12" fmla="*/ 0 w 17"/>
                <a:gd name="T13" fmla="*/ 0 h 31"/>
                <a:gd name="T14" fmla="*/ 17 w 17"/>
                <a:gd name="T15" fmla="*/ 31 h 31"/>
              </a:gdLst>
              <a:ahLst/>
              <a:cxnLst>
                <a:cxn ang="T8">
                  <a:pos x="T0" y="T1"/>
                </a:cxn>
                <a:cxn ang="T9">
                  <a:pos x="T2" y="T3"/>
                </a:cxn>
                <a:cxn ang="T10">
                  <a:pos x="T4" y="T5"/>
                </a:cxn>
                <a:cxn ang="T11">
                  <a:pos x="T6" y="T7"/>
                </a:cxn>
              </a:cxnLst>
              <a:rect l="T12" t="T13" r="T14" b="T15"/>
              <a:pathLst>
                <a:path w="17" h="31">
                  <a:moveTo>
                    <a:pt x="0" y="0"/>
                  </a:moveTo>
                  <a:lnTo>
                    <a:pt x="0" y="0"/>
                  </a:lnTo>
                  <a:lnTo>
                    <a:pt x="17" y="15"/>
                  </a:lnTo>
                  <a:lnTo>
                    <a:pt x="17" y="31"/>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31" name="Freeform 60">
              <a:extLst>
                <a:ext uri="{FF2B5EF4-FFF2-40B4-BE49-F238E27FC236}">
                  <a16:creationId xmlns:a16="http://schemas.microsoft.com/office/drawing/2014/main" id="{A92E16EB-DFBB-403C-BB3C-501CE44873FA}"/>
                </a:ext>
              </a:extLst>
            </p:cNvPr>
            <p:cNvSpPr>
              <a:spLocks/>
            </p:cNvSpPr>
            <p:nvPr>
              <p:custDataLst>
                <p:tags r:id="rId61"/>
              </p:custDataLst>
            </p:nvPr>
          </p:nvSpPr>
          <p:spPr bwMode="auto">
            <a:xfrm>
              <a:off x="5445847" y="3949637"/>
              <a:ext cx="14074" cy="28148"/>
            </a:xfrm>
            <a:custGeom>
              <a:avLst/>
              <a:gdLst>
                <a:gd name="T0" fmla="*/ 0 w 17"/>
                <a:gd name="T1" fmla="*/ 0 h 32"/>
                <a:gd name="T2" fmla="*/ 0 w 17"/>
                <a:gd name="T3" fmla="*/ 0 h 32"/>
                <a:gd name="T4" fmla="*/ 2988 w 17"/>
                <a:gd name="T5" fmla="*/ 3175 h 32"/>
                <a:gd name="T6" fmla="*/ 2988 w 17"/>
                <a:gd name="T7" fmla="*/ 6350 h 32"/>
                <a:gd name="T8" fmla="*/ 0 60000 65536"/>
                <a:gd name="T9" fmla="*/ 0 60000 65536"/>
                <a:gd name="T10" fmla="*/ 0 60000 65536"/>
                <a:gd name="T11" fmla="*/ 0 60000 65536"/>
                <a:gd name="T12" fmla="*/ 0 w 17"/>
                <a:gd name="T13" fmla="*/ 0 h 32"/>
                <a:gd name="T14" fmla="*/ 17 w 17"/>
                <a:gd name="T15" fmla="*/ 32 h 32"/>
              </a:gdLst>
              <a:ahLst/>
              <a:cxnLst>
                <a:cxn ang="T8">
                  <a:pos x="T0" y="T1"/>
                </a:cxn>
                <a:cxn ang="T9">
                  <a:pos x="T2" y="T3"/>
                </a:cxn>
                <a:cxn ang="T10">
                  <a:pos x="T4" y="T5"/>
                </a:cxn>
                <a:cxn ang="T11">
                  <a:pos x="T6" y="T7"/>
                </a:cxn>
              </a:cxnLst>
              <a:rect l="T12" t="T13" r="T14" b="T15"/>
              <a:pathLst>
                <a:path w="17" h="32">
                  <a:moveTo>
                    <a:pt x="0" y="0"/>
                  </a:moveTo>
                  <a:lnTo>
                    <a:pt x="0" y="0"/>
                  </a:lnTo>
                  <a:lnTo>
                    <a:pt x="17" y="17"/>
                  </a:lnTo>
                  <a:lnTo>
                    <a:pt x="17" y="32"/>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32" name="Freeform 61">
              <a:extLst>
                <a:ext uri="{FF2B5EF4-FFF2-40B4-BE49-F238E27FC236}">
                  <a16:creationId xmlns:a16="http://schemas.microsoft.com/office/drawing/2014/main" id="{BA8277FA-5FF5-40F5-B688-BEA90E47448A}"/>
                </a:ext>
              </a:extLst>
            </p:cNvPr>
            <p:cNvSpPr>
              <a:spLocks/>
            </p:cNvSpPr>
            <p:nvPr>
              <p:custDataLst>
                <p:tags r:id="rId62"/>
              </p:custDataLst>
            </p:nvPr>
          </p:nvSpPr>
          <p:spPr bwMode="auto">
            <a:xfrm>
              <a:off x="5505662" y="4020007"/>
              <a:ext cx="15834" cy="14074"/>
            </a:xfrm>
            <a:custGeom>
              <a:avLst/>
              <a:gdLst>
                <a:gd name="T0" fmla="*/ 0 w 18"/>
                <a:gd name="T1" fmla="*/ 0 h 16"/>
                <a:gd name="T2" fmla="*/ 0 w 18"/>
                <a:gd name="T3" fmla="*/ 0 h 16"/>
                <a:gd name="T4" fmla="*/ 3969 w 18"/>
                <a:gd name="T5" fmla="*/ 3175 h 16"/>
                <a:gd name="T6" fmla="*/ 0 w 18"/>
                <a:gd name="T7" fmla="*/ 3175 h 16"/>
                <a:gd name="T8" fmla="*/ 0 60000 65536"/>
                <a:gd name="T9" fmla="*/ 0 60000 65536"/>
                <a:gd name="T10" fmla="*/ 0 60000 65536"/>
                <a:gd name="T11" fmla="*/ 0 60000 65536"/>
                <a:gd name="T12" fmla="*/ 0 w 18"/>
                <a:gd name="T13" fmla="*/ 0 h 16"/>
                <a:gd name="T14" fmla="*/ 18 w 18"/>
                <a:gd name="T15" fmla="*/ 16 h 16"/>
              </a:gdLst>
              <a:ahLst/>
              <a:cxnLst>
                <a:cxn ang="T8">
                  <a:pos x="T0" y="T1"/>
                </a:cxn>
                <a:cxn ang="T9">
                  <a:pos x="T2" y="T3"/>
                </a:cxn>
                <a:cxn ang="T10">
                  <a:pos x="T4" y="T5"/>
                </a:cxn>
                <a:cxn ang="T11">
                  <a:pos x="T6" y="T7"/>
                </a:cxn>
              </a:cxnLst>
              <a:rect l="T12" t="T13" r="T14" b="T15"/>
              <a:pathLst>
                <a:path w="18" h="16">
                  <a:moveTo>
                    <a:pt x="0" y="0"/>
                  </a:moveTo>
                  <a:lnTo>
                    <a:pt x="0" y="0"/>
                  </a:lnTo>
                  <a:lnTo>
                    <a:pt x="18" y="16"/>
                  </a:lnTo>
                  <a:lnTo>
                    <a:pt x="0"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33" name="Freeform 62">
              <a:extLst>
                <a:ext uri="{FF2B5EF4-FFF2-40B4-BE49-F238E27FC236}">
                  <a16:creationId xmlns:a16="http://schemas.microsoft.com/office/drawing/2014/main" id="{8DE73289-FB54-4386-8A7D-AF1174FB0991}"/>
                </a:ext>
              </a:extLst>
            </p:cNvPr>
            <p:cNvSpPr>
              <a:spLocks/>
            </p:cNvSpPr>
            <p:nvPr>
              <p:custDataLst>
                <p:tags r:id="rId63"/>
              </p:custDataLst>
            </p:nvPr>
          </p:nvSpPr>
          <p:spPr bwMode="auto">
            <a:xfrm>
              <a:off x="5553162" y="4048156"/>
              <a:ext cx="28148" cy="0"/>
            </a:xfrm>
            <a:custGeom>
              <a:avLst/>
              <a:gdLst>
                <a:gd name="T0" fmla="*/ 0 w 33"/>
                <a:gd name="T1" fmla="*/ 0 w 33"/>
                <a:gd name="T2" fmla="*/ 2309 w 33"/>
                <a:gd name="T3" fmla="*/ 6158 w 33"/>
                <a:gd name="T4" fmla="*/ 0 60000 65536"/>
                <a:gd name="T5" fmla="*/ 0 60000 65536"/>
                <a:gd name="T6" fmla="*/ 0 60000 65536"/>
                <a:gd name="T7" fmla="*/ 0 60000 65536"/>
                <a:gd name="T8" fmla="*/ 0 w 33"/>
                <a:gd name="T9" fmla="*/ 33 w 33"/>
              </a:gdLst>
              <a:ahLst/>
              <a:cxnLst>
                <a:cxn ang="T4">
                  <a:pos x="T0" y="0"/>
                </a:cxn>
                <a:cxn ang="T5">
                  <a:pos x="T1" y="0"/>
                </a:cxn>
                <a:cxn ang="T6">
                  <a:pos x="T2" y="0"/>
                </a:cxn>
                <a:cxn ang="T7">
                  <a:pos x="T3" y="0"/>
                </a:cxn>
              </a:cxnLst>
              <a:rect l="T8" t="0" r="T9" b="0"/>
              <a:pathLst>
                <a:path w="33">
                  <a:moveTo>
                    <a:pt x="0" y="0"/>
                  </a:moveTo>
                  <a:lnTo>
                    <a:pt x="0" y="0"/>
                  </a:lnTo>
                  <a:lnTo>
                    <a:pt x="15" y="0"/>
                  </a:lnTo>
                  <a:lnTo>
                    <a:pt x="33"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34" name="Line 63">
              <a:extLst>
                <a:ext uri="{FF2B5EF4-FFF2-40B4-BE49-F238E27FC236}">
                  <a16:creationId xmlns:a16="http://schemas.microsoft.com/office/drawing/2014/main" id="{DD18281C-9DCF-44BD-A3E0-BE801A6B6D7E}"/>
                </a:ext>
              </a:extLst>
            </p:cNvPr>
            <p:cNvSpPr>
              <a:spLocks noChangeShapeType="1"/>
            </p:cNvSpPr>
            <p:nvPr>
              <p:custDataLst>
                <p:tags r:id="rId64"/>
              </p:custDataLst>
            </p:nvPr>
          </p:nvSpPr>
          <p:spPr bwMode="auto">
            <a:xfrm>
              <a:off x="5484551" y="3998896"/>
              <a:ext cx="12315" cy="14074"/>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35" name="Line 64">
              <a:extLst>
                <a:ext uri="{FF2B5EF4-FFF2-40B4-BE49-F238E27FC236}">
                  <a16:creationId xmlns:a16="http://schemas.microsoft.com/office/drawing/2014/main" id="{4669C43B-01E5-49A1-8586-7EB043102EB8}"/>
                </a:ext>
              </a:extLst>
            </p:cNvPr>
            <p:cNvSpPr>
              <a:spLocks noChangeShapeType="1"/>
            </p:cNvSpPr>
            <p:nvPr>
              <p:custDataLst>
                <p:tags r:id="rId65"/>
              </p:custDataLst>
            </p:nvPr>
          </p:nvSpPr>
          <p:spPr bwMode="auto">
            <a:xfrm flipV="1">
              <a:off x="5484551" y="3703342"/>
              <a:ext cx="12315" cy="42222"/>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36" name="Freeform 65">
              <a:extLst>
                <a:ext uri="{FF2B5EF4-FFF2-40B4-BE49-F238E27FC236}">
                  <a16:creationId xmlns:a16="http://schemas.microsoft.com/office/drawing/2014/main" id="{2F3074FF-E5B5-48CC-94D5-069987AB5E55}"/>
                </a:ext>
              </a:extLst>
            </p:cNvPr>
            <p:cNvSpPr>
              <a:spLocks/>
            </p:cNvSpPr>
            <p:nvPr>
              <p:custDataLst>
                <p:tags r:id="rId66"/>
              </p:custDataLst>
            </p:nvPr>
          </p:nvSpPr>
          <p:spPr bwMode="auto">
            <a:xfrm>
              <a:off x="4302333" y="3274085"/>
              <a:ext cx="1388051" cy="689627"/>
            </a:xfrm>
            <a:custGeom>
              <a:avLst/>
              <a:gdLst>
                <a:gd name="T0" fmla="*/ 157956 w 1578"/>
                <a:gd name="T1" fmla="*/ 3171 h 785"/>
                <a:gd name="T2" fmla="*/ 171450 w 1578"/>
                <a:gd name="T3" fmla="*/ 6342 h 785"/>
                <a:gd name="T4" fmla="*/ 175419 w 1578"/>
                <a:gd name="T5" fmla="*/ 22197 h 785"/>
                <a:gd name="T6" fmla="*/ 196056 w 1578"/>
                <a:gd name="T7" fmla="*/ 19026 h 785"/>
                <a:gd name="T8" fmla="*/ 203200 w 1578"/>
                <a:gd name="T9" fmla="*/ 22197 h 785"/>
                <a:gd name="T10" fmla="*/ 220663 w 1578"/>
                <a:gd name="T11" fmla="*/ 25368 h 785"/>
                <a:gd name="T12" fmla="*/ 199231 w 1578"/>
                <a:gd name="T13" fmla="*/ 38051 h 785"/>
                <a:gd name="T14" fmla="*/ 199231 w 1578"/>
                <a:gd name="T15" fmla="*/ 53906 h 785"/>
                <a:gd name="T16" fmla="*/ 207169 w 1578"/>
                <a:gd name="T17" fmla="*/ 53906 h 785"/>
                <a:gd name="T18" fmla="*/ 213519 w 1578"/>
                <a:gd name="T19" fmla="*/ 31710 h 785"/>
                <a:gd name="T20" fmla="*/ 223838 w 1578"/>
                <a:gd name="T21" fmla="*/ 38051 h 785"/>
                <a:gd name="T22" fmla="*/ 227806 w 1578"/>
                <a:gd name="T23" fmla="*/ 47564 h 785"/>
                <a:gd name="T24" fmla="*/ 227806 w 1578"/>
                <a:gd name="T25" fmla="*/ 57077 h 785"/>
                <a:gd name="T26" fmla="*/ 247650 w 1578"/>
                <a:gd name="T27" fmla="*/ 44393 h 785"/>
                <a:gd name="T28" fmla="*/ 268288 w 1578"/>
                <a:gd name="T29" fmla="*/ 34881 h 785"/>
                <a:gd name="T30" fmla="*/ 300038 w 1578"/>
                <a:gd name="T31" fmla="*/ 15855 h 785"/>
                <a:gd name="T32" fmla="*/ 306388 w 1578"/>
                <a:gd name="T33" fmla="*/ 19026 h 785"/>
                <a:gd name="T34" fmla="*/ 313531 w 1578"/>
                <a:gd name="T35" fmla="*/ 34881 h 785"/>
                <a:gd name="T36" fmla="*/ 300038 w 1578"/>
                <a:gd name="T37" fmla="*/ 41222 h 785"/>
                <a:gd name="T38" fmla="*/ 292894 w 1578"/>
                <a:gd name="T39" fmla="*/ 57077 h 785"/>
                <a:gd name="T40" fmla="*/ 296069 w 1578"/>
                <a:gd name="T41" fmla="*/ 57077 h 785"/>
                <a:gd name="T42" fmla="*/ 275431 w 1578"/>
                <a:gd name="T43" fmla="*/ 63419 h 785"/>
                <a:gd name="T44" fmla="*/ 265113 w 1578"/>
                <a:gd name="T45" fmla="*/ 69761 h 785"/>
                <a:gd name="T46" fmla="*/ 265113 w 1578"/>
                <a:gd name="T47" fmla="*/ 79274 h 785"/>
                <a:gd name="T48" fmla="*/ 261938 w 1578"/>
                <a:gd name="T49" fmla="*/ 72932 h 785"/>
                <a:gd name="T50" fmla="*/ 261938 w 1578"/>
                <a:gd name="T51" fmla="*/ 79274 h 785"/>
                <a:gd name="T52" fmla="*/ 261938 w 1578"/>
                <a:gd name="T53" fmla="*/ 101471 h 785"/>
                <a:gd name="T54" fmla="*/ 234156 w 1578"/>
                <a:gd name="T55" fmla="*/ 123667 h 785"/>
                <a:gd name="T56" fmla="*/ 237331 w 1578"/>
                <a:gd name="T57" fmla="*/ 155377 h 785"/>
                <a:gd name="T58" fmla="*/ 227806 w 1578"/>
                <a:gd name="T59" fmla="*/ 133180 h 785"/>
                <a:gd name="T60" fmla="*/ 213519 w 1578"/>
                <a:gd name="T61" fmla="*/ 126838 h 785"/>
                <a:gd name="T62" fmla="*/ 199231 w 1578"/>
                <a:gd name="T63" fmla="*/ 123667 h 785"/>
                <a:gd name="T64" fmla="*/ 192881 w 1578"/>
                <a:gd name="T65" fmla="*/ 126838 h 785"/>
                <a:gd name="T66" fmla="*/ 188913 w 1578"/>
                <a:gd name="T67" fmla="*/ 133180 h 785"/>
                <a:gd name="T68" fmla="*/ 175419 w 1578"/>
                <a:gd name="T69" fmla="*/ 130009 h 785"/>
                <a:gd name="T70" fmla="*/ 161131 w 1578"/>
                <a:gd name="T71" fmla="*/ 130009 h 785"/>
                <a:gd name="T72" fmla="*/ 148431 w 1578"/>
                <a:gd name="T73" fmla="*/ 142693 h 785"/>
                <a:gd name="T74" fmla="*/ 123825 w 1578"/>
                <a:gd name="T75" fmla="*/ 130009 h 785"/>
                <a:gd name="T76" fmla="*/ 114300 w 1578"/>
                <a:gd name="T77" fmla="*/ 133180 h 785"/>
                <a:gd name="T78" fmla="*/ 99219 w 1578"/>
                <a:gd name="T79" fmla="*/ 117325 h 785"/>
                <a:gd name="T80" fmla="*/ 41275 w 1578"/>
                <a:gd name="T81" fmla="*/ 114154 h 785"/>
                <a:gd name="T82" fmla="*/ 34925 w 1578"/>
                <a:gd name="T83" fmla="*/ 104642 h 785"/>
                <a:gd name="T84" fmla="*/ 14288 w 1578"/>
                <a:gd name="T85" fmla="*/ 91958 h 785"/>
                <a:gd name="T86" fmla="*/ 10319 w 1578"/>
                <a:gd name="T87" fmla="*/ 82445 h 785"/>
                <a:gd name="T88" fmla="*/ 7144 w 1578"/>
                <a:gd name="T89" fmla="*/ 79274 h 785"/>
                <a:gd name="T90" fmla="*/ 3969 w 1578"/>
                <a:gd name="T91" fmla="*/ 69761 h 785"/>
                <a:gd name="T92" fmla="*/ 0 w 1578"/>
                <a:gd name="T93" fmla="*/ 47564 h 785"/>
                <a:gd name="T94" fmla="*/ 3969 w 1578"/>
                <a:gd name="T95" fmla="*/ 25368 h 785"/>
                <a:gd name="T96" fmla="*/ 10319 w 1578"/>
                <a:gd name="T97" fmla="*/ 12684 h 785"/>
                <a:gd name="T98" fmla="*/ 10319 w 1578"/>
                <a:gd name="T99" fmla="*/ 6342 h 78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578"/>
                <a:gd name="T151" fmla="*/ 0 h 785"/>
                <a:gd name="T152" fmla="*/ 1578 w 1578"/>
                <a:gd name="T153" fmla="*/ 785 h 78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578" h="785">
                  <a:moveTo>
                    <a:pt x="52" y="17"/>
                  </a:moveTo>
                  <a:lnTo>
                    <a:pt x="52" y="17"/>
                  </a:lnTo>
                  <a:lnTo>
                    <a:pt x="797" y="17"/>
                  </a:lnTo>
                  <a:lnTo>
                    <a:pt x="814" y="0"/>
                  </a:lnTo>
                  <a:lnTo>
                    <a:pt x="832" y="33"/>
                  </a:lnTo>
                  <a:lnTo>
                    <a:pt x="866" y="33"/>
                  </a:lnTo>
                  <a:lnTo>
                    <a:pt x="903" y="65"/>
                  </a:lnTo>
                  <a:lnTo>
                    <a:pt x="955" y="65"/>
                  </a:lnTo>
                  <a:lnTo>
                    <a:pt x="884" y="113"/>
                  </a:lnTo>
                  <a:lnTo>
                    <a:pt x="920" y="96"/>
                  </a:lnTo>
                  <a:lnTo>
                    <a:pt x="937" y="113"/>
                  </a:lnTo>
                  <a:lnTo>
                    <a:pt x="989" y="96"/>
                  </a:lnTo>
                  <a:lnTo>
                    <a:pt x="989" y="113"/>
                  </a:lnTo>
                  <a:lnTo>
                    <a:pt x="1006" y="96"/>
                  </a:lnTo>
                  <a:lnTo>
                    <a:pt x="1024" y="113"/>
                  </a:lnTo>
                  <a:lnTo>
                    <a:pt x="1076" y="113"/>
                  </a:lnTo>
                  <a:lnTo>
                    <a:pt x="1093" y="113"/>
                  </a:lnTo>
                  <a:lnTo>
                    <a:pt x="1110" y="129"/>
                  </a:lnTo>
                  <a:lnTo>
                    <a:pt x="1110" y="144"/>
                  </a:lnTo>
                  <a:lnTo>
                    <a:pt x="1024" y="144"/>
                  </a:lnTo>
                  <a:lnTo>
                    <a:pt x="1006" y="192"/>
                  </a:lnTo>
                  <a:lnTo>
                    <a:pt x="1024" y="177"/>
                  </a:lnTo>
                  <a:lnTo>
                    <a:pt x="1006" y="240"/>
                  </a:lnTo>
                  <a:lnTo>
                    <a:pt x="1006" y="273"/>
                  </a:lnTo>
                  <a:lnTo>
                    <a:pt x="1006" y="288"/>
                  </a:lnTo>
                  <a:lnTo>
                    <a:pt x="1024" y="288"/>
                  </a:lnTo>
                  <a:lnTo>
                    <a:pt x="1041" y="273"/>
                  </a:lnTo>
                  <a:lnTo>
                    <a:pt x="1041" y="209"/>
                  </a:lnTo>
                  <a:lnTo>
                    <a:pt x="1058" y="177"/>
                  </a:lnTo>
                  <a:lnTo>
                    <a:pt x="1076" y="161"/>
                  </a:lnTo>
                  <a:lnTo>
                    <a:pt x="1076" y="144"/>
                  </a:lnTo>
                  <a:lnTo>
                    <a:pt x="1127" y="161"/>
                  </a:lnTo>
                  <a:lnTo>
                    <a:pt x="1127" y="192"/>
                  </a:lnTo>
                  <a:lnTo>
                    <a:pt x="1110" y="225"/>
                  </a:lnTo>
                  <a:lnTo>
                    <a:pt x="1145" y="209"/>
                  </a:lnTo>
                  <a:lnTo>
                    <a:pt x="1145" y="240"/>
                  </a:lnTo>
                  <a:lnTo>
                    <a:pt x="1162" y="240"/>
                  </a:lnTo>
                  <a:lnTo>
                    <a:pt x="1127" y="288"/>
                  </a:lnTo>
                  <a:lnTo>
                    <a:pt x="1145" y="288"/>
                  </a:lnTo>
                  <a:lnTo>
                    <a:pt x="1179" y="288"/>
                  </a:lnTo>
                  <a:lnTo>
                    <a:pt x="1248" y="240"/>
                  </a:lnTo>
                  <a:lnTo>
                    <a:pt x="1248" y="225"/>
                  </a:lnTo>
                  <a:lnTo>
                    <a:pt x="1317" y="225"/>
                  </a:lnTo>
                  <a:lnTo>
                    <a:pt x="1317" y="192"/>
                  </a:lnTo>
                  <a:lnTo>
                    <a:pt x="1352" y="177"/>
                  </a:lnTo>
                  <a:lnTo>
                    <a:pt x="1438" y="177"/>
                  </a:lnTo>
                  <a:lnTo>
                    <a:pt x="1475" y="161"/>
                  </a:lnTo>
                  <a:lnTo>
                    <a:pt x="1509" y="81"/>
                  </a:lnTo>
                  <a:lnTo>
                    <a:pt x="1527" y="96"/>
                  </a:lnTo>
                  <a:lnTo>
                    <a:pt x="1544" y="81"/>
                  </a:lnTo>
                  <a:lnTo>
                    <a:pt x="1544" y="96"/>
                  </a:lnTo>
                  <a:lnTo>
                    <a:pt x="1561" y="144"/>
                  </a:lnTo>
                  <a:lnTo>
                    <a:pt x="1578" y="161"/>
                  </a:lnTo>
                  <a:lnTo>
                    <a:pt x="1578" y="177"/>
                  </a:lnTo>
                  <a:lnTo>
                    <a:pt x="1561" y="192"/>
                  </a:lnTo>
                  <a:lnTo>
                    <a:pt x="1527" y="192"/>
                  </a:lnTo>
                  <a:lnTo>
                    <a:pt x="1509" y="209"/>
                  </a:lnTo>
                  <a:lnTo>
                    <a:pt x="1492" y="225"/>
                  </a:lnTo>
                  <a:lnTo>
                    <a:pt x="1456" y="257"/>
                  </a:lnTo>
                  <a:lnTo>
                    <a:pt x="1475" y="288"/>
                  </a:lnTo>
                  <a:lnTo>
                    <a:pt x="1492" y="288"/>
                  </a:lnTo>
                  <a:lnTo>
                    <a:pt x="1492" y="273"/>
                  </a:lnTo>
                  <a:lnTo>
                    <a:pt x="1492" y="288"/>
                  </a:lnTo>
                  <a:lnTo>
                    <a:pt x="1456" y="288"/>
                  </a:lnTo>
                  <a:lnTo>
                    <a:pt x="1404" y="305"/>
                  </a:lnTo>
                  <a:lnTo>
                    <a:pt x="1387" y="321"/>
                  </a:lnTo>
                  <a:lnTo>
                    <a:pt x="1369" y="369"/>
                  </a:lnTo>
                  <a:lnTo>
                    <a:pt x="1352" y="369"/>
                  </a:lnTo>
                  <a:lnTo>
                    <a:pt x="1335" y="353"/>
                  </a:lnTo>
                  <a:lnTo>
                    <a:pt x="1352" y="384"/>
                  </a:lnTo>
                  <a:lnTo>
                    <a:pt x="1335" y="432"/>
                  </a:lnTo>
                  <a:lnTo>
                    <a:pt x="1335" y="401"/>
                  </a:lnTo>
                  <a:lnTo>
                    <a:pt x="1317" y="384"/>
                  </a:lnTo>
                  <a:lnTo>
                    <a:pt x="1335" y="353"/>
                  </a:lnTo>
                  <a:lnTo>
                    <a:pt x="1317" y="369"/>
                  </a:lnTo>
                  <a:lnTo>
                    <a:pt x="1317" y="401"/>
                  </a:lnTo>
                  <a:lnTo>
                    <a:pt x="1300" y="401"/>
                  </a:lnTo>
                  <a:lnTo>
                    <a:pt x="1317" y="401"/>
                  </a:lnTo>
                  <a:lnTo>
                    <a:pt x="1317" y="432"/>
                  </a:lnTo>
                  <a:lnTo>
                    <a:pt x="1335" y="480"/>
                  </a:lnTo>
                  <a:lnTo>
                    <a:pt x="1317" y="512"/>
                  </a:lnTo>
                  <a:lnTo>
                    <a:pt x="1248" y="545"/>
                  </a:lnTo>
                  <a:lnTo>
                    <a:pt x="1196" y="593"/>
                  </a:lnTo>
                  <a:lnTo>
                    <a:pt x="1179" y="624"/>
                  </a:lnTo>
                  <a:lnTo>
                    <a:pt x="1214" y="737"/>
                  </a:lnTo>
                  <a:lnTo>
                    <a:pt x="1214" y="785"/>
                  </a:lnTo>
                  <a:lnTo>
                    <a:pt x="1196" y="785"/>
                  </a:lnTo>
                  <a:lnTo>
                    <a:pt x="1179" y="768"/>
                  </a:lnTo>
                  <a:lnTo>
                    <a:pt x="1145" y="737"/>
                  </a:lnTo>
                  <a:lnTo>
                    <a:pt x="1145" y="672"/>
                  </a:lnTo>
                  <a:lnTo>
                    <a:pt x="1110" y="641"/>
                  </a:lnTo>
                  <a:lnTo>
                    <a:pt x="1076" y="656"/>
                  </a:lnTo>
                  <a:lnTo>
                    <a:pt x="1076" y="641"/>
                  </a:lnTo>
                  <a:lnTo>
                    <a:pt x="1041" y="641"/>
                  </a:lnTo>
                  <a:lnTo>
                    <a:pt x="1006" y="641"/>
                  </a:lnTo>
                  <a:lnTo>
                    <a:pt x="1006" y="624"/>
                  </a:lnTo>
                  <a:lnTo>
                    <a:pt x="955" y="641"/>
                  </a:lnTo>
                  <a:lnTo>
                    <a:pt x="937" y="641"/>
                  </a:lnTo>
                  <a:lnTo>
                    <a:pt x="972" y="641"/>
                  </a:lnTo>
                  <a:lnTo>
                    <a:pt x="955" y="656"/>
                  </a:lnTo>
                  <a:lnTo>
                    <a:pt x="972" y="672"/>
                  </a:lnTo>
                  <a:lnTo>
                    <a:pt x="955" y="672"/>
                  </a:lnTo>
                  <a:lnTo>
                    <a:pt x="920" y="672"/>
                  </a:lnTo>
                  <a:lnTo>
                    <a:pt x="903" y="656"/>
                  </a:lnTo>
                  <a:lnTo>
                    <a:pt x="884" y="656"/>
                  </a:lnTo>
                  <a:lnTo>
                    <a:pt x="849" y="656"/>
                  </a:lnTo>
                  <a:lnTo>
                    <a:pt x="814" y="672"/>
                  </a:lnTo>
                  <a:lnTo>
                    <a:pt x="814" y="656"/>
                  </a:lnTo>
                  <a:lnTo>
                    <a:pt x="797" y="656"/>
                  </a:lnTo>
                  <a:lnTo>
                    <a:pt x="814" y="672"/>
                  </a:lnTo>
                  <a:lnTo>
                    <a:pt x="745" y="720"/>
                  </a:lnTo>
                  <a:lnTo>
                    <a:pt x="745" y="768"/>
                  </a:lnTo>
                  <a:lnTo>
                    <a:pt x="693" y="752"/>
                  </a:lnTo>
                  <a:lnTo>
                    <a:pt x="624" y="656"/>
                  </a:lnTo>
                  <a:lnTo>
                    <a:pt x="607" y="656"/>
                  </a:lnTo>
                  <a:lnTo>
                    <a:pt x="590" y="672"/>
                  </a:lnTo>
                  <a:lnTo>
                    <a:pt x="573" y="672"/>
                  </a:lnTo>
                  <a:lnTo>
                    <a:pt x="538" y="656"/>
                  </a:lnTo>
                  <a:lnTo>
                    <a:pt x="538" y="624"/>
                  </a:lnTo>
                  <a:lnTo>
                    <a:pt x="503" y="593"/>
                  </a:lnTo>
                  <a:lnTo>
                    <a:pt x="365" y="608"/>
                  </a:lnTo>
                  <a:lnTo>
                    <a:pt x="260" y="576"/>
                  </a:lnTo>
                  <a:lnTo>
                    <a:pt x="208" y="576"/>
                  </a:lnTo>
                  <a:lnTo>
                    <a:pt x="190" y="545"/>
                  </a:lnTo>
                  <a:lnTo>
                    <a:pt x="173" y="545"/>
                  </a:lnTo>
                  <a:lnTo>
                    <a:pt x="173" y="528"/>
                  </a:lnTo>
                  <a:lnTo>
                    <a:pt x="104" y="512"/>
                  </a:lnTo>
                  <a:lnTo>
                    <a:pt x="104" y="497"/>
                  </a:lnTo>
                  <a:lnTo>
                    <a:pt x="70" y="464"/>
                  </a:lnTo>
                  <a:lnTo>
                    <a:pt x="70" y="432"/>
                  </a:lnTo>
                  <a:lnTo>
                    <a:pt x="52" y="432"/>
                  </a:lnTo>
                  <a:lnTo>
                    <a:pt x="52" y="416"/>
                  </a:lnTo>
                  <a:lnTo>
                    <a:pt x="70" y="416"/>
                  </a:lnTo>
                  <a:lnTo>
                    <a:pt x="70" y="401"/>
                  </a:lnTo>
                  <a:lnTo>
                    <a:pt x="35" y="401"/>
                  </a:lnTo>
                  <a:lnTo>
                    <a:pt x="52" y="401"/>
                  </a:lnTo>
                  <a:lnTo>
                    <a:pt x="18" y="369"/>
                  </a:lnTo>
                  <a:lnTo>
                    <a:pt x="18" y="353"/>
                  </a:lnTo>
                  <a:lnTo>
                    <a:pt x="0" y="336"/>
                  </a:lnTo>
                  <a:lnTo>
                    <a:pt x="18" y="288"/>
                  </a:lnTo>
                  <a:lnTo>
                    <a:pt x="0" y="240"/>
                  </a:lnTo>
                  <a:lnTo>
                    <a:pt x="18" y="129"/>
                  </a:lnTo>
                  <a:lnTo>
                    <a:pt x="35" y="129"/>
                  </a:lnTo>
                  <a:lnTo>
                    <a:pt x="18" y="129"/>
                  </a:lnTo>
                  <a:lnTo>
                    <a:pt x="0" y="48"/>
                  </a:lnTo>
                  <a:lnTo>
                    <a:pt x="35" y="48"/>
                  </a:lnTo>
                  <a:lnTo>
                    <a:pt x="52" y="65"/>
                  </a:lnTo>
                  <a:lnTo>
                    <a:pt x="35" y="81"/>
                  </a:lnTo>
                  <a:lnTo>
                    <a:pt x="52" y="81"/>
                  </a:lnTo>
                  <a:lnTo>
                    <a:pt x="52" y="33"/>
                  </a:lnTo>
                  <a:lnTo>
                    <a:pt x="52" y="1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37" name="Freeform 66">
              <a:extLst>
                <a:ext uri="{FF2B5EF4-FFF2-40B4-BE49-F238E27FC236}">
                  <a16:creationId xmlns:a16="http://schemas.microsoft.com/office/drawing/2014/main" id="{797BA67F-A4FC-4783-976B-67042FA16EC0}"/>
                </a:ext>
              </a:extLst>
            </p:cNvPr>
            <p:cNvSpPr>
              <a:spLocks/>
            </p:cNvSpPr>
            <p:nvPr>
              <p:custDataLst>
                <p:tags r:id="rId67"/>
              </p:custDataLst>
            </p:nvPr>
          </p:nvSpPr>
          <p:spPr bwMode="auto">
            <a:xfrm>
              <a:off x="5521496" y="5905926"/>
              <a:ext cx="123148" cy="110833"/>
            </a:xfrm>
            <a:custGeom>
              <a:avLst/>
              <a:gdLst>
                <a:gd name="T0" fmla="*/ 27781 w 140"/>
                <a:gd name="T1" fmla="*/ 19050 h 126"/>
                <a:gd name="T2" fmla="*/ 27781 w 140"/>
                <a:gd name="T3" fmla="*/ 19050 h 126"/>
                <a:gd name="T4" fmla="*/ 27781 w 140"/>
                <a:gd name="T5" fmla="*/ 0 h 126"/>
                <a:gd name="T6" fmla="*/ 19844 w 140"/>
                <a:gd name="T7" fmla="*/ 3175 h 126"/>
                <a:gd name="T8" fmla="*/ 16669 w 140"/>
                <a:gd name="T9" fmla="*/ 6350 h 126"/>
                <a:gd name="T10" fmla="*/ 19844 w 140"/>
                <a:gd name="T11" fmla="*/ 9525 h 126"/>
                <a:gd name="T12" fmla="*/ 23812 w 140"/>
                <a:gd name="T13" fmla="*/ 6350 h 126"/>
                <a:gd name="T14" fmla="*/ 23812 w 140"/>
                <a:gd name="T15" fmla="*/ 9525 h 126"/>
                <a:gd name="T16" fmla="*/ 19844 w 140"/>
                <a:gd name="T17" fmla="*/ 9525 h 126"/>
                <a:gd name="T18" fmla="*/ 19844 w 140"/>
                <a:gd name="T19" fmla="*/ 15875 h 126"/>
                <a:gd name="T20" fmla="*/ 19844 w 140"/>
                <a:gd name="T21" fmla="*/ 12700 h 126"/>
                <a:gd name="T22" fmla="*/ 16669 w 140"/>
                <a:gd name="T23" fmla="*/ 12700 h 126"/>
                <a:gd name="T24" fmla="*/ 14287 w 140"/>
                <a:gd name="T25" fmla="*/ 12700 h 126"/>
                <a:gd name="T26" fmla="*/ 3175 w 140"/>
                <a:gd name="T27" fmla="*/ 6350 h 126"/>
                <a:gd name="T28" fmla="*/ 0 w 140"/>
                <a:gd name="T29" fmla="*/ 9525 h 126"/>
                <a:gd name="T30" fmla="*/ 3175 w 140"/>
                <a:gd name="T31" fmla="*/ 12700 h 126"/>
                <a:gd name="T32" fmla="*/ 7144 w 140"/>
                <a:gd name="T33" fmla="*/ 12700 h 126"/>
                <a:gd name="T34" fmla="*/ 7144 w 140"/>
                <a:gd name="T35" fmla="*/ 15875 h 126"/>
                <a:gd name="T36" fmla="*/ 9525 w 140"/>
                <a:gd name="T37" fmla="*/ 15875 h 126"/>
                <a:gd name="T38" fmla="*/ 9525 w 140"/>
                <a:gd name="T39" fmla="*/ 19050 h 126"/>
                <a:gd name="T40" fmla="*/ 16669 w 140"/>
                <a:gd name="T41" fmla="*/ 22225 h 126"/>
                <a:gd name="T42" fmla="*/ 19844 w 140"/>
                <a:gd name="T43" fmla="*/ 22225 h 126"/>
                <a:gd name="T44" fmla="*/ 23812 w 140"/>
                <a:gd name="T45" fmla="*/ 25400 h 126"/>
                <a:gd name="T46" fmla="*/ 27781 w 140"/>
                <a:gd name="T47" fmla="*/ 19050 h 1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40"/>
                <a:gd name="T73" fmla="*/ 0 h 126"/>
                <a:gd name="T74" fmla="*/ 140 w 140"/>
                <a:gd name="T75" fmla="*/ 126 h 1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40" h="126">
                  <a:moveTo>
                    <a:pt x="140" y="96"/>
                  </a:moveTo>
                  <a:lnTo>
                    <a:pt x="140" y="96"/>
                  </a:lnTo>
                  <a:lnTo>
                    <a:pt x="140" y="0"/>
                  </a:lnTo>
                  <a:lnTo>
                    <a:pt x="103" y="15"/>
                  </a:lnTo>
                  <a:lnTo>
                    <a:pt x="86" y="30"/>
                  </a:lnTo>
                  <a:lnTo>
                    <a:pt x="103" y="48"/>
                  </a:lnTo>
                  <a:lnTo>
                    <a:pt x="122" y="30"/>
                  </a:lnTo>
                  <a:lnTo>
                    <a:pt x="122" y="48"/>
                  </a:lnTo>
                  <a:lnTo>
                    <a:pt x="103" y="48"/>
                  </a:lnTo>
                  <a:lnTo>
                    <a:pt x="103" y="78"/>
                  </a:lnTo>
                  <a:lnTo>
                    <a:pt x="103" y="63"/>
                  </a:lnTo>
                  <a:lnTo>
                    <a:pt x="86" y="63"/>
                  </a:lnTo>
                  <a:lnTo>
                    <a:pt x="69" y="63"/>
                  </a:lnTo>
                  <a:lnTo>
                    <a:pt x="17" y="30"/>
                  </a:lnTo>
                  <a:lnTo>
                    <a:pt x="0" y="48"/>
                  </a:lnTo>
                  <a:lnTo>
                    <a:pt x="17" y="63"/>
                  </a:lnTo>
                  <a:lnTo>
                    <a:pt x="34" y="63"/>
                  </a:lnTo>
                  <a:lnTo>
                    <a:pt x="34" y="78"/>
                  </a:lnTo>
                  <a:lnTo>
                    <a:pt x="51" y="78"/>
                  </a:lnTo>
                  <a:lnTo>
                    <a:pt x="51" y="96"/>
                  </a:lnTo>
                  <a:lnTo>
                    <a:pt x="86" y="111"/>
                  </a:lnTo>
                  <a:lnTo>
                    <a:pt x="103" y="111"/>
                  </a:lnTo>
                  <a:lnTo>
                    <a:pt x="122" y="126"/>
                  </a:lnTo>
                  <a:lnTo>
                    <a:pt x="140" y="9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38" name="Freeform 67">
              <a:extLst>
                <a:ext uri="{FF2B5EF4-FFF2-40B4-BE49-F238E27FC236}">
                  <a16:creationId xmlns:a16="http://schemas.microsoft.com/office/drawing/2014/main" id="{EE848AA7-E4F2-42F8-ACB8-6072CE4918E6}"/>
                </a:ext>
              </a:extLst>
            </p:cNvPr>
            <p:cNvSpPr>
              <a:spLocks/>
            </p:cNvSpPr>
            <p:nvPr>
              <p:custDataLst>
                <p:tags r:id="rId68"/>
              </p:custDataLst>
            </p:nvPr>
          </p:nvSpPr>
          <p:spPr bwMode="auto">
            <a:xfrm>
              <a:off x="5644643" y="5905926"/>
              <a:ext cx="91481" cy="126666"/>
            </a:xfrm>
            <a:custGeom>
              <a:avLst/>
              <a:gdLst>
                <a:gd name="T0" fmla="*/ 0 w 103"/>
                <a:gd name="T1" fmla="*/ 19050 h 144"/>
                <a:gd name="T2" fmla="*/ 0 w 103"/>
                <a:gd name="T3" fmla="*/ 19050 h 144"/>
                <a:gd name="T4" fmla="*/ 0 w 103"/>
                <a:gd name="T5" fmla="*/ 0 h 144"/>
                <a:gd name="T6" fmla="*/ 4007 w 103"/>
                <a:gd name="T7" fmla="*/ 9525 h 144"/>
                <a:gd name="T8" fmla="*/ 14426 w 103"/>
                <a:gd name="T9" fmla="*/ 15081 h 144"/>
                <a:gd name="T10" fmla="*/ 20838 w 103"/>
                <a:gd name="T11" fmla="*/ 19050 h 144"/>
                <a:gd name="T12" fmla="*/ 17632 w 103"/>
                <a:gd name="T13" fmla="*/ 21431 h 144"/>
                <a:gd name="T14" fmla="*/ 7213 w 103"/>
                <a:gd name="T15" fmla="*/ 24606 h 144"/>
                <a:gd name="T16" fmla="*/ 4007 w 103"/>
                <a:gd name="T17" fmla="*/ 28575 h 144"/>
                <a:gd name="T18" fmla="*/ 0 w 103"/>
                <a:gd name="T19" fmla="*/ 19050 h 14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3"/>
                <a:gd name="T31" fmla="*/ 0 h 144"/>
                <a:gd name="T32" fmla="*/ 103 w 103"/>
                <a:gd name="T33" fmla="*/ 144 h 14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3" h="144">
                  <a:moveTo>
                    <a:pt x="0" y="96"/>
                  </a:moveTo>
                  <a:lnTo>
                    <a:pt x="0" y="96"/>
                  </a:lnTo>
                  <a:lnTo>
                    <a:pt x="0" y="0"/>
                  </a:lnTo>
                  <a:lnTo>
                    <a:pt x="17" y="48"/>
                  </a:lnTo>
                  <a:lnTo>
                    <a:pt x="69" y="78"/>
                  </a:lnTo>
                  <a:lnTo>
                    <a:pt x="103" y="96"/>
                  </a:lnTo>
                  <a:lnTo>
                    <a:pt x="86" y="111"/>
                  </a:lnTo>
                  <a:lnTo>
                    <a:pt x="34" y="126"/>
                  </a:lnTo>
                  <a:lnTo>
                    <a:pt x="17" y="144"/>
                  </a:lnTo>
                  <a:lnTo>
                    <a:pt x="0" y="9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39" name="Freeform 68">
              <a:extLst>
                <a:ext uri="{FF2B5EF4-FFF2-40B4-BE49-F238E27FC236}">
                  <a16:creationId xmlns:a16="http://schemas.microsoft.com/office/drawing/2014/main" id="{90EA08C8-6563-4175-8F99-618B37E18B81}"/>
                </a:ext>
              </a:extLst>
            </p:cNvPr>
            <p:cNvSpPr>
              <a:spLocks/>
            </p:cNvSpPr>
            <p:nvPr>
              <p:custDataLst>
                <p:tags r:id="rId69"/>
              </p:custDataLst>
            </p:nvPr>
          </p:nvSpPr>
          <p:spPr bwMode="auto">
            <a:xfrm>
              <a:off x="5095757" y="4540746"/>
              <a:ext cx="14074" cy="28148"/>
            </a:xfrm>
            <a:custGeom>
              <a:avLst/>
              <a:gdLst>
                <a:gd name="T0" fmla="*/ 0 w 15"/>
                <a:gd name="T1" fmla="*/ 0 h 33"/>
                <a:gd name="T2" fmla="*/ 0 w 15"/>
                <a:gd name="T3" fmla="*/ 0 h 33"/>
                <a:gd name="T4" fmla="*/ 3387 w 15"/>
                <a:gd name="T5" fmla="*/ 3079 h 33"/>
                <a:gd name="T6" fmla="*/ 0 w 15"/>
                <a:gd name="T7" fmla="*/ 3079 h 33"/>
                <a:gd name="T8" fmla="*/ 3387 w 15"/>
                <a:gd name="T9" fmla="*/ 6158 h 33"/>
                <a:gd name="T10" fmla="*/ 3387 w 15"/>
                <a:gd name="T11" fmla="*/ 3079 h 33"/>
                <a:gd name="T12" fmla="*/ 0 w 15"/>
                <a:gd name="T13" fmla="*/ 0 h 33"/>
                <a:gd name="T14" fmla="*/ 0 60000 65536"/>
                <a:gd name="T15" fmla="*/ 0 60000 65536"/>
                <a:gd name="T16" fmla="*/ 0 60000 65536"/>
                <a:gd name="T17" fmla="*/ 0 60000 65536"/>
                <a:gd name="T18" fmla="*/ 0 60000 65536"/>
                <a:gd name="T19" fmla="*/ 0 60000 65536"/>
                <a:gd name="T20" fmla="*/ 0 60000 65536"/>
                <a:gd name="T21" fmla="*/ 0 w 15"/>
                <a:gd name="T22" fmla="*/ 0 h 33"/>
                <a:gd name="T23" fmla="*/ 15 w 15"/>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33">
                  <a:moveTo>
                    <a:pt x="0" y="0"/>
                  </a:moveTo>
                  <a:lnTo>
                    <a:pt x="0" y="0"/>
                  </a:lnTo>
                  <a:lnTo>
                    <a:pt x="15" y="18"/>
                  </a:lnTo>
                  <a:lnTo>
                    <a:pt x="0" y="18"/>
                  </a:lnTo>
                  <a:lnTo>
                    <a:pt x="15" y="33"/>
                  </a:lnTo>
                  <a:lnTo>
                    <a:pt x="15" y="18"/>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40" name="Freeform 69">
              <a:extLst>
                <a:ext uri="{FF2B5EF4-FFF2-40B4-BE49-F238E27FC236}">
                  <a16:creationId xmlns:a16="http://schemas.microsoft.com/office/drawing/2014/main" id="{4D5AFF08-16E6-4B16-A051-D04F4E30028C}"/>
                </a:ext>
              </a:extLst>
            </p:cNvPr>
            <p:cNvSpPr>
              <a:spLocks/>
            </p:cNvSpPr>
            <p:nvPr>
              <p:custDataLst>
                <p:tags r:id="rId70"/>
              </p:custDataLst>
            </p:nvPr>
          </p:nvSpPr>
          <p:spPr bwMode="auto">
            <a:xfrm>
              <a:off x="5505662" y="5552317"/>
              <a:ext cx="29908" cy="58056"/>
            </a:xfrm>
            <a:custGeom>
              <a:avLst/>
              <a:gdLst>
                <a:gd name="T0" fmla="*/ 3084 w 35"/>
                <a:gd name="T1" fmla="*/ 0 h 65"/>
                <a:gd name="T2" fmla="*/ 3084 w 35"/>
                <a:gd name="T3" fmla="*/ 0 h 65"/>
                <a:gd name="T4" fmla="*/ 0 w 35"/>
                <a:gd name="T5" fmla="*/ 9672 h 65"/>
                <a:gd name="T6" fmla="*/ 3084 w 35"/>
                <a:gd name="T7" fmla="*/ 13701 h 65"/>
                <a:gd name="T8" fmla="*/ 6169 w 35"/>
                <a:gd name="T9" fmla="*/ 4030 h 65"/>
                <a:gd name="T10" fmla="*/ 3084 w 35"/>
                <a:gd name="T11" fmla="*/ 0 h 65"/>
                <a:gd name="T12" fmla="*/ 0 60000 65536"/>
                <a:gd name="T13" fmla="*/ 0 60000 65536"/>
                <a:gd name="T14" fmla="*/ 0 60000 65536"/>
                <a:gd name="T15" fmla="*/ 0 60000 65536"/>
                <a:gd name="T16" fmla="*/ 0 60000 65536"/>
                <a:gd name="T17" fmla="*/ 0 60000 65536"/>
                <a:gd name="T18" fmla="*/ 0 w 35"/>
                <a:gd name="T19" fmla="*/ 0 h 65"/>
                <a:gd name="T20" fmla="*/ 35 w 35"/>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35" h="65">
                  <a:moveTo>
                    <a:pt x="18" y="0"/>
                  </a:moveTo>
                  <a:lnTo>
                    <a:pt x="18" y="0"/>
                  </a:lnTo>
                  <a:lnTo>
                    <a:pt x="0" y="48"/>
                  </a:lnTo>
                  <a:lnTo>
                    <a:pt x="18" y="65"/>
                  </a:lnTo>
                  <a:lnTo>
                    <a:pt x="35" y="17"/>
                  </a:lnTo>
                  <a:lnTo>
                    <a:pt x="18"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41" name="Freeform 70">
              <a:extLst>
                <a:ext uri="{FF2B5EF4-FFF2-40B4-BE49-F238E27FC236}">
                  <a16:creationId xmlns:a16="http://schemas.microsoft.com/office/drawing/2014/main" id="{1CF2459D-4C17-4287-BB03-1B16F97B0243}"/>
                </a:ext>
              </a:extLst>
            </p:cNvPr>
            <p:cNvSpPr>
              <a:spLocks/>
            </p:cNvSpPr>
            <p:nvPr>
              <p:custDataLst>
                <p:tags r:id="rId71"/>
              </p:custDataLst>
            </p:nvPr>
          </p:nvSpPr>
          <p:spPr bwMode="auto">
            <a:xfrm>
              <a:off x="5825846" y="5863704"/>
              <a:ext cx="77407" cy="42222"/>
            </a:xfrm>
            <a:custGeom>
              <a:avLst/>
              <a:gdLst>
                <a:gd name="T0" fmla="*/ 0 w 88"/>
                <a:gd name="T1" fmla="*/ 2381 h 48"/>
                <a:gd name="T2" fmla="*/ 0 w 88"/>
                <a:gd name="T3" fmla="*/ 2381 h 48"/>
                <a:gd name="T4" fmla="*/ 3969 w 88"/>
                <a:gd name="T5" fmla="*/ 5556 h 48"/>
                <a:gd name="T6" fmla="*/ 7144 w 88"/>
                <a:gd name="T7" fmla="*/ 5556 h 48"/>
                <a:gd name="T8" fmla="*/ 10319 w 88"/>
                <a:gd name="T9" fmla="*/ 9525 h 48"/>
                <a:gd name="T10" fmla="*/ 17463 w 88"/>
                <a:gd name="T11" fmla="*/ 2381 h 48"/>
                <a:gd name="T12" fmla="*/ 17463 w 88"/>
                <a:gd name="T13" fmla="*/ 0 h 48"/>
                <a:gd name="T14" fmla="*/ 7144 w 88"/>
                <a:gd name="T15" fmla="*/ 0 h 48"/>
                <a:gd name="T16" fmla="*/ 3969 w 88"/>
                <a:gd name="T17" fmla="*/ 0 h 48"/>
                <a:gd name="T18" fmla="*/ 7144 w 88"/>
                <a:gd name="T19" fmla="*/ 2381 h 48"/>
                <a:gd name="T20" fmla="*/ 3969 w 88"/>
                <a:gd name="T21" fmla="*/ 5556 h 48"/>
                <a:gd name="T22" fmla="*/ 0 w 88"/>
                <a:gd name="T23" fmla="*/ 2381 h 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8"/>
                <a:gd name="T37" fmla="*/ 0 h 48"/>
                <a:gd name="T38" fmla="*/ 88 w 88"/>
                <a:gd name="T39" fmla="*/ 48 h 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8" h="48">
                  <a:moveTo>
                    <a:pt x="0" y="15"/>
                  </a:moveTo>
                  <a:lnTo>
                    <a:pt x="0" y="15"/>
                  </a:lnTo>
                  <a:lnTo>
                    <a:pt x="17" y="30"/>
                  </a:lnTo>
                  <a:lnTo>
                    <a:pt x="35" y="30"/>
                  </a:lnTo>
                  <a:lnTo>
                    <a:pt x="52" y="48"/>
                  </a:lnTo>
                  <a:lnTo>
                    <a:pt x="88" y="15"/>
                  </a:lnTo>
                  <a:lnTo>
                    <a:pt x="88" y="0"/>
                  </a:lnTo>
                  <a:lnTo>
                    <a:pt x="35" y="0"/>
                  </a:lnTo>
                  <a:lnTo>
                    <a:pt x="17" y="0"/>
                  </a:lnTo>
                  <a:lnTo>
                    <a:pt x="35" y="15"/>
                  </a:lnTo>
                  <a:lnTo>
                    <a:pt x="17" y="3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42" name="Freeform 71">
              <a:extLst>
                <a:ext uri="{FF2B5EF4-FFF2-40B4-BE49-F238E27FC236}">
                  <a16:creationId xmlns:a16="http://schemas.microsoft.com/office/drawing/2014/main" id="{627DB8EE-B7BF-4BF7-B328-EE0509F40C79}"/>
                </a:ext>
              </a:extLst>
            </p:cNvPr>
            <p:cNvSpPr>
              <a:spLocks/>
            </p:cNvSpPr>
            <p:nvPr>
              <p:custDataLst>
                <p:tags r:id="rId72"/>
              </p:custDataLst>
            </p:nvPr>
          </p:nvSpPr>
          <p:spPr bwMode="auto">
            <a:xfrm>
              <a:off x="5475755" y="4940097"/>
              <a:ext cx="197036" cy="1025645"/>
            </a:xfrm>
            <a:custGeom>
              <a:avLst/>
              <a:gdLst>
                <a:gd name="T0" fmla="*/ 27781 w 224"/>
                <a:gd name="T1" fmla="*/ 3172 h 1167"/>
                <a:gd name="T2" fmla="*/ 38100 w 224"/>
                <a:gd name="T3" fmla="*/ 9517 h 1167"/>
                <a:gd name="T4" fmla="*/ 41275 w 224"/>
                <a:gd name="T5" fmla="*/ 28551 h 1167"/>
                <a:gd name="T6" fmla="*/ 44450 w 224"/>
                <a:gd name="T7" fmla="*/ 34102 h 1167"/>
                <a:gd name="T8" fmla="*/ 41275 w 224"/>
                <a:gd name="T9" fmla="*/ 47584 h 1167"/>
                <a:gd name="T10" fmla="*/ 27781 w 224"/>
                <a:gd name="T11" fmla="*/ 76135 h 1167"/>
                <a:gd name="T12" fmla="*/ 27781 w 224"/>
                <a:gd name="T13" fmla="*/ 97548 h 1167"/>
                <a:gd name="T14" fmla="*/ 23812 w 224"/>
                <a:gd name="T15" fmla="*/ 107064 h 1167"/>
                <a:gd name="T16" fmla="*/ 20638 w 224"/>
                <a:gd name="T17" fmla="*/ 126098 h 1167"/>
                <a:gd name="T18" fmla="*/ 20638 w 224"/>
                <a:gd name="T19" fmla="*/ 145132 h 1167"/>
                <a:gd name="T20" fmla="*/ 23812 w 224"/>
                <a:gd name="T21" fmla="*/ 157821 h 1167"/>
                <a:gd name="T22" fmla="*/ 20638 w 224"/>
                <a:gd name="T23" fmla="*/ 161786 h 1167"/>
                <a:gd name="T24" fmla="*/ 20638 w 224"/>
                <a:gd name="T25" fmla="*/ 173682 h 1167"/>
                <a:gd name="T26" fmla="*/ 17463 w 224"/>
                <a:gd name="T27" fmla="*/ 186371 h 1167"/>
                <a:gd name="T28" fmla="*/ 14288 w 224"/>
                <a:gd name="T29" fmla="*/ 202233 h 1167"/>
                <a:gd name="T30" fmla="*/ 17463 w 224"/>
                <a:gd name="T31" fmla="*/ 202233 h 1167"/>
                <a:gd name="T32" fmla="*/ 20638 w 224"/>
                <a:gd name="T33" fmla="*/ 214922 h 1167"/>
                <a:gd name="T34" fmla="*/ 38100 w 224"/>
                <a:gd name="T35" fmla="*/ 214922 h 1167"/>
                <a:gd name="T36" fmla="*/ 34131 w 224"/>
                <a:gd name="T37" fmla="*/ 214922 h 1167"/>
                <a:gd name="T38" fmla="*/ 27781 w 224"/>
                <a:gd name="T39" fmla="*/ 221267 h 1167"/>
                <a:gd name="T40" fmla="*/ 23812 w 224"/>
                <a:gd name="T41" fmla="*/ 230783 h 1167"/>
                <a:gd name="T42" fmla="*/ 23812 w 224"/>
                <a:gd name="T43" fmla="*/ 224439 h 1167"/>
                <a:gd name="T44" fmla="*/ 17463 w 224"/>
                <a:gd name="T45" fmla="*/ 224439 h 1167"/>
                <a:gd name="T46" fmla="*/ 14288 w 224"/>
                <a:gd name="T47" fmla="*/ 218887 h 1167"/>
                <a:gd name="T48" fmla="*/ 7144 w 224"/>
                <a:gd name="T49" fmla="*/ 214922 h 1167"/>
                <a:gd name="T50" fmla="*/ 3969 w 224"/>
                <a:gd name="T51" fmla="*/ 214922 h 1167"/>
                <a:gd name="T52" fmla="*/ 7144 w 224"/>
                <a:gd name="T53" fmla="*/ 211750 h 1167"/>
                <a:gd name="T54" fmla="*/ 7144 w 224"/>
                <a:gd name="T55" fmla="*/ 205405 h 1167"/>
                <a:gd name="T56" fmla="*/ 3969 w 224"/>
                <a:gd name="T57" fmla="*/ 211750 h 1167"/>
                <a:gd name="T58" fmla="*/ 7144 w 224"/>
                <a:gd name="T59" fmla="*/ 205405 h 1167"/>
                <a:gd name="T60" fmla="*/ 3969 w 224"/>
                <a:gd name="T61" fmla="*/ 205405 h 1167"/>
                <a:gd name="T62" fmla="*/ 0 w 224"/>
                <a:gd name="T63" fmla="*/ 195888 h 1167"/>
                <a:gd name="T64" fmla="*/ 3969 w 224"/>
                <a:gd name="T65" fmla="*/ 183199 h 1167"/>
                <a:gd name="T66" fmla="*/ 7144 w 224"/>
                <a:gd name="T67" fmla="*/ 186371 h 1167"/>
                <a:gd name="T68" fmla="*/ 3969 w 224"/>
                <a:gd name="T69" fmla="*/ 173682 h 1167"/>
                <a:gd name="T70" fmla="*/ 7144 w 224"/>
                <a:gd name="T71" fmla="*/ 171303 h 1167"/>
                <a:gd name="T72" fmla="*/ 7144 w 224"/>
                <a:gd name="T73" fmla="*/ 167338 h 1167"/>
                <a:gd name="T74" fmla="*/ 10319 w 224"/>
                <a:gd name="T75" fmla="*/ 154649 h 1167"/>
                <a:gd name="T76" fmla="*/ 10319 w 224"/>
                <a:gd name="T77" fmla="*/ 161786 h 1167"/>
                <a:gd name="T78" fmla="*/ 17463 w 224"/>
                <a:gd name="T79" fmla="*/ 142753 h 1167"/>
                <a:gd name="T80" fmla="*/ 14288 w 224"/>
                <a:gd name="T81" fmla="*/ 138787 h 1167"/>
                <a:gd name="T82" fmla="*/ 10319 w 224"/>
                <a:gd name="T83" fmla="*/ 126098 h 1167"/>
                <a:gd name="T84" fmla="*/ 10319 w 224"/>
                <a:gd name="T85" fmla="*/ 114202 h 1167"/>
                <a:gd name="T86" fmla="*/ 23812 w 224"/>
                <a:gd name="T87" fmla="*/ 81686 h 1167"/>
                <a:gd name="T88" fmla="*/ 23812 w 224"/>
                <a:gd name="T89" fmla="*/ 66618 h 1167"/>
                <a:gd name="T90" fmla="*/ 27781 w 224"/>
                <a:gd name="T91" fmla="*/ 47584 h 1167"/>
                <a:gd name="T92" fmla="*/ 30956 w 224"/>
                <a:gd name="T93" fmla="*/ 19034 h 116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24"/>
                <a:gd name="T142" fmla="*/ 0 h 1167"/>
                <a:gd name="T143" fmla="*/ 224 w 224"/>
                <a:gd name="T144" fmla="*/ 1167 h 116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24" h="1167">
                  <a:moveTo>
                    <a:pt x="138" y="16"/>
                  </a:moveTo>
                  <a:lnTo>
                    <a:pt x="138" y="16"/>
                  </a:lnTo>
                  <a:lnTo>
                    <a:pt x="172" y="0"/>
                  </a:lnTo>
                  <a:lnTo>
                    <a:pt x="190" y="48"/>
                  </a:lnTo>
                  <a:lnTo>
                    <a:pt x="190" y="64"/>
                  </a:lnTo>
                  <a:lnTo>
                    <a:pt x="207" y="144"/>
                  </a:lnTo>
                  <a:lnTo>
                    <a:pt x="224" y="144"/>
                  </a:lnTo>
                  <a:lnTo>
                    <a:pt x="224" y="175"/>
                  </a:lnTo>
                  <a:lnTo>
                    <a:pt x="190" y="192"/>
                  </a:lnTo>
                  <a:lnTo>
                    <a:pt x="207" y="240"/>
                  </a:lnTo>
                  <a:lnTo>
                    <a:pt x="172" y="288"/>
                  </a:lnTo>
                  <a:lnTo>
                    <a:pt x="138" y="384"/>
                  </a:lnTo>
                  <a:lnTo>
                    <a:pt x="155" y="447"/>
                  </a:lnTo>
                  <a:lnTo>
                    <a:pt x="138" y="495"/>
                  </a:lnTo>
                  <a:lnTo>
                    <a:pt x="138" y="528"/>
                  </a:lnTo>
                  <a:lnTo>
                    <a:pt x="121" y="543"/>
                  </a:lnTo>
                  <a:lnTo>
                    <a:pt x="121" y="607"/>
                  </a:lnTo>
                  <a:lnTo>
                    <a:pt x="103" y="639"/>
                  </a:lnTo>
                  <a:lnTo>
                    <a:pt x="103" y="703"/>
                  </a:lnTo>
                  <a:lnTo>
                    <a:pt x="103" y="735"/>
                  </a:lnTo>
                  <a:lnTo>
                    <a:pt x="103" y="799"/>
                  </a:lnTo>
                  <a:lnTo>
                    <a:pt x="121" y="799"/>
                  </a:lnTo>
                  <a:lnTo>
                    <a:pt x="121" y="816"/>
                  </a:lnTo>
                  <a:lnTo>
                    <a:pt x="103" y="816"/>
                  </a:lnTo>
                  <a:lnTo>
                    <a:pt x="121" y="816"/>
                  </a:lnTo>
                  <a:lnTo>
                    <a:pt x="103" y="879"/>
                  </a:lnTo>
                  <a:lnTo>
                    <a:pt x="86" y="912"/>
                  </a:lnTo>
                  <a:lnTo>
                    <a:pt x="86" y="942"/>
                  </a:lnTo>
                  <a:lnTo>
                    <a:pt x="69" y="990"/>
                  </a:lnTo>
                  <a:lnTo>
                    <a:pt x="69" y="1023"/>
                  </a:lnTo>
                  <a:lnTo>
                    <a:pt x="69" y="1038"/>
                  </a:lnTo>
                  <a:lnTo>
                    <a:pt x="86" y="1023"/>
                  </a:lnTo>
                  <a:lnTo>
                    <a:pt x="86" y="1071"/>
                  </a:lnTo>
                  <a:lnTo>
                    <a:pt x="103" y="1086"/>
                  </a:lnTo>
                  <a:lnTo>
                    <a:pt x="155" y="1086"/>
                  </a:lnTo>
                  <a:lnTo>
                    <a:pt x="190" y="1086"/>
                  </a:lnTo>
                  <a:lnTo>
                    <a:pt x="190" y="1104"/>
                  </a:lnTo>
                  <a:lnTo>
                    <a:pt x="172" y="1086"/>
                  </a:lnTo>
                  <a:lnTo>
                    <a:pt x="172" y="1104"/>
                  </a:lnTo>
                  <a:lnTo>
                    <a:pt x="138" y="1119"/>
                  </a:lnTo>
                  <a:lnTo>
                    <a:pt x="138" y="1152"/>
                  </a:lnTo>
                  <a:lnTo>
                    <a:pt x="121" y="1167"/>
                  </a:lnTo>
                  <a:lnTo>
                    <a:pt x="103" y="1134"/>
                  </a:lnTo>
                  <a:lnTo>
                    <a:pt x="121" y="1134"/>
                  </a:lnTo>
                  <a:lnTo>
                    <a:pt x="121" y="1119"/>
                  </a:lnTo>
                  <a:lnTo>
                    <a:pt x="86" y="1134"/>
                  </a:lnTo>
                  <a:lnTo>
                    <a:pt x="69" y="1119"/>
                  </a:lnTo>
                  <a:lnTo>
                    <a:pt x="69" y="1104"/>
                  </a:lnTo>
                  <a:lnTo>
                    <a:pt x="52" y="1104"/>
                  </a:lnTo>
                  <a:lnTo>
                    <a:pt x="34" y="1086"/>
                  </a:lnTo>
                  <a:lnTo>
                    <a:pt x="34" y="1104"/>
                  </a:lnTo>
                  <a:lnTo>
                    <a:pt x="17" y="1086"/>
                  </a:lnTo>
                  <a:lnTo>
                    <a:pt x="17" y="1071"/>
                  </a:lnTo>
                  <a:lnTo>
                    <a:pt x="34" y="1071"/>
                  </a:lnTo>
                  <a:lnTo>
                    <a:pt x="34" y="1056"/>
                  </a:lnTo>
                  <a:lnTo>
                    <a:pt x="34" y="1038"/>
                  </a:lnTo>
                  <a:lnTo>
                    <a:pt x="34" y="1056"/>
                  </a:lnTo>
                  <a:lnTo>
                    <a:pt x="17" y="1071"/>
                  </a:lnTo>
                  <a:lnTo>
                    <a:pt x="17" y="1023"/>
                  </a:lnTo>
                  <a:lnTo>
                    <a:pt x="34" y="1038"/>
                  </a:lnTo>
                  <a:lnTo>
                    <a:pt x="34" y="1008"/>
                  </a:lnTo>
                  <a:lnTo>
                    <a:pt x="17" y="1038"/>
                  </a:lnTo>
                  <a:lnTo>
                    <a:pt x="17" y="1008"/>
                  </a:lnTo>
                  <a:lnTo>
                    <a:pt x="0" y="990"/>
                  </a:lnTo>
                  <a:lnTo>
                    <a:pt x="0" y="975"/>
                  </a:lnTo>
                  <a:lnTo>
                    <a:pt x="17" y="927"/>
                  </a:lnTo>
                  <a:lnTo>
                    <a:pt x="17" y="912"/>
                  </a:lnTo>
                  <a:lnTo>
                    <a:pt x="34" y="942"/>
                  </a:lnTo>
                  <a:lnTo>
                    <a:pt x="52" y="879"/>
                  </a:lnTo>
                  <a:lnTo>
                    <a:pt x="17" y="879"/>
                  </a:lnTo>
                  <a:lnTo>
                    <a:pt x="0" y="879"/>
                  </a:lnTo>
                  <a:lnTo>
                    <a:pt x="34" y="864"/>
                  </a:lnTo>
                  <a:lnTo>
                    <a:pt x="17" y="846"/>
                  </a:lnTo>
                  <a:lnTo>
                    <a:pt x="34" y="846"/>
                  </a:lnTo>
                  <a:lnTo>
                    <a:pt x="34" y="799"/>
                  </a:lnTo>
                  <a:lnTo>
                    <a:pt x="52" y="783"/>
                  </a:lnTo>
                  <a:lnTo>
                    <a:pt x="69" y="783"/>
                  </a:lnTo>
                  <a:lnTo>
                    <a:pt x="52" y="816"/>
                  </a:lnTo>
                  <a:lnTo>
                    <a:pt x="52" y="831"/>
                  </a:lnTo>
                  <a:lnTo>
                    <a:pt x="86" y="720"/>
                  </a:lnTo>
                  <a:lnTo>
                    <a:pt x="86" y="703"/>
                  </a:lnTo>
                  <a:lnTo>
                    <a:pt x="69" y="703"/>
                  </a:lnTo>
                  <a:lnTo>
                    <a:pt x="52" y="687"/>
                  </a:lnTo>
                  <a:lnTo>
                    <a:pt x="52" y="639"/>
                  </a:lnTo>
                  <a:lnTo>
                    <a:pt x="69" y="624"/>
                  </a:lnTo>
                  <a:lnTo>
                    <a:pt x="52" y="576"/>
                  </a:lnTo>
                  <a:lnTo>
                    <a:pt x="69" y="559"/>
                  </a:lnTo>
                  <a:lnTo>
                    <a:pt x="121" y="415"/>
                  </a:lnTo>
                  <a:lnTo>
                    <a:pt x="103" y="367"/>
                  </a:lnTo>
                  <a:lnTo>
                    <a:pt x="121" y="336"/>
                  </a:lnTo>
                  <a:lnTo>
                    <a:pt x="121" y="303"/>
                  </a:lnTo>
                  <a:lnTo>
                    <a:pt x="138" y="240"/>
                  </a:lnTo>
                  <a:lnTo>
                    <a:pt x="138" y="144"/>
                  </a:lnTo>
                  <a:lnTo>
                    <a:pt x="155" y="96"/>
                  </a:lnTo>
                  <a:lnTo>
                    <a:pt x="138"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43" name="Freeform 72">
              <a:extLst>
                <a:ext uri="{FF2B5EF4-FFF2-40B4-BE49-F238E27FC236}">
                  <a16:creationId xmlns:a16="http://schemas.microsoft.com/office/drawing/2014/main" id="{F3958069-70E3-4777-8614-71049E66F3DF}"/>
                </a:ext>
              </a:extLst>
            </p:cNvPr>
            <p:cNvSpPr>
              <a:spLocks/>
            </p:cNvSpPr>
            <p:nvPr>
              <p:custDataLst>
                <p:tags r:id="rId73"/>
              </p:custDataLst>
            </p:nvPr>
          </p:nvSpPr>
          <p:spPr bwMode="auto">
            <a:xfrm>
              <a:off x="5400107" y="4264544"/>
              <a:ext cx="272685" cy="365924"/>
            </a:xfrm>
            <a:custGeom>
              <a:avLst/>
              <a:gdLst>
                <a:gd name="T0" fmla="*/ 47472 w 311"/>
                <a:gd name="T1" fmla="*/ 83746 h 414"/>
                <a:gd name="T2" fmla="*/ 47472 w 311"/>
                <a:gd name="T3" fmla="*/ 83746 h 414"/>
                <a:gd name="T4" fmla="*/ 50637 w 311"/>
                <a:gd name="T5" fmla="*/ 70187 h 414"/>
                <a:gd name="T6" fmla="*/ 47472 w 311"/>
                <a:gd name="T7" fmla="*/ 60616 h 414"/>
                <a:gd name="T8" fmla="*/ 50637 w 311"/>
                <a:gd name="T9" fmla="*/ 60616 h 414"/>
                <a:gd name="T10" fmla="*/ 47472 w 311"/>
                <a:gd name="T11" fmla="*/ 58224 h 414"/>
                <a:gd name="T12" fmla="*/ 47472 w 311"/>
                <a:gd name="T13" fmla="*/ 54236 h 414"/>
                <a:gd name="T14" fmla="*/ 60922 w 311"/>
                <a:gd name="T15" fmla="*/ 54236 h 414"/>
                <a:gd name="T16" fmla="*/ 60922 w 311"/>
                <a:gd name="T17" fmla="*/ 48653 h 414"/>
                <a:gd name="T18" fmla="*/ 57758 w 311"/>
                <a:gd name="T19" fmla="*/ 41474 h 414"/>
                <a:gd name="T20" fmla="*/ 60922 w 311"/>
                <a:gd name="T21" fmla="*/ 31903 h 414"/>
                <a:gd name="T22" fmla="*/ 50637 w 311"/>
                <a:gd name="T23" fmla="*/ 31903 h 414"/>
                <a:gd name="T24" fmla="*/ 47472 w 311"/>
                <a:gd name="T25" fmla="*/ 28713 h 414"/>
                <a:gd name="T26" fmla="*/ 37186 w 311"/>
                <a:gd name="T27" fmla="*/ 28713 h 414"/>
                <a:gd name="T28" fmla="*/ 34022 w 311"/>
                <a:gd name="T29" fmla="*/ 25523 h 414"/>
                <a:gd name="T30" fmla="*/ 34022 w 311"/>
                <a:gd name="T31" fmla="*/ 22332 h 414"/>
                <a:gd name="T32" fmla="*/ 30857 w 311"/>
                <a:gd name="T33" fmla="*/ 15952 h 414"/>
                <a:gd name="T34" fmla="*/ 34022 w 311"/>
                <a:gd name="T35" fmla="*/ 9571 h 414"/>
                <a:gd name="T36" fmla="*/ 37186 w 311"/>
                <a:gd name="T37" fmla="*/ 6381 h 414"/>
                <a:gd name="T38" fmla="*/ 41142 w 311"/>
                <a:gd name="T39" fmla="*/ 3190 h 414"/>
                <a:gd name="T40" fmla="*/ 37186 w 311"/>
                <a:gd name="T41" fmla="*/ 0 h 414"/>
                <a:gd name="T42" fmla="*/ 30857 w 311"/>
                <a:gd name="T43" fmla="*/ 6381 h 414"/>
                <a:gd name="T44" fmla="*/ 20571 w 311"/>
                <a:gd name="T45" fmla="*/ 9571 h 414"/>
                <a:gd name="T46" fmla="*/ 16615 w 311"/>
                <a:gd name="T47" fmla="*/ 15952 h 414"/>
                <a:gd name="T48" fmla="*/ 10286 w 311"/>
                <a:gd name="T49" fmla="*/ 19142 h 414"/>
                <a:gd name="T50" fmla="*/ 10286 w 311"/>
                <a:gd name="T51" fmla="*/ 25523 h 414"/>
                <a:gd name="T52" fmla="*/ 6330 w 311"/>
                <a:gd name="T53" fmla="*/ 19142 h 414"/>
                <a:gd name="T54" fmla="*/ 10286 w 311"/>
                <a:gd name="T55" fmla="*/ 22332 h 414"/>
                <a:gd name="T56" fmla="*/ 6330 w 311"/>
                <a:gd name="T57" fmla="*/ 25523 h 414"/>
                <a:gd name="T58" fmla="*/ 6330 w 311"/>
                <a:gd name="T59" fmla="*/ 28713 h 414"/>
                <a:gd name="T60" fmla="*/ 6330 w 311"/>
                <a:gd name="T61" fmla="*/ 31903 h 414"/>
                <a:gd name="T62" fmla="*/ 6330 w 311"/>
                <a:gd name="T63" fmla="*/ 44665 h 414"/>
                <a:gd name="T64" fmla="*/ 10286 w 311"/>
                <a:gd name="T65" fmla="*/ 44665 h 414"/>
                <a:gd name="T66" fmla="*/ 6330 w 311"/>
                <a:gd name="T67" fmla="*/ 51045 h 414"/>
                <a:gd name="T68" fmla="*/ 3165 w 311"/>
                <a:gd name="T69" fmla="*/ 51045 h 414"/>
                <a:gd name="T70" fmla="*/ 3165 w 311"/>
                <a:gd name="T71" fmla="*/ 54236 h 414"/>
                <a:gd name="T72" fmla="*/ 0 w 311"/>
                <a:gd name="T73" fmla="*/ 54236 h 414"/>
                <a:gd name="T74" fmla="*/ 0 w 311"/>
                <a:gd name="T75" fmla="*/ 58224 h 414"/>
                <a:gd name="T76" fmla="*/ 10286 w 311"/>
                <a:gd name="T77" fmla="*/ 63807 h 414"/>
                <a:gd name="T78" fmla="*/ 16615 w 311"/>
                <a:gd name="T79" fmla="*/ 60616 h 414"/>
                <a:gd name="T80" fmla="*/ 20571 w 311"/>
                <a:gd name="T81" fmla="*/ 63807 h 414"/>
                <a:gd name="T82" fmla="*/ 26901 w 311"/>
                <a:gd name="T83" fmla="*/ 70187 h 414"/>
                <a:gd name="T84" fmla="*/ 30857 w 311"/>
                <a:gd name="T85" fmla="*/ 76568 h 414"/>
                <a:gd name="T86" fmla="*/ 44307 w 311"/>
                <a:gd name="T87" fmla="*/ 73378 h 414"/>
                <a:gd name="T88" fmla="*/ 47472 w 311"/>
                <a:gd name="T89" fmla="*/ 76568 h 414"/>
                <a:gd name="T90" fmla="*/ 47472 w 311"/>
                <a:gd name="T91" fmla="*/ 79758 h 414"/>
                <a:gd name="T92" fmla="*/ 44307 w 311"/>
                <a:gd name="T93" fmla="*/ 79758 h 414"/>
                <a:gd name="T94" fmla="*/ 47472 w 311"/>
                <a:gd name="T95" fmla="*/ 83746 h 41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11"/>
                <a:gd name="T145" fmla="*/ 0 h 414"/>
                <a:gd name="T146" fmla="*/ 311 w 311"/>
                <a:gd name="T147" fmla="*/ 414 h 41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11" h="414">
                  <a:moveTo>
                    <a:pt x="242" y="414"/>
                  </a:moveTo>
                  <a:lnTo>
                    <a:pt x="242" y="414"/>
                  </a:lnTo>
                  <a:lnTo>
                    <a:pt x="259" y="351"/>
                  </a:lnTo>
                  <a:lnTo>
                    <a:pt x="242" y="303"/>
                  </a:lnTo>
                  <a:lnTo>
                    <a:pt x="259" y="303"/>
                  </a:lnTo>
                  <a:lnTo>
                    <a:pt x="242" y="288"/>
                  </a:lnTo>
                  <a:lnTo>
                    <a:pt x="242" y="270"/>
                  </a:lnTo>
                  <a:lnTo>
                    <a:pt x="311" y="270"/>
                  </a:lnTo>
                  <a:lnTo>
                    <a:pt x="311" y="240"/>
                  </a:lnTo>
                  <a:lnTo>
                    <a:pt x="294" y="207"/>
                  </a:lnTo>
                  <a:lnTo>
                    <a:pt x="311" y="159"/>
                  </a:lnTo>
                  <a:lnTo>
                    <a:pt x="259" y="159"/>
                  </a:lnTo>
                  <a:lnTo>
                    <a:pt x="242" y="144"/>
                  </a:lnTo>
                  <a:lnTo>
                    <a:pt x="190" y="144"/>
                  </a:lnTo>
                  <a:lnTo>
                    <a:pt x="173" y="126"/>
                  </a:lnTo>
                  <a:lnTo>
                    <a:pt x="173" y="111"/>
                  </a:lnTo>
                  <a:lnTo>
                    <a:pt x="156" y="78"/>
                  </a:lnTo>
                  <a:lnTo>
                    <a:pt x="173" y="48"/>
                  </a:lnTo>
                  <a:lnTo>
                    <a:pt x="190" y="30"/>
                  </a:lnTo>
                  <a:lnTo>
                    <a:pt x="208" y="15"/>
                  </a:lnTo>
                  <a:lnTo>
                    <a:pt x="190" y="0"/>
                  </a:lnTo>
                  <a:lnTo>
                    <a:pt x="156" y="30"/>
                  </a:lnTo>
                  <a:lnTo>
                    <a:pt x="104" y="48"/>
                  </a:lnTo>
                  <a:lnTo>
                    <a:pt x="87" y="78"/>
                  </a:lnTo>
                  <a:lnTo>
                    <a:pt x="52" y="96"/>
                  </a:lnTo>
                  <a:lnTo>
                    <a:pt x="52" y="126"/>
                  </a:lnTo>
                  <a:lnTo>
                    <a:pt x="35" y="96"/>
                  </a:lnTo>
                  <a:lnTo>
                    <a:pt x="52" y="111"/>
                  </a:lnTo>
                  <a:lnTo>
                    <a:pt x="35" y="126"/>
                  </a:lnTo>
                  <a:lnTo>
                    <a:pt x="35" y="144"/>
                  </a:lnTo>
                  <a:lnTo>
                    <a:pt x="35" y="159"/>
                  </a:lnTo>
                  <a:lnTo>
                    <a:pt x="35" y="222"/>
                  </a:lnTo>
                  <a:lnTo>
                    <a:pt x="52" y="222"/>
                  </a:lnTo>
                  <a:lnTo>
                    <a:pt x="35" y="255"/>
                  </a:lnTo>
                  <a:lnTo>
                    <a:pt x="18" y="255"/>
                  </a:lnTo>
                  <a:lnTo>
                    <a:pt x="18" y="270"/>
                  </a:lnTo>
                  <a:lnTo>
                    <a:pt x="0" y="270"/>
                  </a:lnTo>
                  <a:lnTo>
                    <a:pt x="0" y="288"/>
                  </a:lnTo>
                  <a:lnTo>
                    <a:pt x="52" y="318"/>
                  </a:lnTo>
                  <a:lnTo>
                    <a:pt x="87" y="303"/>
                  </a:lnTo>
                  <a:lnTo>
                    <a:pt x="104" y="318"/>
                  </a:lnTo>
                  <a:lnTo>
                    <a:pt x="139" y="351"/>
                  </a:lnTo>
                  <a:lnTo>
                    <a:pt x="156" y="383"/>
                  </a:lnTo>
                  <a:lnTo>
                    <a:pt x="225" y="366"/>
                  </a:lnTo>
                  <a:lnTo>
                    <a:pt x="242" y="383"/>
                  </a:lnTo>
                  <a:lnTo>
                    <a:pt x="242" y="399"/>
                  </a:lnTo>
                  <a:lnTo>
                    <a:pt x="225" y="399"/>
                  </a:lnTo>
                  <a:lnTo>
                    <a:pt x="242" y="41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44" name="Freeform 73">
              <a:extLst>
                <a:ext uri="{FF2B5EF4-FFF2-40B4-BE49-F238E27FC236}">
                  <a16:creationId xmlns:a16="http://schemas.microsoft.com/office/drawing/2014/main" id="{DAB2EC10-BBF7-433F-9A38-4AC306727848}"/>
                </a:ext>
              </a:extLst>
            </p:cNvPr>
            <p:cNvSpPr>
              <a:spLocks/>
            </p:cNvSpPr>
            <p:nvPr>
              <p:custDataLst>
                <p:tags r:id="rId74"/>
              </p:custDataLst>
            </p:nvPr>
          </p:nvSpPr>
          <p:spPr bwMode="auto">
            <a:xfrm>
              <a:off x="5354366" y="4517876"/>
              <a:ext cx="135463" cy="140740"/>
            </a:xfrm>
            <a:custGeom>
              <a:avLst/>
              <a:gdLst>
                <a:gd name="T0" fmla="*/ 29776 w 156"/>
                <a:gd name="T1" fmla="*/ 6390 h 159"/>
                <a:gd name="T2" fmla="*/ 29776 w 156"/>
                <a:gd name="T3" fmla="*/ 6390 h 159"/>
                <a:gd name="T4" fmla="*/ 26642 w 156"/>
                <a:gd name="T5" fmla="*/ 3195 h 159"/>
                <a:gd name="T6" fmla="*/ 19589 w 156"/>
                <a:gd name="T7" fmla="*/ 6390 h 159"/>
                <a:gd name="T8" fmla="*/ 10186 w 156"/>
                <a:gd name="T9" fmla="*/ 0 h 159"/>
                <a:gd name="T10" fmla="*/ 3134 w 156"/>
                <a:gd name="T11" fmla="*/ 3195 h 159"/>
                <a:gd name="T12" fmla="*/ 3134 w 156"/>
                <a:gd name="T13" fmla="*/ 6390 h 159"/>
                <a:gd name="T14" fmla="*/ 0 w 156"/>
                <a:gd name="T15" fmla="*/ 9585 h 159"/>
                <a:gd name="T16" fmla="*/ 0 w 156"/>
                <a:gd name="T17" fmla="*/ 15975 h 159"/>
                <a:gd name="T18" fmla="*/ 3134 w 156"/>
                <a:gd name="T19" fmla="*/ 22365 h 159"/>
                <a:gd name="T20" fmla="*/ 3134 w 156"/>
                <a:gd name="T21" fmla="*/ 19170 h 159"/>
                <a:gd name="T22" fmla="*/ 6269 w 156"/>
                <a:gd name="T23" fmla="*/ 19170 h 159"/>
                <a:gd name="T24" fmla="*/ 3134 w 156"/>
                <a:gd name="T25" fmla="*/ 22365 h 159"/>
                <a:gd name="T26" fmla="*/ 0 w 156"/>
                <a:gd name="T27" fmla="*/ 28755 h 159"/>
                <a:gd name="T28" fmla="*/ 6269 w 156"/>
                <a:gd name="T29" fmla="*/ 31950 h 159"/>
                <a:gd name="T30" fmla="*/ 16455 w 156"/>
                <a:gd name="T31" fmla="*/ 22365 h 159"/>
                <a:gd name="T32" fmla="*/ 23507 w 156"/>
                <a:gd name="T33" fmla="*/ 19170 h 159"/>
                <a:gd name="T34" fmla="*/ 26642 w 156"/>
                <a:gd name="T35" fmla="*/ 15975 h 159"/>
                <a:gd name="T36" fmla="*/ 29776 w 156"/>
                <a:gd name="T37" fmla="*/ 9585 h 159"/>
                <a:gd name="T38" fmla="*/ 26642 w 156"/>
                <a:gd name="T39" fmla="*/ 6390 h 159"/>
                <a:gd name="T40" fmla="*/ 29776 w 156"/>
                <a:gd name="T41" fmla="*/ 6390 h 1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6"/>
                <a:gd name="T64" fmla="*/ 0 h 159"/>
                <a:gd name="T65" fmla="*/ 156 w 156"/>
                <a:gd name="T66" fmla="*/ 159 h 15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6" h="159">
                  <a:moveTo>
                    <a:pt x="156" y="30"/>
                  </a:moveTo>
                  <a:lnTo>
                    <a:pt x="156" y="30"/>
                  </a:lnTo>
                  <a:lnTo>
                    <a:pt x="139" y="15"/>
                  </a:lnTo>
                  <a:lnTo>
                    <a:pt x="104" y="30"/>
                  </a:lnTo>
                  <a:lnTo>
                    <a:pt x="52" y="0"/>
                  </a:lnTo>
                  <a:lnTo>
                    <a:pt x="18" y="15"/>
                  </a:lnTo>
                  <a:lnTo>
                    <a:pt x="18" y="30"/>
                  </a:lnTo>
                  <a:lnTo>
                    <a:pt x="0" y="48"/>
                  </a:lnTo>
                  <a:lnTo>
                    <a:pt x="0" y="78"/>
                  </a:lnTo>
                  <a:lnTo>
                    <a:pt x="18" y="111"/>
                  </a:lnTo>
                  <a:lnTo>
                    <a:pt x="18" y="95"/>
                  </a:lnTo>
                  <a:lnTo>
                    <a:pt x="35" y="95"/>
                  </a:lnTo>
                  <a:lnTo>
                    <a:pt x="18" y="111"/>
                  </a:lnTo>
                  <a:lnTo>
                    <a:pt x="0" y="143"/>
                  </a:lnTo>
                  <a:lnTo>
                    <a:pt x="35" y="159"/>
                  </a:lnTo>
                  <a:lnTo>
                    <a:pt x="87" y="111"/>
                  </a:lnTo>
                  <a:lnTo>
                    <a:pt x="121" y="95"/>
                  </a:lnTo>
                  <a:lnTo>
                    <a:pt x="139" y="78"/>
                  </a:lnTo>
                  <a:lnTo>
                    <a:pt x="156" y="48"/>
                  </a:lnTo>
                  <a:lnTo>
                    <a:pt x="139" y="30"/>
                  </a:lnTo>
                  <a:lnTo>
                    <a:pt x="156" y="3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45" name="Freeform 74">
              <a:extLst>
                <a:ext uri="{FF2B5EF4-FFF2-40B4-BE49-F238E27FC236}">
                  <a16:creationId xmlns:a16="http://schemas.microsoft.com/office/drawing/2014/main" id="{2CC1A83C-5EF6-4265-AC37-6F8B76727C6B}"/>
                </a:ext>
              </a:extLst>
            </p:cNvPr>
            <p:cNvSpPr>
              <a:spLocks/>
            </p:cNvSpPr>
            <p:nvPr>
              <p:custDataLst>
                <p:tags r:id="rId75"/>
              </p:custDataLst>
            </p:nvPr>
          </p:nvSpPr>
          <p:spPr bwMode="auto">
            <a:xfrm>
              <a:off x="5336774" y="4546024"/>
              <a:ext cx="307870" cy="408147"/>
            </a:xfrm>
            <a:custGeom>
              <a:avLst/>
              <a:gdLst>
                <a:gd name="T0" fmla="*/ 65881 w 350"/>
                <a:gd name="T1" fmla="*/ 53859 h 465"/>
                <a:gd name="T2" fmla="*/ 65881 w 350"/>
                <a:gd name="T3" fmla="*/ 53859 h 465"/>
                <a:gd name="T4" fmla="*/ 58738 w 350"/>
                <a:gd name="T5" fmla="*/ 53859 h 465"/>
                <a:gd name="T6" fmla="*/ 58738 w 350"/>
                <a:gd name="T7" fmla="*/ 47523 h 465"/>
                <a:gd name="T8" fmla="*/ 52388 w 350"/>
                <a:gd name="T9" fmla="*/ 50691 h 465"/>
                <a:gd name="T10" fmla="*/ 44450 w 350"/>
                <a:gd name="T11" fmla="*/ 47523 h 465"/>
                <a:gd name="T12" fmla="*/ 41275 w 350"/>
                <a:gd name="T13" fmla="*/ 38018 h 465"/>
                <a:gd name="T14" fmla="*/ 48419 w 350"/>
                <a:gd name="T15" fmla="*/ 25345 h 465"/>
                <a:gd name="T16" fmla="*/ 62706 w 350"/>
                <a:gd name="T17" fmla="*/ 19009 h 465"/>
                <a:gd name="T18" fmla="*/ 58738 w 350"/>
                <a:gd name="T19" fmla="*/ 15841 h 465"/>
                <a:gd name="T20" fmla="*/ 62706 w 350"/>
                <a:gd name="T21" fmla="*/ 15841 h 465"/>
                <a:gd name="T22" fmla="*/ 62706 w 350"/>
                <a:gd name="T23" fmla="*/ 12673 h 465"/>
                <a:gd name="T24" fmla="*/ 58738 w 350"/>
                <a:gd name="T25" fmla="*/ 9505 h 465"/>
                <a:gd name="T26" fmla="*/ 44450 w 350"/>
                <a:gd name="T27" fmla="*/ 12673 h 465"/>
                <a:gd name="T28" fmla="*/ 41275 w 350"/>
                <a:gd name="T29" fmla="*/ 6336 h 465"/>
                <a:gd name="T30" fmla="*/ 34925 w 350"/>
                <a:gd name="T31" fmla="*/ 0 h 465"/>
                <a:gd name="T32" fmla="*/ 31750 w 350"/>
                <a:gd name="T33" fmla="*/ 0 h 465"/>
                <a:gd name="T34" fmla="*/ 34925 w 350"/>
                <a:gd name="T35" fmla="*/ 3168 h 465"/>
                <a:gd name="T36" fmla="*/ 31750 w 350"/>
                <a:gd name="T37" fmla="*/ 9505 h 465"/>
                <a:gd name="T38" fmla="*/ 27781 w 350"/>
                <a:gd name="T39" fmla="*/ 12673 h 465"/>
                <a:gd name="T40" fmla="*/ 20638 w 350"/>
                <a:gd name="T41" fmla="*/ 15841 h 465"/>
                <a:gd name="T42" fmla="*/ 10319 w 350"/>
                <a:gd name="T43" fmla="*/ 25345 h 465"/>
                <a:gd name="T44" fmla="*/ 3969 w 350"/>
                <a:gd name="T45" fmla="*/ 22177 h 465"/>
                <a:gd name="T46" fmla="*/ 7938 w 350"/>
                <a:gd name="T47" fmla="*/ 15841 h 465"/>
                <a:gd name="T48" fmla="*/ 0 w 350"/>
                <a:gd name="T49" fmla="*/ 22177 h 465"/>
                <a:gd name="T50" fmla="*/ 3969 w 350"/>
                <a:gd name="T51" fmla="*/ 28514 h 465"/>
                <a:gd name="T52" fmla="*/ 0 w 350"/>
                <a:gd name="T53" fmla="*/ 28514 h 465"/>
                <a:gd name="T54" fmla="*/ 7938 w 350"/>
                <a:gd name="T55" fmla="*/ 34850 h 465"/>
                <a:gd name="T56" fmla="*/ 14288 w 350"/>
                <a:gd name="T57" fmla="*/ 41186 h 465"/>
                <a:gd name="T58" fmla="*/ 31750 w 350"/>
                <a:gd name="T59" fmla="*/ 72868 h 465"/>
                <a:gd name="T60" fmla="*/ 58738 w 350"/>
                <a:gd name="T61" fmla="*/ 91877 h 465"/>
                <a:gd name="T62" fmla="*/ 65881 w 350"/>
                <a:gd name="T63" fmla="*/ 88709 h 465"/>
                <a:gd name="T64" fmla="*/ 69850 w 350"/>
                <a:gd name="T65" fmla="*/ 82372 h 465"/>
                <a:gd name="T66" fmla="*/ 65881 w 350"/>
                <a:gd name="T67" fmla="*/ 79204 h 465"/>
                <a:gd name="T68" fmla="*/ 69850 w 350"/>
                <a:gd name="T69" fmla="*/ 60195 h 465"/>
                <a:gd name="T70" fmla="*/ 65881 w 350"/>
                <a:gd name="T71" fmla="*/ 53859 h 46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50"/>
                <a:gd name="T109" fmla="*/ 0 h 465"/>
                <a:gd name="T110" fmla="*/ 350 w 350"/>
                <a:gd name="T111" fmla="*/ 465 h 46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50" h="465">
                  <a:moveTo>
                    <a:pt x="332" y="273"/>
                  </a:moveTo>
                  <a:lnTo>
                    <a:pt x="332" y="273"/>
                  </a:lnTo>
                  <a:lnTo>
                    <a:pt x="296" y="273"/>
                  </a:lnTo>
                  <a:lnTo>
                    <a:pt x="296" y="240"/>
                  </a:lnTo>
                  <a:lnTo>
                    <a:pt x="261" y="257"/>
                  </a:lnTo>
                  <a:lnTo>
                    <a:pt x="227" y="240"/>
                  </a:lnTo>
                  <a:lnTo>
                    <a:pt x="210" y="192"/>
                  </a:lnTo>
                  <a:lnTo>
                    <a:pt x="244" y="129"/>
                  </a:lnTo>
                  <a:lnTo>
                    <a:pt x="313" y="96"/>
                  </a:lnTo>
                  <a:lnTo>
                    <a:pt x="296" y="81"/>
                  </a:lnTo>
                  <a:lnTo>
                    <a:pt x="313" y="81"/>
                  </a:lnTo>
                  <a:lnTo>
                    <a:pt x="313" y="65"/>
                  </a:lnTo>
                  <a:lnTo>
                    <a:pt x="296" y="48"/>
                  </a:lnTo>
                  <a:lnTo>
                    <a:pt x="227" y="65"/>
                  </a:lnTo>
                  <a:lnTo>
                    <a:pt x="210" y="33"/>
                  </a:lnTo>
                  <a:lnTo>
                    <a:pt x="175" y="0"/>
                  </a:lnTo>
                  <a:lnTo>
                    <a:pt x="158" y="0"/>
                  </a:lnTo>
                  <a:lnTo>
                    <a:pt x="175" y="18"/>
                  </a:lnTo>
                  <a:lnTo>
                    <a:pt x="158" y="48"/>
                  </a:lnTo>
                  <a:lnTo>
                    <a:pt x="140" y="65"/>
                  </a:lnTo>
                  <a:lnTo>
                    <a:pt x="106" y="81"/>
                  </a:lnTo>
                  <a:lnTo>
                    <a:pt x="54" y="129"/>
                  </a:lnTo>
                  <a:lnTo>
                    <a:pt x="19" y="113"/>
                  </a:lnTo>
                  <a:lnTo>
                    <a:pt x="37" y="81"/>
                  </a:lnTo>
                  <a:lnTo>
                    <a:pt x="0" y="113"/>
                  </a:lnTo>
                  <a:lnTo>
                    <a:pt x="19" y="144"/>
                  </a:lnTo>
                  <a:lnTo>
                    <a:pt x="0" y="144"/>
                  </a:lnTo>
                  <a:lnTo>
                    <a:pt x="37" y="177"/>
                  </a:lnTo>
                  <a:lnTo>
                    <a:pt x="71" y="209"/>
                  </a:lnTo>
                  <a:lnTo>
                    <a:pt x="158" y="369"/>
                  </a:lnTo>
                  <a:lnTo>
                    <a:pt x="296" y="465"/>
                  </a:lnTo>
                  <a:lnTo>
                    <a:pt x="332" y="449"/>
                  </a:lnTo>
                  <a:lnTo>
                    <a:pt x="350" y="417"/>
                  </a:lnTo>
                  <a:lnTo>
                    <a:pt x="332" y="401"/>
                  </a:lnTo>
                  <a:lnTo>
                    <a:pt x="350" y="305"/>
                  </a:lnTo>
                  <a:lnTo>
                    <a:pt x="332" y="27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46" name="Freeform 75">
              <a:extLst>
                <a:ext uri="{FF2B5EF4-FFF2-40B4-BE49-F238E27FC236}">
                  <a16:creationId xmlns:a16="http://schemas.microsoft.com/office/drawing/2014/main" id="{40C3D309-5F6D-4CB5-A851-C74BFA4F8333}"/>
                </a:ext>
              </a:extLst>
            </p:cNvPr>
            <p:cNvSpPr>
              <a:spLocks/>
            </p:cNvSpPr>
            <p:nvPr>
              <p:custDataLst>
                <p:tags r:id="rId76"/>
              </p:custDataLst>
            </p:nvPr>
          </p:nvSpPr>
          <p:spPr bwMode="auto">
            <a:xfrm>
              <a:off x="5627051" y="4757135"/>
              <a:ext cx="276203" cy="309628"/>
            </a:xfrm>
            <a:custGeom>
              <a:avLst/>
              <a:gdLst>
                <a:gd name="T0" fmla="*/ 62907 w 313"/>
                <a:gd name="T1" fmla="*/ 53822 h 353"/>
                <a:gd name="T2" fmla="*/ 62907 w 313"/>
                <a:gd name="T3" fmla="*/ 53822 h 353"/>
                <a:gd name="T4" fmla="*/ 62907 w 313"/>
                <a:gd name="T5" fmla="*/ 44324 h 353"/>
                <a:gd name="T6" fmla="*/ 58925 w 313"/>
                <a:gd name="T7" fmla="*/ 37992 h 353"/>
                <a:gd name="T8" fmla="*/ 58925 w 313"/>
                <a:gd name="T9" fmla="*/ 34826 h 353"/>
                <a:gd name="T10" fmla="*/ 52555 w 313"/>
                <a:gd name="T11" fmla="*/ 34826 h 353"/>
                <a:gd name="T12" fmla="*/ 48574 w 313"/>
                <a:gd name="T13" fmla="*/ 28494 h 353"/>
                <a:gd name="T14" fmla="*/ 48574 w 313"/>
                <a:gd name="T15" fmla="*/ 25328 h 353"/>
                <a:gd name="T16" fmla="*/ 45388 w 313"/>
                <a:gd name="T17" fmla="*/ 18996 h 353"/>
                <a:gd name="T18" fmla="*/ 24685 w 313"/>
                <a:gd name="T19" fmla="*/ 12664 h 353"/>
                <a:gd name="T20" fmla="*/ 20703 w 313"/>
                <a:gd name="T21" fmla="*/ 9498 h 353"/>
                <a:gd name="T22" fmla="*/ 20703 w 313"/>
                <a:gd name="T23" fmla="*/ 0 h 353"/>
                <a:gd name="T24" fmla="*/ 14333 w 313"/>
                <a:gd name="T25" fmla="*/ 0 h 353"/>
                <a:gd name="T26" fmla="*/ 7167 w 313"/>
                <a:gd name="T27" fmla="*/ 6332 h 353"/>
                <a:gd name="T28" fmla="*/ 0 w 313"/>
                <a:gd name="T29" fmla="*/ 6332 h 353"/>
                <a:gd name="T30" fmla="*/ 3981 w 313"/>
                <a:gd name="T31" fmla="*/ 12664 h 353"/>
                <a:gd name="T32" fmla="*/ 0 w 313"/>
                <a:gd name="T33" fmla="*/ 31660 h 353"/>
                <a:gd name="T34" fmla="*/ 3981 w 313"/>
                <a:gd name="T35" fmla="*/ 34826 h 353"/>
                <a:gd name="T36" fmla="*/ 0 w 313"/>
                <a:gd name="T37" fmla="*/ 41158 h 353"/>
                <a:gd name="T38" fmla="*/ 3981 w 313"/>
                <a:gd name="T39" fmla="*/ 50656 h 353"/>
                <a:gd name="T40" fmla="*/ 3981 w 313"/>
                <a:gd name="T41" fmla="*/ 53822 h 353"/>
                <a:gd name="T42" fmla="*/ 7167 w 313"/>
                <a:gd name="T43" fmla="*/ 69652 h 353"/>
                <a:gd name="T44" fmla="*/ 10352 w 313"/>
                <a:gd name="T45" fmla="*/ 69652 h 353"/>
                <a:gd name="T46" fmla="*/ 17518 w 313"/>
                <a:gd name="T47" fmla="*/ 63320 h 353"/>
                <a:gd name="T48" fmla="*/ 28666 w 313"/>
                <a:gd name="T49" fmla="*/ 66486 h 353"/>
                <a:gd name="T50" fmla="*/ 31852 w 313"/>
                <a:gd name="T51" fmla="*/ 63320 h 353"/>
                <a:gd name="T52" fmla="*/ 38222 w 313"/>
                <a:gd name="T53" fmla="*/ 66486 h 353"/>
                <a:gd name="T54" fmla="*/ 42203 w 313"/>
                <a:gd name="T55" fmla="*/ 50656 h 353"/>
                <a:gd name="T56" fmla="*/ 55740 w 313"/>
                <a:gd name="T57" fmla="*/ 50656 h 353"/>
                <a:gd name="T58" fmla="*/ 62907 w 313"/>
                <a:gd name="T59" fmla="*/ 53822 h 3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13"/>
                <a:gd name="T91" fmla="*/ 0 h 353"/>
                <a:gd name="T92" fmla="*/ 313 w 313"/>
                <a:gd name="T93" fmla="*/ 353 h 35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13" h="353">
                  <a:moveTo>
                    <a:pt x="313" y="273"/>
                  </a:moveTo>
                  <a:lnTo>
                    <a:pt x="313" y="273"/>
                  </a:lnTo>
                  <a:lnTo>
                    <a:pt x="313" y="225"/>
                  </a:lnTo>
                  <a:lnTo>
                    <a:pt x="296" y="192"/>
                  </a:lnTo>
                  <a:lnTo>
                    <a:pt x="296" y="177"/>
                  </a:lnTo>
                  <a:lnTo>
                    <a:pt x="262" y="177"/>
                  </a:lnTo>
                  <a:lnTo>
                    <a:pt x="244" y="144"/>
                  </a:lnTo>
                  <a:lnTo>
                    <a:pt x="244" y="129"/>
                  </a:lnTo>
                  <a:lnTo>
                    <a:pt x="227" y="96"/>
                  </a:lnTo>
                  <a:lnTo>
                    <a:pt x="121" y="65"/>
                  </a:lnTo>
                  <a:lnTo>
                    <a:pt x="104" y="48"/>
                  </a:lnTo>
                  <a:lnTo>
                    <a:pt x="104" y="0"/>
                  </a:lnTo>
                  <a:lnTo>
                    <a:pt x="70" y="0"/>
                  </a:lnTo>
                  <a:lnTo>
                    <a:pt x="35" y="33"/>
                  </a:lnTo>
                  <a:lnTo>
                    <a:pt x="0" y="33"/>
                  </a:lnTo>
                  <a:lnTo>
                    <a:pt x="18" y="65"/>
                  </a:lnTo>
                  <a:lnTo>
                    <a:pt x="0" y="161"/>
                  </a:lnTo>
                  <a:lnTo>
                    <a:pt x="18" y="177"/>
                  </a:lnTo>
                  <a:lnTo>
                    <a:pt x="0" y="209"/>
                  </a:lnTo>
                  <a:lnTo>
                    <a:pt x="18" y="257"/>
                  </a:lnTo>
                  <a:lnTo>
                    <a:pt x="18" y="273"/>
                  </a:lnTo>
                  <a:lnTo>
                    <a:pt x="35" y="353"/>
                  </a:lnTo>
                  <a:lnTo>
                    <a:pt x="52" y="353"/>
                  </a:lnTo>
                  <a:lnTo>
                    <a:pt x="87" y="321"/>
                  </a:lnTo>
                  <a:lnTo>
                    <a:pt x="141" y="336"/>
                  </a:lnTo>
                  <a:lnTo>
                    <a:pt x="158" y="321"/>
                  </a:lnTo>
                  <a:lnTo>
                    <a:pt x="192" y="336"/>
                  </a:lnTo>
                  <a:lnTo>
                    <a:pt x="210" y="257"/>
                  </a:lnTo>
                  <a:lnTo>
                    <a:pt x="279" y="257"/>
                  </a:lnTo>
                  <a:lnTo>
                    <a:pt x="313" y="27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47" name="Freeform 76">
              <a:extLst>
                <a:ext uri="{FF2B5EF4-FFF2-40B4-BE49-F238E27FC236}">
                  <a16:creationId xmlns:a16="http://schemas.microsoft.com/office/drawing/2014/main" id="{5428AF95-7074-433F-9B05-8E099908F486}"/>
                </a:ext>
              </a:extLst>
            </p:cNvPr>
            <p:cNvSpPr>
              <a:spLocks/>
            </p:cNvSpPr>
            <p:nvPr>
              <p:custDataLst>
                <p:tags r:id="rId77"/>
              </p:custDataLst>
            </p:nvPr>
          </p:nvSpPr>
          <p:spPr bwMode="auto">
            <a:xfrm>
              <a:off x="5794179" y="4982319"/>
              <a:ext cx="200555" cy="195278"/>
            </a:xfrm>
            <a:custGeom>
              <a:avLst/>
              <a:gdLst>
                <a:gd name="T0" fmla="*/ 42441 w 226"/>
                <a:gd name="T1" fmla="*/ 31608 h 223"/>
                <a:gd name="T2" fmla="*/ 42441 w 226"/>
                <a:gd name="T3" fmla="*/ 31608 h 223"/>
                <a:gd name="T4" fmla="*/ 46445 w 226"/>
                <a:gd name="T5" fmla="*/ 24496 h 223"/>
                <a:gd name="T6" fmla="*/ 38437 w 226"/>
                <a:gd name="T7" fmla="*/ 22125 h 223"/>
                <a:gd name="T8" fmla="*/ 38437 w 226"/>
                <a:gd name="T9" fmla="*/ 15014 h 223"/>
                <a:gd name="T10" fmla="*/ 35234 w 226"/>
                <a:gd name="T11" fmla="*/ 15014 h 223"/>
                <a:gd name="T12" fmla="*/ 24824 w 226"/>
                <a:gd name="T13" fmla="*/ 12643 h 223"/>
                <a:gd name="T14" fmla="*/ 24824 w 226"/>
                <a:gd name="T15" fmla="*/ 3161 h 223"/>
                <a:gd name="T16" fmla="*/ 17617 w 226"/>
                <a:gd name="T17" fmla="*/ 0 h 223"/>
                <a:gd name="T18" fmla="*/ 4004 w 226"/>
                <a:gd name="T19" fmla="*/ 0 h 223"/>
                <a:gd name="T20" fmla="*/ 0 w 226"/>
                <a:gd name="T21" fmla="*/ 15014 h 223"/>
                <a:gd name="T22" fmla="*/ 7207 w 226"/>
                <a:gd name="T23" fmla="*/ 24496 h 223"/>
                <a:gd name="T24" fmla="*/ 17617 w 226"/>
                <a:gd name="T25" fmla="*/ 24496 h 223"/>
                <a:gd name="T26" fmla="*/ 24824 w 226"/>
                <a:gd name="T27" fmla="*/ 31608 h 223"/>
                <a:gd name="T28" fmla="*/ 24824 w 226"/>
                <a:gd name="T29" fmla="*/ 33978 h 223"/>
                <a:gd name="T30" fmla="*/ 21621 w 226"/>
                <a:gd name="T31" fmla="*/ 40300 h 223"/>
                <a:gd name="T32" fmla="*/ 32031 w 226"/>
                <a:gd name="T33" fmla="*/ 43461 h 223"/>
                <a:gd name="T34" fmla="*/ 35234 w 226"/>
                <a:gd name="T35" fmla="*/ 40300 h 223"/>
                <a:gd name="T36" fmla="*/ 42441 w 226"/>
                <a:gd name="T37" fmla="*/ 37929 h 223"/>
                <a:gd name="T38" fmla="*/ 42441 w 226"/>
                <a:gd name="T39" fmla="*/ 31608 h 22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26"/>
                <a:gd name="T61" fmla="*/ 0 h 223"/>
                <a:gd name="T62" fmla="*/ 226 w 226"/>
                <a:gd name="T63" fmla="*/ 223 h 22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26" h="223">
                  <a:moveTo>
                    <a:pt x="209" y="160"/>
                  </a:moveTo>
                  <a:lnTo>
                    <a:pt x="209" y="160"/>
                  </a:lnTo>
                  <a:lnTo>
                    <a:pt x="226" y="127"/>
                  </a:lnTo>
                  <a:lnTo>
                    <a:pt x="191" y="112"/>
                  </a:lnTo>
                  <a:lnTo>
                    <a:pt x="191" y="79"/>
                  </a:lnTo>
                  <a:lnTo>
                    <a:pt x="174" y="79"/>
                  </a:lnTo>
                  <a:lnTo>
                    <a:pt x="122" y="64"/>
                  </a:lnTo>
                  <a:lnTo>
                    <a:pt x="122" y="16"/>
                  </a:lnTo>
                  <a:lnTo>
                    <a:pt x="88" y="0"/>
                  </a:lnTo>
                  <a:lnTo>
                    <a:pt x="17" y="0"/>
                  </a:lnTo>
                  <a:lnTo>
                    <a:pt x="0" y="79"/>
                  </a:lnTo>
                  <a:lnTo>
                    <a:pt x="34" y="127"/>
                  </a:lnTo>
                  <a:lnTo>
                    <a:pt x="88" y="127"/>
                  </a:lnTo>
                  <a:lnTo>
                    <a:pt x="122" y="160"/>
                  </a:lnTo>
                  <a:lnTo>
                    <a:pt x="122" y="175"/>
                  </a:lnTo>
                  <a:lnTo>
                    <a:pt x="105" y="207"/>
                  </a:lnTo>
                  <a:lnTo>
                    <a:pt x="157" y="223"/>
                  </a:lnTo>
                  <a:lnTo>
                    <a:pt x="174" y="207"/>
                  </a:lnTo>
                  <a:lnTo>
                    <a:pt x="209" y="192"/>
                  </a:lnTo>
                  <a:lnTo>
                    <a:pt x="209" y="16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48" name="Freeform 77">
              <a:extLst>
                <a:ext uri="{FF2B5EF4-FFF2-40B4-BE49-F238E27FC236}">
                  <a16:creationId xmlns:a16="http://schemas.microsoft.com/office/drawing/2014/main" id="{E36A4A8F-C106-4CD0-8C18-510C93FAAAEA}"/>
                </a:ext>
              </a:extLst>
            </p:cNvPr>
            <p:cNvSpPr>
              <a:spLocks/>
            </p:cNvSpPr>
            <p:nvPr>
              <p:custDataLst>
                <p:tags r:id="rId78"/>
              </p:custDataLst>
            </p:nvPr>
          </p:nvSpPr>
          <p:spPr bwMode="auto">
            <a:xfrm>
              <a:off x="5535570" y="5038615"/>
              <a:ext cx="473240" cy="872589"/>
            </a:xfrm>
            <a:custGeom>
              <a:avLst/>
              <a:gdLst>
                <a:gd name="T0" fmla="*/ 79523 w 537"/>
                <a:gd name="T1" fmla="*/ 69850 h 992"/>
                <a:gd name="T2" fmla="*/ 100199 w 537"/>
                <a:gd name="T3" fmla="*/ 31750 h 992"/>
                <a:gd name="T4" fmla="*/ 103380 w 537"/>
                <a:gd name="T5" fmla="*/ 19050 h 992"/>
                <a:gd name="T6" fmla="*/ 100199 w 537"/>
                <a:gd name="T7" fmla="*/ 25400 h 992"/>
                <a:gd name="T8" fmla="*/ 89861 w 537"/>
                <a:gd name="T9" fmla="*/ 31750 h 992"/>
                <a:gd name="T10" fmla="*/ 82704 w 537"/>
                <a:gd name="T11" fmla="*/ 22225 h 992"/>
                <a:gd name="T12" fmla="*/ 76342 w 537"/>
                <a:gd name="T13" fmla="*/ 12700 h 992"/>
                <a:gd name="T14" fmla="*/ 58847 w 537"/>
                <a:gd name="T15" fmla="*/ 3175 h 992"/>
                <a:gd name="T16" fmla="*/ 48509 w 537"/>
                <a:gd name="T17" fmla="*/ 3175 h 992"/>
                <a:gd name="T18" fmla="*/ 31014 w 537"/>
                <a:gd name="T19" fmla="*/ 6350 h 992"/>
                <a:gd name="T20" fmla="*/ 24652 w 537"/>
                <a:gd name="T21" fmla="*/ 15875 h 992"/>
                <a:gd name="T22" fmla="*/ 20676 w 537"/>
                <a:gd name="T23" fmla="*/ 34925 h 992"/>
                <a:gd name="T24" fmla="*/ 17495 w 537"/>
                <a:gd name="T25" fmla="*/ 66675 h 992"/>
                <a:gd name="T26" fmla="*/ 14314 w 537"/>
                <a:gd name="T27" fmla="*/ 82550 h 992"/>
                <a:gd name="T28" fmla="*/ 10338 w 537"/>
                <a:gd name="T29" fmla="*/ 98425 h 992"/>
                <a:gd name="T30" fmla="*/ 7157 w 537"/>
                <a:gd name="T31" fmla="*/ 117475 h 992"/>
                <a:gd name="T32" fmla="*/ 7157 w 537"/>
                <a:gd name="T33" fmla="*/ 136525 h 992"/>
                <a:gd name="T34" fmla="*/ 10338 w 537"/>
                <a:gd name="T35" fmla="*/ 139700 h 992"/>
                <a:gd name="T36" fmla="*/ 10338 w 537"/>
                <a:gd name="T37" fmla="*/ 139700 h 992"/>
                <a:gd name="T38" fmla="*/ 3976 w 537"/>
                <a:gd name="T39" fmla="*/ 158750 h 992"/>
                <a:gd name="T40" fmla="*/ 0 w 537"/>
                <a:gd name="T41" fmla="*/ 174625 h 992"/>
                <a:gd name="T42" fmla="*/ 0 w 537"/>
                <a:gd name="T43" fmla="*/ 184150 h 992"/>
                <a:gd name="T44" fmla="*/ 3976 w 537"/>
                <a:gd name="T45" fmla="*/ 190500 h 992"/>
                <a:gd name="T46" fmla="*/ 17495 w 537"/>
                <a:gd name="T47" fmla="*/ 193675 h 992"/>
                <a:gd name="T48" fmla="*/ 24652 w 537"/>
                <a:gd name="T49" fmla="*/ 196850 h 992"/>
                <a:gd name="T50" fmla="*/ 24652 w 537"/>
                <a:gd name="T51" fmla="*/ 180975 h 992"/>
                <a:gd name="T52" fmla="*/ 31014 w 537"/>
                <a:gd name="T53" fmla="*/ 168275 h 992"/>
                <a:gd name="T54" fmla="*/ 42147 w 537"/>
                <a:gd name="T55" fmla="*/ 155575 h 992"/>
                <a:gd name="T56" fmla="*/ 31014 w 537"/>
                <a:gd name="T57" fmla="*/ 149225 h 992"/>
                <a:gd name="T58" fmla="*/ 34990 w 537"/>
                <a:gd name="T59" fmla="*/ 142875 h 992"/>
                <a:gd name="T60" fmla="*/ 42147 w 537"/>
                <a:gd name="T61" fmla="*/ 136525 h 992"/>
                <a:gd name="T62" fmla="*/ 45328 w 537"/>
                <a:gd name="T63" fmla="*/ 130175 h 992"/>
                <a:gd name="T64" fmla="*/ 45328 w 537"/>
                <a:gd name="T65" fmla="*/ 123825 h 992"/>
                <a:gd name="T66" fmla="*/ 52485 w 537"/>
                <a:gd name="T67" fmla="*/ 123825 h 992"/>
                <a:gd name="T68" fmla="*/ 48509 w 537"/>
                <a:gd name="T69" fmla="*/ 120650 h 992"/>
                <a:gd name="T70" fmla="*/ 45328 w 537"/>
                <a:gd name="T71" fmla="*/ 111125 h 992"/>
                <a:gd name="T72" fmla="*/ 58847 w 537"/>
                <a:gd name="T73" fmla="*/ 111125 h 992"/>
                <a:gd name="T74" fmla="*/ 58847 w 537"/>
                <a:gd name="T75" fmla="*/ 98425 h 992"/>
                <a:gd name="T76" fmla="*/ 69185 w 537"/>
                <a:gd name="T77" fmla="*/ 98425 h 992"/>
                <a:gd name="T78" fmla="*/ 89861 w 537"/>
                <a:gd name="T79" fmla="*/ 85725 h 992"/>
                <a:gd name="T80" fmla="*/ 86680 w 537"/>
                <a:gd name="T81" fmla="*/ 79375 h 992"/>
                <a:gd name="T82" fmla="*/ 79523 w 537"/>
                <a:gd name="T83" fmla="*/ 73025 h 99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37"/>
                <a:gd name="T127" fmla="*/ 0 h 992"/>
                <a:gd name="T128" fmla="*/ 537 w 537"/>
                <a:gd name="T129" fmla="*/ 992 h 99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37" h="992">
                  <a:moveTo>
                    <a:pt x="399" y="351"/>
                  </a:moveTo>
                  <a:lnTo>
                    <a:pt x="399" y="351"/>
                  </a:lnTo>
                  <a:lnTo>
                    <a:pt x="434" y="239"/>
                  </a:lnTo>
                  <a:lnTo>
                    <a:pt x="503" y="159"/>
                  </a:lnTo>
                  <a:lnTo>
                    <a:pt x="537" y="143"/>
                  </a:lnTo>
                  <a:lnTo>
                    <a:pt x="520" y="96"/>
                  </a:lnTo>
                  <a:lnTo>
                    <a:pt x="503" y="96"/>
                  </a:lnTo>
                  <a:lnTo>
                    <a:pt x="503" y="128"/>
                  </a:lnTo>
                  <a:lnTo>
                    <a:pt x="468" y="143"/>
                  </a:lnTo>
                  <a:lnTo>
                    <a:pt x="451" y="159"/>
                  </a:lnTo>
                  <a:lnTo>
                    <a:pt x="399" y="143"/>
                  </a:lnTo>
                  <a:lnTo>
                    <a:pt x="416" y="111"/>
                  </a:lnTo>
                  <a:lnTo>
                    <a:pt x="416" y="96"/>
                  </a:lnTo>
                  <a:lnTo>
                    <a:pt x="382" y="63"/>
                  </a:lnTo>
                  <a:lnTo>
                    <a:pt x="330" y="63"/>
                  </a:lnTo>
                  <a:lnTo>
                    <a:pt x="295" y="15"/>
                  </a:lnTo>
                  <a:lnTo>
                    <a:pt x="261" y="0"/>
                  </a:lnTo>
                  <a:lnTo>
                    <a:pt x="244" y="15"/>
                  </a:lnTo>
                  <a:lnTo>
                    <a:pt x="192" y="0"/>
                  </a:lnTo>
                  <a:lnTo>
                    <a:pt x="155" y="32"/>
                  </a:lnTo>
                  <a:lnTo>
                    <a:pt x="155" y="63"/>
                  </a:lnTo>
                  <a:lnTo>
                    <a:pt x="121" y="80"/>
                  </a:lnTo>
                  <a:lnTo>
                    <a:pt x="138" y="128"/>
                  </a:lnTo>
                  <a:lnTo>
                    <a:pt x="103" y="176"/>
                  </a:lnTo>
                  <a:lnTo>
                    <a:pt x="69" y="272"/>
                  </a:lnTo>
                  <a:lnTo>
                    <a:pt x="86" y="335"/>
                  </a:lnTo>
                  <a:lnTo>
                    <a:pt x="69" y="383"/>
                  </a:lnTo>
                  <a:lnTo>
                    <a:pt x="69" y="416"/>
                  </a:lnTo>
                  <a:lnTo>
                    <a:pt x="52" y="431"/>
                  </a:lnTo>
                  <a:lnTo>
                    <a:pt x="52" y="495"/>
                  </a:lnTo>
                  <a:lnTo>
                    <a:pt x="34" y="527"/>
                  </a:lnTo>
                  <a:lnTo>
                    <a:pt x="34" y="591"/>
                  </a:lnTo>
                  <a:lnTo>
                    <a:pt x="34" y="623"/>
                  </a:lnTo>
                  <a:lnTo>
                    <a:pt x="34" y="687"/>
                  </a:lnTo>
                  <a:lnTo>
                    <a:pt x="52" y="687"/>
                  </a:lnTo>
                  <a:lnTo>
                    <a:pt x="52" y="704"/>
                  </a:lnTo>
                  <a:lnTo>
                    <a:pt x="34" y="704"/>
                  </a:lnTo>
                  <a:lnTo>
                    <a:pt x="52" y="704"/>
                  </a:lnTo>
                  <a:lnTo>
                    <a:pt x="34" y="767"/>
                  </a:lnTo>
                  <a:lnTo>
                    <a:pt x="17" y="800"/>
                  </a:lnTo>
                  <a:lnTo>
                    <a:pt x="17" y="830"/>
                  </a:lnTo>
                  <a:lnTo>
                    <a:pt x="0" y="878"/>
                  </a:lnTo>
                  <a:lnTo>
                    <a:pt x="0" y="911"/>
                  </a:lnTo>
                  <a:lnTo>
                    <a:pt x="0" y="926"/>
                  </a:lnTo>
                  <a:lnTo>
                    <a:pt x="17" y="911"/>
                  </a:lnTo>
                  <a:lnTo>
                    <a:pt x="17" y="959"/>
                  </a:lnTo>
                  <a:lnTo>
                    <a:pt x="34" y="974"/>
                  </a:lnTo>
                  <a:lnTo>
                    <a:pt x="86" y="974"/>
                  </a:lnTo>
                  <a:lnTo>
                    <a:pt x="121" y="974"/>
                  </a:lnTo>
                  <a:lnTo>
                    <a:pt x="121" y="992"/>
                  </a:lnTo>
                  <a:lnTo>
                    <a:pt x="103" y="926"/>
                  </a:lnTo>
                  <a:lnTo>
                    <a:pt x="121" y="911"/>
                  </a:lnTo>
                  <a:lnTo>
                    <a:pt x="138" y="896"/>
                  </a:lnTo>
                  <a:lnTo>
                    <a:pt x="155" y="848"/>
                  </a:lnTo>
                  <a:lnTo>
                    <a:pt x="209" y="815"/>
                  </a:lnTo>
                  <a:lnTo>
                    <a:pt x="209" y="782"/>
                  </a:lnTo>
                  <a:lnTo>
                    <a:pt x="192" y="782"/>
                  </a:lnTo>
                  <a:lnTo>
                    <a:pt x="155" y="752"/>
                  </a:lnTo>
                  <a:lnTo>
                    <a:pt x="155" y="734"/>
                  </a:lnTo>
                  <a:lnTo>
                    <a:pt x="174" y="719"/>
                  </a:lnTo>
                  <a:lnTo>
                    <a:pt x="209" y="704"/>
                  </a:lnTo>
                  <a:lnTo>
                    <a:pt x="209" y="687"/>
                  </a:lnTo>
                  <a:lnTo>
                    <a:pt x="226" y="687"/>
                  </a:lnTo>
                  <a:lnTo>
                    <a:pt x="226" y="656"/>
                  </a:lnTo>
                  <a:lnTo>
                    <a:pt x="244" y="639"/>
                  </a:lnTo>
                  <a:lnTo>
                    <a:pt x="226" y="623"/>
                  </a:lnTo>
                  <a:lnTo>
                    <a:pt x="244" y="623"/>
                  </a:lnTo>
                  <a:lnTo>
                    <a:pt x="261" y="623"/>
                  </a:lnTo>
                  <a:lnTo>
                    <a:pt x="261" y="608"/>
                  </a:lnTo>
                  <a:lnTo>
                    <a:pt x="244" y="608"/>
                  </a:lnTo>
                  <a:lnTo>
                    <a:pt x="226" y="608"/>
                  </a:lnTo>
                  <a:lnTo>
                    <a:pt x="226" y="560"/>
                  </a:lnTo>
                  <a:lnTo>
                    <a:pt x="261" y="575"/>
                  </a:lnTo>
                  <a:lnTo>
                    <a:pt x="295" y="560"/>
                  </a:lnTo>
                  <a:lnTo>
                    <a:pt x="313" y="512"/>
                  </a:lnTo>
                  <a:lnTo>
                    <a:pt x="295" y="495"/>
                  </a:lnTo>
                  <a:lnTo>
                    <a:pt x="313" y="495"/>
                  </a:lnTo>
                  <a:lnTo>
                    <a:pt x="347" y="495"/>
                  </a:lnTo>
                  <a:lnTo>
                    <a:pt x="434" y="479"/>
                  </a:lnTo>
                  <a:lnTo>
                    <a:pt x="451" y="431"/>
                  </a:lnTo>
                  <a:lnTo>
                    <a:pt x="451" y="416"/>
                  </a:lnTo>
                  <a:lnTo>
                    <a:pt x="434" y="399"/>
                  </a:lnTo>
                  <a:lnTo>
                    <a:pt x="434" y="383"/>
                  </a:lnTo>
                  <a:lnTo>
                    <a:pt x="399" y="368"/>
                  </a:lnTo>
                  <a:lnTo>
                    <a:pt x="399" y="35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49" name="Freeform 78">
              <a:extLst>
                <a:ext uri="{FF2B5EF4-FFF2-40B4-BE49-F238E27FC236}">
                  <a16:creationId xmlns:a16="http://schemas.microsoft.com/office/drawing/2014/main" id="{4D0AEB7F-7D8A-46ED-8161-C3E0632B7C33}"/>
                </a:ext>
              </a:extLst>
            </p:cNvPr>
            <p:cNvSpPr>
              <a:spLocks/>
            </p:cNvSpPr>
            <p:nvPr>
              <p:custDataLst>
                <p:tags r:id="rId79"/>
              </p:custDataLst>
            </p:nvPr>
          </p:nvSpPr>
          <p:spPr bwMode="auto">
            <a:xfrm>
              <a:off x="5885660" y="5249725"/>
              <a:ext cx="138982" cy="112592"/>
            </a:xfrm>
            <a:custGeom>
              <a:avLst/>
              <a:gdLst>
                <a:gd name="T0" fmla="*/ 27781 w 158"/>
                <a:gd name="T1" fmla="*/ 18902 h 129"/>
                <a:gd name="T2" fmla="*/ 27781 w 158"/>
                <a:gd name="T3" fmla="*/ 18902 h 129"/>
                <a:gd name="T4" fmla="*/ 31750 w 158"/>
                <a:gd name="T5" fmla="*/ 12602 h 129"/>
                <a:gd name="T6" fmla="*/ 27781 w 158"/>
                <a:gd name="T7" fmla="*/ 9451 h 129"/>
                <a:gd name="T8" fmla="*/ 17463 w 158"/>
                <a:gd name="T9" fmla="*/ 3150 h 129"/>
                <a:gd name="T10" fmla="*/ 14288 w 158"/>
                <a:gd name="T11" fmla="*/ 3150 h 129"/>
                <a:gd name="T12" fmla="*/ 10319 w 158"/>
                <a:gd name="T13" fmla="*/ 0 h 129"/>
                <a:gd name="T14" fmla="*/ 7144 w 158"/>
                <a:gd name="T15" fmla="*/ 0 h 129"/>
                <a:gd name="T16" fmla="*/ 0 w 158"/>
                <a:gd name="T17" fmla="*/ 22053 h 129"/>
                <a:gd name="T18" fmla="*/ 3969 w 158"/>
                <a:gd name="T19" fmla="*/ 22053 h 129"/>
                <a:gd name="T20" fmla="*/ 14288 w 158"/>
                <a:gd name="T21" fmla="*/ 25203 h 129"/>
                <a:gd name="T22" fmla="*/ 23813 w 158"/>
                <a:gd name="T23" fmla="*/ 25203 h 129"/>
                <a:gd name="T24" fmla="*/ 27781 w 158"/>
                <a:gd name="T25" fmla="*/ 18902 h 1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8"/>
                <a:gd name="T40" fmla="*/ 0 h 129"/>
                <a:gd name="T41" fmla="*/ 158 w 158"/>
                <a:gd name="T42" fmla="*/ 129 h 1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8" h="129">
                  <a:moveTo>
                    <a:pt x="140" y="96"/>
                  </a:moveTo>
                  <a:lnTo>
                    <a:pt x="140" y="96"/>
                  </a:lnTo>
                  <a:lnTo>
                    <a:pt x="158" y="64"/>
                  </a:lnTo>
                  <a:lnTo>
                    <a:pt x="140" y="48"/>
                  </a:lnTo>
                  <a:lnTo>
                    <a:pt x="88" y="16"/>
                  </a:lnTo>
                  <a:lnTo>
                    <a:pt x="71" y="16"/>
                  </a:lnTo>
                  <a:lnTo>
                    <a:pt x="54" y="0"/>
                  </a:lnTo>
                  <a:lnTo>
                    <a:pt x="35" y="0"/>
                  </a:lnTo>
                  <a:lnTo>
                    <a:pt x="0" y="112"/>
                  </a:lnTo>
                  <a:lnTo>
                    <a:pt x="17" y="112"/>
                  </a:lnTo>
                  <a:lnTo>
                    <a:pt x="71" y="129"/>
                  </a:lnTo>
                  <a:lnTo>
                    <a:pt x="123" y="129"/>
                  </a:lnTo>
                  <a:lnTo>
                    <a:pt x="140" y="9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50" name="Freeform 79">
              <a:extLst>
                <a:ext uri="{FF2B5EF4-FFF2-40B4-BE49-F238E27FC236}">
                  <a16:creationId xmlns:a16="http://schemas.microsoft.com/office/drawing/2014/main" id="{AD65B349-6208-41BA-A596-B30443FD3999}"/>
                </a:ext>
              </a:extLst>
            </p:cNvPr>
            <p:cNvSpPr>
              <a:spLocks/>
            </p:cNvSpPr>
            <p:nvPr>
              <p:custDataLst>
                <p:tags r:id="rId80"/>
              </p:custDataLst>
            </p:nvPr>
          </p:nvSpPr>
          <p:spPr bwMode="auto">
            <a:xfrm>
              <a:off x="5521496" y="4433432"/>
              <a:ext cx="942959" cy="900737"/>
            </a:xfrm>
            <a:custGeom>
              <a:avLst/>
              <a:gdLst>
                <a:gd name="T0" fmla="*/ 122917 w 1073"/>
                <a:gd name="T1" fmla="*/ 6362 h 1022"/>
                <a:gd name="T2" fmla="*/ 112607 w 1073"/>
                <a:gd name="T3" fmla="*/ 12725 h 1022"/>
                <a:gd name="T4" fmla="*/ 105470 w 1073"/>
                <a:gd name="T5" fmla="*/ 12725 h 1022"/>
                <a:gd name="T6" fmla="*/ 95161 w 1073"/>
                <a:gd name="T7" fmla="*/ 15906 h 1022"/>
                <a:gd name="T8" fmla="*/ 81680 w 1073"/>
                <a:gd name="T9" fmla="*/ 19087 h 1022"/>
                <a:gd name="T10" fmla="*/ 75336 w 1073"/>
                <a:gd name="T11" fmla="*/ 12725 h 1022"/>
                <a:gd name="T12" fmla="*/ 75336 w 1073"/>
                <a:gd name="T13" fmla="*/ 0 h 1022"/>
                <a:gd name="T14" fmla="*/ 68199 w 1073"/>
                <a:gd name="T15" fmla="*/ 3181 h 1022"/>
                <a:gd name="T16" fmla="*/ 47581 w 1073"/>
                <a:gd name="T17" fmla="*/ 3181 h 1022"/>
                <a:gd name="T18" fmla="*/ 50753 w 1073"/>
                <a:gd name="T19" fmla="*/ 12725 h 1022"/>
                <a:gd name="T20" fmla="*/ 44409 w 1073"/>
                <a:gd name="T21" fmla="*/ 22268 h 1022"/>
                <a:gd name="T22" fmla="*/ 37271 w 1073"/>
                <a:gd name="T23" fmla="*/ 19087 h 1022"/>
                <a:gd name="T24" fmla="*/ 19825 w 1073"/>
                <a:gd name="T25" fmla="*/ 15906 h 1022"/>
                <a:gd name="T26" fmla="*/ 23790 w 1073"/>
                <a:gd name="T27" fmla="*/ 22268 h 1022"/>
                <a:gd name="T28" fmla="*/ 23790 w 1073"/>
                <a:gd name="T29" fmla="*/ 31812 h 1022"/>
                <a:gd name="T30" fmla="*/ 6344 w 1073"/>
                <a:gd name="T31" fmla="*/ 50899 h 1022"/>
                <a:gd name="T32" fmla="*/ 3172 w 1073"/>
                <a:gd name="T33" fmla="*/ 73168 h 1022"/>
                <a:gd name="T34" fmla="*/ 16653 w 1073"/>
                <a:gd name="T35" fmla="*/ 73168 h 1022"/>
                <a:gd name="T36" fmla="*/ 23790 w 1073"/>
                <a:gd name="T37" fmla="*/ 79530 h 1022"/>
                <a:gd name="T38" fmla="*/ 37271 w 1073"/>
                <a:gd name="T39" fmla="*/ 73168 h 1022"/>
                <a:gd name="T40" fmla="*/ 44409 w 1073"/>
                <a:gd name="T41" fmla="*/ 82712 h 1022"/>
                <a:gd name="T42" fmla="*/ 68199 w 1073"/>
                <a:gd name="T43" fmla="*/ 92255 h 1022"/>
                <a:gd name="T44" fmla="*/ 71371 w 1073"/>
                <a:gd name="T45" fmla="*/ 101799 h 1022"/>
                <a:gd name="T46" fmla="*/ 81680 w 1073"/>
                <a:gd name="T47" fmla="*/ 108161 h 1022"/>
                <a:gd name="T48" fmla="*/ 84852 w 1073"/>
                <a:gd name="T49" fmla="*/ 117705 h 1022"/>
                <a:gd name="T50" fmla="*/ 84852 w 1073"/>
                <a:gd name="T51" fmla="*/ 136792 h 1022"/>
                <a:gd name="T52" fmla="*/ 99126 w 1073"/>
                <a:gd name="T53" fmla="*/ 139973 h 1022"/>
                <a:gd name="T54" fmla="*/ 105470 w 1073"/>
                <a:gd name="T55" fmla="*/ 149517 h 1022"/>
                <a:gd name="T56" fmla="*/ 105470 w 1073"/>
                <a:gd name="T57" fmla="*/ 155879 h 1022"/>
                <a:gd name="T58" fmla="*/ 102298 w 1073"/>
                <a:gd name="T59" fmla="*/ 168604 h 1022"/>
                <a:gd name="T60" fmla="*/ 91989 w 1073"/>
                <a:gd name="T61" fmla="*/ 184510 h 1022"/>
                <a:gd name="T62" fmla="*/ 99126 w 1073"/>
                <a:gd name="T63" fmla="*/ 187692 h 1022"/>
                <a:gd name="T64" fmla="*/ 112607 w 1073"/>
                <a:gd name="T65" fmla="*/ 197235 h 1022"/>
                <a:gd name="T66" fmla="*/ 115779 w 1073"/>
                <a:gd name="T67" fmla="*/ 197235 h 1022"/>
                <a:gd name="T68" fmla="*/ 130054 w 1073"/>
                <a:gd name="T69" fmla="*/ 178148 h 1022"/>
                <a:gd name="T70" fmla="*/ 137191 w 1073"/>
                <a:gd name="T71" fmla="*/ 159061 h 1022"/>
                <a:gd name="T72" fmla="*/ 147500 w 1073"/>
                <a:gd name="T73" fmla="*/ 149517 h 1022"/>
                <a:gd name="T74" fmla="*/ 171290 w 1073"/>
                <a:gd name="T75" fmla="*/ 143155 h 1022"/>
                <a:gd name="T76" fmla="*/ 178427 w 1073"/>
                <a:gd name="T77" fmla="*/ 136792 h 1022"/>
                <a:gd name="T78" fmla="*/ 184771 w 1073"/>
                <a:gd name="T79" fmla="*/ 124067 h 1022"/>
                <a:gd name="T80" fmla="*/ 188736 w 1073"/>
                <a:gd name="T81" fmla="*/ 114524 h 1022"/>
                <a:gd name="T82" fmla="*/ 205390 w 1073"/>
                <a:gd name="T83" fmla="*/ 73168 h 1022"/>
                <a:gd name="T84" fmla="*/ 208562 w 1073"/>
                <a:gd name="T85" fmla="*/ 50899 h 1022"/>
                <a:gd name="T86" fmla="*/ 181599 w 1073"/>
                <a:gd name="T87" fmla="*/ 38175 h 1022"/>
                <a:gd name="T88" fmla="*/ 164153 w 1073"/>
                <a:gd name="T89" fmla="*/ 38175 h 1022"/>
                <a:gd name="T90" fmla="*/ 157809 w 1073"/>
                <a:gd name="T91" fmla="*/ 34993 h 1022"/>
                <a:gd name="T92" fmla="*/ 153844 w 1073"/>
                <a:gd name="T93" fmla="*/ 31812 h 1022"/>
                <a:gd name="T94" fmla="*/ 137191 w 1073"/>
                <a:gd name="T95" fmla="*/ 31812 h 1022"/>
                <a:gd name="T96" fmla="*/ 133226 w 1073"/>
                <a:gd name="T97" fmla="*/ 25450 h 1022"/>
                <a:gd name="T98" fmla="*/ 126882 w 1073"/>
                <a:gd name="T99" fmla="*/ 31812 h 1022"/>
                <a:gd name="T100" fmla="*/ 119745 w 1073"/>
                <a:gd name="T101" fmla="*/ 31812 h 1022"/>
                <a:gd name="T102" fmla="*/ 130054 w 1073"/>
                <a:gd name="T103" fmla="*/ 19087 h 1022"/>
                <a:gd name="T104" fmla="*/ 126882 w 1073"/>
                <a:gd name="T105" fmla="*/ 15906 h 102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073"/>
                <a:gd name="T160" fmla="*/ 0 h 1022"/>
                <a:gd name="T161" fmla="*/ 1073 w 1073"/>
                <a:gd name="T162" fmla="*/ 1022 h 102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073" h="1022">
                  <a:moveTo>
                    <a:pt x="623" y="30"/>
                  </a:moveTo>
                  <a:lnTo>
                    <a:pt x="623" y="30"/>
                  </a:lnTo>
                  <a:lnTo>
                    <a:pt x="606" y="30"/>
                  </a:lnTo>
                  <a:lnTo>
                    <a:pt x="570" y="63"/>
                  </a:lnTo>
                  <a:lnTo>
                    <a:pt x="552" y="78"/>
                  </a:lnTo>
                  <a:lnTo>
                    <a:pt x="535" y="63"/>
                  </a:lnTo>
                  <a:lnTo>
                    <a:pt x="501" y="63"/>
                  </a:lnTo>
                  <a:lnTo>
                    <a:pt x="483" y="78"/>
                  </a:lnTo>
                  <a:lnTo>
                    <a:pt x="466" y="78"/>
                  </a:lnTo>
                  <a:lnTo>
                    <a:pt x="414" y="96"/>
                  </a:lnTo>
                  <a:lnTo>
                    <a:pt x="397" y="96"/>
                  </a:lnTo>
                  <a:lnTo>
                    <a:pt x="380" y="63"/>
                  </a:lnTo>
                  <a:lnTo>
                    <a:pt x="380" y="15"/>
                  </a:lnTo>
                  <a:lnTo>
                    <a:pt x="380" y="0"/>
                  </a:lnTo>
                  <a:lnTo>
                    <a:pt x="362" y="0"/>
                  </a:lnTo>
                  <a:lnTo>
                    <a:pt x="345" y="15"/>
                  </a:lnTo>
                  <a:lnTo>
                    <a:pt x="293" y="30"/>
                  </a:lnTo>
                  <a:lnTo>
                    <a:pt x="241" y="15"/>
                  </a:lnTo>
                  <a:lnTo>
                    <a:pt x="259" y="30"/>
                  </a:lnTo>
                  <a:lnTo>
                    <a:pt x="259" y="63"/>
                  </a:lnTo>
                  <a:lnTo>
                    <a:pt x="276" y="78"/>
                  </a:lnTo>
                  <a:lnTo>
                    <a:pt x="224" y="111"/>
                  </a:lnTo>
                  <a:lnTo>
                    <a:pt x="207" y="111"/>
                  </a:lnTo>
                  <a:lnTo>
                    <a:pt x="190" y="96"/>
                  </a:lnTo>
                  <a:lnTo>
                    <a:pt x="172" y="78"/>
                  </a:lnTo>
                  <a:lnTo>
                    <a:pt x="103" y="78"/>
                  </a:lnTo>
                  <a:lnTo>
                    <a:pt x="103" y="96"/>
                  </a:lnTo>
                  <a:lnTo>
                    <a:pt x="120" y="111"/>
                  </a:lnTo>
                  <a:lnTo>
                    <a:pt x="103" y="111"/>
                  </a:lnTo>
                  <a:lnTo>
                    <a:pt x="120" y="159"/>
                  </a:lnTo>
                  <a:lnTo>
                    <a:pt x="103" y="222"/>
                  </a:lnTo>
                  <a:lnTo>
                    <a:pt x="34" y="255"/>
                  </a:lnTo>
                  <a:lnTo>
                    <a:pt x="0" y="318"/>
                  </a:lnTo>
                  <a:lnTo>
                    <a:pt x="17" y="366"/>
                  </a:lnTo>
                  <a:lnTo>
                    <a:pt x="51" y="383"/>
                  </a:lnTo>
                  <a:lnTo>
                    <a:pt x="86" y="366"/>
                  </a:lnTo>
                  <a:lnTo>
                    <a:pt x="86" y="399"/>
                  </a:lnTo>
                  <a:lnTo>
                    <a:pt x="120" y="399"/>
                  </a:lnTo>
                  <a:lnTo>
                    <a:pt x="155" y="399"/>
                  </a:lnTo>
                  <a:lnTo>
                    <a:pt x="190" y="366"/>
                  </a:lnTo>
                  <a:lnTo>
                    <a:pt x="224" y="366"/>
                  </a:lnTo>
                  <a:lnTo>
                    <a:pt x="224" y="414"/>
                  </a:lnTo>
                  <a:lnTo>
                    <a:pt x="241" y="431"/>
                  </a:lnTo>
                  <a:lnTo>
                    <a:pt x="345" y="462"/>
                  </a:lnTo>
                  <a:lnTo>
                    <a:pt x="362" y="495"/>
                  </a:lnTo>
                  <a:lnTo>
                    <a:pt x="362" y="510"/>
                  </a:lnTo>
                  <a:lnTo>
                    <a:pt x="380" y="543"/>
                  </a:lnTo>
                  <a:lnTo>
                    <a:pt x="414" y="543"/>
                  </a:lnTo>
                  <a:lnTo>
                    <a:pt x="414" y="558"/>
                  </a:lnTo>
                  <a:lnTo>
                    <a:pt x="431" y="591"/>
                  </a:lnTo>
                  <a:lnTo>
                    <a:pt x="431" y="639"/>
                  </a:lnTo>
                  <a:lnTo>
                    <a:pt x="431" y="687"/>
                  </a:lnTo>
                  <a:lnTo>
                    <a:pt x="483" y="702"/>
                  </a:lnTo>
                  <a:lnTo>
                    <a:pt x="501" y="702"/>
                  </a:lnTo>
                  <a:lnTo>
                    <a:pt x="501" y="735"/>
                  </a:lnTo>
                  <a:lnTo>
                    <a:pt x="535" y="750"/>
                  </a:lnTo>
                  <a:lnTo>
                    <a:pt x="518" y="783"/>
                  </a:lnTo>
                  <a:lnTo>
                    <a:pt x="535" y="783"/>
                  </a:lnTo>
                  <a:lnTo>
                    <a:pt x="552" y="830"/>
                  </a:lnTo>
                  <a:lnTo>
                    <a:pt x="518" y="846"/>
                  </a:lnTo>
                  <a:lnTo>
                    <a:pt x="449" y="926"/>
                  </a:lnTo>
                  <a:lnTo>
                    <a:pt x="466" y="926"/>
                  </a:lnTo>
                  <a:lnTo>
                    <a:pt x="483" y="942"/>
                  </a:lnTo>
                  <a:lnTo>
                    <a:pt x="501" y="942"/>
                  </a:lnTo>
                  <a:lnTo>
                    <a:pt x="552" y="974"/>
                  </a:lnTo>
                  <a:lnTo>
                    <a:pt x="570" y="990"/>
                  </a:lnTo>
                  <a:lnTo>
                    <a:pt x="552" y="1022"/>
                  </a:lnTo>
                  <a:lnTo>
                    <a:pt x="587" y="990"/>
                  </a:lnTo>
                  <a:lnTo>
                    <a:pt x="623" y="959"/>
                  </a:lnTo>
                  <a:lnTo>
                    <a:pt x="658" y="894"/>
                  </a:lnTo>
                  <a:lnTo>
                    <a:pt x="693" y="863"/>
                  </a:lnTo>
                  <a:lnTo>
                    <a:pt x="693" y="798"/>
                  </a:lnTo>
                  <a:lnTo>
                    <a:pt x="710" y="767"/>
                  </a:lnTo>
                  <a:lnTo>
                    <a:pt x="744" y="750"/>
                  </a:lnTo>
                  <a:lnTo>
                    <a:pt x="796" y="719"/>
                  </a:lnTo>
                  <a:lnTo>
                    <a:pt x="865" y="719"/>
                  </a:lnTo>
                  <a:lnTo>
                    <a:pt x="865" y="702"/>
                  </a:lnTo>
                  <a:lnTo>
                    <a:pt x="900" y="687"/>
                  </a:lnTo>
                  <a:lnTo>
                    <a:pt x="900" y="671"/>
                  </a:lnTo>
                  <a:lnTo>
                    <a:pt x="934" y="623"/>
                  </a:lnTo>
                  <a:lnTo>
                    <a:pt x="934" y="591"/>
                  </a:lnTo>
                  <a:lnTo>
                    <a:pt x="952" y="575"/>
                  </a:lnTo>
                  <a:lnTo>
                    <a:pt x="952" y="462"/>
                  </a:lnTo>
                  <a:lnTo>
                    <a:pt x="1038" y="366"/>
                  </a:lnTo>
                  <a:lnTo>
                    <a:pt x="1073" y="318"/>
                  </a:lnTo>
                  <a:lnTo>
                    <a:pt x="1055" y="255"/>
                  </a:lnTo>
                  <a:lnTo>
                    <a:pt x="1004" y="255"/>
                  </a:lnTo>
                  <a:lnTo>
                    <a:pt x="917" y="191"/>
                  </a:lnTo>
                  <a:lnTo>
                    <a:pt x="883" y="207"/>
                  </a:lnTo>
                  <a:lnTo>
                    <a:pt x="831" y="191"/>
                  </a:lnTo>
                  <a:lnTo>
                    <a:pt x="796" y="191"/>
                  </a:lnTo>
                  <a:lnTo>
                    <a:pt x="796" y="174"/>
                  </a:lnTo>
                  <a:lnTo>
                    <a:pt x="796" y="159"/>
                  </a:lnTo>
                  <a:lnTo>
                    <a:pt x="779" y="159"/>
                  </a:lnTo>
                  <a:lnTo>
                    <a:pt x="710" y="144"/>
                  </a:lnTo>
                  <a:lnTo>
                    <a:pt x="693" y="159"/>
                  </a:lnTo>
                  <a:lnTo>
                    <a:pt x="693" y="126"/>
                  </a:lnTo>
                  <a:lnTo>
                    <a:pt x="675" y="126"/>
                  </a:lnTo>
                  <a:lnTo>
                    <a:pt x="641" y="126"/>
                  </a:lnTo>
                  <a:lnTo>
                    <a:pt x="641" y="159"/>
                  </a:lnTo>
                  <a:lnTo>
                    <a:pt x="623" y="144"/>
                  </a:lnTo>
                  <a:lnTo>
                    <a:pt x="606" y="159"/>
                  </a:lnTo>
                  <a:lnTo>
                    <a:pt x="623" y="126"/>
                  </a:lnTo>
                  <a:lnTo>
                    <a:pt x="658" y="96"/>
                  </a:lnTo>
                  <a:lnTo>
                    <a:pt x="658" y="78"/>
                  </a:lnTo>
                  <a:lnTo>
                    <a:pt x="641" y="78"/>
                  </a:lnTo>
                  <a:lnTo>
                    <a:pt x="623" y="3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51" name="Freeform 80">
              <a:extLst>
                <a:ext uri="{FF2B5EF4-FFF2-40B4-BE49-F238E27FC236}">
                  <a16:creationId xmlns:a16="http://schemas.microsoft.com/office/drawing/2014/main" id="{CBD3A1EE-5366-49BF-A1F7-E48EED79198C}"/>
                </a:ext>
              </a:extLst>
            </p:cNvPr>
            <p:cNvSpPr>
              <a:spLocks/>
            </p:cNvSpPr>
            <p:nvPr>
              <p:custDataLst>
                <p:tags r:id="rId81"/>
              </p:custDataLst>
            </p:nvPr>
          </p:nvSpPr>
          <p:spPr bwMode="auto">
            <a:xfrm>
              <a:off x="5994734" y="4414080"/>
              <a:ext cx="59815" cy="84444"/>
            </a:xfrm>
            <a:custGeom>
              <a:avLst/>
              <a:gdLst>
                <a:gd name="T0" fmla="*/ 0 w 69"/>
                <a:gd name="T1" fmla="*/ 16669 h 96"/>
                <a:gd name="T2" fmla="*/ 0 w 69"/>
                <a:gd name="T3" fmla="*/ 16669 h 96"/>
                <a:gd name="T4" fmla="*/ 3129 w 69"/>
                <a:gd name="T5" fmla="*/ 19050 h 96"/>
                <a:gd name="T6" fmla="*/ 6258 w 69"/>
                <a:gd name="T7" fmla="*/ 16669 h 96"/>
                <a:gd name="T8" fmla="*/ 13298 w 69"/>
                <a:gd name="T9" fmla="*/ 9525 h 96"/>
                <a:gd name="T10" fmla="*/ 0 w 69"/>
                <a:gd name="T11" fmla="*/ 0 h 96"/>
                <a:gd name="T12" fmla="*/ 0 w 69"/>
                <a:gd name="T13" fmla="*/ 3969 h 96"/>
                <a:gd name="T14" fmla="*/ 0 w 69"/>
                <a:gd name="T15" fmla="*/ 9525 h 96"/>
                <a:gd name="T16" fmla="*/ 0 w 69"/>
                <a:gd name="T17" fmla="*/ 16669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9"/>
                <a:gd name="T28" fmla="*/ 0 h 96"/>
                <a:gd name="T29" fmla="*/ 69 w 69"/>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9" h="96">
                  <a:moveTo>
                    <a:pt x="0" y="81"/>
                  </a:moveTo>
                  <a:lnTo>
                    <a:pt x="0" y="81"/>
                  </a:lnTo>
                  <a:lnTo>
                    <a:pt x="17" y="96"/>
                  </a:lnTo>
                  <a:lnTo>
                    <a:pt x="35" y="81"/>
                  </a:lnTo>
                  <a:lnTo>
                    <a:pt x="69" y="48"/>
                  </a:lnTo>
                  <a:lnTo>
                    <a:pt x="0" y="0"/>
                  </a:lnTo>
                  <a:lnTo>
                    <a:pt x="0" y="18"/>
                  </a:lnTo>
                  <a:lnTo>
                    <a:pt x="0" y="48"/>
                  </a:lnTo>
                  <a:lnTo>
                    <a:pt x="0" y="8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52" name="Freeform 81">
              <a:extLst>
                <a:ext uri="{FF2B5EF4-FFF2-40B4-BE49-F238E27FC236}">
                  <a16:creationId xmlns:a16="http://schemas.microsoft.com/office/drawing/2014/main" id="{A320C258-2E33-40A1-9EE1-FB878ECC08B6}"/>
                </a:ext>
              </a:extLst>
            </p:cNvPr>
            <p:cNvSpPr>
              <a:spLocks/>
            </p:cNvSpPr>
            <p:nvPr>
              <p:custDataLst>
                <p:tags r:id="rId82"/>
              </p:custDataLst>
            </p:nvPr>
          </p:nvSpPr>
          <p:spPr bwMode="auto">
            <a:xfrm>
              <a:off x="5903253" y="4414080"/>
              <a:ext cx="91481" cy="84444"/>
            </a:xfrm>
            <a:custGeom>
              <a:avLst/>
              <a:gdLst>
                <a:gd name="T0" fmla="*/ 20638 w 104"/>
                <a:gd name="T1" fmla="*/ 16669 h 96"/>
                <a:gd name="T2" fmla="*/ 20638 w 104"/>
                <a:gd name="T3" fmla="*/ 16669 h 96"/>
                <a:gd name="T4" fmla="*/ 20638 w 104"/>
                <a:gd name="T5" fmla="*/ 9525 h 96"/>
                <a:gd name="T6" fmla="*/ 20638 w 104"/>
                <a:gd name="T7" fmla="*/ 3969 h 96"/>
                <a:gd name="T8" fmla="*/ 20638 w 104"/>
                <a:gd name="T9" fmla="*/ 0 h 96"/>
                <a:gd name="T10" fmla="*/ 7144 w 104"/>
                <a:gd name="T11" fmla="*/ 0 h 96"/>
                <a:gd name="T12" fmla="*/ 0 w 104"/>
                <a:gd name="T13" fmla="*/ 7144 h 96"/>
                <a:gd name="T14" fmla="*/ 7144 w 104"/>
                <a:gd name="T15" fmla="*/ 19050 h 96"/>
                <a:gd name="T16" fmla="*/ 10319 w 104"/>
                <a:gd name="T17" fmla="*/ 19050 h 96"/>
                <a:gd name="T18" fmla="*/ 14288 w 104"/>
                <a:gd name="T19" fmla="*/ 16669 h 96"/>
                <a:gd name="T20" fmla="*/ 20638 w 104"/>
                <a:gd name="T21" fmla="*/ 16669 h 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4"/>
                <a:gd name="T34" fmla="*/ 0 h 96"/>
                <a:gd name="T35" fmla="*/ 104 w 104"/>
                <a:gd name="T36" fmla="*/ 96 h 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4" h="96">
                  <a:moveTo>
                    <a:pt x="104" y="81"/>
                  </a:moveTo>
                  <a:lnTo>
                    <a:pt x="104" y="81"/>
                  </a:lnTo>
                  <a:lnTo>
                    <a:pt x="104" y="48"/>
                  </a:lnTo>
                  <a:lnTo>
                    <a:pt x="104" y="18"/>
                  </a:lnTo>
                  <a:lnTo>
                    <a:pt x="104" y="0"/>
                  </a:lnTo>
                  <a:lnTo>
                    <a:pt x="35" y="0"/>
                  </a:lnTo>
                  <a:lnTo>
                    <a:pt x="0" y="33"/>
                  </a:lnTo>
                  <a:lnTo>
                    <a:pt x="35" y="96"/>
                  </a:lnTo>
                  <a:lnTo>
                    <a:pt x="52" y="96"/>
                  </a:lnTo>
                  <a:lnTo>
                    <a:pt x="69" y="81"/>
                  </a:lnTo>
                  <a:lnTo>
                    <a:pt x="104" y="8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53" name="Freeform 82">
              <a:extLst>
                <a:ext uri="{FF2B5EF4-FFF2-40B4-BE49-F238E27FC236}">
                  <a16:creationId xmlns:a16="http://schemas.microsoft.com/office/drawing/2014/main" id="{4BC0E5EE-8D4C-408D-9C85-02419D4A7CE1}"/>
                </a:ext>
              </a:extLst>
            </p:cNvPr>
            <p:cNvSpPr>
              <a:spLocks/>
            </p:cNvSpPr>
            <p:nvPr>
              <p:custDataLst>
                <p:tags r:id="rId83"/>
              </p:custDataLst>
            </p:nvPr>
          </p:nvSpPr>
          <p:spPr bwMode="auto">
            <a:xfrm>
              <a:off x="5825846" y="4363062"/>
              <a:ext cx="105555" cy="154814"/>
            </a:xfrm>
            <a:custGeom>
              <a:avLst/>
              <a:gdLst>
                <a:gd name="T0" fmla="*/ 6298 w 121"/>
                <a:gd name="T1" fmla="*/ 0 h 177"/>
                <a:gd name="T2" fmla="*/ 6298 w 121"/>
                <a:gd name="T3" fmla="*/ 0 h 177"/>
                <a:gd name="T4" fmla="*/ 13382 w 121"/>
                <a:gd name="T5" fmla="*/ 2368 h 177"/>
                <a:gd name="T6" fmla="*/ 13382 w 121"/>
                <a:gd name="T7" fmla="*/ 6314 h 177"/>
                <a:gd name="T8" fmla="*/ 16531 w 121"/>
                <a:gd name="T9" fmla="*/ 6314 h 177"/>
                <a:gd name="T10" fmla="*/ 23616 w 121"/>
                <a:gd name="T11" fmla="*/ 11839 h 177"/>
                <a:gd name="T12" fmla="*/ 16531 w 121"/>
                <a:gd name="T13" fmla="*/ 18942 h 177"/>
                <a:gd name="T14" fmla="*/ 23616 w 121"/>
                <a:gd name="T15" fmla="*/ 30781 h 177"/>
                <a:gd name="T16" fmla="*/ 13382 w 121"/>
                <a:gd name="T17" fmla="*/ 34728 h 177"/>
                <a:gd name="T18" fmla="*/ 10233 w 121"/>
                <a:gd name="T19" fmla="*/ 34728 h 177"/>
                <a:gd name="T20" fmla="*/ 6298 w 121"/>
                <a:gd name="T21" fmla="*/ 28414 h 177"/>
                <a:gd name="T22" fmla="*/ 6298 w 121"/>
                <a:gd name="T23" fmla="*/ 18942 h 177"/>
                <a:gd name="T24" fmla="*/ 6298 w 121"/>
                <a:gd name="T25" fmla="*/ 15785 h 177"/>
                <a:gd name="T26" fmla="*/ 3149 w 121"/>
                <a:gd name="T27" fmla="*/ 15785 h 177"/>
                <a:gd name="T28" fmla="*/ 0 w 121"/>
                <a:gd name="T29" fmla="*/ 11839 h 177"/>
                <a:gd name="T30" fmla="*/ 0 w 121"/>
                <a:gd name="T31" fmla="*/ 6314 h 177"/>
                <a:gd name="T32" fmla="*/ 3149 w 121"/>
                <a:gd name="T33" fmla="*/ 6314 h 177"/>
                <a:gd name="T34" fmla="*/ 3149 w 121"/>
                <a:gd name="T35" fmla="*/ 2368 h 177"/>
                <a:gd name="T36" fmla="*/ 6298 w 121"/>
                <a:gd name="T37" fmla="*/ 0 h 17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1"/>
                <a:gd name="T58" fmla="*/ 0 h 177"/>
                <a:gd name="T59" fmla="*/ 121 w 121"/>
                <a:gd name="T60" fmla="*/ 177 h 17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1" h="177">
                  <a:moveTo>
                    <a:pt x="35" y="0"/>
                  </a:moveTo>
                  <a:lnTo>
                    <a:pt x="35" y="0"/>
                  </a:lnTo>
                  <a:lnTo>
                    <a:pt x="69" y="15"/>
                  </a:lnTo>
                  <a:lnTo>
                    <a:pt x="69" y="33"/>
                  </a:lnTo>
                  <a:lnTo>
                    <a:pt x="86" y="33"/>
                  </a:lnTo>
                  <a:lnTo>
                    <a:pt x="121" y="63"/>
                  </a:lnTo>
                  <a:lnTo>
                    <a:pt x="86" y="96"/>
                  </a:lnTo>
                  <a:lnTo>
                    <a:pt x="121" y="159"/>
                  </a:lnTo>
                  <a:lnTo>
                    <a:pt x="69" y="177"/>
                  </a:lnTo>
                  <a:lnTo>
                    <a:pt x="52" y="177"/>
                  </a:lnTo>
                  <a:lnTo>
                    <a:pt x="35" y="144"/>
                  </a:lnTo>
                  <a:lnTo>
                    <a:pt x="35" y="96"/>
                  </a:lnTo>
                  <a:lnTo>
                    <a:pt x="35" y="81"/>
                  </a:lnTo>
                  <a:lnTo>
                    <a:pt x="17" y="81"/>
                  </a:lnTo>
                  <a:lnTo>
                    <a:pt x="0" y="63"/>
                  </a:lnTo>
                  <a:lnTo>
                    <a:pt x="0" y="33"/>
                  </a:lnTo>
                  <a:lnTo>
                    <a:pt x="17" y="33"/>
                  </a:lnTo>
                  <a:lnTo>
                    <a:pt x="17" y="15"/>
                  </a:lnTo>
                  <a:lnTo>
                    <a:pt x="35"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54" name="Freeform 83">
              <a:extLst>
                <a:ext uri="{FF2B5EF4-FFF2-40B4-BE49-F238E27FC236}">
                  <a16:creationId xmlns:a16="http://schemas.microsoft.com/office/drawing/2014/main" id="{E6D0E44C-AC06-40B2-B8B0-9BA514BF2F8E}"/>
                </a:ext>
              </a:extLst>
            </p:cNvPr>
            <p:cNvSpPr>
              <a:spLocks/>
            </p:cNvSpPr>
            <p:nvPr>
              <p:custDataLst>
                <p:tags r:id="rId84"/>
              </p:custDataLst>
            </p:nvPr>
          </p:nvSpPr>
          <p:spPr bwMode="auto">
            <a:xfrm>
              <a:off x="5535570" y="4278618"/>
              <a:ext cx="321944" cy="253332"/>
            </a:xfrm>
            <a:custGeom>
              <a:avLst/>
              <a:gdLst>
                <a:gd name="T0" fmla="*/ 73225 w 365"/>
                <a:gd name="T1" fmla="*/ 19050 h 288"/>
                <a:gd name="T2" fmla="*/ 73225 w 365"/>
                <a:gd name="T3" fmla="*/ 19050 h 288"/>
                <a:gd name="T4" fmla="*/ 69246 w 365"/>
                <a:gd name="T5" fmla="*/ 21431 h 288"/>
                <a:gd name="T6" fmla="*/ 69246 w 365"/>
                <a:gd name="T7" fmla="*/ 26194 h 288"/>
                <a:gd name="T8" fmla="*/ 66062 w 365"/>
                <a:gd name="T9" fmla="*/ 26194 h 288"/>
                <a:gd name="T10" fmla="*/ 66062 w 365"/>
                <a:gd name="T11" fmla="*/ 30956 h 288"/>
                <a:gd name="T12" fmla="*/ 69246 w 365"/>
                <a:gd name="T13" fmla="*/ 34925 h 288"/>
                <a:gd name="T14" fmla="*/ 66062 w 365"/>
                <a:gd name="T15" fmla="*/ 38100 h 288"/>
                <a:gd name="T16" fmla="*/ 55715 w 365"/>
                <a:gd name="T17" fmla="*/ 40481 h 288"/>
                <a:gd name="T18" fmla="*/ 44572 w 365"/>
                <a:gd name="T19" fmla="*/ 38100 h 288"/>
                <a:gd name="T20" fmla="*/ 48551 w 365"/>
                <a:gd name="T21" fmla="*/ 40481 h 288"/>
                <a:gd name="T22" fmla="*/ 48551 w 365"/>
                <a:gd name="T23" fmla="*/ 47625 h 288"/>
                <a:gd name="T24" fmla="*/ 52531 w 365"/>
                <a:gd name="T25" fmla="*/ 50006 h 288"/>
                <a:gd name="T26" fmla="*/ 41388 w 365"/>
                <a:gd name="T27" fmla="*/ 57150 h 288"/>
                <a:gd name="T28" fmla="*/ 38204 w 365"/>
                <a:gd name="T29" fmla="*/ 57150 h 288"/>
                <a:gd name="T30" fmla="*/ 35021 w 365"/>
                <a:gd name="T31" fmla="*/ 54769 h 288"/>
                <a:gd name="T32" fmla="*/ 31041 w 365"/>
                <a:gd name="T33" fmla="*/ 50006 h 288"/>
                <a:gd name="T34" fmla="*/ 31041 w 365"/>
                <a:gd name="T35" fmla="*/ 44450 h 288"/>
                <a:gd name="T36" fmla="*/ 27857 w 365"/>
                <a:gd name="T37" fmla="*/ 38100 h 288"/>
                <a:gd name="T38" fmla="*/ 31041 w 365"/>
                <a:gd name="T39" fmla="*/ 28575 h 288"/>
                <a:gd name="T40" fmla="*/ 20694 w 365"/>
                <a:gd name="T41" fmla="*/ 28575 h 288"/>
                <a:gd name="T42" fmla="*/ 17510 w 365"/>
                <a:gd name="T43" fmla="*/ 26194 h 288"/>
                <a:gd name="T44" fmla="*/ 7163 w 365"/>
                <a:gd name="T45" fmla="*/ 26194 h 288"/>
                <a:gd name="T46" fmla="*/ 3980 w 365"/>
                <a:gd name="T47" fmla="*/ 21431 h 288"/>
                <a:gd name="T48" fmla="*/ 3980 w 365"/>
                <a:gd name="T49" fmla="*/ 19050 h 288"/>
                <a:gd name="T50" fmla="*/ 0 w 365"/>
                <a:gd name="T51" fmla="*/ 11906 h 288"/>
                <a:gd name="T52" fmla="*/ 3980 w 365"/>
                <a:gd name="T53" fmla="*/ 7144 h 288"/>
                <a:gd name="T54" fmla="*/ 7163 w 365"/>
                <a:gd name="T55" fmla="*/ 2381 h 288"/>
                <a:gd name="T56" fmla="*/ 10347 w 365"/>
                <a:gd name="T57" fmla="*/ 7144 h 288"/>
                <a:gd name="T58" fmla="*/ 7163 w 365"/>
                <a:gd name="T59" fmla="*/ 9525 h 288"/>
                <a:gd name="T60" fmla="*/ 7163 w 365"/>
                <a:gd name="T61" fmla="*/ 15875 h 288"/>
                <a:gd name="T62" fmla="*/ 10347 w 365"/>
                <a:gd name="T63" fmla="*/ 11906 h 288"/>
                <a:gd name="T64" fmla="*/ 10347 w 365"/>
                <a:gd name="T65" fmla="*/ 7144 h 288"/>
                <a:gd name="T66" fmla="*/ 17510 w 365"/>
                <a:gd name="T67" fmla="*/ 2381 h 288"/>
                <a:gd name="T68" fmla="*/ 17510 w 365"/>
                <a:gd name="T69" fmla="*/ 0 h 288"/>
                <a:gd name="T70" fmla="*/ 17510 w 365"/>
                <a:gd name="T71" fmla="*/ 2381 h 288"/>
                <a:gd name="T72" fmla="*/ 27857 w 365"/>
                <a:gd name="T73" fmla="*/ 2381 h 288"/>
                <a:gd name="T74" fmla="*/ 27857 w 365"/>
                <a:gd name="T75" fmla="*/ 7144 h 288"/>
                <a:gd name="T76" fmla="*/ 38204 w 365"/>
                <a:gd name="T77" fmla="*/ 7144 h 288"/>
                <a:gd name="T78" fmla="*/ 44572 w 365"/>
                <a:gd name="T79" fmla="*/ 9525 h 288"/>
                <a:gd name="T80" fmla="*/ 52531 w 365"/>
                <a:gd name="T81" fmla="*/ 7144 h 288"/>
                <a:gd name="T82" fmla="*/ 58899 w 365"/>
                <a:gd name="T83" fmla="*/ 7144 h 288"/>
                <a:gd name="T84" fmla="*/ 55715 w 365"/>
                <a:gd name="T85" fmla="*/ 7144 h 288"/>
                <a:gd name="T86" fmla="*/ 58899 w 365"/>
                <a:gd name="T87" fmla="*/ 9525 h 288"/>
                <a:gd name="T88" fmla="*/ 66062 w 365"/>
                <a:gd name="T89" fmla="*/ 11906 h 288"/>
                <a:gd name="T90" fmla="*/ 66062 w 365"/>
                <a:gd name="T91" fmla="*/ 19050 h 288"/>
                <a:gd name="T92" fmla="*/ 69246 w 365"/>
                <a:gd name="T93" fmla="*/ 15875 h 288"/>
                <a:gd name="T94" fmla="*/ 73225 w 365"/>
                <a:gd name="T95" fmla="*/ 19050 h 28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65"/>
                <a:gd name="T145" fmla="*/ 0 h 288"/>
                <a:gd name="T146" fmla="*/ 365 w 365"/>
                <a:gd name="T147" fmla="*/ 288 h 28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65" h="288">
                  <a:moveTo>
                    <a:pt x="365" y="96"/>
                  </a:moveTo>
                  <a:lnTo>
                    <a:pt x="365" y="96"/>
                  </a:lnTo>
                  <a:lnTo>
                    <a:pt x="347" y="111"/>
                  </a:lnTo>
                  <a:lnTo>
                    <a:pt x="347" y="129"/>
                  </a:lnTo>
                  <a:lnTo>
                    <a:pt x="330" y="129"/>
                  </a:lnTo>
                  <a:lnTo>
                    <a:pt x="330" y="159"/>
                  </a:lnTo>
                  <a:lnTo>
                    <a:pt x="347" y="177"/>
                  </a:lnTo>
                  <a:lnTo>
                    <a:pt x="330" y="192"/>
                  </a:lnTo>
                  <a:lnTo>
                    <a:pt x="278" y="207"/>
                  </a:lnTo>
                  <a:lnTo>
                    <a:pt x="224" y="192"/>
                  </a:lnTo>
                  <a:lnTo>
                    <a:pt x="242" y="207"/>
                  </a:lnTo>
                  <a:lnTo>
                    <a:pt x="242" y="240"/>
                  </a:lnTo>
                  <a:lnTo>
                    <a:pt x="261" y="255"/>
                  </a:lnTo>
                  <a:lnTo>
                    <a:pt x="207" y="288"/>
                  </a:lnTo>
                  <a:lnTo>
                    <a:pt x="190" y="288"/>
                  </a:lnTo>
                  <a:lnTo>
                    <a:pt x="173" y="273"/>
                  </a:lnTo>
                  <a:lnTo>
                    <a:pt x="155" y="255"/>
                  </a:lnTo>
                  <a:lnTo>
                    <a:pt x="155" y="225"/>
                  </a:lnTo>
                  <a:lnTo>
                    <a:pt x="138" y="192"/>
                  </a:lnTo>
                  <a:lnTo>
                    <a:pt x="155" y="144"/>
                  </a:lnTo>
                  <a:lnTo>
                    <a:pt x="103" y="144"/>
                  </a:lnTo>
                  <a:lnTo>
                    <a:pt x="86" y="129"/>
                  </a:lnTo>
                  <a:lnTo>
                    <a:pt x="34" y="129"/>
                  </a:lnTo>
                  <a:lnTo>
                    <a:pt x="17" y="111"/>
                  </a:lnTo>
                  <a:lnTo>
                    <a:pt x="17" y="96"/>
                  </a:lnTo>
                  <a:lnTo>
                    <a:pt x="0" y="63"/>
                  </a:lnTo>
                  <a:lnTo>
                    <a:pt x="17" y="33"/>
                  </a:lnTo>
                  <a:lnTo>
                    <a:pt x="34" y="15"/>
                  </a:lnTo>
                  <a:lnTo>
                    <a:pt x="52" y="33"/>
                  </a:lnTo>
                  <a:lnTo>
                    <a:pt x="34" y="48"/>
                  </a:lnTo>
                  <a:lnTo>
                    <a:pt x="34" y="81"/>
                  </a:lnTo>
                  <a:lnTo>
                    <a:pt x="52" y="63"/>
                  </a:lnTo>
                  <a:lnTo>
                    <a:pt x="52" y="33"/>
                  </a:lnTo>
                  <a:lnTo>
                    <a:pt x="86" y="15"/>
                  </a:lnTo>
                  <a:lnTo>
                    <a:pt x="86" y="0"/>
                  </a:lnTo>
                  <a:lnTo>
                    <a:pt x="86" y="15"/>
                  </a:lnTo>
                  <a:lnTo>
                    <a:pt x="138" y="15"/>
                  </a:lnTo>
                  <a:lnTo>
                    <a:pt x="138" y="33"/>
                  </a:lnTo>
                  <a:lnTo>
                    <a:pt x="190" y="33"/>
                  </a:lnTo>
                  <a:lnTo>
                    <a:pt x="224" y="48"/>
                  </a:lnTo>
                  <a:lnTo>
                    <a:pt x="261" y="33"/>
                  </a:lnTo>
                  <a:lnTo>
                    <a:pt x="295" y="33"/>
                  </a:lnTo>
                  <a:lnTo>
                    <a:pt x="278" y="33"/>
                  </a:lnTo>
                  <a:lnTo>
                    <a:pt x="295" y="48"/>
                  </a:lnTo>
                  <a:lnTo>
                    <a:pt x="330" y="63"/>
                  </a:lnTo>
                  <a:lnTo>
                    <a:pt x="330" y="96"/>
                  </a:lnTo>
                  <a:lnTo>
                    <a:pt x="347" y="81"/>
                  </a:lnTo>
                  <a:lnTo>
                    <a:pt x="365" y="9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55" name="Freeform 84">
              <a:extLst>
                <a:ext uri="{FF2B5EF4-FFF2-40B4-BE49-F238E27FC236}">
                  <a16:creationId xmlns:a16="http://schemas.microsoft.com/office/drawing/2014/main" id="{A0F26BD7-A04D-4819-83D2-16B5344A70FC}"/>
                </a:ext>
              </a:extLst>
            </p:cNvPr>
            <p:cNvSpPr>
              <a:spLocks/>
            </p:cNvSpPr>
            <p:nvPr>
              <p:custDataLst>
                <p:tags r:id="rId85"/>
              </p:custDataLst>
            </p:nvPr>
          </p:nvSpPr>
          <p:spPr bwMode="auto">
            <a:xfrm>
              <a:off x="4485295" y="3777231"/>
              <a:ext cx="716016" cy="436295"/>
            </a:xfrm>
            <a:custGeom>
              <a:avLst/>
              <a:gdLst>
                <a:gd name="T0" fmla="*/ 107156 w 814"/>
                <a:gd name="T1" fmla="*/ 38023 h 497"/>
                <a:gd name="T2" fmla="*/ 103188 w 814"/>
                <a:gd name="T3" fmla="*/ 57035 h 497"/>
                <a:gd name="T4" fmla="*/ 107156 w 814"/>
                <a:gd name="T5" fmla="*/ 63372 h 497"/>
                <a:gd name="T6" fmla="*/ 123825 w 814"/>
                <a:gd name="T7" fmla="*/ 79215 h 497"/>
                <a:gd name="T8" fmla="*/ 141288 w 814"/>
                <a:gd name="T9" fmla="*/ 76047 h 497"/>
                <a:gd name="T10" fmla="*/ 141288 w 814"/>
                <a:gd name="T11" fmla="*/ 72878 h 497"/>
                <a:gd name="T12" fmla="*/ 148431 w 814"/>
                <a:gd name="T13" fmla="*/ 63372 h 497"/>
                <a:gd name="T14" fmla="*/ 161925 w 814"/>
                <a:gd name="T15" fmla="*/ 63372 h 497"/>
                <a:gd name="T16" fmla="*/ 157956 w 814"/>
                <a:gd name="T17" fmla="*/ 79215 h 497"/>
                <a:gd name="T18" fmla="*/ 151606 w 814"/>
                <a:gd name="T19" fmla="*/ 79215 h 497"/>
                <a:gd name="T20" fmla="*/ 138113 w 814"/>
                <a:gd name="T21" fmla="*/ 82384 h 497"/>
                <a:gd name="T22" fmla="*/ 138113 w 814"/>
                <a:gd name="T23" fmla="*/ 88721 h 497"/>
                <a:gd name="T24" fmla="*/ 123825 w 814"/>
                <a:gd name="T25" fmla="*/ 88721 h 497"/>
                <a:gd name="T26" fmla="*/ 113506 w 814"/>
                <a:gd name="T27" fmla="*/ 91890 h 497"/>
                <a:gd name="T28" fmla="*/ 85725 w 814"/>
                <a:gd name="T29" fmla="*/ 82384 h 497"/>
                <a:gd name="T30" fmla="*/ 73025 w 814"/>
                <a:gd name="T31" fmla="*/ 79215 h 497"/>
                <a:gd name="T32" fmla="*/ 62706 w 814"/>
                <a:gd name="T33" fmla="*/ 66541 h 497"/>
                <a:gd name="T34" fmla="*/ 62706 w 814"/>
                <a:gd name="T35" fmla="*/ 57035 h 497"/>
                <a:gd name="T36" fmla="*/ 40481 w 814"/>
                <a:gd name="T37" fmla="*/ 38023 h 497"/>
                <a:gd name="T38" fmla="*/ 34925 w 814"/>
                <a:gd name="T39" fmla="*/ 28518 h 497"/>
                <a:gd name="T40" fmla="*/ 30956 w 814"/>
                <a:gd name="T41" fmla="*/ 25349 h 497"/>
                <a:gd name="T42" fmla="*/ 19844 w 814"/>
                <a:gd name="T43" fmla="*/ 6337 h 497"/>
                <a:gd name="T44" fmla="*/ 10319 w 814"/>
                <a:gd name="T45" fmla="*/ 3169 h 497"/>
                <a:gd name="T46" fmla="*/ 30956 w 814"/>
                <a:gd name="T47" fmla="*/ 34855 h 497"/>
                <a:gd name="T48" fmla="*/ 38100 w 814"/>
                <a:gd name="T49" fmla="*/ 47529 h 497"/>
                <a:gd name="T50" fmla="*/ 38100 w 814"/>
                <a:gd name="T51" fmla="*/ 53866 h 497"/>
                <a:gd name="T52" fmla="*/ 23813 w 814"/>
                <a:gd name="T53" fmla="*/ 44361 h 497"/>
                <a:gd name="T54" fmla="*/ 23813 w 814"/>
                <a:gd name="T55" fmla="*/ 34855 h 497"/>
                <a:gd name="T56" fmla="*/ 10319 w 814"/>
                <a:gd name="T57" fmla="*/ 25349 h 497"/>
                <a:gd name="T58" fmla="*/ 17463 w 814"/>
                <a:gd name="T59" fmla="*/ 22180 h 497"/>
                <a:gd name="T60" fmla="*/ 0 w 814"/>
                <a:gd name="T61" fmla="*/ 0 h 497"/>
                <a:gd name="T62" fmla="*/ 30956 w 814"/>
                <a:gd name="T63" fmla="*/ 6337 h 497"/>
                <a:gd name="T64" fmla="*/ 65881 w 814"/>
                <a:gd name="T65" fmla="*/ 9506 h 497"/>
                <a:gd name="T66" fmla="*/ 73025 w 814"/>
                <a:gd name="T67" fmla="*/ 19012 h 497"/>
                <a:gd name="T68" fmla="*/ 79375 w 814"/>
                <a:gd name="T69" fmla="*/ 15843 h 497"/>
                <a:gd name="T70" fmla="*/ 96044 w 814"/>
                <a:gd name="T71" fmla="*/ 34855 h 49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14"/>
                <a:gd name="T109" fmla="*/ 0 h 497"/>
                <a:gd name="T110" fmla="*/ 814 w 814"/>
                <a:gd name="T111" fmla="*/ 497 h 49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14" h="497">
                  <a:moveTo>
                    <a:pt x="537" y="192"/>
                  </a:moveTo>
                  <a:lnTo>
                    <a:pt x="537" y="192"/>
                  </a:lnTo>
                  <a:lnTo>
                    <a:pt x="520" y="224"/>
                  </a:lnTo>
                  <a:lnTo>
                    <a:pt x="520" y="288"/>
                  </a:lnTo>
                  <a:lnTo>
                    <a:pt x="537" y="305"/>
                  </a:lnTo>
                  <a:lnTo>
                    <a:pt x="537" y="320"/>
                  </a:lnTo>
                  <a:lnTo>
                    <a:pt x="572" y="384"/>
                  </a:lnTo>
                  <a:lnTo>
                    <a:pt x="624" y="401"/>
                  </a:lnTo>
                  <a:lnTo>
                    <a:pt x="676" y="384"/>
                  </a:lnTo>
                  <a:lnTo>
                    <a:pt x="710" y="384"/>
                  </a:lnTo>
                  <a:lnTo>
                    <a:pt x="693" y="384"/>
                  </a:lnTo>
                  <a:lnTo>
                    <a:pt x="710" y="368"/>
                  </a:lnTo>
                  <a:lnTo>
                    <a:pt x="727" y="320"/>
                  </a:lnTo>
                  <a:lnTo>
                    <a:pt x="745" y="320"/>
                  </a:lnTo>
                  <a:lnTo>
                    <a:pt x="796" y="305"/>
                  </a:lnTo>
                  <a:lnTo>
                    <a:pt x="814" y="320"/>
                  </a:lnTo>
                  <a:lnTo>
                    <a:pt x="796" y="384"/>
                  </a:lnTo>
                  <a:lnTo>
                    <a:pt x="796" y="401"/>
                  </a:lnTo>
                  <a:lnTo>
                    <a:pt x="779" y="384"/>
                  </a:lnTo>
                  <a:lnTo>
                    <a:pt x="762" y="401"/>
                  </a:lnTo>
                  <a:lnTo>
                    <a:pt x="710" y="401"/>
                  </a:lnTo>
                  <a:lnTo>
                    <a:pt x="693" y="416"/>
                  </a:lnTo>
                  <a:lnTo>
                    <a:pt x="727" y="449"/>
                  </a:lnTo>
                  <a:lnTo>
                    <a:pt x="693" y="449"/>
                  </a:lnTo>
                  <a:lnTo>
                    <a:pt x="676" y="497"/>
                  </a:lnTo>
                  <a:lnTo>
                    <a:pt x="624" y="449"/>
                  </a:lnTo>
                  <a:lnTo>
                    <a:pt x="589" y="449"/>
                  </a:lnTo>
                  <a:lnTo>
                    <a:pt x="572" y="464"/>
                  </a:lnTo>
                  <a:lnTo>
                    <a:pt x="520" y="449"/>
                  </a:lnTo>
                  <a:lnTo>
                    <a:pt x="434" y="416"/>
                  </a:lnTo>
                  <a:lnTo>
                    <a:pt x="416" y="401"/>
                  </a:lnTo>
                  <a:lnTo>
                    <a:pt x="365" y="401"/>
                  </a:lnTo>
                  <a:lnTo>
                    <a:pt x="330" y="368"/>
                  </a:lnTo>
                  <a:lnTo>
                    <a:pt x="313" y="336"/>
                  </a:lnTo>
                  <a:lnTo>
                    <a:pt x="330" y="320"/>
                  </a:lnTo>
                  <a:lnTo>
                    <a:pt x="313" y="288"/>
                  </a:lnTo>
                  <a:lnTo>
                    <a:pt x="244" y="209"/>
                  </a:lnTo>
                  <a:lnTo>
                    <a:pt x="207" y="192"/>
                  </a:lnTo>
                  <a:lnTo>
                    <a:pt x="207" y="176"/>
                  </a:lnTo>
                  <a:lnTo>
                    <a:pt x="173" y="144"/>
                  </a:lnTo>
                  <a:lnTo>
                    <a:pt x="173" y="128"/>
                  </a:lnTo>
                  <a:lnTo>
                    <a:pt x="155" y="128"/>
                  </a:lnTo>
                  <a:lnTo>
                    <a:pt x="138" y="96"/>
                  </a:lnTo>
                  <a:lnTo>
                    <a:pt x="103" y="32"/>
                  </a:lnTo>
                  <a:lnTo>
                    <a:pt x="86" y="32"/>
                  </a:lnTo>
                  <a:lnTo>
                    <a:pt x="52" y="17"/>
                  </a:lnTo>
                  <a:lnTo>
                    <a:pt x="69" y="65"/>
                  </a:lnTo>
                  <a:lnTo>
                    <a:pt x="155" y="176"/>
                  </a:lnTo>
                  <a:lnTo>
                    <a:pt x="173" y="240"/>
                  </a:lnTo>
                  <a:lnTo>
                    <a:pt x="190" y="240"/>
                  </a:lnTo>
                  <a:lnTo>
                    <a:pt x="207" y="257"/>
                  </a:lnTo>
                  <a:lnTo>
                    <a:pt x="190" y="272"/>
                  </a:lnTo>
                  <a:lnTo>
                    <a:pt x="173" y="257"/>
                  </a:lnTo>
                  <a:lnTo>
                    <a:pt x="121" y="224"/>
                  </a:lnTo>
                  <a:lnTo>
                    <a:pt x="138" y="209"/>
                  </a:lnTo>
                  <a:lnTo>
                    <a:pt x="121" y="176"/>
                  </a:lnTo>
                  <a:lnTo>
                    <a:pt x="69" y="161"/>
                  </a:lnTo>
                  <a:lnTo>
                    <a:pt x="52" y="128"/>
                  </a:lnTo>
                  <a:lnTo>
                    <a:pt x="69" y="144"/>
                  </a:lnTo>
                  <a:lnTo>
                    <a:pt x="86" y="113"/>
                  </a:lnTo>
                  <a:lnTo>
                    <a:pt x="34" y="80"/>
                  </a:lnTo>
                  <a:lnTo>
                    <a:pt x="0" y="0"/>
                  </a:lnTo>
                  <a:lnTo>
                    <a:pt x="52" y="0"/>
                  </a:lnTo>
                  <a:lnTo>
                    <a:pt x="155" y="32"/>
                  </a:lnTo>
                  <a:lnTo>
                    <a:pt x="295" y="17"/>
                  </a:lnTo>
                  <a:lnTo>
                    <a:pt x="330" y="48"/>
                  </a:lnTo>
                  <a:lnTo>
                    <a:pt x="330" y="80"/>
                  </a:lnTo>
                  <a:lnTo>
                    <a:pt x="365" y="96"/>
                  </a:lnTo>
                  <a:lnTo>
                    <a:pt x="382" y="96"/>
                  </a:lnTo>
                  <a:lnTo>
                    <a:pt x="399" y="80"/>
                  </a:lnTo>
                  <a:lnTo>
                    <a:pt x="416" y="80"/>
                  </a:lnTo>
                  <a:lnTo>
                    <a:pt x="485" y="176"/>
                  </a:lnTo>
                  <a:lnTo>
                    <a:pt x="537" y="19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56" name="Freeform 85">
              <a:extLst>
                <a:ext uri="{FF2B5EF4-FFF2-40B4-BE49-F238E27FC236}">
                  <a16:creationId xmlns:a16="http://schemas.microsoft.com/office/drawing/2014/main" id="{6A8E0162-09CA-483A-BEBB-E7A5977E3D04}"/>
                </a:ext>
              </a:extLst>
            </p:cNvPr>
            <p:cNvSpPr>
              <a:spLocks/>
            </p:cNvSpPr>
            <p:nvPr>
              <p:custDataLst>
                <p:tags r:id="rId86"/>
              </p:custDataLst>
            </p:nvPr>
          </p:nvSpPr>
          <p:spPr bwMode="auto">
            <a:xfrm>
              <a:off x="5079923" y="4129081"/>
              <a:ext cx="91481" cy="98518"/>
            </a:xfrm>
            <a:custGeom>
              <a:avLst/>
              <a:gdLst>
                <a:gd name="T0" fmla="*/ 17632 w 103"/>
                <a:gd name="T1" fmla="*/ 9611 h 111"/>
                <a:gd name="T2" fmla="*/ 17632 w 103"/>
                <a:gd name="T3" fmla="*/ 9611 h 111"/>
                <a:gd name="T4" fmla="*/ 20838 w 103"/>
                <a:gd name="T5" fmla="*/ 12814 h 111"/>
                <a:gd name="T6" fmla="*/ 14426 w 103"/>
                <a:gd name="T7" fmla="*/ 19222 h 111"/>
                <a:gd name="T8" fmla="*/ 10419 w 103"/>
                <a:gd name="T9" fmla="*/ 22425 h 111"/>
                <a:gd name="T10" fmla="*/ 0 w 103"/>
                <a:gd name="T11" fmla="*/ 19222 h 111"/>
                <a:gd name="T12" fmla="*/ 4007 w 103"/>
                <a:gd name="T13" fmla="*/ 9611 h 111"/>
                <a:gd name="T14" fmla="*/ 10419 w 103"/>
                <a:gd name="T15" fmla="*/ 9611 h 111"/>
                <a:gd name="T16" fmla="*/ 4007 w 103"/>
                <a:gd name="T17" fmla="*/ 3204 h 111"/>
                <a:gd name="T18" fmla="*/ 7213 w 103"/>
                <a:gd name="T19" fmla="*/ 0 h 111"/>
                <a:gd name="T20" fmla="*/ 17632 w 103"/>
                <a:gd name="T21" fmla="*/ 0 h 111"/>
                <a:gd name="T22" fmla="*/ 17632 w 103"/>
                <a:gd name="T23" fmla="*/ 961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3"/>
                <a:gd name="T37" fmla="*/ 0 h 111"/>
                <a:gd name="T38" fmla="*/ 103 w 103"/>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3" h="111">
                  <a:moveTo>
                    <a:pt x="86" y="48"/>
                  </a:moveTo>
                  <a:lnTo>
                    <a:pt x="86" y="48"/>
                  </a:lnTo>
                  <a:lnTo>
                    <a:pt x="103" y="63"/>
                  </a:lnTo>
                  <a:lnTo>
                    <a:pt x="69" y="96"/>
                  </a:lnTo>
                  <a:lnTo>
                    <a:pt x="51" y="111"/>
                  </a:lnTo>
                  <a:lnTo>
                    <a:pt x="0" y="96"/>
                  </a:lnTo>
                  <a:lnTo>
                    <a:pt x="17" y="48"/>
                  </a:lnTo>
                  <a:lnTo>
                    <a:pt x="51" y="48"/>
                  </a:lnTo>
                  <a:lnTo>
                    <a:pt x="17" y="15"/>
                  </a:lnTo>
                  <a:lnTo>
                    <a:pt x="34" y="0"/>
                  </a:lnTo>
                  <a:lnTo>
                    <a:pt x="86" y="0"/>
                  </a:lnTo>
                  <a:lnTo>
                    <a:pt x="86"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57" name="Freeform 86">
              <a:extLst>
                <a:ext uri="{FF2B5EF4-FFF2-40B4-BE49-F238E27FC236}">
                  <a16:creationId xmlns:a16="http://schemas.microsoft.com/office/drawing/2014/main" id="{88B36B47-D713-4CCC-8188-D5135EF2E403}"/>
                </a:ext>
              </a:extLst>
            </p:cNvPr>
            <p:cNvSpPr>
              <a:spLocks/>
            </p:cNvSpPr>
            <p:nvPr>
              <p:custDataLst>
                <p:tags r:id="rId87"/>
              </p:custDataLst>
            </p:nvPr>
          </p:nvSpPr>
          <p:spPr bwMode="auto">
            <a:xfrm>
              <a:off x="5143256" y="4185377"/>
              <a:ext cx="149537" cy="56296"/>
            </a:xfrm>
            <a:custGeom>
              <a:avLst/>
              <a:gdLst>
                <a:gd name="T0" fmla="*/ 7144 w 170"/>
                <a:gd name="T1" fmla="*/ 0 h 63"/>
                <a:gd name="T2" fmla="*/ 7144 w 170"/>
                <a:gd name="T3" fmla="*/ 0 h 63"/>
                <a:gd name="T4" fmla="*/ 23019 w 170"/>
                <a:gd name="T5" fmla="*/ 0 h 63"/>
                <a:gd name="T6" fmla="*/ 34131 w 170"/>
                <a:gd name="T7" fmla="*/ 3225 h 63"/>
                <a:gd name="T8" fmla="*/ 26988 w 170"/>
                <a:gd name="T9" fmla="*/ 7257 h 63"/>
                <a:gd name="T10" fmla="*/ 14288 w 170"/>
                <a:gd name="T11" fmla="*/ 12902 h 63"/>
                <a:gd name="T12" fmla="*/ 9525 w 170"/>
                <a:gd name="T13" fmla="*/ 12902 h 63"/>
                <a:gd name="T14" fmla="*/ 9525 w 170"/>
                <a:gd name="T15" fmla="*/ 9676 h 63"/>
                <a:gd name="T16" fmla="*/ 0 w 170"/>
                <a:gd name="T17" fmla="*/ 7257 h 63"/>
                <a:gd name="T18" fmla="*/ 7144 w 170"/>
                <a:gd name="T19" fmla="*/ 0 h 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0"/>
                <a:gd name="T31" fmla="*/ 0 h 63"/>
                <a:gd name="T32" fmla="*/ 170 w 170"/>
                <a:gd name="T33" fmla="*/ 63 h 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0" h="63">
                  <a:moveTo>
                    <a:pt x="34" y="0"/>
                  </a:moveTo>
                  <a:lnTo>
                    <a:pt x="34" y="0"/>
                  </a:lnTo>
                  <a:lnTo>
                    <a:pt x="119" y="0"/>
                  </a:lnTo>
                  <a:lnTo>
                    <a:pt x="170" y="15"/>
                  </a:lnTo>
                  <a:lnTo>
                    <a:pt x="136" y="33"/>
                  </a:lnTo>
                  <a:lnTo>
                    <a:pt x="69" y="63"/>
                  </a:lnTo>
                  <a:lnTo>
                    <a:pt x="51" y="63"/>
                  </a:lnTo>
                  <a:lnTo>
                    <a:pt x="51" y="48"/>
                  </a:lnTo>
                  <a:lnTo>
                    <a:pt x="0" y="33"/>
                  </a:lnTo>
                  <a:lnTo>
                    <a:pt x="34"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58" name="Freeform 87">
              <a:extLst>
                <a:ext uri="{FF2B5EF4-FFF2-40B4-BE49-F238E27FC236}">
                  <a16:creationId xmlns:a16="http://schemas.microsoft.com/office/drawing/2014/main" id="{2C1F8750-E5EF-475E-91BA-F437DED6923A}"/>
                </a:ext>
              </a:extLst>
            </p:cNvPr>
            <p:cNvSpPr>
              <a:spLocks/>
            </p:cNvSpPr>
            <p:nvPr>
              <p:custDataLst>
                <p:tags r:id="rId88"/>
              </p:custDataLst>
            </p:nvPr>
          </p:nvSpPr>
          <p:spPr bwMode="auto">
            <a:xfrm>
              <a:off x="5125663" y="4213525"/>
              <a:ext cx="63333" cy="28148"/>
            </a:xfrm>
            <a:custGeom>
              <a:avLst/>
              <a:gdLst>
                <a:gd name="T0" fmla="*/ 4025 w 71"/>
                <a:gd name="T1" fmla="*/ 0 h 30"/>
                <a:gd name="T2" fmla="*/ 4025 w 71"/>
                <a:gd name="T3" fmla="*/ 0 h 30"/>
                <a:gd name="T4" fmla="*/ 0 w 71"/>
                <a:gd name="T5" fmla="*/ 3387 h 30"/>
                <a:gd name="T6" fmla="*/ 4025 w 71"/>
                <a:gd name="T7" fmla="*/ 7620 h 30"/>
                <a:gd name="T8" fmla="*/ 14489 w 71"/>
                <a:gd name="T9" fmla="*/ 7620 h 30"/>
                <a:gd name="T10" fmla="*/ 14489 w 71"/>
                <a:gd name="T11" fmla="*/ 3387 h 30"/>
                <a:gd name="T12" fmla="*/ 4025 w 71"/>
                <a:gd name="T13" fmla="*/ 0 h 30"/>
                <a:gd name="T14" fmla="*/ 0 60000 65536"/>
                <a:gd name="T15" fmla="*/ 0 60000 65536"/>
                <a:gd name="T16" fmla="*/ 0 60000 65536"/>
                <a:gd name="T17" fmla="*/ 0 60000 65536"/>
                <a:gd name="T18" fmla="*/ 0 60000 65536"/>
                <a:gd name="T19" fmla="*/ 0 60000 65536"/>
                <a:gd name="T20" fmla="*/ 0 60000 65536"/>
                <a:gd name="T21" fmla="*/ 0 w 71"/>
                <a:gd name="T22" fmla="*/ 0 h 30"/>
                <a:gd name="T23" fmla="*/ 71 w 71"/>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30">
                  <a:moveTo>
                    <a:pt x="20" y="0"/>
                  </a:moveTo>
                  <a:lnTo>
                    <a:pt x="20" y="0"/>
                  </a:lnTo>
                  <a:lnTo>
                    <a:pt x="0" y="15"/>
                  </a:lnTo>
                  <a:lnTo>
                    <a:pt x="20" y="30"/>
                  </a:lnTo>
                  <a:lnTo>
                    <a:pt x="71" y="30"/>
                  </a:lnTo>
                  <a:lnTo>
                    <a:pt x="71" y="15"/>
                  </a:lnTo>
                  <a:lnTo>
                    <a:pt x="2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59" name="Freeform 88">
              <a:extLst>
                <a:ext uri="{FF2B5EF4-FFF2-40B4-BE49-F238E27FC236}">
                  <a16:creationId xmlns:a16="http://schemas.microsoft.com/office/drawing/2014/main" id="{4CB81805-851A-4A2F-90B3-1AF9BE2F5BB4}"/>
                </a:ext>
              </a:extLst>
            </p:cNvPr>
            <p:cNvSpPr>
              <a:spLocks/>
            </p:cNvSpPr>
            <p:nvPr>
              <p:custDataLst>
                <p:tags r:id="rId89"/>
              </p:custDataLst>
            </p:nvPr>
          </p:nvSpPr>
          <p:spPr bwMode="auto">
            <a:xfrm>
              <a:off x="5201312" y="4199451"/>
              <a:ext cx="91481" cy="98518"/>
            </a:xfrm>
            <a:custGeom>
              <a:avLst/>
              <a:gdLst>
                <a:gd name="T0" fmla="*/ 20838 w 103"/>
                <a:gd name="T1" fmla="*/ 0 h 114"/>
                <a:gd name="T2" fmla="*/ 20838 w 103"/>
                <a:gd name="T3" fmla="*/ 0 h 114"/>
                <a:gd name="T4" fmla="*/ 20838 w 103"/>
                <a:gd name="T5" fmla="*/ 3119 h 114"/>
                <a:gd name="T6" fmla="*/ 17632 w 103"/>
                <a:gd name="T7" fmla="*/ 17936 h 114"/>
                <a:gd name="T8" fmla="*/ 20838 w 103"/>
                <a:gd name="T9" fmla="*/ 21835 h 114"/>
                <a:gd name="T10" fmla="*/ 17632 w 103"/>
                <a:gd name="T11" fmla="*/ 21835 h 114"/>
                <a:gd name="T12" fmla="*/ 7213 w 103"/>
                <a:gd name="T13" fmla="*/ 17936 h 114"/>
                <a:gd name="T14" fmla="*/ 0 w 103"/>
                <a:gd name="T15" fmla="*/ 12477 h 114"/>
                <a:gd name="T16" fmla="*/ 0 w 103"/>
                <a:gd name="T17" fmla="*/ 9358 h 114"/>
                <a:gd name="T18" fmla="*/ 14426 w 103"/>
                <a:gd name="T19" fmla="*/ 3119 h 114"/>
                <a:gd name="T20" fmla="*/ 20838 w 103"/>
                <a:gd name="T21" fmla="*/ 0 h 11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
                <a:gd name="T34" fmla="*/ 0 h 114"/>
                <a:gd name="T35" fmla="*/ 103 w 103"/>
                <a:gd name="T36" fmla="*/ 114 h 11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 h="114">
                  <a:moveTo>
                    <a:pt x="103" y="0"/>
                  </a:moveTo>
                  <a:lnTo>
                    <a:pt x="103" y="0"/>
                  </a:lnTo>
                  <a:lnTo>
                    <a:pt x="103" y="18"/>
                  </a:lnTo>
                  <a:lnTo>
                    <a:pt x="86" y="96"/>
                  </a:lnTo>
                  <a:lnTo>
                    <a:pt x="103" y="114"/>
                  </a:lnTo>
                  <a:lnTo>
                    <a:pt x="86" y="114"/>
                  </a:lnTo>
                  <a:lnTo>
                    <a:pt x="34" y="96"/>
                  </a:lnTo>
                  <a:lnTo>
                    <a:pt x="0" y="66"/>
                  </a:lnTo>
                  <a:lnTo>
                    <a:pt x="0" y="48"/>
                  </a:lnTo>
                  <a:lnTo>
                    <a:pt x="69" y="18"/>
                  </a:lnTo>
                  <a:lnTo>
                    <a:pt x="103"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60" name="Freeform 89">
              <a:extLst>
                <a:ext uri="{FF2B5EF4-FFF2-40B4-BE49-F238E27FC236}">
                  <a16:creationId xmlns:a16="http://schemas.microsoft.com/office/drawing/2014/main" id="{AAE52E1C-C71E-435E-A942-BD9B2C3EA5E2}"/>
                </a:ext>
              </a:extLst>
            </p:cNvPr>
            <p:cNvSpPr>
              <a:spLocks/>
            </p:cNvSpPr>
            <p:nvPr>
              <p:custDataLst>
                <p:tags r:id="rId90"/>
              </p:custDataLst>
            </p:nvPr>
          </p:nvSpPr>
          <p:spPr bwMode="auto">
            <a:xfrm>
              <a:off x="5234737" y="4283895"/>
              <a:ext cx="75648" cy="70370"/>
            </a:xfrm>
            <a:custGeom>
              <a:avLst/>
              <a:gdLst>
                <a:gd name="T0" fmla="*/ 16477 w 87"/>
                <a:gd name="T1" fmla="*/ 15679 h 81"/>
                <a:gd name="T2" fmla="*/ 16477 w 87"/>
                <a:gd name="T3" fmla="*/ 15679 h 81"/>
                <a:gd name="T4" fmla="*/ 16477 w 87"/>
                <a:gd name="T5" fmla="*/ 9407 h 81"/>
                <a:gd name="T6" fmla="*/ 13339 w 87"/>
                <a:gd name="T7" fmla="*/ 6272 h 81"/>
                <a:gd name="T8" fmla="*/ 13339 w 87"/>
                <a:gd name="T9" fmla="*/ 3136 h 81"/>
                <a:gd name="T10" fmla="*/ 10200 w 87"/>
                <a:gd name="T11" fmla="*/ 3136 h 81"/>
                <a:gd name="T12" fmla="*/ 0 w 87"/>
                <a:gd name="T13" fmla="*/ 0 h 81"/>
                <a:gd name="T14" fmla="*/ 0 w 87"/>
                <a:gd name="T15" fmla="*/ 6272 h 81"/>
                <a:gd name="T16" fmla="*/ 3139 w 87"/>
                <a:gd name="T17" fmla="*/ 9407 h 81"/>
                <a:gd name="T18" fmla="*/ 6277 w 87"/>
                <a:gd name="T19" fmla="*/ 6272 h 81"/>
                <a:gd name="T20" fmla="*/ 10200 w 87"/>
                <a:gd name="T21" fmla="*/ 12543 h 81"/>
                <a:gd name="T22" fmla="*/ 16477 w 87"/>
                <a:gd name="T23" fmla="*/ 15679 h 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7"/>
                <a:gd name="T37" fmla="*/ 0 h 81"/>
                <a:gd name="T38" fmla="*/ 87 w 87"/>
                <a:gd name="T39" fmla="*/ 81 h 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7" h="81">
                  <a:moveTo>
                    <a:pt x="87" y="81"/>
                  </a:moveTo>
                  <a:lnTo>
                    <a:pt x="87" y="81"/>
                  </a:lnTo>
                  <a:lnTo>
                    <a:pt x="87" y="48"/>
                  </a:lnTo>
                  <a:lnTo>
                    <a:pt x="69" y="33"/>
                  </a:lnTo>
                  <a:lnTo>
                    <a:pt x="69" y="18"/>
                  </a:lnTo>
                  <a:lnTo>
                    <a:pt x="52" y="18"/>
                  </a:lnTo>
                  <a:lnTo>
                    <a:pt x="0" y="0"/>
                  </a:lnTo>
                  <a:lnTo>
                    <a:pt x="0" y="33"/>
                  </a:lnTo>
                  <a:lnTo>
                    <a:pt x="18" y="48"/>
                  </a:lnTo>
                  <a:lnTo>
                    <a:pt x="35" y="33"/>
                  </a:lnTo>
                  <a:lnTo>
                    <a:pt x="52" y="66"/>
                  </a:lnTo>
                  <a:lnTo>
                    <a:pt x="87" y="8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61" name="Freeform 90">
              <a:extLst>
                <a:ext uri="{FF2B5EF4-FFF2-40B4-BE49-F238E27FC236}">
                  <a16:creationId xmlns:a16="http://schemas.microsoft.com/office/drawing/2014/main" id="{E2D48DDC-CA88-433C-B423-AF68AFEB9A3B}"/>
                </a:ext>
              </a:extLst>
            </p:cNvPr>
            <p:cNvSpPr>
              <a:spLocks/>
            </p:cNvSpPr>
            <p:nvPr>
              <p:custDataLst>
                <p:tags r:id="rId91"/>
              </p:custDataLst>
            </p:nvPr>
          </p:nvSpPr>
          <p:spPr bwMode="auto">
            <a:xfrm>
              <a:off x="5310385" y="4326117"/>
              <a:ext cx="73889" cy="56296"/>
            </a:xfrm>
            <a:custGeom>
              <a:avLst/>
              <a:gdLst>
                <a:gd name="T0" fmla="*/ 0 w 84"/>
                <a:gd name="T1" fmla="*/ 6158 h 66"/>
                <a:gd name="T2" fmla="*/ 0 w 84"/>
                <a:gd name="T3" fmla="*/ 6158 h 66"/>
                <a:gd name="T4" fmla="*/ 9525 w 84"/>
                <a:gd name="T5" fmla="*/ 8467 h 66"/>
                <a:gd name="T6" fmla="*/ 9525 w 84"/>
                <a:gd name="T7" fmla="*/ 12315 h 66"/>
                <a:gd name="T8" fmla="*/ 14288 w 84"/>
                <a:gd name="T9" fmla="*/ 8467 h 66"/>
                <a:gd name="T10" fmla="*/ 9525 w 84"/>
                <a:gd name="T11" fmla="*/ 6158 h 66"/>
                <a:gd name="T12" fmla="*/ 16669 w 84"/>
                <a:gd name="T13" fmla="*/ 3079 h 66"/>
                <a:gd name="T14" fmla="*/ 14288 w 84"/>
                <a:gd name="T15" fmla="*/ 0 h 66"/>
                <a:gd name="T16" fmla="*/ 7144 w 84"/>
                <a:gd name="T17" fmla="*/ 3079 h 66"/>
                <a:gd name="T18" fmla="*/ 3969 w 84"/>
                <a:gd name="T19" fmla="*/ 3079 h 66"/>
                <a:gd name="T20" fmla="*/ 0 w 84"/>
                <a:gd name="T21" fmla="*/ 0 h 66"/>
                <a:gd name="T22" fmla="*/ 0 w 84"/>
                <a:gd name="T23" fmla="*/ 6158 h 6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4"/>
                <a:gd name="T37" fmla="*/ 0 h 66"/>
                <a:gd name="T38" fmla="*/ 84 w 84"/>
                <a:gd name="T39" fmla="*/ 66 h 6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4" h="66">
                  <a:moveTo>
                    <a:pt x="0" y="33"/>
                  </a:moveTo>
                  <a:lnTo>
                    <a:pt x="0" y="33"/>
                  </a:lnTo>
                  <a:lnTo>
                    <a:pt x="51" y="48"/>
                  </a:lnTo>
                  <a:lnTo>
                    <a:pt x="51" y="66"/>
                  </a:lnTo>
                  <a:lnTo>
                    <a:pt x="69" y="48"/>
                  </a:lnTo>
                  <a:lnTo>
                    <a:pt x="51" y="33"/>
                  </a:lnTo>
                  <a:lnTo>
                    <a:pt x="84" y="18"/>
                  </a:lnTo>
                  <a:lnTo>
                    <a:pt x="69" y="0"/>
                  </a:lnTo>
                  <a:lnTo>
                    <a:pt x="34" y="18"/>
                  </a:lnTo>
                  <a:lnTo>
                    <a:pt x="17" y="18"/>
                  </a:lnTo>
                  <a:lnTo>
                    <a:pt x="0" y="0"/>
                  </a:lnTo>
                  <a:lnTo>
                    <a:pt x="0"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62" name="Freeform 91">
              <a:extLst>
                <a:ext uri="{FF2B5EF4-FFF2-40B4-BE49-F238E27FC236}">
                  <a16:creationId xmlns:a16="http://schemas.microsoft.com/office/drawing/2014/main" id="{481CE4C9-6021-4CB5-9E81-7805EE442BFF}"/>
                </a:ext>
              </a:extLst>
            </p:cNvPr>
            <p:cNvSpPr>
              <a:spLocks/>
            </p:cNvSpPr>
            <p:nvPr>
              <p:custDataLst>
                <p:tags r:id="rId92"/>
              </p:custDataLst>
            </p:nvPr>
          </p:nvSpPr>
          <p:spPr bwMode="auto">
            <a:xfrm>
              <a:off x="5386033" y="4326117"/>
              <a:ext cx="61574" cy="56296"/>
            </a:xfrm>
            <a:custGeom>
              <a:avLst/>
              <a:gdLst>
                <a:gd name="T0" fmla="*/ 10468 w 69"/>
                <a:gd name="T1" fmla="*/ 3079 h 66"/>
                <a:gd name="T2" fmla="*/ 10468 w 69"/>
                <a:gd name="T3" fmla="*/ 3079 h 66"/>
                <a:gd name="T4" fmla="*/ 14495 w 69"/>
                <a:gd name="T5" fmla="*/ 6158 h 66"/>
                <a:gd name="T6" fmla="*/ 10468 w 69"/>
                <a:gd name="T7" fmla="*/ 8467 h 66"/>
                <a:gd name="T8" fmla="*/ 10468 w 69"/>
                <a:gd name="T9" fmla="*/ 12315 h 66"/>
                <a:gd name="T10" fmla="*/ 7247 w 69"/>
                <a:gd name="T11" fmla="*/ 6158 h 66"/>
                <a:gd name="T12" fmla="*/ 0 w 69"/>
                <a:gd name="T13" fmla="*/ 3079 h 66"/>
                <a:gd name="T14" fmla="*/ 0 w 69"/>
                <a:gd name="T15" fmla="*/ 0 h 66"/>
                <a:gd name="T16" fmla="*/ 4026 w 69"/>
                <a:gd name="T17" fmla="*/ 0 h 66"/>
                <a:gd name="T18" fmla="*/ 7247 w 69"/>
                <a:gd name="T19" fmla="*/ 0 h 66"/>
                <a:gd name="T20" fmla="*/ 10468 w 69"/>
                <a:gd name="T21" fmla="*/ 3079 h 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9"/>
                <a:gd name="T34" fmla="*/ 0 h 66"/>
                <a:gd name="T35" fmla="*/ 69 w 69"/>
                <a:gd name="T36" fmla="*/ 66 h 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9" h="66">
                  <a:moveTo>
                    <a:pt x="52" y="18"/>
                  </a:moveTo>
                  <a:lnTo>
                    <a:pt x="52" y="18"/>
                  </a:lnTo>
                  <a:lnTo>
                    <a:pt x="69" y="33"/>
                  </a:lnTo>
                  <a:lnTo>
                    <a:pt x="52" y="48"/>
                  </a:lnTo>
                  <a:lnTo>
                    <a:pt x="52" y="66"/>
                  </a:lnTo>
                  <a:lnTo>
                    <a:pt x="35" y="33"/>
                  </a:lnTo>
                  <a:lnTo>
                    <a:pt x="0" y="18"/>
                  </a:lnTo>
                  <a:lnTo>
                    <a:pt x="0" y="0"/>
                  </a:lnTo>
                  <a:lnTo>
                    <a:pt x="17" y="0"/>
                  </a:lnTo>
                  <a:lnTo>
                    <a:pt x="35" y="0"/>
                  </a:lnTo>
                  <a:lnTo>
                    <a:pt x="52" y="1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63" name="Freeform 92">
              <a:extLst>
                <a:ext uri="{FF2B5EF4-FFF2-40B4-BE49-F238E27FC236}">
                  <a16:creationId xmlns:a16="http://schemas.microsoft.com/office/drawing/2014/main" id="{265A5D37-8BF7-4A07-AA8F-E30DCD1A8D46}"/>
                </a:ext>
              </a:extLst>
            </p:cNvPr>
            <p:cNvSpPr>
              <a:spLocks/>
            </p:cNvSpPr>
            <p:nvPr>
              <p:custDataLst>
                <p:tags r:id="rId93"/>
              </p:custDataLst>
            </p:nvPr>
          </p:nvSpPr>
          <p:spPr bwMode="auto">
            <a:xfrm>
              <a:off x="5370200" y="4326117"/>
              <a:ext cx="15834" cy="14074"/>
            </a:xfrm>
            <a:custGeom>
              <a:avLst/>
              <a:gdLst>
                <a:gd name="T0" fmla="*/ 4202 w 17"/>
                <a:gd name="T1" fmla="*/ 2822 h 18"/>
                <a:gd name="T2" fmla="*/ 4202 w 17"/>
                <a:gd name="T3" fmla="*/ 2822 h 18"/>
                <a:gd name="T4" fmla="*/ 4202 w 17"/>
                <a:gd name="T5" fmla="*/ 0 h 18"/>
                <a:gd name="T6" fmla="*/ 0 w 17"/>
                <a:gd name="T7" fmla="*/ 0 h 18"/>
                <a:gd name="T8" fmla="*/ 4202 w 17"/>
                <a:gd name="T9" fmla="*/ 2822 h 18"/>
                <a:gd name="T10" fmla="*/ 0 60000 65536"/>
                <a:gd name="T11" fmla="*/ 0 60000 65536"/>
                <a:gd name="T12" fmla="*/ 0 60000 65536"/>
                <a:gd name="T13" fmla="*/ 0 60000 65536"/>
                <a:gd name="T14" fmla="*/ 0 60000 65536"/>
                <a:gd name="T15" fmla="*/ 0 w 17"/>
                <a:gd name="T16" fmla="*/ 0 h 18"/>
                <a:gd name="T17" fmla="*/ 17 w 17"/>
                <a:gd name="T18" fmla="*/ 18 h 18"/>
              </a:gdLst>
              <a:ahLst/>
              <a:cxnLst>
                <a:cxn ang="T10">
                  <a:pos x="T0" y="T1"/>
                </a:cxn>
                <a:cxn ang="T11">
                  <a:pos x="T2" y="T3"/>
                </a:cxn>
                <a:cxn ang="T12">
                  <a:pos x="T4" y="T5"/>
                </a:cxn>
                <a:cxn ang="T13">
                  <a:pos x="T6" y="T7"/>
                </a:cxn>
                <a:cxn ang="T14">
                  <a:pos x="T8" y="T9"/>
                </a:cxn>
              </a:cxnLst>
              <a:rect l="T15" t="T16" r="T17" b="T18"/>
              <a:pathLst>
                <a:path w="17" h="18">
                  <a:moveTo>
                    <a:pt x="17" y="18"/>
                  </a:moveTo>
                  <a:lnTo>
                    <a:pt x="17" y="18"/>
                  </a:lnTo>
                  <a:lnTo>
                    <a:pt x="17" y="0"/>
                  </a:lnTo>
                  <a:lnTo>
                    <a:pt x="0" y="0"/>
                  </a:lnTo>
                  <a:lnTo>
                    <a:pt x="17" y="1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64" name="Freeform 93">
              <a:extLst>
                <a:ext uri="{FF2B5EF4-FFF2-40B4-BE49-F238E27FC236}">
                  <a16:creationId xmlns:a16="http://schemas.microsoft.com/office/drawing/2014/main" id="{9A227C15-1F1F-421E-901C-AC89F6235460}"/>
                </a:ext>
              </a:extLst>
            </p:cNvPr>
            <p:cNvSpPr>
              <a:spLocks/>
            </p:cNvSpPr>
            <p:nvPr>
              <p:custDataLst>
                <p:tags r:id="rId94"/>
              </p:custDataLst>
            </p:nvPr>
          </p:nvSpPr>
          <p:spPr bwMode="auto">
            <a:xfrm>
              <a:off x="10447402" y="4540746"/>
              <a:ext cx="241018" cy="197036"/>
            </a:xfrm>
            <a:custGeom>
              <a:avLst/>
              <a:gdLst>
                <a:gd name="T0" fmla="*/ 53779 w 275"/>
                <a:gd name="T1" fmla="*/ 12644 h 225"/>
                <a:gd name="T2" fmla="*/ 53779 w 275"/>
                <a:gd name="T3" fmla="*/ 12644 h 225"/>
                <a:gd name="T4" fmla="*/ 53779 w 275"/>
                <a:gd name="T5" fmla="*/ 25287 h 225"/>
                <a:gd name="T6" fmla="*/ 53779 w 275"/>
                <a:gd name="T7" fmla="*/ 44252 h 225"/>
                <a:gd name="T8" fmla="*/ 47452 w 275"/>
                <a:gd name="T9" fmla="*/ 37931 h 225"/>
                <a:gd name="T10" fmla="*/ 37171 w 275"/>
                <a:gd name="T11" fmla="*/ 41092 h 225"/>
                <a:gd name="T12" fmla="*/ 40334 w 275"/>
                <a:gd name="T13" fmla="*/ 34770 h 225"/>
                <a:gd name="T14" fmla="*/ 37171 w 275"/>
                <a:gd name="T15" fmla="*/ 28448 h 225"/>
                <a:gd name="T16" fmla="*/ 13445 w 275"/>
                <a:gd name="T17" fmla="*/ 15804 h 225"/>
                <a:gd name="T18" fmla="*/ 10281 w 275"/>
                <a:gd name="T19" fmla="*/ 18965 h 225"/>
                <a:gd name="T20" fmla="*/ 10281 w 275"/>
                <a:gd name="T21" fmla="*/ 15804 h 225"/>
                <a:gd name="T22" fmla="*/ 6327 w 275"/>
                <a:gd name="T23" fmla="*/ 12644 h 225"/>
                <a:gd name="T24" fmla="*/ 13445 w 275"/>
                <a:gd name="T25" fmla="*/ 12644 h 225"/>
                <a:gd name="T26" fmla="*/ 16608 w 275"/>
                <a:gd name="T27" fmla="*/ 9483 h 225"/>
                <a:gd name="T28" fmla="*/ 6327 w 275"/>
                <a:gd name="T29" fmla="*/ 9483 h 225"/>
                <a:gd name="T30" fmla="*/ 3163 w 275"/>
                <a:gd name="T31" fmla="*/ 6322 h 225"/>
                <a:gd name="T32" fmla="*/ 0 w 275"/>
                <a:gd name="T33" fmla="*/ 6322 h 225"/>
                <a:gd name="T34" fmla="*/ 6327 w 275"/>
                <a:gd name="T35" fmla="*/ 0 h 225"/>
                <a:gd name="T36" fmla="*/ 10281 w 275"/>
                <a:gd name="T37" fmla="*/ 0 h 225"/>
                <a:gd name="T38" fmla="*/ 16608 w 275"/>
                <a:gd name="T39" fmla="*/ 3161 h 225"/>
                <a:gd name="T40" fmla="*/ 16608 w 275"/>
                <a:gd name="T41" fmla="*/ 9483 h 225"/>
                <a:gd name="T42" fmla="*/ 22935 w 275"/>
                <a:gd name="T43" fmla="*/ 15804 h 225"/>
                <a:gd name="T44" fmla="*/ 30053 w 275"/>
                <a:gd name="T45" fmla="*/ 9483 h 225"/>
                <a:gd name="T46" fmla="*/ 37171 w 275"/>
                <a:gd name="T47" fmla="*/ 6322 h 225"/>
                <a:gd name="T48" fmla="*/ 53779 w 275"/>
                <a:gd name="T49" fmla="*/ 12644 h 22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5"/>
                <a:gd name="T76" fmla="*/ 0 h 225"/>
                <a:gd name="T77" fmla="*/ 275 w 275"/>
                <a:gd name="T78" fmla="*/ 225 h 22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5" h="225">
                  <a:moveTo>
                    <a:pt x="275" y="65"/>
                  </a:moveTo>
                  <a:lnTo>
                    <a:pt x="275" y="65"/>
                  </a:lnTo>
                  <a:lnTo>
                    <a:pt x="275" y="129"/>
                  </a:lnTo>
                  <a:lnTo>
                    <a:pt x="275" y="225"/>
                  </a:lnTo>
                  <a:lnTo>
                    <a:pt x="240" y="192"/>
                  </a:lnTo>
                  <a:lnTo>
                    <a:pt x="189" y="209"/>
                  </a:lnTo>
                  <a:lnTo>
                    <a:pt x="206" y="177"/>
                  </a:lnTo>
                  <a:lnTo>
                    <a:pt x="189" y="144"/>
                  </a:lnTo>
                  <a:lnTo>
                    <a:pt x="68" y="81"/>
                  </a:lnTo>
                  <a:lnTo>
                    <a:pt x="52" y="96"/>
                  </a:lnTo>
                  <a:lnTo>
                    <a:pt x="52" y="81"/>
                  </a:lnTo>
                  <a:lnTo>
                    <a:pt x="35" y="65"/>
                  </a:lnTo>
                  <a:lnTo>
                    <a:pt x="68" y="65"/>
                  </a:lnTo>
                  <a:lnTo>
                    <a:pt x="85" y="48"/>
                  </a:lnTo>
                  <a:lnTo>
                    <a:pt x="35" y="48"/>
                  </a:lnTo>
                  <a:lnTo>
                    <a:pt x="18" y="33"/>
                  </a:lnTo>
                  <a:lnTo>
                    <a:pt x="0" y="33"/>
                  </a:lnTo>
                  <a:lnTo>
                    <a:pt x="35" y="0"/>
                  </a:lnTo>
                  <a:lnTo>
                    <a:pt x="52" y="0"/>
                  </a:lnTo>
                  <a:lnTo>
                    <a:pt x="85" y="18"/>
                  </a:lnTo>
                  <a:lnTo>
                    <a:pt x="85" y="48"/>
                  </a:lnTo>
                  <a:lnTo>
                    <a:pt x="119" y="81"/>
                  </a:lnTo>
                  <a:lnTo>
                    <a:pt x="154" y="48"/>
                  </a:lnTo>
                  <a:lnTo>
                    <a:pt x="189" y="33"/>
                  </a:lnTo>
                  <a:lnTo>
                    <a:pt x="275" y="6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65" name="Freeform 94">
              <a:extLst>
                <a:ext uri="{FF2B5EF4-FFF2-40B4-BE49-F238E27FC236}">
                  <a16:creationId xmlns:a16="http://schemas.microsoft.com/office/drawing/2014/main" id="{703DD5D8-95E8-4731-88B4-D35CDB7459CD}"/>
                </a:ext>
              </a:extLst>
            </p:cNvPr>
            <p:cNvSpPr>
              <a:spLocks/>
            </p:cNvSpPr>
            <p:nvPr>
              <p:custDataLst>
                <p:tags r:id="rId95"/>
              </p:custDataLst>
            </p:nvPr>
          </p:nvSpPr>
          <p:spPr bwMode="auto">
            <a:xfrm>
              <a:off x="10688419" y="4597042"/>
              <a:ext cx="230463" cy="182962"/>
            </a:xfrm>
            <a:custGeom>
              <a:avLst/>
              <a:gdLst>
                <a:gd name="T0" fmla="*/ 0 w 261"/>
                <a:gd name="T1" fmla="*/ 31750 h 208"/>
                <a:gd name="T2" fmla="*/ 0 w 261"/>
                <a:gd name="T3" fmla="*/ 31750 h 208"/>
                <a:gd name="T4" fmla="*/ 0 w 261"/>
                <a:gd name="T5" fmla="*/ 12700 h 208"/>
                <a:gd name="T6" fmla="*/ 0 w 261"/>
                <a:gd name="T7" fmla="*/ 0 h 208"/>
                <a:gd name="T8" fmla="*/ 14342 w 261"/>
                <a:gd name="T9" fmla="*/ 3175 h 208"/>
                <a:gd name="T10" fmla="*/ 24701 w 261"/>
                <a:gd name="T11" fmla="*/ 9525 h 208"/>
                <a:gd name="T12" fmla="*/ 24701 w 261"/>
                <a:gd name="T13" fmla="*/ 12700 h 208"/>
                <a:gd name="T14" fmla="*/ 38246 w 261"/>
                <a:gd name="T15" fmla="*/ 19050 h 208"/>
                <a:gd name="T16" fmla="*/ 31872 w 261"/>
                <a:gd name="T17" fmla="*/ 22225 h 208"/>
                <a:gd name="T18" fmla="*/ 35059 w 261"/>
                <a:gd name="T19" fmla="*/ 22225 h 208"/>
                <a:gd name="T20" fmla="*/ 38246 w 261"/>
                <a:gd name="T21" fmla="*/ 24606 h 208"/>
                <a:gd name="T22" fmla="*/ 42230 w 261"/>
                <a:gd name="T23" fmla="*/ 31750 h 208"/>
                <a:gd name="T24" fmla="*/ 45417 w 261"/>
                <a:gd name="T25" fmla="*/ 31750 h 208"/>
                <a:gd name="T26" fmla="*/ 45417 w 261"/>
                <a:gd name="T27" fmla="*/ 34925 h 208"/>
                <a:gd name="T28" fmla="*/ 52588 w 261"/>
                <a:gd name="T29" fmla="*/ 38100 h 208"/>
                <a:gd name="T30" fmla="*/ 52588 w 261"/>
                <a:gd name="T31" fmla="*/ 41275 h 208"/>
                <a:gd name="T32" fmla="*/ 35059 w 261"/>
                <a:gd name="T33" fmla="*/ 38100 h 208"/>
                <a:gd name="T34" fmla="*/ 27888 w 261"/>
                <a:gd name="T35" fmla="*/ 24606 h 208"/>
                <a:gd name="T36" fmla="*/ 20717 w 261"/>
                <a:gd name="T37" fmla="*/ 24606 h 208"/>
                <a:gd name="T38" fmla="*/ 17529 w 261"/>
                <a:gd name="T39" fmla="*/ 24606 h 208"/>
                <a:gd name="T40" fmla="*/ 10358 w 261"/>
                <a:gd name="T41" fmla="*/ 28575 h 208"/>
                <a:gd name="T42" fmla="*/ 14342 w 261"/>
                <a:gd name="T43" fmla="*/ 31750 h 208"/>
                <a:gd name="T44" fmla="*/ 7171 w 261"/>
                <a:gd name="T45" fmla="*/ 31750 h 208"/>
                <a:gd name="T46" fmla="*/ 0 w 261"/>
                <a:gd name="T47" fmla="*/ 31750 h 20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61"/>
                <a:gd name="T73" fmla="*/ 0 h 208"/>
                <a:gd name="T74" fmla="*/ 261 w 261"/>
                <a:gd name="T75" fmla="*/ 208 h 20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61" h="208">
                  <a:moveTo>
                    <a:pt x="0" y="160"/>
                  </a:moveTo>
                  <a:lnTo>
                    <a:pt x="0" y="160"/>
                  </a:lnTo>
                  <a:lnTo>
                    <a:pt x="0" y="64"/>
                  </a:lnTo>
                  <a:lnTo>
                    <a:pt x="0" y="0"/>
                  </a:lnTo>
                  <a:lnTo>
                    <a:pt x="69" y="16"/>
                  </a:lnTo>
                  <a:lnTo>
                    <a:pt x="121" y="48"/>
                  </a:lnTo>
                  <a:lnTo>
                    <a:pt x="121" y="64"/>
                  </a:lnTo>
                  <a:lnTo>
                    <a:pt x="192" y="96"/>
                  </a:lnTo>
                  <a:lnTo>
                    <a:pt x="157" y="112"/>
                  </a:lnTo>
                  <a:lnTo>
                    <a:pt x="175" y="112"/>
                  </a:lnTo>
                  <a:lnTo>
                    <a:pt x="192" y="127"/>
                  </a:lnTo>
                  <a:lnTo>
                    <a:pt x="209" y="160"/>
                  </a:lnTo>
                  <a:lnTo>
                    <a:pt x="226" y="160"/>
                  </a:lnTo>
                  <a:lnTo>
                    <a:pt x="226" y="175"/>
                  </a:lnTo>
                  <a:lnTo>
                    <a:pt x="261" y="192"/>
                  </a:lnTo>
                  <a:lnTo>
                    <a:pt x="261" y="208"/>
                  </a:lnTo>
                  <a:lnTo>
                    <a:pt x="175" y="192"/>
                  </a:lnTo>
                  <a:lnTo>
                    <a:pt x="140" y="127"/>
                  </a:lnTo>
                  <a:lnTo>
                    <a:pt x="104" y="127"/>
                  </a:lnTo>
                  <a:lnTo>
                    <a:pt x="86" y="127"/>
                  </a:lnTo>
                  <a:lnTo>
                    <a:pt x="52" y="144"/>
                  </a:lnTo>
                  <a:lnTo>
                    <a:pt x="69" y="160"/>
                  </a:lnTo>
                  <a:lnTo>
                    <a:pt x="34" y="160"/>
                  </a:lnTo>
                  <a:lnTo>
                    <a:pt x="0" y="16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66" name="Freeform 95">
              <a:extLst>
                <a:ext uri="{FF2B5EF4-FFF2-40B4-BE49-F238E27FC236}">
                  <a16:creationId xmlns:a16="http://schemas.microsoft.com/office/drawing/2014/main" id="{6DEB4605-793D-45EA-B492-BB84C7608867}"/>
                </a:ext>
              </a:extLst>
            </p:cNvPr>
            <p:cNvSpPr>
              <a:spLocks/>
            </p:cNvSpPr>
            <p:nvPr>
              <p:custDataLst>
                <p:tags r:id="rId96"/>
              </p:custDataLst>
            </p:nvPr>
          </p:nvSpPr>
          <p:spPr bwMode="auto">
            <a:xfrm>
              <a:off x="10018144" y="4780004"/>
              <a:ext cx="976386" cy="703701"/>
            </a:xfrm>
            <a:custGeom>
              <a:avLst/>
              <a:gdLst>
                <a:gd name="T0" fmla="*/ 11123 w 1109"/>
                <a:gd name="T1" fmla="*/ 127000 h 800"/>
                <a:gd name="T2" fmla="*/ 27806 w 1109"/>
                <a:gd name="T3" fmla="*/ 133350 h 800"/>
                <a:gd name="T4" fmla="*/ 55613 w 1109"/>
                <a:gd name="T5" fmla="*/ 123825 h 800"/>
                <a:gd name="T6" fmla="*/ 73091 w 1109"/>
                <a:gd name="T7" fmla="*/ 114300 h 800"/>
                <a:gd name="T8" fmla="*/ 114403 w 1109"/>
                <a:gd name="T9" fmla="*/ 117475 h 800"/>
                <a:gd name="T10" fmla="*/ 117581 w 1109"/>
                <a:gd name="T11" fmla="*/ 120650 h 800"/>
                <a:gd name="T12" fmla="*/ 135059 w 1109"/>
                <a:gd name="T13" fmla="*/ 117475 h 800"/>
                <a:gd name="T14" fmla="*/ 131087 w 1109"/>
                <a:gd name="T15" fmla="*/ 133350 h 800"/>
                <a:gd name="T16" fmla="*/ 135059 w 1109"/>
                <a:gd name="T17" fmla="*/ 127000 h 800"/>
                <a:gd name="T18" fmla="*/ 135059 w 1109"/>
                <a:gd name="T19" fmla="*/ 136525 h 800"/>
                <a:gd name="T20" fmla="*/ 145387 w 1109"/>
                <a:gd name="T21" fmla="*/ 142875 h 800"/>
                <a:gd name="T22" fmla="*/ 148565 w 1109"/>
                <a:gd name="T23" fmla="*/ 149225 h 800"/>
                <a:gd name="T24" fmla="*/ 162071 w 1109"/>
                <a:gd name="T25" fmla="*/ 152400 h 800"/>
                <a:gd name="T26" fmla="*/ 172399 w 1109"/>
                <a:gd name="T27" fmla="*/ 149225 h 800"/>
                <a:gd name="T28" fmla="*/ 176371 w 1109"/>
                <a:gd name="T29" fmla="*/ 152400 h 800"/>
                <a:gd name="T30" fmla="*/ 182727 w 1109"/>
                <a:gd name="T31" fmla="*/ 158750 h 800"/>
                <a:gd name="T32" fmla="*/ 200205 w 1109"/>
                <a:gd name="T33" fmla="*/ 149225 h 800"/>
                <a:gd name="T34" fmla="*/ 216889 w 1109"/>
                <a:gd name="T35" fmla="*/ 107950 h 800"/>
                <a:gd name="T36" fmla="*/ 216889 w 1109"/>
                <a:gd name="T37" fmla="*/ 79375 h 800"/>
                <a:gd name="T38" fmla="*/ 206561 w 1109"/>
                <a:gd name="T39" fmla="*/ 66675 h 800"/>
                <a:gd name="T40" fmla="*/ 200205 w 1109"/>
                <a:gd name="T41" fmla="*/ 57150 h 800"/>
                <a:gd name="T42" fmla="*/ 193055 w 1109"/>
                <a:gd name="T43" fmla="*/ 50006 h 800"/>
                <a:gd name="T44" fmla="*/ 179549 w 1109"/>
                <a:gd name="T45" fmla="*/ 31750 h 800"/>
                <a:gd name="T46" fmla="*/ 176371 w 1109"/>
                <a:gd name="T47" fmla="*/ 21431 h 800"/>
                <a:gd name="T48" fmla="*/ 166043 w 1109"/>
                <a:gd name="T49" fmla="*/ 19050 h 800"/>
                <a:gd name="T50" fmla="*/ 158893 w 1109"/>
                <a:gd name="T51" fmla="*/ 0 h 800"/>
                <a:gd name="T52" fmla="*/ 155715 w 1109"/>
                <a:gd name="T53" fmla="*/ 21431 h 800"/>
                <a:gd name="T54" fmla="*/ 145387 w 1109"/>
                <a:gd name="T55" fmla="*/ 34925 h 800"/>
                <a:gd name="T56" fmla="*/ 127909 w 1109"/>
                <a:gd name="T57" fmla="*/ 25400 h 800"/>
                <a:gd name="T58" fmla="*/ 120759 w 1109"/>
                <a:gd name="T59" fmla="*/ 21431 h 800"/>
                <a:gd name="T60" fmla="*/ 127909 w 1109"/>
                <a:gd name="T61" fmla="*/ 11906 h 800"/>
                <a:gd name="T62" fmla="*/ 127909 w 1109"/>
                <a:gd name="T63" fmla="*/ 6350 h 800"/>
                <a:gd name="T64" fmla="*/ 124731 w 1109"/>
                <a:gd name="T65" fmla="*/ 6350 h 800"/>
                <a:gd name="T66" fmla="*/ 103281 w 1109"/>
                <a:gd name="T67" fmla="*/ 2381 h 800"/>
                <a:gd name="T68" fmla="*/ 103281 w 1109"/>
                <a:gd name="T69" fmla="*/ 6350 h 800"/>
                <a:gd name="T70" fmla="*/ 92953 w 1109"/>
                <a:gd name="T71" fmla="*/ 9525 h 800"/>
                <a:gd name="T72" fmla="*/ 89775 w 1109"/>
                <a:gd name="T73" fmla="*/ 11906 h 800"/>
                <a:gd name="T74" fmla="*/ 89775 w 1109"/>
                <a:gd name="T75" fmla="*/ 21431 h 800"/>
                <a:gd name="T76" fmla="*/ 82624 w 1109"/>
                <a:gd name="T77" fmla="*/ 21431 h 800"/>
                <a:gd name="T78" fmla="*/ 79447 w 1109"/>
                <a:gd name="T79" fmla="*/ 15875 h 800"/>
                <a:gd name="T80" fmla="*/ 69119 w 1109"/>
                <a:gd name="T81" fmla="*/ 19050 h 800"/>
                <a:gd name="T82" fmla="*/ 62763 w 1109"/>
                <a:gd name="T83" fmla="*/ 28575 h 800"/>
                <a:gd name="T84" fmla="*/ 55613 w 1109"/>
                <a:gd name="T85" fmla="*/ 28575 h 800"/>
                <a:gd name="T86" fmla="*/ 55613 w 1109"/>
                <a:gd name="T87" fmla="*/ 34925 h 800"/>
                <a:gd name="T88" fmla="*/ 48462 w 1109"/>
                <a:gd name="T89" fmla="*/ 34925 h 800"/>
                <a:gd name="T90" fmla="*/ 42107 w 1109"/>
                <a:gd name="T91" fmla="*/ 44450 h 800"/>
                <a:gd name="T92" fmla="*/ 7150 w 1109"/>
                <a:gd name="T93" fmla="*/ 60325 h 800"/>
                <a:gd name="T94" fmla="*/ 3972 w 1109"/>
                <a:gd name="T95" fmla="*/ 60325 h 800"/>
                <a:gd name="T96" fmla="*/ 0 w 1109"/>
                <a:gd name="T97" fmla="*/ 66675 h 800"/>
                <a:gd name="T98" fmla="*/ 3972 w 1109"/>
                <a:gd name="T99" fmla="*/ 76200 h 800"/>
                <a:gd name="T100" fmla="*/ 0 w 1109"/>
                <a:gd name="T101" fmla="*/ 79375 h 800"/>
                <a:gd name="T102" fmla="*/ 14300 w 1109"/>
                <a:gd name="T103" fmla="*/ 111125 h 800"/>
                <a:gd name="T104" fmla="*/ 11123 w 1109"/>
                <a:gd name="T105" fmla="*/ 123825 h 8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109"/>
                <a:gd name="T160" fmla="*/ 0 h 800"/>
                <a:gd name="T161" fmla="*/ 1109 w 1109"/>
                <a:gd name="T162" fmla="*/ 800 h 8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109" h="800">
                  <a:moveTo>
                    <a:pt x="54" y="639"/>
                  </a:moveTo>
                  <a:lnTo>
                    <a:pt x="54" y="639"/>
                  </a:lnTo>
                  <a:lnTo>
                    <a:pt x="105" y="671"/>
                  </a:lnTo>
                  <a:lnTo>
                    <a:pt x="140" y="671"/>
                  </a:lnTo>
                  <a:lnTo>
                    <a:pt x="192" y="623"/>
                  </a:lnTo>
                  <a:lnTo>
                    <a:pt x="278" y="623"/>
                  </a:lnTo>
                  <a:lnTo>
                    <a:pt x="295" y="608"/>
                  </a:lnTo>
                  <a:lnTo>
                    <a:pt x="365" y="575"/>
                  </a:lnTo>
                  <a:lnTo>
                    <a:pt x="503" y="560"/>
                  </a:lnTo>
                  <a:lnTo>
                    <a:pt x="574" y="591"/>
                  </a:lnTo>
                  <a:lnTo>
                    <a:pt x="574" y="608"/>
                  </a:lnTo>
                  <a:lnTo>
                    <a:pt x="591" y="608"/>
                  </a:lnTo>
                  <a:lnTo>
                    <a:pt x="626" y="671"/>
                  </a:lnTo>
                  <a:lnTo>
                    <a:pt x="677" y="591"/>
                  </a:lnTo>
                  <a:lnTo>
                    <a:pt x="677" y="623"/>
                  </a:lnTo>
                  <a:lnTo>
                    <a:pt x="660" y="671"/>
                  </a:lnTo>
                  <a:lnTo>
                    <a:pt x="677" y="671"/>
                  </a:lnTo>
                  <a:lnTo>
                    <a:pt x="677" y="639"/>
                  </a:lnTo>
                  <a:lnTo>
                    <a:pt x="695" y="671"/>
                  </a:lnTo>
                  <a:lnTo>
                    <a:pt x="677" y="687"/>
                  </a:lnTo>
                  <a:lnTo>
                    <a:pt x="712" y="687"/>
                  </a:lnTo>
                  <a:lnTo>
                    <a:pt x="729" y="719"/>
                  </a:lnTo>
                  <a:lnTo>
                    <a:pt x="729" y="735"/>
                  </a:lnTo>
                  <a:lnTo>
                    <a:pt x="747" y="752"/>
                  </a:lnTo>
                  <a:lnTo>
                    <a:pt x="781" y="767"/>
                  </a:lnTo>
                  <a:lnTo>
                    <a:pt x="816" y="767"/>
                  </a:lnTo>
                  <a:lnTo>
                    <a:pt x="833" y="783"/>
                  </a:lnTo>
                  <a:lnTo>
                    <a:pt x="868" y="752"/>
                  </a:lnTo>
                  <a:lnTo>
                    <a:pt x="868" y="767"/>
                  </a:lnTo>
                  <a:lnTo>
                    <a:pt x="885" y="767"/>
                  </a:lnTo>
                  <a:lnTo>
                    <a:pt x="885" y="783"/>
                  </a:lnTo>
                  <a:lnTo>
                    <a:pt x="919" y="800"/>
                  </a:lnTo>
                  <a:lnTo>
                    <a:pt x="954" y="752"/>
                  </a:lnTo>
                  <a:lnTo>
                    <a:pt x="1006" y="752"/>
                  </a:lnTo>
                  <a:lnTo>
                    <a:pt x="1023" y="687"/>
                  </a:lnTo>
                  <a:lnTo>
                    <a:pt x="1092" y="543"/>
                  </a:lnTo>
                  <a:lnTo>
                    <a:pt x="1109" y="479"/>
                  </a:lnTo>
                  <a:lnTo>
                    <a:pt x="1092" y="399"/>
                  </a:lnTo>
                  <a:lnTo>
                    <a:pt x="1058" y="351"/>
                  </a:lnTo>
                  <a:lnTo>
                    <a:pt x="1040" y="336"/>
                  </a:lnTo>
                  <a:lnTo>
                    <a:pt x="1023" y="303"/>
                  </a:lnTo>
                  <a:lnTo>
                    <a:pt x="1006" y="288"/>
                  </a:lnTo>
                  <a:lnTo>
                    <a:pt x="1006" y="303"/>
                  </a:lnTo>
                  <a:lnTo>
                    <a:pt x="971" y="255"/>
                  </a:lnTo>
                  <a:lnTo>
                    <a:pt x="919" y="207"/>
                  </a:lnTo>
                  <a:lnTo>
                    <a:pt x="902" y="159"/>
                  </a:lnTo>
                  <a:lnTo>
                    <a:pt x="885" y="144"/>
                  </a:lnTo>
                  <a:lnTo>
                    <a:pt x="885" y="111"/>
                  </a:lnTo>
                  <a:lnTo>
                    <a:pt x="868" y="96"/>
                  </a:lnTo>
                  <a:lnTo>
                    <a:pt x="833" y="96"/>
                  </a:lnTo>
                  <a:lnTo>
                    <a:pt x="816" y="0"/>
                  </a:lnTo>
                  <a:lnTo>
                    <a:pt x="798" y="0"/>
                  </a:lnTo>
                  <a:lnTo>
                    <a:pt x="781" y="32"/>
                  </a:lnTo>
                  <a:lnTo>
                    <a:pt x="781" y="111"/>
                  </a:lnTo>
                  <a:lnTo>
                    <a:pt x="764" y="176"/>
                  </a:lnTo>
                  <a:lnTo>
                    <a:pt x="729" y="176"/>
                  </a:lnTo>
                  <a:lnTo>
                    <a:pt x="660" y="128"/>
                  </a:lnTo>
                  <a:lnTo>
                    <a:pt x="643" y="128"/>
                  </a:lnTo>
                  <a:lnTo>
                    <a:pt x="643" y="111"/>
                  </a:lnTo>
                  <a:lnTo>
                    <a:pt x="608" y="111"/>
                  </a:lnTo>
                  <a:lnTo>
                    <a:pt x="626" y="63"/>
                  </a:lnTo>
                  <a:lnTo>
                    <a:pt x="643" y="63"/>
                  </a:lnTo>
                  <a:lnTo>
                    <a:pt x="660" y="32"/>
                  </a:lnTo>
                  <a:lnTo>
                    <a:pt x="643" y="32"/>
                  </a:lnTo>
                  <a:lnTo>
                    <a:pt x="626" y="48"/>
                  </a:lnTo>
                  <a:lnTo>
                    <a:pt x="626" y="32"/>
                  </a:lnTo>
                  <a:lnTo>
                    <a:pt x="608" y="32"/>
                  </a:lnTo>
                  <a:lnTo>
                    <a:pt x="520" y="15"/>
                  </a:lnTo>
                  <a:lnTo>
                    <a:pt x="537" y="32"/>
                  </a:lnTo>
                  <a:lnTo>
                    <a:pt x="520" y="32"/>
                  </a:lnTo>
                  <a:lnTo>
                    <a:pt x="485" y="32"/>
                  </a:lnTo>
                  <a:lnTo>
                    <a:pt x="468" y="48"/>
                  </a:lnTo>
                  <a:lnTo>
                    <a:pt x="468" y="63"/>
                  </a:lnTo>
                  <a:lnTo>
                    <a:pt x="451" y="63"/>
                  </a:lnTo>
                  <a:lnTo>
                    <a:pt x="451" y="96"/>
                  </a:lnTo>
                  <a:lnTo>
                    <a:pt x="451" y="111"/>
                  </a:lnTo>
                  <a:lnTo>
                    <a:pt x="416" y="96"/>
                  </a:lnTo>
                  <a:lnTo>
                    <a:pt x="416" y="111"/>
                  </a:lnTo>
                  <a:lnTo>
                    <a:pt x="416" y="96"/>
                  </a:lnTo>
                  <a:lnTo>
                    <a:pt x="399" y="80"/>
                  </a:lnTo>
                  <a:lnTo>
                    <a:pt x="382" y="80"/>
                  </a:lnTo>
                  <a:lnTo>
                    <a:pt x="347" y="96"/>
                  </a:lnTo>
                  <a:lnTo>
                    <a:pt x="330" y="96"/>
                  </a:lnTo>
                  <a:lnTo>
                    <a:pt x="313" y="144"/>
                  </a:lnTo>
                  <a:lnTo>
                    <a:pt x="295" y="144"/>
                  </a:lnTo>
                  <a:lnTo>
                    <a:pt x="278" y="144"/>
                  </a:lnTo>
                  <a:lnTo>
                    <a:pt x="295" y="159"/>
                  </a:lnTo>
                  <a:lnTo>
                    <a:pt x="278" y="176"/>
                  </a:lnTo>
                  <a:lnTo>
                    <a:pt x="278" y="144"/>
                  </a:lnTo>
                  <a:lnTo>
                    <a:pt x="244" y="176"/>
                  </a:lnTo>
                  <a:lnTo>
                    <a:pt x="261" y="192"/>
                  </a:lnTo>
                  <a:lnTo>
                    <a:pt x="209" y="224"/>
                  </a:lnTo>
                  <a:lnTo>
                    <a:pt x="88" y="255"/>
                  </a:lnTo>
                  <a:lnTo>
                    <a:pt x="36" y="303"/>
                  </a:lnTo>
                  <a:lnTo>
                    <a:pt x="17" y="288"/>
                  </a:lnTo>
                  <a:lnTo>
                    <a:pt x="17" y="303"/>
                  </a:lnTo>
                  <a:lnTo>
                    <a:pt x="17" y="336"/>
                  </a:lnTo>
                  <a:lnTo>
                    <a:pt x="0" y="336"/>
                  </a:lnTo>
                  <a:lnTo>
                    <a:pt x="36" y="416"/>
                  </a:lnTo>
                  <a:lnTo>
                    <a:pt x="17" y="384"/>
                  </a:lnTo>
                  <a:lnTo>
                    <a:pt x="17" y="416"/>
                  </a:lnTo>
                  <a:lnTo>
                    <a:pt x="0" y="399"/>
                  </a:lnTo>
                  <a:lnTo>
                    <a:pt x="54" y="495"/>
                  </a:lnTo>
                  <a:lnTo>
                    <a:pt x="71" y="560"/>
                  </a:lnTo>
                  <a:lnTo>
                    <a:pt x="71" y="608"/>
                  </a:lnTo>
                  <a:lnTo>
                    <a:pt x="54" y="623"/>
                  </a:lnTo>
                  <a:lnTo>
                    <a:pt x="54" y="639"/>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67" name="Freeform 96">
              <a:extLst>
                <a:ext uri="{FF2B5EF4-FFF2-40B4-BE49-F238E27FC236}">
                  <a16:creationId xmlns:a16="http://schemas.microsoft.com/office/drawing/2014/main" id="{AA508592-56C1-40AA-B22F-9D4373156208}"/>
                </a:ext>
              </a:extLst>
            </p:cNvPr>
            <p:cNvSpPr>
              <a:spLocks/>
            </p:cNvSpPr>
            <p:nvPr>
              <p:custDataLst>
                <p:tags r:id="rId97"/>
              </p:custDataLst>
            </p:nvPr>
          </p:nvSpPr>
          <p:spPr bwMode="auto">
            <a:xfrm>
              <a:off x="10429810" y="4794078"/>
              <a:ext cx="29908" cy="14074"/>
            </a:xfrm>
            <a:custGeom>
              <a:avLst/>
              <a:gdLst>
                <a:gd name="T0" fmla="*/ 0 w 35"/>
                <a:gd name="T1" fmla="*/ 2988 h 17"/>
                <a:gd name="T2" fmla="*/ 0 w 35"/>
                <a:gd name="T3" fmla="*/ 2988 h 17"/>
                <a:gd name="T4" fmla="*/ 3084 w 35"/>
                <a:gd name="T5" fmla="*/ 2988 h 17"/>
                <a:gd name="T6" fmla="*/ 6169 w 35"/>
                <a:gd name="T7" fmla="*/ 0 h 17"/>
                <a:gd name="T8" fmla="*/ 0 w 35"/>
                <a:gd name="T9" fmla="*/ 0 h 17"/>
                <a:gd name="T10" fmla="*/ 0 w 35"/>
                <a:gd name="T11" fmla="*/ 2988 h 17"/>
                <a:gd name="T12" fmla="*/ 0 60000 65536"/>
                <a:gd name="T13" fmla="*/ 0 60000 65536"/>
                <a:gd name="T14" fmla="*/ 0 60000 65536"/>
                <a:gd name="T15" fmla="*/ 0 60000 65536"/>
                <a:gd name="T16" fmla="*/ 0 60000 65536"/>
                <a:gd name="T17" fmla="*/ 0 60000 65536"/>
                <a:gd name="T18" fmla="*/ 0 w 35"/>
                <a:gd name="T19" fmla="*/ 0 h 17"/>
                <a:gd name="T20" fmla="*/ 35 w 35"/>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35" h="17">
                  <a:moveTo>
                    <a:pt x="0" y="17"/>
                  </a:moveTo>
                  <a:lnTo>
                    <a:pt x="0" y="17"/>
                  </a:lnTo>
                  <a:lnTo>
                    <a:pt x="17" y="17"/>
                  </a:lnTo>
                  <a:lnTo>
                    <a:pt x="35" y="0"/>
                  </a:lnTo>
                  <a:lnTo>
                    <a:pt x="0"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68" name="Freeform 97">
              <a:extLst>
                <a:ext uri="{FF2B5EF4-FFF2-40B4-BE49-F238E27FC236}">
                  <a16:creationId xmlns:a16="http://schemas.microsoft.com/office/drawing/2014/main" id="{09991C55-BE5A-497D-8B95-61D9C25BDBE4}"/>
                </a:ext>
              </a:extLst>
            </p:cNvPr>
            <p:cNvSpPr>
              <a:spLocks/>
            </p:cNvSpPr>
            <p:nvPr>
              <p:custDataLst>
                <p:tags r:id="rId98"/>
              </p:custDataLst>
            </p:nvPr>
          </p:nvSpPr>
          <p:spPr bwMode="auto">
            <a:xfrm>
              <a:off x="10582864" y="5383428"/>
              <a:ext cx="29908" cy="15834"/>
            </a:xfrm>
            <a:custGeom>
              <a:avLst/>
              <a:gdLst>
                <a:gd name="T0" fmla="*/ 0 w 33"/>
                <a:gd name="T1" fmla="*/ 0 h 17"/>
                <a:gd name="T2" fmla="*/ 0 w 33"/>
                <a:gd name="T3" fmla="*/ 0 h 17"/>
                <a:gd name="T4" fmla="*/ 7360 w 33"/>
                <a:gd name="T5" fmla="*/ 4202 h 17"/>
                <a:gd name="T6" fmla="*/ 7360 w 33"/>
                <a:gd name="T7" fmla="*/ 0 h 17"/>
                <a:gd name="T8" fmla="*/ 4089 w 33"/>
                <a:gd name="T9" fmla="*/ 0 h 17"/>
                <a:gd name="T10" fmla="*/ 0 w 33"/>
                <a:gd name="T11" fmla="*/ 0 h 17"/>
                <a:gd name="T12" fmla="*/ 0 60000 65536"/>
                <a:gd name="T13" fmla="*/ 0 60000 65536"/>
                <a:gd name="T14" fmla="*/ 0 60000 65536"/>
                <a:gd name="T15" fmla="*/ 0 60000 65536"/>
                <a:gd name="T16" fmla="*/ 0 60000 65536"/>
                <a:gd name="T17" fmla="*/ 0 60000 65536"/>
                <a:gd name="T18" fmla="*/ 0 w 33"/>
                <a:gd name="T19" fmla="*/ 0 h 17"/>
                <a:gd name="T20" fmla="*/ 33 w 33"/>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33" h="17">
                  <a:moveTo>
                    <a:pt x="0" y="0"/>
                  </a:moveTo>
                  <a:lnTo>
                    <a:pt x="0" y="0"/>
                  </a:lnTo>
                  <a:lnTo>
                    <a:pt x="33" y="17"/>
                  </a:lnTo>
                  <a:lnTo>
                    <a:pt x="33" y="0"/>
                  </a:lnTo>
                  <a:lnTo>
                    <a:pt x="17"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69" name="Freeform 98">
              <a:extLst>
                <a:ext uri="{FF2B5EF4-FFF2-40B4-BE49-F238E27FC236}">
                  <a16:creationId xmlns:a16="http://schemas.microsoft.com/office/drawing/2014/main" id="{30965E77-F062-48FA-AE4B-96782C56E556}"/>
                </a:ext>
              </a:extLst>
            </p:cNvPr>
            <p:cNvSpPr>
              <a:spLocks/>
            </p:cNvSpPr>
            <p:nvPr>
              <p:custDataLst>
                <p:tags r:id="rId99"/>
              </p:custDataLst>
            </p:nvPr>
          </p:nvSpPr>
          <p:spPr bwMode="auto">
            <a:xfrm>
              <a:off x="10778142" y="5525927"/>
              <a:ext cx="93241" cy="84444"/>
            </a:xfrm>
            <a:custGeom>
              <a:avLst/>
              <a:gdLst>
                <a:gd name="T0" fmla="*/ 0 w 105"/>
                <a:gd name="T1" fmla="*/ 0 h 96"/>
                <a:gd name="T2" fmla="*/ 0 w 105"/>
                <a:gd name="T3" fmla="*/ 0 h 96"/>
                <a:gd name="T4" fmla="*/ 4007 w 105"/>
                <a:gd name="T5" fmla="*/ 15875 h 96"/>
                <a:gd name="T6" fmla="*/ 11218 w 105"/>
                <a:gd name="T7" fmla="*/ 19050 h 96"/>
                <a:gd name="T8" fmla="*/ 14424 w 105"/>
                <a:gd name="T9" fmla="*/ 11906 h 96"/>
                <a:gd name="T10" fmla="*/ 17629 w 105"/>
                <a:gd name="T11" fmla="*/ 15875 h 96"/>
                <a:gd name="T12" fmla="*/ 21635 w 105"/>
                <a:gd name="T13" fmla="*/ 0 h 96"/>
                <a:gd name="T14" fmla="*/ 17629 w 105"/>
                <a:gd name="T15" fmla="*/ 0 h 96"/>
                <a:gd name="T16" fmla="*/ 7212 w 105"/>
                <a:gd name="T17" fmla="*/ 2381 h 96"/>
                <a:gd name="T18" fmla="*/ 0 w 105"/>
                <a:gd name="T19" fmla="*/ 0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5"/>
                <a:gd name="T31" fmla="*/ 0 h 96"/>
                <a:gd name="T32" fmla="*/ 105 w 105"/>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5" h="96">
                  <a:moveTo>
                    <a:pt x="0" y="0"/>
                  </a:moveTo>
                  <a:lnTo>
                    <a:pt x="0" y="0"/>
                  </a:lnTo>
                  <a:lnTo>
                    <a:pt x="19" y="79"/>
                  </a:lnTo>
                  <a:lnTo>
                    <a:pt x="53" y="96"/>
                  </a:lnTo>
                  <a:lnTo>
                    <a:pt x="71" y="63"/>
                  </a:lnTo>
                  <a:lnTo>
                    <a:pt x="88" y="79"/>
                  </a:lnTo>
                  <a:lnTo>
                    <a:pt x="105" y="0"/>
                  </a:lnTo>
                  <a:lnTo>
                    <a:pt x="88" y="0"/>
                  </a:lnTo>
                  <a:lnTo>
                    <a:pt x="36" y="15"/>
                  </a:lnTo>
                  <a:lnTo>
                    <a:pt x="0"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70" name="Freeform 99">
              <a:extLst>
                <a:ext uri="{FF2B5EF4-FFF2-40B4-BE49-F238E27FC236}">
                  <a16:creationId xmlns:a16="http://schemas.microsoft.com/office/drawing/2014/main" id="{0AAAF989-7AE8-45C3-8F1E-CB31C1107D86}"/>
                </a:ext>
              </a:extLst>
            </p:cNvPr>
            <p:cNvSpPr>
              <a:spLocks/>
            </p:cNvSpPr>
            <p:nvPr>
              <p:custDataLst>
                <p:tags r:id="rId100"/>
              </p:custDataLst>
            </p:nvPr>
          </p:nvSpPr>
          <p:spPr bwMode="auto">
            <a:xfrm>
              <a:off x="11448416" y="5357039"/>
              <a:ext cx="138982" cy="195278"/>
            </a:xfrm>
            <a:custGeom>
              <a:avLst/>
              <a:gdLst>
                <a:gd name="T0" fmla="*/ 7189 w 157"/>
                <a:gd name="T1" fmla="*/ 28447 h 223"/>
                <a:gd name="T2" fmla="*/ 7189 w 157"/>
                <a:gd name="T3" fmla="*/ 28447 h 223"/>
                <a:gd name="T4" fmla="*/ 14379 w 157"/>
                <a:gd name="T5" fmla="*/ 30818 h 223"/>
                <a:gd name="T6" fmla="*/ 10385 w 157"/>
                <a:gd name="T7" fmla="*/ 40300 h 223"/>
                <a:gd name="T8" fmla="*/ 14379 w 157"/>
                <a:gd name="T9" fmla="*/ 43461 h 223"/>
                <a:gd name="T10" fmla="*/ 17574 w 157"/>
                <a:gd name="T11" fmla="*/ 40300 h 223"/>
                <a:gd name="T12" fmla="*/ 24763 w 157"/>
                <a:gd name="T13" fmla="*/ 28447 h 223"/>
                <a:gd name="T14" fmla="*/ 27958 w 157"/>
                <a:gd name="T15" fmla="*/ 28447 h 223"/>
                <a:gd name="T16" fmla="*/ 31952 w 157"/>
                <a:gd name="T17" fmla="*/ 24496 h 223"/>
                <a:gd name="T18" fmla="*/ 31952 w 157"/>
                <a:gd name="T19" fmla="*/ 18965 h 223"/>
                <a:gd name="T20" fmla="*/ 27958 w 157"/>
                <a:gd name="T21" fmla="*/ 15014 h 223"/>
                <a:gd name="T22" fmla="*/ 24763 w 157"/>
                <a:gd name="T23" fmla="*/ 18965 h 223"/>
                <a:gd name="T24" fmla="*/ 17574 w 157"/>
                <a:gd name="T25" fmla="*/ 18965 h 223"/>
                <a:gd name="T26" fmla="*/ 17574 w 157"/>
                <a:gd name="T27" fmla="*/ 11853 h 223"/>
                <a:gd name="T28" fmla="*/ 14379 w 157"/>
                <a:gd name="T29" fmla="*/ 11853 h 223"/>
                <a:gd name="T30" fmla="*/ 14379 w 157"/>
                <a:gd name="T31" fmla="*/ 15014 h 223"/>
                <a:gd name="T32" fmla="*/ 10385 w 157"/>
                <a:gd name="T33" fmla="*/ 11853 h 223"/>
                <a:gd name="T34" fmla="*/ 10385 w 157"/>
                <a:gd name="T35" fmla="*/ 2371 h 223"/>
                <a:gd name="T36" fmla="*/ 0 w 157"/>
                <a:gd name="T37" fmla="*/ 0 h 223"/>
                <a:gd name="T38" fmla="*/ 10385 w 157"/>
                <a:gd name="T39" fmla="*/ 11853 h 223"/>
                <a:gd name="T40" fmla="*/ 10385 w 157"/>
                <a:gd name="T41" fmla="*/ 24496 h 223"/>
                <a:gd name="T42" fmla="*/ 7189 w 157"/>
                <a:gd name="T43" fmla="*/ 28447 h 22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57"/>
                <a:gd name="T67" fmla="*/ 0 h 223"/>
                <a:gd name="T68" fmla="*/ 157 w 157"/>
                <a:gd name="T69" fmla="*/ 223 h 22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57" h="223">
                  <a:moveTo>
                    <a:pt x="34" y="144"/>
                  </a:moveTo>
                  <a:lnTo>
                    <a:pt x="34" y="144"/>
                  </a:lnTo>
                  <a:lnTo>
                    <a:pt x="69" y="159"/>
                  </a:lnTo>
                  <a:lnTo>
                    <a:pt x="52" y="207"/>
                  </a:lnTo>
                  <a:lnTo>
                    <a:pt x="69" y="223"/>
                  </a:lnTo>
                  <a:lnTo>
                    <a:pt x="86" y="207"/>
                  </a:lnTo>
                  <a:lnTo>
                    <a:pt x="121" y="144"/>
                  </a:lnTo>
                  <a:lnTo>
                    <a:pt x="140" y="144"/>
                  </a:lnTo>
                  <a:lnTo>
                    <a:pt x="157" y="127"/>
                  </a:lnTo>
                  <a:lnTo>
                    <a:pt x="157" y="96"/>
                  </a:lnTo>
                  <a:lnTo>
                    <a:pt x="140" y="79"/>
                  </a:lnTo>
                  <a:lnTo>
                    <a:pt x="121" y="96"/>
                  </a:lnTo>
                  <a:lnTo>
                    <a:pt x="86" y="96"/>
                  </a:lnTo>
                  <a:lnTo>
                    <a:pt x="86" y="63"/>
                  </a:lnTo>
                  <a:lnTo>
                    <a:pt x="69" y="63"/>
                  </a:lnTo>
                  <a:lnTo>
                    <a:pt x="69" y="79"/>
                  </a:lnTo>
                  <a:lnTo>
                    <a:pt x="52" y="63"/>
                  </a:lnTo>
                  <a:lnTo>
                    <a:pt x="52" y="15"/>
                  </a:lnTo>
                  <a:lnTo>
                    <a:pt x="0" y="0"/>
                  </a:lnTo>
                  <a:lnTo>
                    <a:pt x="52" y="63"/>
                  </a:lnTo>
                  <a:lnTo>
                    <a:pt x="52" y="127"/>
                  </a:lnTo>
                  <a:lnTo>
                    <a:pt x="34" y="14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71" name="Freeform 100">
              <a:extLst>
                <a:ext uri="{FF2B5EF4-FFF2-40B4-BE49-F238E27FC236}">
                  <a16:creationId xmlns:a16="http://schemas.microsoft.com/office/drawing/2014/main" id="{FF155BC1-5A3E-4D83-8F55-901C2AF86A64}"/>
                </a:ext>
              </a:extLst>
            </p:cNvPr>
            <p:cNvSpPr>
              <a:spLocks/>
            </p:cNvSpPr>
            <p:nvPr>
              <p:custDataLst>
                <p:tags r:id="rId101"/>
              </p:custDataLst>
            </p:nvPr>
          </p:nvSpPr>
          <p:spPr bwMode="auto">
            <a:xfrm>
              <a:off x="11297121" y="5525927"/>
              <a:ext cx="197036" cy="182962"/>
            </a:xfrm>
            <a:custGeom>
              <a:avLst/>
              <a:gdLst>
                <a:gd name="T0" fmla="*/ 0 w 223"/>
                <a:gd name="T1" fmla="*/ 35094 h 207"/>
                <a:gd name="T2" fmla="*/ 0 w 223"/>
                <a:gd name="T3" fmla="*/ 35094 h 207"/>
                <a:gd name="T4" fmla="*/ 3987 w 223"/>
                <a:gd name="T5" fmla="*/ 38284 h 207"/>
                <a:gd name="T6" fmla="*/ 7176 w 223"/>
                <a:gd name="T7" fmla="*/ 38284 h 207"/>
                <a:gd name="T8" fmla="*/ 14352 w 223"/>
                <a:gd name="T9" fmla="*/ 41474 h 207"/>
                <a:gd name="T10" fmla="*/ 20730 w 223"/>
                <a:gd name="T11" fmla="*/ 38284 h 207"/>
                <a:gd name="T12" fmla="*/ 24717 w 223"/>
                <a:gd name="T13" fmla="*/ 31903 h 207"/>
                <a:gd name="T14" fmla="*/ 27906 w 223"/>
                <a:gd name="T15" fmla="*/ 25523 h 207"/>
                <a:gd name="T16" fmla="*/ 34284 w 223"/>
                <a:gd name="T17" fmla="*/ 19142 h 207"/>
                <a:gd name="T18" fmla="*/ 37474 w 223"/>
                <a:gd name="T19" fmla="*/ 19142 h 207"/>
                <a:gd name="T20" fmla="*/ 34284 w 223"/>
                <a:gd name="T21" fmla="*/ 15952 h 207"/>
                <a:gd name="T22" fmla="*/ 44649 w 223"/>
                <a:gd name="T23" fmla="*/ 6381 h 207"/>
                <a:gd name="T24" fmla="*/ 44649 w 223"/>
                <a:gd name="T25" fmla="*/ 3190 h 207"/>
                <a:gd name="T26" fmla="*/ 41460 w 223"/>
                <a:gd name="T27" fmla="*/ 3190 h 207"/>
                <a:gd name="T28" fmla="*/ 41460 w 223"/>
                <a:gd name="T29" fmla="*/ 0 h 207"/>
                <a:gd name="T30" fmla="*/ 37474 w 223"/>
                <a:gd name="T31" fmla="*/ 3190 h 207"/>
                <a:gd name="T32" fmla="*/ 37474 w 223"/>
                <a:gd name="T33" fmla="*/ 0 h 207"/>
                <a:gd name="T34" fmla="*/ 34284 w 223"/>
                <a:gd name="T35" fmla="*/ 0 h 207"/>
                <a:gd name="T36" fmla="*/ 31095 w 223"/>
                <a:gd name="T37" fmla="*/ 0 h 207"/>
                <a:gd name="T38" fmla="*/ 31095 w 223"/>
                <a:gd name="T39" fmla="*/ 6381 h 207"/>
                <a:gd name="T40" fmla="*/ 27906 w 223"/>
                <a:gd name="T41" fmla="*/ 6381 h 207"/>
                <a:gd name="T42" fmla="*/ 24717 w 223"/>
                <a:gd name="T43" fmla="*/ 12761 h 207"/>
                <a:gd name="T44" fmla="*/ 10365 w 223"/>
                <a:gd name="T45" fmla="*/ 22332 h 207"/>
                <a:gd name="T46" fmla="*/ 0 w 223"/>
                <a:gd name="T47" fmla="*/ 35094 h 20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23"/>
                <a:gd name="T73" fmla="*/ 0 h 207"/>
                <a:gd name="T74" fmla="*/ 223 w 223"/>
                <a:gd name="T75" fmla="*/ 207 h 20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23" h="207">
                  <a:moveTo>
                    <a:pt x="0" y="174"/>
                  </a:moveTo>
                  <a:lnTo>
                    <a:pt x="0" y="174"/>
                  </a:lnTo>
                  <a:lnTo>
                    <a:pt x="17" y="192"/>
                  </a:lnTo>
                  <a:lnTo>
                    <a:pt x="34" y="192"/>
                  </a:lnTo>
                  <a:lnTo>
                    <a:pt x="69" y="207"/>
                  </a:lnTo>
                  <a:lnTo>
                    <a:pt x="104" y="192"/>
                  </a:lnTo>
                  <a:lnTo>
                    <a:pt x="121" y="159"/>
                  </a:lnTo>
                  <a:lnTo>
                    <a:pt x="138" y="127"/>
                  </a:lnTo>
                  <a:lnTo>
                    <a:pt x="171" y="96"/>
                  </a:lnTo>
                  <a:lnTo>
                    <a:pt x="188" y="96"/>
                  </a:lnTo>
                  <a:lnTo>
                    <a:pt x="171" y="79"/>
                  </a:lnTo>
                  <a:lnTo>
                    <a:pt x="223" y="31"/>
                  </a:lnTo>
                  <a:lnTo>
                    <a:pt x="223" y="15"/>
                  </a:lnTo>
                  <a:lnTo>
                    <a:pt x="205" y="15"/>
                  </a:lnTo>
                  <a:lnTo>
                    <a:pt x="205" y="0"/>
                  </a:lnTo>
                  <a:lnTo>
                    <a:pt x="188" y="15"/>
                  </a:lnTo>
                  <a:lnTo>
                    <a:pt x="188" y="0"/>
                  </a:lnTo>
                  <a:lnTo>
                    <a:pt x="171" y="0"/>
                  </a:lnTo>
                  <a:lnTo>
                    <a:pt x="153" y="0"/>
                  </a:lnTo>
                  <a:lnTo>
                    <a:pt x="153" y="31"/>
                  </a:lnTo>
                  <a:lnTo>
                    <a:pt x="138" y="31"/>
                  </a:lnTo>
                  <a:lnTo>
                    <a:pt x="121" y="63"/>
                  </a:lnTo>
                  <a:lnTo>
                    <a:pt x="52" y="111"/>
                  </a:lnTo>
                  <a:lnTo>
                    <a:pt x="0" y="17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172" name="Freeform 101">
              <a:extLst>
                <a:ext uri="{FF2B5EF4-FFF2-40B4-BE49-F238E27FC236}">
                  <a16:creationId xmlns:a16="http://schemas.microsoft.com/office/drawing/2014/main" id="{15E61A1C-1BE4-4B57-8D8B-C5C380F1818E}"/>
                </a:ext>
              </a:extLst>
            </p:cNvPr>
            <p:cNvSpPr>
              <a:spLocks/>
            </p:cNvSpPr>
            <p:nvPr>
              <p:custDataLst>
                <p:tags r:id="rId102"/>
              </p:custDataLst>
            </p:nvPr>
          </p:nvSpPr>
          <p:spPr bwMode="auto">
            <a:xfrm>
              <a:off x="11327028" y="5708890"/>
              <a:ext cx="15834" cy="12315"/>
            </a:xfrm>
            <a:custGeom>
              <a:avLst/>
              <a:gdLst>
                <a:gd name="T0" fmla="*/ 0 w 19"/>
                <a:gd name="T1" fmla="*/ 2223 h 15"/>
                <a:gd name="T2" fmla="*/ 0 w 19"/>
                <a:gd name="T3" fmla="*/ 2223 h 15"/>
                <a:gd name="T4" fmla="*/ 3008 w 19"/>
                <a:gd name="T5" fmla="*/ 2223 h 15"/>
                <a:gd name="T6" fmla="*/ 3008 w 19"/>
                <a:gd name="T7" fmla="*/ 0 h 15"/>
                <a:gd name="T8" fmla="*/ 0 w 19"/>
                <a:gd name="T9" fmla="*/ 2223 h 15"/>
                <a:gd name="T10" fmla="*/ 0 60000 65536"/>
                <a:gd name="T11" fmla="*/ 0 60000 65536"/>
                <a:gd name="T12" fmla="*/ 0 60000 65536"/>
                <a:gd name="T13" fmla="*/ 0 60000 65536"/>
                <a:gd name="T14" fmla="*/ 0 60000 65536"/>
                <a:gd name="T15" fmla="*/ 0 w 19"/>
                <a:gd name="T16" fmla="*/ 0 h 15"/>
                <a:gd name="T17" fmla="*/ 19 w 19"/>
                <a:gd name="T18" fmla="*/ 15 h 15"/>
              </a:gdLst>
              <a:ahLst/>
              <a:cxnLst>
                <a:cxn ang="T10">
                  <a:pos x="T0" y="T1"/>
                </a:cxn>
                <a:cxn ang="T11">
                  <a:pos x="T2" y="T3"/>
                </a:cxn>
                <a:cxn ang="T12">
                  <a:pos x="T4" y="T5"/>
                </a:cxn>
                <a:cxn ang="T13">
                  <a:pos x="T6" y="T7"/>
                </a:cxn>
                <a:cxn ang="T14">
                  <a:pos x="T8" y="T9"/>
                </a:cxn>
              </a:cxnLst>
              <a:rect l="T15" t="T16" r="T17" b="T18"/>
              <a:pathLst>
                <a:path w="19" h="15">
                  <a:moveTo>
                    <a:pt x="0" y="15"/>
                  </a:moveTo>
                  <a:lnTo>
                    <a:pt x="0" y="15"/>
                  </a:lnTo>
                  <a:lnTo>
                    <a:pt x="19" y="15"/>
                  </a:lnTo>
                  <a:lnTo>
                    <a:pt x="19"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73" name="Freeform 102">
              <a:extLst>
                <a:ext uri="{FF2B5EF4-FFF2-40B4-BE49-F238E27FC236}">
                  <a16:creationId xmlns:a16="http://schemas.microsoft.com/office/drawing/2014/main" id="{EACAC6A1-669E-41A4-88AA-A4D56611BA32}"/>
                </a:ext>
              </a:extLst>
            </p:cNvPr>
            <p:cNvSpPr>
              <a:spLocks/>
            </p:cNvSpPr>
            <p:nvPr>
              <p:custDataLst>
                <p:tags r:id="rId103"/>
              </p:custDataLst>
            </p:nvPr>
          </p:nvSpPr>
          <p:spPr bwMode="auto">
            <a:xfrm>
              <a:off x="10093792" y="4723708"/>
              <a:ext cx="182962" cy="14074"/>
            </a:xfrm>
            <a:custGeom>
              <a:avLst/>
              <a:gdLst>
                <a:gd name="T0" fmla="*/ 0 w 208"/>
                <a:gd name="T1" fmla="*/ 3175 h 16"/>
                <a:gd name="T2" fmla="*/ 0 w 208"/>
                <a:gd name="T3" fmla="*/ 3175 h 16"/>
                <a:gd name="T4" fmla="*/ 3969 w 208"/>
                <a:gd name="T5" fmla="*/ 3175 h 16"/>
                <a:gd name="T6" fmla="*/ 17463 w 208"/>
                <a:gd name="T7" fmla="*/ 0 h 16"/>
                <a:gd name="T8" fmla="*/ 30956 w 208"/>
                <a:gd name="T9" fmla="*/ 3175 h 16"/>
                <a:gd name="T10" fmla="*/ 41275 w 208"/>
                <a:gd name="T11" fmla="*/ 0 h 16"/>
                <a:gd name="T12" fmla="*/ 34925 w 208"/>
                <a:gd name="T13" fmla="*/ 0 h 16"/>
                <a:gd name="T14" fmla="*/ 23812 w 208"/>
                <a:gd name="T15" fmla="*/ 0 h 16"/>
                <a:gd name="T16" fmla="*/ 17463 w 208"/>
                <a:gd name="T17" fmla="*/ 0 h 16"/>
                <a:gd name="T18" fmla="*/ 7144 w 208"/>
                <a:gd name="T19" fmla="*/ 0 h 16"/>
                <a:gd name="T20" fmla="*/ 10319 w 208"/>
                <a:gd name="T21" fmla="*/ 0 h 16"/>
                <a:gd name="T22" fmla="*/ 0 w 208"/>
                <a:gd name="T23" fmla="*/ 0 h 16"/>
                <a:gd name="T24" fmla="*/ 0 w 208"/>
                <a:gd name="T25" fmla="*/ 3175 h 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8"/>
                <a:gd name="T40" fmla="*/ 0 h 16"/>
                <a:gd name="T41" fmla="*/ 208 w 208"/>
                <a:gd name="T42" fmla="*/ 16 h 1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8" h="16">
                  <a:moveTo>
                    <a:pt x="0" y="16"/>
                  </a:moveTo>
                  <a:lnTo>
                    <a:pt x="0" y="16"/>
                  </a:lnTo>
                  <a:lnTo>
                    <a:pt x="17" y="16"/>
                  </a:lnTo>
                  <a:lnTo>
                    <a:pt x="87" y="0"/>
                  </a:lnTo>
                  <a:lnTo>
                    <a:pt x="156" y="16"/>
                  </a:lnTo>
                  <a:lnTo>
                    <a:pt x="208" y="0"/>
                  </a:lnTo>
                  <a:lnTo>
                    <a:pt x="173" y="0"/>
                  </a:lnTo>
                  <a:lnTo>
                    <a:pt x="121" y="0"/>
                  </a:lnTo>
                  <a:lnTo>
                    <a:pt x="87" y="0"/>
                  </a:lnTo>
                  <a:lnTo>
                    <a:pt x="35" y="0"/>
                  </a:lnTo>
                  <a:lnTo>
                    <a:pt x="52" y="0"/>
                  </a:lnTo>
                  <a:lnTo>
                    <a:pt x="0" y="0"/>
                  </a:lnTo>
                  <a:lnTo>
                    <a:pt x="0"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74" name="Freeform 103">
              <a:extLst>
                <a:ext uri="{FF2B5EF4-FFF2-40B4-BE49-F238E27FC236}">
                  <a16:creationId xmlns:a16="http://schemas.microsoft.com/office/drawing/2014/main" id="{35119E71-71BF-4651-996B-CDAB6878F64C}"/>
                </a:ext>
              </a:extLst>
            </p:cNvPr>
            <p:cNvSpPr>
              <a:spLocks/>
            </p:cNvSpPr>
            <p:nvPr>
              <p:custDataLst>
                <p:tags r:id="rId104"/>
              </p:custDataLst>
            </p:nvPr>
          </p:nvSpPr>
          <p:spPr bwMode="auto">
            <a:xfrm>
              <a:off x="10157125" y="4751856"/>
              <a:ext cx="45741" cy="14074"/>
            </a:xfrm>
            <a:custGeom>
              <a:avLst/>
              <a:gdLst>
                <a:gd name="T0" fmla="*/ 0 w 52"/>
                <a:gd name="T1" fmla="*/ 0 h 17"/>
                <a:gd name="T2" fmla="*/ 0 w 52"/>
                <a:gd name="T3" fmla="*/ 0 h 17"/>
                <a:gd name="T4" fmla="*/ 7144 w 52"/>
                <a:gd name="T5" fmla="*/ 2988 h 17"/>
                <a:gd name="T6" fmla="*/ 10319 w 52"/>
                <a:gd name="T7" fmla="*/ 2988 h 17"/>
                <a:gd name="T8" fmla="*/ 7144 w 52"/>
                <a:gd name="T9" fmla="*/ 0 h 17"/>
                <a:gd name="T10" fmla="*/ 0 w 52"/>
                <a:gd name="T11" fmla="*/ 0 h 17"/>
                <a:gd name="T12" fmla="*/ 0 60000 65536"/>
                <a:gd name="T13" fmla="*/ 0 60000 65536"/>
                <a:gd name="T14" fmla="*/ 0 60000 65536"/>
                <a:gd name="T15" fmla="*/ 0 60000 65536"/>
                <a:gd name="T16" fmla="*/ 0 60000 65536"/>
                <a:gd name="T17" fmla="*/ 0 60000 65536"/>
                <a:gd name="T18" fmla="*/ 0 w 52"/>
                <a:gd name="T19" fmla="*/ 0 h 17"/>
                <a:gd name="T20" fmla="*/ 52 w 52"/>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52" h="17">
                  <a:moveTo>
                    <a:pt x="0" y="0"/>
                  </a:moveTo>
                  <a:lnTo>
                    <a:pt x="0" y="0"/>
                  </a:lnTo>
                  <a:lnTo>
                    <a:pt x="35" y="17"/>
                  </a:lnTo>
                  <a:lnTo>
                    <a:pt x="52" y="17"/>
                  </a:lnTo>
                  <a:lnTo>
                    <a:pt x="35"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75" name="Freeform 104">
              <a:extLst>
                <a:ext uri="{FF2B5EF4-FFF2-40B4-BE49-F238E27FC236}">
                  <a16:creationId xmlns:a16="http://schemas.microsoft.com/office/drawing/2014/main" id="{794AFBB1-5DFF-4CE5-AFC7-F25DC875B8BE}"/>
                </a:ext>
              </a:extLst>
            </p:cNvPr>
            <p:cNvSpPr>
              <a:spLocks/>
            </p:cNvSpPr>
            <p:nvPr>
              <p:custDataLst>
                <p:tags r:id="rId105"/>
              </p:custDataLst>
            </p:nvPr>
          </p:nvSpPr>
          <p:spPr bwMode="auto">
            <a:xfrm>
              <a:off x="10262680" y="4723708"/>
              <a:ext cx="91481" cy="42222"/>
            </a:xfrm>
            <a:custGeom>
              <a:avLst/>
              <a:gdLst>
                <a:gd name="T0" fmla="*/ 0 w 104"/>
                <a:gd name="T1" fmla="*/ 9525 h 48"/>
                <a:gd name="T2" fmla="*/ 0 w 104"/>
                <a:gd name="T3" fmla="*/ 9525 h 48"/>
                <a:gd name="T4" fmla="*/ 7144 w 104"/>
                <a:gd name="T5" fmla="*/ 9525 h 48"/>
                <a:gd name="T6" fmla="*/ 20638 w 104"/>
                <a:gd name="T7" fmla="*/ 0 h 48"/>
                <a:gd name="T8" fmla="*/ 10319 w 104"/>
                <a:gd name="T9" fmla="*/ 0 h 48"/>
                <a:gd name="T10" fmla="*/ 3969 w 104"/>
                <a:gd name="T11" fmla="*/ 5556 h 48"/>
                <a:gd name="T12" fmla="*/ 0 w 104"/>
                <a:gd name="T13" fmla="*/ 9525 h 48"/>
                <a:gd name="T14" fmla="*/ 0 60000 65536"/>
                <a:gd name="T15" fmla="*/ 0 60000 65536"/>
                <a:gd name="T16" fmla="*/ 0 60000 65536"/>
                <a:gd name="T17" fmla="*/ 0 60000 65536"/>
                <a:gd name="T18" fmla="*/ 0 60000 65536"/>
                <a:gd name="T19" fmla="*/ 0 60000 65536"/>
                <a:gd name="T20" fmla="*/ 0 60000 65536"/>
                <a:gd name="T21" fmla="*/ 0 w 104"/>
                <a:gd name="T22" fmla="*/ 0 h 48"/>
                <a:gd name="T23" fmla="*/ 104 w 104"/>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 h="48">
                  <a:moveTo>
                    <a:pt x="0" y="48"/>
                  </a:moveTo>
                  <a:lnTo>
                    <a:pt x="0" y="48"/>
                  </a:lnTo>
                  <a:lnTo>
                    <a:pt x="35" y="48"/>
                  </a:lnTo>
                  <a:lnTo>
                    <a:pt x="104" y="0"/>
                  </a:lnTo>
                  <a:lnTo>
                    <a:pt x="52" y="0"/>
                  </a:lnTo>
                  <a:lnTo>
                    <a:pt x="17" y="31"/>
                  </a:lnTo>
                  <a:lnTo>
                    <a:pt x="0"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76" name="Freeform 105">
              <a:extLst>
                <a:ext uri="{FF2B5EF4-FFF2-40B4-BE49-F238E27FC236}">
                  <a16:creationId xmlns:a16="http://schemas.microsoft.com/office/drawing/2014/main" id="{0A9DAD7F-EFF6-40F1-89B4-CF9A8EFA30CA}"/>
                </a:ext>
              </a:extLst>
            </p:cNvPr>
            <p:cNvSpPr>
              <a:spLocks/>
            </p:cNvSpPr>
            <p:nvPr>
              <p:custDataLst>
                <p:tags r:id="rId106"/>
              </p:custDataLst>
            </p:nvPr>
          </p:nvSpPr>
          <p:spPr bwMode="auto">
            <a:xfrm>
              <a:off x="10521291" y="4653338"/>
              <a:ext cx="17593" cy="42222"/>
            </a:xfrm>
            <a:custGeom>
              <a:avLst/>
              <a:gdLst>
                <a:gd name="T0" fmla="*/ 0 w 19"/>
                <a:gd name="T1" fmla="*/ 9525 h 48"/>
                <a:gd name="T2" fmla="*/ 0 w 19"/>
                <a:gd name="T3" fmla="*/ 9525 h 48"/>
                <a:gd name="T4" fmla="*/ 4178 w 19"/>
                <a:gd name="T5" fmla="*/ 2381 h 48"/>
                <a:gd name="T6" fmla="*/ 4178 w 19"/>
                <a:gd name="T7" fmla="*/ 0 h 48"/>
                <a:gd name="T8" fmla="*/ 0 w 19"/>
                <a:gd name="T9" fmla="*/ 9525 h 48"/>
                <a:gd name="T10" fmla="*/ 0 60000 65536"/>
                <a:gd name="T11" fmla="*/ 0 60000 65536"/>
                <a:gd name="T12" fmla="*/ 0 60000 65536"/>
                <a:gd name="T13" fmla="*/ 0 60000 65536"/>
                <a:gd name="T14" fmla="*/ 0 60000 65536"/>
                <a:gd name="T15" fmla="*/ 0 w 19"/>
                <a:gd name="T16" fmla="*/ 0 h 48"/>
                <a:gd name="T17" fmla="*/ 19 w 19"/>
                <a:gd name="T18" fmla="*/ 48 h 48"/>
              </a:gdLst>
              <a:ahLst/>
              <a:cxnLst>
                <a:cxn ang="T10">
                  <a:pos x="T0" y="T1"/>
                </a:cxn>
                <a:cxn ang="T11">
                  <a:pos x="T2" y="T3"/>
                </a:cxn>
                <a:cxn ang="T12">
                  <a:pos x="T4" y="T5"/>
                </a:cxn>
                <a:cxn ang="T13">
                  <a:pos x="T6" y="T7"/>
                </a:cxn>
                <a:cxn ang="T14">
                  <a:pos x="T8" y="T9"/>
                </a:cxn>
              </a:cxnLst>
              <a:rect l="T15" t="T16" r="T17" b="T18"/>
              <a:pathLst>
                <a:path w="19" h="48">
                  <a:moveTo>
                    <a:pt x="0" y="48"/>
                  </a:moveTo>
                  <a:lnTo>
                    <a:pt x="0" y="48"/>
                  </a:lnTo>
                  <a:lnTo>
                    <a:pt x="19" y="15"/>
                  </a:lnTo>
                  <a:lnTo>
                    <a:pt x="19" y="0"/>
                  </a:lnTo>
                  <a:lnTo>
                    <a:pt x="0"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77" name="Freeform 106">
              <a:extLst>
                <a:ext uri="{FF2B5EF4-FFF2-40B4-BE49-F238E27FC236}">
                  <a16:creationId xmlns:a16="http://schemas.microsoft.com/office/drawing/2014/main" id="{0CEFC43B-1456-427C-AA32-76500BE4F4B6}"/>
                </a:ext>
              </a:extLst>
            </p:cNvPr>
            <p:cNvSpPr>
              <a:spLocks/>
            </p:cNvSpPr>
            <p:nvPr>
              <p:custDataLst>
                <p:tags r:id="rId107"/>
              </p:custDataLst>
            </p:nvPr>
          </p:nvSpPr>
          <p:spPr bwMode="auto">
            <a:xfrm>
              <a:off x="10157125" y="4498524"/>
              <a:ext cx="151296" cy="168888"/>
            </a:xfrm>
            <a:custGeom>
              <a:avLst/>
              <a:gdLst>
                <a:gd name="T0" fmla="*/ 0 w 173"/>
                <a:gd name="T1" fmla="*/ 22225 h 192"/>
                <a:gd name="T2" fmla="*/ 0 w 173"/>
                <a:gd name="T3" fmla="*/ 22225 h 192"/>
                <a:gd name="T4" fmla="*/ 0 w 173"/>
                <a:gd name="T5" fmla="*/ 26194 h 192"/>
                <a:gd name="T6" fmla="*/ 3157 w 173"/>
                <a:gd name="T7" fmla="*/ 26194 h 192"/>
                <a:gd name="T8" fmla="*/ 3157 w 173"/>
                <a:gd name="T9" fmla="*/ 28575 h 192"/>
                <a:gd name="T10" fmla="*/ 3157 w 173"/>
                <a:gd name="T11" fmla="*/ 38100 h 192"/>
                <a:gd name="T12" fmla="*/ 6313 w 173"/>
                <a:gd name="T13" fmla="*/ 35719 h 192"/>
                <a:gd name="T14" fmla="*/ 6313 w 173"/>
                <a:gd name="T15" fmla="*/ 26194 h 192"/>
                <a:gd name="T16" fmla="*/ 10259 w 173"/>
                <a:gd name="T17" fmla="*/ 22225 h 192"/>
                <a:gd name="T18" fmla="*/ 13416 w 173"/>
                <a:gd name="T19" fmla="*/ 22225 h 192"/>
                <a:gd name="T20" fmla="*/ 10259 w 173"/>
                <a:gd name="T21" fmla="*/ 26194 h 192"/>
                <a:gd name="T22" fmla="*/ 13416 w 173"/>
                <a:gd name="T23" fmla="*/ 28575 h 192"/>
                <a:gd name="T24" fmla="*/ 13416 w 173"/>
                <a:gd name="T25" fmla="*/ 32544 h 192"/>
                <a:gd name="T26" fmla="*/ 20518 w 173"/>
                <a:gd name="T27" fmla="*/ 32544 h 192"/>
                <a:gd name="T28" fmla="*/ 20518 w 173"/>
                <a:gd name="T29" fmla="*/ 38100 h 192"/>
                <a:gd name="T30" fmla="*/ 23675 w 173"/>
                <a:gd name="T31" fmla="*/ 35719 h 192"/>
                <a:gd name="T32" fmla="*/ 23675 w 173"/>
                <a:gd name="T33" fmla="*/ 32544 h 192"/>
                <a:gd name="T34" fmla="*/ 16572 w 173"/>
                <a:gd name="T35" fmla="*/ 26194 h 192"/>
                <a:gd name="T36" fmla="*/ 20518 w 173"/>
                <a:gd name="T37" fmla="*/ 26194 h 192"/>
                <a:gd name="T38" fmla="*/ 13416 w 173"/>
                <a:gd name="T39" fmla="*/ 19050 h 192"/>
                <a:gd name="T40" fmla="*/ 20518 w 173"/>
                <a:gd name="T41" fmla="*/ 13494 h 192"/>
                <a:gd name="T42" fmla="*/ 23675 w 173"/>
                <a:gd name="T43" fmla="*/ 13494 h 192"/>
                <a:gd name="T44" fmla="*/ 10259 w 173"/>
                <a:gd name="T45" fmla="*/ 16669 h 192"/>
                <a:gd name="T46" fmla="*/ 6313 w 173"/>
                <a:gd name="T47" fmla="*/ 13494 h 192"/>
                <a:gd name="T48" fmla="*/ 6313 w 173"/>
                <a:gd name="T49" fmla="*/ 9525 h 192"/>
                <a:gd name="T50" fmla="*/ 10259 w 173"/>
                <a:gd name="T51" fmla="*/ 7144 h 192"/>
                <a:gd name="T52" fmla="*/ 30777 w 173"/>
                <a:gd name="T53" fmla="*/ 7144 h 192"/>
                <a:gd name="T54" fmla="*/ 33934 w 173"/>
                <a:gd name="T55" fmla="*/ 0 h 192"/>
                <a:gd name="T56" fmla="*/ 26832 w 173"/>
                <a:gd name="T57" fmla="*/ 3969 h 192"/>
                <a:gd name="T58" fmla="*/ 20518 w 173"/>
                <a:gd name="T59" fmla="*/ 7144 h 192"/>
                <a:gd name="T60" fmla="*/ 10259 w 173"/>
                <a:gd name="T61" fmla="*/ 3969 h 192"/>
                <a:gd name="T62" fmla="*/ 10259 w 173"/>
                <a:gd name="T63" fmla="*/ 7144 h 192"/>
                <a:gd name="T64" fmla="*/ 6313 w 173"/>
                <a:gd name="T65" fmla="*/ 7144 h 192"/>
                <a:gd name="T66" fmla="*/ 6313 w 173"/>
                <a:gd name="T67" fmla="*/ 13494 h 192"/>
                <a:gd name="T68" fmla="*/ 0 w 173"/>
                <a:gd name="T69" fmla="*/ 22225 h 1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73"/>
                <a:gd name="T106" fmla="*/ 0 h 192"/>
                <a:gd name="T107" fmla="*/ 173 w 173"/>
                <a:gd name="T108" fmla="*/ 192 h 1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73" h="192">
                  <a:moveTo>
                    <a:pt x="0" y="113"/>
                  </a:moveTo>
                  <a:lnTo>
                    <a:pt x="0" y="113"/>
                  </a:lnTo>
                  <a:lnTo>
                    <a:pt x="0" y="129"/>
                  </a:lnTo>
                  <a:lnTo>
                    <a:pt x="17" y="129"/>
                  </a:lnTo>
                  <a:lnTo>
                    <a:pt x="17" y="144"/>
                  </a:lnTo>
                  <a:lnTo>
                    <a:pt x="17" y="192"/>
                  </a:lnTo>
                  <a:lnTo>
                    <a:pt x="35" y="177"/>
                  </a:lnTo>
                  <a:lnTo>
                    <a:pt x="35" y="129"/>
                  </a:lnTo>
                  <a:lnTo>
                    <a:pt x="52" y="113"/>
                  </a:lnTo>
                  <a:lnTo>
                    <a:pt x="69" y="113"/>
                  </a:lnTo>
                  <a:lnTo>
                    <a:pt x="52" y="129"/>
                  </a:lnTo>
                  <a:lnTo>
                    <a:pt x="69" y="144"/>
                  </a:lnTo>
                  <a:lnTo>
                    <a:pt x="69" y="161"/>
                  </a:lnTo>
                  <a:lnTo>
                    <a:pt x="104" y="161"/>
                  </a:lnTo>
                  <a:lnTo>
                    <a:pt x="104" y="192"/>
                  </a:lnTo>
                  <a:lnTo>
                    <a:pt x="121" y="177"/>
                  </a:lnTo>
                  <a:lnTo>
                    <a:pt x="121" y="161"/>
                  </a:lnTo>
                  <a:lnTo>
                    <a:pt x="87" y="129"/>
                  </a:lnTo>
                  <a:lnTo>
                    <a:pt x="104" y="129"/>
                  </a:lnTo>
                  <a:lnTo>
                    <a:pt x="69" y="96"/>
                  </a:lnTo>
                  <a:lnTo>
                    <a:pt x="104" y="66"/>
                  </a:lnTo>
                  <a:lnTo>
                    <a:pt x="121" y="66"/>
                  </a:lnTo>
                  <a:lnTo>
                    <a:pt x="52" y="81"/>
                  </a:lnTo>
                  <a:lnTo>
                    <a:pt x="35" y="66"/>
                  </a:lnTo>
                  <a:lnTo>
                    <a:pt x="35" y="48"/>
                  </a:lnTo>
                  <a:lnTo>
                    <a:pt x="52" y="33"/>
                  </a:lnTo>
                  <a:lnTo>
                    <a:pt x="156" y="33"/>
                  </a:lnTo>
                  <a:lnTo>
                    <a:pt x="173" y="0"/>
                  </a:lnTo>
                  <a:lnTo>
                    <a:pt x="138" y="18"/>
                  </a:lnTo>
                  <a:lnTo>
                    <a:pt x="104" y="33"/>
                  </a:lnTo>
                  <a:lnTo>
                    <a:pt x="52" y="18"/>
                  </a:lnTo>
                  <a:lnTo>
                    <a:pt x="52" y="33"/>
                  </a:lnTo>
                  <a:lnTo>
                    <a:pt x="35" y="33"/>
                  </a:lnTo>
                  <a:lnTo>
                    <a:pt x="35" y="66"/>
                  </a:lnTo>
                  <a:lnTo>
                    <a:pt x="0" y="11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78" name="Freeform 107">
              <a:extLst>
                <a:ext uri="{FF2B5EF4-FFF2-40B4-BE49-F238E27FC236}">
                  <a16:creationId xmlns:a16="http://schemas.microsoft.com/office/drawing/2014/main" id="{C41723AF-C421-4E8F-880D-37985B0D64BD}"/>
                </a:ext>
              </a:extLst>
            </p:cNvPr>
            <p:cNvSpPr>
              <a:spLocks/>
            </p:cNvSpPr>
            <p:nvPr>
              <p:custDataLst>
                <p:tags r:id="rId108"/>
              </p:custDataLst>
            </p:nvPr>
          </p:nvSpPr>
          <p:spPr bwMode="auto">
            <a:xfrm>
              <a:off x="10354161" y="4484450"/>
              <a:ext cx="29908" cy="70370"/>
            </a:xfrm>
            <a:custGeom>
              <a:avLst/>
              <a:gdLst>
                <a:gd name="T0" fmla="*/ 0 w 34"/>
                <a:gd name="T1" fmla="*/ 6272 h 81"/>
                <a:gd name="T2" fmla="*/ 0 w 34"/>
                <a:gd name="T3" fmla="*/ 6272 h 81"/>
                <a:gd name="T4" fmla="*/ 3175 w 34"/>
                <a:gd name="T5" fmla="*/ 11759 h 81"/>
                <a:gd name="T6" fmla="*/ 7144 w 34"/>
                <a:gd name="T7" fmla="*/ 15679 h 81"/>
                <a:gd name="T8" fmla="*/ 3175 w 34"/>
                <a:gd name="T9" fmla="*/ 11759 h 81"/>
                <a:gd name="T10" fmla="*/ 3175 w 34"/>
                <a:gd name="T11" fmla="*/ 9407 h 81"/>
                <a:gd name="T12" fmla="*/ 7144 w 34"/>
                <a:gd name="T13" fmla="*/ 9407 h 81"/>
                <a:gd name="T14" fmla="*/ 7144 w 34"/>
                <a:gd name="T15" fmla="*/ 6272 h 81"/>
                <a:gd name="T16" fmla="*/ 7144 w 34"/>
                <a:gd name="T17" fmla="*/ 2352 h 81"/>
                <a:gd name="T18" fmla="*/ 7144 w 34"/>
                <a:gd name="T19" fmla="*/ 6272 h 81"/>
                <a:gd name="T20" fmla="*/ 3175 w 34"/>
                <a:gd name="T21" fmla="*/ 0 h 81"/>
                <a:gd name="T22" fmla="*/ 0 w 34"/>
                <a:gd name="T23" fmla="*/ 6272 h 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
                <a:gd name="T37" fmla="*/ 0 h 81"/>
                <a:gd name="T38" fmla="*/ 34 w 34"/>
                <a:gd name="T39" fmla="*/ 81 h 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 h="81">
                  <a:moveTo>
                    <a:pt x="0" y="33"/>
                  </a:moveTo>
                  <a:lnTo>
                    <a:pt x="0" y="33"/>
                  </a:lnTo>
                  <a:lnTo>
                    <a:pt x="17" y="63"/>
                  </a:lnTo>
                  <a:lnTo>
                    <a:pt x="34" y="81"/>
                  </a:lnTo>
                  <a:lnTo>
                    <a:pt x="17" y="63"/>
                  </a:lnTo>
                  <a:lnTo>
                    <a:pt x="17" y="48"/>
                  </a:lnTo>
                  <a:lnTo>
                    <a:pt x="34" y="48"/>
                  </a:lnTo>
                  <a:lnTo>
                    <a:pt x="34" y="33"/>
                  </a:lnTo>
                  <a:lnTo>
                    <a:pt x="34" y="15"/>
                  </a:lnTo>
                  <a:lnTo>
                    <a:pt x="34" y="33"/>
                  </a:lnTo>
                  <a:lnTo>
                    <a:pt x="17" y="0"/>
                  </a:lnTo>
                  <a:lnTo>
                    <a:pt x="0"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79" name="Freeform 108">
              <a:extLst>
                <a:ext uri="{FF2B5EF4-FFF2-40B4-BE49-F238E27FC236}">
                  <a16:creationId xmlns:a16="http://schemas.microsoft.com/office/drawing/2014/main" id="{77256932-E04E-4C43-A45C-164181E4D492}"/>
                </a:ext>
              </a:extLst>
            </p:cNvPr>
            <p:cNvSpPr>
              <a:spLocks/>
            </p:cNvSpPr>
            <p:nvPr>
              <p:custDataLst>
                <p:tags r:id="rId109"/>
              </p:custDataLst>
            </p:nvPr>
          </p:nvSpPr>
          <p:spPr bwMode="auto">
            <a:xfrm>
              <a:off x="10324254" y="4611116"/>
              <a:ext cx="29908" cy="14074"/>
            </a:xfrm>
            <a:custGeom>
              <a:avLst/>
              <a:gdLst>
                <a:gd name="T0" fmla="*/ 0 w 35"/>
                <a:gd name="T1" fmla="*/ 0 h 15"/>
                <a:gd name="T2" fmla="*/ 0 w 35"/>
                <a:gd name="T3" fmla="*/ 0 h 15"/>
                <a:gd name="T4" fmla="*/ 6169 w 35"/>
                <a:gd name="T5" fmla="*/ 3387 h 15"/>
                <a:gd name="T6" fmla="*/ 6169 w 35"/>
                <a:gd name="T7" fmla="*/ 0 h 15"/>
                <a:gd name="T8" fmla="*/ 0 w 35"/>
                <a:gd name="T9" fmla="*/ 0 h 15"/>
                <a:gd name="T10" fmla="*/ 0 60000 65536"/>
                <a:gd name="T11" fmla="*/ 0 60000 65536"/>
                <a:gd name="T12" fmla="*/ 0 60000 65536"/>
                <a:gd name="T13" fmla="*/ 0 60000 65536"/>
                <a:gd name="T14" fmla="*/ 0 60000 65536"/>
                <a:gd name="T15" fmla="*/ 0 w 35"/>
                <a:gd name="T16" fmla="*/ 0 h 15"/>
                <a:gd name="T17" fmla="*/ 35 w 35"/>
                <a:gd name="T18" fmla="*/ 15 h 15"/>
              </a:gdLst>
              <a:ahLst/>
              <a:cxnLst>
                <a:cxn ang="T10">
                  <a:pos x="T0" y="T1"/>
                </a:cxn>
                <a:cxn ang="T11">
                  <a:pos x="T2" y="T3"/>
                </a:cxn>
                <a:cxn ang="T12">
                  <a:pos x="T4" y="T5"/>
                </a:cxn>
                <a:cxn ang="T13">
                  <a:pos x="T6" y="T7"/>
                </a:cxn>
                <a:cxn ang="T14">
                  <a:pos x="T8" y="T9"/>
                </a:cxn>
              </a:cxnLst>
              <a:rect l="T15" t="T16" r="T17" b="T18"/>
              <a:pathLst>
                <a:path w="35" h="15">
                  <a:moveTo>
                    <a:pt x="0" y="0"/>
                  </a:moveTo>
                  <a:lnTo>
                    <a:pt x="0" y="0"/>
                  </a:lnTo>
                  <a:lnTo>
                    <a:pt x="35" y="15"/>
                  </a:lnTo>
                  <a:lnTo>
                    <a:pt x="35"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1" name="Freeform 109">
              <a:extLst>
                <a:ext uri="{FF2B5EF4-FFF2-40B4-BE49-F238E27FC236}">
                  <a16:creationId xmlns:a16="http://schemas.microsoft.com/office/drawing/2014/main" id="{75283B84-E077-49D7-9682-4476954441F8}"/>
                </a:ext>
              </a:extLst>
            </p:cNvPr>
            <p:cNvSpPr>
              <a:spLocks/>
            </p:cNvSpPr>
            <p:nvPr>
              <p:custDataLst>
                <p:tags r:id="rId110"/>
              </p:custDataLst>
            </p:nvPr>
          </p:nvSpPr>
          <p:spPr bwMode="auto">
            <a:xfrm>
              <a:off x="10369995" y="4597042"/>
              <a:ext cx="75648" cy="28148"/>
            </a:xfrm>
            <a:custGeom>
              <a:avLst/>
              <a:gdLst>
                <a:gd name="T0" fmla="*/ 0 w 86"/>
                <a:gd name="T1" fmla="*/ 3277 h 31"/>
                <a:gd name="T2" fmla="*/ 0 w 86"/>
                <a:gd name="T3" fmla="*/ 3277 h 31"/>
                <a:gd name="T4" fmla="*/ 17463 w 86"/>
                <a:gd name="T5" fmla="*/ 6555 h 31"/>
                <a:gd name="T6" fmla="*/ 14288 w 86"/>
                <a:gd name="T7" fmla="*/ 3277 h 31"/>
                <a:gd name="T8" fmla="*/ 10319 w 86"/>
                <a:gd name="T9" fmla="*/ 0 h 31"/>
                <a:gd name="T10" fmla="*/ 3969 w 86"/>
                <a:gd name="T11" fmla="*/ 0 h 31"/>
                <a:gd name="T12" fmla="*/ 0 w 86"/>
                <a:gd name="T13" fmla="*/ 3277 h 31"/>
                <a:gd name="T14" fmla="*/ 0 60000 65536"/>
                <a:gd name="T15" fmla="*/ 0 60000 65536"/>
                <a:gd name="T16" fmla="*/ 0 60000 65536"/>
                <a:gd name="T17" fmla="*/ 0 60000 65536"/>
                <a:gd name="T18" fmla="*/ 0 60000 65536"/>
                <a:gd name="T19" fmla="*/ 0 60000 65536"/>
                <a:gd name="T20" fmla="*/ 0 60000 65536"/>
                <a:gd name="T21" fmla="*/ 0 w 86"/>
                <a:gd name="T22" fmla="*/ 0 h 31"/>
                <a:gd name="T23" fmla="*/ 86 w 86"/>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6" h="31">
                  <a:moveTo>
                    <a:pt x="0" y="16"/>
                  </a:moveTo>
                  <a:lnTo>
                    <a:pt x="0" y="16"/>
                  </a:lnTo>
                  <a:lnTo>
                    <a:pt x="86" y="31"/>
                  </a:lnTo>
                  <a:lnTo>
                    <a:pt x="69" y="16"/>
                  </a:lnTo>
                  <a:lnTo>
                    <a:pt x="52" y="0"/>
                  </a:lnTo>
                  <a:lnTo>
                    <a:pt x="17" y="0"/>
                  </a:lnTo>
                  <a:lnTo>
                    <a:pt x="0"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2" name="Freeform 110">
              <a:extLst>
                <a:ext uri="{FF2B5EF4-FFF2-40B4-BE49-F238E27FC236}">
                  <a16:creationId xmlns:a16="http://schemas.microsoft.com/office/drawing/2014/main" id="{C8268596-75AA-4045-BD79-501DD3A0C0E2}"/>
                </a:ext>
              </a:extLst>
            </p:cNvPr>
            <p:cNvSpPr>
              <a:spLocks/>
            </p:cNvSpPr>
            <p:nvPr>
              <p:custDataLst>
                <p:tags r:id="rId111"/>
              </p:custDataLst>
            </p:nvPr>
          </p:nvSpPr>
          <p:spPr bwMode="auto">
            <a:xfrm>
              <a:off x="10354161" y="4568894"/>
              <a:ext cx="29908" cy="0"/>
            </a:xfrm>
            <a:custGeom>
              <a:avLst/>
              <a:gdLst>
                <a:gd name="T0" fmla="*/ 0 w 34"/>
                <a:gd name="T1" fmla="*/ 0 w 34"/>
                <a:gd name="T2" fmla="*/ 7144 w 34"/>
                <a:gd name="T3" fmla="*/ 3175 w 34"/>
                <a:gd name="T4" fmla="*/ 0 w 34"/>
                <a:gd name="T5" fmla="*/ 0 60000 65536"/>
                <a:gd name="T6" fmla="*/ 0 60000 65536"/>
                <a:gd name="T7" fmla="*/ 0 60000 65536"/>
                <a:gd name="T8" fmla="*/ 0 60000 65536"/>
                <a:gd name="T9" fmla="*/ 0 60000 65536"/>
                <a:gd name="T10" fmla="*/ 0 w 34"/>
                <a:gd name="T11" fmla="*/ 34 w 34"/>
              </a:gdLst>
              <a:ahLst/>
              <a:cxnLst>
                <a:cxn ang="T5">
                  <a:pos x="T0" y="0"/>
                </a:cxn>
                <a:cxn ang="T6">
                  <a:pos x="T1" y="0"/>
                </a:cxn>
                <a:cxn ang="T7">
                  <a:pos x="T2" y="0"/>
                </a:cxn>
                <a:cxn ang="T8">
                  <a:pos x="T3" y="0"/>
                </a:cxn>
                <a:cxn ang="T9">
                  <a:pos x="T4" y="0"/>
                </a:cxn>
              </a:cxnLst>
              <a:rect l="T10" t="0" r="T11" b="0"/>
              <a:pathLst>
                <a:path w="34">
                  <a:moveTo>
                    <a:pt x="0" y="0"/>
                  </a:moveTo>
                  <a:lnTo>
                    <a:pt x="0" y="0"/>
                  </a:lnTo>
                  <a:lnTo>
                    <a:pt x="34" y="0"/>
                  </a:lnTo>
                  <a:lnTo>
                    <a:pt x="17"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3" name="Freeform 111">
              <a:extLst>
                <a:ext uri="{FF2B5EF4-FFF2-40B4-BE49-F238E27FC236}">
                  <a16:creationId xmlns:a16="http://schemas.microsoft.com/office/drawing/2014/main" id="{1462D2EF-EA13-4DDF-B14A-F6C9A722ECC3}"/>
                </a:ext>
              </a:extLst>
            </p:cNvPr>
            <p:cNvSpPr>
              <a:spLocks/>
            </p:cNvSpPr>
            <p:nvPr>
              <p:custDataLst>
                <p:tags r:id="rId112"/>
              </p:custDataLst>
            </p:nvPr>
          </p:nvSpPr>
          <p:spPr bwMode="auto">
            <a:xfrm>
              <a:off x="10551197" y="4554820"/>
              <a:ext cx="15834" cy="14074"/>
            </a:xfrm>
            <a:custGeom>
              <a:avLst/>
              <a:gdLst>
                <a:gd name="T0" fmla="*/ 0 w 18"/>
                <a:gd name="T1" fmla="*/ 0 h 15"/>
                <a:gd name="T2" fmla="*/ 0 w 18"/>
                <a:gd name="T3" fmla="*/ 0 h 15"/>
                <a:gd name="T4" fmla="*/ 3969 w 18"/>
                <a:gd name="T5" fmla="*/ 3387 h 15"/>
                <a:gd name="T6" fmla="*/ 3969 w 18"/>
                <a:gd name="T7" fmla="*/ 0 h 15"/>
                <a:gd name="T8" fmla="*/ 0 w 18"/>
                <a:gd name="T9" fmla="*/ 0 h 15"/>
                <a:gd name="T10" fmla="*/ 0 60000 65536"/>
                <a:gd name="T11" fmla="*/ 0 60000 65536"/>
                <a:gd name="T12" fmla="*/ 0 60000 65536"/>
                <a:gd name="T13" fmla="*/ 0 60000 65536"/>
                <a:gd name="T14" fmla="*/ 0 60000 65536"/>
                <a:gd name="T15" fmla="*/ 0 w 18"/>
                <a:gd name="T16" fmla="*/ 0 h 15"/>
                <a:gd name="T17" fmla="*/ 18 w 18"/>
                <a:gd name="T18" fmla="*/ 15 h 15"/>
              </a:gdLst>
              <a:ahLst/>
              <a:cxnLst>
                <a:cxn ang="T10">
                  <a:pos x="T0" y="T1"/>
                </a:cxn>
                <a:cxn ang="T11">
                  <a:pos x="T2" y="T3"/>
                </a:cxn>
                <a:cxn ang="T12">
                  <a:pos x="T4" y="T5"/>
                </a:cxn>
                <a:cxn ang="T13">
                  <a:pos x="T6" y="T7"/>
                </a:cxn>
                <a:cxn ang="T14">
                  <a:pos x="T8" y="T9"/>
                </a:cxn>
              </a:cxnLst>
              <a:rect l="T15" t="T16" r="T17" b="T18"/>
              <a:pathLst>
                <a:path w="18" h="15">
                  <a:moveTo>
                    <a:pt x="0" y="0"/>
                  </a:moveTo>
                  <a:lnTo>
                    <a:pt x="0" y="0"/>
                  </a:lnTo>
                  <a:lnTo>
                    <a:pt x="18" y="15"/>
                  </a:lnTo>
                  <a:lnTo>
                    <a:pt x="18"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4" name="Freeform 112">
              <a:extLst>
                <a:ext uri="{FF2B5EF4-FFF2-40B4-BE49-F238E27FC236}">
                  <a16:creationId xmlns:a16="http://schemas.microsoft.com/office/drawing/2014/main" id="{9AAC265E-9F63-4020-AA02-883446F1AAFB}"/>
                </a:ext>
              </a:extLst>
            </p:cNvPr>
            <p:cNvSpPr>
              <a:spLocks/>
            </p:cNvSpPr>
            <p:nvPr>
              <p:custDataLst>
                <p:tags r:id="rId113"/>
              </p:custDataLst>
            </p:nvPr>
          </p:nvSpPr>
          <p:spPr bwMode="auto">
            <a:xfrm>
              <a:off x="10855549" y="4625190"/>
              <a:ext cx="107315" cy="56296"/>
            </a:xfrm>
            <a:custGeom>
              <a:avLst/>
              <a:gdLst>
                <a:gd name="T0" fmla="*/ 0 w 123"/>
                <a:gd name="T1" fmla="*/ 6252 h 65"/>
                <a:gd name="T2" fmla="*/ 0 w 123"/>
                <a:gd name="T3" fmla="*/ 6252 h 65"/>
                <a:gd name="T4" fmla="*/ 6298 w 123"/>
                <a:gd name="T5" fmla="*/ 12505 h 65"/>
                <a:gd name="T6" fmla="*/ 13384 w 123"/>
                <a:gd name="T7" fmla="*/ 12505 h 65"/>
                <a:gd name="T8" fmla="*/ 20470 w 123"/>
                <a:gd name="T9" fmla="*/ 9378 h 65"/>
                <a:gd name="T10" fmla="*/ 23619 w 123"/>
                <a:gd name="T11" fmla="*/ 3126 h 65"/>
                <a:gd name="T12" fmla="*/ 23619 w 123"/>
                <a:gd name="T13" fmla="*/ 0 h 65"/>
                <a:gd name="T14" fmla="*/ 20470 w 123"/>
                <a:gd name="T15" fmla="*/ 0 h 65"/>
                <a:gd name="T16" fmla="*/ 20470 w 123"/>
                <a:gd name="T17" fmla="*/ 6252 h 65"/>
                <a:gd name="T18" fmla="*/ 17321 w 123"/>
                <a:gd name="T19" fmla="*/ 6252 h 65"/>
                <a:gd name="T20" fmla="*/ 13384 w 123"/>
                <a:gd name="T21" fmla="*/ 6252 h 65"/>
                <a:gd name="T22" fmla="*/ 0 w 123"/>
                <a:gd name="T23" fmla="*/ 6252 h 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3"/>
                <a:gd name="T37" fmla="*/ 0 h 65"/>
                <a:gd name="T38" fmla="*/ 123 w 123"/>
                <a:gd name="T39" fmla="*/ 65 h 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3" h="65">
                  <a:moveTo>
                    <a:pt x="0" y="33"/>
                  </a:moveTo>
                  <a:lnTo>
                    <a:pt x="0" y="33"/>
                  </a:lnTo>
                  <a:lnTo>
                    <a:pt x="35" y="65"/>
                  </a:lnTo>
                  <a:lnTo>
                    <a:pt x="71" y="65"/>
                  </a:lnTo>
                  <a:lnTo>
                    <a:pt x="106" y="48"/>
                  </a:lnTo>
                  <a:lnTo>
                    <a:pt x="123" y="17"/>
                  </a:lnTo>
                  <a:lnTo>
                    <a:pt x="123" y="0"/>
                  </a:lnTo>
                  <a:lnTo>
                    <a:pt x="106" y="0"/>
                  </a:lnTo>
                  <a:lnTo>
                    <a:pt x="106" y="33"/>
                  </a:lnTo>
                  <a:lnTo>
                    <a:pt x="88" y="33"/>
                  </a:lnTo>
                  <a:lnTo>
                    <a:pt x="71" y="33"/>
                  </a:lnTo>
                  <a:lnTo>
                    <a:pt x="0"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5" name="Freeform 113">
              <a:extLst>
                <a:ext uri="{FF2B5EF4-FFF2-40B4-BE49-F238E27FC236}">
                  <a16:creationId xmlns:a16="http://schemas.microsoft.com/office/drawing/2014/main" id="{8775201E-CD50-48D2-95B9-A5B6D9D86FB9}"/>
                </a:ext>
              </a:extLst>
            </p:cNvPr>
            <p:cNvSpPr>
              <a:spLocks/>
            </p:cNvSpPr>
            <p:nvPr>
              <p:custDataLst>
                <p:tags r:id="rId114"/>
              </p:custDataLst>
            </p:nvPr>
          </p:nvSpPr>
          <p:spPr bwMode="auto">
            <a:xfrm>
              <a:off x="10932956" y="4611116"/>
              <a:ext cx="45741" cy="28148"/>
            </a:xfrm>
            <a:custGeom>
              <a:avLst/>
              <a:gdLst>
                <a:gd name="T0" fmla="*/ 0 w 52"/>
                <a:gd name="T1" fmla="*/ 0 h 32"/>
                <a:gd name="T2" fmla="*/ 0 w 52"/>
                <a:gd name="T3" fmla="*/ 0 h 32"/>
                <a:gd name="T4" fmla="*/ 7144 w 52"/>
                <a:gd name="T5" fmla="*/ 2381 h 32"/>
                <a:gd name="T6" fmla="*/ 10319 w 52"/>
                <a:gd name="T7" fmla="*/ 6350 h 32"/>
                <a:gd name="T8" fmla="*/ 10319 w 52"/>
                <a:gd name="T9" fmla="*/ 2381 h 32"/>
                <a:gd name="T10" fmla="*/ 0 w 52"/>
                <a:gd name="T11" fmla="*/ 0 h 32"/>
                <a:gd name="T12" fmla="*/ 0 60000 65536"/>
                <a:gd name="T13" fmla="*/ 0 60000 65536"/>
                <a:gd name="T14" fmla="*/ 0 60000 65536"/>
                <a:gd name="T15" fmla="*/ 0 60000 65536"/>
                <a:gd name="T16" fmla="*/ 0 60000 65536"/>
                <a:gd name="T17" fmla="*/ 0 60000 65536"/>
                <a:gd name="T18" fmla="*/ 0 w 52"/>
                <a:gd name="T19" fmla="*/ 0 h 32"/>
                <a:gd name="T20" fmla="*/ 52 w 52"/>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52" h="32">
                  <a:moveTo>
                    <a:pt x="0" y="0"/>
                  </a:moveTo>
                  <a:lnTo>
                    <a:pt x="0" y="0"/>
                  </a:lnTo>
                  <a:lnTo>
                    <a:pt x="35" y="15"/>
                  </a:lnTo>
                  <a:lnTo>
                    <a:pt x="52" y="32"/>
                  </a:lnTo>
                  <a:lnTo>
                    <a:pt x="52" y="15"/>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6" name="Freeform 114">
              <a:extLst>
                <a:ext uri="{FF2B5EF4-FFF2-40B4-BE49-F238E27FC236}">
                  <a16:creationId xmlns:a16="http://schemas.microsoft.com/office/drawing/2014/main" id="{54EE815A-9406-47C1-8F37-61373254330F}"/>
                </a:ext>
              </a:extLst>
            </p:cNvPr>
            <p:cNvSpPr>
              <a:spLocks/>
            </p:cNvSpPr>
            <p:nvPr>
              <p:custDataLst>
                <p:tags r:id="rId115"/>
              </p:custDataLst>
            </p:nvPr>
          </p:nvSpPr>
          <p:spPr bwMode="auto">
            <a:xfrm>
              <a:off x="11024437" y="4653338"/>
              <a:ext cx="29908" cy="42222"/>
            </a:xfrm>
            <a:custGeom>
              <a:avLst/>
              <a:gdLst>
                <a:gd name="T0" fmla="*/ 0 w 35"/>
                <a:gd name="T1" fmla="*/ 0 h 48"/>
                <a:gd name="T2" fmla="*/ 0 w 35"/>
                <a:gd name="T3" fmla="*/ 0 h 48"/>
                <a:gd name="T4" fmla="*/ 3084 w 35"/>
                <a:gd name="T5" fmla="*/ 9525 h 48"/>
                <a:gd name="T6" fmla="*/ 6169 w 35"/>
                <a:gd name="T7" fmla="*/ 6350 h 48"/>
                <a:gd name="T8" fmla="*/ 0 w 35"/>
                <a:gd name="T9" fmla="*/ 0 h 48"/>
                <a:gd name="T10" fmla="*/ 0 60000 65536"/>
                <a:gd name="T11" fmla="*/ 0 60000 65536"/>
                <a:gd name="T12" fmla="*/ 0 60000 65536"/>
                <a:gd name="T13" fmla="*/ 0 60000 65536"/>
                <a:gd name="T14" fmla="*/ 0 60000 65536"/>
                <a:gd name="T15" fmla="*/ 0 w 35"/>
                <a:gd name="T16" fmla="*/ 0 h 48"/>
                <a:gd name="T17" fmla="*/ 35 w 35"/>
                <a:gd name="T18" fmla="*/ 48 h 48"/>
              </a:gdLst>
              <a:ahLst/>
              <a:cxnLst>
                <a:cxn ang="T10">
                  <a:pos x="T0" y="T1"/>
                </a:cxn>
                <a:cxn ang="T11">
                  <a:pos x="T2" y="T3"/>
                </a:cxn>
                <a:cxn ang="T12">
                  <a:pos x="T4" y="T5"/>
                </a:cxn>
                <a:cxn ang="T13">
                  <a:pos x="T6" y="T7"/>
                </a:cxn>
                <a:cxn ang="T14">
                  <a:pos x="T8" y="T9"/>
                </a:cxn>
              </a:cxnLst>
              <a:rect l="T15" t="T16" r="T17" b="T18"/>
              <a:pathLst>
                <a:path w="35" h="48">
                  <a:moveTo>
                    <a:pt x="0" y="0"/>
                  </a:moveTo>
                  <a:lnTo>
                    <a:pt x="0" y="0"/>
                  </a:lnTo>
                  <a:lnTo>
                    <a:pt x="17" y="48"/>
                  </a:lnTo>
                  <a:lnTo>
                    <a:pt x="35" y="32"/>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7" name="Freeform 115">
              <a:extLst>
                <a:ext uri="{FF2B5EF4-FFF2-40B4-BE49-F238E27FC236}">
                  <a16:creationId xmlns:a16="http://schemas.microsoft.com/office/drawing/2014/main" id="{26A9B1B0-C447-48BB-8152-BD7A338863DF}"/>
                </a:ext>
              </a:extLst>
            </p:cNvPr>
            <p:cNvSpPr>
              <a:spLocks/>
            </p:cNvSpPr>
            <p:nvPr>
              <p:custDataLst>
                <p:tags r:id="rId116"/>
              </p:custDataLst>
            </p:nvPr>
          </p:nvSpPr>
          <p:spPr bwMode="auto">
            <a:xfrm>
              <a:off x="11129992" y="4737782"/>
              <a:ext cx="31667" cy="14074"/>
            </a:xfrm>
            <a:custGeom>
              <a:avLst/>
              <a:gdLst>
                <a:gd name="T0" fmla="*/ 0 w 34"/>
                <a:gd name="T1" fmla="*/ 0 h 15"/>
                <a:gd name="T2" fmla="*/ 0 w 34"/>
                <a:gd name="T3" fmla="*/ 0 h 15"/>
                <a:gd name="T4" fmla="*/ 0 w 34"/>
                <a:gd name="T5" fmla="*/ 3387 h 15"/>
                <a:gd name="T6" fmla="*/ 8404 w 34"/>
                <a:gd name="T7" fmla="*/ 3387 h 15"/>
                <a:gd name="T8" fmla="*/ 0 w 34"/>
                <a:gd name="T9" fmla="*/ 0 h 15"/>
                <a:gd name="T10" fmla="*/ 0 60000 65536"/>
                <a:gd name="T11" fmla="*/ 0 60000 65536"/>
                <a:gd name="T12" fmla="*/ 0 60000 65536"/>
                <a:gd name="T13" fmla="*/ 0 60000 65536"/>
                <a:gd name="T14" fmla="*/ 0 60000 65536"/>
                <a:gd name="T15" fmla="*/ 0 w 34"/>
                <a:gd name="T16" fmla="*/ 0 h 15"/>
                <a:gd name="T17" fmla="*/ 34 w 34"/>
                <a:gd name="T18" fmla="*/ 15 h 15"/>
              </a:gdLst>
              <a:ahLst/>
              <a:cxnLst>
                <a:cxn ang="T10">
                  <a:pos x="T0" y="T1"/>
                </a:cxn>
                <a:cxn ang="T11">
                  <a:pos x="T2" y="T3"/>
                </a:cxn>
                <a:cxn ang="T12">
                  <a:pos x="T4" y="T5"/>
                </a:cxn>
                <a:cxn ang="T13">
                  <a:pos x="T6" y="T7"/>
                </a:cxn>
                <a:cxn ang="T14">
                  <a:pos x="T8" y="T9"/>
                </a:cxn>
              </a:cxnLst>
              <a:rect l="T15" t="T16" r="T17" b="T18"/>
              <a:pathLst>
                <a:path w="34" h="15">
                  <a:moveTo>
                    <a:pt x="0" y="0"/>
                  </a:moveTo>
                  <a:lnTo>
                    <a:pt x="0" y="0"/>
                  </a:lnTo>
                  <a:lnTo>
                    <a:pt x="0" y="15"/>
                  </a:lnTo>
                  <a:lnTo>
                    <a:pt x="34" y="15"/>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8" name="Freeform 116">
              <a:extLst>
                <a:ext uri="{FF2B5EF4-FFF2-40B4-BE49-F238E27FC236}">
                  <a16:creationId xmlns:a16="http://schemas.microsoft.com/office/drawing/2014/main" id="{4E6241F8-B60E-4C60-A5B1-52575FCF2620}"/>
                </a:ext>
              </a:extLst>
            </p:cNvPr>
            <p:cNvSpPr>
              <a:spLocks/>
            </p:cNvSpPr>
            <p:nvPr>
              <p:custDataLst>
                <p:tags r:id="rId117"/>
              </p:custDataLst>
            </p:nvPr>
          </p:nvSpPr>
          <p:spPr bwMode="auto">
            <a:xfrm>
              <a:off x="11312954" y="4864449"/>
              <a:ext cx="15834" cy="28148"/>
            </a:xfrm>
            <a:custGeom>
              <a:avLst/>
              <a:gdLst>
                <a:gd name="T0" fmla="*/ 0 w 18"/>
                <a:gd name="T1" fmla="*/ 0 h 32"/>
                <a:gd name="T2" fmla="*/ 0 w 18"/>
                <a:gd name="T3" fmla="*/ 0 h 32"/>
                <a:gd name="T4" fmla="*/ 0 w 18"/>
                <a:gd name="T5" fmla="*/ 6350 h 32"/>
                <a:gd name="T6" fmla="*/ 3969 w 18"/>
                <a:gd name="T7" fmla="*/ 2381 h 32"/>
                <a:gd name="T8" fmla="*/ 0 w 18"/>
                <a:gd name="T9" fmla="*/ 0 h 32"/>
                <a:gd name="T10" fmla="*/ 0 60000 65536"/>
                <a:gd name="T11" fmla="*/ 0 60000 65536"/>
                <a:gd name="T12" fmla="*/ 0 60000 65536"/>
                <a:gd name="T13" fmla="*/ 0 60000 65536"/>
                <a:gd name="T14" fmla="*/ 0 60000 65536"/>
                <a:gd name="T15" fmla="*/ 0 w 18"/>
                <a:gd name="T16" fmla="*/ 0 h 32"/>
                <a:gd name="T17" fmla="*/ 18 w 18"/>
                <a:gd name="T18" fmla="*/ 32 h 32"/>
              </a:gdLst>
              <a:ahLst/>
              <a:cxnLst>
                <a:cxn ang="T10">
                  <a:pos x="T0" y="T1"/>
                </a:cxn>
                <a:cxn ang="T11">
                  <a:pos x="T2" y="T3"/>
                </a:cxn>
                <a:cxn ang="T12">
                  <a:pos x="T4" y="T5"/>
                </a:cxn>
                <a:cxn ang="T13">
                  <a:pos x="T6" y="T7"/>
                </a:cxn>
                <a:cxn ang="T14">
                  <a:pos x="T8" y="T9"/>
                </a:cxn>
              </a:cxnLst>
              <a:rect l="T15" t="T16" r="T17" b="T18"/>
              <a:pathLst>
                <a:path w="18" h="32">
                  <a:moveTo>
                    <a:pt x="0" y="0"/>
                  </a:moveTo>
                  <a:lnTo>
                    <a:pt x="0" y="0"/>
                  </a:lnTo>
                  <a:lnTo>
                    <a:pt x="0" y="32"/>
                  </a:lnTo>
                  <a:lnTo>
                    <a:pt x="18" y="15"/>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89" name="Freeform 117">
              <a:extLst>
                <a:ext uri="{FF2B5EF4-FFF2-40B4-BE49-F238E27FC236}">
                  <a16:creationId xmlns:a16="http://schemas.microsoft.com/office/drawing/2014/main" id="{16ACF564-BC00-4275-95A4-56553E6042F9}"/>
                </a:ext>
              </a:extLst>
            </p:cNvPr>
            <p:cNvSpPr>
              <a:spLocks/>
            </p:cNvSpPr>
            <p:nvPr>
              <p:custDataLst>
                <p:tags r:id="rId118"/>
              </p:custDataLst>
            </p:nvPr>
          </p:nvSpPr>
          <p:spPr bwMode="auto">
            <a:xfrm>
              <a:off x="11254898" y="4991115"/>
              <a:ext cx="58056" cy="54537"/>
            </a:xfrm>
            <a:custGeom>
              <a:avLst/>
              <a:gdLst>
                <a:gd name="T0" fmla="*/ 0 w 67"/>
                <a:gd name="T1" fmla="*/ 0 h 63"/>
                <a:gd name="T2" fmla="*/ 0 w 67"/>
                <a:gd name="T3" fmla="*/ 0 h 63"/>
                <a:gd name="T4" fmla="*/ 3128 w 67"/>
                <a:gd name="T5" fmla="*/ 6249 h 63"/>
                <a:gd name="T6" fmla="*/ 9383 w 67"/>
                <a:gd name="T7" fmla="*/ 11717 h 63"/>
                <a:gd name="T8" fmla="*/ 12511 w 67"/>
                <a:gd name="T9" fmla="*/ 11717 h 63"/>
                <a:gd name="T10" fmla="*/ 3128 w 67"/>
                <a:gd name="T11" fmla="*/ 2343 h 63"/>
                <a:gd name="T12" fmla="*/ 0 w 67"/>
                <a:gd name="T13" fmla="*/ 0 h 63"/>
                <a:gd name="T14" fmla="*/ 0 60000 65536"/>
                <a:gd name="T15" fmla="*/ 0 60000 65536"/>
                <a:gd name="T16" fmla="*/ 0 60000 65536"/>
                <a:gd name="T17" fmla="*/ 0 60000 65536"/>
                <a:gd name="T18" fmla="*/ 0 60000 65536"/>
                <a:gd name="T19" fmla="*/ 0 60000 65536"/>
                <a:gd name="T20" fmla="*/ 0 60000 65536"/>
                <a:gd name="T21" fmla="*/ 0 w 67"/>
                <a:gd name="T22" fmla="*/ 0 h 63"/>
                <a:gd name="T23" fmla="*/ 67 w 67"/>
                <a:gd name="T24" fmla="*/ 63 h 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 h="63">
                  <a:moveTo>
                    <a:pt x="0" y="0"/>
                  </a:moveTo>
                  <a:lnTo>
                    <a:pt x="0" y="0"/>
                  </a:lnTo>
                  <a:lnTo>
                    <a:pt x="17" y="32"/>
                  </a:lnTo>
                  <a:lnTo>
                    <a:pt x="50" y="63"/>
                  </a:lnTo>
                  <a:lnTo>
                    <a:pt x="67" y="63"/>
                  </a:lnTo>
                  <a:lnTo>
                    <a:pt x="17" y="15"/>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90" name="Freeform 118">
              <a:extLst>
                <a:ext uri="{FF2B5EF4-FFF2-40B4-BE49-F238E27FC236}">
                  <a16:creationId xmlns:a16="http://schemas.microsoft.com/office/drawing/2014/main" id="{78248AE9-A27E-4C03-BF99-58D18B3AE830}"/>
                </a:ext>
              </a:extLst>
            </p:cNvPr>
            <p:cNvSpPr>
              <a:spLocks/>
            </p:cNvSpPr>
            <p:nvPr>
              <p:custDataLst>
                <p:tags r:id="rId119"/>
              </p:custDataLst>
            </p:nvPr>
          </p:nvSpPr>
          <p:spPr bwMode="auto">
            <a:xfrm>
              <a:off x="11557490" y="4920745"/>
              <a:ext cx="31667" cy="28148"/>
            </a:xfrm>
            <a:custGeom>
              <a:avLst/>
              <a:gdLst>
                <a:gd name="T0" fmla="*/ 0 w 34"/>
                <a:gd name="T1" fmla="*/ 6158 h 33"/>
                <a:gd name="T2" fmla="*/ 0 w 34"/>
                <a:gd name="T3" fmla="*/ 6158 h 33"/>
                <a:gd name="T4" fmla="*/ 8404 w 34"/>
                <a:gd name="T5" fmla="*/ 6158 h 33"/>
                <a:gd name="T6" fmla="*/ 8404 w 34"/>
                <a:gd name="T7" fmla="*/ 3079 h 33"/>
                <a:gd name="T8" fmla="*/ 4202 w 34"/>
                <a:gd name="T9" fmla="*/ 0 h 33"/>
                <a:gd name="T10" fmla="*/ 0 w 34"/>
                <a:gd name="T11" fmla="*/ 6158 h 33"/>
                <a:gd name="T12" fmla="*/ 0 60000 65536"/>
                <a:gd name="T13" fmla="*/ 0 60000 65536"/>
                <a:gd name="T14" fmla="*/ 0 60000 65536"/>
                <a:gd name="T15" fmla="*/ 0 60000 65536"/>
                <a:gd name="T16" fmla="*/ 0 60000 65536"/>
                <a:gd name="T17" fmla="*/ 0 60000 65536"/>
                <a:gd name="T18" fmla="*/ 0 w 34"/>
                <a:gd name="T19" fmla="*/ 0 h 33"/>
                <a:gd name="T20" fmla="*/ 34 w 34"/>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4" h="33">
                  <a:moveTo>
                    <a:pt x="0" y="33"/>
                  </a:moveTo>
                  <a:lnTo>
                    <a:pt x="0" y="33"/>
                  </a:lnTo>
                  <a:lnTo>
                    <a:pt x="34" y="33"/>
                  </a:lnTo>
                  <a:lnTo>
                    <a:pt x="34" y="17"/>
                  </a:lnTo>
                  <a:lnTo>
                    <a:pt x="17" y="0"/>
                  </a:lnTo>
                  <a:lnTo>
                    <a:pt x="0"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91" name="Freeform 119">
              <a:extLst>
                <a:ext uri="{FF2B5EF4-FFF2-40B4-BE49-F238E27FC236}">
                  <a16:creationId xmlns:a16="http://schemas.microsoft.com/office/drawing/2014/main" id="{BC555600-9BC6-410A-943B-35C530CF44E5}"/>
                </a:ext>
              </a:extLst>
            </p:cNvPr>
            <p:cNvSpPr>
              <a:spLocks/>
            </p:cNvSpPr>
            <p:nvPr>
              <p:custDataLst>
                <p:tags r:id="rId120"/>
              </p:custDataLst>
            </p:nvPr>
          </p:nvSpPr>
          <p:spPr bwMode="auto">
            <a:xfrm>
              <a:off x="11589156" y="4906671"/>
              <a:ext cx="29908" cy="14074"/>
            </a:xfrm>
            <a:custGeom>
              <a:avLst/>
              <a:gdLst>
                <a:gd name="T0" fmla="*/ 0 w 35"/>
                <a:gd name="T1" fmla="*/ 0 h 15"/>
                <a:gd name="T2" fmla="*/ 0 w 35"/>
                <a:gd name="T3" fmla="*/ 0 h 15"/>
                <a:gd name="T4" fmla="*/ 3084 w 35"/>
                <a:gd name="T5" fmla="*/ 3387 h 15"/>
                <a:gd name="T6" fmla="*/ 6169 w 35"/>
                <a:gd name="T7" fmla="*/ 0 h 15"/>
                <a:gd name="T8" fmla="*/ 0 w 35"/>
                <a:gd name="T9" fmla="*/ 0 h 15"/>
                <a:gd name="T10" fmla="*/ 0 60000 65536"/>
                <a:gd name="T11" fmla="*/ 0 60000 65536"/>
                <a:gd name="T12" fmla="*/ 0 60000 65536"/>
                <a:gd name="T13" fmla="*/ 0 60000 65536"/>
                <a:gd name="T14" fmla="*/ 0 60000 65536"/>
                <a:gd name="T15" fmla="*/ 0 w 35"/>
                <a:gd name="T16" fmla="*/ 0 h 15"/>
                <a:gd name="T17" fmla="*/ 35 w 35"/>
                <a:gd name="T18" fmla="*/ 15 h 15"/>
              </a:gdLst>
              <a:ahLst/>
              <a:cxnLst>
                <a:cxn ang="T10">
                  <a:pos x="T0" y="T1"/>
                </a:cxn>
                <a:cxn ang="T11">
                  <a:pos x="T2" y="T3"/>
                </a:cxn>
                <a:cxn ang="T12">
                  <a:pos x="T4" y="T5"/>
                </a:cxn>
                <a:cxn ang="T13">
                  <a:pos x="T6" y="T7"/>
                </a:cxn>
                <a:cxn ang="T14">
                  <a:pos x="T8" y="T9"/>
                </a:cxn>
              </a:cxnLst>
              <a:rect l="T15" t="T16" r="T17" b="T18"/>
              <a:pathLst>
                <a:path w="35" h="15">
                  <a:moveTo>
                    <a:pt x="0" y="0"/>
                  </a:moveTo>
                  <a:lnTo>
                    <a:pt x="0" y="0"/>
                  </a:lnTo>
                  <a:lnTo>
                    <a:pt x="17" y="15"/>
                  </a:lnTo>
                  <a:lnTo>
                    <a:pt x="35"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92" name="Line 120">
              <a:extLst>
                <a:ext uri="{FF2B5EF4-FFF2-40B4-BE49-F238E27FC236}">
                  <a16:creationId xmlns:a16="http://schemas.microsoft.com/office/drawing/2014/main" id="{010E06EC-B8EE-45C4-92A0-E63F9D7BE4C8}"/>
                </a:ext>
              </a:extLst>
            </p:cNvPr>
            <p:cNvSpPr>
              <a:spLocks noChangeShapeType="1"/>
            </p:cNvSpPr>
            <p:nvPr>
              <p:custDataLst>
                <p:tags r:id="rId121"/>
              </p:custDataLst>
            </p:nvPr>
          </p:nvSpPr>
          <p:spPr bwMode="auto">
            <a:xfrm flipV="1">
              <a:off x="10454439" y="4702597"/>
              <a:ext cx="14074" cy="42222"/>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93" name="Line 121">
              <a:extLst>
                <a:ext uri="{FF2B5EF4-FFF2-40B4-BE49-F238E27FC236}">
                  <a16:creationId xmlns:a16="http://schemas.microsoft.com/office/drawing/2014/main" id="{F35D3995-927F-4F8E-B5A4-39C58D2562FE}"/>
                </a:ext>
              </a:extLst>
            </p:cNvPr>
            <p:cNvSpPr>
              <a:spLocks noChangeShapeType="1"/>
            </p:cNvSpPr>
            <p:nvPr>
              <p:custDataLst>
                <p:tags r:id="rId122"/>
              </p:custDataLst>
            </p:nvPr>
          </p:nvSpPr>
          <p:spPr bwMode="auto">
            <a:xfrm>
              <a:off x="11061381" y="4702597"/>
              <a:ext cx="31667" cy="14074"/>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94" name="Line 122">
              <a:extLst>
                <a:ext uri="{FF2B5EF4-FFF2-40B4-BE49-F238E27FC236}">
                  <a16:creationId xmlns:a16="http://schemas.microsoft.com/office/drawing/2014/main" id="{76AD2CDF-9064-469D-94A1-18E035154893}"/>
                </a:ext>
              </a:extLst>
            </p:cNvPr>
            <p:cNvSpPr>
              <a:spLocks noChangeShapeType="1"/>
            </p:cNvSpPr>
            <p:nvPr>
              <p:custDataLst>
                <p:tags r:id="rId123"/>
              </p:custDataLst>
            </p:nvPr>
          </p:nvSpPr>
          <p:spPr bwMode="auto">
            <a:xfrm>
              <a:off x="11093047" y="4730745"/>
              <a:ext cx="14074" cy="14074"/>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95" name="Line 123">
              <a:extLst>
                <a:ext uri="{FF2B5EF4-FFF2-40B4-BE49-F238E27FC236}">
                  <a16:creationId xmlns:a16="http://schemas.microsoft.com/office/drawing/2014/main" id="{8C0F0132-FF05-4137-A6B2-9C4BA5967BD6}"/>
                </a:ext>
              </a:extLst>
            </p:cNvPr>
            <p:cNvSpPr>
              <a:spLocks noChangeShapeType="1"/>
            </p:cNvSpPr>
            <p:nvPr>
              <p:custDataLst>
                <p:tags r:id="rId124"/>
              </p:custDataLst>
            </p:nvPr>
          </p:nvSpPr>
          <p:spPr bwMode="auto">
            <a:xfrm>
              <a:off x="11170454" y="4744819"/>
              <a:ext cx="14074" cy="28148"/>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96" name="Line 124">
              <a:extLst>
                <a:ext uri="{FF2B5EF4-FFF2-40B4-BE49-F238E27FC236}">
                  <a16:creationId xmlns:a16="http://schemas.microsoft.com/office/drawing/2014/main" id="{14EBE460-A511-4B15-AD2F-6514CE7CDFB1}"/>
                </a:ext>
              </a:extLst>
            </p:cNvPr>
            <p:cNvSpPr>
              <a:spLocks noChangeShapeType="1"/>
            </p:cNvSpPr>
            <p:nvPr>
              <p:custDataLst>
                <p:tags r:id="rId125"/>
              </p:custDataLst>
            </p:nvPr>
          </p:nvSpPr>
          <p:spPr bwMode="auto">
            <a:xfrm>
              <a:off x="11184528" y="4787041"/>
              <a:ext cx="29908" cy="14074"/>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197" name="Freeform 125">
              <a:extLst>
                <a:ext uri="{FF2B5EF4-FFF2-40B4-BE49-F238E27FC236}">
                  <a16:creationId xmlns:a16="http://schemas.microsoft.com/office/drawing/2014/main" id="{CEBABE69-75CC-4746-A081-3C471C5BA963}"/>
                </a:ext>
              </a:extLst>
            </p:cNvPr>
            <p:cNvSpPr>
              <a:spLocks/>
            </p:cNvSpPr>
            <p:nvPr>
              <p:custDataLst>
                <p:tags r:id="rId126"/>
              </p:custDataLst>
            </p:nvPr>
          </p:nvSpPr>
          <p:spPr bwMode="auto">
            <a:xfrm>
              <a:off x="9926663" y="4385932"/>
              <a:ext cx="244537" cy="126666"/>
            </a:xfrm>
            <a:custGeom>
              <a:avLst/>
              <a:gdLst>
                <a:gd name="T0" fmla="*/ 30956 w 278"/>
                <a:gd name="T1" fmla="*/ 9525 h 144"/>
                <a:gd name="T2" fmla="*/ 30956 w 278"/>
                <a:gd name="T3" fmla="*/ 9525 h 144"/>
                <a:gd name="T4" fmla="*/ 34131 w 278"/>
                <a:gd name="T5" fmla="*/ 9525 h 144"/>
                <a:gd name="T6" fmla="*/ 30956 w 278"/>
                <a:gd name="T7" fmla="*/ 11906 h 144"/>
                <a:gd name="T8" fmla="*/ 27781 w 278"/>
                <a:gd name="T9" fmla="*/ 11906 h 144"/>
                <a:gd name="T10" fmla="*/ 23813 w 278"/>
                <a:gd name="T11" fmla="*/ 11906 h 144"/>
                <a:gd name="T12" fmla="*/ 17463 w 278"/>
                <a:gd name="T13" fmla="*/ 19050 h 144"/>
                <a:gd name="T14" fmla="*/ 10319 w 278"/>
                <a:gd name="T15" fmla="*/ 19050 h 144"/>
                <a:gd name="T16" fmla="*/ 10319 w 278"/>
                <a:gd name="T17" fmla="*/ 24606 h 144"/>
                <a:gd name="T18" fmla="*/ 0 w 278"/>
                <a:gd name="T19" fmla="*/ 24606 h 144"/>
                <a:gd name="T20" fmla="*/ 7144 w 278"/>
                <a:gd name="T21" fmla="*/ 28575 h 144"/>
                <a:gd name="T22" fmla="*/ 13494 w 278"/>
                <a:gd name="T23" fmla="*/ 28575 h 144"/>
                <a:gd name="T24" fmla="*/ 17463 w 278"/>
                <a:gd name="T25" fmla="*/ 24606 h 144"/>
                <a:gd name="T26" fmla="*/ 23813 w 278"/>
                <a:gd name="T27" fmla="*/ 28575 h 144"/>
                <a:gd name="T28" fmla="*/ 27781 w 278"/>
                <a:gd name="T29" fmla="*/ 24606 h 144"/>
                <a:gd name="T30" fmla="*/ 38100 w 278"/>
                <a:gd name="T31" fmla="*/ 11906 h 144"/>
                <a:gd name="T32" fmla="*/ 48419 w 278"/>
                <a:gd name="T33" fmla="*/ 11906 h 144"/>
                <a:gd name="T34" fmla="*/ 52388 w 278"/>
                <a:gd name="T35" fmla="*/ 11906 h 144"/>
                <a:gd name="T36" fmla="*/ 48419 w 278"/>
                <a:gd name="T37" fmla="*/ 9525 h 144"/>
                <a:gd name="T38" fmla="*/ 55563 w 278"/>
                <a:gd name="T39" fmla="*/ 9525 h 144"/>
                <a:gd name="T40" fmla="*/ 44450 w 278"/>
                <a:gd name="T41" fmla="*/ 5556 h 144"/>
                <a:gd name="T42" fmla="*/ 44450 w 278"/>
                <a:gd name="T43" fmla="*/ 2381 h 144"/>
                <a:gd name="T44" fmla="*/ 41275 w 278"/>
                <a:gd name="T45" fmla="*/ 0 h 144"/>
                <a:gd name="T46" fmla="*/ 34131 w 278"/>
                <a:gd name="T47" fmla="*/ 5556 h 144"/>
                <a:gd name="T48" fmla="*/ 30956 w 278"/>
                <a:gd name="T49" fmla="*/ 9525 h 1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8"/>
                <a:gd name="T76" fmla="*/ 0 h 144"/>
                <a:gd name="T77" fmla="*/ 278 w 278"/>
                <a:gd name="T78" fmla="*/ 144 h 14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8" h="144">
                  <a:moveTo>
                    <a:pt x="158" y="48"/>
                  </a:moveTo>
                  <a:lnTo>
                    <a:pt x="158" y="48"/>
                  </a:lnTo>
                  <a:lnTo>
                    <a:pt x="175" y="48"/>
                  </a:lnTo>
                  <a:lnTo>
                    <a:pt x="158" y="63"/>
                  </a:lnTo>
                  <a:lnTo>
                    <a:pt x="140" y="63"/>
                  </a:lnTo>
                  <a:lnTo>
                    <a:pt x="123" y="63"/>
                  </a:lnTo>
                  <a:lnTo>
                    <a:pt x="88" y="96"/>
                  </a:lnTo>
                  <a:lnTo>
                    <a:pt x="52" y="96"/>
                  </a:lnTo>
                  <a:lnTo>
                    <a:pt x="52" y="126"/>
                  </a:lnTo>
                  <a:lnTo>
                    <a:pt x="0" y="126"/>
                  </a:lnTo>
                  <a:lnTo>
                    <a:pt x="35" y="144"/>
                  </a:lnTo>
                  <a:lnTo>
                    <a:pt x="69" y="144"/>
                  </a:lnTo>
                  <a:lnTo>
                    <a:pt x="88" y="126"/>
                  </a:lnTo>
                  <a:lnTo>
                    <a:pt x="123" y="144"/>
                  </a:lnTo>
                  <a:lnTo>
                    <a:pt x="140" y="126"/>
                  </a:lnTo>
                  <a:lnTo>
                    <a:pt x="192" y="63"/>
                  </a:lnTo>
                  <a:lnTo>
                    <a:pt x="244" y="63"/>
                  </a:lnTo>
                  <a:lnTo>
                    <a:pt x="261" y="63"/>
                  </a:lnTo>
                  <a:lnTo>
                    <a:pt x="244" y="48"/>
                  </a:lnTo>
                  <a:lnTo>
                    <a:pt x="278" y="48"/>
                  </a:lnTo>
                  <a:lnTo>
                    <a:pt x="227" y="30"/>
                  </a:lnTo>
                  <a:lnTo>
                    <a:pt x="227" y="15"/>
                  </a:lnTo>
                  <a:lnTo>
                    <a:pt x="209" y="0"/>
                  </a:lnTo>
                  <a:lnTo>
                    <a:pt x="175" y="30"/>
                  </a:lnTo>
                  <a:lnTo>
                    <a:pt x="158"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98" name="Freeform 126">
              <a:extLst>
                <a:ext uri="{FF2B5EF4-FFF2-40B4-BE49-F238E27FC236}">
                  <a16:creationId xmlns:a16="http://schemas.microsoft.com/office/drawing/2014/main" id="{F4415B68-0638-4268-9FB6-937558DBFD1C}"/>
                </a:ext>
              </a:extLst>
            </p:cNvPr>
            <p:cNvSpPr>
              <a:spLocks/>
            </p:cNvSpPr>
            <p:nvPr>
              <p:custDataLst>
                <p:tags r:id="rId127"/>
              </p:custDataLst>
            </p:nvPr>
          </p:nvSpPr>
          <p:spPr bwMode="auto">
            <a:xfrm>
              <a:off x="10033977" y="4428154"/>
              <a:ext cx="45741" cy="14074"/>
            </a:xfrm>
            <a:custGeom>
              <a:avLst/>
              <a:gdLst>
                <a:gd name="T0" fmla="*/ 0 w 52"/>
                <a:gd name="T1" fmla="*/ 3387 h 15"/>
                <a:gd name="T2" fmla="*/ 0 w 52"/>
                <a:gd name="T3" fmla="*/ 3387 h 15"/>
                <a:gd name="T4" fmla="*/ 3969 w 52"/>
                <a:gd name="T5" fmla="*/ 3387 h 15"/>
                <a:gd name="T6" fmla="*/ 7144 w 52"/>
                <a:gd name="T7" fmla="*/ 3387 h 15"/>
                <a:gd name="T8" fmla="*/ 10319 w 52"/>
                <a:gd name="T9" fmla="*/ 0 h 15"/>
                <a:gd name="T10" fmla="*/ 7144 w 52"/>
                <a:gd name="T11" fmla="*/ 0 h 15"/>
                <a:gd name="T12" fmla="*/ 0 w 52"/>
                <a:gd name="T13" fmla="*/ 3387 h 15"/>
                <a:gd name="T14" fmla="*/ 0 60000 65536"/>
                <a:gd name="T15" fmla="*/ 0 60000 65536"/>
                <a:gd name="T16" fmla="*/ 0 60000 65536"/>
                <a:gd name="T17" fmla="*/ 0 60000 65536"/>
                <a:gd name="T18" fmla="*/ 0 60000 65536"/>
                <a:gd name="T19" fmla="*/ 0 60000 65536"/>
                <a:gd name="T20" fmla="*/ 0 60000 65536"/>
                <a:gd name="T21" fmla="*/ 0 w 52"/>
                <a:gd name="T22" fmla="*/ 0 h 15"/>
                <a:gd name="T23" fmla="*/ 52 w 52"/>
                <a:gd name="T24" fmla="*/ 15 h 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 h="15">
                  <a:moveTo>
                    <a:pt x="0" y="15"/>
                  </a:moveTo>
                  <a:lnTo>
                    <a:pt x="0" y="15"/>
                  </a:lnTo>
                  <a:lnTo>
                    <a:pt x="17" y="15"/>
                  </a:lnTo>
                  <a:lnTo>
                    <a:pt x="35" y="15"/>
                  </a:lnTo>
                  <a:lnTo>
                    <a:pt x="52" y="0"/>
                  </a:lnTo>
                  <a:lnTo>
                    <a:pt x="35"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199" name="Freeform 127">
              <a:extLst>
                <a:ext uri="{FF2B5EF4-FFF2-40B4-BE49-F238E27FC236}">
                  <a16:creationId xmlns:a16="http://schemas.microsoft.com/office/drawing/2014/main" id="{43F7722D-9496-4451-848A-CDEE3CCAC07D}"/>
                </a:ext>
              </a:extLst>
            </p:cNvPr>
            <p:cNvSpPr>
              <a:spLocks/>
            </p:cNvSpPr>
            <p:nvPr>
              <p:custDataLst>
                <p:tags r:id="rId128"/>
              </p:custDataLst>
            </p:nvPr>
          </p:nvSpPr>
          <p:spPr bwMode="auto">
            <a:xfrm>
              <a:off x="9910829" y="4442228"/>
              <a:ext cx="246295" cy="182962"/>
            </a:xfrm>
            <a:custGeom>
              <a:avLst/>
              <a:gdLst>
                <a:gd name="T0" fmla="*/ 3997 w 278"/>
                <a:gd name="T1" fmla="*/ 12761 h 207"/>
                <a:gd name="T2" fmla="*/ 3997 w 278"/>
                <a:gd name="T3" fmla="*/ 12761 h 207"/>
                <a:gd name="T4" fmla="*/ 10393 w 278"/>
                <a:gd name="T5" fmla="*/ 16749 h 207"/>
                <a:gd name="T6" fmla="*/ 17588 w 278"/>
                <a:gd name="T7" fmla="*/ 16749 h 207"/>
                <a:gd name="T8" fmla="*/ 20786 w 278"/>
                <a:gd name="T9" fmla="*/ 12761 h 207"/>
                <a:gd name="T10" fmla="*/ 27981 w 278"/>
                <a:gd name="T11" fmla="*/ 16749 h 207"/>
                <a:gd name="T12" fmla="*/ 31179 w 278"/>
                <a:gd name="T13" fmla="*/ 12761 h 207"/>
                <a:gd name="T14" fmla="*/ 41572 w 278"/>
                <a:gd name="T15" fmla="*/ 0 h 207"/>
                <a:gd name="T16" fmla="*/ 52764 w 278"/>
                <a:gd name="T17" fmla="*/ 0 h 207"/>
                <a:gd name="T18" fmla="*/ 49567 w 278"/>
                <a:gd name="T19" fmla="*/ 7178 h 207"/>
                <a:gd name="T20" fmla="*/ 52764 w 278"/>
                <a:gd name="T21" fmla="*/ 9571 h 207"/>
                <a:gd name="T22" fmla="*/ 49567 w 278"/>
                <a:gd name="T23" fmla="*/ 12761 h 207"/>
                <a:gd name="T24" fmla="*/ 56762 w 278"/>
                <a:gd name="T25" fmla="*/ 16749 h 207"/>
                <a:gd name="T26" fmla="*/ 52764 w 278"/>
                <a:gd name="T27" fmla="*/ 19142 h 207"/>
                <a:gd name="T28" fmla="*/ 45569 w 278"/>
                <a:gd name="T29" fmla="*/ 26320 h 207"/>
                <a:gd name="T30" fmla="*/ 41572 w 278"/>
                <a:gd name="T31" fmla="*/ 31903 h 207"/>
                <a:gd name="T32" fmla="*/ 45569 w 278"/>
                <a:gd name="T33" fmla="*/ 31903 h 207"/>
                <a:gd name="T34" fmla="*/ 41572 w 278"/>
                <a:gd name="T35" fmla="*/ 38284 h 207"/>
                <a:gd name="T36" fmla="*/ 35176 w 278"/>
                <a:gd name="T37" fmla="*/ 41474 h 207"/>
                <a:gd name="T38" fmla="*/ 31179 w 278"/>
                <a:gd name="T39" fmla="*/ 38284 h 207"/>
                <a:gd name="T40" fmla="*/ 24783 w 278"/>
                <a:gd name="T41" fmla="*/ 38284 h 207"/>
                <a:gd name="T42" fmla="*/ 17588 w 278"/>
                <a:gd name="T43" fmla="*/ 38284 h 207"/>
                <a:gd name="T44" fmla="*/ 17588 w 278"/>
                <a:gd name="T45" fmla="*/ 35094 h 207"/>
                <a:gd name="T46" fmla="*/ 10393 w 278"/>
                <a:gd name="T47" fmla="*/ 35094 h 207"/>
                <a:gd name="T48" fmla="*/ 7195 w 278"/>
                <a:gd name="T49" fmla="*/ 28713 h 207"/>
                <a:gd name="T50" fmla="*/ 3997 w 278"/>
                <a:gd name="T51" fmla="*/ 22332 h 207"/>
                <a:gd name="T52" fmla="*/ 0 w 278"/>
                <a:gd name="T53" fmla="*/ 16749 h 207"/>
                <a:gd name="T54" fmla="*/ 3997 w 278"/>
                <a:gd name="T55" fmla="*/ 12761 h 2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78"/>
                <a:gd name="T85" fmla="*/ 0 h 207"/>
                <a:gd name="T86" fmla="*/ 278 w 278"/>
                <a:gd name="T87" fmla="*/ 207 h 20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78" h="207">
                  <a:moveTo>
                    <a:pt x="17" y="63"/>
                  </a:moveTo>
                  <a:lnTo>
                    <a:pt x="17" y="63"/>
                  </a:lnTo>
                  <a:lnTo>
                    <a:pt x="52" y="81"/>
                  </a:lnTo>
                  <a:lnTo>
                    <a:pt x="86" y="81"/>
                  </a:lnTo>
                  <a:lnTo>
                    <a:pt x="104" y="63"/>
                  </a:lnTo>
                  <a:lnTo>
                    <a:pt x="138" y="81"/>
                  </a:lnTo>
                  <a:lnTo>
                    <a:pt x="155" y="63"/>
                  </a:lnTo>
                  <a:lnTo>
                    <a:pt x="207" y="0"/>
                  </a:lnTo>
                  <a:lnTo>
                    <a:pt x="261" y="0"/>
                  </a:lnTo>
                  <a:lnTo>
                    <a:pt x="244" y="33"/>
                  </a:lnTo>
                  <a:lnTo>
                    <a:pt x="261" y="48"/>
                  </a:lnTo>
                  <a:lnTo>
                    <a:pt x="244" y="63"/>
                  </a:lnTo>
                  <a:lnTo>
                    <a:pt x="278" y="81"/>
                  </a:lnTo>
                  <a:lnTo>
                    <a:pt x="261" y="96"/>
                  </a:lnTo>
                  <a:lnTo>
                    <a:pt x="224" y="129"/>
                  </a:lnTo>
                  <a:lnTo>
                    <a:pt x="207" y="159"/>
                  </a:lnTo>
                  <a:lnTo>
                    <a:pt x="224" y="159"/>
                  </a:lnTo>
                  <a:lnTo>
                    <a:pt x="207" y="192"/>
                  </a:lnTo>
                  <a:lnTo>
                    <a:pt x="173" y="207"/>
                  </a:lnTo>
                  <a:lnTo>
                    <a:pt x="155" y="192"/>
                  </a:lnTo>
                  <a:lnTo>
                    <a:pt x="121" y="192"/>
                  </a:lnTo>
                  <a:lnTo>
                    <a:pt x="86" y="192"/>
                  </a:lnTo>
                  <a:lnTo>
                    <a:pt x="86" y="176"/>
                  </a:lnTo>
                  <a:lnTo>
                    <a:pt x="52" y="176"/>
                  </a:lnTo>
                  <a:lnTo>
                    <a:pt x="34" y="144"/>
                  </a:lnTo>
                  <a:lnTo>
                    <a:pt x="17" y="111"/>
                  </a:lnTo>
                  <a:lnTo>
                    <a:pt x="0" y="81"/>
                  </a:lnTo>
                  <a:lnTo>
                    <a:pt x="17" y="6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0" name="Freeform 128">
              <a:extLst>
                <a:ext uri="{FF2B5EF4-FFF2-40B4-BE49-F238E27FC236}">
                  <a16:creationId xmlns:a16="http://schemas.microsoft.com/office/drawing/2014/main" id="{6174F927-9DE9-48A8-9AB8-00C8265A1F36}"/>
                </a:ext>
              </a:extLst>
            </p:cNvPr>
            <p:cNvSpPr>
              <a:spLocks/>
            </p:cNvSpPr>
            <p:nvPr>
              <p:custDataLst>
                <p:tags r:id="rId129"/>
              </p:custDataLst>
            </p:nvPr>
          </p:nvSpPr>
          <p:spPr bwMode="auto">
            <a:xfrm>
              <a:off x="9636386" y="4498524"/>
              <a:ext cx="17593" cy="28148"/>
            </a:xfrm>
            <a:custGeom>
              <a:avLst/>
              <a:gdLst>
                <a:gd name="T0" fmla="*/ 0 w 19"/>
                <a:gd name="T1" fmla="*/ 3079 h 33"/>
                <a:gd name="T2" fmla="*/ 0 w 19"/>
                <a:gd name="T3" fmla="*/ 3079 h 33"/>
                <a:gd name="T4" fmla="*/ 4178 w 19"/>
                <a:gd name="T5" fmla="*/ 6158 h 33"/>
                <a:gd name="T6" fmla="*/ 0 w 19"/>
                <a:gd name="T7" fmla="*/ 0 h 33"/>
                <a:gd name="T8" fmla="*/ 0 w 19"/>
                <a:gd name="T9" fmla="*/ 3079 h 33"/>
                <a:gd name="T10" fmla="*/ 0 60000 65536"/>
                <a:gd name="T11" fmla="*/ 0 60000 65536"/>
                <a:gd name="T12" fmla="*/ 0 60000 65536"/>
                <a:gd name="T13" fmla="*/ 0 60000 65536"/>
                <a:gd name="T14" fmla="*/ 0 60000 65536"/>
                <a:gd name="T15" fmla="*/ 0 w 19"/>
                <a:gd name="T16" fmla="*/ 0 h 33"/>
                <a:gd name="T17" fmla="*/ 19 w 19"/>
                <a:gd name="T18" fmla="*/ 33 h 33"/>
              </a:gdLst>
              <a:ahLst/>
              <a:cxnLst>
                <a:cxn ang="T10">
                  <a:pos x="T0" y="T1"/>
                </a:cxn>
                <a:cxn ang="T11">
                  <a:pos x="T2" y="T3"/>
                </a:cxn>
                <a:cxn ang="T12">
                  <a:pos x="T4" y="T5"/>
                </a:cxn>
                <a:cxn ang="T13">
                  <a:pos x="T6" y="T7"/>
                </a:cxn>
                <a:cxn ang="T14">
                  <a:pos x="T8" y="T9"/>
                </a:cxn>
              </a:cxnLst>
              <a:rect l="T15" t="T16" r="T17" b="T18"/>
              <a:pathLst>
                <a:path w="19" h="33">
                  <a:moveTo>
                    <a:pt x="0" y="18"/>
                  </a:moveTo>
                  <a:lnTo>
                    <a:pt x="0" y="18"/>
                  </a:lnTo>
                  <a:lnTo>
                    <a:pt x="19" y="33"/>
                  </a:lnTo>
                  <a:lnTo>
                    <a:pt x="0" y="0"/>
                  </a:lnTo>
                  <a:lnTo>
                    <a:pt x="0" y="1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1" name="Freeform 129">
              <a:extLst>
                <a:ext uri="{FF2B5EF4-FFF2-40B4-BE49-F238E27FC236}">
                  <a16:creationId xmlns:a16="http://schemas.microsoft.com/office/drawing/2014/main" id="{DE7F3EA3-95D3-4D04-A59F-F16A71AF10BE}"/>
                </a:ext>
              </a:extLst>
            </p:cNvPr>
            <p:cNvSpPr>
              <a:spLocks/>
            </p:cNvSpPr>
            <p:nvPr>
              <p:custDataLst>
                <p:tags r:id="rId130"/>
              </p:custDataLst>
            </p:nvPr>
          </p:nvSpPr>
          <p:spPr bwMode="auto">
            <a:xfrm>
              <a:off x="9668053" y="4554820"/>
              <a:ext cx="14074" cy="28148"/>
            </a:xfrm>
            <a:custGeom>
              <a:avLst/>
              <a:gdLst>
                <a:gd name="T0" fmla="*/ 0 w 16"/>
                <a:gd name="T1" fmla="*/ 0 h 30"/>
                <a:gd name="T2" fmla="*/ 0 w 16"/>
                <a:gd name="T3" fmla="*/ 0 h 30"/>
                <a:gd name="T4" fmla="*/ 3175 w 16"/>
                <a:gd name="T5" fmla="*/ 7620 h 30"/>
                <a:gd name="T6" fmla="*/ 3175 w 16"/>
                <a:gd name="T7" fmla="*/ 3387 h 30"/>
                <a:gd name="T8" fmla="*/ 3175 w 16"/>
                <a:gd name="T9" fmla="*/ 0 h 30"/>
                <a:gd name="T10" fmla="*/ 0 w 16"/>
                <a:gd name="T11" fmla="*/ 0 h 30"/>
                <a:gd name="T12" fmla="*/ 0 60000 65536"/>
                <a:gd name="T13" fmla="*/ 0 60000 65536"/>
                <a:gd name="T14" fmla="*/ 0 60000 65536"/>
                <a:gd name="T15" fmla="*/ 0 60000 65536"/>
                <a:gd name="T16" fmla="*/ 0 60000 65536"/>
                <a:gd name="T17" fmla="*/ 0 60000 65536"/>
                <a:gd name="T18" fmla="*/ 0 w 16"/>
                <a:gd name="T19" fmla="*/ 0 h 30"/>
                <a:gd name="T20" fmla="*/ 16 w 16"/>
                <a:gd name="T21" fmla="*/ 30 h 30"/>
              </a:gdLst>
              <a:ahLst/>
              <a:cxnLst>
                <a:cxn ang="T12">
                  <a:pos x="T0" y="T1"/>
                </a:cxn>
                <a:cxn ang="T13">
                  <a:pos x="T2" y="T3"/>
                </a:cxn>
                <a:cxn ang="T14">
                  <a:pos x="T4" y="T5"/>
                </a:cxn>
                <a:cxn ang="T15">
                  <a:pos x="T6" y="T7"/>
                </a:cxn>
                <a:cxn ang="T16">
                  <a:pos x="T8" y="T9"/>
                </a:cxn>
                <a:cxn ang="T17">
                  <a:pos x="T10" y="T11"/>
                </a:cxn>
              </a:cxnLst>
              <a:rect l="T18" t="T19" r="T20" b="T21"/>
              <a:pathLst>
                <a:path w="16" h="30">
                  <a:moveTo>
                    <a:pt x="0" y="0"/>
                  </a:moveTo>
                  <a:lnTo>
                    <a:pt x="0" y="0"/>
                  </a:lnTo>
                  <a:lnTo>
                    <a:pt x="16" y="30"/>
                  </a:lnTo>
                  <a:lnTo>
                    <a:pt x="16" y="15"/>
                  </a:lnTo>
                  <a:lnTo>
                    <a:pt x="16"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2" name="Freeform 130">
              <a:extLst>
                <a:ext uri="{FF2B5EF4-FFF2-40B4-BE49-F238E27FC236}">
                  <a16:creationId xmlns:a16="http://schemas.microsoft.com/office/drawing/2014/main" id="{D96DB39F-E6D1-4EDC-9D55-F2E398641535}"/>
                </a:ext>
              </a:extLst>
            </p:cNvPr>
            <p:cNvSpPr>
              <a:spLocks/>
            </p:cNvSpPr>
            <p:nvPr>
              <p:custDataLst>
                <p:tags r:id="rId131"/>
              </p:custDataLst>
            </p:nvPr>
          </p:nvSpPr>
          <p:spPr bwMode="auto">
            <a:xfrm>
              <a:off x="9210647" y="4315562"/>
              <a:ext cx="63333" cy="84444"/>
            </a:xfrm>
            <a:custGeom>
              <a:avLst/>
              <a:gdLst>
                <a:gd name="T0" fmla="*/ 0 w 71"/>
                <a:gd name="T1" fmla="*/ 9525 h 96"/>
                <a:gd name="T2" fmla="*/ 0 w 71"/>
                <a:gd name="T3" fmla="*/ 9525 h 96"/>
                <a:gd name="T4" fmla="*/ 4025 w 71"/>
                <a:gd name="T5" fmla="*/ 19050 h 96"/>
                <a:gd name="T6" fmla="*/ 11269 w 71"/>
                <a:gd name="T7" fmla="*/ 19050 h 96"/>
                <a:gd name="T8" fmla="*/ 14489 w 71"/>
                <a:gd name="T9" fmla="*/ 11906 h 96"/>
                <a:gd name="T10" fmla="*/ 8049 w 71"/>
                <a:gd name="T11" fmla="*/ 2381 h 96"/>
                <a:gd name="T12" fmla="*/ 4025 w 71"/>
                <a:gd name="T13" fmla="*/ 0 h 96"/>
                <a:gd name="T14" fmla="*/ 0 w 71"/>
                <a:gd name="T15" fmla="*/ 9525 h 96"/>
                <a:gd name="T16" fmla="*/ 0 60000 65536"/>
                <a:gd name="T17" fmla="*/ 0 60000 65536"/>
                <a:gd name="T18" fmla="*/ 0 60000 65536"/>
                <a:gd name="T19" fmla="*/ 0 60000 65536"/>
                <a:gd name="T20" fmla="*/ 0 60000 65536"/>
                <a:gd name="T21" fmla="*/ 0 60000 65536"/>
                <a:gd name="T22" fmla="*/ 0 60000 65536"/>
                <a:gd name="T23" fmla="*/ 0 60000 65536"/>
                <a:gd name="T24" fmla="*/ 0 w 71"/>
                <a:gd name="T25" fmla="*/ 0 h 96"/>
                <a:gd name="T26" fmla="*/ 71 w 71"/>
                <a:gd name="T27" fmla="*/ 96 h 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 h="96">
                  <a:moveTo>
                    <a:pt x="0" y="48"/>
                  </a:moveTo>
                  <a:lnTo>
                    <a:pt x="0" y="48"/>
                  </a:lnTo>
                  <a:lnTo>
                    <a:pt x="17" y="96"/>
                  </a:lnTo>
                  <a:lnTo>
                    <a:pt x="54" y="96"/>
                  </a:lnTo>
                  <a:lnTo>
                    <a:pt x="71" y="63"/>
                  </a:lnTo>
                  <a:lnTo>
                    <a:pt x="37" y="15"/>
                  </a:lnTo>
                  <a:lnTo>
                    <a:pt x="17" y="0"/>
                  </a:lnTo>
                  <a:lnTo>
                    <a:pt x="0"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3" name="Freeform 131">
              <a:extLst>
                <a:ext uri="{FF2B5EF4-FFF2-40B4-BE49-F238E27FC236}">
                  <a16:creationId xmlns:a16="http://schemas.microsoft.com/office/drawing/2014/main" id="{A70A527B-37E1-4652-A2C1-51A013EBCEEF}"/>
                </a:ext>
              </a:extLst>
            </p:cNvPr>
            <p:cNvSpPr>
              <a:spLocks/>
            </p:cNvSpPr>
            <p:nvPr>
              <p:custDataLst>
                <p:tags r:id="rId132"/>
              </p:custDataLst>
            </p:nvPr>
          </p:nvSpPr>
          <p:spPr bwMode="auto">
            <a:xfrm>
              <a:off x="9910829" y="4090378"/>
              <a:ext cx="61574" cy="42222"/>
            </a:xfrm>
            <a:custGeom>
              <a:avLst/>
              <a:gdLst>
                <a:gd name="T0" fmla="*/ 0 w 69"/>
                <a:gd name="T1" fmla="*/ 2381 h 48"/>
                <a:gd name="T2" fmla="*/ 0 w 69"/>
                <a:gd name="T3" fmla="*/ 2381 h 48"/>
                <a:gd name="T4" fmla="*/ 0 w 69"/>
                <a:gd name="T5" fmla="*/ 5556 h 48"/>
                <a:gd name="T6" fmla="*/ 7247 w 69"/>
                <a:gd name="T7" fmla="*/ 9525 h 48"/>
                <a:gd name="T8" fmla="*/ 10468 w 69"/>
                <a:gd name="T9" fmla="*/ 5556 h 48"/>
                <a:gd name="T10" fmla="*/ 14495 w 69"/>
                <a:gd name="T11" fmla="*/ 0 h 48"/>
                <a:gd name="T12" fmla="*/ 4026 w 69"/>
                <a:gd name="T13" fmla="*/ 0 h 48"/>
                <a:gd name="T14" fmla="*/ 0 w 69"/>
                <a:gd name="T15" fmla="*/ 2381 h 48"/>
                <a:gd name="T16" fmla="*/ 0 60000 65536"/>
                <a:gd name="T17" fmla="*/ 0 60000 65536"/>
                <a:gd name="T18" fmla="*/ 0 60000 65536"/>
                <a:gd name="T19" fmla="*/ 0 60000 65536"/>
                <a:gd name="T20" fmla="*/ 0 60000 65536"/>
                <a:gd name="T21" fmla="*/ 0 60000 65536"/>
                <a:gd name="T22" fmla="*/ 0 60000 65536"/>
                <a:gd name="T23" fmla="*/ 0 60000 65536"/>
                <a:gd name="T24" fmla="*/ 0 w 69"/>
                <a:gd name="T25" fmla="*/ 0 h 48"/>
                <a:gd name="T26" fmla="*/ 69 w 69"/>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 h="48">
                  <a:moveTo>
                    <a:pt x="0" y="15"/>
                  </a:moveTo>
                  <a:lnTo>
                    <a:pt x="0" y="15"/>
                  </a:lnTo>
                  <a:lnTo>
                    <a:pt x="0" y="31"/>
                  </a:lnTo>
                  <a:lnTo>
                    <a:pt x="34" y="48"/>
                  </a:lnTo>
                  <a:lnTo>
                    <a:pt x="52" y="31"/>
                  </a:lnTo>
                  <a:lnTo>
                    <a:pt x="69" y="0"/>
                  </a:lnTo>
                  <a:lnTo>
                    <a:pt x="17"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4" name="Freeform 132">
              <a:extLst>
                <a:ext uri="{FF2B5EF4-FFF2-40B4-BE49-F238E27FC236}">
                  <a16:creationId xmlns:a16="http://schemas.microsoft.com/office/drawing/2014/main" id="{944D7F28-EDAD-404A-B2C9-F2CFA515C562}"/>
                </a:ext>
              </a:extLst>
            </p:cNvPr>
            <p:cNvSpPr>
              <a:spLocks/>
            </p:cNvSpPr>
            <p:nvPr>
              <p:custDataLst>
                <p:tags r:id="rId133"/>
              </p:custDataLst>
            </p:nvPr>
          </p:nvSpPr>
          <p:spPr bwMode="auto">
            <a:xfrm>
              <a:off x="10185273" y="3963711"/>
              <a:ext cx="45741" cy="70370"/>
            </a:xfrm>
            <a:custGeom>
              <a:avLst/>
              <a:gdLst>
                <a:gd name="T0" fmla="*/ 0 w 52"/>
                <a:gd name="T1" fmla="*/ 9646 h 79"/>
                <a:gd name="T2" fmla="*/ 0 w 52"/>
                <a:gd name="T3" fmla="*/ 9646 h 79"/>
                <a:gd name="T4" fmla="*/ 0 w 52"/>
                <a:gd name="T5" fmla="*/ 12861 h 79"/>
                <a:gd name="T6" fmla="*/ 3969 w 52"/>
                <a:gd name="T7" fmla="*/ 16076 h 79"/>
                <a:gd name="T8" fmla="*/ 10319 w 52"/>
                <a:gd name="T9" fmla="*/ 0 h 79"/>
                <a:gd name="T10" fmla="*/ 7144 w 52"/>
                <a:gd name="T11" fmla="*/ 0 h 79"/>
                <a:gd name="T12" fmla="*/ 0 w 52"/>
                <a:gd name="T13" fmla="*/ 9646 h 79"/>
                <a:gd name="T14" fmla="*/ 0 60000 65536"/>
                <a:gd name="T15" fmla="*/ 0 60000 65536"/>
                <a:gd name="T16" fmla="*/ 0 60000 65536"/>
                <a:gd name="T17" fmla="*/ 0 60000 65536"/>
                <a:gd name="T18" fmla="*/ 0 60000 65536"/>
                <a:gd name="T19" fmla="*/ 0 60000 65536"/>
                <a:gd name="T20" fmla="*/ 0 60000 65536"/>
                <a:gd name="T21" fmla="*/ 0 w 52"/>
                <a:gd name="T22" fmla="*/ 0 h 79"/>
                <a:gd name="T23" fmla="*/ 52 w 52"/>
                <a:gd name="T24" fmla="*/ 79 h 7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 h="79">
                  <a:moveTo>
                    <a:pt x="0" y="48"/>
                  </a:moveTo>
                  <a:lnTo>
                    <a:pt x="0" y="48"/>
                  </a:lnTo>
                  <a:lnTo>
                    <a:pt x="0" y="63"/>
                  </a:lnTo>
                  <a:lnTo>
                    <a:pt x="17" y="79"/>
                  </a:lnTo>
                  <a:lnTo>
                    <a:pt x="52" y="0"/>
                  </a:lnTo>
                  <a:lnTo>
                    <a:pt x="34" y="0"/>
                  </a:lnTo>
                  <a:lnTo>
                    <a:pt x="0"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5" name="Freeform 133">
              <a:extLst>
                <a:ext uri="{FF2B5EF4-FFF2-40B4-BE49-F238E27FC236}">
                  <a16:creationId xmlns:a16="http://schemas.microsoft.com/office/drawing/2014/main" id="{36342F87-7D85-47CC-9EC6-0F61060F3D92}"/>
                </a:ext>
              </a:extLst>
            </p:cNvPr>
            <p:cNvSpPr>
              <a:spLocks/>
            </p:cNvSpPr>
            <p:nvPr>
              <p:custDataLst>
                <p:tags r:id="rId134"/>
              </p:custDataLst>
            </p:nvPr>
          </p:nvSpPr>
          <p:spPr bwMode="auto">
            <a:xfrm>
              <a:off x="9590645" y="4414080"/>
              <a:ext cx="260369" cy="253332"/>
            </a:xfrm>
            <a:custGeom>
              <a:avLst/>
              <a:gdLst>
                <a:gd name="T0" fmla="*/ 0 w 296"/>
                <a:gd name="T1" fmla="*/ 0 h 288"/>
                <a:gd name="T2" fmla="*/ 0 w 296"/>
                <a:gd name="T3" fmla="*/ 0 h 288"/>
                <a:gd name="T4" fmla="*/ 0 w 296"/>
                <a:gd name="T5" fmla="*/ 3969 h 288"/>
                <a:gd name="T6" fmla="*/ 7144 w 296"/>
                <a:gd name="T7" fmla="*/ 9525 h 288"/>
                <a:gd name="T8" fmla="*/ 14288 w 296"/>
                <a:gd name="T9" fmla="*/ 15875 h 288"/>
                <a:gd name="T10" fmla="*/ 17462 w 296"/>
                <a:gd name="T11" fmla="*/ 19050 h 288"/>
                <a:gd name="T12" fmla="*/ 20637 w 296"/>
                <a:gd name="T13" fmla="*/ 26194 h 288"/>
                <a:gd name="T14" fmla="*/ 27781 w 296"/>
                <a:gd name="T15" fmla="*/ 31750 h 288"/>
                <a:gd name="T16" fmla="*/ 34131 w 296"/>
                <a:gd name="T17" fmla="*/ 44450 h 288"/>
                <a:gd name="T18" fmla="*/ 48419 w 296"/>
                <a:gd name="T19" fmla="*/ 57150 h 288"/>
                <a:gd name="T20" fmla="*/ 55563 w 296"/>
                <a:gd name="T21" fmla="*/ 57150 h 288"/>
                <a:gd name="T22" fmla="*/ 58738 w 296"/>
                <a:gd name="T23" fmla="*/ 44450 h 288"/>
                <a:gd name="T24" fmla="*/ 55563 w 296"/>
                <a:gd name="T25" fmla="*/ 38100 h 288"/>
                <a:gd name="T26" fmla="*/ 52388 w 296"/>
                <a:gd name="T27" fmla="*/ 38100 h 288"/>
                <a:gd name="T28" fmla="*/ 48419 w 296"/>
                <a:gd name="T29" fmla="*/ 31750 h 288"/>
                <a:gd name="T30" fmla="*/ 44450 w 296"/>
                <a:gd name="T31" fmla="*/ 31750 h 288"/>
                <a:gd name="T32" fmla="*/ 44450 w 296"/>
                <a:gd name="T33" fmla="*/ 28575 h 288"/>
                <a:gd name="T34" fmla="*/ 41275 w 296"/>
                <a:gd name="T35" fmla="*/ 26194 h 288"/>
                <a:gd name="T36" fmla="*/ 41275 w 296"/>
                <a:gd name="T37" fmla="*/ 22225 h 288"/>
                <a:gd name="T38" fmla="*/ 30956 w 296"/>
                <a:gd name="T39" fmla="*/ 15875 h 288"/>
                <a:gd name="T40" fmla="*/ 27781 w 296"/>
                <a:gd name="T41" fmla="*/ 15875 h 288"/>
                <a:gd name="T42" fmla="*/ 10319 w 296"/>
                <a:gd name="T43" fmla="*/ 3969 h 288"/>
                <a:gd name="T44" fmla="*/ 0 w 296"/>
                <a:gd name="T45" fmla="*/ 0 h 28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96"/>
                <a:gd name="T70" fmla="*/ 0 h 288"/>
                <a:gd name="T71" fmla="*/ 296 w 296"/>
                <a:gd name="T72" fmla="*/ 288 h 28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96" h="288">
                  <a:moveTo>
                    <a:pt x="0" y="0"/>
                  </a:moveTo>
                  <a:lnTo>
                    <a:pt x="0" y="0"/>
                  </a:lnTo>
                  <a:lnTo>
                    <a:pt x="0" y="18"/>
                  </a:lnTo>
                  <a:lnTo>
                    <a:pt x="35" y="48"/>
                  </a:lnTo>
                  <a:lnTo>
                    <a:pt x="71" y="81"/>
                  </a:lnTo>
                  <a:lnTo>
                    <a:pt x="88" y="96"/>
                  </a:lnTo>
                  <a:lnTo>
                    <a:pt x="106" y="129"/>
                  </a:lnTo>
                  <a:lnTo>
                    <a:pt x="140" y="162"/>
                  </a:lnTo>
                  <a:lnTo>
                    <a:pt x="175" y="225"/>
                  </a:lnTo>
                  <a:lnTo>
                    <a:pt x="244" y="288"/>
                  </a:lnTo>
                  <a:lnTo>
                    <a:pt x="278" y="288"/>
                  </a:lnTo>
                  <a:lnTo>
                    <a:pt x="296" y="225"/>
                  </a:lnTo>
                  <a:lnTo>
                    <a:pt x="278" y="192"/>
                  </a:lnTo>
                  <a:lnTo>
                    <a:pt x="261" y="192"/>
                  </a:lnTo>
                  <a:lnTo>
                    <a:pt x="244" y="162"/>
                  </a:lnTo>
                  <a:lnTo>
                    <a:pt x="227" y="162"/>
                  </a:lnTo>
                  <a:lnTo>
                    <a:pt x="227" y="144"/>
                  </a:lnTo>
                  <a:lnTo>
                    <a:pt x="209" y="129"/>
                  </a:lnTo>
                  <a:lnTo>
                    <a:pt x="209" y="114"/>
                  </a:lnTo>
                  <a:lnTo>
                    <a:pt x="158" y="81"/>
                  </a:lnTo>
                  <a:lnTo>
                    <a:pt x="140" y="81"/>
                  </a:lnTo>
                  <a:lnTo>
                    <a:pt x="54" y="18"/>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6" name="Freeform 134">
              <a:extLst>
                <a:ext uri="{FF2B5EF4-FFF2-40B4-BE49-F238E27FC236}">
                  <a16:creationId xmlns:a16="http://schemas.microsoft.com/office/drawing/2014/main" id="{7291E1A2-E88D-460D-9374-95B83E6AC2BC}"/>
                </a:ext>
              </a:extLst>
            </p:cNvPr>
            <p:cNvSpPr>
              <a:spLocks/>
            </p:cNvSpPr>
            <p:nvPr>
              <p:custDataLst>
                <p:tags r:id="rId135"/>
              </p:custDataLst>
            </p:nvPr>
          </p:nvSpPr>
          <p:spPr bwMode="auto">
            <a:xfrm>
              <a:off x="9835182" y="4667412"/>
              <a:ext cx="212870" cy="56296"/>
            </a:xfrm>
            <a:custGeom>
              <a:avLst/>
              <a:gdLst>
                <a:gd name="T0" fmla="*/ 0 w 242"/>
                <a:gd name="T1" fmla="*/ 3126 h 65"/>
                <a:gd name="T2" fmla="*/ 0 w 242"/>
                <a:gd name="T3" fmla="*/ 3126 h 65"/>
                <a:gd name="T4" fmla="*/ 14288 w 242"/>
                <a:gd name="T5" fmla="*/ 9378 h 65"/>
                <a:gd name="T6" fmla="*/ 48419 w 242"/>
                <a:gd name="T7" fmla="*/ 12505 h 65"/>
                <a:gd name="T8" fmla="*/ 48419 w 242"/>
                <a:gd name="T9" fmla="*/ 9378 h 65"/>
                <a:gd name="T10" fmla="*/ 41275 w 242"/>
                <a:gd name="T11" fmla="*/ 9378 h 65"/>
                <a:gd name="T12" fmla="*/ 38100 w 242"/>
                <a:gd name="T13" fmla="*/ 6252 h 65"/>
                <a:gd name="T14" fmla="*/ 27781 w 242"/>
                <a:gd name="T15" fmla="*/ 3126 h 65"/>
                <a:gd name="T16" fmla="*/ 27781 w 242"/>
                <a:gd name="T17" fmla="*/ 6252 h 65"/>
                <a:gd name="T18" fmla="*/ 20638 w 242"/>
                <a:gd name="T19" fmla="*/ 3126 h 65"/>
                <a:gd name="T20" fmla="*/ 10319 w 242"/>
                <a:gd name="T21" fmla="*/ 0 h 65"/>
                <a:gd name="T22" fmla="*/ 3969 w 242"/>
                <a:gd name="T23" fmla="*/ 0 h 65"/>
                <a:gd name="T24" fmla="*/ 0 w 242"/>
                <a:gd name="T25" fmla="*/ 3126 h 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2"/>
                <a:gd name="T40" fmla="*/ 0 h 65"/>
                <a:gd name="T41" fmla="*/ 242 w 242"/>
                <a:gd name="T42" fmla="*/ 65 h 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2" h="65">
                  <a:moveTo>
                    <a:pt x="0" y="17"/>
                  </a:moveTo>
                  <a:lnTo>
                    <a:pt x="0" y="17"/>
                  </a:lnTo>
                  <a:lnTo>
                    <a:pt x="70" y="48"/>
                  </a:lnTo>
                  <a:lnTo>
                    <a:pt x="242" y="65"/>
                  </a:lnTo>
                  <a:lnTo>
                    <a:pt x="242" y="48"/>
                  </a:lnTo>
                  <a:lnTo>
                    <a:pt x="208" y="48"/>
                  </a:lnTo>
                  <a:lnTo>
                    <a:pt x="191" y="33"/>
                  </a:lnTo>
                  <a:lnTo>
                    <a:pt x="139" y="17"/>
                  </a:lnTo>
                  <a:lnTo>
                    <a:pt x="139" y="33"/>
                  </a:lnTo>
                  <a:lnTo>
                    <a:pt x="104" y="17"/>
                  </a:lnTo>
                  <a:lnTo>
                    <a:pt x="52" y="0"/>
                  </a:lnTo>
                  <a:lnTo>
                    <a:pt x="18" y="0"/>
                  </a:lnTo>
                  <a:lnTo>
                    <a:pt x="0" y="1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07" name="Freeform 135">
              <a:extLst>
                <a:ext uri="{FF2B5EF4-FFF2-40B4-BE49-F238E27FC236}">
                  <a16:creationId xmlns:a16="http://schemas.microsoft.com/office/drawing/2014/main" id="{1F69CC83-A51E-447E-9BB9-8835EB739276}"/>
                </a:ext>
              </a:extLst>
            </p:cNvPr>
            <p:cNvSpPr>
              <a:spLocks/>
            </p:cNvSpPr>
            <p:nvPr>
              <p:custDataLst>
                <p:tags r:id="rId136"/>
              </p:custDataLst>
            </p:nvPr>
          </p:nvSpPr>
          <p:spPr bwMode="auto">
            <a:xfrm>
              <a:off x="10048051" y="4723708"/>
              <a:ext cx="31667" cy="0"/>
            </a:xfrm>
            <a:custGeom>
              <a:avLst/>
              <a:gdLst>
                <a:gd name="T0" fmla="*/ 0 w 37"/>
                <a:gd name="T1" fmla="*/ 0 w 37"/>
                <a:gd name="T2" fmla="*/ 3089 w 37"/>
                <a:gd name="T3" fmla="*/ 6951 w 37"/>
                <a:gd name="T4" fmla="*/ 0 w 37"/>
                <a:gd name="T5" fmla="*/ 0 60000 65536"/>
                <a:gd name="T6" fmla="*/ 0 60000 65536"/>
                <a:gd name="T7" fmla="*/ 0 60000 65536"/>
                <a:gd name="T8" fmla="*/ 0 60000 65536"/>
                <a:gd name="T9" fmla="*/ 0 60000 65536"/>
                <a:gd name="T10" fmla="*/ 0 w 37"/>
                <a:gd name="T11" fmla="*/ 37 w 37"/>
              </a:gdLst>
              <a:ahLst/>
              <a:cxnLst>
                <a:cxn ang="T5">
                  <a:pos x="T0" y="0"/>
                </a:cxn>
                <a:cxn ang="T6">
                  <a:pos x="T1" y="0"/>
                </a:cxn>
                <a:cxn ang="T7">
                  <a:pos x="T2" y="0"/>
                </a:cxn>
                <a:cxn ang="T8">
                  <a:pos x="T3" y="0"/>
                </a:cxn>
                <a:cxn ang="T9">
                  <a:pos x="T4" y="0"/>
                </a:cxn>
              </a:cxnLst>
              <a:rect l="T10" t="0" r="T11" b="0"/>
              <a:pathLst>
                <a:path w="37">
                  <a:moveTo>
                    <a:pt x="0" y="0"/>
                  </a:moveTo>
                  <a:lnTo>
                    <a:pt x="0" y="0"/>
                  </a:lnTo>
                  <a:lnTo>
                    <a:pt x="18" y="0"/>
                  </a:lnTo>
                  <a:lnTo>
                    <a:pt x="37"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8" name="Freeform 136">
              <a:extLst>
                <a:ext uri="{FF2B5EF4-FFF2-40B4-BE49-F238E27FC236}">
                  <a16:creationId xmlns:a16="http://schemas.microsoft.com/office/drawing/2014/main" id="{423ABF24-ACD5-4477-A8B1-7BD024AABE0F}"/>
                </a:ext>
              </a:extLst>
            </p:cNvPr>
            <p:cNvSpPr>
              <a:spLocks/>
            </p:cNvSpPr>
            <p:nvPr>
              <p:custDataLst>
                <p:tags r:id="rId137"/>
              </p:custDataLst>
            </p:nvPr>
          </p:nvSpPr>
          <p:spPr bwMode="auto">
            <a:xfrm>
              <a:off x="9835182" y="4568894"/>
              <a:ext cx="31667" cy="42222"/>
            </a:xfrm>
            <a:custGeom>
              <a:avLst/>
              <a:gdLst>
                <a:gd name="T0" fmla="*/ 0 w 35"/>
                <a:gd name="T1" fmla="*/ 2381 h 48"/>
                <a:gd name="T2" fmla="*/ 0 w 35"/>
                <a:gd name="T3" fmla="*/ 2381 h 48"/>
                <a:gd name="T4" fmla="*/ 4082 w 35"/>
                <a:gd name="T5" fmla="*/ 6350 h 48"/>
                <a:gd name="T6" fmla="*/ 7348 w 35"/>
                <a:gd name="T7" fmla="*/ 9525 h 48"/>
                <a:gd name="T8" fmla="*/ 7348 w 35"/>
                <a:gd name="T9" fmla="*/ 6350 h 48"/>
                <a:gd name="T10" fmla="*/ 4082 w 35"/>
                <a:gd name="T11" fmla="*/ 0 h 48"/>
                <a:gd name="T12" fmla="*/ 0 w 35"/>
                <a:gd name="T13" fmla="*/ 2381 h 48"/>
                <a:gd name="T14" fmla="*/ 0 60000 65536"/>
                <a:gd name="T15" fmla="*/ 0 60000 65536"/>
                <a:gd name="T16" fmla="*/ 0 60000 65536"/>
                <a:gd name="T17" fmla="*/ 0 60000 65536"/>
                <a:gd name="T18" fmla="*/ 0 60000 65536"/>
                <a:gd name="T19" fmla="*/ 0 60000 65536"/>
                <a:gd name="T20" fmla="*/ 0 60000 65536"/>
                <a:gd name="T21" fmla="*/ 0 w 35"/>
                <a:gd name="T22" fmla="*/ 0 h 48"/>
                <a:gd name="T23" fmla="*/ 35 w 35"/>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48">
                  <a:moveTo>
                    <a:pt x="0" y="15"/>
                  </a:moveTo>
                  <a:lnTo>
                    <a:pt x="0" y="15"/>
                  </a:lnTo>
                  <a:lnTo>
                    <a:pt x="18" y="32"/>
                  </a:lnTo>
                  <a:lnTo>
                    <a:pt x="35" y="48"/>
                  </a:lnTo>
                  <a:lnTo>
                    <a:pt x="35" y="32"/>
                  </a:lnTo>
                  <a:lnTo>
                    <a:pt x="18"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09" name="Freeform 137">
              <a:extLst>
                <a:ext uri="{FF2B5EF4-FFF2-40B4-BE49-F238E27FC236}">
                  <a16:creationId xmlns:a16="http://schemas.microsoft.com/office/drawing/2014/main" id="{E4E04430-1BD7-4BE4-9FEF-E7ED29861284}"/>
                </a:ext>
              </a:extLst>
            </p:cNvPr>
            <p:cNvSpPr>
              <a:spLocks/>
            </p:cNvSpPr>
            <p:nvPr>
              <p:custDataLst>
                <p:tags r:id="rId138"/>
              </p:custDataLst>
            </p:nvPr>
          </p:nvSpPr>
          <p:spPr bwMode="auto">
            <a:xfrm>
              <a:off x="9880923" y="4597042"/>
              <a:ext cx="15834" cy="14074"/>
            </a:xfrm>
            <a:custGeom>
              <a:avLst/>
              <a:gdLst>
                <a:gd name="T0" fmla="*/ 0 w 18"/>
                <a:gd name="T1" fmla="*/ 3175 h 16"/>
                <a:gd name="T2" fmla="*/ 0 w 18"/>
                <a:gd name="T3" fmla="*/ 3175 h 16"/>
                <a:gd name="T4" fmla="*/ 3969 w 18"/>
                <a:gd name="T5" fmla="*/ 3175 h 16"/>
                <a:gd name="T6" fmla="*/ 3969 w 18"/>
                <a:gd name="T7" fmla="*/ 0 h 16"/>
                <a:gd name="T8" fmla="*/ 0 w 18"/>
                <a:gd name="T9" fmla="*/ 0 h 16"/>
                <a:gd name="T10" fmla="*/ 0 w 18"/>
                <a:gd name="T11" fmla="*/ 3175 h 16"/>
                <a:gd name="T12" fmla="*/ 0 60000 65536"/>
                <a:gd name="T13" fmla="*/ 0 60000 65536"/>
                <a:gd name="T14" fmla="*/ 0 60000 65536"/>
                <a:gd name="T15" fmla="*/ 0 60000 65536"/>
                <a:gd name="T16" fmla="*/ 0 60000 65536"/>
                <a:gd name="T17" fmla="*/ 0 60000 65536"/>
                <a:gd name="T18" fmla="*/ 0 w 18"/>
                <a:gd name="T19" fmla="*/ 0 h 16"/>
                <a:gd name="T20" fmla="*/ 18 w 1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18" h="16">
                  <a:moveTo>
                    <a:pt x="0" y="16"/>
                  </a:moveTo>
                  <a:lnTo>
                    <a:pt x="0" y="16"/>
                  </a:lnTo>
                  <a:lnTo>
                    <a:pt x="18" y="16"/>
                  </a:lnTo>
                  <a:lnTo>
                    <a:pt x="18" y="0"/>
                  </a:lnTo>
                  <a:lnTo>
                    <a:pt x="0" y="0"/>
                  </a:lnTo>
                  <a:lnTo>
                    <a:pt x="0"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10" name="Freeform 138">
              <a:extLst>
                <a:ext uri="{FF2B5EF4-FFF2-40B4-BE49-F238E27FC236}">
                  <a16:creationId xmlns:a16="http://schemas.microsoft.com/office/drawing/2014/main" id="{88BEA22F-85EF-4026-8C88-35CBC9502FB8}"/>
                </a:ext>
              </a:extLst>
            </p:cNvPr>
            <p:cNvSpPr>
              <a:spLocks/>
            </p:cNvSpPr>
            <p:nvPr>
              <p:custDataLst>
                <p:tags r:id="rId139"/>
              </p:custDataLst>
            </p:nvPr>
          </p:nvSpPr>
          <p:spPr bwMode="auto">
            <a:xfrm>
              <a:off x="10185273" y="4118526"/>
              <a:ext cx="91481" cy="126666"/>
            </a:xfrm>
            <a:custGeom>
              <a:avLst/>
              <a:gdLst>
                <a:gd name="T0" fmla="*/ 0 w 104"/>
                <a:gd name="T1" fmla="*/ 13588 h 143"/>
                <a:gd name="T2" fmla="*/ 0 w 104"/>
                <a:gd name="T3" fmla="*/ 13588 h 143"/>
                <a:gd name="T4" fmla="*/ 0 w 104"/>
                <a:gd name="T5" fmla="*/ 19183 h 143"/>
                <a:gd name="T6" fmla="*/ 3969 w 104"/>
                <a:gd name="T7" fmla="*/ 23180 h 143"/>
                <a:gd name="T8" fmla="*/ 3969 w 104"/>
                <a:gd name="T9" fmla="*/ 25578 h 143"/>
                <a:gd name="T10" fmla="*/ 7144 w 104"/>
                <a:gd name="T11" fmla="*/ 25578 h 143"/>
                <a:gd name="T12" fmla="*/ 10319 w 104"/>
                <a:gd name="T13" fmla="*/ 25578 h 143"/>
                <a:gd name="T14" fmla="*/ 14288 w 104"/>
                <a:gd name="T15" fmla="*/ 28775 h 143"/>
                <a:gd name="T16" fmla="*/ 14288 w 104"/>
                <a:gd name="T17" fmla="*/ 25578 h 143"/>
                <a:gd name="T18" fmla="*/ 17463 w 104"/>
                <a:gd name="T19" fmla="*/ 28775 h 143"/>
                <a:gd name="T20" fmla="*/ 20638 w 104"/>
                <a:gd name="T21" fmla="*/ 28775 h 143"/>
                <a:gd name="T22" fmla="*/ 17463 w 104"/>
                <a:gd name="T23" fmla="*/ 25578 h 143"/>
                <a:gd name="T24" fmla="*/ 20638 w 104"/>
                <a:gd name="T25" fmla="*/ 25578 h 143"/>
                <a:gd name="T26" fmla="*/ 14288 w 104"/>
                <a:gd name="T27" fmla="*/ 23180 h 143"/>
                <a:gd name="T28" fmla="*/ 10319 w 104"/>
                <a:gd name="T29" fmla="*/ 25578 h 143"/>
                <a:gd name="T30" fmla="*/ 7144 w 104"/>
                <a:gd name="T31" fmla="*/ 19183 h 143"/>
                <a:gd name="T32" fmla="*/ 14288 w 104"/>
                <a:gd name="T33" fmla="*/ 9592 h 143"/>
                <a:gd name="T34" fmla="*/ 10319 w 104"/>
                <a:gd name="T35" fmla="*/ 6394 h 143"/>
                <a:gd name="T36" fmla="*/ 14288 w 104"/>
                <a:gd name="T37" fmla="*/ 0 h 143"/>
                <a:gd name="T38" fmla="*/ 10319 w 104"/>
                <a:gd name="T39" fmla="*/ 3997 h 143"/>
                <a:gd name="T40" fmla="*/ 3969 w 104"/>
                <a:gd name="T41" fmla="*/ 0 h 143"/>
                <a:gd name="T42" fmla="*/ 0 w 104"/>
                <a:gd name="T43" fmla="*/ 13588 h 14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4"/>
                <a:gd name="T67" fmla="*/ 0 h 143"/>
                <a:gd name="T68" fmla="*/ 104 w 104"/>
                <a:gd name="T69" fmla="*/ 143 h 14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4" h="143">
                  <a:moveTo>
                    <a:pt x="0" y="65"/>
                  </a:moveTo>
                  <a:lnTo>
                    <a:pt x="0" y="65"/>
                  </a:lnTo>
                  <a:lnTo>
                    <a:pt x="0" y="95"/>
                  </a:lnTo>
                  <a:lnTo>
                    <a:pt x="17" y="113"/>
                  </a:lnTo>
                  <a:lnTo>
                    <a:pt x="17" y="128"/>
                  </a:lnTo>
                  <a:lnTo>
                    <a:pt x="34" y="128"/>
                  </a:lnTo>
                  <a:lnTo>
                    <a:pt x="52" y="128"/>
                  </a:lnTo>
                  <a:lnTo>
                    <a:pt x="69" y="143"/>
                  </a:lnTo>
                  <a:lnTo>
                    <a:pt x="69" y="128"/>
                  </a:lnTo>
                  <a:lnTo>
                    <a:pt x="86" y="143"/>
                  </a:lnTo>
                  <a:lnTo>
                    <a:pt x="104" y="143"/>
                  </a:lnTo>
                  <a:lnTo>
                    <a:pt x="86" y="128"/>
                  </a:lnTo>
                  <a:lnTo>
                    <a:pt x="104" y="128"/>
                  </a:lnTo>
                  <a:lnTo>
                    <a:pt x="69" y="113"/>
                  </a:lnTo>
                  <a:lnTo>
                    <a:pt x="52" y="128"/>
                  </a:lnTo>
                  <a:lnTo>
                    <a:pt x="34" y="95"/>
                  </a:lnTo>
                  <a:lnTo>
                    <a:pt x="69" y="48"/>
                  </a:lnTo>
                  <a:lnTo>
                    <a:pt x="52" y="32"/>
                  </a:lnTo>
                  <a:lnTo>
                    <a:pt x="69" y="0"/>
                  </a:lnTo>
                  <a:lnTo>
                    <a:pt x="52" y="17"/>
                  </a:lnTo>
                  <a:lnTo>
                    <a:pt x="17" y="0"/>
                  </a:lnTo>
                  <a:lnTo>
                    <a:pt x="0" y="6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11" name="Freeform 139">
              <a:extLst>
                <a:ext uri="{FF2B5EF4-FFF2-40B4-BE49-F238E27FC236}">
                  <a16:creationId xmlns:a16="http://schemas.microsoft.com/office/drawing/2014/main" id="{CD0A784A-B132-48CC-B386-0544405A9610}"/>
                </a:ext>
              </a:extLst>
            </p:cNvPr>
            <p:cNvSpPr>
              <a:spLocks/>
            </p:cNvSpPr>
            <p:nvPr>
              <p:custDataLst>
                <p:tags r:id="rId140"/>
              </p:custDataLst>
            </p:nvPr>
          </p:nvSpPr>
          <p:spPr bwMode="auto">
            <a:xfrm>
              <a:off x="10111384" y="4287414"/>
              <a:ext cx="59815" cy="70370"/>
            </a:xfrm>
            <a:custGeom>
              <a:avLst/>
              <a:gdLst>
                <a:gd name="T0" fmla="*/ 0 w 69"/>
                <a:gd name="T1" fmla="*/ 15679 h 81"/>
                <a:gd name="T2" fmla="*/ 0 w 69"/>
                <a:gd name="T3" fmla="*/ 15679 h 81"/>
                <a:gd name="T4" fmla="*/ 13298 w 69"/>
                <a:gd name="T5" fmla="*/ 3136 h 81"/>
                <a:gd name="T6" fmla="*/ 13298 w 69"/>
                <a:gd name="T7" fmla="*/ 0 h 81"/>
                <a:gd name="T8" fmla="*/ 0 w 69"/>
                <a:gd name="T9" fmla="*/ 15679 h 81"/>
                <a:gd name="T10" fmla="*/ 0 60000 65536"/>
                <a:gd name="T11" fmla="*/ 0 60000 65536"/>
                <a:gd name="T12" fmla="*/ 0 60000 65536"/>
                <a:gd name="T13" fmla="*/ 0 60000 65536"/>
                <a:gd name="T14" fmla="*/ 0 60000 65536"/>
                <a:gd name="T15" fmla="*/ 0 w 69"/>
                <a:gd name="T16" fmla="*/ 0 h 81"/>
                <a:gd name="T17" fmla="*/ 69 w 69"/>
                <a:gd name="T18" fmla="*/ 81 h 81"/>
              </a:gdLst>
              <a:ahLst/>
              <a:cxnLst>
                <a:cxn ang="T10">
                  <a:pos x="T0" y="T1"/>
                </a:cxn>
                <a:cxn ang="T11">
                  <a:pos x="T2" y="T3"/>
                </a:cxn>
                <a:cxn ang="T12">
                  <a:pos x="T4" y="T5"/>
                </a:cxn>
                <a:cxn ang="T13">
                  <a:pos x="T6" y="T7"/>
                </a:cxn>
                <a:cxn ang="T14">
                  <a:pos x="T8" y="T9"/>
                </a:cxn>
              </a:cxnLst>
              <a:rect l="T15" t="T16" r="T17" b="T18"/>
              <a:pathLst>
                <a:path w="69" h="81">
                  <a:moveTo>
                    <a:pt x="0" y="81"/>
                  </a:moveTo>
                  <a:lnTo>
                    <a:pt x="0" y="81"/>
                  </a:lnTo>
                  <a:lnTo>
                    <a:pt x="69" y="18"/>
                  </a:lnTo>
                  <a:lnTo>
                    <a:pt x="69" y="0"/>
                  </a:lnTo>
                  <a:lnTo>
                    <a:pt x="0" y="81"/>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12" name="Freeform 140">
              <a:extLst>
                <a:ext uri="{FF2B5EF4-FFF2-40B4-BE49-F238E27FC236}">
                  <a16:creationId xmlns:a16="http://schemas.microsoft.com/office/drawing/2014/main" id="{20A2CE2E-310E-4E3C-A95A-D1FFCB57E2E8}"/>
                </a:ext>
              </a:extLst>
            </p:cNvPr>
            <p:cNvSpPr>
              <a:spLocks/>
            </p:cNvSpPr>
            <p:nvPr>
              <p:custDataLst>
                <p:tags r:id="rId141"/>
              </p:custDataLst>
            </p:nvPr>
          </p:nvSpPr>
          <p:spPr bwMode="auto">
            <a:xfrm>
              <a:off x="10185273" y="4245192"/>
              <a:ext cx="31667" cy="28148"/>
            </a:xfrm>
            <a:custGeom>
              <a:avLst/>
              <a:gdLst>
                <a:gd name="T0" fmla="*/ 0 w 36"/>
                <a:gd name="T1" fmla="*/ 0 h 33"/>
                <a:gd name="T2" fmla="*/ 0 w 36"/>
                <a:gd name="T3" fmla="*/ 0 h 33"/>
                <a:gd name="T4" fmla="*/ 7144 w 36"/>
                <a:gd name="T5" fmla="*/ 6158 h 33"/>
                <a:gd name="T6" fmla="*/ 7144 w 36"/>
                <a:gd name="T7" fmla="*/ 3079 h 33"/>
                <a:gd name="T8" fmla="*/ 7144 w 36"/>
                <a:gd name="T9" fmla="*/ 0 h 33"/>
                <a:gd name="T10" fmla="*/ 0 w 36"/>
                <a:gd name="T11" fmla="*/ 0 h 33"/>
                <a:gd name="T12" fmla="*/ 0 60000 65536"/>
                <a:gd name="T13" fmla="*/ 0 60000 65536"/>
                <a:gd name="T14" fmla="*/ 0 60000 65536"/>
                <a:gd name="T15" fmla="*/ 0 60000 65536"/>
                <a:gd name="T16" fmla="*/ 0 60000 65536"/>
                <a:gd name="T17" fmla="*/ 0 60000 65536"/>
                <a:gd name="T18" fmla="*/ 0 w 36"/>
                <a:gd name="T19" fmla="*/ 0 h 33"/>
                <a:gd name="T20" fmla="*/ 36 w 36"/>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6" h="33">
                  <a:moveTo>
                    <a:pt x="0" y="0"/>
                  </a:moveTo>
                  <a:lnTo>
                    <a:pt x="0" y="0"/>
                  </a:lnTo>
                  <a:lnTo>
                    <a:pt x="36" y="33"/>
                  </a:lnTo>
                  <a:lnTo>
                    <a:pt x="36" y="18"/>
                  </a:lnTo>
                  <a:lnTo>
                    <a:pt x="36"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13" name="Freeform 141">
              <a:extLst>
                <a:ext uri="{FF2B5EF4-FFF2-40B4-BE49-F238E27FC236}">
                  <a16:creationId xmlns:a16="http://schemas.microsoft.com/office/drawing/2014/main" id="{BB01A2EF-FF18-4F1D-BFD0-703F848750E9}"/>
                </a:ext>
              </a:extLst>
            </p:cNvPr>
            <p:cNvSpPr>
              <a:spLocks/>
            </p:cNvSpPr>
            <p:nvPr>
              <p:custDataLst>
                <p:tags r:id="rId142"/>
              </p:custDataLst>
            </p:nvPr>
          </p:nvSpPr>
          <p:spPr bwMode="auto">
            <a:xfrm>
              <a:off x="10231013" y="4273340"/>
              <a:ext cx="61574" cy="70370"/>
            </a:xfrm>
            <a:custGeom>
              <a:avLst/>
              <a:gdLst>
                <a:gd name="T0" fmla="*/ 0 w 71"/>
                <a:gd name="T1" fmla="*/ 6272 h 81"/>
                <a:gd name="T2" fmla="*/ 0 w 71"/>
                <a:gd name="T3" fmla="*/ 6272 h 81"/>
                <a:gd name="T4" fmla="*/ 3130 w 71"/>
                <a:gd name="T5" fmla="*/ 6272 h 81"/>
                <a:gd name="T6" fmla="*/ 3130 w 71"/>
                <a:gd name="T7" fmla="*/ 9407 h 81"/>
                <a:gd name="T8" fmla="*/ 7043 w 71"/>
                <a:gd name="T9" fmla="*/ 15679 h 81"/>
                <a:gd name="T10" fmla="*/ 7043 w 71"/>
                <a:gd name="T11" fmla="*/ 11759 h 81"/>
                <a:gd name="T12" fmla="*/ 7043 w 71"/>
                <a:gd name="T13" fmla="*/ 9407 h 81"/>
                <a:gd name="T14" fmla="*/ 13304 w 71"/>
                <a:gd name="T15" fmla="*/ 11759 h 81"/>
                <a:gd name="T16" fmla="*/ 13304 w 71"/>
                <a:gd name="T17" fmla="*/ 9407 h 81"/>
                <a:gd name="T18" fmla="*/ 10174 w 71"/>
                <a:gd name="T19" fmla="*/ 9407 h 81"/>
                <a:gd name="T20" fmla="*/ 10174 w 71"/>
                <a:gd name="T21" fmla="*/ 2352 h 81"/>
                <a:gd name="T22" fmla="*/ 7043 w 71"/>
                <a:gd name="T23" fmla="*/ 6272 h 81"/>
                <a:gd name="T24" fmla="*/ 7043 w 71"/>
                <a:gd name="T25" fmla="*/ 2352 h 81"/>
                <a:gd name="T26" fmla="*/ 3130 w 71"/>
                <a:gd name="T27" fmla="*/ 0 h 81"/>
                <a:gd name="T28" fmla="*/ 0 w 71"/>
                <a:gd name="T29" fmla="*/ 0 h 81"/>
                <a:gd name="T30" fmla="*/ 0 w 71"/>
                <a:gd name="T31" fmla="*/ 6272 h 8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1"/>
                <a:gd name="T49" fmla="*/ 0 h 81"/>
                <a:gd name="T50" fmla="*/ 71 w 71"/>
                <a:gd name="T51" fmla="*/ 81 h 8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1" h="81">
                  <a:moveTo>
                    <a:pt x="0" y="33"/>
                  </a:moveTo>
                  <a:lnTo>
                    <a:pt x="0" y="33"/>
                  </a:lnTo>
                  <a:lnTo>
                    <a:pt x="19" y="33"/>
                  </a:lnTo>
                  <a:lnTo>
                    <a:pt x="19" y="48"/>
                  </a:lnTo>
                  <a:lnTo>
                    <a:pt x="36" y="81"/>
                  </a:lnTo>
                  <a:lnTo>
                    <a:pt x="36" y="63"/>
                  </a:lnTo>
                  <a:lnTo>
                    <a:pt x="36" y="48"/>
                  </a:lnTo>
                  <a:lnTo>
                    <a:pt x="71" y="63"/>
                  </a:lnTo>
                  <a:lnTo>
                    <a:pt x="71" y="48"/>
                  </a:lnTo>
                  <a:lnTo>
                    <a:pt x="53" y="48"/>
                  </a:lnTo>
                  <a:lnTo>
                    <a:pt x="53" y="15"/>
                  </a:lnTo>
                  <a:lnTo>
                    <a:pt x="36" y="33"/>
                  </a:lnTo>
                  <a:lnTo>
                    <a:pt x="36" y="15"/>
                  </a:lnTo>
                  <a:lnTo>
                    <a:pt x="19" y="0"/>
                  </a:lnTo>
                  <a:lnTo>
                    <a:pt x="0" y="0"/>
                  </a:lnTo>
                  <a:lnTo>
                    <a:pt x="0"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14" name="Freeform 142">
              <a:extLst>
                <a:ext uri="{FF2B5EF4-FFF2-40B4-BE49-F238E27FC236}">
                  <a16:creationId xmlns:a16="http://schemas.microsoft.com/office/drawing/2014/main" id="{7C3462A3-9284-4435-882F-6045388444D7}"/>
                </a:ext>
              </a:extLst>
            </p:cNvPr>
            <p:cNvSpPr>
              <a:spLocks/>
            </p:cNvSpPr>
            <p:nvPr>
              <p:custDataLst>
                <p:tags r:id="rId143"/>
              </p:custDataLst>
            </p:nvPr>
          </p:nvSpPr>
          <p:spPr bwMode="auto">
            <a:xfrm>
              <a:off x="10231013" y="4315562"/>
              <a:ext cx="107315" cy="98518"/>
            </a:xfrm>
            <a:custGeom>
              <a:avLst/>
              <a:gdLst>
                <a:gd name="T0" fmla="*/ 0 w 123"/>
                <a:gd name="T1" fmla="*/ 16819 h 111"/>
                <a:gd name="T2" fmla="*/ 0 w 123"/>
                <a:gd name="T3" fmla="*/ 16819 h 111"/>
                <a:gd name="T4" fmla="*/ 3149 w 123"/>
                <a:gd name="T5" fmla="*/ 12814 h 111"/>
                <a:gd name="T6" fmla="*/ 7086 w 123"/>
                <a:gd name="T7" fmla="*/ 12814 h 111"/>
                <a:gd name="T8" fmla="*/ 10235 w 123"/>
                <a:gd name="T9" fmla="*/ 12814 h 111"/>
                <a:gd name="T10" fmla="*/ 13384 w 123"/>
                <a:gd name="T11" fmla="*/ 12814 h 111"/>
                <a:gd name="T12" fmla="*/ 10235 w 123"/>
                <a:gd name="T13" fmla="*/ 19222 h 111"/>
                <a:gd name="T14" fmla="*/ 17321 w 123"/>
                <a:gd name="T15" fmla="*/ 22425 h 111"/>
                <a:gd name="T16" fmla="*/ 20470 w 123"/>
                <a:gd name="T17" fmla="*/ 19222 h 111"/>
                <a:gd name="T18" fmla="*/ 17321 w 123"/>
                <a:gd name="T19" fmla="*/ 16819 h 111"/>
                <a:gd name="T20" fmla="*/ 20470 w 123"/>
                <a:gd name="T21" fmla="*/ 12814 h 111"/>
                <a:gd name="T22" fmla="*/ 23619 w 123"/>
                <a:gd name="T23" fmla="*/ 19222 h 111"/>
                <a:gd name="T24" fmla="*/ 23619 w 123"/>
                <a:gd name="T25" fmla="*/ 12814 h 111"/>
                <a:gd name="T26" fmla="*/ 23619 w 123"/>
                <a:gd name="T27" fmla="*/ 7208 h 111"/>
                <a:gd name="T28" fmla="*/ 17321 w 123"/>
                <a:gd name="T29" fmla="*/ 0 h 111"/>
                <a:gd name="T30" fmla="*/ 17321 w 123"/>
                <a:gd name="T31" fmla="*/ 7208 h 111"/>
                <a:gd name="T32" fmla="*/ 13384 w 123"/>
                <a:gd name="T33" fmla="*/ 7208 h 111"/>
                <a:gd name="T34" fmla="*/ 10235 w 123"/>
                <a:gd name="T35" fmla="*/ 9611 h 111"/>
                <a:gd name="T36" fmla="*/ 7086 w 123"/>
                <a:gd name="T37" fmla="*/ 7208 h 111"/>
                <a:gd name="T38" fmla="*/ 0 w 123"/>
                <a:gd name="T39" fmla="*/ 12814 h 111"/>
                <a:gd name="T40" fmla="*/ 0 w 123"/>
                <a:gd name="T41" fmla="*/ 16819 h 1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3"/>
                <a:gd name="T64" fmla="*/ 0 h 111"/>
                <a:gd name="T65" fmla="*/ 123 w 123"/>
                <a:gd name="T66" fmla="*/ 111 h 11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3" h="111">
                  <a:moveTo>
                    <a:pt x="0" y="81"/>
                  </a:moveTo>
                  <a:lnTo>
                    <a:pt x="0" y="81"/>
                  </a:lnTo>
                  <a:lnTo>
                    <a:pt x="19" y="63"/>
                  </a:lnTo>
                  <a:lnTo>
                    <a:pt x="36" y="63"/>
                  </a:lnTo>
                  <a:lnTo>
                    <a:pt x="53" y="63"/>
                  </a:lnTo>
                  <a:lnTo>
                    <a:pt x="71" y="63"/>
                  </a:lnTo>
                  <a:lnTo>
                    <a:pt x="53" y="96"/>
                  </a:lnTo>
                  <a:lnTo>
                    <a:pt x="88" y="111"/>
                  </a:lnTo>
                  <a:lnTo>
                    <a:pt x="105" y="96"/>
                  </a:lnTo>
                  <a:lnTo>
                    <a:pt x="88" y="81"/>
                  </a:lnTo>
                  <a:lnTo>
                    <a:pt x="105" y="63"/>
                  </a:lnTo>
                  <a:lnTo>
                    <a:pt x="123" y="96"/>
                  </a:lnTo>
                  <a:lnTo>
                    <a:pt x="123" y="63"/>
                  </a:lnTo>
                  <a:lnTo>
                    <a:pt x="123" y="33"/>
                  </a:lnTo>
                  <a:lnTo>
                    <a:pt x="88" y="0"/>
                  </a:lnTo>
                  <a:lnTo>
                    <a:pt x="88" y="33"/>
                  </a:lnTo>
                  <a:lnTo>
                    <a:pt x="71" y="33"/>
                  </a:lnTo>
                  <a:lnTo>
                    <a:pt x="53" y="48"/>
                  </a:lnTo>
                  <a:lnTo>
                    <a:pt x="36" y="33"/>
                  </a:lnTo>
                  <a:lnTo>
                    <a:pt x="0" y="63"/>
                  </a:lnTo>
                  <a:lnTo>
                    <a:pt x="0" y="81"/>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15" name="Line 143">
              <a:extLst>
                <a:ext uri="{FF2B5EF4-FFF2-40B4-BE49-F238E27FC236}">
                  <a16:creationId xmlns:a16="http://schemas.microsoft.com/office/drawing/2014/main" id="{CEB14039-A93A-423C-A2D7-98D3D2B6091F}"/>
                </a:ext>
              </a:extLst>
            </p:cNvPr>
            <p:cNvSpPr>
              <a:spLocks noChangeShapeType="1"/>
            </p:cNvSpPr>
            <p:nvPr>
              <p:custDataLst>
                <p:tags r:id="rId144"/>
              </p:custDataLst>
            </p:nvPr>
          </p:nvSpPr>
          <p:spPr bwMode="auto">
            <a:xfrm>
              <a:off x="9537868" y="4266303"/>
              <a:ext cx="0" cy="14074"/>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216" name="Line 144">
              <a:extLst>
                <a:ext uri="{FF2B5EF4-FFF2-40B4-BE49-F238E27FC236}">
                  <a16:creationId xmlns:a16="http://schemas.microsoft.com/office/drawing/2014/main" id="{5BB57B7F-96E7-4BE3-ABCC-E4E0C2BD0A15}"/>
                </a:ext>
              </a:extLst>
            </p:cNvPr>
            <p:cNvSpPr>
              <a:spLocks noChangeShapeType="1"/>
            </p:cNvSpPr>
            <p:nvPr>
              <p:custDataLst>
                <p:tags r:id="rId145"/>
              </p:custDataLst>
            </p:nvPr>
          </p:nvSpPr>
          <p:spPr bwMode="auto">
            <a:xfrm flipV="1">
              <a:off x="10377032" y="3928526"/>
              <a:ext cx="14074" cy="42222"/>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217" name="Line 145">
              <a:extLst>
                <a:ext uri="{FF2B5EF4-FFF2-40B4-BE49-F238E27FC236}">
                  <a16:creationId xmlns:a16="http://schemas.microsoft.com/office/drawing/2014/main" id="{FA7BBF35-0F20-4392-9C00-938E1B3A6141}"/>
                </a:ext>
              </a:extLst>
            </p:cNvPr>
            <p:cNvSpPr>
              <a:spLocks noChangeShapeType="1"/>
            </p:cNvSpPr>
            <p:nvPr>
              <p:custDataLst>
                <p:tags r:id="rId146"/>
              </p:custDataLst>
            </p:nvPr>
          </p:nvSpPr>
          <p:spPr bwMode="auto">
            <a:xfrm flipV="1">
              <a:off x="10413976" y="3893341"/>
              <a:ext cx="0" cy="28148"/>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218" name="Freeform 146">
              <a:extLst>
                <a:ext uri="{FF2B5EF4-FFF2-40B4-BE49-F238E27FC236}">
                  <a16:creationId xmlns:a16="http://schemas.microsoft.com/office/drawing/2014/main" id="{A570A68D-28AC-4F7C-B028-1B149DC25689}"/>
                </a:ext>
              </a:extLst>
            </p:cNvPr>
            <p:cNvSpPr>
              <a:spLocks/>
            </p:cNvSpPr>
            <p:nvPr>
              <p:custDataLst>
                <p:tags r:id="rId147"/>
              </p:custDataLst>
            </p:nvPr>
          </p:nvSpPr>
          <p:spPr bwMode="auto">
            <a:xfrm>
              <a:off x="10292588" y="4259266"/>
              <a:ext cx="31667" cy="56296"/>
            </a:xfrm>
            <a:custGeom>
              <a:avLst/>
              <a:gdLst>
                <a:gd name="T0" fmla="*/ 0 w 34"/>
                <a:gd name="T1" fmla="*/ 0 h 63"/>
                <a:gd name="T2" fmla="*/ 0 w 34"/>
                <a:gd name="T3" fmla="*/ 0 h 63"/>
                <a:gd name="T4" fmla="*/ 4202 w 34"/>
                <a:gd name="T5" fmla="*/ 3225 h 63"/>
                <a:gd name="T6" fmla="*/ 0 w 34"/>
                <a:gd name="T7" fmla="*/ 6451 h 63"/>
                <a:gd name="T8" fmla="*/ 0 w 34"/>
                <a:gd name="T9" fmla="*/ 9676 h 63"/>
                <a:gd name="T10" fmla="*/ 0 w 34"/>
                <a:gd name="T11" fmla="*/ 12902 h 63"/>
                <a:gd name="T12" fmla="*/ 4202 w 34"/>
                <a:gd name="T13" fmla="*/ 12902 h 63"/>
                <a:gd name="T14" fmla="*/ 4202 w 34"/>
                <a:gd name="T15" fmla="*/ 6451 h 63"/>
                <a:gd name="T16" fmla="*/ 8404 w 34"/>
                <a:gd name="T17" fmla="*/ 6451 h 63"/>
                <a:gd name="T18" fmla="*/ 4202 w 34"/>
                <a:gd name="T19" fmla="*/ 3225 h 63"/>
                <a:gd name="T20" fmla="*/ 4202 w 34"/>
                <a:gd name="T21" fmla="*/ 0 h 63"/>
                <a:gd name="T22" fmla="*/ 0 w 34"/>
                <a:gd name="T23" fmla="*/ 0 h 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
                <a:gd name="T37" fmla="*/ 0 h 63"/>
                <a:gd name="T38" fmla="*/ 34 w 34"/>
                <a:gd name="T39" fmla="*/ 63 h 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 h="63">
                  <a:moveTo>
                    <a:pt x="0" y="0"/>
                  </a:moveTo>
                  <a:lnTo>
                    <a:pt x="0" y="0"/>
                  </a:lnTo>
                  <a:lnTo>
                    <a:pt x="17" y="15"/>
                  </a:lnTo>
                  <a:lnTo>
                    <a:pt x="0" y="30"/>
                  </a:lnTo>
                  <a:lnTo>
                    <a:pt x="0" y="48"/>
                  </a:lnTo>
                  <a:lnTo>
                    <a:pt x="0" y="63"/>
                  </a:lnTo>
                  <a:lnTo>
                    <a:pt x="17" y="63"/>
                  </a:lnTo>
                  <a:lnTo>
                    <a:pt x="17" y="30"/>
                  </a:lnTo>
                  <a:lnTo>
                    <a:pt x="34" y="30"/>
                  </a:lnTo>
                  <a:lnTo>
                    <a:pt x="17" y="15"/>
                  </a:lnTo>
                  <a:lnTo>
                    <a:pt x="17"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19" name="Freeform 147">
              <a:extLst>
                <a:ext uri="{FF2B5EF4-FFF2-40B4-BE49-F238E27FC236}">
                  <a16:creationId xmlns:a16="http://schemas.microsoft.com/office/drawing/2014/main" id="{B4220D81-A836-482B-AE75-C717205363CD}"/>
                </a:ext>
              </a:extLst>
            </p:cNvPr>
            <p:cNvSpPr>
              <a:spLocks/>
            </p:cNvSpPr>
            <p:nvPr>
              <p:custDataLst>
                <p:tags r:id="rId148"/>
              </p:custDataLst>
            </p:nvPr>
          </p:nvSpPr>
          <p:spPr bwMode="auto">
            <a:xfrm>
              <a:off x="9763052" y="4217044"/>
              <a:ext cx="116111" cy="82685"/>
            </a:xfrm>
            <a:custGeom>
              <a:avLst/>
              <a:gdLst>
                <a:gd name="T0" fmla="*/ 2922 w 251"/>
                <a:gd name="T1" fmla="*/ 5543 h 175"/>
                <a:gd name="T2" fmla="*/ 2922 w 251"/>
                <a:gd name="T3" fmla="*/ 5543 h 175"/>
                <a:gd name="T4" fmla="*/ 4592 w 251"/>
                <a:gd name="T5" fmla="*/ 4264 h 175"/>
                <a:gd name="T6" fmla="*/ 5427 w 251"/>
                <a:gd name="T7" fmla="*/ 3411 h 175"/>
                <a:gd name="T8" fmla="*/ 7096 w 251"/>
                <a:gd name="T9" fmla="*/ 2558 h 175"/>
                <a:gd name="T10" fmla="*/ 7096 w 251"/>
                <a:gd name="T11" fmla="*/ 0 h 175"/>
                <a:gd name="T12" fmla="*/ 5427 w 251"/>
                <a:gd name="T13" fmla="*/ 0 h 175"/>
                <a:gd name="T14" fmla="*/ 5427 w 251"/>
                <a:gd name="T15" fmla="*/ 853 h 175"/>
                <a:gd name="T16" fmla="*/ 4592 w 251"/>
                <a:gd name="T17" fmla="*/ 0 h 175"/>
                <a:gd name="T18" fmla="*/ 835 w 251"/>
                <a:gd name="T19" fmla="*/ 0 h 175"/>
                <a:gd name="T20" fmla="*/ 0 w 251"/>
                <a:gd name="T21" fmla="*/ 1705 h 175"/>
                <a:gd name="T22" fmla="*/ 835 w 251"/>
                <a:gd name="T23" fmla="*/ 3411 h 175"/>
                <a:gd name="T24" fmla="*/ 835 w 251"/>
                <a:gd name="T25" fmla="*/ 4264 h 175"/>
                <a:gd name="T26" fmla="*/ 835 w 251"/>
                <a:gd name="T27" fmla="*/ 5543 h 175"/>
                <a:gd name="T28" fmla="*/ 2922 w 251"/>
                <a:gd name="T29" fmla="*/ 5543 h 17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1"/>
                <a:gd name="T46" fmla="*/ 0 h 175"/>
                <a:gd name="T47" fmla="*/ 251 w 251"/>
                <a:gd name="T48" fmla="*/ 175 h 17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1" h="175">
                  <a:moveTo>
                    <a:pt x="94" y="175"/>
                  </a:moveTo>
                  <a:lnTo>
                    <a:pt x="94" y="175"/>
                  </a:lnTo>
                  <a:lnTo>
                    <a:pt x="157" y="146"/>
                  </a:lnTo>
                  <a:lnTo>
                    <a:pt x="188" y="117"/>
                  </a:lnTo>
                  <a:lnTo>
                    <a:pt x="251" y="89"/>
                  </a:lnTo>
                  <a:lnTo>
                    <a:pt x="251" y="0"/>
                  </a:lnTo>
                  <a:lnTo>
                    <a:pt x="188" y="0"/>
                  </a:lnTo>
                  <a:lnTo>
                    <a:pt x="188" y="31"/>
                  </a:lnTo>
                  <a:lnTo>
                    <a:pt x="157" y="0"/>
                  </a:lnTo>
                  <a:lnTo>
                    <a:pt x="30" y="0"/>
                  </a:lnTo>
                  <a:lnTo>
                    <a:pt x="0" y="60"/>
                  </a:lnTo>
                  <a:lnTo>
                    <a:pt x="30" y="117"/>
                  </a:lnTo>
                  <a:lnTo>
                    <a:pt x="30" y="146"/>
                  </a:lnTo>
                  <a:lnTo>
                    <a:pt x="30" y="175"/>
                  </a:lnTo>
                  <a:lnTo>
                    <a:pt x="94" y="17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0" name="Freeform 148">
              <a:extLst>
                <a:ext uri="{FF2B5EF4-FFF2-40B4-BE49-F238E27FC236}">
                  <a16:creationId xmlns:a16="http://schemas.microsoft.com/office/drawing/2014/main" id="{A6477D41-7D01-494C-B9C0-424840577E38}"/>
                </a:ext>
              </a:extLst>
            </p:cNvPr>
            <p:cNvSpPr>
              <a:spLocks/>
            </p:cNvSpPr>
            <p:nvPr>
              <p:custDataLst>
                <p:tags r:id="rId149"/>
              </p:custDataLst>
            </p:nvPr>
          </p:nvSpPr>
          <p:spPr bwMode="auto">
            <a:xfrm>
              <a:off x="9407683" y="3935563"/>
              <a:ext cx="123148" cy="126666"/>
            </a:xfrm>
            <a:custGeom>
              <a:avLst/>
              <a:gdLst>
                <a:gd name="T0" fmla="*/ 27781 w 140"/>
                <a:gd name="T1" fmla="*/ 26194 h 144"/>
                <a:gd name="T2" fmla="*/ 27781 w 140"/>
                <a:gd name="T3" fmla="*/ 26194 h 144"/>
                <a:gd name="T4" fmla="*/ 23812 w 140"/>
                <a:gd name="T5" fmla="*/ 15875 h 144"/>
                <a:gd name="T6" fmla="*/ 23812 w 140"/>
                <a:gd name="T7" fmla="*/ 12700 h 144"/>
                <a:gd name="T8" fmla="*/ 20637 w 140"/>
                <a:gd name="T9" fmla="*/ 15875 h 144"/>
                <a:gd name="T10" fmla="*/ 17462 w 140"/>
                <a:gd name="T11" fmla="*/ 15875 h 144"/>
                <a:gd name="T12" fmla="*/ 17462 w 140"/>
                <a:gd name="T13" fmla="*/ 12700 h 144"/>
                <a:gd name="T14" fmla="*/ 23812 w 140"/>
                <a:gd name="T15" fmla="*/ 7144 h 144"/>
                <a:gd name="T16" fmla="*/ 10319 w 140"/>
                <a:gd name="T17" fmla="*/ 7144 h 144"/>
                <a:gd name="T18" fmla="*/ 10319 w 140"/>
                <a:gd name="T19" fmla="*/ 0 h 144"/>
                <a:gd name="T20" fmla="*/ 7144 w 140"/>
                <a:gd name="T21" fmla="*/ 0 h 144"/>
                <a:gd name="T22" fmla="*/ 3175 w 140"/>
                <a:gd name="T23" fmla="*/ 0 h 144"/>
                <a:gd name="T24" fmla="*/ 3175 w 140"/>
                <a:gd name="T25" fmla="*/ 3175 h 144"/>
                <a:gd name="T26" fmla="*/ 0 w 140"/>
                <a:gd name="T27" fmla="*/ 9525 h 144"/>
                <a:gd name="T28" fmla="*/ 3175 w 140"/>
                <a:gd name="T29" fmla="*/ 9525 h 144"/>
                <a:gd name="T30" fmla="*/ 7144 w 140"/>
                <a:gd name="T31" fmla="*/ 26194 h 144"/>
                <a:gd name="T32" fmla="*/ 14287 w 140"/>
                <a:gd name="T33" fmla="*/ 26194 h 144"/>
                <a:gd name="T34" fmla="*/ 20637 w 140"/>
                <a:gd name="T35" fmla="*/ 19050 h 144"/>
                <a:gd name="T36" fmla="*/ 23812 w 140"/>
                <a:gd name="T37" fmla="*/ 28575 h 144"/>
                <a:gd name="T38" fmla="*/ 27781 w 140"/>
                <a:gd name="T39" fmla="*/ 26194 h 14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0"/>
                <a:gd name="T61" fmla="*/ 0 h 144"/>
                <a:gd name="T62" fmla="*/ 140 w 140"/>
                <a:gd name="T63" fmla="*/ 144 h 14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0" h="144">
                  <a:moveTo>
                    <a:pt x="140" y="129"/>
                  </a:moveTo>
                  <a:lnTo>
                    <a:pt x="140" y="129"/>
                  </a:lnTo>
                  <a:lnTo>
                    <a:pt x="123" y="81"/>
                  </a:lnTo>
                  <a:lnTo>
                    <a:pt x="123" y="64"/>
                  </a:lnTo>
                  <a:lnTo>
                    <a:pt x="105" y="81"/>
                  </a:lnTo>
                  <a:lnTo>
                    <a:pt x="88" y="81"/>
                  </a:lnTo>
                  <a:lnTo>
                    <a:pt x="88" y="64"/>
                  </a:lnTo>
                  <a:lnTo>
                    <a:pt x="123" y="33"/>
                  </a:lnTo>
                  <a:lnTo>
                    <a:pt x="52" y="33"/>
                  </a:lnTo>
                  <a:lnTo>
                    <a:pt x="52" y="0"/>
                  </a:lnTo>
                  <a:lnTo>
                    <a:pt x="34" y="0"/>
                  </a:lnTo>
                  <a:lnTo>
                    <a:pt x="17" y="0"/>
                  </a:lnTo>
                  <a:lnTo>
                    <a:pt x="17" y="16"/>
                  </a:lnTo>
                  <a:lnTo>
                    <a:pt x="0" y="48"/>
                  </a:lnTo>
                  <a:lnTo>
                    <a:pt x="17" y="48"/>
                  </a:lnTo>
                  <a:lnTo>
                    <a:pt x="34" y="129"/>
                  </a:lnTo>
                  <a:lnTo>
                    <a:pt x="69" y="129"/>
                  </a:lnTo>
                  <a:lnTo>
                    <a:pt x="105" y="96"/>
                  </a:lnTo>
                  <a:lnTo>
                    <a:pt x="123" y="144"/>
                  </a:lnTo>
                  <a:lnTo>
                    <a:pt x="140" y="129"/>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1" name="Freeform 149">
              <a:extLst>
                <a:ext uri="{FF2B5EF4-FFF2-40B4-BE49-F238E27FC236}">
                  <a16:creationId xmlns:a16="http://schemas.microsoft.com/office/drawing/2014/main" id="{F7ABDC37-8628-44C7-9319-709B5500EE29}"/>
                </a:ext>
              </a:extLst>
            </p:cNvPr>
            <p:cNvSpPr>
              <a:spLocks/>
            </p:cNvSpPr>
            <p:nvPr>
              <p:custDataLst>
                <p:tags r:id="rId150"/>
              </p:custDataLst>
            </p:nvPr>
          </p:nvSpPr>
          <p:spPr bwMode="auto">
            <a:xfrm>
              <a:off x="9516757" y="3893341"/>
              <a:ext cx="211110" cy="436295"/>
            </a:xfrm>
            <a:custGeom>
              <a:avLst/>
              <a:gdLst>
                <a:gd name="T0" fmla="*/ 34131 w 240"/>
                <a:gd name="T1" fmla="*/ 98624 h 495"/>
                <a:gd name="T2" fmla="*/ 34131 w 240"/>
                <a:gd name="T3" fmla="*/ 98624 h 495"/>
                <a:gd name="T4" fmla="*/ 41275 w 240"/>
                <a:gd name="T5" fmla="*/ 85898 h 495"/>
                <a:gd name="T6" fmla="*/ 38100 w 240"/>
                <a:gd name="T7" fmla="*/ 76354 h 495"/>
                <a:gd name="T8" fmla="*/ 34131 w 240"/>
                <a:gd name="T9" fmla="*/ 69991 h 495"/>
                <a:gd name="T10" fmla="*/ 34131 w 240"/>
                <a:gd name="T11" fmla="*/ 64424 h 495"/>
                <a:gd name="T12" fmla="*/ 30956 w 240"/>
                <a:gd name="T13" fmla="*/ 54879 h 495"/>
                <a:gd name="T14" fmla="*/ 30956 w 240"/>
                <a:gd name="T15" fmla="*/ 47721 h 495"/>
                <a:gd name="T16" fmla="*/ 44450 w 240"/>
                <a:gd name="T17" fmla="*/ 41358 h 495"/>
                <a:gd name="T18" fmla="*/ 47625 w 240"/>
                <a:gd name="T19" fmla="*/ 35791 h 495"/>
                <a:gd name="T20" fmla="*/ 44450 w 240"/>
                <a:gd name="T21" fmla="*/ 35791 h 495"/>
                <a:gd name="T22" fmla="*/ 38100 w 240"/>
                <a:gd name="T23" fmla="*/ 31814 h 495"/>
                <a:gd name="T24" fmla="*/ 38100 w 240"/>
                <a:gd name="T25" fmla="*/ 28633 h 495"/>
                <a:gd name="T26" fmla="*/ 38100 w 240"/>
                <a:gd name="T27" fmla="*/ 26247 h 495"/>
                <a:gd name="T28" fmla="*/ 34131 w 240"/>
                <a:gd name="T29" fmla="*/ 22270 h 495"/>
                <a:gd name="T30" fmla="*/ 30956 w 240"/>
                <a:gd name="T31" fmla="*/ 22270 h 495"/>
                <a:gd name="T32" fmla="*/ 34131 w 240"/>
                <a:gd name="T33" fmla="*/ 7158 h 495"/>
                <a:gd name="T34" fmla="*/ 30956 w 240"/>
                <a:gd name="T35" fmla="*/ 0 h 495"/>
                <a:gd name="T36" fmla="*/ 27781 w 240"/>
                <a:gd name="T37" fmla="*/ 0 h 495"/>
                <a:gd name="T38" fmla="*/ 27781 w 240"/>
                <a:gd name="T39" fmla="*/ 7158 h 495"/>
                <a:gd name="T40" fmla="*/ 20638 w 240"/>
                <a:gd name="T41" fmla="*/ 7158 h 495"/>
                <a:gd name="T42" fmla="*/ 17463 w 240"/>
                <a:gd name="T43" fmla="*/ 9544 h 495"/>
                <a:gd name="T44" fmla="*/ 10319 w 240"/>
                <a:gd name="T45" fmla="*/ 22270 h 495"/>
                <a:gd name="T46" fmla="*/ 7144 w 240"/>
                <a:gd name="T47" fmla="*/ 26247 h 495"/>
                <a:gd name="T48" fmla="*/ 3969 w 240"/>
                <a:gd name="T49" fmla="*/ 31814 h 495"/>
                <a:gd name="T50" fmla="*/ 3969 w 240"/>
                <a:gd name="T51" fmla="*/ 35791 h 495"/>
                <a:gd name="T52" fmla="*/ 0 w 240"/>
                <a:gd name="T53" fmla="*/ 38177 h 495"/>
                <a:gd name="T54" fmla="*/ 7144 w 240"/>
                <a:gd name="T55" fmla="*/ 45335 h 495"/>
                <a:gd name="T56" fmla="*/ 10319 w 240"/>
                <a:gd name="T57" fmla="*/ 50903 h 495"/>
                <a:gd name="T58" fmla="*/ 14288 w 240"/>
                <a:gd name="T59" fmla="*/ 60447 h 495"/>
                <a:gd name="T60" fmla="*/ 10319 w 240"/>
                <a:gd name="T61" fmla="*/ 64424 h 495"/>
                <a:gd name="T62" fmla="*/ 17463 w 240"/>
                <a:gd name="T63" fmla="*/ 66810 h 495"/>
                <a:gd name="T64" fmla="*/ 23813 w 240"/>
                <a:gd name="T65" fmla="*/ 60447 h 495"/>
                <a:gd name="T66" fmla="*/ 27781 w 240"/>
                <a:gd name="T67" fmla="*/ 64424 h 495"/>
                <a:gd name="T68" fmla="*/ 34131 w 240"/>
                <a:gd name="T69" fmla="*/ 83512 h 495"/>
                <a:gd name="T70" fmla="*/ 34131 w 240"/>
                <a:gd name="T71" fmla="*/ 98624 h 49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40"/>
                <a:gd name="T109" fmla="*/ 0 h 495"/>
                <a:gd name="T110" fmla="*/ 240 w 240"/>
                <a:gd name="T111" fmla="*/ 495 h 49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40" h="495">
                  <a:moveTo>
                    <a:pt x="172" y="495"/>
                  </a:moveTo>
                  <a:lnTo>
                    <a:pt x="172" y="495"/>
                  </a:lnTo>
                  <a:lnTo>
                    <a:pt x="205" y="432"/>
                  </a:lnTo>
                  <a:lnTo>
                    <a:pt x="190" y="384"/>
                  </a:lnTo>
                  <a:lnTo>
                    <a:pt x="172" y="351"/>
                  </a:lnTo>
                  <a:lnTo>
                    <a:pt x="172" y="321"/>
                  </a:lnTo>
                  <a:lnTo>
                    <a:pt x="155" y="273"/>
                  </a:lnTo>
                  <a:lnTo>
                    <a:pt x="155" y="240"/>
                  </a:lnTo>
                  <a:lnTo>
                    <a:pt x="222" y="208"/>
                  </a:lnTo>
                  <a:lnTo>
                    <a:pt x="240" y="177"/>
                  </a:lnTo>
                  <a:lnTo>
                    <a:pt x="222" y="177"/>
                  </a:lnTo>
                  <a:lnTo>
                    <a:pt x="190" y="160"/>
                  </a:lnTo>
                  <a:lnTo>
                    <a:pt x="190" y="144"/>
                  </a:lnTo>
                  <a:lnTo>
                    <a:pt x="190" y="129"/>
                  </a:lnTo>
                  <a:lnTo>
                    <a:pt x="172" y="112"/>
                  </a:lnTo>
                  <a:lnTo>
                    <a:pt x="155" y="112"/>
                  </a:lnTo>
                  <a:lnTo>
                    <a:pt x="172" y="33"/>
                  </a:lnTo>
                  <a:lnTo>
                    <a:pt x="155" y="0"/>
                  </a:lnTo>
                  <a:lnTo>
                    <a:pt x="138" y="0"/>
                  </a:lnTo>
                  <a:lnTo>
                    <a:pt x="138" y="33"/>
                  </a:lnTo>
                  <a:lnTo>
                    <a:pt x="103" y="33"/>
                  </a:lnTo>
                  <a:lnTo>
                    <a:pt x="86" y="48"/>
                  </a:lnTo>
                  <a:lnTo>
                    <a:pt x="51" y="112"/>
                  </a:lnTo>
                  <a:lnTo>
                    <a:pt x="34" y="129"/>
                  </a:lnTo>
                  <a:lnTo>
                    <a:pt x="17" y="160"/>
                  </a:lnTo>
                  <a:lnTo>
                    <a:pt x="17" y="177"/>
                  </a:lnTo>
                  <a:lnTo>
                    <a:pt x="0" y="192"/>
                  </a:lnTo>
                  <a:lnTo>
                    <a:pt x="34" y="225"/>
                  </a:lnTo>
                  <a:lnTo>
                    <a:pt x="51" y="256"/>
                  </a:lnTo>
                  <a:lnTo>
                    <a:pt x="69" y="304"/>
                  </a:lnTo>
                  <a:lnTo>
                    <a:pt x="51" y="321"/>
                  </a:lnTo>
                  <a:lnTo>
                    <a:pt x="86" y="336"/>
                  </a:lnTo>
                  <a:lnTo>
                    <a:pt x="121" y="304"/>
                  </a:lnTo>
                  <a:lnTo>
                    <a:pt x="138" y="321"/>
                  </a:lnTo>
                  <a:lnTo>
                    <a:pt x="172" y="417"/>
                  </a:lnTo>
                  <a:lnTo>
                    <a:pt x="172" y="49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2" name="Freeform 150">
              <a:extLst>
                <a:ext uri="{FF2B5EF4-FFF2-40B4-BE49-F238E27FC236}">
                  <a16:creationId xmlns:a16="http://schemas.microsoft.com/office/drawing/2014/main" id="{96FB3BCC-D8C5-4798-B2DD-7362781628B7}"/>
                </a:ext>
              </a:extLst>
            </p:cNvPr>
            <p:cNvSpPr>
              <a:spLocks/>
            </p:cNvSpPr>
            <p:nvPr>
              <p:custDataLst>
                <p:tags r:id="rId151"/>
              </p:custDataLst>
            </p:nvPr>
          </p:nvSpPr>
          <p:spPr bwMode="auto">
            <a:xfrm>
              <a:off x="9713793" y="4034082"/>
              <a:ext cx="167130" cy="197036"/>
            </a:xfrm>
            <a:custGeom>
              <a:avLst/>
              <a:gdLst>
                <a:gd name="T0" fmla="*/ 38100 w 190"/>
                <a:gd name="T1" fmla="*/ 42069 h 224"/>
                <a:gd name="T2" fmla="*/ 38100 w 190"/>
                <a:gd name="T3" fmla="*/ 42069 h 224"/>
                <a:gd name="T4" fmla="*/ 38100 w 190"/>
                <a:gd name="T5" fmla="*/ 34925 h 224"/>
                <a:gd name="T6" fmla="*/ 30956 w 190"/>
                <a:gd name="T7" fmla="*/ 28575 h 224"/>
                <a:gd name="T8" fmla="*/ 30956 w 190"/>
                <a:gd name="T9" fmla="*/ 25400 h 224"/>
                <a:gd name="T10" fmla="*/ 17463 w 190"/>
                <a:gd name="T11" fmla="*/ 15875 h 224"/>
                <a:gd name="T12" fmla="*/ 23813 w 190"/>
                <a:gd name="T13" fmla="*/ 13494 h 224"/>
                <a:gd name="T14" fmla="*/ 20638 w 190"/>
                <a:gd name="T15" fmla="*/ 9525 h 224"/>
                <a:gd name="T16" fmla="*/ 14288 w 190"/>
                <a:gd name="T17" fmla="*/ 6350 h 224"/>
                <a:gd name="T18" fmla="*/ 10319 w 190"/>
                <a:gd name="T19" fmla="*/ 0 h 224"/>
                <a:gd name="T20" fmla="*/ 7144 w 190"/>
                <a:gd name="T21" fmla="*/ 0 h 224"/>
                <a:gd name="T22" fmla="*/ 7144 w 190"/>
                <a:gd name="T23" fmla="*/ 6350 h 224"/>
                <a:gd name="T24" fmla="*/ 3969 w 190"/>
                <a:gd name="T25" fmla="*/ 6350 h 224"/>
                <a:gd name="T26" fmla="*/ 3969 w 190"/>
                <a:gd name="T27" fmla="*/ 3969 h 224"/>
                <a:gd name="T28" fmla="*/ 0 w 190"/>
                <a:gd name="T29" fmla="*/ 9525 h 224"/>
                <a:gd name="T30" fmla="*/ 0 w 190"/>
                <a:gd name="T31" fmla="*/ 13494 h 224"/>
                <a:gd name="T32" fmla="*/ 3969 w 190"/>
                <a:gd name="T33" fmla="*/ 15875 h 224"/>
                <a:gd name="T34" fmla="*/ 3969 w 190"/>
                <a:gd name="T35" fmla="*/ 25400 h 224"/>
                <a:gd name="T36" fmla="*/ 10319 w 190"/>
                <a:gd name="T37" fmla="*/ 22225 h 224"/>
                <a:gd name="T38" fmla="*/ 17463 w 190"/>
                <a:gd name="T39" fmla="*/ 19050 h 224"/>
                <a:gd name="T40" fmla="*/ 20638 w 190"/>
                <a:gd name="T41" fmla="*/ 25400 h 224"/>
                <a:gd name="T42" fmla="*/ 23813 w 190"/>
                <a:gd name="T43" fmla="*/ 32544 h 224"/>
                <a:gd name="T44" fmla="*/ 27781 w 190"/>
                <a:gd name="T45" fmla="*/ 34925 h 224"/>
                <a:gd name="T46" fmla="*/ 27781 w 190"/>
                <a:gd name="T47" fmla="*/ 42069 h 224"/>
                <a:gd name="T48" fmla="*/ 30956 w 190"/>
                <a:gd name="T49" fmla="*/ 44450 h 224"/>
                <a:gd name="T50" fmla="*/ 30956 w 190"/>
                <a:gd name="T51" fmla="*/ 42069 h 224"/>
                <a:gd name="T52" fmla="*/ 38100 w 190"/>
                <a:gd name="T53" fmla="*/ 42069 h 22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0"/>
                <a:gd name="T82" fmla="*/ 0 h 224"/>
                <a:gd name="T83" fmla="*/ 190 w 190"/>
                <a:gd name="T84" fmla="*/ 224 h 22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0" h="224">
                  <a:moveTo>
                    <a:pt x="190" y="209"/>
                  </a:moveTo>
                  <a:lnTo>
                    <a:pt x="190" y="209"/>
                  </a:lnTo>
                  <a:lnTo>
                    <a:pt x="190" y="176"/>
                  </a:lnTo>
                  <a:lnTo>
                    <a:pt x="156" y="144"/>
                  </a:lnTo>
                  <a:lnTo>
                    <a:pt x="156" y="128"/>
                  </a:lnTo>
                  <a:lnTo>
                    <a:pt x="87" y="80"/>
                  </a:lnTo>
                  <a:lnTo>
                    <a:pt x="121" y="65"/>
                  </a:lnTo>
                  <a:lnTo>
                    <a:pt x="104" y="48"/>
                  </a:lnTo>
                  <a:lnTo>
                    <a:pt x="69" y="32"/>
                  </a:lnTo>
                  <a:lnTo>
                    <a:pt x="52" y="0"/>
                  </a:lnTo>
                  <a:lnTo>
                    <a:pt x="35" y="0"/>
                  </a:lnTo>
                  <a:lnTo>
                    <a:pt x="35" y="32"/>
                  </a:lnTo>
                  <a:lnTo>
                    <a:pt x="18" y="32"/>
                  </a:lnTo>
                  <a:lnTo>
                    <a:pt x="18" y="17"/>
                  </a:lnTo>
                  <a:lnTo>
                    <a:pt x="0" y="48"/>
                  </a:lnTo>
                  <a:lnTo>
                    <a:pt x="0" y="65"/>
                  </a:lnTo>
                  <a:lnTo>
                    <a:pt x="18" y="80"/>
                  </a:lnTo>
                  <a:lnTo>
                    <a:pt x="18" y="128"/>
                  </a:lnTo>
                  <a:lnTo>
                    <a:pt x="52" y="113"/>
                  </a:lnTo>
                  <a:lnTo>
                    <a:pt x="87" y="96"/>
                  </a:lnTo>
                  <a:lnTo>
                    <a:pt x="104" y="128"/>
                  </a:lnTo>
                  <a:lnTo>
                    <a:pt x="121" y="161"/>
                  </a:lnTo>
                  <a:lnTo>
                    <a:pt x="138" y="176"/>
                  </a:lnTo>
                  <a:lnTo>
                    <a:pt x="138" y="209"/>
                  </a:lnTo>
                  <a:lnTo>
                    <a:pt x="156" y="224"/>
                  </a:lnTo>
                  <a:lnTo>
                    <a:pt x="156" y="209"/>
                  </a:lnTo>
                  <a:lnTo>
                    <a:pt x="190" y="209"/>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3" name="Freeform 151">
              <a:extLst>
                <a:ext uri="{FF2B5EF4-FFF2-40B4-BE49-F238E27FC236}">
                  <a16:creationId xmlns:a16="http://schemas.microsoft.com/office/drawing/2014/main" id="{E6841764-BAEC-4000-B207-37B3E5E8CA30}"/>
                </a:ext>
              </a:extLst>
            </p:cNvPr>
            <p:cNvSpPr>
              <a:spLocks/>
            </p:cNvSpPr>
            <p:nvPr>
              <p:custDataLst>
                <p:tags r:id="rId152"/>
              </p:custDataLst>
            </p:nvPr>
          </p:nvSpPr>
          <p:spPr bwMode="auto">
            <a:xfrm>
              <a:off x="9759534" y="4020007"/>
              <a:ext cx="167130" cy="323702"/>
            </a:xfrm>
            <a:custGeom>
              <a:avLst/>
              <a:gdLst>
                <a:gd name="T0" fmla="*/ 0 w 190"/>
                <a:gd name="T1" fmla="*/ 3166 h 369"/>
                <a:gd name="T2" fmla="*/ 0 w 190"/>
                <a:gd name="T3" fmla="*/ 3166 h 369"/>
                <a:gd name="T4" fmla="*/ 0 w 190"/>
                <a:gd name="T5" fmla="*/ 0 h 369"/>
                <a:gd name="T6" fmla="*/ 3969 w 190"/>
                <a:gd name="T7" fmla="*/ 3166 h 369"/>
                <a:gd name="T8" fmla="*/ 17463 w 190"/>
                <a:gd name="T9" fmla="*/ 0 h 369"/>
                <a:gd name="T10" fmla="*/ 23813 w 190"/>
                <a:gd name="T11" fmla="*/ 0 h 369"/>
                <a:gd name="T12" fmla="*/ 23813 w 190"/>
                <a:gd name="T13" fmla="*/ 6333 h 369"/>
                <a:gd name="T14" fmla="*/ 30956 w 190"/>
                <a:gd name="T15" fmla="*/ 6333 h 369"/>
                <a:gd name="T16" fmla="*/ 23813 w 190"/>
                <a:gd name="T17" fmla="*/ 9499 h 369"/>
                <a:gd name="T18" fmla="*/ 20638 w 190"/>
                <a:gd name="T19" fmla="*/ 15832 h 369"/>
                <a:gd name="T20" fmla="*/ 17463 w 190"/>
                <a:gd name="T21" fmla="*/ 18998 h 369"/>
                <a:gd name="T22" fmla="*/ 34925 w 190"/>
                <a:gd name="T23" fmla="*/ 40372 h 369"/>
                <a:gd name="T24" fmla="*/ 38100 w 190"/>
                <a:gd name="T25" fmla="*/ 47496 h 369"/>
                <a:gd name="T26" fmla="*/ 34925 w 190"/>
                <a:gd name="T27" fmla="*/ 59370 h 369"/>
                <a:gd name="T28" fmla="*/ 27781 w 190"/>
                <a:gd name="T29" fmla="*/ 63328 h 369"/>
                <a:gd name="T30" fmla="*/ 23813 w 190"/>
                <a:gd name="T31" fmla="*/ 63328 h 369"/>
                <a:gd name="T32" fmla="*/ 20638 w 190"/>
                <a:gd name="T33" fmla="*/ 68869 h 369"/>
                <a:gd name="T34" fmla="*/ 14288 w 190"/>
                <a:gd name="T35" fmla="*/ 72827 h 369"/>
                <a:gd name="T36" fmla="*/ 14288 w 190"/>
                <a:gd name="T37" fmla="*/ 66494 h 369"/>
                <a:gd name="T38" fmla="*/ 10319 w 190"/>
                <a:gd name="T39" fmla="*/ 63328 h 369"/>
                <a:gd name="T40" fmla="*/ 17463 w 190"/>
                <a:gd name="T41" fmla="*/ 59370 h 369"/>
                <a:gd name="T42" fmla="*/ 20638 w 190"/>
                <a:gd name="T43" fmla="*/ 56995 h 369"/>
                <a:gd name="T44" fmla="*/ 27781 w 190"/>
                <a:gd name="T45" fmla="*/ 53829 h 369"/>
                <a:gd name="T46" fmla="*/ 27781 w 190"/>
                <a:gd name="T47" fmla="*/ 44330 h 369"/>
                <a:gd name="T48" fmla="*/ 27781 w 190"/>
                <a:gd name="T49" fmla="*/ 37997 h 369"/>
                <a:gd name="T50" fmla="*/ 20638 w 190"/>
                <a:gd name="T51" fmla="*/ 31664 h 369"/>
                <a:gd name="T52" fmla="*/ 20638 w 190"/>
                <a:gd name="T53" fmla="*/ 28498 h 369"/>
                <a:gd name="T54" fmla="*/ 7144 w 190"/>
                <a:gd name="T55" fmla="*/ 18998 h 369"/>
                <a:gd name="T56" fmla="*/ 14288 w 190"/>
                <a:gd name="T57" fmla="*/ 15832 h 369"/>
                <a:gd name="T58" fmla="*/ 10319 w 190"/>
                <a:gd name="T59" fmla="*/ 12666 h 369"/>
                <a:gd name="T60" fmla="*/ 3969 w 190"/>
                <a:gd name="T61" fmla="*/ 9499 h 369"/>
                <a:gd name="T62" fmla="*/ 0 w 190"/>
                <a:gd name="T63" fmla="*/ 3166 h 36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0"/>
                <a:gd name="T97" fmla="*/ 0 h 369"/>
                <a:gd name="T98" fmla="*/ 190 w 190"/>
                <a:gd name="T99" fmla="*/ 369 h 36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0" h="369">
                  <a:moveTo>
                    <a:pt x="0" y="16"/>
                  </a:moveTo>
                  <a:lnTo>
                    <a:pt x="0" y="16"/>
                  </a:lnTo>
                  <a:lnTo>
                    <a:pt x="0" y="0"/>
                  </a:lnTo>
                  <a:lnTo>
                    <a:pt x="17" y="16"/>
                  </a:lnTo>
                  <a:lnTo>
                    <a:pt x="86" y="0"/>
                  </a:lnTo>
                  <a:lnTo>
                    <a:pt x="121" y="0"/>
                  </a:lnTo>
                  <a:lnTo>
                    <a:pt x="121" y="33"/>
                  </a:lnTo>
                  <a:lnTo>
                    <a:pt x="156" y="33"/>
                  </a:lnTo>
                  <a:lnTo>
                    <a:pt x="121" y="48"/>
                  </a:lnTo>
                  <a:lnTo>
                    <a:pt x="104" y="81"/>
                  </a:lnTo>
                  <a:lnTo>
                    <a:pt x="86" y="96"/>
                  </a:lnTo>
                  <a:lnTo>
                    <a:pt x="173" y="207"/>
                  </a:lnTo>
                  <a:lnTo>
                    <a:pt x="190" y="240"/>
                  </a:lnTo>
                  <a:lnTo>
                    <a:pt x="173" y="303"/>
                  </a:lnTo>
                  <a:lnTo>
                    <a:pt x="138" y="321"/>
                  </a:lnTo>
                  <a:lnTo>
                    <a:pt x="121" y="321"/>
                  </a:lnTo>
                  <a:lnTo>
                    <a:pt x="104" y="351"/>
                  </a:lnTo>
                  <a:lnTo>
                    <a:pt x="69" y="369"/>
                  </a:lnTo>
                  <a:lnTo>
                    <a:pt x="69" y="336"/>
                  </a:lnTo>
                  <a:lnTo>
                    <a:pt x="52" y="321"/>
                  </a:lnTo>
                  <a:lnTo>
                    <a:pt x="86" y="303"/>
                  </a:lnTo>
                  <a:lnTo>
                    <a:pt x="104" y="288"/>
                  </a:lnTo>
                  <a:lnTo>
                    <a:pt x="138" y="273"/>
                  </a:lnTo>
                  <a:lnTo>
                    <a:pt x="138" y="225"/>
                  </a:lnTo>
                  <a:lnTo>
                    <a:pt x="138" y="192"/>
                  </a:lnTo>
                  <a:lnTo>
                    <a:pt x="104" y="160"/>
                  </a:lnTo>
                  <a:lnTo>
                    <a:pt x="104" y="144"/>
                  </a:lnTo>
                  <a:lnTo>
                    <a:pt x="35" y="96"/>
                  </a:lnTo>
                  <a:lnTo>
                    <a:pt x="69" y="81"/>
                  </a:lnTo>
                  <a:lnTo>
                    <a:pt x="52" y="64"/>
                  </a:lnTo>
                  <a:lnTo>
                    <a:pt x="17" y="48"/>
                  </a:lnTo>
                  <a:lnTo>
                    <a:pt x="0" y="1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4" name="Freeform 152">
              <a:extLst>
                <a:ext uri="{FF2B5EF4-FFF2-40B4-BE49-F238E27FC236}">
                  <a16:creationId xmlns:a16="http://schemas.microsoft.com/office/drawing/2014/main" id="{297D7AF1-C4C9-48B2-864A-348F6B133D79}"/>
                </a:ext>
              </a:extLst>
            </p:cNvPr>
            <p:cNvSpPr>
              <a:spLocks/>
            </p:cNvSpPr>
            <p:nvPr>
              <p:custDataLst>
                <p:tags r:id="rId153"/>
              </p:custDataLst>
            </p:nvPr>
          </p:nvSpPr>
          <p:spPr bwMode="auto">
            <a:xfrm>
              <a:off x="9713793" y="4385932"/>
              <a:ext cx="91481" cy="126666"/>
            </a:xfrm>
            <a:custGeom>
              <a:avLst/>
              <a:gdLst>
                <a:gd name="T0" fmla="*/ 10319 w 104"/>
                <a:gd name="T1" fmla="*/ 2381 h 144"/>
                <a:gd name="T2" fmla="*/ 10319 w 104"/>
                <a:gd name="T3" fmla="*/ 2381 h 144"/>
                <a:gd name="T4" fmla="*/ 7144 w 104"/>
                <a:gd name="T5" fmla="*/ 5556 h 144"/>
                <a:gd name="T6" fmla="*/ 3969 w 104"/>
                <a:gd name="T7" fmla="*/ 2381 h 144"/>
                <a:gd name="T8" fmla="*/ 0 w 104"/>
                <a:gd name="T9" fmla="*/ 0 h 144"/>
                <a:gd name="T10" fmla="*/ 0 w 104"/>
                <a:gd name="T11" fmla="*/ 2381 h 144"/>
                <a:gd name="T12" fmla="*/ 0 w 104"/>
                <a:gd name="T13" fmla="*/ 11906 h 144"/>
                <a:gd name="T14" fmla="*/ 7144 w 104"/>
                <a:gd name="T15" fmla="*/ 19050 h 144"/>
                <a:gd name="T16" fmla="*/ 17463 w 104"/>
                <a:gd name="T17" fmla="*/ 28575 h 144"/>
                <a:gd name="T18" fmla="*/ 20638 w 104"/>
                <a:gd name="T19" fmla="*/ 28575 h 144"/>
                <a:gd name="T20" fmla="*/ 17463 w 104"/>
                <a:gd name="T21" fmla="*/ 19050 h 144"/>
                <a:gd name="T22" fmla="*/ 17463 w 104"/>
                <a:gd name="T23" fmla="*/ 9525 h 144"/>
                <a:gd name="T24" fmla="*/ 10319 w 104"/>
                <a:gd name="T25" fmla="*/ 2381 h 1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44"/>
                <a:gd name="T41" fmla="*/ 104 w 104"/>
                <a:gd name="T42" fmla="*/ 144 h 1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44">
                  <a:moveTo>
                    <a:pt x="52" y="15"/>
                  </a:moveTo>
                  <a:lnTo>
                    <a:pt x="52" y="15"/>
                  </a:lnTo>
                  <a:lnTo>
                    <a:pt x="35" y="30"/>
                  </a:lnTo>
                  <a:lnTo>
                    <a:pt x="18" y="15"/>
                  </a:lnTo>
                  <a:lnTo>
                    <a:pt x="0" y="0"/>
                  </a:lnTo>
                  <a:lnTo>
                    <a:pt x="0" y="15"/>
                  </a:lnTo>
                  <a:lnTo>
                    <a:pt x="0" y="63"/>
                  </a:lnTo>
                  <a:lnTo>
                    <a:pt x="35" y="96"/>
                  </a:lnTo>
                  <a:lnTo>
                    <a:pt x="87" y="144"/>
                  </a:lnTo>
                  <a:lnTo>
                    <a:pt x="104" y="144"/>
                  </a:lnTo>
                  <a:lnTo>
                    <a:pt x="87" y="96"/>
                  </a:lnTo>
                  <a:lnTo>
                    <a:pt x="87" y="48"/>
                  </a:lnTo>
                  <a:lnTo>
                    <a:pt x="52" y="1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5" name="Freeform 153">
              <a:extLst>
                <a:ext uri="{FF2B5EF4-FFF2-40B4-BE49-F238E27FC236}">
                  <a16:creationId xmlns:a16="http://schemas.microsoft.com/office/drawing/2014/main" id="{D05A1C08-8219-4B04-B358-175158CE65BB}"/>
                </a:ext>
              </a:extLst>
            </p:cNvPr>
            <p:cNvSpPr>
              <a:spLocks/>
            </p:cNvSpPr>
            <p:nvPr>
              <p:custDataLst>
                <p:tags r:id="rId154"/>
              </p:custDataLst>
            </p:nvPr>
          </p:nvSpPr>
          <p:spPr bwMode="auto">
            <a:xfrm>
              <a:off x="9653979" y="4076304"/>
              <a:ext cx="181204" cy="337776"/>
            </a:xfrm>
            <a:custGeom>
              <a:avLst/>
              <a:gdLst>
                <a:gd name="T0" fmla="*/ 13429 w 207"/>
                <a:gd name="T1" fmla="*/ 0 h 383"/>
                <a:gd name="T2" fmla="*/ 13429 w 207"/>
                <a:gd name="T3" fmla="*/ 0 h 383"/>
                <a:gd name="T4" fmla="*/ 0 w 207"/>
                <a:gd name="T5" fmla="*/ 6367 h 383"/>
                <a:gd name="T6" fmla="*/ 0 w 207"/>
                <a:gd name="T7" fmla="*/ 13529 h 383"/>
                <a:gd name="T8" fmla="*/ 3160 w 207"/>
                <a:gd name="T9" fmla="*/ 23079 h 383"/>
                <a:gd name="T10" fmla="*/ 3160 w 207"/>
                <a:gd name="T11" fmla="*/ 28650 h 383"/>
                <a:gd name="T12" fmla="*/ 6319 w 207"/>
                <a:gd name="T13" fmla="*/ 35016 h 383"/>
                <a:gd name="T14" fmla="*/ 10269 w 207"/>
                <a:gd name="T15" fmla="*/ 44566 h 383"/>
                <a:gd name="T16" fmla="*/ 3160 w 207"/>
                <a:gd name="T17" fmla="*/ 57299 h 383"/>
                <a:gd name="T18" fmla="*/ 3160 w 207"/>
                <a:gd name="T19" fmla="*/ 61278 h 383"/>
                <a:gd name="T20" fmla="*/ 3160 w 207"/>
                <a:gd name="T21" fmla="*/ 63666 h 383"/>
                <a:gd name="T22" fmla="*/ 13429 w 207"/>
                <a:gd name="T23" fmla="*/ 73216 h 383"/>
                <a:gd name="T24" fmla="*/ 13429 w 207"/>
                <a:gd name="T25" fmla="*/ 70828 h 383"/>
                <a:gd name="T26" fmla="*/ 16588 w 207"/>
                <a:gd name="T27" fmla="*/ 73216 h 383"/>
                <a:gd name="T28" fmla="*/ 20538 w 207"/>
                <a:gd name="T29" fmla="*/ 76399 h 383"/>
                <a:gd name="T30" fmla="*/ 23698 w 207"/>
                <a:gd name="T31" fmla="*/ 73216 h 383"/>
                <a:gd name="T32" fmla="*/ 20538 w 207"/>
                <a:gd name="T33" fmla="*/ 70828 h 383"/>
                <a:gd name="T34" fmla="*/ 13429 w 207"/>
                <a:gd name="T35" fmla="*/ 70828 h 383"/>
                <a:gd name="T36" fmla="*/ 10269 w 207"/>
                <a:gd name="T37" fmla="*/ 57299 h 383"/>
                <a:gd name="T38" fmla="*/ 6319 w 207"/>
                <a:gd name="T39" fmla="*/ 57299 h 383"/>
                <a:gd name="T40" fmla="*/ 6319 w 207"/>
                <a:gd name="T41" fmla="*/ 54116 h 383"/>
                <a:gd name="T42" fmla="*/ 10269 w 207"/>
                <a:gd name="T43" fmla="*/ 44566 h 383"/>
                <a:gd name="T44" fmla="*/ 10269 w 207"/>
                <a:gd name="T45" fmla="*/ 38199 h 383"/>
                <a:gd name="T46" fmla="*/ 16588 w 207"/>
                <a:gd name="T47" fmla="*/ 38199 h 383"/>
                <a:gd name="T48" fmla="*/ 16588 w 207"/>
                <a:gd name="T49" fmla="*/ 42179 h 383"/>
                <a:gd name="T50" fmla="*/ 20538 w 207"/>
                <a:gd name="T51" fmla="*/ 42179 h 383"/>
                <a:gd name="T52" fmla="*/ 26857 w 207"/>
                <a:gd name="T53" fmla="*/ 47749 h 383"/>
                <a:gd name="T54" fmla="*/ 26857 w 207"/>
                <a:gd name="T55" fmla="*/ 44566 h 383"/>
                <a:gd name="T56" fmla="*/ 23698 w 207"/>
                <a:gd name="T57" fmla="*/ 38199 h 383"/>
                <a:gd name="T58" fmla="*/ 26857 w 207"/>
                <a:gd name="T59" fmla="*/ 32629 h 383"/>
                <a:gd name="T60" fmla="*/ 40286 w 207"/>
                <a:gd name="T61" fmla="*/ 32629 h 383"/>
                <a:gd name="T62" fmla="*/ 40286 w 207"/>
                <a:gd name="T63" fmla="*/ 25466 h 383"/>
                <a:gd name="T64" fmla="*/ 37126 w 207"/>
                <a:gd name="T65" fmla="*/ 23079 h 383"/>
                <a:gd name="T66" fmla="*/ 33966 w 207"/>
                <a:gd name="T67" fmla="*/ 15916 h 383"/>
                <a:gd name="T68" fmla="*/ 30807 w 207"/>
                <a:gd name="T69" fmla="*/ 9550 h 383"/>
                <a:gd name="T70" fmla="*/ 23698 w 207"/>
                <a:gd name="T71" fmla="*/ 13529 h 383"/>
                <a:gd name="T72" fmla="*/ 16588 w 207"/>
                <a:gd name="T73" fmla="*/ 15916 h 383"/>
                <a:gd name="T74" fmla="*/ 16588 w 207"/>
                <a:gd name="T75" fmla="*/ 6367 h 383"/>
                <a:gd name="T76" fmla="*/ 13429 w 207"/>
                <a:gd name="T77" fmla="*/ 3979 h 383"/>
                <a:gd name="T78" fmla="*/ 13429 w 207"/>
                <a:gd name="T79" fmla="*/ 0 h 38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07"/>
                <a:gd name="T121" fmla="*/ 0 h 383"/>
                <a:gd name="T122" fmla="*/ 207 w 207"/>
                <a:gd name="T123" fmla="*/ 383 h 38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07" h="383">
                  <a:moveTo>
                    <a:pt x="69" y="0"/>
                  </a:moveTo>
                  <a:lnTo>
                    <a:pt x="69" y="0"/>
                  </a:lnTo>
                  <a:lnTo>
                    <a:pt x="0" y="32"/>
                  </a:lnTo>
                  <a:lnTo>
                    <a:pt x="0" y="65"/>
                  </a:lnTo>
                  <a:lnTo>
                    <a:pt x="17" y="113"/>
                  </a:lnTo>
                  <a:lnTo>
                    <a:pt x="17" y="143"/>
                  </a:lnTo>
                  <a:lnTo>
                    <a:pt x="35" y="176"/>
                  </a:lnTo>
                  <a:lnTo>
                    <a:pt x="52" y="224"/>
                  </a:lnTo>
                  <a:lnTo>
                    <a:pt x="17" y="287"/>
                  </a:lnTo>
                  <a:lnTo>
                    <a:pt x="17" y="305"/>
                  </a:lnTo>
                  <a:lnTo>
                    <a:pt x="17" y="320"/>
                  </a:lnTo>
                  <a:lnTo>
                    <a:pt x="69" y="368"/>
                  </a:lnTo>
                  <a:lnTo>
                    <a:pt x="69" y="353"/>
                  </a:lnTo>
                  <a:lnTo>
                    <a:pt x="87" y="368"/>
                  </a:lnTo>
                  <a:lnTo>
                    <a:pt x="104" y="383"/>
                  </a:lnTo>
                  <a:lnTo>
                    <a:pt x="121" y="368"/>
                  </a:lnTo>
                  <a:lnTo>
                    <a:pt x="104" y="353"/>
                  </a:lnTo>
                  <a:lnTo>
                    <a:pt x="69" y="353"/>
                  </a:lnTo>
                  <a:lnTo>
                    <a:pt x="52" y="287"/>
                  </a:lnTo>
                  <a:lnTo>
                    <a:pt x="35" y="287"/>
                  </a:lnTo>
                  <a:lnTo>
                    <a:pt x="35" y="272"/>
                  </a:lnTo>
                  <a:lnTo>
                    <a:pt x="52" y="224"/>
                  </a:lnTo>
                  <a:lnTo>
                    <a:pt x="52" y="191"/>
                  </a:lnTo>
                  <a:lnTo>
                    <a:pt x="87" y="191"/>
                  </a:lnTo>
                  <a:lnTo>
                    <a:pt x="87" y="209"/>
                  </a:lnTo>
                  <a:lnTo>
                    <a:pt x="104" y="209"/>
                  </a:lnTo>
                  <a:lnTo>
                    <a:pt x="138" y="239"/>
                  </a:lnTo>
                  <a:lnTo>
                    <a:pt x="138" y="224"/>
                  </a:lnTo>
                  <a:lnTo>
                    <a:pt x="121" y="191"/>
                  </a:lnTo>
                  <a:lnTo>
                    <a:pt x="138" y="161"/>
                  </a:lnTo>
                  <a:lnTo>
                    <a:pt x="207" y="161"/>
                  </a:lnTo>
                  <a:lnTo>
                    <a:pt x="207" y="128"/>
                  </a:lnTo>
                  <a:lnTo>
                    <a:pt x="190" y="113"/>
                  </a:lnTo>
                  <a:lnTo>
                    <a:pt x="173" y="80"/>
                  </a:lnTo>
                  <a:lnTo>
                    <a:pt x="156" y="48"/>
                  </a:lnTo>
                  <a:lnTo>
                    <a:pt x="121" y="65"/>
                  </a:lnTo>
                  <a:lnTo>
                    <a:pt x="87" y="80"/>
                  </a:lnTo>
                  <a:lnTo>
                    <a:pt x="87" y="32"/>
                  </a:lnTo>
                  <a:lnTo>
                    <a:pt x="69" y="17"/>
                  </a:lnTo>
                  <a:lnTo>
                    <a:pt x="69"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6" name="Freeform 154">
              <a:extLst>
                <a:ext uri="{FF2B5EF4-FFF2-40B4-BE49-F238E27FC236}">
                  <a16:creationId xmlns:a16="http://schemas.microsoft.com/office/drawing/2014/main" id="{E178E083-0DD2-4B06-99E1-C05E219F9F59}"/>
                </a:ext>
              </a:extLst>
            </p:cNvPr>
            <p:cNvSpPr>
              <a:spLocks/>
            </p:cNvSpPr>
            <p:nvPr>
              <p:custDataLst>
                <p:tags r:id="rId155"/>
              </p:custDataLst>
            </p:nvPr>
          </p:nvSpPr>
          <p:spPr bwMode="auto">
            <a:xfrm>
              <a:off x="9441110" y="3893341"/>
              <a:ext cx="73889" cy="28148"/>
            </a:xfrm>
            <a:custGeom>
              <a:avLst/>
              <a:gdLst>
                <a:gd name="T0" fmla="*/ 13335 w 85"/>
                <a:gd name="T1" fmla="*/ 0 h 33"/>
                <a:gd name="T2" fmla="*/ 13335 w 85"/>
                <a:gd name="T3" fmla="*/ 0 h 33"/>
                <a:gd name="T4" fmla="*/ 3138 w 85"/>
                <a:gd name="T5" fmla="*/ 0 h 33"/>
                <a:gd name="T6" fmla="*/ 0 w 85"/>
                <a:gd name="T7" fmla="*/ 3079 h 33"/>
                <a:gd name="T8" fmla="*/ 0 w 85"/>
                <a:gd name="T9" fmla="*/ 6158 h 33"/>
                <a:gd name="T10" fmla="*/ 13335 w 85"/>
                <a:gd name="T11" fmla="*/ 6158 h 33"/>
                <a:gd name="T12" fmla="*/ 16473 w 85"/>
                <a:gd name="T13" fmla="*/ 6158 h 33"/>
                <a:gd name="T14" fmla="*/ 13335 w 85"/>
                <a:gd name="T15" fmla="*/ 0 h 33"/>
                <a:gd name="T16" fmla="*/ 0 60000 65536"/>
                <a:gd name="T17" fmla="*/ 0 60000 65536"/>
                <a:gd name="T18" fmla="*/ 0 60000 65536"/>
                <a:gd name="T19" fmla="*/ 0 60000 65536"/>
                <a:gd name="T20" fmla="*/ 0 60000 65536"/>
                <a:gd name="T21" fmla="*/ 0 60000 65536"/>
                <a:gd name="T22" fmla="*/ 0 60000 65536"/>
                <a:gd name="T23" fmla="*/ 0 60000 65536"/>
                <a:gd name="T24" fmla="*/ 0 w 85"/>
                <a:gd name="T25" fmla="*/ 0 h 33"/>
                <a:gd name="T26" fmla="*/ 85 w 85"/>
                <a:gd name="T27" fmla="*/ 33 h 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5" h="33">
                  <a:moveTo>
                    <a:pt x="69" y="0"/>
                  </a:moveTo>
                  <a:lnTo>
                    <a:pt x="69" y="0"/>
                  </a:lnTo>
                  <a:lnTo>
                    <a:pt x="18" y="0"/>
                  </a:lnTo>
                  <a:lnTo>
                    <a:pt x="0" y="16"/>
                  </a:lnTo>
                  <a:lnTo>
                    <a:pt x="0" y="33"/>
                  </a:lnTo>
                  <a:lnTo>
                    <a:pt x="69" y="33"/>
                  </a:lnTo>
                  <a:lnTo>
                    <a:pt x="85" y="33"/>
                  </a:lnTo>
                  <a:lnTo>
                    <a:pt x="69"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7" name="Freeform 155">
              <a:extLst>
                <a:ext uri="{FF2B5EF4-FFF2-40B4-BE49-F238E27FC236}">
                  <a16:creationId xmlns:a16="http://schemas.microsoft.com/office/drawing/2014/main" id="{A4B6A32C-DF6E-4AAD-AA43-ADAF1BA18A15}"/>
                </a:ext>
              </a:extLst>
            </p:cNvPr>
            <p:cNvSpPr>
              <a:spLocks/>
            </p:cNvSpPr>
            <p:nvPr>
              <p:custDataLst>
                <p:tags r:id="rId156"/>
              </p:custDataLst>
            </p:nvPr>
          </p:nvSpPr>
          <p:spPr bwMode="auto">
            <a:xfrm>
              <a:off x="9226481" y="3838805"/>
              <a:ext cx="182962" cy="96759"/>
            </a:xfrm>
            <a:custGeom>
              <a:avLst/>
              <a:gdLst>
                <a:gd name="T0" fmla="*/ 3145 w 210"/>
                <a:gd name="T1" fmla="*/ 0 h 111"/>
                <a:gd name="T2" fmla="*/ 3145 w 210"/>
                <a:gd name="T3" fmla="*/ 0 h 111"/>
                <a:gd name="T4" fmla="*/ 0 w 210"/>
                <a:gd name="T5" fmla="*/ 9439 h 111"/>
                <a:gd name="T6" fmla="*/ 6290 w 210"/>
                <a:gd name="T7" fmla="*/ 11799 h 111"/>
                <a:gd name="T8" fmla="*/ 36951 w 210"/>
                <a:gd name="T9" fmla="*/ 21238 h 111"/>
                <a:gd name="T10" fmla="*/ 40882 w 210"/>
                <a:gd name="T11" fmla="*/ 21238 h 111"/>
                <a:gd name="T12" fmla="*/ 40882 w 210"/>
                <a:gd name="T13" fmla="*/ 18878 h 111"/>
                <a:gd name="T14" fmla="*/ 40882 w 210"/>
                <a:gd name="T15" fmla="*/ 11799 h 111"/>
                <a:gd name="T16" fmla="*/ 30661 w 210"/>
                <a:gd name="T17" fmla="*/ 11799 h 111"/>
                <a:gd name="T18" fmla="*/ 23586 w 210"/>
                <a:gd name="T19" fmla="*/ 9439 h 111"/>
                <a:gd name="T20" fmla="*/ 20441 w 210"/>
                <a:gd name="T21" fmla="*/ 5506 h 111"/>
                <a:gd name="T22" fmla="*/ 16510 w 210"/>
                <a:gd name="T23" fmla="*/ 5506 h 111"/>
                <a:gd name="T24" fmla="*/ 10220 w 210"/>
                <a:gd name="T25" fmla="*/ 0 h 111"/>
                <a:gd name="T26" fmla="*/ 3145 w 210"/>
                <a:gd name="T27" fmla="*/ 0 h 1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0"/>
                <a:gd name="T43" fmla="*/ 0 h 111"/>
                <a:gd name="T44" fmla="*/ 210 w 210"/>
                <a:gd name="T45" fmla="*/ 111 h 11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0" h="111">
                  <a:moveTo>
                    <a:pt x="18" y="0"/>
                  </a:moveTo>
                  <a:lnTo>
                    <a:pt x="18" y="0"/>
                  </a:lnTo>
                  <a:lnTo>
                    <a:pt x="0" y="48"/>
                  </a:lnTo>
                  <a:lnTo>
                    <a:pt x="35" y="63"/>
                  </a:lnTo>
                  <a:lnTo>
                    <a:pt x="192" y="111"/>
                  </a:lnTo>
                  <a:lnTo>
                    <a:pt x="210" y="111"/>
                  </a:lnTo>
                  <a:lnTo>
                    <a:pt x="210" y="96"/>
                  </a:lnTo>
                  <a:lnTo>
                    <a:pt x="210" y="63"/>
                  </a:lnTo>
                  <a:lnTo>
                    <a:pt x="158" y="63"/>
                  </a:lnTo>
                  <a:lnTo>
                    <a:pt x="121" y="48"/>
                  </a:lnTo>
                  <a:lnTo>
                    <a:pt x="104" y="31"/>
                  </a:lnTo>
                  <a:lnTo>
                    <a:pt x="87" y="31"/>
                  </a:lnTo>
                  <a:lnTo>
                    <a:pt x="52" y="0"/>
                  </a:lnTo>
                  <a:lnTo>
                    <a:pt x="18"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8" name="Freeform 156">
              <a:extLst>
                <a:ext uri="{FF2B5EF4-FFF2-40B4-BE49-F238E27FC236}">
                  <a16:creationId xmlns:a16="http://schemas.microsoft.com/office/drawing/2014/main" id="{DCF65112-7E8C-4567-9FCB-EFAA0590C67E}"/>
                </a:ext>
              </a:extLst>
            </p:cNvPr>
            <p:cNvSpPr>
              <a:spLocks/>
            </p:cNvSpPr>
            <p:nvPr>
              <p:custDataLst>
                <p:tags r:id="rId157"/>
              </p:custDataLst>
            </p:nvPr>
          </p:nvSpPr>
          <p:spPr bwMode="auto">
            <a:xfrm>
              <a:off x="10338328" y="3611861"/>
              <a:ext cx="75648" cy="112592"/>
            </a:xfrm>
            <a:custGeom>
              <a:avLst/>
              <a:gdLst>
                <a:gd name="T0" fmla="*/ 0 w 86"/>
                <a:gd name="T1" fmla="*/ 6350 h 128"/>
                <a:gd name="T2" fmla="*/ 0 w 86"/>
                <a:gd name="T3" fmla="*/ 6350 h 128"/>
                <a:gd name="T4" fmla="*/ 9525 w 86"/>
                <a:gd name="T5" fmla="*/ 0 h 128"/>
                <a:gd name="T6" fmla="*/ 14288 w 86"/>
                <a:gd name="T7" fmla="*/ 6350 h 128"/>
                <a:gd name="T8" fmla="*/ 17463 w 86"/>
                <a:gd name="T9" fmla="*/ 15875 h 128"/>
                <a:gd name="T10" fmla="*/ 14288 w 86"/>
                <a:gd name="T11" fmla="*/ 22225 h 128"/>
                <a:gd name="T12" fmla="*/ 0 w 86"/>
                <a:gd name="T13" fmla="*/ 25400 h 128"/>
                <a:gd name="T14" fmla="*/ 0 w 86"/>
                <a:gd name="T15" fmla="*/ 22225 h 128"/>
                <a:gd name="T16" fmla="*/ 0 w 86"/>
                <a:gd name="T17" fmla="*/ 19050 h 128"/>
                <a:gd name="T18" fmla="*/ 0 w 86"/>
                <a:gd name="T19" fmla="*/ 9525 h 128"/>
                <a:gd name="T20" fmla="*/ 0 w 86"/>
                <a:gd name="T21" fmla="*/ 6350 h 12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128"/>
                <a:gd name="T35" fmla="*/ 86 w 86"/>
                <a:gd name="T36" fmla="*/ 128 h 12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128">
                  <a:moveTo>
                    <a:pt x="0" y="32"/>
                  </a:moveTo>
                  <a:lnTo>
                    <a:pt x="0" y="32"/>
                  </a:lnTo>
                  <a:lnTo>
                    <a:pt x="51" y="0"/>
                  </a:lnTo>
                  <a:lnTo>
                    <a:pt x="69" y="32"/>
                  </a:lnTo>
                  <a:lnTo>
                    <a:pt x="86" y="80"/>
                  </a:lnTo>
                  <a:lnTo>
                    <a:pt x="69" y="113"/>
                  </a:lnTo>
                  <a:lnTo>
                    <a:pt x="0" y="128"/>
                  </a:lnTo>
                  <a:lnTo>
                    <a:pt x="0" y="113"/>
                  </a:lnTo>
                  <a:lnTo>
                    <a:pt x="0" y="96"/>
                  </a:lnTo>
                  <a:lnTo>
                    <a:pt x="0" y="48"/>
                  </a:lnTo>
                  <a:lnTo>
                    <a:pt x="0" y="3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29" name="Freeform 157">
              <a:extLst>
                <a:ext uri="{FF2B5EF4-FFF2-40B4-BE49-F238E27FC236}">
                  <a16:creationId xmlns:a16="http://schemas.microsoft.com/office/drawing/2014/main" id="{DD8CE7E3-EDAF-4FB9-AA5C-C3227D869B25}"/>
                </a:ext>
              </a:extLst>
            </p:cNvPr>
            <p:cNvSpPr>
              <a:spLocks/>
            </p:cNvSpPr>
            <p:nvPr>
              <p:custDataLst>
                <p:tags r:id="rId158"/>
              </p:custDataLst>
            </p:nvPr>
          </p:nvSpPr>
          <p:spPr bwMode="auto">
            <a:xfrm>
              <a:off x="10292588" y="3501029"/>
              <a:ext cx="153056" cy="138981"/>
            </a:xfrm>
            <a:custGeom>
              <a:avLst/>
              <a:gdLst>
                <a:gd name="T0" fmla="*/ 35331 w 172"/>
                <a:gd name="T1" fmla="*/ 0 h 159"/>
                <a:gd name="T2" fmla="*/ 35331 w 172"/>
                <a:gd name="T3" fmla="*/ 0 h 159"/>
                <a:gd name="T4" fmla="*/ 31316 w 172"/>
                <a:gd name="T5" fmla="*/ 0 h 159"/>
                <a:gd name="T6" fmla="*/ 24892 w 172"/>
                <a:gd name="T7" fmla="*/ 3155 h 159"/>
                <a:gd name="T8" fmla="*/ 20878 w 172"/>
                <a:gd name="T9" fmla="*/ 3155 h 159"/>
                <a:gd name="T10" fmla="*/ 17666 w 172"/>
                <a:gd name="T11" fmla="*/ 5521 h 159"/>
                <a:gd name="T12" fmla="*/ 14454 w 172"/>
                <a:gd name="T13" fmla="*/ 5521 h 159"/>
                <a:gd name="T14" fmla="*/ 0 w 172"/>
                <a:gd name="T15" fmla="*/ 14986 h 159"/>
                <a:gd name="T16" fmla="*/ 0 w 172"/>
                <a:gd name="T17" fmla="*/ 18930 h 159"/>
                <a:gd name="T18" fmla="*/ 4015 w 172"/>
                <a:gd name="T19" fmla="*/ 18930 h 159"/>
                <a:gd name="T20" fmla="*/ 0 w 172"/>
                <a:gd name="T21" fmla="*/ 28395 h 159"/>
                <a:gd name="T22" fmla="*/ 4015 w 172"/>
                <a:gd name="T23" fmla="*/ 30762 h 159"/>
                <a:gd name="T24" fmla="*/ 7227 w 172"/>
                <a:gd name="T25" fmla="*/ 30762 h 159"/>
                <a:gd name="T26" fmla="*/ 10439 w 172"/>
                <a:gd name="T27" fmla="*/ 30762 h 159"/>
                <a:gd name="T28" fmla="*/ 20878 w 172"/>
                <a:gd name="T29" fmla="*/ 24452 h 159"/>
                <a:gd name="T30" fmla="*/ 14454 w 172"/>
                <a:gd name="T31" fmla="*/ 22085 h 159"/>
                <a:gd name="T32" fmla="*/ 14454 w 172"/>
                <a:gd name="T33" fmla="*/ 18930 h 159"/>
                <a:gd name="T34" fmla="*/ 28104 w 172"/>
                <a:gd name="T35" fmla="*/ 12620 h 159"/>
                <a:gd name="T36" fmla="*/ 28104 w 172"/>
                <a:gd name="T37" fmla="*/ 5521 h 159"/>
                <a:gd name="T38" fmla="*/ 35331 w 172"/>
                <a:gd name="T39" fmla="*/ 0 h 15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2"/>
                <a:gd name="T61" fmla="*/ 0 h 159"/>
                <a:gd name="T62" fmla="*/ 172 w 172"/>
                <a:gd name="T63" fmla="*/ 159 h 15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2" h="159">
                  <a:moveTo>
                    <a:pt x="172" y="0"/>
                  </a:moveTo>
                  <a:lnTo>
                    <a:pt x="172" y="0"/>
                  </a:lnTo>
                  <a:lnTo>
                    <a:pt x="155" y="0"/>
                  </a:lnTo>
                  <a:lnTo>
                    <a:pt x="121" y="16"/>
                  </a:lnTo>
                  <a:lnTo>
                    <a:pt x="103" y="16"/>
                  </a:lnTo>
                  <a:lnTo>
                    <a:pt x="86" y="31"/>
                  </a:lnTo>
                  <a:lnTo>
                    <a:pt x="69" y="31"/>
                  </a:lnTo>
                  <a:lnTo>
                    <a:pt x="0" y="79"/>
                  </a:lnTo>
                  <a:lnTo>
                    <a:pt x="0" y="96"/>
                  </a:lnTo>
                  <a:lnTo>
                    <a:pt x="17" y="96"/>
                  </a:lnTo>
                  <a:lnTo>
                    <a:pt x="0" y="144"/>
                  </a:lnTo>
                  <a:lnTo>
                    <a:pt x="17" y="159"/>
                  </a:lnTo>
                  <a:lnTo>
                    <a:pt x="34" y="159"/>
                  </a:lnTo>
                  <a:lnTo>
                    <a:pt x="52" y="159"/>
                  </a:lnTo>
                  <a:lnTo>
                    <a:pt x="103" y="127"/>
                  </a:lnTo>
                  <a:lnTo>
                    <a:pt x="69" y="112"/>
                  </a:lnTo>
                  <a:lnTo>
                    <a:pt x="69" y="96"/>
                  </a:lnTo>
                  <a:lnTo>
                    <a:pt x="138" y="64"/>
                  </a:lnTo>
                  <a:lnTo>
                    <a:pt x="138" y="31"/>
                  </a:lnTo>
                  <a:lnTo>
                    <a:pt x="172"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30" name="Freeform 158">
              <a:extLst>
                <a:ext uri="{FF2B5EF4-FFF2-40B4-BE49-F238E27FC236}">
                  <a16:creationId xmlns:a16="http://schemas.microsoft.com/office/drawing/2014/main" id="{E969B99F-17D6-42F6-BD8C-9C94F8E76133}"/>
                </a:ext>
              </a:extLst>
            </p:cNvPr>
            <p:cNvSpPr>
              <a:spLocks/>
            </p:cNvSpPr>
            <p:nvPr>
              <p:custDataLst>
                <p:tags r:id="rId159"/>
              </p:custDataLst>
            </p:nvPr>
          </p:nvSpPr>
          <p:spPr bwMode="auto">
            <a:xfrm>
              <a:off x="10413976" y="3738527"/>
              <a:ext cx="61574" cy="84444"/>
            </a:xfrm>
            <a:custGeom>
              <a:avLst/>
              <a:gdLst>
                <a:gd name="T0" fmla="*/ 0 w 69"/>
                <a:gd name="T1" fmla="*/ 3969 h 96"/>
                <a:gd name="T2" fmla="*/ 0 w 69"/>
                <a:gd name="T3" fmla="*/ 3969 h 96"/>
                <a:gd name="T4" fmla="*/ 0 w 69"/>
                <a:gd name="T5" fmla="*/ 6350 h 96"/>
                <a:gd name="T6" fmla="*/ 4026 w 69"/>
                <a:gd name="T7" fmla="*/ 6350 h 96"/>
                <a:gd name="T8" fmla="*/ 4026 w 69"/>
                <a:gd name="T9" fmla="*/ 15875 h 96"/>
                <a:gd name="T10" fmla="*/ 7247 w 69"/>
                <a:gd name="T11" fmla="*/ 19050 h 96"/>
                <a:gd name="T12" fmla="*/ 10468 w 69"/>
                <a:gd name="T13" fmla="*/ 15875 h 96"/>
                <a:gd name="T14" fmla="*/ 14495 w 69"/>
                <a:gd name="T15" fmla="*/ 6350 h 96"/>
                <a:gd name="T16" fmla="*/ 10468 w 69"/>
                <a:gd name="T17" fmla="*/ 3969 h 96"/>
                <a:gd name="T18" fmla="*/ 4026 w 69"/>
                <a:gd name="T19" fmla="*/ 0 h 96"/>
                <a:gd name="T20" fmla="*/ 0 w 69"/>
                <a:gd name="T21" fmla="*/ 3969 h 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9"/>
                <a:gd name="T34" fmla="*/ 0 h 96"/>
                <a:gd name="T35" fmla="*/ 69 w 69"/>
                <a:gd name="T36" fmla="*/ 96 h 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9" h="96">
                  <a:moveTo>
                    <a:pt x="0" y="17"/>
                  </a:moveTo>
                  <a:lnTo>
                    <a:pt x="0" y="17"/>
                  </a:lnTo>
                  <a:lnTo>
                    <a:pt x="0" y="32"/>
                  </a:lnTo>
                  <a:lnTo>
                    <a:pt x="17" y="32"/>
                  </a:lnTo>
                  <a:lnTo>
                    <a:pt x="17" y="80"/>
                  </a:lnTo>
                  <a:lnTo>
                    <a:pt x="34" y="96"/>
                  </a:lnTo>
                  <a:lnTo>
                    <a:pt x="52" y="80"/>
                  </a:lnTo>
                  <a:lnTo>
                    <a:pt x="69" y="32"/>
                  </a:lnTo>
                  <a:lnTo>
                    <a:pt x="52" y="17"/>
                  </a:lnTo>
                  <a:lnTo>
                    <a:pt x="17"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31" name="Freeform 159">
              <a:extLst>
                <a:ext uri="{FF2B5EF4-FFF2-40B4-BE49-F238E27FC236}">
                  <a16:creationId xmlns:a16="http://schemas.microsoft.com/office/drawing/2014/main" id="{750DEC1D-BCF2-4EEC-B1C4-1CC1AE5B53FE}"/>
                </a:ext>
              </a:extLst>
            </p:cNvPr>
            <p:cNvSpPr>
              <a:spLocks/>
            </p:cNvSpPr>
            <p:nvPr>
              <p:custDataLst>
                <p:tags r:id="rId160"/>
              </p:custDataLst>
            </p:nvPr>
          </p:nvSpPr>
          <p:spPr bwMode="auto">
            <a:xfrm>
              <a:off x="10475550" y="3738527"/>
              <a:ext cx="63333" cy="28148"/>
            </a:xfrm>
            <a:custGeom>
              <a:avLst/>
              <a:gdLst>
                <a:gd name="T0" fmla="*/ 0 w 71"/>
                <a:gd name="T1" fmla="*/ 3175 h 32"/>
                <a:gd name="T2" fmla="*/ 0 w 71"/>
                <a:gd name="T3" fmla="*/ 3175 h 32"/>
                <a:gd name="T4" fmla="*/ 0 w 71"/>
                <a:gd name="T5" fmla="*/ 6350 h 32"/>
                <a:gd name="T6" fmla="*/ 4025 w 71"/>
                <a:gd name="T7" fmla="*/ 6350 h 32"/>
                <a:gd name="T8" fmla="*/ 7244 w 71"/>
                <a:gd name="T9" fmla="*/ 3175 h 32"/>
                <a:gd name="T10" fmla="*/ 11269 w 71"/>
                <a:gd name="T11" fmla="*/ 3175 h 32"/>
                <a:gd name="T12" fmla="*/ 14489 w 71"/>
                <a:gd name="T13" fmla="*/ 0 h 32"/>
                <a:gd name="T14" fmla="*/ 7244 w 71"/>
                <a:gd name="T15" fmla="*/ 0 h 32"/>
                <a:gd name="T16" fmla="*/ 0 w 71"/>
                <a:gd name="T17" fmla="*/ 3175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1"/>
                <a:gd name="T28" fmla="*/ 0 h 32"/>
                <a:gd name="T29" fmla="*/ 71 w 71"/>
                <a:gd name="T30" fmla="*/ 32 h 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1" h="32">
                  <a:moveTo>
                    <a:pt x="0" y="17"/>
                  </a:moveTo>
                  <a:lnTo>
                    <a:pt x="0" y="17"/>
                  </a:lnTo>
                  <a:lnTo>
                    <a:pt x="0" y="32"/>
                  </a:lnTo>
                  <a:lnTo>
                    <a:pt x="17" y="32"/>
                  </a:lnTo>
                  <a:lnTo>
                    <a:pt x="35" y="17"/>
                  </a:lnTo>
                  <a:lnTo>
                    <a:pt x="54" y="17"/>
                  </a:lnTo>
                  <a:lnTo>
                    <a:pt x="71" y="0"/>
                  </a:lnTo>
                  <a:lnTo>
                    <a:pt x="35"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32" name="Freeform 160">
              <a:extLst>
                <a:ext uri="{FF2B5EF4-FFF2-40B4-BE49-F238E27FC236}">
                  <a16:creationId xmlns:a16="http://schemas.microsoft.com/office/drawing/2014/main" id="{D96DBEA3-296E-42D6-BE24-521DF6C1055A}"/>
                </a:ext>
              </a:extLst>
            </p:cNvPr>
            <p:cNvSpPr>
              <a:spLocks/>
            </p:cNvSpPr>
            <p:nvPr>
              <p:custDataLst>
                <p:tags r:id="rId161"/>
              </p:custDataLst>
            </p:nvPr>
          </p:nvSpPr>
          <p:spPr bwMode="auto">
            <a:xfrm>
              <a:off x="10447402" y="3527417"/>
              <a:ext cx="258611" cy="226944"/>
            </a:xfrm>
            <a:custGeom>
              <a:avLst/>
              <a:gdLst>
                <a:gd name="T0" fmla="*/ 0 w 294"/>
                <a:gd name="T1" fmla="*/ 44623 h 257"/>
                <a:gd name="T2" fmla="*/ 0 w 294"/>
                <a:gd name="T3" fmla="*/ 44623 h 257"/>
                <a:gd name="T4" fmla="*/ 0 w 294"/>
                <a:gd name="T5" fmla="*/ 47810 h 257"/>
                <a:gd name="T6" fmla="*/ 7144 w 294"/>
                <a:gd name="T7" fmla="*/ 47810 h 257"/>
                <a:gd name="T8" fmla="*/ 20638 w 294"/>
                <a:gd name="T9" fmla="*/ 42233 h 257"/>
                <a:gd name="T10" fmla="*/ 23813 w 294"/>
                <a:gd name="T11" fmla="*/ 44623 h 257"/>
                <a:gd name="T12" fmla="*/ 23813 w 294"/>
                <a:gd name="T13" fmla="*/ 47810 h 257"/>
                <a:gd name="T14" fmla="*/ 27781 w 294"/>
                <a:gd name="T15" fmla="*/ 51795 h 257"/>
                <a:gd name="T16" fmla="*/ 30956 w 294"/>
                <a:gd name="T17" fmla="*/ 44623 h 257"/>
                <a:gd name="T18" fmla="*/ 30956 w 294"/>
                <a:gd name="T19" fmla="*/ 42233 h 257"/>
                <a:gd name="T20" fmla="*/ 34131 w 294"/>
                <a:gd name="T21" fmla="*/ 44623 h 257"/>
                <a:gd name="T22" fmla="*/ 37306 w 294"/>
                <a:gd name="T23" fmla="*/ 44623 h 257"/>
                <a:gd name="T24" fmla="*/ 41275 w 294"/>
                <a:gd name="T25" fmla="*/ 42233 h 257"/>
                <a:gd name="T26" fmla="*/ 44450 w 294"/>
                <a:gd name="T27" fmla="*/ 44623 h 257"/>
                <a:gd name="T28" fmla="*/ 44450 w 294"/>
                <a:gd name="T29" fmla="*/ 42233 h 257"/>
                <a:gd name="T30" fmla="*/ 47625 w 294"/>
                <a:gd name="T31" fmla="*/ 38248 h 257"/>
                <a:gd name="T32" fmla="*/ 47625 w 294"/>
                <a:gd name="T33" fmla="*/ 42233 h 257"/>
                <a:gd name="T34" fmla="*/ 51594 w 294"/>
                <a:gd name="T35" fmla="*/ 42233 h 257"/>
                <a:gd name="T36" fmla="*/ 55563 w 294"/>
                <a:gd name="T37" fmla="*/ 38248 h 257"/>
                <a:gd name="T38" fmla="*/ 55563 w 294"/>
                <a:gd name="T39" fmla="*/ 23108 h 257"/>
                <a:gd name="T40" fmla="*/ 58738 w 294"/>
                <a:gd name="T41" fmla="*/ 23108 h 257"/>
                <a:gd name="T42" fmla="*/ 58738 w 294"/>
                <a:gd name="T43" fmla="*/ 16734 h 257"/>
                <a:gd name="T44" fmla="*/ 58738 w 294"/>
                <a:gd name="T45" fmla="*/ 3984 h 257"/>
                <a:gd name="T46" fmla="*/ 55563 w 294"/>
                <a:gd name="T47" fmla="*/ 0 h 257"/>
                <a:gd name="T48" fmla="*/ 55563 w 294"/>
                <a:gd name="T49" fmla="*/ 3984 h 257"/>
                <a:gd name="T50" fmla="*/ 51594 w 294"/>
                <a:gd name="T51" fmla="*/ 3984 h 257"/>
                <a:gd name="T52" fmla="*/ 47625 w 294"/>
                <a:gd name="T53" fmla="*/ 16734 h 257"/>
                <a:gd name="T54" fmla="*/ 41275 w 294"/>
                <a:gd name="T55" fmla="*/ 25499 h 257"/>
                <a:gd name="T56" fmla="*/ 34131 w 294"/>
                <a:gd name="T57" fmla="*/ 32670 h 257"/>
                <a:gd name="T58" fmla="*/ 34131 w 294"/>
                <a:gd name="T59" fmla="*/ 25499 h 257"/>
                <a:gd name="T60" fmla="*/ 30956 w 294"/>
                <a:gd name="T61" fmla="*/ 28686 h 257"/>
                <a:gd name="T62" fmla="*/ 27781 w 294"/>
                <a:gd name="T63" fmla="*/ 38248 h 257"/>
                <a:gd name="T64" fmla="*/ 23813 w 294"/>
                <a:gd name="T65" fmla="*/ 38248 h 257"/>
                <a:gd name="T66" fmla="*/ 10319 w 294"/>
                <a:gd name="T67" fmla="*/ 38248 h 257"/>
                <a:gd name="T68" fmla="*/ 0 w 294"/>
                <a:gd name="T69" fmla="*/ 44623 h 25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94"/>
                <a:gd name="T106" fmla="*/ 0 h 257"/>
                <a:gd name="T107" fmla="*/ 294 w 294"/>
                <a:gd name="T108" fmla="*/ 257 h 25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94" h="257">
                  <a:moveTo>
                    <a:pt x="0" y="224"/>
                  </a:moveTo>
                  <a:lnTo>
                    <a:pt x="0" y="224"/>
                  </a:lnTo>
                  <a:lnTo>
                    <a:pt x="0" y="240"/>
                  </a:lnTo>
                  <a:lnTo>
                    <a:pt x="35" y="240"/>
                  </a:lnTo>
                  <a:lnTo>
                    <a:pt x="104" y="209"/>
                  </a:lnTo>
                  <a:lnTo>
                    <a:pt x="121" y="224"/>
                  </a:lnTo>
                  <a:lnTo>
                    <a:pt x="121" y="240"/>
                  </a:lnTo>
                  <a:lnTo>
                    <a:pt x="139" y="257"/>
                  </a:lnTo>
                  <a:lnTo>
                    <a:pt x="156" y="224"/>
                  </a:lnTo>
                  <a:lnTo>
                    <a:pt x="156" y="209"/>
                  </a:lnTo>
                  <a:lnTo>
                    <a:pt x="173" y="224"/>
                  </a:lnTo>
                  <a:lnTo>
                    <a:pt x="190" y="224"/>
                  </a:lnTo>
                  <a:lnTo>
                    <a:pt x="208" y="209"/>
                  </a:lnTo>
                  <a:lnTo>
                    <a:pt x="225" y="224"/>
                  </a:lnTo>
                  <a:lnTo>
                    <a:pt x="225" y="209"/>
                  </a:lnTo>
                  <a:lnTo>
                    <a:pt x="242" y="192"/>
                  </a:lnTo>
                  <a:lnTo>
                    <a:pt x="242" y="209"/>
                  </a:lnTo>
                  <a:lnTo>
                    <a:pt x="260" y="209"/>
                  </a:lnTo>
                  <a:lnTo>
                    <a:pt x="277" y="192"/>
                  </a:lnTo>
                  <a:lnTo>
                    <a:pt x="277" y="113"/>
                  </a:lnTo>
                  <a:lnTo>
                    <a:pt x="294" y="113"/>
                  </a:lnTo>
                  <a:lnTo>
                    <a:pt x="294" y="81"/>
                  </a:lnTo>
                  <a:lnTo>
                    <a:pt x="294" y="17"/>
                  </a:lnTo>
                  <a:lnTo>
                    <a:pt x="277" y="0"/>
                  </a:lnTo>
                  <a:lnTo>
                    <a:pt x="277" y="17"/>
                  </a:lnTo>
                  <a:lnTo>
                    <a:pt x="260" y="17"/>
                  </a:lnTo>
                  <a:lnTo>
                    <a:pt x="242" y="81"/>
                  </a:lnTo>
                  <a:lnTo>
                    <a:pt x="208" y="128"/>
                  </a:lnTo>
                  <a:lnTo>
                    <a:pt x="173" y="161"/>
                  </a:lnTo>
                  <a:lnTo>
                    <a:pt x="173" y="128"/>
                  </a:lnTo>
                  <a:lnTo>
                    <a:pt x="156" y="144"/>
                  </a:lnTo>
                  <a:lnTo>
                    <a:pt x="139" y="192"/>
                  </a:lnTo>
                  <a:lnTo>
                    <a:pt x="121" y="192"/>
                  </a:lnTo>
                  <a:lnTo>
                    <a:pt x="52" y="192"/>
                  </a:lnTo>
                  <a:lnTo>
                    <a:pt x="0" y="224"/>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33" name="Freeform 161">
              <a:extLst>
                <a:ext uri="{FF2B5EF4-FFF2-40B4-BE49-F238E27FC236}">
                  <a16:creationId xmlns:a16="http://schemas.microsoft.com/office/drawing/2014/main" id="{E6F72661-A2AB-4E8D-91D8-1156F8356C01}"/>
                </a:ext>
              </a:extLst>
            </p:cNvPr>
            <p:cNvSpPr>
              <a:spLocks/>
            </p:cNvSpPr>
            <p:nvPr>
              <p:custDataLst>
                <p:tags r:id="rId162"/>
              </p:custDataLst>
            </p:nvPr>
          </p:nvSpPr>
          <p:spPr bwMode="auto">
            <a:xfrm>
              <a:off x="10660271" y="3400751"/>
              <a:ext cx="151296" cy="126666"/>
            </a:xfrm>
            <a:custGeom>
              <a:avLst/>
              <a:gdLst>
                <a:gd name="T0" fmla="*/ 0 w 173"/>
                <a:gd name="T1" fmla="*/ 22225 h 144"/>
                <a:gd name="T2" fmla="*/ 0 w 173"/>
                <a:gd name="T3" fmla="*/ 22225 h 144"/>
                <a:gd name="T4" fmla="*/ 0 w 173"/>
                <a:gd name="T5" fmla="*/ 28575 h 144"/>
                <a:gd name="T6" fmla="*/ 6313 w 173"/>
                <a:gd name="T7" fmla="*/ 26194 h 144"/>
                <a:gd name="T8" fmla="*/ 3157 w 173"/>
                <a:gd name="T9" fmla="*/ 26194 h 144"/>
                <a:gd name="T10" fmla="*/ 3157 w 173"/>
                <a:gd name="T11" fmla="*/ 22225 h 144"/>
                <a:gd name="T12" fmla="*/ 6313 w 173"/>
                <a:gd name="T13" fmla="*/ 22225 h 144"/>
                <a:gd name="T14" fmla="*/ 10259 w 173"/>
                <a:gd name="T15" fmla="*/ 22225 h 144"/>
                <a:gd name="T16" fmla="*/ 20518 w 173"/>
                <a:gd name="T17" fmla="*/ 26194 h 144"/>
                <a:gd name="T18" fmla="*/ 23675 w 173"/>
                <a:gd name="T19" fmla="*/ 19050 h 144"/>
                <a:gd name="T20" fmla="*/ 26832 w 173"/>
                <a:gd name="T21" fmla="*/ 19050 h 144"/>
                <a:gd name="T22" fmla="*/ 33934 w 173"/>
                <a:gd name="T23" fmla="*/ 15875 h 144"/>
                <a:gd name="T24" fmla="*/ 30777 w 173"/>
                <a:gd name="T25" fmla="*/ 15875 h 144"/>
                <a:gd name="T26" fmla="*/ 26832 w 173"/>
                <a:gd name="T27" fmla="*/ 13494 h 144"/>
                <a:gd name="T28" fmla="*/ 30777 w 173"/>
                <a:gd name="T29" fmla="*/ 9525 h 144"/>
                <a:gd name="T30" fmla="*/ 26832 w 173"/>
                <a:gd name="T31" fmla="*/ 13494 h 144"/>
                <a:gd name="T32" fmla="*/ 20518 w 173"/>
                <a:gd name="T33" fmla="*/ 9525 h 144"/>
                <a:gd name="T34" fmla="*/ 10259 w 173"/>
                <a:gd name="T35" fmla="*/ 0 h 144"/>
                <a:gd name="T36" fmla="*/ 10259 w 173"/>
                <a:gd name="T37" fmla="*/ 3969 h 144"/>
                <a:gd name="T38" fmla="*/ 10259 w 173"/>
                <a:gd name="T39" fmla="*/ 7144 h 144"/>
                <a:gd name="T40" fmla="*/ 6313 w 173"/>
                <a:gd name="T41" fmla="*/ 19050 h 144"/>
                <a:gd name="T42" fmla="*/ 3157 w 173"/>
                <a:gd name="T43" fmla="*/ 15875 h 144"/>
                <a:gd name="T44" fmla="*/ 3157 w 173"/>
                <a:gd name="T45" fmla="*/ 19050 h 144"/>
                <a:gd name="T46" fmla="*/ 0 w 173"/>
                <a:gd name="T47" fmla="*/ 22225 h 14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73"/>
                <a:gd name="T73" fmla="*/ 0 h 144"/>
                <a:gd name="T74" fmla="*/ 173 w 173"/>
                <a:gd name="T75" fmla="*/ 144 h 14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73" h="144">
                  <a:moveTo>
                    <a:pt x="0" y="113"/>
                  </a:moveTo>
                  <a:lnTo>
                    <a:pt x="0" y="113"/>
                  </a:lnTo>
                  <a:lnTo>
                    <a:pt x="0" y="144"/>
                  </a:lnTo>
                  <a:lnTo>
                    <a:pt x="35" y="129"/>
                  </a:lnTo>
                  <a:lnTo>
                    <a:pt x="18" y="129"/>
                  </a:lnTo>
                  <a:lnTo>
                    <a:pt x="18" y="113"/>
                  </a:lnTo>
                  <a:lnTo>
                    <a:pt x="35" y="113"/>
                  </a:lnTo>
                  <a:lnTo>
                    <a:pt x="52" y="113"/>
                  </a:lnTo>
                  <a:lnTo>
                    <a:pt x="104" y="129"/>
                  </a:lnTo>
                  <a:lnTo>
                    <a:pt x="121" y="96"/>
                  </a:lnTo>
                  <a:lnTo>
                    <a:pt x="139" y="96"/>
                  </a:lnTo>
                  <a:lnTo>
                    <a:pt x="173" y="81"/>
                  </a:lnTo>
                  <a:lnTo>
                    <a:pt x="156" y="81"/>
                  </a:lnTo>
                  <a:lnTo>
                    <a:pt x="139" y="65"/>
                  </a:lnTo>
                  <a:lnTo>
                    <a:pt x="156" y="48"/>
                  </a:lnTo>
                  <a:lnTo>
                    <a:pt x="139" y="65"/>
                  </a:lnTo>
                  <a:lnTo>
                    <a:pt x="104" y="48"/>
                  </a:lnTo>
                  <a:lnTo>
                    <a:pt x="52" y="0"/>
                  </a:lnTo>
                  <a:lnTo>
                    <a:pt x="52" y="17"/>
                  </a:lnTo>
                  <a:lnTo>
                    <a:pt x="52" y="33"/>
                  </a:lnTo>
                  <a:lnTo>
                    <a:pt x="35" y="96"/>
                  </a:lnTo>
                  <a:lnTo>
                    <a:pt x="18" y="81"/>
                  </a:lnTo>
                  <a:lnTo>
                    <a:pt x="18" y="96"/>
                  </a:lnTo>
                  <a:lnTo>
                    <a:pt x="0" y="11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34" name="Freeform 162">
              <a:extLst>
                <a:ext uri="{FF2B5EF4-FFF2-40B4-BE49-F238E27FC236}">
                  <a16:creationId xmlns:a16="http://schemas.microsoft.com/office/drawing/2014/main" id="{806C9439-D3AD-4A17-AADE-6361520504EB}"/>
                </a:ext>
              </a:extLst>
            </p:cNvPr>
            <p:cNvSpPr>
              <a:spLocks/>
            </p:cNvSpPr>
            <p:nvPr>
              <p:custDataLst>
                <p:tags r:id="rId163"/>
              </p:custDataLst>
            </p:nvPr>
          </p:nvSpPr>
          <p:spPr bwMode="auto">
            <a:xfrm>
              <a:off x="11024437" y="3231863"/>
              <a:ext cx="29908" cy="28148"/>
            </a:xfrm>
            <a:custGeom>
              <a:avLst/>
              <a:gdLst>
                <a:gd name="T0" fmla="*/ 0 w 35"/>
                <a:gd name="T1" fmla="*/ 3079 h 33"/>
                <a:gd name="T2" fmla="*/ 0 w 35"/>
                <a:gd name="T3" fmla="*/ 3079 h 33"/>
                <a:gd name="T4" fmla="*/ 0 w 35"/>
                <a:gd name="T5" fmla="*/ 6158 h 33"/>
                <a:gd name="T6" fmla="*/ 3084 w 35"/>
                <a:gd name="T7" fmla="*/ 3079 h 33"/>
                <a:gd name="T8" fmla="*/ 6169 w 35"/>
                <a:gd name="T9" fmla="*/ 0 h 33"/>
                <a:gd name="T10" fmla="*/ 0 w 35"/>
                <a:gd name="T11" fmla="*/ 3079 h 33"/>
                <a:gd name="T12" fmla="*/ 0 60000 65536"/>
                <a:gd name="T13" fmla="*/ 0 60000 65536"/>
                <a:gd name="T14" fmla="*/ 0 60000 65536"/>
                <a:gd name="T15" fmla="*/ 0 60000 65536"/>
                <a:gd name="T16" fmla="*/ 0 60000 65536"/>
                <a:gd name="T17" fmla="*/ 0 60000 65536"/>
                <a:gd name="T18" fmla="*/ 0 w 35"/>
                <a:gd name="T19" fmla="*/ 0 h 33"/>
                <a:gd name="T20" fmla="*/ 35 w 35"/>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5" h="33">
                  <a:moveTo>
                    <a:pt x="0" y="17"/>
                  </a:moveTo>
                  <a:lnTo>
                    <a:pt x="0" y="17"/>
                  </a:lnTo>
                  <a:lnTo>
                    <a:pt x="0" y="33"/>
                  </a:lnTo>
                  <a:lnTo>
                    <a:pt x="17" y="17"/>
                  </a:lnTo>
                  <a:lnTo>
                    <a:pt x="35"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35" name="Freeform 163">
              <a:extLst>
                <a:ext uri="{FF2B5EF4-FFF2-40B4-BE49-F238E27FC236}">
                  <a16:creationId xmlns:a16="http://schemas.microsoft.com/office/drawing/2014/main" id="{4114E085-5746-4EA8-B017-392DAC9E132C}"/>
                </a:ext>
              </a:extLst>
            </p:cNvPr>
            <p:cNvSpPr>
              <a:spLocks/>
            </p:cNvSpPr>
            <p:nvPr>
              <p:custDataLst>
                <p:tags r:id="rId164"/>
              </p:custDataLst>
            </p:nvPr>
          </p:nvSpPr>
          <p:spPr bwMode="auto">
            <a:xfrm>
              <a:off x="10706012" y="3105196"/>
              <a:ext cx="59815" cy="295554"/>
            </a:xfrm>
            <a:custGeom>
              <a:avLst/>
              <a:gdLst>
                <a:gd name="T0" fmla="*/ 0 w 69"/>
                <a:gd name="T1" fmla="*/ 7144 h 336"/>
                <a:gd name="T2" fmla="*/ 0 w 69"/>
                <a:gd name="T3" fmla="*/ 7144 h 336"/>
                <a:gd name="T4" fmla="*/ 0 w 69"/>
                <a:gd name="T5" fmla="*/ 22225 h 336"/>
                <a:gd name="T6" fmla="*/ 3129 w 69"/>
                <a:gd name="T7" fmla="*/ 26194 h 336"/>
                <a:gd name="T8" fmla="*/ 0 w 69"/>
                <a:gd name="T9" fmla="*/ 44450 h 336"/>
                <a:gd name="T10" fmla="*/ 3129 w 69"/>
                <a:gd name="T11" fmla="*/ 51594 h 336"/>
                <a:gd name="T12" fmla="*/ 0 w 69"/>
                <a:gd name="T13" fmla="*/ 61119 h 336"/>
                <a:gd name="T14" fmla="*/ 3129 w 69"/>
                <a:gd name="T15" fmla="*/ 66675 h 336"/>
                <a:gd name="T16" fmla="*/ 3129 w 69"/>
                <a:gd name="T17" fmla="*/ 61119 h 336"/>
                <a:gd name="T18" fmla="*/ 10169 w 69"/>
                <a:gd name="T19" fmla="*/ 64294 h 336"/>
                <a:gd name="T20" fmla="*/ 10169 w 69"/>
                <a:gd name="T21" fmla="*/ 61119 h 336"/>
                <a:gd name="T22" fmla="*/ 3129 w 69"/>
                <a:gd name="T23" fmla="*/ 51594 h 336"/>
                <a:gd name="T24" fmla="*/ 6258 w 69"/>
                <a:gd name="T25" fmla="*/ 41275 h 336"/>
                <a:gd name="T26" fmla="*/ 10169 w 69"/>
                <a:gd name="T27" fmla="*/ 41275 h 336"/>
                <a:gd name="T28" fmla="*/ 13298 w 69"/>
                <a:gd name="T29" fmla="*/ 41275 h 336"/>
                <a:gd name="T30" fmla="*/ 6258 w 69"/>
                <a:gd name="T31" fmla="*/ 19050 h 336"/>
                <a:gd name="T32" fmla="*/ 6258 w 69"/>
                <a:gd name="T33" fmla="*/ 3969 h 336"/>
                <a:gd name="T34" fmla="*/ 6258 w 69"/>
                <a:gd name="T35" fmla="*/ 0 h 336"/>
                <a:gd name="T36" fmla="*/ 3129 w 69"/>
                <a:gd name="T37" fmla="*/ 0 h 336"/>
                <a:gd name="T38" fmla="*/ 3129 w 69"/>
                <a:gd name="T39" fmla="*/ 3969 h 336"/>
                <a:gd name="T40" fmla="*/ 0 w 69"/>
                <a:gd name="T41" fmla="*/ 7144 h 3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336"/>
                <a:gd name="T65" fmla="*/ 69 w 69"/>
                <a:gd name="T66" fmla="*/ 336 h 3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336">
                  <a:moveTo>
                    <a:pt x="0" y="33"/>
                  </a:moveTo>
                  <a:lnTo>
                    <a:pt x="0" y="33"/>
                  </a:lnTo>
                  <a:lnTo>
                    <a:pt x="0" y="113"/>
                  </a:lnTo>
                  <a:lnTo>
                    <a:pt x="17" y="129"/>
                  </a:lnTo>
                  <a:lnTo>
                    <a:pt x="0" y="225"/>
                  </a:lnTo>
                  <a:lnTo>
                    <a:pt x="17" y="257"/>
                  </a:lnTo>
                  <a:lnTo>
                    <a:pt x="0" y="305"/>
                  </a:lnTo>
                  <a:lnTo>
                    <a:pt x="17" y="336"/>
                  </a:lnTo>
                  <a:lnTo>
                    <a:pt x="17" y="305"/>
                  </a:lnTo>
                  <a:lnTo>
                    <a:pt x="52" y="321"/>
                  </a:lnTo>
                  <a:lnTo>
                    <a:pt x="52" y="305"/>
                  </a:lnTo>
                  <a:lnTo>
                    <a:pt x="17" y="257"/>
                  </a:lnTo>
                  <a:lnTo>
                    <a:pt x="35" y="209"/>
                  </a:lnTo>
                  <a:lnTo>
                    <a:pt x="52" y="209"/>
                  </a:lnTo>
                  <a:lnTo>
                    <a:pt x="69" y="209"/>
                  </a:lnTo>
                  <a:lnTo>
                    <a:pt x="35" y="96"/>
                  </a:lnTo>
                  <a:lnTo>
                    <a:pt x="35" y="17"/>
                  </a:lnTo>
                  <a:lnTo>
                    <a:pt x="35" y="0"/>
                  </a:lnTo>
                  <a:lnTo>
                    <a:pt x="17" y="0"/>
                  </a:lnTo>
                  <a:lnTo>
                    <a:pt x="17" y="17"/>
                  </a:lnTo>
                  <a:lnTo>
                    <a:pt x="0"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36" name="Line 164">
              <a:extLst>
                <a:ext uri="{FF2B5EF4-FFF2-40B4-BE49-F238E27FC236}">
                  <a16:creationId xmlns:a16="http://schemas.microsoft.com/office/drawing/2014/main" id="{3FBFB604-E06D-4072-B94F-30F2F3B289B4}"/>
                </a:ext>
              </a:extLst>
            </p:cNvPr>
            <p:cNvSpPr>
              <a:spLocks noChangeShapeType="1"/>
            </p:cNvSpPr>
            <p:nvPr>
              <p:custDataLst>
                <p:tags r:id="rId165"/>
              </p:custDataLst>
            </p:nvPr>
          </p:nvSpPr>
          <p:spPr bwMode="auto">
            <a:xfrm flipV="1">
              <a:off x="10894252" y="3393714"/>
              <a:ext cx="29908" cy="42222"/>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237" name="Freeform 165">
              <a:extLst>
                <a:ext uri="{FF2B5EF4-FFF2-40B4-BE49-F238E27FC236}">
                  <a16:creationId xmlns:a16="http://schemas.microsoft.com/office/drawing/2014/main" id="{5C7F53BA-67BD-4355-85BD-BA9DB81C16E2}"/>
                </a:ext>
              </a:extLst>
            </p:cNvPr>
            <p:cNvSpPr>
              <a:spLocks/>
            </p:cNvSpPr>
            <p:nvPr>
              <p:custDataLst>
                <p:tags r:id="rId166"/>
              </p:custDataLst>
            </p:nvPr>
          </p:nvSpPr>
          <p:spPr bwMode="auto">
            <a:xfrm>
              <a:off x="9073425" y="3133344"/>
              <a:ext cx="1465458" cy="942959"/>
            </a:xfrm>
            <a:custGeom>
              <a:avLst/>
              <a:gdLst>
                <a:gd name="T0" fmla="*/ 76292 w 1664"/>
                <a:gd name="T1" fmla="*/ 34958 h 1071"/>
                <a:gd name="T2" fmla="*/ 92980 w 1664"/>
                <a:gd name="T3" fmla="*/ 50847 h 1071"/>
                <a:gd name="T4" fmla="*/ 123974 w 1664"/>
                <a:gd name="T5" fmla="*/ 79449 h 1071"/>
                <a:gd name="T6" fmla="*/ 169272 w 1664"/>
                <a:gd name="T7" fmla="*/ 88983 h 1071"/>
                <a:gd name="T8" fmla="*/ 207418 w 1664"/>
                <a:gd name="T9" fmla="*/ 73093 h 1071"/>
                <a:gd name="T10" fmla="*/ 217749 w 1664"/>
                <a:gd name="T11" fmla="*/ 66737 h 1071"/>
                <a:gd name="T12" fmla="*/ 247948 w 1664"/>
                <a:gd name="T13" fmla="*/ 54025 h 1071"/>
                <a:gd name="T14" fmla="*/ 234438 w 1664"/>
                <a:gd name="T15" fmla="*/ 47669 h 1071"/>
                <a:gd name="T16" fmla="*/ 231259 w 1664"/>
                <a:gd name="T17" fmla="*/ 28602 h 1071"/>
                <a:gd name="T18" fmla="*/ 251921 w 1664"/>
                <a:gd name="T19" fmla="*/ 15890 h 1071"/>
                <a:gd name="T20" fmla="*/ 251921 w 1664"/>
                <a:gd name="T21" fmla="*/ 9534 h 1071"/>
                <a:gd name="T22" fmla="*/ 278941 w 1664"/>
                <a:gd name="T23" fmla="*/ 3178 h 1071"/>
                <a:gd name="T24" fmla="*/ 299604 w 1664"/>
                <a:gd name="T25" fmla="*/ 31780 h 1071"/>
                <a:gd name="T26" fmla="*/ 317087 w 1664"/>
                <a:gd name="T27" fmla="*/ 44491 h 1071"/>
                <a:gd name="T28" fmla="*/ 321061 w 1664"/>
                <a:gd name="T29" fmla="*/ 66737 h 1071"/>
                <a:gd name="T30" fmla="*/ 313908 w 1664"/>
                <a:gd name="T31" fmla="*/ 76271 h 1071"/>
                <a:gd name="T32" fmla="*/ 299604 w 1664"/>
                <a:gd name="T33" fmla="*/ 85805 h 1071"/>
                <a:gd name="T34" fmla="*/ 289272 w 1664"/>
                <a:gd name="T35" fmla="*/ 88983 h 1071"/>
                <a:gd name="T36" fmla="*/ 268610 w 1664"/>
                <a:gd name="T37" fmla="*/ 101695 h 1071"/>
                <a:gd name="T38" fmla="*/ 258279 w 1664"/>
                <a:gd name="T39" fmla="*/ 101695 h 1071"/>
                <a:gd name="T40" fmla="*/ 247948 w 1664"/>
                <a:gd name="T41" fmla="*/ 101695 h 1071"/>
                <a:gd name="T42" fmla="*/ 238411 w 1664"/>
                <a:gd name="T43" fmla="*/ 108051 h 1071"/>
                <a:gd name="T44" fmla="*/ 265431 w 1664"/>
                <a:gd name="T45" fmla="*/ 117585 h 1071"/>
                <a:gd name="T46" fmla="*/ 255100 w 1664"/>
                <a:gd name="T47" fmla="*/ 120763 h 1071"/>
                <a:gd name="T48" fmla="*/ 255100 w 1664"/>
                <a:gd name="T49" fmla="*/ 146186 h 1071"/>
                <a:gd name="T50" fmla="*/ 262252 w 1664"/>
                <a:gd name="T51" fmla="*/ 155720 h 1071"/>
                <a:gd name="T52" fmla="*/ 258279 w 1664"/>
                <a:gd name="T53" fmla="*/ 171610 h 1071"/>
                <a:gd name="T54" fmla="*/ 247948 w 1664"/>
                <a:gd name="T55" fmla="*/ 184322 h 1071"/>
                <a:gd name="T56" fmla="*/ 241590 w 1664"/>
                <a:gd name="T57" fmla="*/ 193856 h 1071"/>
                <a:gd name="T58" fmla="*/ 220928 w 1664"/>
                <a:gd name="T59" fmla="*/ 203390 h 1071"/>
                <a:gd name="T60" fmla="*/ 213775 w 1664"/>
                <a:gd name="T61" fmla="*/ 203390 h 1071"/>
                <a:gd name="T62" fmla="*/ 197087 w 1664"/>
                <a:gd name="T63" fmla="*/ 206568 h 1071"/>
                <a:gd name="T64" fmla="*/ 179603 w 1664"/>
                <a:gd name="T65" fmla="*/ 206568 h 1071"/>
                <a:gd name="T66" fmla="*/ 158146 w 1664"/>
                <a:gd name="T67" fmla="*/ 203390 h 1071"/>
                <a:gd name="T68" fmla="*/ 151789 w 1664"/>
                <a:gd name="T69" fmla="*/ 203390 h 1071"/>
                <a:gd name="T70" fmla="*/ 148610 w 1664"/>
                <a:gd name="T71" fmla="*/ 206568 h 1071"/>
                <a:gd name="T72" fmla="*/ 138279 w 1664"/>
                <a:gd name="T73" fmla="*/ 200212 h 1071"/>
                <a:gd name="T74" fmla="*/ 131126 w 1664"/>
                <a:gd name="T75" fmla="*/ 193856 h 1071"/>
                <a:gd name="T76" fmla="*/ 127947 w 1664"/>
                <a:gd name="T77" fmla="*/ 171610 h 1071"/>
                <a:gd name="T78" fmla="*/ 96954 w 1664"/>
                <a:gd name="T79" fmla="*/ 171610 h 1071"/>
                <a:gd name="T80" fmla="*/ 79470 w 1664"/>
                <a:gd name="T81" fmla="*/ 171610 h 1071"/>
                <a:gd name="T82" fmla="*/ 58808 w 1664"/>
                <a:gd name="T83" fmla="*/ 168432 h 1071"/>
                <a:gd name="T84" fmla="*/ 44503 w 1664"/>
                <a:gd name="T85" fmla="*/ 158898 h 1071"/>
                <a:gd name="T86" fmla="*/ 24636 w 1664"/>
                <a:gd name="T87" fmla="*/ 146186 h 1071"/>
                <a:gd name="T88" fmla="*/ 34172 w 1664"/>
                <a:gd name="T89" fmla="*/ 133474 h 1071"/>
                <a:gd name="T90" fmla="*/ 20662 w 1664"/>
                <a:gd name="T91" fmla="*/ 127119 h 1071"/>
                <a:gd name="T92" fmla="*/ 3974 w 1664"/>
                <a:gd name="T93" fmla="*/ 117585 h 1071"/>
                <a:gd name="T94" fmla="*/ 0 w 1664"/>
                <a:gd name="T95" fmla="*/ 108051 h 1071"/>
                <a:gd name="T96" fmla="*/ 14305 w 1664"/>
                <a:gd name="T97" fmla="*/ 95339 h 1071"/>
                <a:gd name="T98" fmla="*/ 34172 w 1664"/>
                <a:gd name="T99" fmla="*/ 85805 h 1071"/>
                <a:gd name="T100" fmla="*/ 34172 w 1664"/>
                <a:gd name="T101" fmla="*/ 63559 h 1071"/>
                <a:gd name="T102" fmla="*/ 58808 w 1664"/>
                <a:gd name="T103" fmla="*/ 50847 h 1071"/>
                <a:gd name="T104" fmla="*/ 69139 w 1664"/>
                <a:gd name="T105" fmla="*/ 38136 h 107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64"/>
                <a:gd name="T160" fmla="*/ 0 h 1071"/>
                <a:gd name="T161" fmla="*/ 1664 w 1664"/>
                <a:gd name="T162" fmla="*/ 1071 h 1071"/>
                <a:gd name="connsiteX0" fmla="*/ 2085 w 10000"/>
                <a:gd name="connsiteY0" fmla="*/ 1793 h 10000"/>
                <a:gd name="connsiteX1" fmla="*/ 2085 w 10000"/>
                <a:gd name="connsiteY1" fmla="*/ 1793 h 10000"/>
                <a:gd name="connsiteX2" fmla="*/ 2296 w 10000"/>
                <a:gd name="connsiteY2" fmla="*/ 1643 h 10000"/>
                <a:gd name="connsiteX3" fmla="*/ 2500 w 10000"/>
                <a:gd name="connsiteY3" fmla="*/ 2092 h 10000"/>
                <a:gd name="connsiteX4" fmla="*/ 2710 w 10000"/>
                <a:gd name="connsiteY4" fmla="*/ 2092 h 10000"/>
                <a:gd name="connsiteX5" fmla="*/ 2813 w 10000"/>
                <a:gd name="connsiteY5" fmla="*/ 2381 h 10000"/>
                <a:gd name="connsiteX6" fmla="*/ 2813 w 10000"/>
                <a:gd name="connsiteY6" fmla="*/ 2988 h 10000"/>
                <a:gd name="connsiteX7" fmla="*/ 3438 w 10000"/>
                <a:gd name="connsiteY7" fmla="*/ 3277 h 10000"/>
                <a:gd name="connsiteX8" fmla="*/ 3750 w 10000"/>
                <a:gd name="connsiteY8" fmla="*/ 3725 h 10000"/>
                <a:gd name="connsiteX9" fmla="*/ 4369 w 10000"/>
                <a:gd name="connsiteY9" fmla="*/ 3725 h 10000"/>
                <a:gd name="connsiteX10" fmla="*/ 4681 w 10000"/>
                <a:gd name="connsiteY10" fmla="*/ 4034 h 10000"/>
                <a:gd name="connsiteX11" fmla="*/ 5096 w 10000"/>
                <a:gd name="connsiteY11" fmla="*/ 4174 h 10000"/>
                <a:gd name="connsiteX12" fmla="*/ 5523 w 10000"/>
                <a:gd name="connsiteY12" fmla="*/ 3884 h 10000"/>
                <a:gd name="connsiteX13" fmla="*/ 5938 w 10000"/>
                <a:gd name="connsiteY13" fmla="*/ 3884 h 10000"/>
                <a:gd name="connsiteX14" fmla="*/ 6250 w 10000"/>
                <a:gd name="connsiteY14" fmla="*/ 3436 h 10000"/>
                <a:gd name="connsiteX15" fmla="*/ 6148 w 10000"/>
                <a:gd name="connsiteY15" fmla="*/ 3277 h 10000"/>
                <a:gd name="connsiteX16" fmla="*/ 6352 w 10000"/>
                <a:gd name="connsiteY16" fmla="*/ 2988 h 10000"/>
                <a:gd name="connsiteX17" fmla="*/ 6563 w 10000"/>
                <a:gd name="connsiteY17" fmla="*/ 3137 h 10000"/>
                <a:gd name="connsiteX18" fmla="*/ 6875 w 10000"/>
                <a:gd name="connsiteY18" fmla="*/ 2829 h 10000"/>
                <a:gd name="connsiteX19" fmla="*/ 7079 w 10000"/>
                <a:gd name="connsiteY19" fmla="*/ 2540 h 10000"/>
                <a:gd name="connsiteX20" fmla="*/ 7494 w 10000"/>
                <a:gd name="connsiteY20" fmla="*/ 2540 h 10000"/>
                <a:gd name="connsiteX21" fmla="*/ 7392 w 10000"/>
                <a:gd name="connsiteY21" fmla="*/ 2241 h 10000"/>
                <a:gd name="connsiteX22" fmla="*/ 7290 w 10000"/>
                <a:gd name="connsiteY22" fmla="*/ 2092 h 10000"/>
                <a:gd name="connsiteX23" fmla="*/ 7079 w 10000"/>
                <a:gd name="connsiteY23" fmla="*/ 2241 h 10000"/>
                <a:gd name="connsiteX24" fmla="*/ 6875 w 10000"/>
                <a:gd name="connsiteY24" fmla="*/ 2241 h 10000"/>
                <a:gd name="connsiteX25" fmla="*/ 6875 w 10000"/>
                <a:gd name="connsiteY25" fmla="*/ 1643 h 10000"/>
                <a:gd name="connsiteX26" fmla="*/ 6977 w 10000"/>
                <a:gd name="connsiteY26" fmla="*/ 1345 h 10000"/>
                <a:gd name="connsiteX27" fmla="*/ 7188 w 10000"/>
                <a:gd name="connsiteY27" fmla="*/ 1485 h 10000"/>
                <a:gd name="connsiteX28" fmla="*/ 7494 w 10000"/>
                <a:gd name="connsiteY28" fmla="*/ 1345 h 10000"/>
                <a:gd name="connsiteX29" fmla="*/ 7602 w 10000"/>
                <a:gd name="connsiteY29" fmla="*/ 747 h 10000"/>
                <a:gd name="connsiteX30" fmla="*/ 7704 w 10000"/>
                <a:gd name="connsiteY30" fmla="*/ 588 h 10000"/>
                <a:gd name="connsiteX31" fmla="*/ 7704 w 10000"/>
                <a:gd name="connsiteY31" fmla="*/ 448 h 10000"/>
                <a:gd name="connsiteX32" fmla="*/ 7602 w 10000"/>
                <a:gd name="connsiteY32" fmla="*/ 448 h 10000"/>
                <a:gd name="connsiteX33" fmla="*/ 7704 w 10000"/>
                <a:gd name="connsiteY33" fmla="*/ 140 h 10000"/>
                <a:gd name="connsiteX34" fmla="*/ 8119 w 10000"/>
                <a:gd name="connsiteY34" fmla="*/ 0 h 10000"/>
                <a:gd name="connsiteX35" fmla="*/ 8431 w 10000"/>
                <a:gd name="connsiteY35" fmla="*/ 140 h 10000"/>
                <a:gd name="connsiteX36" fmla="*/ 8642 w 10000"/>
                <a:gd name="connsiteY36" fmla="*/ 448 h 10000"/>
                <a:gd name="connsiteX37" fmla="*/ 8846 w 10000"/>
                <a:gd name="connsiteY37" fmla="*/ 1485 h 10000"/>
                <a:gd name="connsiteX38" fmla="*/ 9056 w 10000"/>
                <a:gd name="connsiteY38" fmla="*/ 1485 h 10000"/>
                <a:gd name="connsiteX39" fmla="*/ 9363 w 10000"/>
                <a:gd name="connsiteY39" fmla="*/ 1793 h 10000"/>
                <a:gd name="connsiteX40" fmla="*/ 9363 w 10000"/>
                <a:gd name="connsiteY40" fmla="*/ 2092 h 10000"/>
                <a:gd name="connsiteX41" fmla="*/ 9585 w 10000"/>
                <a:gd name="connsiteY41" fmla="*/ 2092 h 10000"/>
                <a:gd name="connsiteX42" fmla="*/ 10000 w 10000"/>
                <a:gd name="connsiteY42" fmla="*/ 1933 h 10000"/>
                <a:gd name="connsiteX43" fmla="*/ 10000 w 10000"/>
                <a:gd name="connsiteY43" fmla="*/ 2241 h 10000"/>
                <a:gd name="connsiteX44" fmla="*/ 9688 w 10000"/>
                <a:gd name="connsiteY44" fmla="*/ 3137 h 10000"/>
                <a:gd name="connsiteX45" fmla="*/ 9585 w 10000"/>
                <a:gd name="connsiteY45" fmla="*/ 2988 h 10000"/>
                <a:gd name="connsiteX46" fmla="*/ 9363 w 10000"/>
                <a:gd name="connsiteY46" fmla="*/ 3137 h 10000"/>
                <a:gd name="connsiteX47" fmla="*/ 9483 w 10000"/>
                <a:gd name="connsiteY47" fmla="*/ 3585 h 10000"/>
                <a:gd name="connsiteX48" fmla="*/ 9363 w 10000"/>
                <a:gd name="connsiteY48" fmla="*/ 3884 h 10000"/>
                <a:gd name="connsiteX49" fmla="*/ 9261 w 10000"/>
                <a:gd name="connsiteY49" fmla="*/ 3884 h 10000"/>
                <a:gd name="connsiteX50" fmla="*/ 9056 w 10000"/>
                <a:gd name="connsiteY50" fmla="*/ 4034 h 10000"/>
                <a:gd name="connsiteX51" fmla="*/ 8948 w 10000"/>
                <a:gd name="connsiteY51" fmla="*/ 4034 h 10000"/>
                <a:gd name="connsiteX52" fmla="*/ 8846 w 10000"/>
                <a:gd name="connsiteY52" fmla="*/ 4174 h 10000"/>
                <a:gd name="connsiteX53" fmla="*/ 8744 w 10000"/>
                <a:gd name="connsiteY53" fmla="*/ 4174 h 10000"/>
                <a:gd name="connsiteX54" fmla="*/ 8329 w 10000"/>
                <a:gd name="connsiteY54" fmla="*/ 4622 h 10000"/>
                <a:gd name="connsiteX55" fmla="*/ 8329 w 10000"/>
                <a:gd name="connsiteY55" fmla="*/ 4781 h 10000"/>
                <a:gd name="connsiteX56" fmla="*/ 8119 w 10000"/>
                <a:gd name="connsiteY56" fmla="*/ 4781 h 10000"/>
                <a:gd name="connsiteX57" fmla="*/ 7806 w 10000"/>
                <a:gd name="connsiteY57" fmla="*/ 5070 h 10000"/>
                <a:gd name="connsiteX58" fmla="*/ 7806 w 10000"/>
                <a:gd name="connsiteY58" fmla="*/ 4930 h 10000"/>
                <a:gd name="connsiteX59" fmla="*/ 7806 w 10000"/>
                <a:gd name="connsiteY59" fmla="*/ 4781 h 10000"/>
                <a:gd name="connsiteX60" fmla="*/ 7915 w 10000"/>
                <a:gd name="connsiteY60" fmla="*/ 4482 h 10000"/>
                <a:gd name="connsiteX61" fmla="*/ 7806 w 10000"/>
                <a:gd name="connsiteY61" fmla="*/ 4332 h 10000"/>
                <a:gd name="connsiteX62" fmla="*/ 7494 w 10000"/>
                <a:gd name="connsiteY62" fmla="*/ 4781 h 10000"/>
                <a:gd name="connsiteX63" fmla="*/ 7392 w 10000"/>
                <a:gd name="connsiteY63" fmla="*/ 4930 h 10000"/>
                <a:gd name="connsiteX64" fmla="*/ 7290 w 10000"/>
                <a:gd name="connsiteY64" fmla="*/ 4930 h 10000"/>
                <a:gd name="connsiteX65" fmla="*/ 7188 w 10000"/>
                <a:gd name="connsiteY65" fmla="*/ 5070 h 10000"/>
                <a:gd name="connsiteX66" fmla="*/ 7494 w 10000"/>
                <a:gd name="connsiteY66" fmla="*/ 5518 h 10000"/>
                <a:gd name="connsiteX67" fmla="*/ 7704 w 10000"/>
                <a:gd name="connsiteY67" fmla="*/ 5369 h 10000"/>
                <a:gd name="connsiteX68" fmla="*/ 8017 w 10000"/>
                <a:gd name="connsiteY68" fmla="*/ 5518 h 10000"/>
                <a:gd name="connsiteX69" fmla="*/ 8017 w 10000"/>
                <a:gd name="connsiteY69" fmla="*/ 5677 h 10000"/>
                <a:gd name="connsiteX70" fmla="*/ 7915 w 10000"/>
                <a:gd name="connsiteY70" fmla="*/ 5518 h 10000"/>
                <a:gd name="connsiteX71" fmla="*/ 7704 w 10000"/>
                <a:gd name="connsiteY71" fmla="*/ 5677 h 10000"/>
                <a:gd name="connsiteX72" fmla="*/ 7494 w 10000"/>
                <a:gd name="connsiteY72" fmla="*/ 6125 h 10000"/>
                <a:gd name="connsiteX73" fmla="*/ 7602 w 10000"/>
                <a:gd name="connsiteY73" fmla="*/ 6265 h 10000"/>
                <a:gd name="connsiteX74" fmla="*/ 7704 w 10000"/>
                <a:gd name="connsiteY74" fmla="*/ 6863 h 10000"/>
                <a:gd name="connsiteX75" fmla="*/ 7915 w 10000"/>
                <a:gd name="connsiteY75" fmla="*/ 7021 h 10000"/>
                <a:gd name="connsiteX76" fmla="*/ 7806 w 10000"/>
                <a:gd name="connsiteY76" fmla="*/ 7021 h 10000"/>
                <a:gd name="connsiteX77" fmla="*/ 7915 w 10000"/>
                <a:gd name="connsiteY77" fmla="*/ 7311 h 10000"/>
                <a:gd name="connsiteX78" fmla="*/ 7602 w 10000"/>
                <a:gd name="connsiteY78" fmla="*/ 7470 h 10000"/>
                <a:gd name="connsiteX79" fmla="*/ 7915 w 10000"/>
                <a:gd name="connsiteY79" fmla="*/ 7470 h 10000"/>
                <a:gd name="connsiteX80" fmla="*/ 7806 w 10000"/>
                <a:gd name="connsiteY80" fmla="*/ 8058 h 10000"/>
                <a:gd name="connsiteX81" fmla="*/ 7602 w 10000"/>
                <a:gd name="connsiteY81" fmla="*/ 8366 h 10000"/>
                <a:gd name="connsiteX82" fmla="*/ 7494 w 10000"/>
                <a:gd name="connsiteY82" fmla="*/ 8366 h 10000"/>
                <a:gd name="connsiteX83" fmla="*/ 7494 w 10000"/>
                <a:gd name="connsiteY83" fmla="*/ 8655 h 10000"/>
                <a:gd name="connsiteX84" fmla="*/ 7392 w 10000"/>
                <a:gd name="connsiteY84" fmla="*/ 8954 h 10000"/>
                <a:gd name="connsiteX85" fmla="*/ 7290 w 10000"/>
                <a:gd name="connsiteY85" fmla="*/ 8954 h 10000"/>
                <a:gd name="connsiteX86" fmla="*/ 7290 w 10000"/>
                <a:gd name="connsiteY86" fmla="*/ 9104 h 10000"/>
                <a:gd name="connsiteX87" fmla="*/ 6977 w 10000"/>
                <a:gd name="connsiteY87" fmla="*/ 9402 h 10000"/>
                <a:gd name="connsiteX88" fmla="*/ 6665 w 10000"/>
                <a:gd name="connsiteY88" fmla="*/ 9402 h 10000"/>
                <a:gd name="connsiteX89" fmla="*/ 6665 w 10000"/>
                <a:gd name="connsiteY89" fmla="*/ 9552 h 10000"/>
                <a:gd name="connsiteX90" fmla="*/ 6563 w 10000"/>
                <a:gd name="connsiteY90" fmla="*/ 9402 h 10000"/>
                <a:gd name="connsiteX91" fmla="*/ 6563 w 10000"/>
                <a:gd name="connsiteY91" fmla="*/ 9552 h 10000"/>
                <a:gd name="connsiteX92" fmla="*/ 6460 w 10000"/>
                <a:gd name="connsiteY92" fmla="*/ 9552 h 10000"/>
                <a:gd name="connsiteX93" fmla="*/ 6046 w 10000"/>
                <a:gd name="connsiteY93" fmla="*/ 9851 h 10000"/>
                <a:gd name="connsiteX94" fmla="*/ 5938 w 10000"/>
                <a:gd name="connsiteY94" fmla="*/ 10000 h 10000"/>
                <a:gd name="connsiteX95" fmla="*/ 5938 w 10000"/>
                <a:gd name="connsiteY95" fmla="*/ 9711 h 10000"/>
                <a:gd name="connsiteX96" fmla="*/ 5733 w 10000"/>
                <a:gd name="connsiteY96" fmla="*/ 9711 h 10000"/>
                <a:gd name="connsiteX97" fmla="*/ 5625 w 10000"/>
                <a:gd name="connsiteY97" fmla="*/ 9711 h 10000"/>
                <a:gd name="connsiteX98" fmla="*/ 5409 w 10000"/>
                <a:gd name="connsiteY98" fmla="*/ 9711 h 10000"/>
                <a:gd name="connsiteX99" fmla="*/ 5409 w 10000"/>
                <a:gd name="connsiteY99" fmla="*/ 9402 h 10000"/>
                <a:gd name="connsiteX100" fmla="*/ 5198 w 10000"/>
                <a:gd name="connsiteY100" fmla="*/ 9402 h 10000"/>
                <a:gd name="connsiteX101" fmla="*/ 4784 w 10000"/>
                <a:gd name="connsiteY101" fmla="*/ 9552 h 10000"/>
                <a:gd name="connsiteX102" fmla="*/ 4681 w 10000"/>
                <a:gd name="connsiteY102" fmla="*/ 9402 h 10000"/>
                <a:gd name="connsiteX103" fmla="*/ 4681 w 10000"/>
                <a:gd name="connsiteY103" fmla="*/ 9552 h 10000"/>
                <a:gd name="connsiteX104" fmla="*/ 4579 w 10000"/>
                <a:gd name="connsiteY104" fmla="*/ 9552 h 10000"/>
                <a:gd name="connsiteX105" fmla="*/ 4579 w 10000"/>
                <a:gd name="connsiteY105" fmla="*/ 9851 h 10000"/>
                <a:gd name="connsiteX106" fmla="*/ 4477 w 10000"/>
                <a:gd name="connsiteY106" fmla="*/ 9851 h 10000"/>
                <a:gd name="connsiteX107" fmla="*/ 4477 w 10000"/>
                <a:gd name="connsiteY107" fmla="*/ 9711 h 10000"/>
                <a:gd name="connsiteX108" fmla="*/ 4369 w 10000"/>
                <a:gd name="connsiteY108" fmla="*/ 9711 h 10000"/>
                <a:gd name="connsiteX109" fmla="*/ 4165 w 10000"/>
                <a:gd name="connsiteY109" fmla="*/ 9552 h 10000"/>
                <a:gd name="connsiteX110" fmla="*/ 4165 w 10000"/>
                <a:gd name="connsiteY110" fmla="*/ 9402 h 10000"/>
                <a:gd name="connsiteX111" fmla="*/ 4165 w 10000"/>
                <a:gd name="connsiteY111" fmla="*/ 9262 h 10000"/>
                <a:gd name="connsiteX112" fmla="*/ 4056 w 10000"/>
                <a:gd name="connsiteY112" fmla="*/ 9104 h 10000"/>
                <a:gd name="connsiteX113" fmla="*/ 3954 w 10000"/>
                <a:gd name="connsiteY113" fmla="*/ 9104 h 10000"/>
                <a:gd name="connsiteX114" fmla="*/ 4056 w 10000"/>
                <a:gd name="connsiteY114" fmla="*/ 8366 h 10000"/>
                <a:gd name="connsiteX115" fmla="*/ 3954 w 10000"/>
                <a:gd name="connsiteY115" fmla="*/ 8058 h 10000"/>
                <a:gd name="connsiteX116" fmla="*/ 3852 w 10000"/>
                <a:gd name="connsiteY116" fmla="*/ 8058 h 10000"/>
                <a:gd name="connsiteX117" fmla="*/ 3642 w 10000"/>
                <a:gd name="connsiteY117" fmla="*/ 7759 h 10000"/>
                <a:gd name="connsiteX118" fmla="*/ 3438 w 10000"/>
                <a:gd name="connsiteY118" fmla="*/ 7759 h 10000"/>
                <a:gd name="connsiteX119" fmla="*/ 2915 w 10000"/>
                <a:gd name="connsiteY119" fmla="*/ 8058 h 10000"/>
                <a:gd name="connsiteX120" fmla="*/ 2608 w 10000"/>
                <a:gd name="connsiteY120" fmla="*/ 8058 h 10000"/>
                <a:gd name="connsiteX121" fmla="*/ 2500 w 10000"/>
                <a:gd name="connsiteY121" fmla="*/ 8207 h 10000"/>
                <a:gd name="connsiteX122" fmla="*/ 2398 w 10000"/>
                <a:gd name="connsiteY122" fmla="*/ 8058 h 10000"/>
                <a:gd name="connsiteX123" fmla="*/ 2296 w 10000"/>
                <a:gd name="connsiteY123" fmla="*/ 8058 h 10000"/>
                <a:gd name="connsiteX124" fmla="*/ 1983 w 10000"/>
                <a:gd name="connsiteY124" fmla="*/ 8058 h 10000"/>
                <a:gd name="connsiteX125" fmla="*/ 1773 w 10000"/>
                <a:gd name="connsiteY125" fmla="*/ 7918 h 10000"/>
                <a:gd name="connsiteX126" fmla="*/ 1671 w 10000"/>
                <a:gd name="connsiteY126" fmla="*/ 7759 h 10000"/>
                <a:gd name="connsiteX127" fmla="*/ 1556 w 10000"/>
                <a:gd name="connsiteY127" fmla="*/ 7759 h 10000"/>
                <a:gd name="connsiteX128" fmla="*/ 1346 w 10000"/>
                <a:gd name="connsiteY128" fmla="*/ 7470 h 10000"/>
                <a:gd name="connsiteX129" fmla="*/ 1142 w 10000"/>
                <a:gd name="connsiteY129" fmla="*/ 7470 h 10000"/>
                <a:gd name="connsiteX130" fmla="*/ 829 w 10000"/>
                <a:gd name="connsiteY130" fmla="*/ 7311 h 10000"/>
                <a:gd name="connsiteX131" fmla="*/ 727 w 10000"/>
                <a:gd name="connsiteY131" fmla="*/ 6863 h 10000"/>
                <a:gd name="connsiteX132" fmla="*/ 931 w 10000"/>
                <a:gd name="connsiteY132" fmla="*/ 6863 h 10000"/>
                <a:gd name="connsiteX133" fmla="*/ 829 w 10000"/>
                <a:gd name="connsiteY133" fmla="*/ 6573 h 10000"/>
                <a:gd name="connsiteX134" fmla="*/ 1034 w 10000"/>
                <a:gd name="connsiteY134" fmla="*/ 6265 h 10000"/>
                <a:gd name="connsiteX135" fmla="*/ 1034 w 10000"/>
                <a:gd name="connsiteY135" fmla="*/ 5966 h 10000"/>
                <a:gd name="connsiteX136" fmla="*/ 931 w 10000"/>
                <a:gd name="connsiteY136" fmla="*/ 5817 h 10000"/>
                <a:gd name="connsiteX137" fmla="*/ 619 w 10000"/>
                <a:gd name="connsiteY137" fmla="*/ 5966 h 10000"/>
                <a:gd name="connsiteX138" fmla="*/ 415 w 10000"/>
                <a:gd name="connsiteY138" fmla="*/ 5817 h 10000"/>
                <a:gd name="connsiteX139" fmla="*/ 306 w 10000"/>
                <a:gd name="connsiteY139" fmla="*/ 5677 h 10000"/>
                <a:gd name="connsiteX140" fmla="*/ 102 w 10000"/>
                <a:gd name="connsiteY140" fmla="*/ 5518 h 10000"/>
                <a:gd name="connsiteX141" fmla="*/ 216 w 10000"/>
                <a:gd name="connsiteY141" fmla="*/ 5243 h 10000"/>
                <a:gd name="connsiteX142" fmla="*/ 204 w 10000"/>
                <a:gd name="connsiteY142" fmla="*/ 5070 h 10000"/>
                <a:gd name="connsiteX143" fmla="*/ 0 w 10000"/>
                <a:gd name="connsiteY143" fmla="*/ 5070 h 10000"/>
                <a:gd name="connsiteX144" fmla="*/ 0 w 10000"/>
                <a:gd name="connsiteY144" fmla="*/ 4622 h 10000"/>
                <a:gd name="connsiteX145" fmla="*/ 204 w 10000"/>
                <a:gd name="connsiteY145" fmla="*/ 4482 h 10000"/>
                <a:gd name="connsiteX146" fmla="*/ 415 w 10000"/>
                <a:gd name="connsiteY146" fmla="*/ 4482 h 10000"/>
                <a:gd name="connsiteX147" fmla="*/ 517 w 10000"/>
                <a:gd name="connsiteY147" fmla="*/ 4332 h 10000"/>
                <a:gd name="connsiteX148" fmla="*/ 727 w 10000"/>
                <a:gd name="connsiteY148" fmla="*/ 4332 h 10000"/>
                <a:gd name="connsiteX149" fmla="*/ 1034 w 10000"/>
                <a:gd name="connsiteY149" fmla="*/ 4034 h 10000"/>
                <a:gd name="connsiteX150" fmla="*/ 1142 w 10000"/>
                <a:gd name="connsiteY150" fmla="*/ 3725 h 10000"/>
                <a:gd name="connsiteX151" fmla="*/ 1034 w 10000"/>
                <a:gd name="connsiteY151" fmla="*/ 3137 h 10000"/>
                <a:gd name="connsiteX152" fmla="*/ 1034 w 10000"/>
                <a:gd name="connsiteY152" fmla="*/ 2988 h 10000"/>
                <a:gd name="connsiteX153" fmla="*/ 1346 w 10000"/>
                <a:gd name="connsiteY153" fmla="*/ 2988 h 10000"/>
                <a:gd name="connsiteX154" fmla="*/ 1454 w 10000"/>
                <a:gd name="connsiteY154" fmla="*/ 2381 h 10000"/>
                <a:gd name="connsiteX155" fmla="*/ 1773 w 10000"/>
                <a:gd name="connsiteY155" fmla="*/ 2381 h 10000"/>
                <a:gd name="connsiteX156" fmla="*/ 1881 w 10000"/>
                <a:gd name="connsiteY156" fmla="*/ 2381 h 10000"/>
                <a:gd name="connsiteX157" fmla="*/ 1983 w 10000"/>
                <a:gd name="connsiteY157" fmla="*/ 1933 h 10000"/>
                <a:gd name="connsiteX158" fmla="*/ 2085 w 10000"/>
                <a:gd name="connsiteY158" fmla="*/ 1793 h 10000"/>
                <a:gd name="connsiteX0" fmla="*/ 2085 w 10000"/>
                <a:gd name="connsiteY0" fmla="*/ 1793 h 10000"/>
                <a:gd name="connsiteX1" fmla="*/ 2085 w 10000"/>
                <a:gd name="connsiteY1" fmla="*/ 1793 h 10000"/>
                <a:gd name="connsiteX2" fmla="*/ 2296 w 10000"/>
                <a:gd name="connsiteY2" fmla="*/ 1643 h 10000"/>
                <a:gd name="connsiteX3" fmla="*/ 2500 w 10000"/>
                <a:gd name="connsiteY3" fmla="*/ 2092 h 10000"/>
                <a:gd name="connsiteX4" fmla="*/ 2710 w 10000"/>
                <a:gd name="connsiteY4" fmla="*/ 2092 h 10000"/>
                <a:gd name="connsiteX5" fmla="*/ 2813 w 10000"/>
                <a:gd name="connsiteY5" fmla="*/ 2381 h 10000"/>
                <a:gd name="connsiteX6" fmla="*/ 2813 w 10000"/>
                <a:gd name="connsiteY6" fmla="*/ 2988 h 10000"/>
                <a:gd name="connsiteX7" fmla="*/ 3438 w 10000"/>
                <a:gd name="connsiteY7" fmla="*/ 3277 h 10000"/>
                <a:gd name="connsiteX8" fmla="*/ 3750 w 10000"/>
                <a:gd name="connsiteY8" fmla="*/ 3725 h 10000"/>
                <a:gd name="connsiteX9" fmla="*/ 4369 w 10000"/>
                <a:gd name="connsiteY9" fmla="*/ 3725 h 10000"/>
                <a:gd name="connsiteX10" fmla="*/ 4681 w 10000"/>
                <a:gd name="connsiteY10" fmla="*/ 4034 h 10000"/>
                <a:gd name="connsiteX11" fmla="*/ 5096 w 10000"/>
                <a:gd name="connsiteY11" fmla="*/ 4174 h 10000"/>
                <a:gd name="connsiteX12" fmla="*/ 5523 w 10000"/>
                <a:gd name="connsiteY12" fmla="*/ 3884 h 10000"/>
                <a:gd name="connsiteX13" fmla="*/ 5938 w 10000"/>
                <a:gd name="connsiteY13" fmla="*/ 3884 h 10000"/>
                <a:gd name="connsiteX14" fmla="*/ 6250 w 10000"/>
                <a:gd name="connsiteY14" fmla="*/ 3436 h 10000"/>
                <a:gd name="connsiteX15" fmla="*/ 6148 w 10000"/>
                <a:gd name="connsiteY15" fmla="*/ 3277 h 10000"/>
                <a:gd name="connsiteX16" fmla="*/ 6352 w 10000"/>
                <a:gd name="connsiteY16" fmla="*/ 2988 h 10000"/>
                <a:gd name="connsiteX17" fmla="*/ 6563 w 10000"/>
                <a:gd name="connsiteY17" fmla="*/ 3137 h 10000"/>
                <a:gd name="connsiteX18" fmla="*/ 6875 w 10000"/>
                <a:gd name="connsiteY18" fmla="*/ 2829 h 10000"/>
                <a:gd name="connsiteX19" fmla="*/ 7079 w 10000"/>
                <a:gd name="connsiteY19" fmla="*/ 2540 h 10000"/>
                <a:gd name="connsiteX20" fmla="*/ 7494 w 10000"/>
                <a:gd name="connsiteY20" fmla="*/ 2540 h 10000"/>
                <a:gd name="connsiteX21" fmla="*/ 7392 w 10000"/>
                <a:gd name="connsiteY21" fmla="*/ 2241 h 10000"/>
                <a:gd name="connsiteX22" fmla="*/ 7290 w 10000"/>
                <a:gd name="connsiteY22" fmla="*/ 2092 h 10000"/>
                <a:gd name="connsiteX23" fmla="*/ 7079 w 10000"/>
                <a:gd name="connsiteY23" fmla="*/ 2241 h 10000"/>
                <a:gd name="connsiteX24" fmla="*/ 6875 w 10000"/>
                <a:gd name="connsiteY24" fmla="*/ 2241 h 10000"/>
                <a:gd name="connsiteX25" fmla="*/ 6875 w 10000"/>
                <a:gd name="connsiteY25" fmla="*/ 1643 h 10000"/>
                <a:gd name="connsiteX26" fmla="*/ 6977 w 10000"/>
                <a:gd name="connsiteY26" fmla="*/ 1345 h 10000"/>
                <a:gd name="connsiteX27" fmla="*/ 7188 w 10000"/>
                <a:gd name="connsiteY27" fmla="*/ 1485 h 10000"/>
                <a:gd name="connsiteX28" fmla="*/ 7494 w 10000"/>
                <a:gd name="connsiteY28" fmla="*/ 1345 h 10000"/>
                <a:gd name="connsiteX29" fmla="*/ 7602 w 10000"/>
                <a:gd name="connsiteY29" fmla="*/ 747 h 10000"/>
                <a:gd name="connsiteX30" fmla="*/ 7704 w 10000"/>
                <a:gd name="connsiteY30" fmla="*/ 588 h 10000"/>
                <a:gd name="connsiteX31" fmla="*/ 7704 w 10000"/>
                <a:gd name="connsiteY31" fmla="*/ 448 h 10000"/>
                <a:gd name="connsiteX32" fmla="*/ 7602 w 10000"/>
                <a:gd name="connsiteY32" fmla="*/ 448 h 10000"/>
                <a:gd name="connsiteX33" fmla="*/ 7704 w 10000"/>
                <a:gd name="connsiteY33" fmla="*/ 140 h 10000"/>
                <a:gd name="connsiteX34" fmla="*/ 8119 w 10000"/>
                <a:gd name="connsiteY34" fmla="*/ 0 h 10000"/>
                <a:gd name="connsiteX35" fmla="*/ 8431 w 10000"/>
                <a:gd name="connsiteY35" fmla="*/ 140 h 10000"/>
                <a:gd name="connsiteX36" fmla="*/ 8642 w 10000"/>
                <a:gd name="connsiteY36" fmla="*/ 448 h 10000"/>
                <a:gd name="connsiteX37" fmla="*/ 8846 w 10000"/>
                <a:gd name="connsiteY37" fmla="*/ 1485 h 10000"/>
                <a:gd name="connsiteX38" fmla="*/ 9056 w 10000"/>
                <a:gd name="connsiteY38" fmla="*/ 1485 h 10000"/>
                <a:gd name="connsiteX39" fmla="*/ 9363 w 10000"/>
                <a:gd name="connsiteY39" fmla="*/ 1793 h 10000"/>
                <a:gd name="connsiteX40" fmla="*/ 9363 w 10000"/>
                <a:gd name="connsiteY40" fmla="*/ 2092 h 10000"/>
                <a:gd name="connsiteX41" fmla="*/ 9585 w 10000"/>
                <a:gd name="connsiteY41" fmla="*/ 2092 h 10000"/>
                <a:gd name="connsiteX42" fmla="*/ 10000 w 10000"/>
                <a:gd name="connsiteY42" fmla="*/ 1933 h 10000"/>
                <a:gd name="connsiteX43" fmla="*/ 10000 w 10000"/>
                <a:gd name="connsiteY43" fmla="*/ 2241 h 10000"/>
                <a:gd name="connsiteX44" fmla="*/ 9688 w 10000"/>
                <a:gd name="connsiteY44" fmla="*/ 3137 h 10000"/>
                <a:gd name="connsiteX45" fmla="*/ 9585 w 10000"/>
                <a:gd name="connsiteY45" fmla="*/ 2988 h 10000"/>
                <a:gd name="connsiteX46" fmla="*/ 9363 w 10000"/>
                <a:gd name="connsiteY46" fmla="*/ 3137 h 10000"/>
                <a:gd name="connsiteX47" fmla="*/ 9483 w 10000"/>
                <a:gd name="connsiteY47" fmla="*/ 3585 h 10000"/>
                <a:gd name="connsiteX48" fmla="*/ 9363 w 10000"/>
                <a:gd name="connsiteY48" fmla="*/ 3884 h 10000"/>
                <a:gd name="connsiteX49" fmla="*/ 9261 w 10000"/>
                <a:gd name="connsiteY49" fmla="*/ 3884 h 10000"/>
                <a:gd name="connsiteX50" fmla="*/ 9056 w 10000"/>
                <a:gd name="connsiteY50" fmla="*/ 4034 h 10000"/>
                <a:gd name="connsiteX51" fmla="*/ 8948 w 10000"/>
                <a:gd name="connsiteY51" fmla="*/ 4034 h 10000"/>
                <a:gd name="connsiteX52" fmla="*/ 8846 w 10000"/>
                <a:gd name="connsiteY52" fmla="*/ 4174 h 10000"/>
                <a:gd name="connsiteX53" fmla="*/ 8744 w 10000"/>
                <a:gd name="connsiteY53" fmla="*/ 4174 h 10000"/>
                <a:gd name="connsiteX54" fmla="*/ 8329 w 10000"/>
                <a:gd name="connsiteY54" fmla="*/ 4622 h 10000"/>
                <a:gd name="connsiteX55" fmla="*/ 8329 w 10000"/>
                <a:gd name="connsiteY55" fmla="*/ 4781 h 10000"/>
                <a:gd name="connsiteX56" fmla="*/ 8119 w 10000"/>
                <a:gd name="connsiteY56" fmla="*/ 4781 h 10000"/>
                <a:gd name="connsiteX57" fmla="*/ 7806 w 10000"/>
                <a:gd name="connsiteY57" fmla="*/ 5070 h 10000"/>
                <a:gd name="connsiteX58" fmla="*/ 7806 w 10000"/>
                <a:gd name="connsiteY58" fmla="*/ 4930 h 10000"/>
                <a:gd name="connsiteX59" fmla="*/ 7806 w 10000"/>
                <a:gd name="connsiteY59" fmla="*/ 4781 h 10000"/>
                <a:gd name="connsiteX60" fmla="*/ 7915 w 10000"/>
                <a:gd name="connsiteY60" fmla="*/ 4482 h 10000"/>
                <a:gd name="connsiteX61" fmla="*/ 7806 w 10000"/>
                <a:gd name="connsiteY61" fmla="*/ 4332 h 10000"/>
                <a:gd name="connsiteX62" fmla="*/ 7494 w 10000"/>
                <a:gd name="connsiteY62" fmla="*/ 4781 h 10000"/>
                <a:gd name="connsiteX63" fmla="*/ 7392 w 10000"/>
                <a:gd name="connsiteY63" fmla="*/ 4930 h 10000"/>
                <a:gd name="connsiteX64" fmla="*/ 7290 w 10000"/>
                <a:gd name="connsiteY64" fmla="*/ 4930 h 10000"/>
                <a:gd name="connsiteX65" fmla="*/ 7188 w 10000"/>
                <a:gd name="connsiteY65" fmla="*/ 5070 h 10000"/>
                <a:gd name="connsiteX66" fmla="*/ 7494 w 10000"/>
                <a:gd name="connsiteY66" fmla="*/ 5518 h 10000"/>
                <a:gd name="connsiteX67" fmla="*/ 7704 w 10000"/>
                <a:gd name="connsiteY67" fmla="*/ 5369 h 10000"/>
                <a:gd name="connsiteX68" fmla="*/ 8017 w 10000"/>
                <a:gd name="connsiteY68" fmla="*/ 5518 h 10000"/>
                <a:gd name="connsiteX69" fmla="*/ 8017 w 10000"/>
                <a:gd name="connsiteY69" fmla="*/ 5677 h 10000"/>
                <a:gd name="connsiteX70" fmla="*/ 7915 w 10000"/>
                <a:gd name="connsiteY70" fmla="*/ 5518 h 10000"/>
                <a:gd name="connsiteX71" fmla="*/ 7704 w 10000"/>
                <a:gd name="connsiteY71" fmla="*/ 5677 h 10000"/>
                <a:gd name="connsiteX72" fmla="*/ 7494 w 10000"/>
                <a:gd name="connsiteY72" fmla="*/ 6125 h 10000"/>
                <a:gd name="connsiteX73" fmla="*/ 7602 w 10000"/>
                <a:gd name="connsiteY73" fmla="*/ 6265 h 10000"/>
                <a:gd name="connsiteX74" fmla="*/ 7704 w 10000"/>
                <a:gd name="connsiteY74" fmla="*/ 6863 h 10000"/>
                <a:gd name="connsiteX75" fmla="*/ 7915 w 10000"/>
                <a:gd name="connsiteY75" fmla="*/ 7021 h 10000"/>
                <a:gd name="connsiteX76" fmla="*/ 7806 w 10000"/>
                <a:gd name="connsiteY76" fmla="*/ 7021 h 10000"/>
                <a:gd name="connsiteX77" fmla="*/ 7915 w 10000"/>
                <a:gd name="connsiteY77" fmla="*/ 7311 h 10000"/>
                <a:gd name="connsiteX78" fmla="*/ 7602 w 10000"/>
                <a:gd name="connsiteY78" fmla="*/ 7470 h 10000"/>
                <a:gd name="connsiteX79" fmla="*/ 7915 w 10000"/>
                <a:gd name="connsiteY79" fmla="*/ 7470 h 10000"/>
                <a:gd name="connsiteX80" fmla="*/ 7806 w 10000"/>
                <a:gd name="connsiteY80" fmla="*/ 8058 h 10000"/>
                <a:gd name="connsiteX81" fmla="*/ 7602 w 10000"/>
                <a:gd name="connsiteY81" fmla="*/ 8366 h 10000"/>
                <a:gd name="connsiteX82" fmla="*/ 7494 w 10000"/>
                <a:gd name="connsiteY82" fmla="*/ 8366 h 10000"/>
                <a:gd name="connsiteX83" fmla="*/ 7494 w 10000"/>
                <a:gd name="connsiteY83" fmla="*/ 8655 h 10000"/>
                <a:gd name="connsiteX84" fmla="*/ 7392 w 10000"/>
                <a:gd name="connsiteY84" fmla="*/ 8954 h 10000"/>
                <a:gd name="connsiteX85" fmla="*/ 7290 w 10000"/>
                <a:gd name="connsiteY85" fmla="*/ 8954 h 10000"/>
                <a:gd name="connsiteX86" fmla="*/ 7290 w 10000"/>
                <a:gd name="connsiteY86" fmla="*/ 9104 h 10000"/>
                <a:gd name="connsiteX87" fmla="*/ 6977 w 10000"/>
                <a:gd name="connsiteY87" fmla="*/ 9402 h 10000"/>
                <a:gd name="connsiteX88" fmla="*/ 6665 w 10000"/>
                <a:gd name="connsiteY88" fmla="*/ 9402 h 10000"/>
                <a:gd name="connsiteX89" fmla="*/ 6665 w 10000"/>
                <a:gd name="connsiteY89" fmla="*/ 9552 h 10000"/>
                <a:gd name="connsiteX90" fmla="*/ 6563 w 10000"/>
                <a:gd name="connsiteY90" fmla="*/ 9402 h 10000"/>
                <a:gd name="connsiteX91" fmla="*/ 6563 w 10000"/>
                <a:gd name="connsiteY91" fmla="*/ 9552 h 10000"/>
                <a:gd name="connsiteX92" fmla="*/ 6460 w 10000"/>
                <a:gd name="connsiteY92" fmla="*/ 9552 h 10000"/>
                <a:gd name="connsiteX93" fmla="*/ 6046 w 10000"/>
                <a:gd name="connsiteY93" fmla="*/ 9851 h 10000"/>
                <a:gd name="connsiteX94" fmla="*/ 5938 w 10000"/>
                <a:gd name="connsiteY94" fmla="*/ 10000 h 10000"/>
                <a:gd name="connsiteX95" fmla="*/ 5938 w 10000"/>
                <a:gd name="connsiteY95" fmla="*/ 9711 h 10000"/>
                <a:gd name="connsiteX96" fmla="*/ 5733 w 10000"/>
                <a:gd name="connsiteY96" fmla="*/ 9711 h 10000"/>
                <a:gd name="connsiteX97" fmla="*/ 5625 w 10000"/>
                <a:gd name="connsiteY97" fmla="*/ 9711 h 10000"/>
                <a:gd name="connsiteX98" fmla="*/ 5409 w 10000"/>
                <a:gd name="connsiteY98" fmla="*/ 9711 h 10000"/>
                <a:gd name="connsiteX99" fmla="*/ 5409 w 10000"/>
                <a:gd name="connsiteY99" fmla="*/ 9402 h 10000"/>
                <a:gd name="connsiteX100" fmla="*/ 5198 w 10000"/>
                <a:gd name="connsiteY100" fmla="*/ 9402 h 10000"/>
                <a:gd name="connsiteX101" fmla="*/ 4784 w 10000"/>
                <a:gd name="connsiteY101" fmla="*/ 9552 h 10000"/>
                <a:gd name="connsiteX102" fmla="*/ 4681 w 10000"/>
                <a:gd name="connsiteY102" fmla="*/ 9402 h 10000"/>
                <a:gd name="connsiteX103" fmla="*/ 4681 w 10000"/>
                <a:gd name="connsiteY103" fmla="*/ 9552 h 10000"/>
                <a:gd name="connsiteX104" fmla="*/ 4579 w 10000"/>
                <a:gd name="connsiteY104" fmla="*/ 9552 h 10000"/>
                <a:gd name="connsiteX105" fmla="*/ 4579 w 10000"/>
                <a:gd name="connsiteY105" fmla="*/ 9851 h 10000"/>
                <a:gd name="connsiteX106" fmla="*/ 4477 w 10000"/>
                <a:gd name="connsiteY106" fmla="*/ 9851 h 10000"/>
                <a:gd name="connsiteX107" fmla="*/ 4477 w 10000"/>
                <a:gd name="connsiteY107" fmla="*/ 9711 h 10000"/>
                <a:gd name="connsiteX108" fmla="*/ 4369 w 10000"/>
                <a:gd name="connsiteY108" fmla="*/ 9711 h 10000"/>
                <a:gd name="connsiteX109" fmla="*/ 4165 w 10000"/>
                <a:gd name="connsiteY109" fmla="*/ 9552 h 10000"/>
                <a:gd name="connsiteX110" fmla="*/ 4165 w 10000"/>
                <a:gd name="connsiteY110" fmla="*/ 9402 h 10000"/>
                <a:gd name="connsiteX111" fmla="*/ 4165 w 10000"/>
                <a:gd name="connsiteY111" fmla="*/ 9262 h 10000"/>
                <a:gd name="connsiteX112" fmla="*/ 4056 w 10000"/>
                <a:gd name="connsiteY112" fmla="*/ 9104 h 10000"/>
                <a:gd name="connsiteX113" fmla="*/ 3954 w 10000"/>
                <a:gd name="connsiteY113" fmla="*/ 9104 h 10000"/>
                <a:gd name="connsiteX114" fmla="*/ 4056 w 10000"/>
                <a:gd name="connsiteY114" fmla="*/ 8366 h 10000"/>
                <a:gd name="connsiteX115" fmla="*/ 3954 w 10000"/>
                <a:gd name="connsiteY115" fmla="*/ 8058 h 10000"/>
                <a:gd name="connsiteX116" fmla="*/ 3852 w 10000"/>
                <a:gd name="connsiteY116" fmla="*/ 8058 h 10000"/>
                <a:gd name="connsiteX117" fmla="*/ 3642 w 10000"/>
                <a:gd name="connsiteY117" fmla="*/ 7759 h 10000"/>
                <a:gd name="connsiteX118" fmla="*/ 3438 w 10000"/>
                <a:gd name="connsiteY118" fmla="*/ 7759 h 10000"/>
                <a:gd name="connsiteX119" fmla="*/ 2915 w 10000"/>
                <a:gd name="connsiteY119" fmla="*/ 8058 h 10000"/>
                <a:gd name="connsiteX120" fmla="*/ 2608 w 10000"/>
                <a:gd name="connsiteY120" fmla="*/ 8058 h 10000"/>
                <a:gd name="connsiteX121" fmla="*/ 2500 w 10000"/>
                <a:gd name="connsiteY121" fmla="*/ 8207 h 10000"/>
                <a:gd name="connsiteX122" fmla="*/ 2398 w 10000"/>
                <a:gd name="connsiteY122" fmla="*/ 8058 h 10000"/>
                <a:gd name="connsiteX123" fmla="*/ 2296 w 10000"/>
                <a:gd name="connsiteY123" fmla="*/ 8058 h 10000"/>
                <a:gd name="connsiteX124" fmla="*/ 1983 w 10000"/>
                <a:gd name="connsiteY124" fmla="*/ 8058 h 10000"/>
                <a:gd name="connsiteX125" fmla="*/ 1773 w 10000"/>
                <a:gd name="connsiteY125" fmla="*/ 7918 h 10000"/>
                <a:gd name="connsiteX126" fmla="*/ 1671 w 10000"/>
                <a:gd name="connsiteY126" fmla="*/ 7759 h 10000"/>
                <a:gd name="connsiteX127" fmla="*/ 1556 w 10000"/>
                <a:gd name="connsiteY127" fmla="*/ 7759 h 10000"/>
                <a:gd name="connsiteX128" fmla="*/ 1346 w 10000"/>
                <a:gd name="connsiteY128" fmla="*/ 7470 h 10000"/>
                <a:gd name="connsiteX129" fmla="*/ 1142 w 10000"/>
                <a:gd name="connsiteY129" fmla="*/ 7470 h 10000"/>
                <a:gd name="connsiteX130" fmla="*/ 829 w 10000"/>
                <a:gd name="connsiteY130" fmla="*/ 7311 h 10000"/>
                <a:gd name="connsiteX131" fmla="*/ 727 w 10000"/>
                <a:gd name="connsiteY131" fmla="*/ 6863 h 10000"/>
                <a:gd name="connsiteX132" fmla="*/ 931 w 10000"/>
                <a:gd name="connsiteY132" fmla="*/ 6863 h 10000"/>
                <a:gd name="connsiteX133" fmla="*/ 829 w 10000"/>
                <a:gd name="connsiteY133" fmla="*/ 6573 h 10000"/>
                <a:gd name="connsiteX134" fmla="*/ 1034 w 10000"/>
                <a:gd name="connsiteY134" fmla="*/ 6265 h 10000"/>
                <a:gd name="connsiteX135" fmla="*/ 1034 w 10000"/>
                <a:gd name="connsiteY135" fmla="*/ 5966 h 10000"/>
                <a:gd name="connsiteX136" fmla="*/ 931 w 10000"/>
                <a:gd name="connsiteY136" fmla="*/ 5817 h 10000"/>
                <a:gd name="connsiteX137" fmla="*/ 619 w 10000"/>
                <a:gd name="connsiteY137" fmla="*/ 5966 h 10000"/>
                <a:gd name="connsiteX138" fmla="*/ 415 w 10000"/>
                <a:gd name="connsiteY138" fmla="*/ 5817 h 10000"/>
                <a:gd name="connsiteX139" fmla="*/ 444 w 10000"/>
                <a:gd name="connsiteY139" fmla="*/ 5373 h 10000"/>
                <a:gd name="connsiteX140" fmla="*/ 102 w 10000"/>
                <a:gd name="connsiteY140" fmla="*/ 5518 h 10000"/>
                <a:gd name="connsiteX141" fmla="*/ 216 w 10000"/>
                <a:gd name="connsiteY141" fmla="*/ 5243 h 10000"/>
                <a:gd name="connsiteX142" fmla="*/ 204 w 10000"/>
                <a:gd name="connsiteY142" fmla="*/ 5070 h 10000"/>
                <a:gd name="connsiteX143" fmla="*/ 0 w 10000"/>
                <a:gd name="connsiteY143" fmla="*/ 5070 h 10000"/>
                <a:gd name="connsiteX144" fmla="*/ 0 w 10000"/>
                <a:gd name="connsiteY144" fmla="*/ 4622 h 10000"/>
                <a:gd name="connsiteX145" fmla="*/ 204 w 10000"/>
                <a:gd name="connsiteY145" fmla="*/ 4482 h 10000"/>
                <a:gd name="connsiteX146" fmla="*/ 415 w 10000"/>
                <a:gd name="connsiteY146" fmla="*/ 4482 h 10000"/>
                <a:gd name="connsiteX147" fmla="*/ 517 w 10000"/>
                <a:gd name="connsiteY147" fmla="*/ 4332 h 10000"/>
                <a:gd name="connsiteX148" fmla="*/ 727 w 10000"/>
                <a:gd name="connsiteY148" fmla="*/ 4332 h 10000"/>
                <a:gd name="connsiteX149" fmla="*/ 1034 w 10000"/>
                <a:gd name="connsiteY149" fmla="*/ 4034 h 10000"/>
                <a:gd name="connsiteX150" fmla="*/ 1142 w 10000"/>
                <a:gd name="connsiteY150" fmla="*/ 3725 h 10000"/>
                <a:gd name="connsiteX151" fmla="*/ 1034 w 10000"/>
                <a:gd name="connsiteY151" fmla="*/ 3137 h 10000"/>
                <a:gd name="connsiteX152" fmla="*/ 1034 w 10000"/>
                <a:gd name="connsiteY152" fmla="*/ 2988 h 10000"/>
                <a:gd name="connsiteX153" fmla="*/ 1346 w 10000"/>
                <a:gd name="connsiteY153" fmla="*/ 2988 h 10000"/>
                <a:gd name="connsiteX154" fmla="*/ 1454 w 10000"/>
                <a:gd name="connsiteY154" fmla="*/ 2381 h 10000"/>
                <a:gd name="connsiteX155" fmla="*/ 1773 w 10000"/>
                <a:gd name="connsiteY155" fmla="*/ 2381 h 10000"/>
                <a:gd name="connsiteX156" fmla="*/ 1881 w 10000"/>
                <a:gd name="connsiteY156" fmla="*/ 2381 h 10000"/>
                <a:gd name="connsiteX157" fmla="*/ 1983 w 10000"/>
                <a:gd name="connsiteY157" fmla="*/ 1933 h 10000"/>
                <a:gd name="connsiteX158" fmla="*/ 2085 w 10000"/>
                <a:gd name="connsiteY158" fmla="*/ 1793 h 10000"/>
                <a:gd name="connsiteX0" fmla="*/ 2085 w 10000"/>
                <a:gd name="connsiteY0" fmla="*/ 1793 h 10000"/>
                <a:gd name="connsiteX1" fmla="*/ 2085 w 10000"/>
                <a:gd name="connsiteY1" fmla="*/ 1793 h 10000"/>
                <a:gd name="connsiteX2" fmla="*/ 2296 w 10000"/>
                <a:gd name="connsiteY2" fmla="*/ 1643 h 10000"/>
                <a:gd name="connsiteX3" fmla="*/ 2500 w 10000"/>
                <a:gd name="connsiteY3" fmla="*/ 2092 h 10000"/>
                <a:gd name="connsiteX4" fmla="*/ 2710 w 10000"/>
                <a:gd name="connsiteY4" fmla="*/ 2092 h 10000"/>
                <a:gd name="connsiteX5" fmla="*/ 2813 w 10000"/>
                <a:gd name="connsiteY5" fmla="*/ 2381 h 10000"/>
                <a:gd name="connsiteX6" fmla="*/ 2813 w 10000"/>
                <a:gd name="connsiteY6" fmla="*/ 2988 h 10000"/>
                <a:gd name="connsiteX7" fmla="*/ 3438 w 10000"/>
                <a:gd name="connsiteY7" fmla="*/ 3277 h 10000"/>
                <a:gd name="connsiteX8" fmla="*/ 3750 w 10000"/>
                <a:gd name="connsiteY8" fmla="*/ 3725 h 10000"/>
                <a:gd name="connsiteX9" fmla="*/ 4369 w 10000"/>
                <a:gd name="connsiteY9" fmla="*/ 3725 h 10000"/>
                <a:gd name="connsiteX10" fmla="*/ 4681 w 10000"/>
                <a:gd name="connsiteY10" fmla="*/ 4034 h 10000"/>
                <a:gd name="connsiteX11" fmla="*/ 5096 w 10000"/>
                <a:gd name="connsiteY11" fmla="*/ 4174 h 10000"/>
                <a:gd name="connsiteX12" fmla="*/ 5523 w 10000"/>
                <a:gd name="connsiteY12" fmla="*/ 3884 h 10000"/>
                <a:gd name="connsiteX13" fmla="*/ 5938 w 10000"/>
                <a:gd name="connsiteY13" fmla="*/ 3884 h 10000"/>
                <a:gd name="connsiteX14" fmla="*/ 6250 w 10000"/>
                <a:gd name="connsiteY14" fmla="*/ 3436 h 10000"/>
                <a:gd name="connsiteX15" fmla="*/ 6148 w 10000"/>
                <a:gd name="connsiteY15" fmla="*/ 3277 h 10000"/>
                <a:gd name="connsiteX16" fmla="*/ 6352 w 10000"/>
                <a:gd name="connsiteY16" fmla="*/ 2988 h 10000"/>
                <a:gd name="connsiteX17" fmla="*/ 6563 w 10000"/>
                <a:gd name="connsiteY17" fmla="*/ 3137 h 10000"/>
                <a:gd name="connsiteX18" fmla="*/ 6875 w 10000"/>
                <a:gd name="connsiteY18" fmla="*/ 2829 h 10000"/>
                <a:gd name="connsiteX19" fmla="*/ 7079 w 10000"/>
                <a:gd name="connsiteY19" fmla="*/ 2540 h 10000"/>
                <a:gd name="connsiteX20" fmla="*/ 7494 w 10000"/>
                <a:gd name="connsiteY20" fmla="*/ 2540 h 10000"/>
                <a:gd name="connsiteX21" fmla="*/ 7392 w 10000"/>
                <a:gd name="connsiteY21" fmla="*/ 2241 h 10000"/>
                <a:gd name="connsiteX22" fmla="*/ 7290 w 10000"/>
                <a:gd name="connsiteY22" fmla="*/ 2092 h 10000"/>
                <a:gd name="connsiteX23" fmla="*/ 7079 w 10000"/>
                <a:gd name="connsiteY23" fmla="*/ 2241 h 10000"/>
                <a:gd name="connsiteX24" fmla="*/ 6875 w 10000"/>
                <a:gd name="connsiteY24" fmla="*/ 2241 h 10000"/>
                <a:gd name="connsiteX25" fmla="*/ 6875 w 10000"/>
                <a:gd name="connsiteY25" fmla="*/ 1643 h 10000"/>
                <a:gd name="connsiteX26" fmla="*/ 6977 w 10000"/>
                <a:gd name="connsiteY26" fmla="*/ 1345 h 10000"/>
                <a:gd name="connsiteX27" fmla="*/ 7188 w 10000"/>
                <a:gd name="connsiteY27" fmla="*/ 1485 h 10000"/>
                <a:gd name="connsiteX28" fmla="*/ 7494 w 10000"/>
                <a:gd name="connsiteY28" fmla="*/ 1345 h 10000"/>
                <a:gd name="connsiteX29" fmla="*/ 7602 w 10000"/>
                <a:gd name="connsiteY29" fmla="*/ 747 h 10000"/>
                <a:gd name="connsiteX30" fmla="*/ 7704 w 10000"/>
                <a:gd name="connsiteY30" fmla="*/ 588 h 10000"/>
                <a:gd name="connsiteX31" fmla="*/ 7704 w 10000"/>
                <a:gd name="connsiteY31" fmla="*/ 448 h 10000"/>
                <a:gd name="connsiteX32" fmla="*/ 7602 w 10000"/>
                <a:gd name="connsiteY32" fmla="*/ 448 h 10000"/>
                <a:gd name="connsiteX33" fmla="*/ 7704 w 10000"/>
                <a:gd name="connsiteY33" fmla="*/ 140 h 10000"/>
                <a:gd name="connsiteX34" fmla="*/ 8119 w 10000"/>
                <a:gd name="connsiteY34" fmla="*/ 0 h 10000"/>
                <a:gd name="connsiteX35" fmla="*/ 8431 w 10000"/>
                <a:gd name="connsiteY35" fmla="*/ 140 h 10000"/>
                <a:gd name="connsiteX36" fmla="*/ 8642 w 10000"/>
                <a:gd name="connsiteY36" fmla="*/ 448 h 10000"/>
                <a:gd name="connsiteX37" fmla="*/ 8846 w 10000"/>
                <a:gd name="connsiteY37" fmla="*/ 1485 h 10000"/>
                <a:gd name="connsiteX38" fmla="*/ 9056 w 10000"/>
                <a:gd name="connsiteY38" fmla="*/ 1485 h 10000"/>
                <a:gd name="connsiteX39" fmla="*/ 9363 w 10000"/>
                <a:gd name="connsiteY39" fmla="*/ 1793 h 10000"/>
                <a:gd name="connsiteX40" fmla="*/ 9363 w 10000"/>
                <a:gd name="connsiteY40" fmla="*/ 2092 h 10000"/>
                <a:gd name="connsiteX41" fmla="*/ 9585 w 10000"/>
                <a:gd name="connsiteY41" fmla="*/ 2092 h 10000"/>
                <a:gd name="connsiteX42" fmla="*/ 10000 w 10000"/>
                <a:gd name="connsiteY42" fmla="*/ 1933 h 10000"/>
                <a:gd name="connsiteX43" fmla="*/ 10000 w 10000"/>
                <a:gd name="connsiteY43" fmla="*/ 2241 h 10000"/>
                <a:gd name="connsiteX44" fmla="*/ 9688 w 10000"/>
                <a:gd name="connsiteY44" fmla="*/ 3137 h 10000"/>
                <a:gd name="connsiteX45" fmla="*/ 9585 w 10000"/>
                <a:gd name="connsiteY45" fmla="*/ 2988 h 10000"/>
                <a:gd name="connsiteX46" fmla="*/ 9363 w 10000"/>
                <a:gd name="connsiteY46" fmla="*/ 3137 h 10000"/>
                <a:gd name="connsiteX47" fmla="*/ 9483 w 10000"/>
                <a:gd name="connsiteY47" fmla="*/ 3585 h 10000"/>
                <a:gd name="connsiteX48" fmla="*/ 9363 w 10000"/>
                <a:gd name="connsiteY48" fmla="*/ 3884 h 10000"/>
                <a:gd name="connsiteX49" fmla="*/ 9261 w 10000"/>
                <a:gd name="connsiteY49" fmla="*/ 3884 h 10000"/>
                <a:gd name="connsiteX50" fmla="*/ 9056 w 10000"/>
                <a:gd name="connsiteY50" fmla="*/ 4034 h 10000"/>
                <a:gd name="connsiteX51" fmla="*/ 8948 w 10000"/>
                <a:gd name="connsiteY51" fmla="*/ 4034 h 10000"/>
                <a:gd name="connsiteX52" fmla="*/ 8846 w 10000"/>
                <a:gd name="connsiteY52" fmla="*/ 4174 h 10000"/>
                <a:gd name="connsiteX53" fmla="*/ 8744 w 10000"/>
                <a:gd name="connsiteY53" fmla="*/ 4174 h 10000"/>
                <a:gd name="connsiteX54" fmla="*/ 8329 w 10000"/>
                <a:gd name="connsiteY54" fmla="*/ 4622 h 10000"/>
                <a:gd name="connsiteX55" fmla="*/ 8329 w 10000"/>
                <a:gd name="connsiteY55" fmla="*/ 4781 h 10000"/>
                <a:gd name="connsiteX56" fmla="*/ 8119 w 10000"/>
                <a:gd name="connsiteY56" fmla="*/ 4781 h 10000"/>
                <a:gd name="connsiteX57" fmla="*/ 7806 w 10000"/>
                <a:gd name="connsiteY57" fmla="*/ 5070 h 10000"/>
                <a:gd name="connsiteX58" fmla="*/ 7806 w 10000"/>
                <a:gd name="connsiteY58" fmla="*/ 4930 h 10000"/>
                <a:gd name="connsiteX59" fmla="*/ 7806 w 10000"/>
                <a:gd name="connsiteY59" fmla="*/ 4781 h 10000"/>
                <a:gd name="connsiteX60" fmla="*/ 7915 w 10000"/>
                <a:gd name="connsiteY60" fmla="*/ 4482 h 10000"/>
                <a:gd name="connsiteX61" fmla="*/ 7806 w 10000"/>
                <a:gd name="connsiteY61" fmla="*/ 4332 h 10000"/>
                <a:gd name="connsiteX62" fmla="*/ 7494 w 10000"/>
                <a:gd name="connsiteY62" fmla="*/ 4781 h 10000"/>
                <a:gd name="connsiteX63" fmla="*/ 7392 w 10000"/>
                <a:gd name="connsiteY63" fmla="*/ 4930 h 10000"/>
                <a:gd name="connsiteX64" fmla="*/ 7290 w 10000"/>
                <a:gd name="connsiteY64" fmla="*/ 4930 h 10000"/>
                <a:gd name="connsiteX65" fmla="*/ 7188 w 10000"/>
                <a:gd name="connsiteY65" fmla="*/ 5070 h 10000"/>
                <a:gd name="connsiteX66" fmla="*/ 7494 w 10000"/>
                <a:gd name="connsiteY66" fmla="*/ 5518 h 10000"/>
                <a:gd name="connsiteX67" fmla="*/ 7704 w 10000"/>
                <a:gd name="connsiteY67" fmla="*/ 5369 h 10000"/>
                <a:gd name="connsiteX68" fmla="*/ 8017 w 10000"/>
                <a:gd name="connsiteY68" fmla="*/ 5518 h 10000"/>
                <a:gd name="connsiteX69" fmla="*/ 8017 w 10000"/>
                <a:gd name="connsiteY69" fmla="*/ 5677 h 10000"/>
                <a:gd name="connsiteX70" fmla="*/ 7915 w 10000"/>
                <a:gd name="connsiteY70" fmla="*/ 5518 h 10000"/>
                <a:gd name="connsiteX71" fmla="*/ 7704 w 10000"/>
                <a:gd name="connsiteY71" fmla="*/ 5677 h 10000"/>
                <a:gd name="connsiteX72" fmla="*/ 7494 w 10000"/>
                <a:gd name="connsiteY72" fmla="*/ 6125 h 10000"/>
                <a:gd name="connsiteX73" fmla="*/ 7602 w 10000"/>
                <a:gd name="connsiteY73" fmla="*/ 6265 h 10000"/>
                <a:gd name="connsiteX74" fmla="*/ 7704 w 10000"/>
                <a:gd name="connsiteY74" fmla="*/ 6863 h 10000"/>
                <a:gd name="connsiteX75" fmla="*/ 7915 w 10000"/>
                <a:gd name="connsiteY75" fmla="*/ 7021 h 10000"/>
                <a:gd name="connsiteX76" fmla="*/ 7806 w 10000"/>
                <a:gd name="connsiteY76" fmla="*/ 7021 h 10000"/>
                <a:gd name="connsiteX77" fmla="*/ 7915 w 10000"/>
                <a:gd name="connsiteY77" fmla="*/ 7311 h 10000"/>
                <a:gd name="connsiteX78" fmla="*/ 7602 w 10000"/>
                <a:gd name="connsiteY78" fmla="*/ 7470 h 10000"/>
                <a:gd name="connsiteX79" fmla="*/ 7915 w 10000"/>
                <a:gd name="connsiteY79" fmla="*/ 7470 h 10000"/>
                <a:gd name="connsiteX80" fmla="*/ 7806 w 10000"/>
                <a:gd name="connsiteY80" fmla="*/ 8058 h 10000"/>
                <a:gd name="connsiteX81" fmla="*/ 7602 w 10000"/>
                <a:gd name="connsiteY81" fmla="*/ 8366 h 10000"/>
                <a:gd name="connsiteX82" fmla="*/ 7494 w 10000"/>
                <a:gd name="connsiteY82" fmla="*/ 8366 h 10000"/>
                <a:gd name="connsiteX83" fmla="*/ 7494 w 10000"/>
                <a:gd name="connsiteY83" fmla="*/ 8655 h 10000"/>
                <a:gd name="connsiteX84" fmla="*/ 7392 w 10000"/>
                <a:gd name="connsiteY84" fmla="*/ 8954 h 10000"/>
                <a:gd name="connsiteX85" fmla="*/ 7290 w 10000"/>
                <a:gd name="connsiteY85" fmla="*/ 8954 h 10000"/>
                <a:gd name="connsiteX86" fmla="*/ 7290 w 10000"/>
                <a:gd name="connsiteY86" fmla="*/ 9104 h 10000"/>
                <a:gd name="connsiteX87" fmla="*/ 6977 w 10000"/>
                <a:gd name="connsiteY87" fmla="*/ 9402 h 10000"/>
                <a:gd name="connsiteX88" fmla="*/ 6665 w 10000"/>
                <a:gd name="connsiteY88" fmla="*/ 9402 h 10000"/>
                <a:gd name="connsiteX89" fmla="*/ 6665 w 10000"/>
                <a:gd name="connsiteY89" fmla="*/ 9552 h 10000"/>
                <a:gd name="connsiteX90" fmla="*/ 6563 w 10000"/>
                <a:gd name="connsiteY90" fmla="*/ 9402 h 10000"/>
                <a:gd name="connsiteX91" fmla="*/ 6563 w 10000"/>
                <a:gd name="connsiteY91" fmla="*/ 9552 h 10000"/>
                <a:gd name="connsiteX92" fmla="*/ 6460 w 10000"/>
                <a:gd name="connsiteY92" fmla="*/ 9552 h 10000"/>
                <a:gd name="connsiteX93" fmla="*/ 6046 w 10000"/>
                <a:gd name="connsiteY93" fmla="*/ 9851 h 10000"/>
                <a:gd name="connsiteX94" fmla="*/ 5938 w 10000"/>
                <a:gd name="connsiteY94" fmla="*/ 10000 h 10000"/>
                <a:gd name="connsiteX95" fmla="*/ 5938 w 10000"/>
                <a:gd name="connsiteY95" fmla="*/ 9711 h 10000"/>
                <a:gd name="connsiteX96" fmla="*/ 5733 w 10000"/>
                <a:gd name="connsiteY96" fmla="*/ 9711 h 10000"/>
                <a:gd name="connsiteX97" fmla="*/ 5625 w 10000"/>
                <a:gd name="connsiteY97" fmla="*/ 9711 h 10000"/>
                <a:gd name="connsiteX98" fmla="*/ 5409 w 10000"/>
                <a:gd name="connsiteY98" fmla="*/ 9711 h 10000"/>
                <a:gd name="connsiteX99" fmla="*/ 5409 w 10000"/>
                <a:gd name="connsiteY99" fmla="*/ 9402 h 10000"/>
                <a:gd name="connsiteX100" fmla="*/ 5198 w 10000"/>
                <a:gd name="connsiteY100" fmla="*/ 9402 h 10000"/>
                <a:gd name="connsiteX101" fmla="*/ 4784 w 10000"/>
                <a:gd name="connsiteY101" fmla="*/ 9552 h 10000"/>
                <a:gd name="connsiteX102" fmla="*/ 4681 w 10000"/>
                <a:gd name="connsiteY102" fmla="*/ 9402 h 10000"/>
                <a:gd name="connsiteX103" fmla="*/ 4681 w 10000"/>
                <a:gd name="connsiteY103" fmla="*/ 9552 h 10000"/>
                <a:gd name="connsiteX104" fmla="*/ 4579 w 10000"/>
                <a:gd name="connsiteY104" fmla="*/ 9552 h 10000"/>
                <a:gd name="connsiteX105" fmla="*/ 4579 w 10000"/>
                <a:gd name="connsiteY105" fmla="*/ 9851 h 10000"/>
                <a:gd name="connsiteX106" fmla="*/ 4477 w 10000"/>
                <a:gd name="connsiteY106" fmla="*/ 9851 h 10000"/>
                <a:gd name="connsiteX107" fmla="*/ 4477 w 10000"/>
                <a:gd name="connsiteY107" fmla="*/ 9711 h 10000"/>
                <a:gd name="connsiteX108" fmla="*/ 4369 w 10000"/>
                <a:gd name="connsiteY108" fmla="*/ 9711 h 10000"/>
                <a:gd name="connsiteX109" fmla="*/ 4165 w 10000"/>
                <a:gd name="connsiteY109" fmla="*/ 9552 h 10000"/>
                <a:gd name="connsiteX110" fmla="*/ 4165 w 10000"/>
                <a:gd name="connsiteY110" fmla="*/ 9402 h 10000"/>
                <a:gd name="connsiteX111" fmla="*/ 4165 w 10000"/>
                <a:gd name="connsiteY111" fmla="*/ 9262 h 10000"/>
                <a:gd name="connsiteX112" fmla="*/ 4056 w 10000"/>
                <a:gd name="connsiteY112" fmla="*/ 9104 h 10000"/>
                <a:gd name="connsiteX113" fmla="*/ 3954 w 10000"/>
                <a:gd name="connsiteY113" fmla="*/ 9104 h 10000"/>
                <a:gd name="connsiteX114" fmla="*/ 4056 w 10000"/>
                <a:gd name="connsiteY114" fmla="*/ 8366 h 10000"/>
                <a:gd name="connsiteX115" fmla="*/ 3954 w 10000"/>
                <a:gd name="connsiteY115" fmla="*/ 8058 h 10000"/>
                <a:gd name="connsiteX116" fmla="*/ 3852 w 10000"/>
                <a:gd name="connsiteY116" fmla="*/ 8058 h 10000"/>
                <a:gd name="connsiteX117" fmla="*/ 3642 w 10000"/>
                <a:gd name="connsiteY117" fmla="*/ 7759 h 10000"/>
                <a:gd name="connsiteX118" fmla="*/ 3438 w 10000"/>
                <a:gd name="connsiteY118" fmla="*/ 7759 h 10000"/>
                <a:gd name="connsiteX119" fmla="*/ 2915 w 10000"/>
                <a:gd name="connsiteY119" fmla="*/ 8058 h 10000"/>
                <a:gd name="connsiteX120" fmla="*/ 2608 w 10000"/>
                <a:gd name="connsiteY120" fmla="*/ 8058 h 10000"/>
                <a:gd name="connsiteX121" fmla="*/ 2500 w 10000"/>
                <a:gd name="connsiteY121" fmla="*/ 8207 h 10000"/>
                <a:gd name="connsiteX122" fmla="*/ 2398 w 10000"/>
                <a:gd name="connsiteY122" fmla="*/ 8058 h 10000"/>
                <a:gd name="connsiteX123" fmla="*/ 2296 w 10000"/>
                <a:gd name="connsiteY123" fmla="*/ 8058 h 10000"/>
                <a:gd name="connsiteX124" fmla="*/ 1983 w 10000"/>
                <a:gd name="connsiteY124" fmla="*/ 8058 h 10000"/>
                <a:gd name="connsiteX125" fmla="*/ 1773 w 10000"/>
                <a:gd name="connsiteY125" fmla="*/ 7918 h 10000"/>
                <a:gd name="connsiteX126" fmla="*/ 1671 w 10000"/>
                <a:gd name="connsiteY126" fmla="*/ 7759 h 10000"/>
                <a:gd name="connsiteX127" fmla="*/ 1556 w 10000"/>
                <a:gd name="connsiteY127" fmla="*/ 7759 h 10000"/>
                <a:gd name="connsiteX128" fmla="*/ 1346 w 10000"/>
                <a:gd name="connsiteY128" fmla="*/ 7470 h 10000"/>
                <a:gd name="connsiteX129" fmla="*/ 1142 w 10000"/>
                <a:gd name="connsiteY129" fmla="*/ 7470 h 10000"/>
                <a:gd name="connsiteX130" fmla="*/ 829 w 10000"/>
                <a:gd name="connsiteY130" fmla="*/ 7311 h 10000"/>
                <a:gd name="connsiteX131" fmla="*/ 727 w 10000"/>
                <a:gd name="connsiteY131" fmla="*/ 6863 h 10000"/>
                <a:gd name="connsiteX132" fmla="*/ 931 w 10000"/>
                <a:gd name="connsiteY132" fmla="*/ 6863 h 10000"/>
                <a:gd name="connsiteX133" fmla="*/ 829 w 10000"/>
                <a:gd name="connsiteY133" fmla="*/ 6573 h 10000"/>
                <a:gd name="connsiteX134" fmla="*/ 1034 w 10000"/>
                <a:gd name="connsiteY134" fmla="*/ 6265 h 10000"/>
                <a:gd name="connsiteX135" fmla="*/ 1034 w 10000"/>
                <a:gd name="connsiteY135" fmla="*/ 5966 h 10000"/>
                <a:gd name="connsiteX136" fmla="*/ 931 w 10000"/>
                <a:gd name="connsiteY136" fmla="*/ 5817 h 10000"/>
                <a:gd name="connsiteX137" fmla="*/ 619 w 10000"/>
                <a:gd name="connsiteY137" fmla="*/ 5966 h 10000"/>
                <a:gd name="connsiteX138" fmla="*/ 936 w 10000"/>
                <a:gd name="connsiteY138" fmla="*/ 5821 h 10000"/>
                <a:gd name="connsiteX139" fmla="*/ 444 w 10000"/>
                <a:gd name="connsiteY139" fmla="*/ 5373 h 10000"/>
                <a:gd name="connsiteX140" fmla="*/ 102 w 10000"/>
                <a:gd name="connsiteY140" fmla="*/ 5518 h 10000"/>
                <a:gd name="connsiteX141" fmla="*/ 216 w 10000"/>
                <a:gd name="connsiteY141" fmla="*/ 5243 h 10000"/>
                <a:gd name="connsiteX142" fmla="*/ 204 w 10000"/>
                <a:gd name="connsiteY142" fmla="*/ 5070 h 10000"/>
                <a:gd name="connsiteX143" fmla="*/ 0 w 10000"/>
                <a:gd name="connsiteY143" fmla="*/ 5070 h 10000"/>
                <a:gd name="connsiteX144" fmla="*/ 0 w 10000"/>
                <a:gd name="connsiteY144" fmla="*/ 4622 h 10000"/>
                <a:gd name="connsiteX145" fmla="*/ 204 w 10000"/>
                <a:gd name="connsiteY145" fmla="*/ 4482 h 10000"/>
                <a:gd name="connsiteX146" fmla="*/ 415 w 10000"/>
                <a:gd name="connsiteY146" fmla="*/ 4482 h 10000"/>
                <a:gd name="connsiteX147" fmla="*/ 517 w 10000"/>
                <a:gd name="connsiteY147" fmla="*/ 4332 h 10000"/>
                <a:gd name="connsiteX148" fmla="*/ 727 w 10000"/>
                <a:gd name="connsiteY148" fmla="*/ 4332 h 10000"/>
                <a:gd name="connsiteX149" fmla="*/ 1034 w 10000"/>
                <a:gd name="connsiteY149" fmla="*/ 4034 h 10000"/>
                <a:gd name="connsiteX150" fmla="*/ 1142 w 10000"/>
                <a:gd name="connsiteY150" fmla="*/ 3725 h 10000"/>
                <a:gd name="connsiteX151" fmla="*/ 1034 w 10000"/>
                <a:gd name="connsiteY151" fmla="*/ 3137 h 10000"/>
                <a:gd name="connsiteX152" fmla="*/ 1034 w 10000"/>
                <a:gd name="connsiteY152" fmla="*/ 2988 h 10000"/>
                <a:gd name="connsiteX153" fmla="*/ 1346 w 10000"/>
                <a:gd name="connsiteY153" fmla="*/ 2988 h 10000"/>
                <a:gd name="connsiteX154" fmla="*/ 1454 w 10000"/>
                <a:gd name="connsiteY154" fmla="*/ 2381 h 10000"/>
                <a:gd name="connsiteX155" fmla="*/ 1773 w 10000"/>
                <a:gd name="connsiteY155" fmla="*/ 2381 h 10000"/>
                <a:gd name="connsiteX156" fmla="*/ 1881 w 10000"/>
                <a:gd name="connsiteY156" fmla="*/ 2381 h 10000"/>
                <a:gd name="connsiteX157" fmla="*/ 1983 w 10000"/>
                <a:gd name="connsiteY157" fmla="*/ 1933 h 10000"/>
                <a:gd name="connsiteX158" fmla="*/ 2085 w 10000"/>
                <a:gd name="connsiteY158" fmla="*/ 1793 h 10000"/>
                <a:gd name="connsiteX0" fmla="*/ 2085 w 10000"/>
                <a:gd name="connsiteY0" fmla="*/ 1793 h 10000"/>
                <a:gd name="connsiteX1" fmla="*/ 2085 w 10000"/>
                <a:gd name="connsiteY1" fmla="*/ 1793 h 10000"/>
                <a:gd name="connsiteX2" fmla="*/ 2296 w 10000"/>
                <a:gd name="connsiteY2" fmla="*/ 1643 h 10000"/>
                <a:gd name="connsiteX3" fmla="*/ 2500 w 10000"/>
                <a:gd name="connsiteY3" fmla="*/ 2092 h 10000"/>
                <a:gd name="connsiteX4" fmla="*/ 2710 w 10000"/>
                <a:gd name="connsiteY4" fmla="*/ 2092 h 10000"/>
                <a:gd name="connsiteX5" fmla="*/ 2813 w 10000"/>
                <a:gd name="connsiteY5" fmla="*/ 2381 h 10000"/>
                <a:gd name="connsiteX6" fmla="*/ 2813 w 10000"/>
                <a:gd name="connsiteY6" fmla="*/ 2988 h 10000"/>
                <a:gd name="connsiteX7" fmla="*/ 3438 w 10000"/>
                <a:gd name="connsiteY7" fmla="*/ 3277 h 10000"/>
                <a:gd name="connsiteX8" fmla="*/ 3750 w 10000"/>
                <a:gd name="connsiteY8" fmla="*/ 3725 h 10000"/>
                <a:gd name="connsiteX9" fmla="*/ 4369 w 10000"/>
                <a:gd name="connsiteY9" fmla="*/ 3725 h 10000"/>
                <a:gd name="connsiteX10" fmla="*/ 4681 w 10000"/>
                <a:gd name="connsiteY10" fmla="*/ 4034 h 10000"/>
                <a:gd name="connsiteX11" fmla="*/ 5096 w 10000"/>
                <a:gd name="connsiteY11" fmla="*/ 4174 h 10000"/>
                <a:gd name="connsiteX12" fmla="*/ 5523 w 10000"/>
                <a:gd name="connsiteY12" fmla="*/ 3884 h 10000"/>
                <a:gd name="connsiteX13" fmla="*/ 5938 w 10000"/>
                <a:gd name="connsiteY13" fmla="*/ 3884 h 10000"/>
                <a:gd name="connsiteX14" fmla="*/ 6250 w 10000"/>
                <a:gd name="connsiteY14" fmla="*/ 3436 h 10000"/>
                <a:gd name="connsiteX15" fmla="*/ 6148 w 10000"/>
                <a:gd name="connsiteY15" fmla="*/ 3277 h 10000"/>
                <a:gd name="connsiteX16" fmla="*/ 6352 w 10000"/>
                <a:gd name="connsiteY16" fmla="*/ 2988 h 10000"/>
                <a:gd name="connsiteX17" fmla="*/ 6563 w 10000"/>
                <a:gd name="connsiteY17" fmla="*/ 3137 h 10000"/>
                <a:gd name="connsiteX18" fmla="*/ 6875 w 10000"/>
                <a:gd name="connsiteY18" fmla="*/ 2829 h 10000"/>
                <a:gd name="connsiteX19" fmla="*/ 7079 w 10000"/>
                <a:gd name="connsiteY19" fmla="*/ 2540 h 10000"/>
                <a:gd name="connsiteX20" fmla="*/ 7494 w 10000"/>
                <a:gd name="connsiteY20" fmla="*/ 2540 h 10000"/>
                <a:gd name="connsiteX21" fmla="*/ 7392 w 10000"/>
                <a:gd name="connsiteY21" fmla="*/ 2241 h 10000"/>
                <a:gd name="connsiteX22" fmla="*/ 7290 w 10000"/>
                <a:gd name="connsiteY22" fmla="*/ 2092 h 10000"/>
                <a:gd name="connsiteX23" fmla="*/ 7079 w 10000"/>
                <a:gd name="connsiteY23" fmla="*/ 2241 h 10000"/>
                <a:gd name="connsiteX24" fmla="*/ 6875 w 10000"/>
                <a:gd name="connsiteY24" fmla="*/ 2241 h 10000"/>
                <a:gd name="connsiteX25" fmla="*/ 6875 w 10000"/>
                <a:gd name="connsiteY25" fmla="*/ 1643 h 10000"/>
                <a:gd name="connsiteX26" fmla="*/ 6977 w 10000"/>
                <a:gd name="connsiteY26" fmla="*/ 1345 h 10000"/>
                <a:gd name="connsiteX27" fmla="*/ 7188 w 10000"/>
                <a:gd name="connsiteY27" fmla="*/ 1485 h 10000"/>
                <a:gd name="connsiteX28" fmla="*/ 7494 w 10000"/>
                <a:gd name="connsiteY28" fmla="*/ 1345 h 10000"/>
                <a:gd name="connsiteX29" fmla="*/ 7602 w 10000"/>
                <a:gd name="connsiteY29" fmla="*/ 747 h 10000"/>
                <a:gd name="connsiteX30" fmla="*/ 7704 w 10000"/>
                <a:gd name="connsiteY30" fmla="*/ 588 h 10000"/>
                <a:gd name="connsiteX31" fmla="*/ 7704 w 10000"/>
                <a:gd name="connsiteY31" fmla="*/ 448 h 10000"/>
                <a:gd name="connsiteX32" fmla="*/ 7602 w 10000"/>
                <a:gd name="connsiteY32" fmla="*/ 448 h 10000"/>
                <a:gd name="connsiteX33" fmla="*/ 7704 w 10000"/>
                <a:gd name="connsiteY33" fmla="*/ 140 h 10000"/>
                <a:gd name="connsiteX34" fmla="*/ 8119 w 10000"/>
                <a:gd name="connsiteY34" fmla="*/ 0 h 10000"/>
                <a:gd name="connsiteX35" fmla="*/ 8431 w 10000"/>
                <a:gd name="connsiteY35" fmla="*/ 140 h 10000"/>
                <a:gd name="connsiteX36" fmla="*/ 8642 w 10000"/>
                <a:gd name="connsiteY36" fmla="*/ 448 h 10000"/>
                <a:gd name="connsiteX37" fmla="*/ 8846 w 10000"/>
                <a:gd name="connsiteY37" fmla="*/ 1485 h 10000"/>
                <a:gd name="connsiteX38" fmla="*/ 9056 w 10000"/>
                <a:gd name="connsiteY38" fmla="*/ 1485 h 10000"/>
                <a:gd name="connsiteX39" fmla="*/ 9363 w 10000"/>
                <a:gd name="connsiteY39" fmla="*/ 1793 h 10000"/>
                <a:gd name="connsiteX40" fmla="*/ 9363 w 10000"/>
                <a:gd name="connsiteY40" fmla="*/ 2092 h 10000"/>
                <a:gd name="connsiteX41" fmla="*/ 9585 w 10000"/>
                <a:gd name="connsiteY41" fmla="*/ 2092 h 10000"/>
                <a:gd name="connsiteX42" fmla="*/ 10000 w 10000"/>
                <a:gd name="connsiteY42" fmla="*/ 1933 h 10000"/>
                <a:gd name="connsiteX43" fmla="*/ 10000 w 10000"/>
                <a:gd name="connsiteY43" fmla="*/ 2241 h 10000"/>
                <a:gd name="connsiteX44" fmla="*/ 9688 w 10000"/>
                <a:gd name="connsiteY44" fmla="*/ 3137 h 10000"/>
                <a:gd name="connsiteX45" fmla="*/ 9585 w 10000"/>
                <a:gd name="connsiteY45" fmla="*/ 2988 h 10000"/>
                <a:gd name="connsiteX46" fmla="*/ 9363 w 10000"/>
                <a:gd name="connsiteY46" fmla="*/ 3137 h 10000"/>
                <a:gd name="connsiteX47" fmla="*/ 9483 w 10000"/>
                <a:gd name="connsiteY47" fmla="*/ 3585 h 10000"/>
                <a:gd name="connsiteX48" fmla="*/ 9363 w 10000"/>
                <a:gd name="connsiteY48" fmla="*/ 3884 h 10000"/>
                <a:gd name="connsiteX49" fmla="*/ 9261 w 10000"/>
                <a:gd name="connsiteY49" fmla="*/ 3884 h 10000"/>
                <a:gd name="connsiteX50" fmla="*/ 9056 w 10000"/>
                <a:gd name="connsiteY50" fmla="*/ 4034 h 10000"/>
                <a:gd name="connsiteX51" fmla="*/ 8948 w 10000"/>
                <a:gd name="connsiteY51" fmla="*/ 4034 h 10000"/>
                <a:gd name="connsiteX52" fmla="*/ 8846 w 10000"/>
                <a:gd name="connsiteY52" fmla="*/ 4174 h 10000"/>
                <a:gd name="connsiteX53" fmla="*/ 8744 w 10000"/>
                <a:gd name="connsiteY53" fmla="*/ 4174 h 10000"/>
                <a:gd name="connsiteX54" fmla="*/ 8329 w 10000"/>
                <a:gd name="connsiteY54" fmla="*/ 4622 h 10000"/>
                <a:gd name="connsiteX55" fmla="*/ 8329 w 10000"/>
                <a:gd name="connsiteY55" fmla="*/ 4781 h 10000"/>
                <a:gd name="connsiteX56" fmla="*/ 8119 w 10000"/>
                <a:gd name="connsiteY56" fmla="*/ 4781 h 10000"/>
                <a:gd name="connsiteX57" fmla="*/ 7806 w 10000"/>
                <a:gd name="connsiteY57" fmla="*/ 5070 h 10000"/>
                <a:gd name="connsiteX58" fmla="*/ 7806 w 10000"/>
                <a:gd name="connsiteY58" fmla="*/ 4930 h 10000"/>
                <a:gd name="connsiteX59" fmla="*/ 7806 w 10000"/>
                <a:gd name="connsiteY59" fmla="*/ 4781 h 10000"/>
                <a:gd name="connsiteX60" fmla="*/ 7915 w 10000"/>
                <a:gd name="connsiteY60" fmla="*/ 4482 h 10000"/>
                <a:gd name="connsiteX61" fmla="*/ 7806 w 10000"/>
                <a:gd name="connsiteY61" fmla="*/ 4332 h 10000"/>
                <a:gd name="connsiteX62" fmla="*/ 7494 w 10000"/>
                <a:gd name="connsiteY62" fmla="*/ 4781 h 10000"/>
                <a:gd name="connsiteX63" fmla="*/ 7392 w 10000"/>
                <a:gd name="connsiteY63" fmla="*/ 4930 h 10000"/>
                <a:gd name="connsiteX64" fmla="*/ 7290 w 10000"/>
                <a:gd name="connsiteY64" fmla="*/ 4930 h 10000"/>
                <a:gd name="connsiteX65" fmla="*/ 7188 w 10000"/>
                <a:gd name="connsiteY65" fmla="*/ 5070 h 10000"/>
                <a:gd name="connsiteX66" fmla="*/ 7494 w 10000"/>
                <a:gd name="connsiteY66" fmla="*/ 5518 h 10000"/>
                <a:gd name="connsiteX67" fmla="*/ 7704 w 10000"/>
                <a:gd name="connsiteY67" fmla="*/ 5369 h 10000"/>
                <a:gd name="connsiteX68" fmla="*/ 8017 w 10000"/>
                <a:gd name="connsiteY68" fmla="*/ 5518 h 10000"/>
                <a:gd name="connsiteX69" fmla="*/ 8017 w 10000"/>
                <a:gd name="connsiteY69" fmla="*/ 5677 h 10000"/>
                <a:gd name="connsiteX70" fmla="*/ 7915 w 10000"/>
                <a:gd name="connsiteY70" fmla="*/ 5518 h 10000"/>
                <a:gd name="connsiteX71" fmla="*/ 7704 w 10000"/>
                <a:gd name="connsiteY71" fmla="*/ 5677 h 10000"/>
                <a:gd name="connsiteX72" fmla="*/ 7494 w 10000"/>
                <a:gd name="connsiteY72" fmla="*/ 6125 h 10000"/>
                <a:gd name="connsiteX73" fmla="*/ 7602 w 10000"/>
                <a:gd name="connsiteY73" fmla="*/ 6265 h 10000"/>
                <a:gd name="connsiteX74" fmla="*/ 7704 w 10000"/>
                <a:gd name="connsiteY74" fmla="*/ 6863 h 10000"/>
                <a:gd name="connsiteX75" fmla="*/ 7915 w 10000"/>
                <a:gd name="connsiteY75" fmla="*/ 7021 h 10000"/>
                <a:gd name="connsiteX76" fmla="*/ 7806 w 10000"/>
                <a:gd name="connsiteY76" fmla="*/ 7021 h 10000"/>
                <a:gd name="connsiteX77" fmla="*/ 7915 w 10000"/>
                <a:gd name="connsiteY77" fmla="*/ 7311 h 10000"/>
                <a:gd name="connsiteX78" fmla="*/ 7602 w 10000"/>
                <a:gd name="connsiteY78" fmla="*/ 7470 h 10000"/>
                <a:gd name="connsiteX79" fmla="*/ 7915 w 10000"/>
                <a:gd name="connsiteY79" fmla="*/ 7470 h 10000"/>
                <a:gd name="connsiteX80" fmla="*/ 7806 w 10000"/>
                <a:gd name="connsiteY80" fmla="*/ 8058 h 10000"/>
                <a:gd name="connsiteX81" fmla="*/ 7602 w 10000"/>
                <a:gd name="connsiteY81" fmla="*/ 8366 h 10000"/>
                <a:gd name="connsiteX82" fmla="*/ 7494 w 10000"/>
                <a:gd name="connsiteY82" fmla="*/ 8366 h 10000"/>
                <a:gd name="connsiteX83" fmla="*/ 7494 w 10000"/>
                <a:gd name="connsiteY83" fmla="*/ 8655 h 10000"/>
                <a:gd name="connsiteX84" fmla="*/ 7392 w 10000"/>
                <a:gd name="connsiteY84" fmla="*/ 8954 h 10000"/>
                <a:gd name="connsiteX85" fmla="*/ 7290 w 10000"/>
                <a:gd name="connsiteY85" fmla="*/ 8954 h 10000"/>
                <a:gd name="connsiteX86" fmla="*/ 7290 w 10000"/>
                <a:gd name="connsiteY86" fmla="*/ 9104 h 10000"/>
                <a:gd name="connsiteX87" fmla="*/ 6977 w 10000"/>
                <a:gd name="connsiteY87" fmla="*/ 9402 h 10000"/>
                <a:gd name="connsiteX88" fmla="*/ 6665 w 10000"/>
                <a:gd name="connsiteY88" fmla="*/ 9402 h 10000"/>
                <a:gd name="connsiteX89" fmla="*/ 6665 w 10000"/>
                <a:gd name="connsiteY89" fmla="*/ 9552 h 10000"/>
                <a:gd name="connsiteX90" fmla="*/ 6563 w 10000"/>
                <a:gd name="connsiteY90" fmla="*/ 9402 h 10000"/>
                <a:gd name="connsiteX91" fmla="*/ 6563 w 10000"/>
                <a:gd name="connsiteY91" fmla="*/ 9552 h 10000"/>
                <a:gd name="connsiteX92" fmla="*/ 6460 w 10000"/>
                <a:gd name="connsiteY92" fmla="*/ 9552 h 10000"/>
                <a:gd name="connsiteX93" fmla="*/ 6046 w 10000"/>
                <a:gd name="connsiteY93" fmla="*/ 9851 h 10000"/>
                <a:gd name="connsiteX94" fmla="*/ 5938 w 10000"/>
                <a:gd name="connsiteY94" fmla="*/ 10000 h 10000"/>
                <a:gd name="connsiteX95" fmla="*/ 5938 w 10000"/>
                <a:gd name="connsiteY95" fmla="*/ 9711 h 10000"/>
                <a:gd name="connsiteX96" fmla="*/ 5733 w 10000"/>
                <a:gd name="connsiteY96" fmla="*/ 9711 h 10000"/>
                <a:gd name="connsiteX97" fmla="*/ 5625 w 10000"/>
                <a:gd name="connsiteY97" fmla="*/ 9711 h 10000"/>
                <a:gd name="connsiteX98" fmla="*/ 5409 w 10000"/>
                <a:gd name="connsiteY98" fmla="*/ 9711 h 10000"/>
                <a:gd name="connsiteX99" fmla="*/ 5409 w 10000"/>
                <a:gd name="connsiteY99" fmla="*/ 9402 h 10000"/>
                <a:gd name="connsiteX100" fmla="*/ 5198 w 10000"/>
                <a:gd name="connsiteY100" fmla="*/ 9402 h 10000"/>
                <a:gd name="connsiteX101" fmla="*/ 4784 w 10000"/>
                <a:gd name="connsiteY101" fmla="*/ 9552 h 10000"/>
                <a:gd name="connsiteX102" fmla="*/ 4681 w 10000"/>
                <a:gd name="connsiteY102" fmla="*/ 9402 h 10000"/>
                <a:gd name="connsiteX103" fmla="*/ 4681 w 10000"/>
                <a:gd name="connsiteY103" fmla="*/ 9552 h 10000"/>
                <a:gd name="connsiteX104" fmla="*/ 4579 w 10000"/>
                <a:gd name="connsiteY104" fmla="*/ 9552 h 10000"/>
                <a:gd name="connsiteX105" fmla="*/ 4579 w 10000"/>
                <a:gd name="connsiteY105" fmla="*/ 9851 h 10000"/>
                <a:gd name="connsiteX106" fmla="*/ 4477 w 10000"/>
                <a:gd name="connsiteY106" fmla="*/ 9851 h 10000"/>
                <a:gd name="connsiteX107" fmla="*/ 4477 w 10000"/>
                <a:gd name="connsiteY107" fmla="*/ 9711 h 10000"/>
                <a:gd name="connsiteX108" fmla="*/ 4369 w 10000"/>
                <a:gd name="connsiteY108" fmla="*/ 9711 h 10000"/>
                <a:gd name="connsiteX109" fmla="*/ 4165 w 10000"/>
                <a:gd name="connsiteY109" fmla="*/ 9552 h 10000"/>
                <a:gd name="connsiteX110" fmla="*/ 4165 w 10000"/>
                <a:gd name="connsiteY110" fmla="*/ 9402 h 10000"/>
                <a:gd name="connsiteX111" fmla="*/ 4165 w 10000"/>
                <a:gd name="connsiteY111" fmla="*/ 9262 h 10000"/>
                <a:gd name="connsiteX112" fmla="*/ 4056 w 10000"/>
                <a:gd name="connsiteY112" fmla="*/ 9104 h 10000"/>
                <a:gd name="connsiteX113" fmla="*/ 3954 w 10000"/>
                <a:gd name="connsiteY113" fmla="*/ 9104 h 10000"/>
                <a:gd name="connsiteX114" fmla="*/ 4056 w 10000"/>
                <a:gd name="connsiteY114" fmla="*/ 8366 h 10000"/>
                <a:gd name="connsiteX115" fmla="*/ 3954 w 10000"/>
                <a:gd name="connsiteY115" fmla="*/ 8058 h 10000"/>
                <a:gd name="connsiteX116" fmla="*/ 3852 w 10000"/>
                <a:gd name="connsiteY116" fmla="*/ 8058 h 10000"/>
                <a:gd name="connsiteX117" fmla="*/ 3642 w 10000"/>
                <a:gd name="connsiteY117" fmla="*/ 7759 h 10000"/>
                <a:gd name="connsiteX118" fmla="*/ 3438 w 10000"/>
                <a:gd name="connsiteY118" fmla="*/ 7759 h 10000"/>
                <a:gd name="connsiteX119" fmla="*/ 2915 w 10000"/>
                <a:gd name="connsiteY119" fmla="*/ 8058 h 10000"/>
                <a:gd name="connsiteX120" fmla="*/ 2608 w 10000"/>
                <a:gd name="connsiteY120" fmla="*/ 8058 h 10000"/>
                <a:gd name="connsiteX121" fmla="*/ 2500 w 10000"/>
                <a:gd name="connsiteY121" fmla="*/ 8207 h 10000"/>
                <a:gd name="connsiteX122" fmla="*/ 2398 w 10000"/>
                <a:gd name="connsiteY122" fmla="*/ 8058 h 10000"/>
                <a:gd name="connsiteX123" fmla="*/ 2296 w 10000"/>
                <a:gd name="connsiteY123" fmla="*/ 8058 h 10000"/>
                <a:gd name="connsiteX124" fmla="*/ 1983 w 10000"/>
                <a:gd name="connsiteY124" fmla="*/ 8058 h 10000"/>
                <a:gd name="connsiteX125" fmla="*/ 1773 w 10000"/>
                <a:gd name="connsiteY125" fmla="*/ 7918 h 10000"/>
                <a:gd name="connsiteX126" fmla="*/ 1671 w 10000"/>
                <a:gd name="connsiteY126" fmla="*/ 7759 h 10000"/>
                <a:gd name="connsiteX127" fmla="*/ 1556 w 10000"/>
                <a:gd name="connsiteY127" fmla="*/ 7759 h 10000"/>
                <a:gd name="connsiteX128" fmla="*/ 1346 w 10000"/>
                <a:gd name="connsiteY128" fmla="*/ 7470 h 10000"/>
                <a:gd name="connsiteX129" fmla="*/ 1142 w 10000"/>
                <a:gd name="connsiteY129" fmla="*/ 7470 h 10000"/>
                <a:gd name="connsiteX130" fmla="*/ 829 w 10000"/>
                <a:gd name="connsiteY130" fmla="*/ 7311 h 10000"/>
                <a:gd name="connsiteX131" fmla="*/ 727 w 10000"/>
                <a:gd name="connsiteY131" fmla="*/ 6863 h 10000"/>
                <a:gd name="connsiteX132" fmla="*/ 931 w 10000"/>
                <a:gd name="connsiteY132" fmla="*/ 6863 h 10000"/>
                <a:gd name="connsiteX133" fmla="*/ 829 w 10000"/>
                <a:gd name="connsiteY133" fmla="*/ 6573 h 10000"/>
                <a:gd name="connsiteX134" fmla="*/ 1034 w 10000"/>
                <a:gd name="connsiteY134" fmla="*/ 6265 h 10000"/>
                <a:gd name="connsiteX135" fmla="*/ 1034 w 10000"/>
                <a:gd name="connsiteY135" fmla="*/ 5966 h 10000"/>
                <a:gd name="connsiteX136" fmla="*/ 931 w 10000"/>
                <a:gd name="connsiteY136" fmla="*/ 5817 h 10000"/>
                <a:gd name="connsiteX137" fmla="*/ 619 w 10000"/>
                <a:gd name="connsiteY137" fmla="*/ 5966 h 10000"/>
                <a:gd name="connsiteX138" fmla="*/ 444 w 10000"/>
                <a:gd name="connsiteY138" fmla="*/ 5373 h 10000"/>
                <a:gd name="connsiteX139" fmla="*/ 102 w 10000"/>
                <a:gd name="connsiteY139" fmla="*/ 5518 h 10000"/>
                <a:gd name="connsiteX140" fmla="*/ 216 w 10000"/>
                <a:gd name="connsiteY140" fmla="*/ 5243 h 10000"/>
                <a:gd name="connsiteX141" fmla="*/ 204 w 10000"/>
                <a:gd name="connsiteY141" fmla="*/ 5070 h 10000"/>
                <a:gd name="connsiteX142" fmla="*/ 0 w 10000"/>
                <a:gd name="connsiteY142" fmla="*/ 5070 h 10000"/>
                <a:gd name="connsiteX143" fmla="*/ 0 w 10000"/>
                <a:gd name="connsiteY143" fmla="*/ 4622 h 10000"/>
                <a:gd name="connsiteX144" fmla="*/ 204 w 10000"/>
                <a:gd name="connsiteY144" fmla="*/ 4482 h 10000"/>
                <a:gd name="connsiteX145" fmla="*/ 415 w 10000"/>
                <a:gd name="connsiteY145" fmla="*/ 4482 h 10000"/>
                <a:gd name="connsiteX146" fmla="*/ 517 w 10000"/>
                <a:gd name="connsiteY146" fmla="*/ 4332 h 10000"/>
                <a:gd name="connsiteX147" fmla="*/ 727 w 10000"/>
                <a:gd name="connsiteY147" fmla="*/ 4332 h 10000"/>
                <a:gd name="connsiteX148" fmla="*/ 1034 w 10000"/>
                <a:gd name="connsiteY148" fmla="*/ 4034 h 10000"/>
                <a:gd name="connsiteX149" fmla="*/ 1142 w 10000"/>
                <a:gd name="connsiteY149" fmla="*/ 3725 h 10000"/>
                <a:gd name="connsiteX150" fmla="*/ 1034 w 10000"/>
                <a:gd name="connsiteY150" fmla="*/ 3137 h 10000"/>
                <a:gd name="connsiteX151" fmla="*/ 1034 w 10000"/>
                <a:gd name="connsiteY151" fmla="*/ 2988 h 10000"/>
                <a:gd name="connsiteX152" fmla="*/ 1346 w 10000"/>
                <a:gd name="connsiteY152" fmla="*/ 2988 h 10000"/>
                <a:gd name="connsiteX153" fmla="*/ 1454 w 10000"/>
                <a:gd name="connsiteY153" fmla="*/ 2381 h 10000"/>
                <a:gd name="connsiteX154" fmla="*/ 1773 w 10000"/>
                <a:gd name="connsiteY154" fmla="*/ 2381 h 10000"/>
                <a:gd name="connsiteX155" fmla="*/ 1881 w 10000"/>
                <a:gd name="connsiteY155" fmla="*/ 2381 h 10000"/>
                <a:gd name="connsiteX156" fmla="*/ 1983 w 10000"/>
                <a:gd name="connsiteY156" fmla="*/ 1933 h 10000"/>
                <a:gd name="connsiteX157" fmla="*/ 2085 w 10000"/>
                <a:gd name="connsiteY157" fmla="*/ 1793 h 10000"/>
                <a:gd name="connsiteX0" fmla="*/ 2085 w 10000"/>
                <a:gd name="connsiteY0" fmla="*/ 1793 h 10000"/>
                <a:gd name="connsiteX1" fmla="*/ 2085 w 10000"/>
                <a:gd name="connsiteY1" fmla="*/ 1793 h 10000"/>
                <a:gd name="connsiteX2" fmla="*/ 2296 w 10000"/>
                <a:gd name="connsiteY2" fmla="*/ 1643 h 10000"/>
                <a:gd name="connsiteX3" fmla="*/ 2500 w 10000"/>
                <a:gd name="connsiteY3" fmla="*/ 2092 h 10000"/>
                <a:gd name="connsiteX4" fmla="*/ 2710 w 10000"/>
                <a:gd name="connsiteY4" fmla="*/ 2092 h 10000"/>
                <a:gd name="connsiteX5" fmla="*/ 2813 w 10000"/>
                <a:gd name="connsiteY5" fmla="*/ 2381 h 10000"/>
                <a:gd name="connsiteX6" fmla="*/ 2813 w 10000"/>
                <a:gd name="connsiteY6" fmla="*/ 2988 h 10000"/>
                <a:gd name="connsiteX7" fmla="*/ 3438 w 10000"/>
                <a:gd name="connsiteY7" fmla="*/ 3277 h 10000"/>
                <a:gd name="connsiteX8" fmla="*/ 3750 w 10000"/>
                <a:gd name="connsiteY8" fmla="*/ 3725 h 10000"/>
                <a:gd name="connsiteX9" fmla="*/ 4369 w 10000"/>
                <a:gd name="connsiteY9" fmla="*/ 3725 h 10000"/>
                <a:gd name="connsiteX10" fmla="*/ 4681 w 10000"/>
                <a:gd name="connsiteY10" fmla="*/ 4034 h 10000"/>
                <a:gd name="connsiteX11" fmla="*/ 5096 w 10000"/>
                <a:gd name="connsiteY11" fmla="*/ 4174 h 10000"/>
                <a:gd name="connsiteX12" fmla="*/ 5523 w 10000"/>
                <a:gd name="connsiteY12" fmla="*/ 3884 h 10000"/>
                <a:gd name="connsiteX13" fmla="*/ 5938 w 10000"/>
                <a:gd name="connsiteY13" fmla="*/ 3884 h 10000"/>
                <a:gd name="connsiteX14" fmla="*/ 6250 w 10000"/>
                <a:gd name="connsiteY14" fmla="*/ 3436 h 10000"/>
                <a:gd name="connsiteX15" fmla="*/ 6148 w 10000"/>
                <a:gd name="connsiteY15" fmla="*/ 3277 h 10000"/>
                <a:gd name="connsiteX16" fmla="*/ 6352 w 10000"/>
                <a:gd name="connsiteY16" fmla="*/ 2988 h 10000"/>
                <a:gd name="connsiteX17" fmla="*/ 6563 w 10000"/>
                <a:gd name="connsiteY17" fmla="*/ 3137 h 10000"/>
                <a:gd name="connsiteX18" fmla="*/ 6875 w 10000"/>
                <a:gd name="connsiteY18" fmla="*/ 2829 h 10000"/>
                <a:gd name="connsiteX19" fmla="*/ 7079 w 10000"/>
                <a:gd name="connsiteY19" fmla="*/ 2540 h 10000"/>
                <a:gd name="connsiteX20" fmla="*/ 7494 w 10000"/>
                <a:gd name="connsiteY20" fmla="*/ 2540 h 10000"/>
                <a:gd name="connsiteX21" fmla="*/ 7392 w 10000"/>
                <a:gd name="connsiteY21" fmla="*/ 2241 h 10000"/>
                <a:gd name="connsiteX22" fmla="*/ 7290 w 10000"/>
                <a:gd name="connsiteY22" fmla="*/ 2092 h 10000"/>
                <a:gd name="connsiteX23" fmla="*/ 7079 w 10000"/>
                <a:gd name="connsiteY23" fmla="*/ 2241 h 10000"/>
                <a:gd name="connsiteX24" fmla="*/ 6875 w 10000"/>
                <a:gd name="connsiteY24" fmla="*/ 2241 h 10000"/>
                <a:gd name="connsiteX25" fmla="*/ 6875 w 10000"/>
                <a:gd name="connsiteY25" fmla="*/ 1643 h 10000"/>
                <a:gd name="connsiteX26" fmla="*/ 6977 w 10000"/>
                <a:gd name="connsiteY26" fmla="*/ 1345 h 10000"/>
                <a:gd name="connsiteX27" fmla="*/ 7188 w 10000"/>
                <a:gd name="connsiteY27" fmla="*/ 1485 h 10000"/>
                <a:gd name="connsiteX28" fmla="*/ 7494 w 10000"/>
                <a:gd name="connsiteY28" fmla="*/ 1345 h 10000"/>
                <a:gd name="connsiteX29" fmla="*/ 7602 w 10000"/>
                <a:gd name="connsiteY29" fmla="*/ 747 h 10000"/>
                <a:gd name="connsiteX30" fmla="*/ 7704 w 10000"/>
                <a:gd name="connsiteY30" fmla="*/ 588 h 10000"/>
                <a:gd name="connsiteX31" fmla="*/ 7704 w 10000"/>
                <a:gd name="connsiteY31" fmla="*/ 448 h 10000"/>
                <a:gd name="connsiteX32" fmla="*/ 7602 w 10000"/>
                <a:gd name="connsiteY32" fmla="*/ 448 h 10000"/>
                <a:gd name="connsiteX33" fmla="*/ 7704 w 10000"/>
                <a:gd name="connsiteY33" fmla="*/ 140 h 10000"/>
                <a:gd name="connsiteX34" fmla="*/ 8119 w 10000"/>
                <a:gd name="connsiteY34" fmla="*/ 0 h 10000"/>
                <a:gd name="connsiteX35" fmla="*/ 8431 w 10000"/>
                <a:gd name="connsiteY35" fmla="*/ 140 h 10000"/>
                <a:gd name="connsiteX36" fmla="*/ 8642 w 10000"/>
                <a:gd name="connsiteY36" fmla="*/ 448 h 10000"/>
                <a:gd name="connsiteX37" fmla="*/ 8846 w 10000"/>
                <a:gd name="connsiteY37" fmla="*/ 1485 h 10000"/>
                <a:gd name="connsiteX38" fmla="*/ 9056 w 10000"/>
                <a:gd name="connsiteY38" fmla="*/ 1485 h 10000"/>
                <a:gd name="connsiteX39" fmla="*/ 9363 w 10000"/>
                <a:gd name="connsiteY39" fmla="*/ 1793 h 10000"/>
                <a:gd name="connsiteX40" fmla="*/ 9363 w 10000"/>
                <a:gd name="connsiteY40" fmla="*/ 2092 h 10000"/>
                <a:gd name="connsiteX41" fmla="*/ 9585 w 10000"/>
                <a:gd name="connsiteY41" fmla="*/ 2092 h 10000"/>
                <a:gd name="connsiteX42" fmla="*/ 10000 w 10000"/>
                <a:gd name="connsiteY42" fmla="*/ 1933 h 10000"/>
                <a:gd name="connsiteX43" fmla="*/ 10000 w 10000"/>
                <a:gd name="connsiteY43" fmla="*/ 2241 h 10000"/>
                <a:gd name="connsiteX44" fmla="*/ 9688 w 10000"/>
                <a:gd name="connsiteY44" fmla="*/ 3137 h 10000"/>
                <a:gd name="connsiteX45" fmla="*/ 9585 w 10000"/>
                <a:gd name="connsiteY45" fmla="*/ 2988 h 10000"/>
                <a:gd name="connsiteX46" fmla="*/ 9363 w 10000"/>
                <a:gd name="connsiteY46" fmla="*/ 3137 h 10000"/>
                <a:gd name="connsiteX47" fmla="*/ 9483 w 10000"/>
                <a:gd name="connsiteY47" fmla="*/ 3585 h 10000"/>
                <a:gd name="connsiteX48" fmla="*/ 9363 w 10000"/>
                <a:gd name="connsiteY48" fmla="*/ 3884 h 10000"/>
                <a:gd name="connsiteX49" fmla="*/ 9261 w 10000"/>
                <a:gd name="connsiteY49" fmla="*/ 3884 h 10000"/>
                <a:gd name="connsiteX50" fmla="*/ 9056 w 10000"/>
                <a:gd name="connsiteY50" fmla="*/ 4034 h 10000"/>
                <a:gd name="connsiteX51" fmla="*/ 8948 w 10000"/>
                <a:gd name="connsiteY51" fmla="*/ 4034 h 10000"/>
                <a:gd name="connsiteX52" fmla="*/ 8846 w 10000"/>
                <a:gd name="connsiteY52" fmla="*/ 4174 h 10000"/>
                <a:gd name="connsiteX53" fmla="*/ 8744 w 10000"/>
                <a:gd name="connsiteY53" fmla="*/ 4174 h 10000"/>
                <a:gd name="connsiteX54" fmla="*/ 8329 w 10000"/>
                <a:gd name="connsiteY54" fmla="*/ 4622 h 10000"/>
                <a:gd name="connsiteX55" fmla="*/ 8329 w 10000"/>
                <a:gd name="connsiteY55" fmla="*/ 4781 h 10000"/>
                <a:gd name="connsiteX56" fmla="*/ 8119 w 10000"/>
                <a:gd name="connsiteY56" fmla="*/ 4781 h 10000"/>
                <a:gd name="connsiteX57" fmla="*/ 7806 w 10000"/>
                <a:gd name="connsiteY57" fmla="*/ 5070 h 10000"/>
                <a:gd name="connsiteX58" fmla="*/ 7806 w 10000"/>
                <a:gd name="connsiteY58" fmla="*/ 4930 h 10000"/>
                <a:gd name="connsiteX59" fmla="*/ 7806 w 10000"/>
                <a:gd name="connsiteY59" fmla="*/ 4781 h 10000"/>
                <a:gd name="connsiteX60" fmla="*/ 7915 w 10000"/>
                <a:gd name="connsiteY60" fmla="*/ 4482 h 10000"/>
                <a:gd name="connsiteX61" fmla="*/ 7806 w 10000"/>
                <a:gd name="connsiteY61" fmla="*/ 4332 h 10000"/>
                <a:gd name="connsiteX62" fmla="*/ 7494 w 10000"/>
                <a:gd name="connsiteY62" fmla="*/ 4781 h 10000"/>
                <a:gd name="connsiteX63" fmla="*/ 7392 w 10000"/>
                <a:gd name="connsiteY63" fmla="*/ 4930 h 10000"/>
                <a:gd name="connsiteX64" fmla="*/ 7290 w 10000"/>
                <a:gd name="connsiteY64" fmla="*/ 4930 h 10000"/>
                <a:gd name="connsiteX65" fmla="*/ 7188 w 10000"/>
                <a:gd name="connsiteY65" fmla="*/ 5070 h 10000"/>
                <a:gd name="connsiteX66" fmla="*/ 7494 w 10000"/>
                <a:gd name="connsiteY66" fmla="*/ 5518 h 10000"/>
                <a:gd name="connsiteX67" fmla="*/ 7704 w 10000"/>
                <a:gd name="connsiteY67" fmla="*/ 5369 h 10000"/>
                <a:gd name="connsiteX68" fmla="*/ 8017 w 10000"/>
                <a:gd name="connsiteY68" fmla="*/ 5518 h 10000"/>
                <a:gd name="connsiteX69" fmla="*/ 8017 w 10000"/>
                <a:gd name="connsiteY69" fmla="*/ 5677 h 10000"/>
                <a:gd name="connsiteX70" fmla="*/ 7915 w 10000"/>
                <a:gd name="connsiteY70" fmla="*/ 5518 h 10000"/>
                <a:gd name="connsiteX71" fmla="*/ 7704 w 10000"/>
                <a:gd name="connsiteY71" fmla="*/ 5677 h 10000"/>
                <a:gd name="connsiteX72" fmla="*/ 7494 w 10000"/>
                <a:gd name="connsiteY72" fmla="*/ 6125 h 10000"/>
                <a:gd name="connsiteX73" fmla="*/ 7602 w 10000"/>
                <a:gd name="connsiteY73" fmla="*/ 6265 h 10000"/>
                <a:gd name="connsiteX74" fmla="*/ 7704 w 10000"/>
                <a:gd name="connsiteY74" fmla="*/ 6863 h 10000"/>
                <a:gd name="connsiteX75" fmla="*/ 7915 w 10000"/>
                <a:gd name="connsiteY75" fmla="*/ 7021 h 10000"/>
                <a:gd name="connsiteX76" fmla="*/ 7806 w 10000"/>
                <a:gd name="connsiteY76" fmla="*/ 7021 h 10000"/>
                <a:gd name="connsiteX77" fmla="*/ 7915 w 10000"/>
                <a:gd name="connsiteY77" fmla="*/ 7311 h 10000"/>
                <a:gd name="connsiteX78" fmla="*/ 7602 w 10000"/>
                <a:gd name="connsiteY78" fmla="*/ 7470 h 10000"/>
                <a:gd name="connsiteX79" fmla="*/ 7915 w 10000"/>
                <a:gd name="connsiteY79" fmla="*/ 7470 h 10000"/>
                <a:gd name="connsiteX80" fmla="*/ 7806 w 10000"/>
                <a:gd name="connsiteY80" fmla="*/ 8058 h 10000"/>
                <a:gd name="connsiteX81" fmla="*/ 7602 w 10000"/>
                <a:gd name="connsiteY81" fmla="*/ 8366 h 10000"/>
                <a:gd name="connsiteX82" fmla="*/ 7494 w 10000"/>
                <a:gd name="connsiteY82" fmla="*/ 8366 h 10000"/>
                <a:gd name="connsiteX83" fmla="*/ 7494 w 10000"/>
                <a:gd name="connsiteY83" fmla="*/ 8655 h 10000"/>
                <a:gd name="connsiteX84" fmla="*/ 7392 w 10000"/>
                <a:gd name="connsiteY84" fmla="*/ 8954 h 10000"/>
                <a:gd name="connsiteX85" fmla="*/ 7290 w 10000"/>
                <a:gd name="connsiteY85" fmla="*/ 8954 h 10000"/>
                <a:gd name="connsiteX86" fmla="*/ 7290 w 10000"/>
                <a:gd name="connsiteY86" fmla="*/ 9104 h 10000"/>
                <a:gd name="connsiteX87" fmla="*/ 6977 w 10000"/>
                <a:gd name="connsiteY87" fmla="*/ 9402 h 10000"/>
                <a:gd name="connsiteX88" fmla="*/ 6665 w 10000"/>
                <a:gd name="connsiteY88" fmla="*/ 9402 h 10000"/>
                <a:gd name="connsiteX89" fmla="*/ 6665 w 10000"/>
                <a:gd name="connsiteY89" fmla="*/ 9552 h 10000"/>
                <a:gd name="connsiteX90" fmla="*/ 6563 w 10000"/>
                <a:gd name="connsiteY90" fmla="*/ 9402 h 10000"/>
                <a:gd name="connsiteX91" fmla="*/ 6563 w 10000"/>
                <a:gd name="connsiteY91" fmla="*/ 9552 h 10000"/>
                <a:gd name="connsiteX92" fmla="*/ 6460 w 10000"/>
                <a:gd name="connsiteY92" fmla="*/ 9552 h 10000"/>
                <a:gd name="connsiteX93" fmla="*/ 6046 w 10000"/>
                <a:gd name="connsiteY93" fmla="*/ 9851 h 10000"/>
                <a:gd name="connsiteX94" fmla="*/ 5938 w 10000"/>
                <a:gd name="connsiteY94" fmla="*/ 10000 h 10000"/>
                <a:gd name="connsiteX95" fmla="*/ 5938 w 10000"/>
                <a:gd name="connsiteY95" fmla="*/ 9711 h 10000"/>
                <a:gd name="connsiteX96" fmla="*/ 5733 w 10000"/>
                <a:gd name="connsiteY96" fmla="*/ 9711 h 10000"/>
                <a:gd name="connsiteX97" fmla="*/ 5625 w 10000"/>
                <a:gd name="connsiteY97" fmla="*/ 9711 h 10000"/>
                <a:gd name="connsiteX98" fmla="*/ 5409 w 10000"/>
                <a:gd name="connsiteY98" fmla="*/ 9711 h 10000"/>
                <a:gd name="connsiteX99" fmla="*/ 5409 w 10000"/>
                <a:gd name="connsiteY99" fmla="*/ 9402 h 10000"/>
                <a:gd name="connsiteX100" fmla="*/ 5198 w 10000"/>
                <a:gd name="connsiteY100" fmla="*/ 9402 h 10000"/>
                <a:gd name="connsiteX101" fmla="*/ 4784 w 10000"/>
                <a:gd name="connsiteY101" fmla="*/ 9552 h 10000"/>
                <a:gd name="connsiteX102" fmla="*/ 4681 w 10000"/>
                <a:gd name="connsiteY102" fmla="*/ 9402 h 10000"/>
                <a:gd name="connsiteX103" fmla="*/ 4681 w 10000"/>
                <a:gd name="connsiteY103" fmla="*/ 9552 h 10000"/>
                <a:gd name="connsiteX104" fmla="*/ 4579 w 10000"/>
                <a:gd name="connsiteY104" fmla="*/ 9552 h 10000"/>
                <a:gd name="connsiteX105" fmla="*/ 4579 w 10000"/>
                <a:gd name="connsiteY105" fmla="*/ 9851 h 10000"/>
                <a:gd name="connsiteX106" fmla="*/ 4477 w 10000"/>
                <a:gd name="connsiteY106" fmla="*/ 9851 h 10000"/>
                <a:gd name="connsiteX107" fmla="*/ 4477 w 10000"/>
                <a:gd name="connsiteY107" fmla="*/ 9711 h 10000"/>
                <a:gd name="connsiteX108" fmla="*/ 4369 w 10000"/>
                <a:gd name="connsiteY108" fmla="*/ 9711 h 10000"/>
                <a:gd name="connsiteX109" fmla="*/ 4165 w 10000"/>
                <a:gd name="connsiteY109" fmla="*/ 9552 h 10000"/>
                <a:gd name="connsiteX110" fmla="*/ 4165 w 10000"/>
                <a:gd name="connsiteY110" fmla="*/ 9402 h 10000"/>
                <a:gd name="connsiteX111" fmla="*/ 4165 w 10000"/>
                <a:gd name="connsiteY111" fmla="*/ 9262 h 10000"/>
                <a:gd name="connsiteX112" fmla="*/ 4056 w 10000"/>
                <a:gd name="connsiteY112" fmla="*/ 9104 h 10000"/>
                <a:gd name="connsiteX113" fmla="*/ 3954 w 10000"/>
                <a:gd name="connsiteY113" fmla="*/ 9104 h 10000"/>
                <a:gd name="connsiteX114" fmla="*/ 4056 w 10000"/>
                <a:gd name="connsiteY114" fmla="*/ 8366 h 10000"/>
                <a:gd name="connsiteX115" fmla="*/ 3954 w 10000"/>
                <a:gd name="connsiteY115" fmla="*/ 8058 h 10000"/>
                <a:gd name="connsiteX116" fmla="*/ 3852 w 10000"/>
                <a:gd name="connsiteY116" fmla="*/ 8058 h 10000"/>
                <a:gd name="connsiteX117" fmla="*/ 3642 w 10000"/>
                <a:gd name="connsiteY117" fmla="*/ 7759 h 10000"/>
                <a:gd name="connsiteX118" fmla="*/ 3438 w 10000"/>
                <a:gd name="connsiteY118" fmla="*/ 7759 h 10000"/>
                <a:gd name="connsiteX119" fmla="*/ 2915 w 10000"/>
                <a:gd name="connsiteY119" fmla="*/ 8058 h 10000"/>
                <a:gd name="connsiteX120" fmla="*/ 2608 w 10000"/>
                <a:gd name="connsiteY120" fmla="*/ 8058 h 10000"/>
                <a:gd name="connsiteX121" fmla="*/ 2500 w 10000"/>
                <a:gd name="connsiteY121" fmla="*/ 8207 h 10000"/>
                <a:gd name="connsiteX122" fmla="*/ 2398 w 10000"/>
                <a:gd name="connsiteY122" fmla="*/ 8058 h 10000"/>
                <a:gd name="connsiteX123" fmla="*/ 2296 w 10000"/>
                <a:gd name="connsiteY123" fmla="*/ 8058 h 10000"/>
                <a:gd name="connsiteX124" fmla="*/ 1983 w 10000"/>
                <a:gd name="connsiteY124" fmla="*/ 8058 h 10000"/>
                <a:gd name="connsiteX125" fmla="*/ 1773 w 10000"/>
                <a:gd name="connsiteY125" fmla="*/ 7918 h 10000"/>
                <a:gd name="connsiteX126" fmla="*/ 1671 w 10000"/>
                <a:gd name="connsiteY126" fmla="*/ 7759 h 10000"/>
                <a:gd name="connsiteX127" fmla="*/ 1556 w 10000"/>
                <a:gd name="connsiteY127" fmla="*/ 7759 h 10000"/>
                <a:gd name="connsiteX128" fmla="*/ 1346 w 10000"/>
                <a:gd name="connsiteY128" fmla="*/ 7470 h 10000"/>
                <a:gd name="connsiteX129" fmla="*/ 1142 w 10000"/>
                <a:gd name="connsiteY129" fmla="*/ 7470 h 10000"/>
                <a:gd name="connsiteX130" fmla="*/ 829 w 10000"/>
                <a:gd name="connsiteY130" fmla="*/ 7311 h 10000"/>
                <a:gd name="connsiteX131" fmla="*/ 727 w 10000"/>
                <a:gd name="connsiteY131" fmla="*/ 6863 h 10000"/>
                <a:gd name="connsiteX132" fmla="*/ 931 w 10000"/>
                <a:gd name="connsiteY132" fmla="*/ 6863 h 10000"/>
                <a:gd name="connsiteX133" fmla="*/ 829 w 10000"/>
                <a:gd name="connsiteY133" fmla="*/ 6573 h 10000"/>
                <a:gd name="connsiteX134" fmla="*/ 1034 w 10000"/>
                <a:gd name="connsiteY134" fmla="*/ 6265 h 10000"/>
                <a:gd name="connsiteX135" fmla="*/ 1034 w 10000"/>
                <a:gd name="connsiteY135" fmla="*/ 5966 h 10000"/>
                <a:gd name="connsiteX136" fmla="*/ 931 w 10000"/>
                <a:gd name="connsiteY136" fmla="*/ 5817 h 10000"/>
                <a:gd name="connsiteX137" fmla="*/ 673 w 10000"/>
                <a:gd name="connsiteY137" fmla="*/ 5821 h 10000"/>
                <a:gd name="connsiteX138" fmla="*/ 444 w 10000"/>
                <a:gd name="connsiteY138" fmla="*/ 5373 h 10000"/>
                <a:gd name="connsiteX139" fmla="*/ 102 w 10000"/>
                <a:gd name="connsiteY139" fmla="*/ 5518 h 10000"/>
                <a:gd name="connsiteX140" fmla="*/ 216 w 10000"/>
                <a:gd name="connsiteY140" fmla="*/ 5243 h 10000"/>
                <a:gd name="connsiteX141" fmla="*/ 204 w 10000"/>
                <a:gd name="connsiteY141" fmla="*/ 5070 h 10000"/>
                <a:gd name="connsiteX142" fmla="*/ 0 w 10000"/>
                <a:gd name="connsiteY142" fmla="*/ 5070 h 10000"/>
                <a:gd name="connsiteX143" fmla="*/ 0 w 10000"/>
                <a:gd name="connsiteY143" fmla="*/ 4622 h 10000"/>
                <a:gd name="connsiteX144" fmla="*/ 204 w 10000"/>
                <a:gd name="connsiteY144" fmla="*/ 4482 h 10000"/>
                <a:gd name="connsiteX145" fmla="*/ 415 w 10000"/>
                <a:gd name="connsiteY145" fmla="*/ 4482 h 10000"/>
                <a:gd name="connsiteX146" fmla="*/ 517 w 10000"/>
                <a:gd name="connsiteY146" fmla="*/ 4332 h 10000"/>
                <a:gd name="connsiteX147" fmla="*/ 727 w 10000"/>
                <a:gd name="connsiteY147" fmla="*/ 4332 h 10000"/>
                <a:gd name="connsiteX148" fmla="*/ 1034 w 10000"/>
                <a:gd name="connsiteY148" fmla="*/ 4034 h 10000"/>
                <a:gd name="connsiteX149" fmla="*/ 1142 w 10000"/>
                <a:gd name="connsiteY149" fmla="*/ 3725 h 10000"/>
                <a:gd name="connsiteX150" fmla="*/ 1034 w 10000"/>
                <a:gd name="connsiteY150" fmla="*/ 3137 h 10000"/>
                <a:gd name="connsiteX151" fmla="*/ 1034 w 10000"/>
                <a:gd name="connsiteY151" fmla="*/ 2988 h 10000"/>
                <a:gd name="connsiteX152" fmla="*/ 1346 w 10000"/>
                <a:gd name="connsiteY152" fmla="*/ 2988 h 10000"/>
                <a:gd name="connsiteX153" fmla="*/ 1454 w 10000"/>
                <a:gd name="connsiteY153" fmla="*/ 2381 h 10000"/>
                <a:gd name="connsiteX154" fmla="*/ 1773 w 10000"/>
                <a:gd name="connsiteY154" fmla="*/ 2381 h 10000"/>
                <a:gd name="connsiteX155" fmla="*/ 1881 w 10000"/>
                <a:gd name="connsiteY155" fmla="*/ 2381 h 10000"/>
                <a:gd name="connsiteX156" fmla="*/ 1983 w 10000"/>
                <a:gd name="connsiteY156" fmla="*/ 1933 h 10000"/>
                <a:gd name="connsiteX157" fmla="*/ 2085 w 10000"/>
                <a:gd name="connsiteY157" fmla="*/ 1793 h 10000"/>
                <a:gd name="connsiteX0" fmla="*/ 2085 w 10000"/>
                <a:gd name="connsiteY0" fmla="*/ 1793 h 10000"/>
                <a:gd name="connsiteX1" fmla="*/ 2085 w 10000"/>
                <a:gd name="connsiteY1" fmla="*/ 1793 h 10000"/>
                <a:gd name="connsiteX2" fmla="*/ 2296 w 10000"/>
                <a:gd name="connsiteY2" fmla="*/ 1643 h 10000"/>
                <a:gd name="connsiteX3" fmla="*/ 2500 w 10000"/>
                <a:gd name="connsiteY3" fmla="*/ 2092 h 10000"/>
                <a:gd name="connsiteX4" fmla="*/ 2710 w 10000"/>
                <a:gd name="connsiteY4" fmla="*/ 2092 h 10000"/>
                <a:gd name="connsiteX5" fmla="*/ 2813 w 10000"/>
                <a:gd name="connsiteY5" fmla="*/ 2381 h 10000"/>
                <a:gd name="connsiteX6" fmla="*/ 2813 w 10000"/>
                <a:gd name="connsiteY6" fmla="*/ 2988 h 10000"/>
                <a:gd name="connsiteX7" fmla="*/ 3438 w 10000"/>
                <a:gd name="connsiteY7" fmla="*/ 3277 h 10000"/>
                <a:gd name="connsiteX8" fmla="*/ 3750 w 10000"/>
                <a:gd name="connsiteY8" fmla="*/ 3725 h 10000"/>
                <a:gd name="connsiteX9" fmla="*/ 4369 w 10000"/>
                <a:gd name="connsiteY9" fmla="*/ 3725 h 10000"/>
                <a:gd name="connsiteX10" fmla="*/ 4681 w 10000"/>
                <a:gd name="connsiteY10" fmla="*/ 4034 h 10000"/>
                <a:gd name="connsiteX11" fmla="*/ 5096 w 10000"/>
                <a:gd name="connsiteY11" fmla="*/ 4174 h 10000"/>
                <a:gd name="connsiteX12" fmla="*/ 5523 w 10000"/>
                <a:gd name="connsiteY12" fmla="*/ 3884 h 10000"/>
                <a:gd name="connsiteX13" fmla="*/ 5938 w 10000"/>
                <a:gd name="connsiteY13" fmla="*/ 3884 h 10000"/>
                <a:gd name="connsiteX14" fmla="*/ 6250 w 10000"/>
                <a:gd name="connsiteY14" fmla="*/ 3436 h 10000"/>
                <a:gd name="connsiteX15" fmla="*/ 6148 w 10000"/>
                <a:gd name="connsiteY15" fmla="*/ 3277 h 10000"/>
                <a:gd name="connsiteX16" fmla="*/ 6352 w 10000"/>
                <a:gd name="connsiteY16" fmla="*/ 2988 h 10000"/>
                <a:gd name="connsiteX17" fmla="*/ 6563 w 10000"/>
                <a:gd name="connsiteY17" fmla="*/ 3137 h 10000"/>
                <a:gd name="connsiteX18" fmla="*/ 6875 w 10000"/>
                <a:gd name="connsiteY18" fmla="*/ 2829 h 10000"/>
                <a:gd name="connsiteX19" fmla="*/ 7079 w 10000"/>
                <a:gd name="connsiteY19" fmla="*/ 2540 h 10000"/>
                <a:gd name="connsiteX20" fmla="*/ 7494 w 10000"/>
                <a:gd name="connsiteY20" fmla="*/ 2540 h 10000"/>
                <a:gd name="connsiteX21" fmla="*/ 7392 w 10000"/>
                <a:gd name="connsiteY21" fmla="*/ 2241 h 10000"/>
                <a:gd name="connsiteX22" fmla="*/ 7290 w 10000"/>
                <a:gd name="connsiteY22" fmla="*/ 2092 h 10000"/>
                <a:gd name="connsiteX23" fmla="*/ 7079 w 10000"/>
                <a:gd name="connsiteY23" fmla="*/ 2241 h 10000"/>
                <a:gd name="connsiteX24" fmla="*/ 6875 w 10000"/>
                <a:gd name="connsiteY24" fmla="*/ 2241 h 10000"/>
                <a:gd name="connsiteX25" fmla="*/ 6875 w 10000"/>
                <a:gd name="connsiteY25" fmla="*/ 1643 h 10000"/>
                <a:gd name="connsiteX26" fmla="*/ 6977 w 10000"/>
                <a:gd name="connsiteY26" fmla="*/ 1345 h 10000"/>
                <a:gd name="connsiteX27" fmla="*/ 7188 w 10000"/>
                <a:gd name="connsiteY27" fmla="*/ 1485 h 10000"/>
                <a:gd name="connsiteX28" fmla="*/ 7494 w 10000"/>
                <a:gd name="connsiteY28" fmla="*/ 1345 h 10000"/>
                <a:gd name="connsiteX29" fmla="*/ 7602 w 10000"/>
                <a:gd name="connsiteY29" fmla="*/ 747 h 10000"/>
                <a:gd name="connsiteX30" fmla="*/ 7704 w 10000"/>
                <a:gd name="connsiteY30" fmla="*/ 588 h 10000"/>
                <a:gd name="connsiteX31" fmla="*/ 7704 w 10000"/>
                <a:gd name="connsiteY31" fmla="*/ 448 h 10000"/>
                <a:gd name="connsiteX32" fmla="*/ 7602 w 10000"/>
                <a:gd name="connsiteY32" fmla="*/ 448 h 10000"/>
                <a:gd name="connsiteX33" fmla="*/ 7704 w 10000"/>
                <a:gd name="connsiteY33" fmla="*/ 140 h 10000"/>
                <a:gd name="connsiteX34" fmla="*/ 8119 w 10000"/>
                <a:gd name="connsiteY34" fmla="*/ 0 h 10000"/>
                <a:gd name="connsiteX35" fmla="*/ 8431 w 10000"/>
                <a:gd name="connsiteY35" fmla="*/ 140 h 10000"/>
                <a:gd name="connsiteX36" fmla="*/ 8642 w 10000"/>
                <a:gd name="connsiteY36" fmla="*/ 448 h 10000"/>
                <a:gd name="connsiteX37" fmla="*/ 8846 w 10000"/>
                <a:gd name="connsiteY37" fmla="*/ 1485 h 10000"/>
                <a:gd name="connsiteX38" fmla="*/ 9056 w 10000"/>
                <a:gd name="connsiteY38" fmla="*/ 1485 h 10000"/>
                <a:gd name="connsiteX39" fmla="*/ 9363 w 10000"/>
                <a:gd name="connsiteY39" fmla="*/ 1793 h 10000"/>
                <a:gd name="connsiteX40" fmla="*/ 9363 w 10000"/>
                <a:gd name="connsiteY40" fmla="*/ 2092 h 10000"/>
                <a:gd name="connsiteX41" fmla="*/ 9585 w 10000"/>
                <a:gd name="connsiteY41" fmla="*/ 2092 h 10000"/>
                <a:gd name="connsiteX42" fmla="*/ 10000 w 10000"/>
                <a:gd name="connsiteY42" fmla="*/ 1933 h 10000"/>
                <a:gd name="connsiteX43" fmla="*/ 10000 w 10000"/>
                <a:gd name="connsiteY43" fmla="*/ 2241 h 10000"/>
                <a:gd name="connsiteX44" fmla="*/ 9688 w 10000"/>
                <a:gd name="connsiteY44" fmla="*/ 3137 h 10000"/>
                <a:gd name="connsiteX45" fmla="*/ 9585 w 10000"/>
                <a:gd name="connsiteY45" fmla="*/ 2988 h 10000"/>
                <a:gd name="connsiteX46" fmla="*/ 9363 w 10000"/>
                <a:gd name="connsiteY46" fmla="*/ 3137 h 10000"/>
                <a:gd name="connsiteX47" fmla="*/ 9483 w 10000"/>
                <a:gd name="connsiteY47" fmla="*/ 3585 h 10000"/>
                <a:gd name="connsiteX48" fmla="*/ 9363 w 10000"/>
                <a:gd name="connsiteY48" fmla="*/ 3884 h 10000"/>
                <a:gd name="connsiteX49" fmla="*/ 9261 w 10000"/>
                <a:gd name="connsiteY49" fmla="*/ 3884 h 10000"/>
                <a:gd name="connsiteX50" fmla="*/ 9056 w 10000"/>
                <a:gd name="connsiteY50" fmla="*/ 4034 h 10000"/>
                <a:gd name="connsiteX51" fmla="*/ 8948 w 10000"/>
                <a:gd name="connsiteY51" fmla="*/ 4034 h 10000"/>
                <a:gd name="connsiteX52" fmla="*/ 8846 w 10000"/>
                <a:gd name="connsiteY52" fmla="*/ 4174 h 10000"/>
                <a:gd name="connsiteX53" fmla="*/ 8744 w 10000"/>
                <a:gd name="connsiteY53" fmla="*/ 4174 h 10000"/>
                <a:gd name="connsiteX54" fmla="*/ 8329 w 10000"/>
                <a:gd name="connsiteY54" fmla="*/ 4622 h 10000"/>
                <a:gd name="connsiteX55" fmla="*/ 8329 w 10000"/>
                <a:gd name="connsiteY55" fmla="*/ 4781 h 10000"/>
                <a:gd name="connsiteX56" fmla="*/ 8119 w 10000"/>
                <a:gd name="connsiteY56" fmla="*/ 4781 h 10000"/>
                <a:gd name="connsiteX57" fmla="*/ 7806 w 10000"/>
                <a:gd name="connsiteY57" fmla="*/ 5070 h 10000"/>
                <a:gd name="connsiteX58" fmla="*/ 7806 w 10000"/>
                <a:gd name="connsiteY58" fmla="*/ 4930 h 10000"/>
                <a:gd name="connsiteX59" fmla="*/ 7806 w 10000"/>
                <a:gd name="connsiteY59" fmla="*/ 4781 h 10000"/>
                <a:gd name="connsiteX60" fmla="*/ 7915 w 10000"/>
                <a:gd name="connsiteY60" fmla="*/ 4482 h 10000"/>
                <a:gd name="connsiteX61" fmla="*/ 7806 w 10000"/>
                <a:gd name="connsiteY61" fmla="*/ 4332 h 10000"/>
                <a:gd name="connsiteX62" fmla="*/ 7494 w 10000"/>
                <a:gd name="connsiteY62" fmla="*/ 4781 h 10000"/>
                <a:gd name="connsiteX63" fmla="*/ 7392 w 10000"/>
                <a:gd name="connsiteY63" fmla="*/ 4930 h 10000"/>
                <a:gd name="connsiteX64" fmla="*/ 7290 w 10000"/>
                <a:gd name="connsiteY64" fmla="*/ 4930 h 10000"/>
                <a:gd name="connsiteX65" fmla="*/ 7188 w 10000"/>
                <a:gd name="connsiteY65" fmla="*/ 5070 h 10000"/>
                <a:gd name="connsiteX66" fmla="*/ 7494 w 10000"/>
                <a:gd name="connsiteY66" fmla="*/ 5518 h 10000"/>
                <a:gd name="connsiteX67" fmla="*/ 7704 w 10000"/>
                <a:gd name="connsiteY67" fmla="*/ 5369 h 10000"/>
                <a:gd name="connsiteX68" fmla="*/ 8017 w 10000"/>
                <a:gd name="connsiteY68" fmla="*/ 5518 h 10000"/>
                <a:gd name="connsiteX69" fmla="*/ 8017 w 10000"/>
                <a:gd name="connsiteY69" fmla="*/ 5677 h 10000"/>
                <a:gd name="connsiteX70" fmla="*/ 7915 w 10000"/>
                <a:gd name="connsiteY70" fmla="*/ 5518 h 10000"/>
                <a:gd name="connsiteX71" fmla="*/ 7704 w 10000"/>
                <a:gd name="connsiteY71" fmla="*/ 5677 h 10000"/>
                <a:gd name="connsiteX72" fmla="*/ 7494 w 10000"/>
                <a:gd name="connsiteY72" fmla="*/ 6125 h 10000"/>
                <a:gd name="connsiteX73" fmla="*/ 7602 w 10000"/>
                <a:gd name="connsiteY73" fmla="*/ 6265 h 10000"/>
                <a:gd name="connsiteX74" fmla="*/ 7704 w 10000"/>
                <a:gd name="connsiteY74" fmla="*/ 6863 h 10000"/>
                <a:gd name="connsiteX75" fmla="*/ 7915 w 10000"/>
                <a:gd name="connsiteY75" fmla="*/ 7021 h 10000"/>
                <a:gd name="connsiteX76" fmla="*/ 7806 w 10000"/>
                <a:gd name="connsiteY76" fmla="*/ 7021 h 10000"/>
                <a:gd name="connsiteX77" fmla="*/ 7915 w 10000"/>
                <a:gd name="connsiteY77" fmla="*/ 7311 h 10000"/>
                <a:gd name="connsiteX78" fmla="*/ 7602 w 10000"/>
                <a:gd name="connsiteY78" fmla="*/ 7470 h 10000"/>
                <a:gd name="connsiteX79" fmla="*/ 7915 w 10000"/>
                <a:gd name="connsiteY79" fmla="*/ 7470 h 10000"/>
                <a:gd name="connsiteX80" fmla="*/ 7806 w 10000"/>
                <a:gd name="connsiteY80" fmla="*/ 8058 h 10000"/>
                <a:gd name="connsiteX81" fmla="*/ 7602 w 10000"/>
                <a:gd name="connsiteY81" fmla="*/ 8366 h 10000"/>
                <a:gd name="connsiteX82" fmla="*/ 7494 w 10000"/>
                <a:gd name="connsiteY82" fmla="*/ 8366 h 10000"/>
                <a:gd name="connsiteX83" fmla="*/ 7494 w 10000"/>
                <a:gd name="connsiteY83" fmla="*/ 8655 h 10000"/>
                <a:gd name="connsiteX84" fmla="*/ 7392 w 10000"/>
                <a:gd name="connsiteY84" fmla="*/ 8954 h 10000"/>
                <a:gd name="connsiteX85" fmla="*/ 7290 w 10000"/>
                <a:gd name="connsiteY85" fmla="*/ 8954 h 10000"/>
                <a:gd name="connsiteX86" fmla="*/ 7290 w 10000"/>
                <a:gd name="connsiteY86" fmla="*/ 9104 h 10000"/>
                <a:gd name="connsiteX87" fmla="*/ 6977 w 10000"/>
                <a:gd name="connsiteY87" fmla="*/ 9402 h 10000"/>
                <a:gd name="connsiteX88" fmla="*/ 6665 w 10000"/>
                <a:gd name="connsiteY88" fmla="*/ 9402 h 10000"/>
                <a:gd name="connsiteX89" fmla="*/ 6665 w 10000"/>
                <a:gd name="connsiteY89" fmla="*/ 9552 h 10000"/>
                <a:gd name="connsiteX90" fmla="*/ 6563 w 10000"/>
                <a:gd name="connsiteY90" fmla="*/ 9402 h 10000"/>
                <a:gd name="connsiteX91" fmla="*/ 6563 w 10000"/>
                <a:gd name="connsiteY91" fmla="*/ 9552 h 10000"/>
                <a:gd name="connsiteX92" fmla="*/ 6460 w 10000"/>
                <a:gd name="connsiteY92" fmla="*/ 9552 h 10000"/>
                <a:gd name="connsiteX93" fmla="*/ 6046 w 10000"/>
                <a:gd name="connsiteY93" fmla="*/ 9851 h 10000"/>
                <a:gd name="connsiteX94" fmla="*/ 5938 w 10000"/>
                <a:gd name="connsiteY94" fmla="*/ 10000 h 10000"/>
                <a:gd name="connsiteX95" fmla="*/ 5938 w 10000"/>
                <a:gd name="connsiteY95" fmla="*/ 9711 h 10000"/>
                <a:gd name="connsiteX96" fmla="*/ 5733 w 10000"/>
                <a:gd name="connsiteY96" fmla="*/ 9711 h 10000"/>
                <a:gd name="connsiteX97" fmla="*/ 5625 w 10000"/>
                <a:gd name="connsiteY97" fmla="*/ 9711 h 10000"/>
                <a:gd name="connsiteX98" fmla="*/ 5409 w 10000"/>
                <a:gd name="connsiteY98" fmla="*/ 9711 h 10000"/>
                <a:gd name="connsiteX99" fmla="*/ 5409 w 10000"/>
                <a:gd name="connsiteY99" fmla="*/ 9402 h 10000"/>
                <a:gd name="connsiteX100" fmla="*/ 5198 w 10000"/>
                <a:gd name="connsiteY100" fmla="*/ 9402 h 10000"/>
                <a:gd name="connsiteX101" fmla="*/ 4784 w 10000"/>
                <a:gd name="connsiteY101" fmla="*/ 9552 h 10000"/>
                <a:gd name="connsiteX102" fmla="*/ 4681 w 10000"/>
                <a:gd name="connsiteY102" fmla="*/ 9402 h 10000"/>
                <a:gd name="connsiteX103" fmla="*/ 4681 w 10000"/>
                <a:gd name="connsiteY103" fmla="*/ 9552 h 10000"/>
                <a:gd name="connsiteX104" fmla="*/ 4579 w 10000"/>
                <a:gd name="connsiteY104" fmla="*/ 9552 h 10000"/>
                <a:gd name="connsiteX105" fmla="*/ 4579 w 10000"/>
                <a:gd name="connsiteY105" fmla="*/ 9851 h 10000"/>
                <a:gd name="connsiteX106" fmla="*/ 4477 w 10000"/>
                <a:gd name="connsiteY106" fmla="*/ 9851 h 10000"/>
                <a:gd name="connsiteX107" fmla="*/ 4477 w 10000"/>
                <a:gd name="connsiteY107" fmla="*/ 9711 h 10000"/>
                <a:gd name="connsiteX108" fmla="*/ 4369 w 10000"/>
                <a:gd name="connsiteY108" fmla="*/ 9711 h 10000"/>
                <a:gd name="connsiteX109" fmla="*/ 4165 w 10000"/>
                <a:gd name="connsiteY109" fmla="*/ 9552 h 10000"/>
                <a:gd name="connsiteX110" fmla="*/ 4165 w 10000"/>
                <a:gd name="connsiteY110" fmla="*/ 9402 h 10000"/>
                <a:gd name="connsiteX111" fmla="*/ 4165 w 10000"/>
                <a:gd name="connsiteY111" fmla="*/ 9262 h 10000"/>
                <a:gd name="connsiteX112" fmla="*/ 4056 w 10000"/>
                <a:gd name="connsiteY112" fmla="*/ 9104 h 10000"/>
                <a:gd name="connsiteX113" fmla="*/ 3954 w 10000"/>
                <a:gd name="connsiteY113" fmla="*/ 9104 h 10000"/>
                <a:gd name="connsiteX114" fmla="*/ 4056 w 10000"/>
                <a:gd name="connsiteY114" fmla="*/ 8366 h 10000"/>
                <a:gd name="connsiteX115" fmla="*/ 3954 w 10000"/>
                <a:gd name="connsiteY115" fmla="*/ 8058 h 10000"/>
                <a:gd name="connsiteX116" fmla="*/ 3852 w 10000"/>
                <a:gd name="connsiteY116" fmla="*/ 8058 h 10000"/>
                <a:gd name="connsiteX117" fmla="*/ 3642 w 10000"/>
                <a:gd name="connsiteY117" fmla="*/ 7759 h 10000"/>
                <a:gd name="connsiteX118" fmla="*/ 3438 w 10000"/>
                <a:gd name="connsiteY118" fmla="*/ 7759 h 10000"/>
                <a:gd name="connsiteX119" fmla="*/ 2915 w 10000"/>
                <a:gd name="connsiteY119" fmla="*/ 8058 h 10000"/>
                <a:gd name="connsiteX120" fmla="*/ 2608 w 10000"/>
                <a:gd name="connsiteY120" fmla="*/ 8058 h 10000"/>
                <a:gd name="connsiteX121" fmla="*/ 2500 w 10000"/>
                <a:gd name="connsiteY121" fmla="*/ 8207 h 10000"/>
                <a:gd name="connsiteX122" fmla="*/ 2398 w 10000"/>
                <a:gd name="connsiteY122" fmla="*/ 8058 h 10000"/>
                <a:gd name="connsiteX123" fmla="*/ 2296 w 10000"/>
                <a:gd name="connsiteY123" fmla="*/ 8058 h 10000"/>
                <a:gd name="connsiteX124" fmla="*/ 1983 w 10000"/>
                <a:gd name="connsiteY124" fmla="*/ 8058 h 10000"/>
                <a:gd name="connsiteX125" fmla="*/ 1773 w 10000"/>
                <a:gd name="connsiteY125" fmla="*/ 7918 h 10000"/>
                <a:gd name="connsiteX126" fmla="*/ 1671 w 10000"/>
                <a:gd name="connsiteY126" fmla="*/ 7759 h 10000"/>
                <a:gd name="connsiteX127" fmla="*/ 1556 w 10000"/>
                <a:gd name="connsiteY127" fmla="*/ 7759 h 10000"/>
                <a:gd name="connsiteX128" fmla="*/ 1346 w 10000"/>
                <a:gd name="connsiteY128" fmla="*/ 7470 h 10000"/>
                <a:gd name="connsiteX129" fmla="*/ 1142 w 10000"/>
                <a:gd name="connsiteY129" fmla="*/ 7470 h 10000"/>
                <a:gd name="connsiteX130" fmla="*/ 829 w 10000"/>
                <a:gd name="connsiteY130" fmla="*/ 7311 h 10000"/>
                <a:gd name="connsiteX131" fmla="*/ 727 w 10000"/>
                <a:gd name="connsiteY131" fmla="*/ 6863 h 10000"/>
                <a:gd name="connsiteX132" fmla="*/ 931 w 10000"/>
                <a:gd name="connsiteY132" fmla="*/ 6863 h 10000"/>
                <a:gd name="connsiteX133" fmla="*/ 829 w 10000"/>
                <a:gd name="connsiteY133" fmla="*/ 6573 h 10000"/>
                <a:gd name="connsiteX134" fmla="*/ 1034 w 10000"/>
                <a:gd name="connsiteY134" fmla="*/ 6265 h 10000"/>
                <a:gd name="connsiteX135" fmla="*/ 1034 w 10000"/>
                <a:gd name="connsiteY135" fmla="*/ 5966 h 10000"/>
                <a:gd name="connsiteX136" fmla="*/ 931 w 10000"/>
                <a:gd name="connsiteY136" fmla="*/ 5817 h 10000"/>
                <a:gd name="connsiteX137" fmla="*/ 673 w 10000"/>
                <a:gd name="connsiteY137" fmla="*/ 5821 h 10000"/>
                <a:gd name="connsiteX138" fmla="*/ 302 w 10000"/>
                <a:gd name="connsiteY138" fmla="*/ 5541 h 10000"/>
                <a:gd name="connsiteX139" fmla="*/ 102 w 10000"/>
                <a:gd name="connsiteY139" fmla="*/ 5518 h 10000"/>
                <a:gd name="connsiteX140" fmla="*/ 216 w 10000"/>
                <a:gd name="connsiteY140" fmla="*/ 5243 h 10000"/>
                <a:gd name="connsiteX141" fmla="*/ 204 w 10000"/>
                <a:gd name="connsiteY141" fmla="*/ 5070 h 10000"/>
                <a:gd name="connsiteX142" fmla="*/ 0 w 10000"/>
                <a:gd name="connsiteY142" fmla="*/ 5070 h 10000"/>
                <a:gd name="connsiteX143" fmla="*/ 0 w 10000"/>
                <a:gd name="connsiteY143" fmla="*/ 4622 h 10000"/>
                <a:gd name="connsiteX144" fmla="*/ 204 w 10000"/>
                <a:gd name="connsiteY144" fmla="*/ 4482 h 10000"/>
                <a:gd name="connsiteX145" fmla="*/ 415 w 10000"/>
                <a:gd name="connsiteY145" fmla="*/ 4482 h 10000"/>
                <a:gd name="connsiteX146" fmla="*/ 517 w 10000"/>
                <a:gd name="connsiteY146" fmla="*/ 4332 h 10000"/>
                <a:gd name="connsiteX147" fmla="*/ 727 w 10000"/>
                <a:gd name="connsiteY147" fmla="*/ 4332 h 10000"/>
                <a:gd name="connsiteX148" fmla="*/ 1034 w 10000"/>
                <a:gd name="connsiteY148" fmla="*/ 4034 h 10000"/>
                <a:gd name="connsiteX149" fmla="*/ 1142 w 10000"/>
                <a:gd name="connsiteY149" fmla="*/ 3725 h 10000"/>
                <a:gd name="connsiteX150" fmla="*/ 1034 w 10000"/>
                <a:gd name="connsiteY150" fmla="*/ 3137 h 10000"/>
                <a:gd name="connsiteX151" fmla="*/ 1034 w 10000"/>
                <a:gd name="connsiteY151" fmla="*/ 2988 h 10000"/>
                <a:gd name="connsiteX152" fmla="*/ 1346 w 10000"/>
                <a:gd name="connsiteY152" fmla="*/ 2988 h 10000"/>
                <a:gd name="connsiteX153" fmla="*/ 1454 w 10000"/>
                <a:gd name="connsiteY153" fmla="*/ 2381 h 10000"/>
                <a:gd name="connsiteX154" fmla="*/ 1773 w 10000"/>
                <a:gd name="connsiteY154" fmla="*/ 2381 h 10000"/>
                <a:gd name="connsiteX155" fmla="*/ 1881 w 10000"/>
                <a:gd name="connsiteY155" fmla="*/ 2381 h 10000"/>
                <a:gd name="connsiteX156" fmla="*/ 1983 w 10000"/>
                <a:gd name="connsiteY156" fmla="*/ 1933 h 10000"/>
                <a:gd name="connsiteX157" fmla="*/ 2085 w 10000"/>
                <a:gd name="connsiteY157" fmla="*/ 1793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10000" h="10000">
                  <a:moveTo>
                    <a:pt x="2085" y="1793"/>
                  </a:moveTo>
                  <a:lnTo>
                    <a:pt x="2085" y="1793"/>
                  </a:lnTo>
                  <a:lnTo>
                    <a:pt x="2296" y="1643"/>
                  </a:lnTo>
                  <a:lnTo>
                    <a:pt x="2500" y="2092"/>
                  </a:lnTo>
                  <a:lnTo>
                    <a:pt x="2710" y="2092"/>
                  </a:lnTo>
                  <a:cubicBezTo>
                    <a:pt x="2744" y="2188"/>
                    <a:pt x="2779" y="2285"/>
                    <a:pt x="2813" y="2381"/>
                  </a:cubicBezTo>
                  <a:lnTo>
                    <a:pt x="2813" y="2988"/>
                  </a:lnTo>
                  <a:lnTo>
                    <a:pt x="3438" y="3277"/>
                  </a:lnTo>
                  <a:lnTo>
                    <a:pt x="3750" y="3725"/>
                  </a:lnTo>
                  <a:lnTo>
                    <a:pt x="4369" y="3725"/>
                  </a:lnTo>
                  <a:lnTo>
                    <a:pt x="4681" y="4034"/>
                  </a:lnTo>
                  <a:lnTo>
                    <a:pt x="5096" y="4174"/>
                  </a:lnTo>
                  <a:lnTo>
                    <a:pt x="5523" y="3884"/>
                  </a:lnTo>
                  <a:lnTo>
                    <a:pt x="5938" y="3884"/>
                  </a:lnTo>
                  <a:lnTo>
                    <a:pt x="6250" y="3436"/>
                  </a:lnTo>
                  <a:lnTo>
                    <a:pt x="6148" y="3277"/>
                  </a:lnTo>
                  <a:lnTo>
                    <a:pt x="6352" y="2988"/>
                  </a:lnTo>
                  <a:lnTo>
                    <a:pt x="6563" y="3137"/>
                  </a:lnTo>
                  <a:lnTo>
                    <a:pt x="6875" y="2829"/>
                  </a:lnTo>
                  <a:lnTo>
                    <a:pt x="7079" y="2540"/>
                  </a:lnTo>
                  <a:lnTo>
                    <a:pt x="7494" y="2540"/>
                  </a:lnTo>
                  <a:lnTo>
                    <a:pt x="7392" y="2241"/>
                  </a:lnTo>
                  <a:lnTo>
                    <a:pt x="7290" y="2092"/>
                  </a:lnTo>
                  <a:lnTo>
                    <a:pt x="7079" y="2241"/>
                  </a:lnTo>
                  <a:lnTo>
                    <a:pt x="6875" y="2241"/>
                  </a:lnTo>
                  <a:lnTo>
                    <a:pt x="6875" y="1643"/>
                  </a:lnTo>
                  <a:lnTo>
                    <a:pt x="6977" y="1345"/>
                  </a:lnTo>
                  <a:lnTo>
                    <a:pt x="7188" y="1485"/>
                  </a:lnTo>
                  <a:lnTo>
                    <a:pt x="7494" y="1345"/>
                  </a:lnTo>
                  <a:lnTo>
                    <a:pt x="7602" y="747"/>
                  </a:lnTo>
                  <a:lnTo>
                    <a:pt x="7704" y="588"/>
                  </a:lnTo>
                  <a:lnTo>
                    <a:pt x="7704" y="448"/>
                  </a:lnTo>
                  <a:lnTo>
                    <a:pt x="7602" y="448"/>
                  </a:lnTo>
                  <a:lnTo>
                    <a:pt x="7704" y="140"/>
                  </a:lnTo>
                  <a:lnTo>
                    <a:pt x="8119" y="0"/>
                  </a:lnTo>
                  <a:lnTo>
                    <a:pt x="8431" y="140"/>
                  </a:lnTo>
                  <a:cubicBezTo>
                    <a:pt x="8501" y="243"/>
                    <a:pt x="8572" y="345"/>
                    <a:pt x="8642" y="448"/>
                  </a:cubicBezTo>
                  <a:lnTo>
                    <a:pt x="8846" y="1485"/>
                  </a:lnTo>
                  <a:lnTo>
                    <a:pt x="9056" y="1485"/>
                  </a:lnTo>
                  <a:lnTo>
                    <a:pt x="9363" y="1793"/>
                  </a:lnTo>
                  <a:lnTo>
                    <a:pt x="9363" y="2092"/>
                  </a:lnTo>
                  <a:lnTo>
                    <a:pt x="9585" y="2092"/>
                  </a:lnTo>
                  <a:lnTo>
                    <a:pt x="10000" y="1933"/>
                  </a:lnTo>
                  <a:lnTo>
                    <a:pt x="10000" y="2241"/>
                  </a:lnTo>
                  <a:lnTo>
                    <a:pt x="9688" y="3137"/>
                  </a:lnTo>
                  <a:cubicBezTo>
                    <a:pt x="9654" y="3087"/>
                    <a:pt x="9619" y="3038"/>
                    <a:pt x="9585" y="2988"/>
                  </a:cubicBezTo>
                  <a:lnTo>
                    <a:pt x="9363" y="3137"/>
                  </a:lnTo>
                  <a:lnTo>
                    <a:pt x="9483" y="3585"/>
                  </a:lnTo>
                  <a:lnTo>
                    <a:pt x="9363" y="3884"/>
                  </a:lnTo>
                  <a:lnTo>
                    <a:pt x="9261" y="3884"/>
                  </a:lnTo>
                  <a:lnTo>
                    <a:pt x="9056" y="4034"/>
                  </a:lnTo>
                  <a:lnTo>
                    <a:pt x="8948" y="4034"/>
                  </a:lnTo>
                  <a:lnTo>
                    <a:pt x="8846" y="4174"/>
                  </a:lnTo>
                  <a:lnTo>
                    <a:pt x="8744" y="4174"/>
                  </a:lnTo>
                  <a:lnTo>
                    <a:pt x="8329" y="4622"/>
                  </a:lnTo>
                  <a:lnTo>
                    <a:pt x="8329" y="4781"/>
                  </a:lnTo>
                  <a:lnTo>
                    <a:pt x="8119" y="4781"/>
                  </a:lnTo>
                  <a:lnTo>
                    <a:pt x="7806" y="5070"/>
                  </a:lnTo>
                  <a:lnTo>
                    <a:pt x="7806" y="4930"/>
                  </a:lnTo>
                  <a:lnTo>
                    <a:pt x="7806" y="4781"/>
                  </a:lnTo>
                  <a:cubicBezTo>
                    <a:pt x="7842" y="4681"/>
                    <a:pt x="7879" y="4582"/>
                    <a:pt x="7915" y="4482"/>
                  </a:cubicBezTo>
                  <a:cubicBezTo>
                    <a:pt x="7879" y="4432"/>
                    <a:pt x="7842" y="4382"/>
                    <a:pt x="7806" y="4332"/>
                  </a:cubicBezTo>
                  <a:lnTo>
                    <a:pt x="7494" y="4781"/>
                  </a:lnTo>
                  <a:lnTo>
                    <a:pt x="7392" y="4930"/>
                  </a:lnTo>
                  <a:lnTo>
                    <a:pt x="7290" y="4930"/>
                  </a:lnTo>
                  <a:lnTo>
                    <a:pt x="7188" y="5070"/>
                  </a:lnTo>
                  <a:lnTo>
                    <a:pt x="7494" y="5518"/>
                  </a:lnTo>
                  <a:lnTo>
                    <a:pt x="7704" y="5369"/>
                  </a:lnTo>
                  <a:lnTo>
                    <a:pt x="8017" y="5518"/>
                  </a:lnTo>
                  <a:lnTo>
                    <a:pt x="8017" y="5677"/>
                  </a:lnTo>
                  <a:lnTo>
                    <a:pt x="7915" y="5518"/>
                  </a:lnTo>
                  <a:lnTo>
                    <a:pt x="7704" y="5677"/>
                  </a:lnTo>
                  <a:lnTo>
                    <a:pt x="7494" y="6125"/>
                  </a:lnTo>
                  <a:lnTo>
                    <a:pt x="7602" y="6265"/>
                  </a:lnTo>
                  <a:lnTo>
                    <a:pt x="7704" y="6863"/>
                  </a:lnTo>
                  <a:lnTo>
                    <a:pt x="7915" y="7021"/>
                  </a:lnTo>
                  <a:lnTo>
                    <a:pt x="7806" y="7021"/>
                  </a:lnTo>
                  <a:cubicBezTo>
                    <a:pt x="7842" y="7118"/>
                    <a:pt x="7879" y="7214"/>
                    <a:pt x="7915" y="7311"/>
                  </a:cubicBezTo>
                  <a:lnTo>
                    <a:pt x="7602" y="7470"/>
                  </a:lnTo>
                  <a:lnTo>
                    <a:pt x="7915" y="7470"/>
                  </a:lnTo>
                  <a:cubicBezTo>
                    <a:pt x="7879" y="7666"/>
                    <a:pt x="7842" y="7862"/>
                    <a:pt x="7806" y="8058"/>
                  </a:cubicBezTo>
                  <a:lnTo>
                    <a:pt x="7602" y="8366"/>
                  </a:lnTo>
                  <a:lnTo>
                    <a:pt x="7494" y="8366"/>
                  </a:lnTo>
                  <a:lnTo>
                    <a:pt x="7494" y="8655"/>
                  </a:lnTo>
                  <a:lnTo>
                    <a:pt x="7392" y="8954"/>
                  </a:lnTo>
                  <a:lnTo>
                    <a:pt x="7290" y="8954"/>
                  </a:lnTo>
                  <a:lnTo>
                    <a:pt x="7290" y="9104"/>
                  </a:lnTo>
                  <a:lnTo>
                    <a:pt x="6977" y="9402"/>
                  </a:lnTo>
                  <a:lnTo>
                    <a:pt x="6665" y="9402"/>
                  </a:lnTo>
                  <a:lnTo>
                    <a:pt x="6665" y="9552"/>
                  </a:lnTo>
                  <a:lnTo>
                    <a:pt x="6563" y="9402"/>
                  </a:lnTo>
                  <a:lnTo>
                    <a:pt x="6563" y="9552"/>
                  </a:lnTo>
                  <a:lnTo>
                    <a:pt x="6460" y="9552"/>
                  </a:lnTo>
                  <a:lnTo>
                    <a:pt x="6046" y="9851"/>
                  </a:lnTo>
                  <a:lnTo>
                    <a:pt x="5938" y="10000"/>
                  </a:lnTo>
                  <a:lnTo>
                    <a:pt x="5938" y="9711"/>
                  </a:lnTo>
                  <a:lnTo>
                    <a:pt x="5733" y="9711"/>
                  </a:lnTo>
                  <a:lnTo>
                    <a:pt x="5625" y="9711"/>
                  </a:lnTo>
                  <a:lnTo>
                    <a:pt x="5409" y="9711"/>
                  </a:lnTo>
                  <a:lnTo>
                    <a:pt x="5409" y="9402"/>
                  </a:lnTo>
                  <a:lnTo>
                    <a:pt x="5198" y="9402"/>
                  </a:lnTo>
                  <a:lnTo>
                    <a:pt x="4784" y="9552"/>
                  </a:lnTo>
                  <a:cubicBezTo>
                    <a:pt x="4750" y="9502"/>
                    <a:pt x="4715" y="9452"/>
                    <a:pt x="4681" y="9402"/>
                  </a:cubicBezTo>
                  <a:lnTo>
                    <a:pt x="4681" y="9552"/>
                  </a:lnTo>
                  <a:lnTo>
                    <a:pt x="4579" y="9552"/>
                  </a:lnTo>
                  <a:lnTo>
                    <a:pt x="4579" y="9851"/>
                  </a:lnTo>
                  <a:lnTo>
                    <a:pt x="4477" y="9851"/>
                  </a:lnTo>
                  <a:lnTo>
                    <a:pt x="4477" y="9711"/>
                  </a:lnTo>
                  <a:lnTo>
                    <a:pt x="4369" y="9711"/>
                  </a:lnTo>
                  <a:lnTo>
                    <a:pt x="4165" y="9552"/>
                  </a:lnTo>
                  <a:lnTo>
                    <a:pt x="4165" y="9402"/>
                  </a:lnTo>
                  <a:lnTo>
                    <a:pt x="4165" y="9262"/>
                  </a:lnTo>
                  <a:cubicBezTo>
                    <a:pt x="4129" y="9209"/>
                    <a:pt x="4092" y="9157"/>
                    <a:pt x="4056" y="9104"/>
                  </a:cubicBezTo>
                  <a:lnTo>
                    <a:pt x="3954" y="9104"/>
                  </a:lnTo>
                  <a:lnTo>
                    <a:pt x="4056" y="8366"/>
                  </a:lnTo>
                  <a:lnTo>
                    <a:pt x="3954" y="8058"/>
                  </a:lnTo>
                  <a:lnTo>
                    <a:pt x="3852" y="8058"/>
                  </a:lnTo>
                  <a:lnTo>
                    <a:pt x="3642" y="7759"/>
                  </a:lnTo>
                  <a:lnTo>
                    <a:pt x="3438" y="7759"/>
                  </a:lnTo>
                  <a:lnTo>
                    <a:pt x="2915" y="8058"/>
                  </a:lnTo>
                  <a:lnTo>
                    <a:pt x="2608" y="8058"/>
                  </a:lnTo>
                  <a:lnTo>
                    <a:pt x="2500" y="8207"/>
                  </a:lnTo>
                  <a:lnTo>
                    <a:pt x="2398" y="8058"/>
                  </a:lnTo>
                  <a:lnTo>
                    <a:pt x="2296" y="8058"/>
                  </a:lnTo>
                  <a:lnTo>
                    <a:pt x="1983" y="8058"/>
                  </a:lnTo>
                  <a:lnTo>
                    <a:pt x="1773" y="7918"/>
                  </a:lnTo>
                  <a:lnTo>
                    <a:pt x="1671" y="7759"/>
                  </a:lnTo>
                  <a:lnTo>
                    <a:pt x="1556" y="7759"/>
                  </a:lnTo>
                  <a:lnTo>
                    <a:pt x="1346" y="7470"/>
                  </a:lnTo>
                  <a:lnTo>
                    <a:pt x="1142" y="7470"/>
                  </a:lnTo>
                  <a:lnTo>
                    <a:pt x="829" y="7311"/>
                  </a:lnTo>
                  <a:lnTo>
                    <a:pt x="727" y="6863"/>
                  </a:lnTo>
                  <a:lnTo>
                    <a:pt x="931" y="6863"/>
                  </a:lnTo>
                  <a:lnTo>
                    <a:pt x="829" y="6573"/>
                  </a:lnTo>
                  <a:cubicBezTo>
                    <a:pt x="897" y="6470"/>
                    <a:pt x="966" y="6368"/>
                    <a:pt x="1034" y="6265"/>
                  </a:cubicBezTo>
                  <a:lnTo>
                    <a:pt x="1034" y="5966"/>
                  </a:lnTo>
                  <a:cubicBezTo>
                    <a:pt x="1000" y="5916"/>
                    <a:pt x="965" y="5867"/>
                    <a:pt x="931" y="5817"/>
                  </a:cubicBezTo>
                  <a:lnTo>
                    <a:pt x="673" y="5821"/>
                  </a:lnTo>
                  <a:cubicBezTo>
                    <a:pt x="615" y="5623"/>
                    <a:pt x="360" y="5739"/>
                    <a:pt x="302" y="5541"/>
                  </a:cubicBezTo>
                  <a:lnTo>
                    <a:pt x="102" y="5518"/>
                  </a:lnTo>
                  <a:lnTo>
                    <a:pt x="216" y="5243"/>
                  </a:lnTo>
                  <a:cubicBezTo>
                    <a:pt x="212" y="5185"/>
                    <a:pt x="208" y="5128"/>
                    <a:pt x="204" y="5070"/>
                  </a:cubicBezTo>
                  <a:lnTo>
                    <a:pt x="0" y="5070"/>
                  </a:lnTo>
                  <a:lnTo>
                    <a:pt x="0" y="4622"/>
                  </a:lnTo>
                  <a:lnTo>
                    <a:pt x="204" y="4482"/>
                  </a:lnTo>
                  <a:lnTo>
                    <a:pt x="415" y="4482"/>
                  </a:lnTo>
                  <a:lnTo>
                    <a:pt x="517" y="4332"/>
                  </a:lnTo>
                  <a:lnTo>
                    <a:pt x="727" y="4332"/>
                  </a:lnTo>
                  <a:lnTo>
                    <a:pt x="1034" y="4034"/>
                  </a:lnTo>
                  <a:lnTo>
                    <a:pt x="1142" y="3725"/>
                  </a:lnTo>
                  <a:lnTo>
                    <a:pt x="1034" y="3137"/>
                  </a:lnTo>
                  <a:lnTo>
                    <a:pt x="1034" y="2988"/>
                  </a:lnTo>
                  <a:lnTo>
                    <a:pt x="1346" y="2988"/>
                  </a:lnTo>
                  <a:lnTo>
                    <a:pt x="1454" y="2381"/>
                  </a:lnTo>
                  <a:lnTo>
                    <a:pt x="1773" y="2381"/>
                  </a:lnTo>
                  <a:lnTo>
                    <a:pt x="1881" y="2381"/>
                  </a:lnTo>
                  <a:lnTo>
                    <a:pt x="1983" y="1933"/>
                  </a:lnTo>
                  <a:lnTo>
                    <a:pt x="2085" y="179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38" name="Freeform 166">
              <a:extLst>
                <a:ext uri="{FF2B5EF4-FFF2-40B4-BE49-F238E27FC236}">
                  <a16:creationId xmlns:a16="http://schemas.microsoft.com/office/drawing/2014/main" id="{8C9E98F7-BD86-48EF-852B-04598812B3DB}"/>
                </a:ext>
              </a:extLst>
            </p:cNvPr>
            <p:cNvSpPr>
              <a:spLocks/>
            </p:cNvSpPr>
            <p:nvPr>
              <p:custDataLst>
                <p:tags r:id="rId167"/>
              </p:custDataLst>
            </p:nvPr>
          </p:nvSpPr>
          <p:spPr bwMode="auto">
            <a:xfrm>
              <a:off x="10827401" y="3400751"/>
              <a:ext cx="45741" cy="42222"/>
            </a:xfrm>
            <a:custGeom>
              <a:avLst/>
              <a:gdLst>
                <a:gd name="T0" fmla="*/ 0 w 52"/>
                <a:gd name="T1" fmla="*/ 9525 h 48"/>
                <a:gd name="T2" fmla="*/ 0 w 52"/>
                <a:gd name="T3" fmla="*/ 9525 h 48"/>
                <a:gd name="T4" fmla="*/ 10319 w 52"/>
                <a:gd name="T5" fmla="*/ 0 h 48"/>
                <a:gd name="T6" fmla="*/ 7144 w 52"/>
                <a:gd name="T7" fmla="*/ 3969 h 48"/>
                <a:gd name="T8" fmla="*/ 0 w 52"/>
                <a:gd name="T9" fmla="*/ 9525 h 48"/>
                <a:gd name="T10" fmla="*/ 0 60000 65536"/>
                <a:gd name="T11" fmla="*/ 0 60000 65536"/>
                <a:gd name="T12" fmla="*/ 0 60000 65536"/>
                <a:gd name="T13" fmla="*/ 0 60000 65536"/>
                <a:gd name="T14" fmla="*/ 0 60000 65536"/>
                <a:gd name="T15" fmla="*/ 0 w 52"/>
                <a:gd name="T16" fmla="*/ 0 h 48"/>
                <a:gd name="T17" fmla="*/ 52 w 52"/>
                <a:gd name="T18" fmla="*/ 48 h 48"/>
              </a:gdLst>
              <a:ahLst/>
              <a:cxnLst>
                <a:cxn ang="T10">
                  <a:pos x="T0" y="T1"/>
                </a:cxn>
                <a:cxn ang="T11">
                  <a:pos x="T2" y="T3"/>
                </a:cxn>
                <a:cxn ang="T12">
                  <a:pos x="T4" y="T5"/>
                </a:cxn>
                <a:cxn ang="T13">
                  <a:pos x="T6" y="T7"/>
                </a:cxn>
                <a:cxn ang="T14">
                  <a:pos x="T8" y="T9"/>
                </a:cxn>
              </a:cxnLst>
              <a:rect l="T15" t="T16" r="T17" b="T18"/>
              <a:pathLst>
                <a:path w="52" h="48">
                  <a:moveTo>
                    <a:pt x="0" y="48"/>
                  </a:moveTo>
                  <a:lnTo>
                    <a:pt x="0" y="48"/>
                  </a:lnTo>
                  <a:lnTo>
                    <a:pt x="52" y="0"/>
                  </a:lnTo>
                  <a:lnTo>
                    <a:pt x="35" y="17"/>
                  </a:lnTo>
                  <a:lnTo>
                    <a:pt x="0"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39" name="Line 167">
              <a:extLst>
                <a:ext uri="{FF2B5EF4-FFF2-40B4-BE49-F238E27FC236}">
                  <a16:creationId xmlns:a16="http://schemas.microsoft.com/office/drawing/2014/main" id="{84D61632-240D-48B0-B3B0-1783A1C20BDC}"/>
                </a:ext>
              </a:extLst>
            </p:cNvPr>
            <p:cNvSpPr>
              <a:spLocks noChangeShapeType="1"/>
            </p:cNvSpPr>
            <p:nvPr>
              <p:custDataLst>
                <p:tags r:id="rId168"/>
              </p:custDataLst>
            </p:nvPr>
          </p:nvSpPr>
          <p:spPr bwMode="auto">
            <a:xfrm flipV="1">
              <a:off x="10802771" y="3451770"/>
              <a:ext cx="15834" cy="42222"/>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240" name="Freeform 168">
              <a:extLst>
                <a:ext uri="{FF2B5EF4-FFF2-40B4-BE49-F238E27FC236}">
                  <a16:creationId xmlns:a16="http://schemas.microsoft.com/office/drawing/2014/main" id="{22139A5D-E204-4687-AC1A-23420C6731F6}"/>
                </a:ext>
              </a:extLst>
            </p:cNvPr>
            <p:cNvSpPr>
              <a:spLocks/>
            </p:cNvSpPr>
            <p:nvPr>
              <p:custDataLst>
                <p:tags r:id="rId169"/>
              </p:custDataLst>
            </p:nvPr>
          </p:nvSpPr>
          <p:spPr bwMode="auto">
            <a:xfrm>
              <a:off x="10596938" y="3078808"/>
              <a:ext cx="15834" cy="12315"/>
            </a:xfrm>
            <a:custGeom>
              <a:avLst/>
              <a:gdLst>
                <a:gd name="T0" fmla="*/ 0 w 18"/>
                <a:gd name="T1" fmla="*/ 0 h 15"/>
                <a:gd name="T2" fmla="*/ 0 w 18"/>
                <a:gd name="T3" fmla="*/ 0 h 15"/>
                <a:gd name="T4" fmla="*/ 3969 w 18"/>
                <a:gd name="T5" fmla="*/ 2223 h 15"/>
                <a:gd name="T6" fmla="*/ 3969 w 18"/>
                <a:gd name="T7" fmla="*/ 0 h 15"/>
                <a:gd name="T8" fmla="*/ 0 w 18"/>
                <a:gd name="T9" fmla="*/ 0 h 15"/>
                <a:gd name="T10" fmla="*/ 0 60000 65536"/>
                <a:gd name="T11" fmla="*/ 0 60000 65536"/>
                <a:gd name="T12" fmla="*/ 0 60000 65536"/>
                <a:gd name="T13" fmla="*/ 0 60000 65536"/>
                <a:gd name="T14" fmla="*/ 0 60000 65536"/>
                <a:gd name="T15" fmla="*/ 0 w 18"/>
                <a:gd name="T16" fmla="*/ 0 h 15"/>
                <a:gd name="T17" fmla="*/ 18 w 18"/>
                <a:gd name="T18" fmla="*/ 15 h 15"/>
              </a:gdLst>
              <a:ahLst/>
              <a:cxnLst>
                <a:cxn ang="T10">
                  <a:pos x="T0" y="T1"/>
                </a:cxn>
                <a:cxn ang="T11">
                  <a:pos x="T2" y="T3"/>
                </a:cxn>
                <a:cxn ang="T12">
                  <a:pos x="T4" y="T5"/>
                </a:cxn>
                <a:cxn ang="T13">
                  <a:pos x="T6" y="T7"/>
                </a:cxn>
                <a:cxn ang="T14">
                  <a:pos x="T8" y="T9"/>
                </a:cxn>
              </a:cxnLst>
              <a:rect l="T15" t="T16" r="T17" b="T18"/>
              <a:pathLst>
                <a:path w="18" h="15">
                  <a:moveTo>
                    <a:pt x="0" y="0"/>
                  </a:moveTo>
                  <a:lnTo>
                    <a:pt x="0" y="0"/>
                  </a:lnTo>
                  <a:lnTo>
                    <a:pt x="18" y="15"/>
                  </a:lnTo>
                  <a:lnTo>
                    <a:pt x="18"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41" name="Freeform 169">
              <a:extLst>
                <a:ext uri="{FF2B5EF4-FFF2-40B4-BE49-F238E27FC236}">
                  <a16:creationId xmlns:a16="http://schemas.microsoft.com/office/drawing/2014/main" id="{209C710B-2D3E-434B-9C04-64A54E5EAF5D}"/>
                </a:ext>
              </a:extLst>
            </p:cNvPr>
            <p:cNvSpPr>
              <a:spLocks/>
            </p:cNvSpPr>
            <p:nvPr>
              <p:custDataLst>
                <p:tags r:id="rId170"/>
              </p:custDataLst>
            </p:nvPr>
          </p:nvSpPr>
          <p:spPr bwMode="auto">
            <a:xfrm>
              <a:off x="9407683" y="3189640"/>
              <a:ext cx="763516" cy="337776"/>
            </a:xfrm>
            <a:custGeom>
              <a:avLst/>
              <a:gdLst>
                <a:gd name="T0" fmla="*/ 113637 w 867"/>
                <a:gd name="T1" fmla="*/ 19050 h 384"/>
                <a:gd name="T2" fmla="*/ 113637 w 867"/>
                <a:gd name="T3" fmla="*/ 19050 h 384"/>
                <a:gd name="T4" fmla="*/ 92976 w 867"/>
                <a:gd name="T5" fmla="*/ 9525 h 384"/>
                <a:gd name="T6" fmla="*/ 86619 w 867"/>
                <a:gd name="T7" fmla="*/ 13494 h 384"/>
                <a:gd name="T8" fmla="*/ 82645 w 867"/>
                <a:gd name="T9" fmla="*/ 13494 h 384"/>
                <a:gd name="T10" fmla="*/ 76288 w 867"/>
                <a:gd name="T11" fmla="*/ 3969 h 384"/>
                <a:gd name="T12" fmla="*/ 62779 w 867"/>
                <a:gd name="T13" fmla="*/ 0 h 384"/>
                <a:gd name="T14" fmla="*/ 55627 w 867"/>
                <a:gd name="T15" fmla="*/ 3969 h 384"/>
                <a:gd name="T16" fmla="*/ 55627 w 867"/>
                <a:gd name="T17" fmla="*/ 9525 h 384"/>
                <a:gd name="T18" fmla="*/ 55627 w 867"/>
                <a:gd name="T19" fmla="*/ 16669 h 384"/>
                <a:gd name="T20" fmla="*/ 41323 w 867"/>
                <a:gd name="T21" fmla="*/ 16669 h 384"/>
                <a:gd name="T22" fmla="*/ 34965 w 867"/>
                <a:gd name="T23" fmla="*/ 13494 h 384"/>
                <a:gd name="T24" fmla="*/ 20661 w 867"/>
                <a:gd name="T25" fmla="*/ 9525 h 384"/>
                <a:gd name="T26" fmla="*/ 3973 w 867"/>
                <a:gd name="T27" fmla="*/ 19050 h 384"/>
                <a:gd name="T28" fmla="*/ 0 w 867"/>
                <a:gd name="T29" fmla="*/ 22225 h 384"/>
                <a:gd name="T30" fmla="*/ 7152 w 867"/>
                <a:gd name="T31" fmla="*/ 32544 h 384"/>
                <a:gd name="T32" fmla="*/ 14304 w 867"/>
                <a:gd name="T33" fmla="*/ 32544 h 384"/>
                <a:gd name="T34" fmla="*/ 17483 w 867"/>
                <a:gd name="T35" fmla="*/ 38100 h 384"/>
                <a:gd name="T36" fmla="*/ 17483 w 867"/>
                <a:gd name="T37" fmla="*/ 51594 h 384"/>
                <a:gd name="T38" fmla="*/ 38144 w 867"/>
                <a:gd name="T39" fmla="*/ 57150 h 384"/>
                <a:gd name="T40" fmla="*/ 48475 w 867"/>
                <a:gd name="T41" fmla="*/ 66675 h 384"/>
                <a:gd name="T42" fmla="*/ 69136 w 867"/>
                <a:gd name="T43" fmla="*/ 66675 h 384"/>
                <a:gd name="T44" fmla="*/ 79467 w 867"/>
                <a:gd name="T45" fmla="*/ 73819 h 384"/>
                <a:gd name="T46" fmla="*/ 92976 w 867"/>
                <a:gd name="T47" fmla="*/ 76200 h 384"/>
                <a:gd name="T48" fmla="*/ 107280 w 867"/>
                <a:gd name="T49" fmla="*/ 70644 h 384"/>
                <a:gd name="T50" fmla="*/ 120789 w 867"/>
                <a:gd name="T51" fmla="*/ 70644 h 384"/>
                <a:gd name="T52" fmla="*/ 131120 w 867"/>
                <a:gd name="T53" fmla="*/ 61119 h 384"/>
                <a:gd name="T54" fmla="*/ 127941 w 867"/>
                <a:gd name="T55" fmla="*/ 57150 h 384"/>
                <a:gd name="T56" fmla="*/ 135093 w 867"/>
                <a:gd name="T57" fmla="*/ 51594 h 384"/>
                <a:gd name="T58" fmla="*/ 141450 w 867"/>
                <a:gd name="T59" fmla="*/ 54769 h 384"/>
                <a:gd name="T60" fmla="*/ 151781 w 867"/>
                <a:gd name="T61" fmla="*/ 47625 h 384"/>
                <a:gd name="T62" fmla="*/ 158933 w 867"/>
                <a:gd name="T63" fmla="*/ 41275 h 384"/>
                <a:gd name="T64" fmla="*/ 172442 w 867"/>
                <a:gd name="T65" fmla="*/ 41275 h 384"/>
                <a:gd name="T66" fmla="*/ 169264 w 867"/>
                <a:gd name="T67" fmla="*/ 35719 h 384"/>
                <a:gd name="T68" fmla="*/ 166085 w 867"/>
                <a:gd name="T69" fmla="*/ 32544 h 384"/>
                <a:gd name="T70" fmla="*/ 158933 w 867"/>
                <a:gd name="T71" fmla="*/ 35719 h 384"/>
                <a:gd name="T72" fmla="*/ 151781 w 867"/>
                <a:gd name="T73" fmla="*/ 35719 h 384"/>
                <a:gd name="T74" fmla="*/ 151781 w 867"/>
                <a:gd name="T75" fmla="*/ 22225 h 384"/>
                <a:gd name="T76" fmla="*/ 155754 w 867"/>
                <a:gd name="T77" fmla="*/ 16669 h 384"/>
                <a:gd name="T78" fmla="*/ 145424 w 867"/>
                <a:gd name="T79" fmla="*/ 13494 h 384"/>
                <a:gd name="T80" fmla="*/ 138272 w 867"/>
                <a:gd name="T81" fmla="*/ 19050 h 384"/>
                <a:gd name="T82" fmla="*/ 123968 w 867"/>
                <a:gd name="T83" fmla="*/ 22225 h 384"/>
                <a:gd name="T84" fmla="*/ 113637 w 867"/>
                <a:gd name="T85" fmla="*/ 19050 h 38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67"/>
                <a:gd name="T130" fmla="*/ 0 h 384"/>
                <a:gd name="T131" fmla="*/ 867 w 867"/>
                <a:gd name="T132" fmla="*/ 384 h 38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67" h="384">
                  <a:moveTo>
                    <a:pt x="572" y="96"/>
                  </a:moveTo>
                  <a:lnTo>
                    <a:pt x="572" y="96"/>
                  </a:lnTo>
                  <a:lnTo>
                    <a:pt x="468" y="48"/>
                  </a:lnTo>
                  <a:lnTo>
                    <a:pt x="434" y="65"/>
                  </a:lnTo>
                  <a:lnTo>
                    <a:pt x="416" y="65"/>
                  </a:lnTo>
                  <a:lnTo>
                    <a:pt x="382" y="17"/>
                  </a:lnTo>
                  <a:lnTo>
                    <a:pt x="313" y="0"/>
                  </a:lnTo>
                  <a:lnTo>
                    <a:pt x="278" y="17"/>
                  </a:lnTo>
                  <a:lnTo>
                    <a:pt x="278" y="48"/>
                  </a:lnTo>
                  <a:lnTo>
                    <a:pt x="278" y="81"/>
                  </a:lnTo>
                  <a:lnTo>
                    <a:pt x="207" y="81"/>
                  </a:lnTo>
                  <a:lnTo>
                    <a:pt x="173" y="65"/>
                  </a:lnTo>
                  <a:lnTo>
                    <a:pt x="103" y="48"/>
                  </a:lnTo>
                  <a:lnTo>
                    <a:pt x="17" y="96"/>
                  </a:lnTo>
                  <a:lnTo>
                    <a:pt x="0" y="113"/>
                  </a:lnTo>
                  <a:lnTo>
                    <a:pt x="34" y="161"/>
                  </a:lnTo>
                  <a:lnTo>
                    <a:pt x="69" y="161"/>
                  </a:lnTo>
                  <a:lnTo>
                    <a:pt x="86" y="192"/>
                  </a:lnTo>
                  <a:lnTo>
                    <a:pt x="86" y="257"/>
                  </a:lnTo>
                  <a:lnTo>
                    <a:pt x="190" y="288"/>
                  </a:lnTo>
                  <a:lnTo>
                    <a:pt x="244" y="336"/>
                  </a:lnTo>
                  <a:lnTo>
                    <a:pt x="347" y="336"/>
                  </a:lnTo>
                  <a:lnTo>
                    <a:pt x="399" y="369"/>
                  </a:lnTo>
                  <a:lnTo>
                    <a:pt x="468" y="384"/>
                  </a:lnTo>
                  <a:lnTo>
                    <a:pt x="537" y="353"/>
                  </a:lnTo>
                  <a:lnTo>
                    <a:pt x="606" y="353"/>
                  </a:lnTo>
                  <a:lnTo>
                    <a:pt x="660" y="305"/>
                  </a:lnTo>
                  <a:lnTo>
                    <a:pt x="641" y="288"/>
                  </a:lnTo>
                  <a:lnTo>
                    <a:pt x="677" y="257"/>
                  </a:lnTo>
                  <a:lnTo>
                    <a:pt x="712" y="273"/>
                  </a:lnTo>
                  <a:lnTo>
                    <a:pt x="764" y="240"/>
                  </a:lnTo>
                  <a:lnTo>
                    <a:pt x="798" y="209"/>
                  </a:lnTo>
                  <a:lnTo>
                    <a:pt x="867" y="209"/>
                  </a:lnTo>
                  <a:lnTo>
                    <a:pt x="850" y="177"/>
                  </a:lnTo>
                  <a:lnTo>
                    <a:pt x="833" y="161"/>
                  </a:lnTo>
                  <a:lnTo>
                    <a:pt x="798" y="177"/>
                  </a:lnTo>
                  <a:lnTo>
                    <a:pt x="764" y="177"/>
                  </a:lnTo>
                  <a:lnTo>
                    <a:pt x="764" y="113"/>
                  </a:lnTo>
                  <a:lnTo>
                    <a:pt x="781" y="81"/>
                  </a:lnTo>
                  <a:lnTo>
                    <a:pt x="729" y="65"/>
                  </a:lnTo>
                  <a:lnTo>
                    <a:pt x="695" y="96"/>
                  </a:lnTo>
                  <a:lnTo>
                    <a:pt x="624" y="113"/>
                  </a:lnTo>
                  <a:lnTo>
                    <a:pt x="572" y="9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42" name="Freeform 170">
              <a:extLst>
                <a:ext uri="{FF2B5EF4-FFF2-40B4-BE49-F238E27FC236}">
                  <a16:creationId xmlns:a16="http://schemas.microsoft.com/office/drawing/2014/main" id="{99E5B914-C8AB-45AB-804D-F1C767F65FA6}"/>
                </a:ext>
              </a:extLst>
            </p:cNvPr>
            <p:cNvSpPr>
              <a:spLocks/>
            </p:cNvSpPr>
            <p:nvPr>
              <p:custDataLst>
                <p:tags r:id="rId171"/>
              </p:custDataLst>
            </p:nvPr>
          </p:nvSpPr>
          <p:spPr bwMode="auto">
            <a:xfrm>
              <a:off x="9989996" y="2007423"/>
              <a:ext cx="28148" cy="42222"/>
            </a:xfrm>
            <a:custGeom>
              <a:avLst/>
              <a:gdLst>
                <a:gd name="T0" fmla="*/ 6158 w 33"/>
                <a:gd name="T1" fmla="*/ 9525 h 48"/>
                <a:gd name="T2" fmla="*/ 6158 w 33"/>
                <a:gd name="T3" fmla="*/ 9525 h 48"/>
                <a:gd name="T4" fmla="*/ 6158 w 33"/>
                <a:gd name="T5" fmla="*/ 3969 h 48"/>
                <a:gd name="T6" fmla="*/ 0 w 33"/>
                <a:gd name="T7" fmla="*/ 0 h 48"/>
                <a:gd name="T8" fmla="*/ 0 w 33"/>
                <a:gd name="T9" fmla="*/ 3969 h 48"/>
                <a:gd name="T10" fmla="*/ 6158 w 33"/>
                <a:gd name="T11" fmla="*/ 9525 h 48"/>
                <a:gd name="T12" fmla="*/ 0 60000 65536"/>
                <a:gd name="T13" fmla="*/ 0 60000 65536"/>
                <a:gd name="T14" fmla="*/ 0 60000 65536"/>
                <a:gd name="T15" fmla="*/ 0 60000 65536"/>
                <a:gd name="T16" fmla="*/ 0 60000 65536"/>
                <a:gd name="T17" fmla="*/ 0 60000 65536"/>
                <a:gd name="T18" fmla="*/ 0 w 33"/>
                <a:gd name="T19" fmla="*/ 0 h 48"/>
                <a:gd name="T20" fmla="*/ 33 w 33"/>
                <a:gd name="T21" fmla="*/ 48 h 48"/>
              </a:gdLst>
              <a:ahLst/>
              <a:cxnLst>
                <a:cxn ang="T12">
                  <a:pos x="T0" y="T1"/>
                </a:cxn>
                <a:cxn ang="T13">
                  <a:pos x="T2" y="T3"/>
                </a:cxn>
                <a:cxn ang="T14">
                  <a:pos x="T4" y="T5"/>
                </a:cxn>
                <a:cxn ang="T15">
                  <a:pos x="T6" y="T7"/>
                </a:cxn>
                <a:cxn ang="T16">
                  <a:pos x="T8" y="T9"/>
                </a:cxn>
                <a:cxn ang="T17">
                  <a:pos x="T10" y="T11"/>
                </a:cxn>
              </a:cxnLst>
              <a:rect l="T18" t="T19" r="T20" b="T21"/>
              <a:pathLst>
                <a:path w="33" h="48">
                  <a:moveTo>
                    <a:pt x="33" y="48"/>
                  </a:moveTo>
                  <a:lnTo>
                    <a:pt x="33" y="48"/>
                  </a:lnTo>
                  <a:lnTo>
                    <a:pt x="33" y="17"/>
                  </a:lnTo>
                  <a:lnTo>
                    <a:pt x="0" y="0"/>
                  </a:lnTo>
                  <a:lnTo>
                    <a:pt x="0" y="17"/>
                  </a:lnTo>
                  <a:lnTo>
                    <a:pt x="33"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43" name="Freeform 171">
              <a:extLst>
                <a:ext uri="{FF2B5EF4-FFF2-40B4-BE49-F238E27FC236}">
                  <a16:creationId xmlns:a16="http://schemas.microsoft.com/office/drawing/2014/main" id="{7A537690-A180-4291-92CF-6CB79ABB1F61}"/>
                </a:ext>
              </a:extLst>
            </p:cNvPr>
            <p:cNvSpPr>
              <a:spLocks/>
            </p:cNvSpPr>
            <p:nvPr>
              <p:custDataLst>
                <p:tags r:id="rId172"/>
              </p:custDataLst>
            </p:nvPr>
          </p:nvSpPr>
          <p:spPr bwMode="auto">
            <a:xfrm>
              <a:off x="7945745" y="1713628"/>
              <a:ext cx="3931930" cy="1813790"/>
            </a:xfrm>
            <a:custGeom>
              <a:avLst/>
              <a:gdLst>
                <a:gd name="T0" fmla="*/ 436660 w 4469"/>
                <a:gd name="T1" fmla="*/ 82510 h 2063"/>
                <a:gd name="T2" fmla="*/ 436660 w 4469"/>
                <a:gd name="T3" fmla="*/ 15867 h 2063"/>
                <a:gd name="T4" fmla="*/ 361237 w 4469"/>
                <a:gd name="T5" fmla="*/ 34908 h 2063"/>
                <a:gd name="T6" fmla="*/ 296135 w 4469"/>
                <a:gd name="T7" fmla="*/ 117418 h 2063"/>
                <a:gd name="T8" fmla="*/ 261996 w 4469"/>
                <a:gd name="T9" fmla="*/ 104724 h 2063"/>
                <a:gd name="T10" fmla="*/ 261996 w 4469"/>
                <a:gd name="T11" fmla="*/ 174540 h 2063"/>
                <a:gd name="T12" fmla="*/ 244530 w 4469"/>
                <a:gd name="T13" fmla="*/ 117418 h 2063"/>
                <a:gd name="T14" fmla="*/ 217536 w 4469"/>
                <a:gd name="T15" fmla="*/ 145979 h 2063"/>
                <a:gd name="T16" fmla="*/ 179428 w 4469"/>
                <a:gd name="T17" fmla="*/ 158673 h 2063"/>
                <a:gd name="T18" fmla="*/ 113532 w 4469"/>
                <a:gd name="T19" fmla="*/ 180887 h 2063"/>
                <a:gd name="T20" fmla="*/ 93683 w 4469"/>
                <a:gd name="T21" fmla="*/ 180887 h 2063"/>
                <a:gd name="T22" fmla="*/ 52399 w 4469"/>
                <a:gd name="T23" fmla="*/ 209448 h 2063"/>
                <a:gd name="T24" fmla="*/ 34933 w 4469"/>
                <a:gd name="T25" fmla="*/ 184061 h 2063"/>
                <a:gd name="T26" fmla="*/ 27787 w 4469"/>
                <a:gd name="T27" fmla="*/ 142806 h 2063"/>
                <a:gd name="T28" fmla="*/ 14291 w 4469"/>
                <a:gd name="T29" fmla="*/ 180887 h 2063"/>
                <a:gd name="T30" fmla="*/ 14291 w 4469"/>
                <a:gd name="T31" fmla="*/ 246737 h 2063"/>
                <a:gd name="T32" fmla="*/ 3970 w 4469"/>
                <a:gd name="T33" fmla="*/ 279265 h 2063"/>
                <a:gd name="T34" fmla="*/ 21436 w 4469"/>
                <a:gd name="T35" fmla="*/ 307826 h 2063"/>
                <a:gd name="T36" fmla="*/ 38109 w 4469"/>
                <a:gd name="T37" fmla="*/ 330040 h 2063"/>
                <a:gd name="T38" fmla="*/ 55575 w 4469"/>
                <a:gd name="T39" fmla="*/ 341940 h 2063"/>
                <a:gd name="T40" fmla="*/ 69072 w 4469"/>
                <a:gd name="T41" fmla="*/ 370502 h 2063"/>
                <a:gd name="T42" fmla="*/ 86538 w 4469"/>
                <a:gd name="T43" fmla="*/ 396683 h 2063"/>
                <a:gd name="T44" fmla="*/ 110356 w 4469"/>
                <a:gd name="T45" fmla="*/ 399063 h 2063"/>
                <a:gd name="T46" fmla="*/ 117501 w 4469"/>
                <a:gd name="T47" fmla="*/ 374468 h 2063"/>
                <a:gd name="T48" fmla="*/ 120677 w 4469"/>
                <a:gd name="T49" fmla="*/ 349081 h 2063"/>
                <a:gd name="T50" fmla="*/ 161961 w 4469"/>
                <a:gd name="T51" fmla="*/ 339560 h 2063"/>
                <a:gd name="T52" fmla="*/ 182603 w 4469"/>
                <a:gd name="T53" fmla="*/ 326867 h 2063"/>
                <a:gd name="T54" fmla="*/ 237384 w 4469"/>
                <a:gd name="T55" fmla="*/ 303859 h 2063"/>
                <a:gd name="T56" fmla="*/ 265172 w 4469"/>
                <a:gd name="T57" fmla="*/ 313379 h 2063"/>
                <a:gd name="T58" fmla="*/ 316777 w 4469"/>
                <a:gd name="T59" fmla="*/ 349081 h 2063"/>
                <a:gd name="T60" fmla="*/ 350916 w 4469"/>
                <a:gd name="T61" fmla="*/ 341940 h 2063"/>
                <a:gd name="T62" fmla="*/ 406491 w 4469"/>
                <a:gd name="T63" fmla="*/ 336387 h 2063"/>
                <a:gd name="T64" fmla="*/ 474769 w 4469"/>
                <a:gd name="T65" fmla="*/ 345907 h 2063"/>
                <a:gd name="T66" fmla="*/ 505732 w 4469"/>
                <a:gd name="T67" fmla="*/ 330040 h 2063"/>
                <a:gd name="T68" fmla="*/ 564483 w 4469"/>
                <a:gd name="T69" fmla="*/ 358601 h 2063"/>
                <a:gd name="T70" fmla="*/ 564483 w 4469"/>
                <a:gd name="T71" fmla="*/ 387162 h 2063"/>
                <a:gd name="T72" fmla="*/ 585125 w 4469"/>
                <a:gd name="T73" fmla="*/ 396683 h 2063"/>
                <a:gd name="T74" fmla="*/ 605767 w 4469"/>
                <a:gd name="T75" fmla="*/ 320520 h 2063"/>
                <a:gd name="T76" fmla="*/ 598621 w 4469"/>
                <a:gd name="T77" fmla="*/ 298305 h 2063"/>
                <a:gd name="T78" fmla="*/ 674045 w 4469"/>
                <a:gd name="T79" fmla="*/ 265777 h 2063"/>
                <a:gd name="T80" fmla="*/ 722474 w 4469"/>
                <a:gd name="T81" fmla="*/ 241183 h 2063"/>
                <a:gd name="T82" fmla="*/ 739941 w 4469"/>
                <a:gd name="T83" fmla="*/ 253877 h 2063"/>
                <a:gd name="T84" fmla="*/ 719298 w 4469"/>
                <a:gd name="T85" fmla="*/ 322900 h 2063"/>
                <a:gd name="T86" fmla="*/ 739941 w 4469"/>
                <a:gd name="T87" fmla="*/ 298305 h 2063"/>
                <a:gd name="T88" fmla="*/ 739941 w 4469"/>
                <a:gd name="T89" fmla="*/ 269744 h 2063"/>
                <a:gd name="T90" fmla="*/ 778049 w 4469"/>
                <a:gd name="T91" fmla="*/ 263397 h 2063"/>
                <a:gd name="T92" fmla="*/ 818540 w 4469"/>
                <a:gd name="T93" fmla="*/ 209448 h 2063"/>
                <a:gd name="T94" fmla="*/ 846327 w 4469"/>
                <a:gd name="T95" fmla="*/ 199928 h 2063"/>
                <a:gd name="T96" fmla="*/ 877290 w 4469"/>
                <a:gd name="T97" fmla="*/ 184061 h 2063"/>
                <a:gd name="T98" fmla="*/ 767728 w 4469"/>
                <a:gd name="T99" fmla="*/ 152326 h 2063"/>
                <a:gd name="T100" fmla="*/ 725650 w 4469"/>
                <a:gd name="T101" fmla="*/ 145979 h 2063"/>
                <a:gd name="T102" fmla="*/ 670869 w 4469"/>
                <a:gd name="T103" fmla="*/ 120592 h 2063"/>
                <a:gd name="T104" fmla="*/ 595446 w 4469"/>
                <a:gd name="T105" fmla="*/ 117418 h 2063"/>
                <a:gd name="T106" fmla="*/ 557337 w 4469"/>
                <a:gd name="T107" fmla="*/ 98377 h 2063"/>
                <a:gd name="T108" fmla="*/ 499381 w 4469"/>
                <a:gd name="T109" fmla="*/ 82510 h 206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4469"/>
                <a:gd name="T166" fmla="*/ 0 h 2063"/>
                <a:gd name="T167" fmla="*/ 4469 w 4469"/>
                <a:gd name="T168" fmla="*/ 2063 h 206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4469" h="2063">
                  <a:moveTo>
                    <a:pt x="2269" y="384"/>
                  </a:moveTo>
                  <a:lnTo>
                    <a:pt x="2269" y="384"/>
                  </a:lnTo>
                  <a:lnTo>
                    <a:pt x="2252" y="401"/>
                  </a:lnTo>
                  <a:lnTo>
                    <a:pt x="2269" y="432"/>
                  </a:lnTo>
                  <a:lnTo>
                    <a:pt x="2200" y="465"/>
                  </a:lnTo>
                  <a:lnTo>
                    <a:pt x="2183" y="465"/>
                  </a:lnTo>
                  <a:lnTo>
                    <a:pt x="2200" y="417"/>
                  </a:lnTo>
                  <a:lnTo>
                    <a:pt x="2375" y="273"/>
                  </a:lnTo>
                  <a:lnTo>
                    <a:pt x="2375" y="177"/>
                  </a:lnTo>
                  <a:lnTo>
                    <a:pt x="2304" y="113"/>
                  </a:lnTo>
                  <a:lnTo>
                    <a:pt x="2218" y="113"/>
                  </a:lnTo>
                  <a:lnTo>
                    <a:pt x="2218" y="144"/>
                  </a:lnTo>
                  <a:lnTo>
                    <a:pt x="2166" y="144"/>
                  </a:lnTo>
                  <a:lnTo>
                    <a:pt x="2200" y="81"/>
                  </a:lnTo>
                  <a:lnTo>
                    <a:pt x="2114" y="65"/>
                  </a:lnTo>
                  <a:lnTo>
                    <a:pt x="2166" y="33"/>
                  </a:lnTo>
                  <a:lnTo>
                    <a:pt x="2114" y="0"/>
                  </a:lnTo>
                  <a:lnTo>
                    <a:pt x="2028" y="81"/>
                  </a:lnTo>
                  <a:lnTo>
                    <a:pt x="2028" y="144"/>
                  </a:lnTo>
                  <a:lnTo>
                    <a:pt x="1976" y="144"/>
                  </a:lnTo>
                  <a:lnTo>
                    <a:pt x="1820" y="177"/>
                  </a:lnTo>
                  <a:lnTo>
                    <a:pt x="1682" y="257"/>
                  </a:lnTo>
                  <a:lnTo>
                    <a:pt x="1630" y="321"/>
                  </a:lnTo>
                  <a:lnTo>
                    <a:pt x="1647" y="401"/>
                  </a:lnTo>
                  <a:lnTo>
                    <a:pt x="1455" y="432"/>
                  </a:lnTo>
                  <a:lnTo>
                    <a:pt x="1473" y="528"/>
                  </a:lnTo>
                  <a:lnTo>
                    <a:pt x="1525" y="576"/>
                  </a:lnTo>
                  <a:lnTo>
                    <a:pt x="1490" y="593"/>
                  </a:lnTo>
                  <a:lnTo>
                    <a:pt x="1438" y="528"/>
                  </a:lnTo>
                  <a:lnTo>
                    <a:pt x="1386" y="512"/>
                  </a:lnTo>
                  <a:lnTo>
                    <a:pt x="1369" y="528"/>
                  </a:lnTo>
                  <a:lnTo>
                    <a:pt x="1334" y="497"/>
                  </a:lnTo>
                  <a:lnTo>
                    <a:pt x="1300" y="465"/>
                  </a:lnTo>
                  <a:lnTo>
                    <a:pt x="1300" y="480"/>
                  </a:lnTo>
                  <a:lnTo>
                    <a:pt x="1317" y="528"/>
                  </a:lnTo>
                  <a:lnTo>
                    <a:pt x="1265" y="608"/>
                  </a:lnTo>
                  <a:lnTo>
                    <a:pt x="1300" y="672"/>
                  </a:lnTo>
                  <a:lnTo>
                    <a:pt x="1283" y="737"/>
                  </a:lnTo>
                  <a:lnTo>
                    <a:pt x="1283" y="785"/>
                  </a:lnTo>
                  <a:lnTo>
                    <a:pt x="1334" y="785"/>
                  </a:lnTo>
                  <a:lnTo>
                    <a:pt x="1300" y="800"/>
                  </a:lnTo>
                  <a:lnTo>
                    <a:pt x="1317" y="881"/>
                  </a:lnTo>
                  <a:lnTo>
                    <a:pt x="1214" y="960"/>
                  </a:lnTo>
                  <a:lnTo>
                    <a:pt x="1196" y="944"/>
                  </a:lnTo>
                  <a:lnTo>
                    <a:pt x="1265" y="864"/>
                  </a:lnTo>
                  <a:lnTo>
                    <a:pt x="1283" y="816"/>
                  </a:lnTo>
                  <a:lnTo>
                    <a:pt x="1248" y="785"/>
                  </a:lnTo>
                  <a:lnTo>
                    <a:pt x="1248" y="624"/>
                  </a:lnTo>
                  <a:lnTo>
                    <a:pt x="1231" y="593"/>
                  </a:lnTo>
                  <a:lnTo>
                    <a:pt x="1248" y="497"/>
                  </a:lnTo>
                  <a:lnTo>
                    <a:pt x="1214" y="480"/>
                  </a:lnTo>
                  <a:lnTo>
                    <a:pt x="1231" y="465"/>
                  </a:lnTo>
                  <a:lnTo>
                    <a:pt x="1214" y="432"/>
                  </a:lnTo>
                  <a:lnTo>
                    <a:pt x="1179" y="449"/>
                  </a:lnTo>
                  <a:lnTo>
                    <a:pt x="1093" y="656"/>
                  </a:lnTo>
                  <a:lnTo>
                    <a:pt x="1093" y="737"/>
                  </a:lnTo>
                  <a:lnTo>
                    <a:pt x="1144" y="800"/>
                  </a:lnTo>
                  <a:lnTo>
                    <a:pt x="1144" y="833"/>
                  </a:lnTo>
                  <a:lnTo>
                    <a:pt x="1093" y="800"/>
                  </a:lnTo>
                  <a:lnTo>
                    <a:pt x="885" y="672"/>
                  </a:lnTo>
                  <a:lnTo>
                    <a:pt x="868" y="704"/>
                  </a:lnTo>
                  <a:lnTo>
                    <a:pt x="937" y="785"/>
                  </a:lnTo>
                  <a:lnTo>
                    <a:pt x="903" y="800"/>
                  </a:lnTo>
                  <a:lnTo>
                    <a:pt x="885" y="785"/>
                  </a:lnTo>
                  <a:lnTo>
                    <a:pt x="780" y="816"/>
                  </a:lnTo>
                  <a:lnTo>
                    <a:pt x="762" y="848"/>
                  </a:lnTo>
                  <a:lnTo>
                    <a:pt x="745" y="816"/>
                  </a:lnTo>
                  <a:lnTo>
                    <a:pt x="745" y="785"/>
                  </a:lnTo>
                  <a:lnTo>
                    <a:pt x="572" y="881"/>
                  </a:lnTo>
                  <a:lnTo>
                    <a:pt x="572" y="912"/>
                  </a:lnTo>
                  <a:lnTo>
                    <a:pt x="538" y="929"/>
                  </a:lnTo>
                  <a:lnTo>
                    <a:pt x="486" y="896"/>
                  </a:lnTo>
                  <a:lnTo>
                    <a:pt x="538" y="864"/>
                  </a:lnTo>
                  <a:lnTo>
                    <a:pt x="521" y="816"/>
                  </a:lnTo>
                  <a:lnTo>
                    <a:pt x="451" y="800"/>
                  </a:lnTo>
                  <a:lnTo>
                    <a:pt x="469" y="833"/>
                  </a:lnTo>
                  <a:lnTo>
                    <a:pt x="469" y="912"/>
                  </a:lnTo>
                  <a:lnTo>
                    <a:pt x="486" y="944"/>
                  </a:lnTo>
                  <a:lnTo>
                    <a:pt x="469" y="977"/>
                  </a:lnTo>
                  <a:lnTo>
                    <a:pt x="417" y="960"/>
                  </a:lnTo>
                  <a:lnTo>
                    <a:pt x="348" y="1008"/>
                  </a:lnTo>
                  <a:lnTo>
                    <a:pt x="382" y="1073"/>
                  </a:lnTo>
                  <a:lnTo>
                    <a:pt x="279" y="1040"/>
                  </a:lnTo>
                  <a:lnTo>
                    <a:pt x="261" y="1056"/>
                  </a:lnTo>
                  <a:lnTo>
                    <a:pt x="296" y="1103"/>
                  </a:lnTo>
                  <a:lnTo>
                    <a:pt x="261" y="1103"/>
                  </a:lnTo>
                  <a:lnTo>
                    <a:pt x="210" y="1073"/>
                  </a:lnTo>
                  <a:lnTo>
                    <a:pt x="210" y="977"/>
                  </a:lnTo>
                  <a:lnTo>
                    <a:pt x="158" y="944"/>
                  </a:lnTo>
                  <a:lnTo>
                    <a:pt x="140" y="912"/>
                  </a:lnTo>
                  <a:lnTo>
                    <a:pt x="175" y="929"/>
                  </a:lnTo>
                  <a:lnTo>
                    <a:pt x="313" y="977"/>
                  </a:lnTo>
                  <a:lnTo>
                    <a:pt x="400" y="929"/>
                  </a:lnTo>
                  <a:lnTo>
                    <a:pt x="382" y="881"/>
                  </a:lnTo>
                  <a:lnTo>
                    <a:pt x="279" y="785"/>
                  </a:lnTo>
                  <a:lnTo>
                    <a:pt x="175" y="752"/>
                  </a:lnTo>
                  <a:lnTo>
                    <a:pt x="175" y="737"/>
                  </a:lnTo>
                  <a:lnTo>
                    <a:pt x="140" y="720"/>
                  </a:lnTo>
                  <a:lnTo>
                    <a:pt x="106" y="737"/>
                  </a:lnTo>
                  <a:lnTo>
                    <a:pt x="106" y="752"/>
                  </a:lnTo>
                  <a:lnTo>
                    <a:pt x="87" y="752"/>
                  </a:lnTo>
                  <a:lnTo>
                    <a:pt x="52" y="785"/>
                  </a:lnTo>
                  <a:lnTo>
                    <a:pt x="52" y="833"/>
                  </a:lnTo>
                  <a:lnTo>
                    <a:pt x="87" y="864"/>
                  </a:lnTo>
                  <a:lnTo>
                    <a:pt x="69" y="912"/>
                  </a:lnTo>
                  <a:lnTo>
                    <a:pt x="87" y="992"/>
                  </a:lnTo>
                  <a:lnTo>
                    <a:pt x="69" y="1040"/>
                  </a:lnTo>
                  <a:lnTo>
                    <a:pt x="106" y="1088"/>
                  </a:lnTo>
                  <a:lnTo>
                    <a:pt x="87" y="1121"/>
                  </a:lnTo>
                  <a:lnTo>
                    <a:pt x="123" y="1151"/>
                  </a:lnTo>
                  <a:lnTo>
                    <a:pt x="123" y="1169"/>
                  </a:lnTo>
                  <a:lnTo>
                    <a:pt x="69" y="1247"/>
                  </a:lnTo>
                  <a:lnTo>
                    <a:pt x="18" y="1280"/>
                  </a:lnTo>
                  <a:lnTo>
                    <a:pt x="35" y="1280"/>
                  </a:lnTo>
                  <a:lnTo>
                    <a:pt x="69" y="1313"/>
                  </a:lnTo>
                  <a:lnTo>
                    <a:pt x="35" y="1343"/>
                  </a:lnTo>
                  <a:lnTo>
                    <a:pt x="18" y="1361"/>
                  </a:lnTo>
                  <a:lnTo>
                    <a:pt x="0" y="1361"/>
                  </a:lnTo>
                  <a:lnTo>
                    <a:pt x="18" y="1409"/>
                  </a:lnTo>
                  <a:lnTo>
                    <a:pt x="18" y="1424"/>
                  </a:lnTo>
                  <a:lnTo>
                    <a:pt x="18" y="1439"/>
                  </a:lnTo>
                  <a:lnTo>
                    <a:pt x="18" y="1457"/>
                  </a:lnTo>
                  <a:lnTo>
                    <a:pt x="35" y="1487"/>
                  </a:lnTo>
                  <a:lnTo>
                    <a:pt x="87" y="1505"/>
                  </a:lnTo>
                  <a:lnTo>
                    <a:pt x="106" y="1520"/>
                  </a:lnTo>
                  <a:lnTo>
                    <a:pt x="106" y="1553"/>
                  </a:lnTo>
                  <a:lnTo>
                    <a:pt x="140" y="1600"/>
                  </a:lnTo>
                  <a:lnTo>
                    <a:pt x="158" y="1600"/>
                  </a:lnTo>
                  <a:lnTo>
                    <a:pt x="140" y="1631"/>
                  </a:lnTo>
                  <a:lnTo>
                    <a:pt x="123" y="1616"/>
                  </a:lnTo>
                  <a:lnTo>
                    <a:pt x="123" y="1631"/>
                  </a:lnTo>
                  <a:lnTo>
                    <a:pt x="140" y="1664"/>
                  </a:lnTo>
                  <a:lnTo>
                    <a:pt x="192" y="1664"/>
                  </a:lnTo>
                  <a:lnTo>
                    <a:pt x="210" y="1679"/>
                  </a:lnTo>
                  <a:lnTo>
                    <a:pt x="192" y="1679"/>
                  </a:lnTo>
                  <a:lnTo>
                    <a:pt x="210" y="1696"/>
                  </a:lnTo>
                  <a:lnTo>
                    <a:pt x="227" y="1696"/>
                  </a:lnTo>
                  <a:lnTo>
                    <a:pt x="244" y="1727"/>
                  </a:lnTo>
                  <a:lnTo>
                    <a:pt x="261" y="1744"/>
                  </a:lnTo>
                  <a:lnTo>
                    <a:pt x="279" y="1727"/>
                  </a:lnTo>
                  <a:lnTo>
                    <a:pt x="365" y="1775"/>
                  </a:lnTo>
                  <a:lnTo>
                    <a:pt x="348" y="1840"/>
                  </a:lnTo>
                  <a:lnTo>
                    <a:pt x="330" y="1823"/>
                  </a:lnTo>
                  <a:lnTo>
                    <a:pt x="313" y="1840"/>
                  </a:lnTo>
                  <a:lnTo>
                    <a:pt x="313" y="1871"/>
                  </a:lnTo>
                  <a:lnTo>
                    <a:pt x="330" y="1856"/>
                  </a:lnTo>
                  <a:lnTo>
                    <a:pt x="348" y="1871"/>
                  </a:lnTo>
                  <a:lnTo>
                    <a:pt x="296" y="1888"/>
                  </a:lnTo>
                  <a:lnTo>
                    <a:pt x="313" y="1904"/>
                  </a:lnTo>
                  <a:lnTo>
                    <a:pt x="279" y="1936"/>
                  </a:lnTo>
                  <a:lnTo>
                    <a:pt x="261" y="1936"/>
                  </a:lnTo>
                  <a:lnTo>
                    <a:pt x="279" y="1936"/>
                  </a:lnTo>
                  <a:lnTo>
                    <a:pt x="348" y="2000"/>
                  </a:lnTo>
                  <a:lnTo>
                    <a:pt x="434" y="2000"/>
                  </a:lnTo>
                  <a:lnTo>
                    <a:pt x="469" y="2015"/>
                  </a:lnTo>
                  <a:lnTo>
                    <a:pt x="503" y="2015"/>
                  </a:lnTo>
                  <a:lnTo>
                    <a:pt x="538" y="2048"/>
                  </a:lnTo>
                  <a:lnTo>
                    <a:pt x="555" y="2063"/>
                  </a:lnTo>
                  <a:lnTo>
                    <a:pt x="572" y="2063"/>
                  </a:lnTo>
                  <a:lnTo>
                    <a:pt x="590" y="2048"/>
                  </a:lnTo>
                  <a:lnTo>
                    <a:pt x="555" y="2015"/>
                  </a:lnTo>
                  <a:lnTo>
                    <a:pt x="555" y="1984"/>
                  </a:lnTo>
                  <a:lnTo>
                    <a:pt x="538" y="1952"/>
                  </a:lnTo>
                  <a:lnTo>
                    <a:pt x="572" y="1904"/>
                  </a:lnTo>
                  <a:lnTo>
                    <a:pt x="590" y="1919"/>
                  </a:lnTo>
                  <a:lnTo>
                    <a:pt x="607" y="1904"/>
                  </a:lnTo>
                  <a:lnTo>
                    <a:pt x="607" y="1888"/>
                  </a:lnTo>
                  <a:lnTo>
                    <a:pt x="590" y="1888"/>
                  </a:lnTo>
                  <a:lnTo>
                    <a:pt x="607" y="1871"/>
                  </a:lnTo>
                  <a:lnTo>
                    <a:pt x="590" y="1840"/>
                  </a:lnTo>
                  <a:lnTo>
                    <a:pt x="555" y="1840"/>
                  </a:lnTo>
                  <a:lnTo>
                    <a:pt x="538" y="1808"/>
                  </a:lnTo>
                  <a:lnTo>
                    <a:pt x="555" y="1727"/>
                  </a:lnTo>
                  <a:lnTo>
                    <a:pt x="590" y="1760"/>
                  </a:lnTo>
                  <a:lnTo>
                    <a:pt x="607" y="1760"/>
                  </a:lnTo>
                  <a:lnTo>
                    <a:pt x="590" y="1727"/>
                  </a:lnTo>
                  <a:lnTo>
                    <a:pt x="641" y="1679"/>
                  </a:lnTo>
                  <a:lnTo>
                    <a:pt x="676" y="1696"/>
                  </a:lnTo>
                  <a:lnTo>
                    <a:pt x="693" y="1679"/>
                  </a:lnTo>
                  <a:lnTo>
                    <a:pt x="728" y="1696"/>
                  </a:lnTo>
                  <a:lnTo>
                    <a:pt x="780" y="1727"/>
                  </a:lnTo>
                  <a:lnTo>
                    <a:pt x="814" y="1712"/>
                  </a:lnTo>
                  <a:lnTo>
                    <a:pt x="851" y="1712"/>
                  </a:lnTo>
                  <a:lnTo>
                    <a:pt x="868" y="1727"/>
                  </a:lnTo>
                  <a:lnTo>
                    <a:pt x="937" y="1727"/>
                  </a:lnTo>
                  <a:lnTo>
                    <a:pt x="954" y="1696"/>
                  </a:lnTo>
                  <a:lnTo>
                    <a:pt x="903" y="1679"/>
                  </a:lnTo>
                  <a:lnTo>
                    <a:pt x="937" y="1664"/>
                  </a:lnTo>
                  <a:lnTo>
                    <a:pt x="920" y="1648"/>
                  </a:lnTo>
                  <a:lnTo>
                    <a:pt x="937" y="1631"/>
                  </a:lnTo>
                  <a:lnTo>
                    <a:pt x="937" y="1583"/>
                  </a:lnTo>
                  <a:lnTo>
                    <a:pt x="972" y="1600"/>
                  </a:lnTo>
                  <a:lnTo>
                    <a:pt x="1127" y="1553"/>
                  </a:lnTo>
                  <a:lnTo>
                    <a:pt x="1127" y="1535"/>
                  </a:lnTo>
                  <a:lnTo>
                    <a:pt x="1144" y="1535"/>
                  </a:lnTo>
                  <a:lnTo>
                    <a:pt x="1196" y="1535"/>
                  </a:lnTo>
                  <a:lnTo>
                    <a:pt x="1214" y="1568"/>
                  </a:lnTo>
                  <a:lnTo>
                    <a:pt x="1214" y="1583"/>
                  </a:lnTo>
                  <a:lnTo>
                    <a:pt x="1231" y="1583"/>
                  </a:lnTo>
                  <a:lnTo>
                    <a:pt x="1265" y="1600"/>
                  </a:lnTo>
                  <a:lnTo>
                    <a:pt x="1265" y="1616"/>
                  </a:lnTo>
                  <a:lnTo>
                    <a:pt x="1300" y="1616"/>
                  </a:lnTo>
                  <a:lnTo>
                    <a:pt x="1334" y="1583"/>
                  </a:lnTo>
                  <a:lnTo>
                    <a:pt x="1369" y="1568"/>
                  </a:lnTo>
                  <a:lnTo>
                    <a:pt x="1386" y="1616"/>
                  </a:lnTo>
                  <a:lnTo>
                    <a:pt x="1455" y="1727"/>
                  </a:lnTo>
                  <a:lnTo>
                    <a:pt x="1473" y="1696"/>
                  </a:lnTo>
                  <a:lnTo>
                    <a:pt x="1490" y="1727"/>
                  </a:lnTo>
                  <a:lnTo>
                    <a:pt x="1542" y="1712"/>
                  </a:lnTo>
                  <a:lnTo>
                    <a:pt x="1596" y="1760"/>
                  </a:lnTo>
                  <a:lnTo>
                    <a:pt x="1630" y="1775"/>
                  </a:lnTo>
                  <a:lnTo>
                    <a:pt x="1630" y="1760"/>
                  </a:lnTo>
                  <a:lnTo>
                    <a:pt x="1647" y="1792"/>
                  </a:lnTo>
                  <a:lnTo>
                    <a:pt x="1630" y="1808"/>
                  </a:lnTo>
                  <a:lnTo>
                    <a:pt x="1665" y="1792"/>
                  </a:lnTo>
                  <a:lnTo>
                    <a:pt x="1682" y="1775"/>
                  </a:lnTo>
                  <a:lnTo>
                    <a:pt x="1768" y="1727"/>
                  </a:lnTo>
                  <a:lnTo>
                    <a:pt x="1837" y="1744"/>
                  </a:lnTo>
                  <a:lnTo>
                    <a:pt x="1872" y="1760"/>
                  </a:lnTo>
                  <a:lnTo>
                    <a:pt x="1941" y="1760"/>
                  </a:lnTo>
                  <a:lnTo>
                    <a:pt x="1941" y="1727"/>
                  </a:lnTo>
                  <a:lnTo>
                    <a:pt x="1941" y="1696"/>
                  </a:lnTo>
                  <a:lnTo>
                    <a:pt x="1976" y="1679"/>
                  </a:lnTo>
                  <a:lnTo>
                    <a:pt x="2045" y="1696"/>
                  </a:lnTo>
                  <a:lnTo>
                    <a:pt x="2079" y="1744"/>
                  </a:lnTo>
                  <a:lnTo>
                    <a:pt x="2097" y="1744"/>
                  </a:lnTo>
                  <a:lnTo>
                    <a:pt x="2131" y="1727"/>
                  </a:lnTo>
                  <a:lnTo>
                    <a:pt x="2235" y="1775"/>
                  </a:lnTo>
                  <a:lnTo>
                    <a:pt x="2287" y="1792"/>
                  </a:lnTo>
                  <a:lnTo>
                    <a:pt x="2358" y="1775"/>
                  </a:lnTo>
                  <a:lnTo>
                    <a:pt x="2392" y="1744"/>
                  </a:lnTo>
                  <a:lnTo>
                    <a:pt x="2444" y="1760"/>
                  </a:lnTo>
                  <a:lnTo>
                    <a:pt x="2479" y="1775"/>
                  </a:lnTo>
                  <a:lnTo>
                    <a:pt x="2530" y="1760"/>
                  </a:lnTo>
                  <a:lnTo>
                    <a:pt x="2548" y="1696"/>
                  </a:lnTo>
                  <a:lnTo>
                    <a:pt x="2565" y="1679"/>
                  </a:lnTo>
                  <a:lnTo>
                    <a:pt x="2565" y="1664"/>
                  </a:lnTo>
                  <a:lnTo>
                    <a:pt x="2548" y="1664"/>
                  </a:lnTo>
                  <a:lnTo>
                    <a:pt x="2565" y="1631"/>
                  </a:lnTo>
                  <a:lnTo>
                    <a:pt x="2634" y="1616"/>
                  </a:lnTo>
                  <a:lnTo>
                    <a:pt x="2686" y="1631"/>
                  </a:lnTo>
                  <a:lnTo>
                    <a:pt x="2721" y="1664"/>
                  </a:lnTo>
                  <a:lnTo>
                    <a:pt x="2755" y="1775"/>
                  </a:lnTo>
                  <a:lnTo>
                    <a:pt x="2790" y="1775"/>
                  </a:lnTo>
                  <a:lnTo>
                    <a:pt x="2841" y="1808"/>
                  </a:lnTo>
                  <a:lnTo>
                    <a:pt x="2841" y="1840"/>
                  </a:lnTo>
                  <a:lnTo>
                    <a:pt x="2876" y="1840"/>
                  </a:lnTo>
                  <a:lnTo>
                    <a:pt x="2945" y="1823"/>
                  </a:lnTo>
                  <a:lnTo>
                    <a:pt x="2945" y="1856"/>
                  </a:lnTo>
                  <a:lnTo>
                    <a:pt x="2893" y="1952"/>
                  </a:lnTo>
                  <a:lnTo>
                    <a:pt x="2876" y="1936"/>
                  </a:lnTo>
                  <a:lnTo>
                    <a:pt x="2841" y="1952"/>
                  </a:lnTo>
                  <a:lnTo>
                    <a:pt x="2859" y="2000"/>
                  </a:lnTo>
                  <a:lnTo>
                    <a:pt x="2841" y="2032"/>
                  </a:lnTo>
                  <a:lnTo>
                    <a:pt x="2859" y="2000"/>
                  </a:lnTo>
                  <a:lnTo>
                    <a:pt x="2876" y="2000"/>
                  </a:lnTo>
                  <a:lnTo>
                    <a:pt x="2876" y="2015"/>
                  </a:lnTo>
                  <a:lnTo>
                    <a:pt x="2893" y="2032"/>
                  </a:lnTo>
                  <a:lnTo>
                    <a:pt x="2945" y="2000"/>
                  </a:lnTo>
                  <a:lnTo>
                    <a:pt x="3103" y="1823"/>
                  </a:lnTo>
                  <a:lnTo>
                    <a:pt x="3103" y="1712"/>
                  </a:lnTo>
                  <a:lnTo>
                    <a:pt x="3120" y="1679"/>
                  </a:lnTo>
                  <a:lnTo>
                    <a:pt x="3120" y="1631"/>
                  </a:lnTo>
                  <a:lnTo>
                    <a:pt x="3085" y="1583"/>
                  </a:lnTo>
                  <a:lnTo>
                    <a:pt x="3068" y="1583"/>
                  </a:lnTo>
                  <a:lnTo>
                    <a:pt x="3049" y="1616"/>
                  </a:lnTo>
                  <a:lnTo>
                    <a:pt x="3014" y="1616"/>
                  </a:lnTo>
                  <a:lnTo>
                    <a:pt x="3032" y="1583"/>
                  </a:lnTo>
                  <a:lnTo>
                    <a:pt x="3014" y="1583"/>
                  </a:lnTo>
                  <a:lnTo>
                    <a:pt x="2997" y="1568"/>
                  </a:lnTo>
                  <a:lnTo>
                    <a:pt x="2962" y="1568"/>
                  </a:lnTo>
                  <a:lnTo>
                    <a:pt x="2962" y="1553"/>
                  </a:lnTo>
                  <a:lnTo>
                    <a:pt x="3014" y="1505"/>
                  </a:lnTo>
                  <a:lnTo>
                    <a:pt x="3172" y="1361"/>
                  </a:lnTo>
                  <a:lnTo>
                    <a:pt x="3241" y="1343"/>
                  </a:lnTo>
                  <a:lnTo>
                    <a:pt x="3258" y="1361"/>
                  </a:lnTo>
                  <a:lnTo>
                    <a:pt x="3275" y="1343"/>
                  </a:lnTo>
                  <a:lnTo>
                    <a:pt x="3327" y="1361"/>
                  </a:lnTo>
                  <a:lnTo>
                    <a:pt x="3344" y="1328"/>
                  </a:lnTo>
                  <a:lnTo>
                    <a:pt x="3396" y="1343"/>
                  </a:lnTo>
                  <a:lnTo>
                    <a:pt x="3414" y="1343"/>
                  </a:lnTo>
                  <a:lnTo>
                    <a:pt x="3396" y="1361"/>
                  </a:lnTo>
                  <a:lnTo>
                    <a:pt x="3396" y="1376"/>
                  </a:lnTo>
                  <a:lnTo>
                    <a:pt x="3500" y="1361"/>
                  </a:lnTo>
                  <a:lnTo>
                    <a:pt x="3483" y="1343"/>
                  </a:lnTo>
                  <a:lnTo>
                    <a:pt x="3552" y="1232"/>
                  </a:lnTo>
                  <a:lnTo>
                    <a:pt x="3638" y="1217"/>
                  </a:lnTo>
                  <a:lnTo>
                    <a:pt x="3638" y="1247"/>
                  </a:lnTo>
                  <a:lnTo>
                    <a:pt x="3638" y="1280"/>
                  </a:lnTo>
                  <a:lnTo>
                    <a:pt x="3725" y="1232"/>
                  </a:lnTo>
                  <a:lnTo>
                    <a:pt x="3725" y="1184"/>
                  </a:lnTo>
                  <a:lnTo>
                    <a:pt x="3759" y="1184"/>
                  </a:lnTo>
                  <a:lnTo>
                    <a:pt x="3742" y="1199"/>
                  </a:lnTo>
                  <a:lnTo>
                    <a:pt x="3725" y="1280"/>
                  </a:lnTo>
                  <a:lnTo>
                    <a:pt x="3690" y="1295"/>
                  </a:lnTo>
                  <a:lnTo>
                    <a:pt x="3586" y="1409"/>
                  </a:lnTo>
                  <a:lnTo>
                    <a:pt x="3552" y="1424"/>
                  </a:lnTo>
                  <a:lnTo>
                    <a:pt x="3517" y="1535"/>
                  </a:lnTo>
                  <a:lnTo>
                    <a:pt x="3552" y="1727"/>
                  </a:lnTo>
                  <a:lnTo>
                    <a:pt x="3586" y="1696"/>
                  </a:lnTo>
                  <a:lnTo>
                    <a:pt x="3621" y="1631"/>
                  </a:lnTo>
                  <a:lnTo>
                    <a:pt x="3638" y="1631"/>
                  </a:lnTo>
                  <a:lnTo>
                    <a:pt x="3638" y="1583"/>
                  </a:lnTo>
                  <a:lnTo>
                    <a:pt x="3655" y="1583"/>
                  </a:lnTo>
                  <a:lnTo>
                    <a:pt x="3690" y="1568"/>
                  </a:lnTo>
                  <a:lnTo>
                    <a:pt x="3673" y="1520"/>
                  </a:lnTo>
                  <a:lnTo>
                    <a:pt x="3707" y="1505"/>
                  </a:lnTo>
                  <a:lnTo>
                    <a:pt x="3725" y="1505"/>
                  </a:lnTo>
                  <a:lnTo>
                    <a:pt x="3725" y="1472"/>
                  </a:lnTo>
                  <a:lnTo>
                    <a:pt x="3707" y="1472"/>
                  </a:lnTo>
                  <a:lnTo>
                    <a:pt x="3725" y="1424"/>
                  </a:lnTo>
                  <a:lnTo>
                    <a:pt x="3707" y="1424"/>
                  </a:lnTo>
                  <a:lnTo>
                    <a:pt x="3690" y="1424"/>
                  </a:lnTo>
                  <a:lnTo>
                    <a:pt x="3690" y="1409"/>
                  </a:lnTo>
                  <a:lnTo>
                    <a:pt x="3725" y="1361"/>
                  </a:lnTo>
                  <a:lnTo>
                    <a:pt x="3725" y="1328"/>
                  </a:lnTo>
                  <a:lnTo>
                    <a:pt x="3759" y="1328"/>
                  </a:lnTo>
                  <a:lnTo>
                    <a:pt x="3813" y="1295"/>
                  </a:lnTo>
                  <a:lnTo>
                    <a:pt x="3813" y="1328"/>
                  </a:lnTo>
                  <a:lnTo>
                    <a:pt x="3830" y="1313"/>
                  </a:lnTo>
                  <a:lnTo>
                    <a:pt x="3882" y="1295"/>
                  </a:lnTo>
                  <a:lnTo>
                    <a:pt x="3917" y="1328"/>
                  </a:lnTo>
                  <a:lnTo>
                    <a:pt x="3934" y="1295"/>
                  </a:lnTo>
                  <a:lnTo>
                    <a:pt x="4107" y="1184"/>
                  </a:lnTo>
                  <a:lnTo>
                    <a:pt x="4158" y="1199"/>
                  </a:lnTo>
                  <a:lnTo>
                    <a:pt x="4176" y="1184"/>
                  </a:lnTo>
                  <a:lnTo>
                    <a:pt x="4141" y="1088"/>
                  </a:lnTo>
                  <a:lnTo>
                    <a:pt x="4124" y="1088"/>
                  </a:lnTo>
                  <a:lnTo>
                    <a:pt x="4124" y="1056"/>
                  </a:lnTo>
                  <a:lnTo>
                    <a:pt x="4141" y="1056"/>
                  </a:lnTo>
                  <a:lnTo>
                    <a:pt x="4176" y="1040"/>
                  </a:lnTo>
                  <a:lnTo>
                    <a:pt x="4210" y="1008"/>
                  </a:lnTo>
                  <a:lnTo>
                    <a:pt x="4193" y="977"/>
                  </a:lnTo>
                  <a:lnTo>
                    <a:pt x="4210" y="960"/>
                  </a:lnTo>
                  <a:lnTo>
                    <a:pt x="4228" y="1008"/>
                  </a:lnTo>
                  <a:lnTo>
                    <a:pt x="4262" y="1008"/>
                  </a:lnTo>
                  <a:lnTo>
                    <a:pt x="4297" y="1040"/>
                  </a:lnTo>
                  <a:lnTo>
                    <a:pt x="4383" y="1088"/>
                  </a:lnTo>
                  <a:lnTo>
                    <a:pt x="4400" y="1040"/>
                  </a:lnTo>
                  <a:lnTo>
                    <a:pt x="4400" y="1008"/>
                  </a:lnTo>
                  <a:lnTo>
                    <a:pt x="4435" y="1008"/>
                  </a:lnTo>
                  <a:lnTo>
                    <a:pt x="4469" y="977"/>
                  </a:lnTo>
                  <a:lnTo>
                    <a:pt x="4418" y="929"/>
                  </a:lnTo>
                  <a:lnTo>
                    <a:pt x="4331" y="912"/>
                  </a:lnTo>
                  <a:lnTo>
                    <a:pt x="4176" y="785"/>
                  </a:lnTo>
                  <a:lnTo>
                    <a:pt x="4072" y="720"/>
                  </a:lnTo>
                  <a:lnTo>
                    <a:pt x="3934" y="704"/>
                  </a:lnTo>
                  <a:lnTo>
                    <a:pt x="3934" y="785"/>
                  </a:lnTo>
                  <a:lnTo>
                    <a:pt x="3899" y="800"/>
                  </a:lnTo>
                  <a:lnTo>
                    <a:pt x="3865" y="768"/>
                  </a:lnTo>
                  <a:lnTo>
                    <a:pt x="3865" y="737"/>
                  </a:lnTo>
                  <a:lnTo>
                    <a:pt x="3882" y="737"/>
                  </a:lnTo>
                  <a:lnTo>
                    <a:pt x="3899" y="720"/>
                  </a:lnTo>
                  <a:lnTo>
                    <a:pt x="3865" y="720"/>
                  </a:lnTo>
                  <a:lnTo>
                    <a:pt x="3830" y="752"/>
                  </a:lnTo>
                  <a:lnTo>
                    <a:pt x="3742" y="737"/>
                  </a:lnTo>
                  <a:lnTo>
                    <a:pt x="3655" y="737"/>
                  </a:lnTo>
                  <a:lnTo>
                    <a:pt x="3621" y="720"/>
                  </a:lnTo>
                  <a:lnTo>
                    <a:pt x="3638" y="689"/>
                  </a:lnTo>
                  <a:lnTo>
                    <a:pt x="3604" y="641"/>
                  </a:lnTo>
                  <a:lnTo>
                    <a:pt x="3535" y="624"/>
                  </a:lnTo>
                  <a:lnTo>
                    <a:pt x="3431" y="656"/>
                  </a:lnTo>
                  <a:lnTo>
                    <a:pt x="3414" y="608"/>
                  </a:lnTo>
                  <a:lnTo>
                    <a:pt x="3379" y="608"/>
                  </a:lnTo>
                  <a:lnTo>
                    <a:pt x="3362" y="593"/>
                  </a:lnTo>
                  <a:lnTo>
                    <a:pt x="3362" y="545"/>
                  </a:lnTo>
                  <a:lnTo>
                    <a:pt x="3241" y="512"/>
                  </a:lnTo>
                  <a:lnTo>
                    <a:pt x="3103" y="480"/>
                  </a:lnTo>
                  <a:lnTo>
                    <a:pt x="3068" y="545"/>
                  </a:lnTo>
                  <a:lnTo>
                    <a:pt x="3103" y="593"/>
                  </a:lnTo>
                  <a:lnTo>
                    <a:pt x="2997" y="593"/>
                  </a:lnTo>
                  <a:lnTo>
                    <a:pt x="2980" y="593"/>
                  </a:lnTo>
                  <a:lnTo>
                    <a:pt x="2945" y="608"/>
                  </a:lnTo>
                  <a:lnTo>
                    <a:pt x="2893" y="560"/>
                  </a:lnTo>
                  <a:lnTo>
                    <a:pt x="2859" y="656"/>
                  </a:lnTo>
                  <a:lnTo>
                    <a:pt x="2824" y="641"/>
                  </a:lnTo>
                  <a:lnTo>
                    <a:pt x="2790" y="576"/>
                  </a:lnTo>
                  <a:lnTo>
                    <a:pt x="2807" y="497"/>
                  </a:lnTo>
                  <a:lnTo>
                    <a:pt x="2772" y="449"/>
                  </a:lnTo>
                  <a:lnTo>
                    <a:pt x="2669" y="417"/>
                  </a:lnTo>
                  <a:lnTo>
                    <a:pt x="2634" y="417"/>
                  </a:lnTo>
                  <a:lnTo>
                    <a:pt x="2617" y="449"/>
                  </a:lnTo>
                  <a:lnTo>
                    <a:pt x="2634" y="480"/>
                  </a:lnTo>
                  <a:lnTo>
                    <a:pt x="2496" y="465"/>
                  </a:lnTo>
                  <a:lnTo>
                    <a:pt x="2513" y="417"/>
                  </a:lnTo>
                  <a:lnTo>
                    <a:pt x="2427" y="401"/>
                  </a:lnTo>
                  <a:lnTo>
                    <a:pt x="2375" y="432"/>
                  </a:lnTo>
                  <a:lnTo>
                    <a:pt x="2269" y="38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44" name="Freeform 172">
              <a:extLst>
                <a:ext uri="{FF2B5EF4-FFF2-40B4-BE49-F238E27FC236}">
                  <a16:creationId xmlns:a16="http://schemas.microsoft.com/office/drawing/2014/main" id="{C2B6B0B4-2FA8-43FF-846D-66BE930FEB68}"/>
                </a:ext>
              </a:extLst>
            </p:cNvPr>
            <p:cNvSpPr>
              <a:spLocks/>
            </p:cNvSpPr>
            <p:nvPr>
              <p:custDataLst>
                <p:tags r:id="rId173"/>
              </p:custDataLst>
            </p:nvPr>
          </p:nvSpPr>
          <p:spPr bwMode="auto">
            <a:xfrm>
              <a:off x="8540372" y="1783999"/>
              <a:ext cx="411665" cy="518980"/>
            </a:xfrm>
            <a:custGeom>
              <a:avLst/>
              <a:gdLst>
                <a:gd name="T0" fmla="*/ 0 w 468"/>
                <a:gd name="T1" fmla="*/ 101428 h 591"/>
                <a:gd name="T2" fmla="*/ 0 w 468"/>
                <a:gd name="T3" fmla="*/ 101428 h 591"/>
                <a:gd name="T4" fmla="*/ 10319 w 468"/>
                <a:gd name="T5" fmla="*/ 113314 h 591"/>
                <a:gd name="T6" fmla="*/ 27781 w 468"/>
                <a:gd name="T7" fmla="*/ 116484 h 591"/>
                <a:gd name="T8" fmla="*/ 31750 w 468"/>
                <a:gd name="T9" fmla="*/ 113314 h 591"/>
                <a:gd name="T10" fmla="*/ 23812 w 468"/>
                <a:gd name="T11" fmla="*/ 106975 h 591"/>
                <a:gd name="T12" fmla="*/ 20638 w 468"/>
                <a:gd name="T13" fmla="*/ 101428 h 591"/>
                <a:gd name="T14" fmla="*/ 20638 w 468"/>
                <a:gd name="T15" fmla="*/ 84788 h 591"/>
                <a:gd name="T16" fmla="*/ 23812 w 468"/>
                <a:gd name="T17" fmla="*/ 78448 h 591"/>
                <a:gd name="T18" fmla="*/ 48419 w 468"/>
                <a:gd name="T19" fmla="*/ 40413 h 591"/>
                <a:gd name="T20" fmla="*/ 65881 w 468"/>
                <a:gd name="T21" fmla="*/ 28527 h 591"/>
                <a:gd name="T22" fmla="*/ 92869 w 468"/>
                <a:gd name="T23" fmla="*/ 15848 h 591"/>
                <a:gd name="T24" fmla="*/ 92869 w 468"/>
                <a:gd name="T25" fmla="*/ 2377 h 591"/>
                <a:gd name="T26" fmla="*/ 86519 w 468"/>
                <a:gd name="T27" fmla="*/ 0 h 591"/>
                <a:gd name="T28" fmla="*/ 79375 w 468"/>
                <a:gd name="T29" fmla="*/ 6339 h 591"/>
                <a:gd name="T30" fmla="*/ 73025 w 468"/>
                <a:gd name="T31" fmla="*/ 11886 h 591"/>
                <a:gd name="T32" fmla="*/ 62706 w 468"/>
                <a:gd name="T33" fmla="*/ 15848 h 591"/>
                <a:gd name="T34" fmla="*/ 52388 w 468"/>
                <a:gd name="T35" fmla="*/ 15848 h 591"/>
                <a:gd name="T36" fmla="*/ 42069 w 468"/>
                <a:gd name="T37" fmla="*/ 21395 h 591"/>
                <a:gd name="T38" fmla="*/ 31750 w 468"/>
                <a:gd name="T39" fmla="*/ 34866 h 591"/>
                <a:gd name="T40" fmla="*/ 20638 w 468"/>
                <a:gd name="T41" fmla="*/ 40413 h 591"/>
                <a:gd name="T42" fmla="*/ 20638 w 468"/>
                <a:gd name="T43" fmla="*/ 47544 h 591"/>
                <a:gd name="T44" fmla="*/ 17463 w 468"/>
                <a:gd name="T45" fmla="*/ 57053 h 591"/>
                <a:gd name="T46" fmla="*/ 10319 w 468"/>
                <a:gd name="T47" fmla="*/ 63393 h 591"/>
                <a:gd name="T48" fmla="*/ 14288 w 468"/>
                <a:gd name="T49" fmla="*/ 68939 h 591"/>
                <a:gd name="T50" fmla="*/ 10319 w 468"/>
                <a:gd name="T51" fmla="*/ 76071 h 591"/>
                <a:gd name="T52" fmla="*/ 3969 w 468"/>
                <a:gd name="T53" fmla="*/ 82410 h 591"/>
                <a:gd name="T54" fmla="*/ 7144 w 468"/>
                <a:gd name="T55" fmla="*/ 87957 h 591"/>
                <a:gd name="T56" fmla="*/ 0 w 468"/>
                <a:gd name="T57" fmla="*/ 91919 h 591"/>
                <a:gd name="T58" fmla="*/ 0 w 468"/>
                <a:gd name="T59" fmla="*/ 101428 h 59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68"/>
                <a:gd name="T91" fmla="*/ 0 h 591"/>
                <a:gd name="T92" fmla="*/ 468 w 468"/>
                <a:gd name="T93" fmla="*/ 591 h 59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68" h="591">
                  <a:moveTo>
                    <a:pt x="0" y="512"/>
                  </a:moveTo>
                  <a:lnTo>
                    <a:pt x="0" y="512"/>
                  </a:lnTo>
                  <a:lnTo>
                    <a:pt x="52" y="575"/>
                  </a:lnTo>
                  <a:lnTo>
                    <a:pt x="140" y="591"/>
                  </a:lnTo>
                  <a:lnTo>
                    <a:pt x="157" y="575"/>
                  </a:lnTo>
                  <a:lnTo>
                    <a:pt x="123" y="543"/>
                  </a:lnTo>
                  <a:lnTo>
                    <a:pt x="104" y="512"/>
                  </a:lnTo>
                  <a:lnTo>
                    <a:pt x="104" y="431"/>
                  </a:lnTo>
                  <a:lnTo>
                    <a:pt x="123" y="399"/>
                  </a:lnTo>
                  <a:lnTo>
                    <a:pt x="244" y="207"/>
                  </a:lnTo>
                  <a:lnTo>
                    <a:pt x="330" y="144"/>
                  </a:lnTo>
                  <a:lnTo>
                    <a:pt x="468" y="80"/>
                  </a:lnTo>
                  <a:lnTo>
                    <a:pt x="468" y="15"/>
                  </a:lnTo>
                  <a:lnTo>
                    <a:pt x="434" y="0"/>
                  </a:lnTo>
                  <a:lnTo>
                    <a:pt x="399" y="32"/>
                  </a:lnTo>
                  <a:lnTo>
                    <a:pt x="365" y="63"/>
                  </a:lnTo>
                  <a:lnTo>
                    <a:pt x="313" y="80"/>
                  </a:lnTo>
                  <a:lnTo>
                    <a:pt x="261" y="80"/>
                  </a:lnTo>
                  <a:lnTo>
                    <a:pt x="209" y="111"/>
                  </a:lnTo>
                  <a:lnTo>
                    <a:pt x="157" y="176"/>
                  </a:lnTo>
                  <a:lnTo>
                    <a:pt x="104" y="207"/>
                  </a:lnTo>
                  <a:lnTo>
                    <a:pt x="104" y="240"/>
                  </a:lnTo>
                  <a:lnTo>
                    <a:pt x="86" y="288"/>
                  </a:lnTo>
                  <a:lnTo>
                    <a:pt x="52" y="320"/>
                  </a:lnTo>
                  <a:lnTo>
                    <a:pt x="69" y="351"/>
                  </a:lnTo>
                  <a:lnTo>
                    <a:pt x="52" y="384"/>
                  </a:lnTo>
                  <a:lnTo>
                    <a:pt x="17" y="416"/>
                  </a:lnTo>
                  <a:lnTo>
                    <a:pt x="35" y="447"/>
                  </a:lnTo>
                  <a:lnTo>
                    <a:pt x="0" y="464"/>
                  </a:lnTo>
                  <a:lnTo>
                    <a:pt x="0" y="51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45" name="Freeform 173">
              <a:extLst>
                <a:ext uri="{FF2B5EF4-FFF2-40B4-BE49-F238E27FC236}">
                  <a16:creationId xmlns:a16="http://schemas.microsoft.com/office/drawing/2014/main" id="{01309975-B5B2-4495-BB7B-9D7B75B88A51}"/>
                </a:ext>
              </a:extLst>
            </p:cNvPr>
            <p:cNvSpPr>
              <a:spLocks/>
            </p:cNvSpPr>
            <p:nvPr>
              <p:custDataLst>
                <p:tags r:id="rId174"/>
              </p:custDataLst>
            </p:nvPr>
          </p:nvSpPr>
          <p:spPr bwMode="auto">
            <a:xfrm>
              <a:off x="8462965" y="2361033"/>
              <a:ext cx="45741" cy="56296"/>
            </a:xfrm>
            <a:custGeom>
              <a:avLst/>
              <a:gdLst>
                <a:gd name="T0" fmla="*/ 0 w 52"/>
                <a:gd name="T1" fmla="*/ 12902 h 63"/>
                <a:gd name="T2" fmla="*/ 0 w 52"/>
                <a:gd name="T3" fmla="*/ 12902 h 63"/>
                <a:gd name="T4" fmla="*/ 7144 w 52"/>
                <a:gd name="T5" fmla="*/ 9676 h 63"/>
                <a:gd name="T6" fmla="*/ 10319 w 52"/>
                <a:gd name="T7" fmla="*/ 6451 h 63"/>
                <a:gd name="T8" fmla="*/ 3969 w 52"/>
                <a:gd name="T9" fmla="*/ 0 h 63"/>
                <a:gd name="T10" fmla="*/ 0 w 52"/>
                <a:gd name="T11" fmla="*/ 6451 h 63"/>
                <a:gd name="T12" fmla="*/ 0 w 52"/>
                <a:gd name="T13" fmla="*/ 12902 h 63"/>
                <a:gd name="T14" fmla="*/ 0 60000 65536"/>
                <a:gd name="T15" fmla="*/ 0 60000 65536"/>
                <a:gd name="T16" fmla="*/ 0 60000 65536"/>
                <a:gd name="T17" fmla="*/ 0 60000 65536"/>
                <a:gd name="T18" fmla="*/ 0 60000 65536"/>
                <a:gd name="T19" fmla="*/ 0 60000 65536"/>
                <a:gd name="T20" fmla="*/ 0 60000 65536"/>
                <a:gd name="T21" fmla="*/ 0 w 52"/>
                <a:gd name="T22" fmla="*/ 0 h 63"/>
                <a:gd name="T23" fmla="*/ 52 w 52"/>
                <a:gd name="T24" fmla="*/ 63 h 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 h="63">
                  <a:moveTo>
                    <a:pt x="0" y="63"/>
                  </a:moveTo>
                  <a:lnTo>
                    <a:pt x="0" y="63"/>
                  </a:lnTo>
                  <a:lnTo>
                    <a:pt x="34" y="48"/>
                  </a:lnTo>
                  <a:lnTo>
                    <a:pt x="52" y="31"/>
                  </a:lnTo>
                  <a:lnTo>
                    <a:pt x="17" y="0"/>
                  </a:lnTo>
                  <a:lnTo>
                    <a:pt x="0" y="31"/>
                  </a:lnTo>
                  <a:lnTo>
                    <a:pt x="0" y="6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46" name="Freeform 174">
              <a:extLst>
                <a:ext uri="{FF2B5EF4-FFF2-40B4-BE49-F238E27FC236}">
                  <a16:creationId xmlns:a16="http://schemas.microsoft.com/office/drawing/2014/main" id="{16A89BE4-2612-4921-B649-777694227551}"/>
                </a:ext>
              </a:extLst>
            </p:cNvPr>
            <p:cNvSpPr>
              <a:spLocks/>
            </p:cNvSpPr>
            <p:nvPr>
              <p:custDataLst>
                <p:tags r:id="rId175"/>
              </p:custDataLst>
            </p:nvPr>
          </p:nvSpPr>
          <p:spPr bwMode="auto">
            <a:xfrm>
              <a:off x="8332780" y="1773443"/>
              <a:ext cx="172407" cy="49259"/>
            </a:xfrm>
            <a:custGeom>
              <a:avLst/>
              <a:gdLst>
                <a:gd name="T0" fmla="*/ 32544 w 196"/>
                <a:gd name="T1" fmla="*/ 3969 h 56"/>
                <a:gd name="T2" fmla="*/ 28575 w 196"/>
                <a:gd name="T3" fmla="*/ 3969 h 56"/>
                <a:gd name="T4" fmla="*/ 24606 w 196"/>
                <a:gd name="T5" fmla="*/ 3969 h 56"/>
                <a:gd name="T6" fmla="*/ 24606 w 196"/>
                <a:gd name="T7" fmla="*/ 7938 h 56"/>
                <a:gd name="T8" fmla="*/ 20637 w 196"/>
                <a:gd name="T9" fmla="*/ 11113 h 56"/>
                <a:gd name="T10" fmla="*/ 20637 w 196"/>
                <a:gd name="T11" fmla="*/ 7938 h 56"/>
                <a:gd name="T12" fmla="*/ 18256 w 196"/>
                <a:gd name="T13" fmla="*/ 7938 h 56"/>
                <a:gd name="T14" fmla="*/ 15081 w 196"/>
                <a:gd name="T15" fmla="*/ 3969 h 56"/>
                <a:gd name="T16" fmla="*/ 18256 w 196"/>
                <a:gd name="T17" fmla="*/ 3969 h 56"/>
                <a:gd name="T18" fmla="*/ 20637 w 196"/>
                <a:gd name="T19" fmla="*/ 3969 h 56"/>
                <a:gd name="T20" fmla="*/ 18256 w 196"/>
                <a:gd name="T21" fmla="*/ 3969 h 56"/>
                <a:gd name="T22" fmla="*/ 15081 w 196"/>
                <a:gd name="T23" fmla="*/ 3969 h 56"/>
                <a:gd name="T24" fmla="*/ 18256 w 196"/>
                <a:gd name="T25" fmla="*/ 3969 h 56"/>
                <a:gd name="T26" fmla="*/ 15081 w 196"/>
                <a:gd name="T27" fmla="*/ 0 h 56"/>
                <a:gd name="T28" fmla="*/ 10319 w 196"/>
                <a:gd name="T29" fmla="*/ 3969 h 56"/>
                <a:gd name="T30" fmla="*/ 7144 w 196"/>
                <a:gd name="T31" fmla="*/ 3969 h 56"/>
                <a:gd name="T32" fmla="*/ 3969 w 196"/>
                <a:gd name="T33" fmla="*/ 3969 h 56"/>
                <a:gd name="T34" fmla="*/ 0 w 196"/>
                <a:gd name="T35" fmla="*/ 3969 h 56"/>
                <a:gd name="T36" fmla="*/ 3969 w 196"/>
                <a:gd name="T37" fmla="*/ 0 h 56"/>
                <a:gd name="T38" fmla="*/ 10319 w 196"/>
                <a:gd name="T39" fmla="*/ 0 h 56"/>
                <a:gd name="T40" fmla="*/ 18256 w 196"/>
                <a:gd name="T41" fmla="*/ 0 h 56"/>
                <a:gd name="T42" fmla="*/ 20637 w 196"/>
                <a:gd name="T43" fmla="*/ 0 h 56"/>
                <a:gd name="T44" fmla="*/ 28575 w 196"/>
                <a:gd name="T45" fmla="*/ 0 h 56"/>
                <a:gd name="T46" fmla="*/ 32544 w 196"/>
                <a:gd name="T47" fmla="*/ 0 h 56"/>
                <a:gd name="T48" fmla="*/ 35719 w 196"/>
                <a:gd name="T49" fmla="*/ 0 h 56"/>
                <a:gd name="T50" fmla="*/ 38894 w 196"/>
                <a:gd name="T51" fmla="*/ 0 h 56"/>
                <a:gd name="T52" fmla="*/ 38894 w 196"/>
                <a:gd name="T53" fmla="*/ 3969 h 56"/>
                <a:gd name="T54" fmla="*/ 35719 w 196"/>
                <a:gd name="T55" fmla="*/ 3969 h 56"/>
                <a:gd name="T56" fmla="*/ 32544 w 196"/>
                <a:gd name="T57" fmla="*/ 3969 h 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96"/>
                <a:gd name="T88" fmla="*/ 0 h 56"/>
                <a:gd name="T89" fmla="*/ 196 w 196"/>
                <a:gd name="T90" fmla="*/ 56 h 5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96" h="56">
                  <a:moveTo>
                    <a:pt x="161" y="17"/>
                  </a:moveTo>
                  <a:lnTo>
                    <a:pt x="144" y="17"/>
                  </a:lnTo>
                  <a:lnTo>
                    <a:pt x="125" y="17"/>
                  </a:lnTo>
                  <a:lnTo>
                    <a:pt x="125" y="37"/>
                  </a:lnTo>
                  <a:lnTo>
                    <a:pt x="107" y="56"/>
                  </a:lnTo>
                  <a:lnTo>
                    <a:pt x="107" y="37"/>
                  </a:lnTo>
                  <a:lnTo>
                    <a:pt x="90" y="37"/>
                  </a:lnTo>
                  <a:lnTo>
                    <a:pt x="73" y="17"/>
                  </a:lnTo>
                  <a:lnTo>
                    <a:pt x="90" y="17"/>
                  </a:lnTo>
                  <a:lnTo>
                    <a:pt x="107" y="17"/>
                  </a:lnTo>
                  <a:lnTo>
                    <a:pt x="90" y="17"/>
                  </a:lnTo>
                  <a:lnTo>
                    <a:pt x="73" y="17"/>
                  </a:lnTo>
                  <a:lnTo>
                    <a:pt x="90" y="17"/>
                  </a:lnTo>
                  <a:lnTo>
                    <a:pt x="73" y="0"/>
                  </a:lnTo>
                  <a:lnTo>
                    <a:pt x="54" y="17"/>
                  </a:lnTo>
                  <a:lnTo>
                    <a:pt x="36" y="17"/>
                  </a:lnTo>
                  <a:lnTo>
                    <a:pt x="19" y="17"/>
                  </a:lnTo>
                  <a:lnTo>
                    <a:pt x="0" y="17"/>
                  </a:lnTo>
                  <a:lnTo>
                    <a:pt x="19" y="0"/>
                  </a:lnTo>
                  <a:lnTo>
                    <a:pt x="54" y="0"/>
                  </a:lnTo>
                  <a:lnTo>
                    <a:pt x="90" y="0"/>
                  </a:lnTo>
                  <a:lnTo>
                    <a:pt x="107" y="0"/>
                  </a:lnTo>
                  <a:lnTo>
                    <a:pt x="144" y="0"/>
                  </a:lnTo>
                  <a:lnTo>
                    <a:pt x="161" y="0"/>
                  </a:lnTo>
                  <a:lnTo>
                    <a:pt x="178" y="0"/>
                  </a:lnTo>
                  <a:lnTo>
                    <a:pt x="196" y="0"/>
                  </a:lnTo>
                  <a:lnTo>
                    <a:pt x="196" y="17"/>
                  </a:lnTo>
                  <a:lnTo>
                    <a:pt x="178" y="17"/>
                  </a:lnTo>
                  <a:lnTo>
                    <a:pt x="161" y="17"/>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47" name="Freeform 175">
              <a:extLst>
                <a:ext uri="{FF2B5EF4-FFF2-40B4-BE49-F238E27FC236}">
                  <a16:creationId xmlns:a16="http://schemas.microsoft.com/office/drawing/2014/main" id="{120D6720-C8A0-41EF-9038-F4616EABB9A1}"/>
                </a:ext>
              </a:extLst>
            </p:cNvPr>
            <p:cNvSpPr>
              <a:spLocks/>
            </p:cNvSpPr>
            <p:nvPr>
              <p:custDataLst>
                <p:tags r:id="rId176"/>
              </p:custDataLst>
            </p:nvPr>
          </p:nvSpPr>
          <p:spPr bwMode="auto">
            <a:xfrm>
              <a:off x="8584353" y="1708350"/>
              <a:ext cx="96759" cy="80926"/>
            </a:xfrm>
            <a:custGeom>
              <a:avLst/>
              <a:gdLst>
                <a:gd name="T0" fmla="*/ 18424 w 109"/>
                <a:gd name="T1" fmla="*/ 15081 h 92"/>
                <a:gd name="T2" fmla="*/ 15220 w 109"/>
                <a:gd name="T3" fmla="*/ 15081 h 92"/>
                <a:gd name="T4" fmla="*/ 11215 w 109"/>
                <a:gd name="T5" fmla="*/ 18256 h 92"/>
                <a:gd name="T6" fmla="*/ 7209 w 109"/>
                <a:gd name="T7" fmla="*/ 18256 h 92"/>
                <a:gd name="T8" fmla="*/ 0 w 109"/>
                <a:gd name="T9" fmla="*/ 15081 h 92"/>
                <a:gd name="T10" fmla="*/ 0 w 109"/>
                <a:gd name="T11" fmla="*/ 11112 h 92"/>
                <a:gd name="T12" fmla="*/ 4005 w 109"/>
                <a:gd name="T13" fmla="*/ 11112 h 92"/>
                <a:gd name="T14" fmla="*/ 11215 w 109"/>
                <a:gd name="T15" fmla="*/ 11112 h 92"/>
                <a:gd name="T16" fmla="*/ 11215 w 109"/>
                <a:gd name="T17" fmla="*/ 7938 h 92"/>
                <a:gd name="T18" fmla="*/ 7209 w 109"/>
                <a:gd name="T19" fmla="*/ 11112 h 92"/>
                <a:gd name="T20" fmla="*/ 7209 w 109"/>
                <a:gd name="T21" fmla="*/ 7938 h 92"/>
                <a:gd name="T22" fmla="*/ 11215 w 109"/>
                <a:gd name="T23" fmla="*/ 7938 h 92"/>
                <a:gd name="T24" fmla="*/ 15220 w 109"/>
                <a:gd name="T25" fmla="*/ 7938 h 92"/>
                <a:gd name="T26" fmla="*/ 18424 w 109"/>
                <a:gd name="T27" fmla="*/ 3969 h 92"/>
                <a:gd name="T28" fmla="*/ 22429 w 109"/>
                <a:gd name="T29" fmla="*/ 3969 h 92"/>
                <a:gd name="T30" fmla="*/ 22429 w 109"/>
                <a:gd name="T31" fmla="*/ 0 h 92"/>
                <a:gd name="T32" fmla="*/ 22429 w 109"/>
                <a:gd name="T33" fmla="*/ 3969 h 92"/>
                <a:gd name="T34" fmla="*/ 22429 w 109"/>
                <a:gd name="T35" fmla="*/ 7938 h 92"/>
                <a:gd name="T36" fmla="*/ 18424 w 109"/>
                <a:gd name="T37" fmla="*/ 7938 h 92"/>
                <a:gd name="T38" fmla="*/ 15220 w 109"/>
                <a:gd name="T39" fmla="*/ 7938 h 92"/>
                <a:gd name="T40" fmla="*/ 11215 w 109"/>
                <a:gd name="T41" fmla="*/ 11112 h 92"/>
                <a:gd name="T42" fmla="*/ 15220 w 109"/>
                <a:gd name="T43" fmla="*/ 11112 h 92"/>
                <a:gd name="T44" fmla="*/ 22429 w 109"/>
                <a:gd name="T45" fmla="*/ 11112 h 92"/>
                <a:gd name="T46" fmla="*/ 22429 w 109"/>
                <a:gd name="T47" fmla="*/ 15081 h 92"/>
                <a:gd name="T48" fmla="*/ 18424 w 109"/>
                <a:gd name="T49" fmla="*/ 15081 h 9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9"/>
                <a:gd name="T76" fmla="*/ 0 h 92"/>
                <a:gd name="T77" fmla="*/ 109 w 109"/>
                <a:gd name="T78" fmla="*/ 92 h 9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9" h="92">
                  <a:moveTo>
                    <a:pt x="90" y="73"/>
                  </a:moveTo>
                  <a:lnTo>
                    <a:pt x="73" y="73"/>
                  </a:lnTo>
                  <a:lnTo>
                    <a:pt x="54" y="92"/>
                  </a:lnTo>
                  <a:lnTo>
                    <a:pt x="36" y="92"/>
                  </a:lnTo>
                  <a:lnTo>
                    <a:pt x="0" y="73"/>
                  </a:lnTo>
                  <a:lnTo>
                    <a:pt x="0" y="56"/>
                  </a:lnTo>
                  <a:lnTo>
                    <a:pt x="19" y="56"/>
                  </a:lnTo>
                  <a:lnTo>
                    <a:pt x="54" y="56"/>
                  </a:lnTo>
                  <a:lnTo>
                    <a:pt x="54" y="37"/>
                  </a:lnTo>
                  <a:lnTo>
                    <a:pt x="36" y="56"/>
                  </a:lnTo>
                  <a:lnTo>
                    <a:pt x="36" y="37"/>
                  </a:lnTo>
                  <a:lnTo>
                    <a:pt x="54" y="37"/>
                  </a:lnTo>
                  <a:lnTo>
                    <a:pt x="73" y="37"/>
                  </a:lnTo>
                  <a:lnTo>
                    <a:pt x="90" y="20"/>
                  </a:lnTo>
                  <a:lnTo>
                    <a:pt x="109" y="20"/>
                  </a:lnTo>
                  <a:lnTo>
                    <a:pt x="109" y="0"/>
                  </a:lnTo>
                  <a:lnTo>
                    <a:pt x="109" y="20"/>
                  </a:lnTo>
                  <a:lnTo>
                    <a:pt x="109" y="37"/>
                  </a:lnTo>
                  <a:lnTo>
                    <a:pt x="90" y="37"/>
                  </a:lnTo>
                  <a:lnTo>
                    <a:pt x="73" y="37"/>
                  </a:lnTo>
                  <a:lnTo>
                    <a:pt x="54" y="56"/>
                  </a:lnTo>
                  <a:lnTo>
                    <a:pt x="73" y="56"/>
                  </a:lnTo>
                  <a:lnTo>
                    <a:pt x="109" y="56"/>
                  </a:lnTo>
                  <a:lnTo>
                    <a:pt x="109" y="73"/>
                  </a:lnTo>
                  <a:lnTo>
                    <a:pt x="90" y="73"/>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48" name="Freeform 176">
              <a:extLst>
                <a:ext uri="{FF2B5EF4-FFF2-40B4-BE49-F238E27FC236}">
                  <a16:creationId xmlns:a16="http://schemas.microsoft.com/office/drawing/2014/main" id="{A3625366-0F72-4BAC-AC4D-06EC83CDF36B}"/>
                </a:ext>
              </a:extLst>
            </p:cNvPr>
            <p:cNvSpPr>
              <a:spLocks/>
            </p:cNvSpPr>
            <p:nvPr>
              <p:custDataLst>
                <p:tags r:id="rId177"/>
              </p:custDataLst>
            </p:nvPr>
          </p:nvSpPr>
          <p:spPr bwMode="auto">
            <a:xfrm>
              <a:off x="7548155" y="1822702"/>
              <a:ext cx="313147" cy="179444"/>
            </a:xfrm>
            <a:custGeom>
              <a:avLst/>
              <a:gdLst>
                <a:gd name="T0" fmla="*/ 56198 w 357"/>
                <a:gd name="T1" fmla="*/ 29513 h 203"/>
                <a:gd name="T2" fmla="*/ 49866 w 357"/>
                <a:gd name="T3" fmla="*/ 29513 h 203"/>
                <a:gd name="T4" fmla="*/ 53032 w 357"/>
                <a:gd name="T5" fmla="*/ 25525 h 203"/>
                <a:gd name="T6" fmla="*/ 49866 w 357"/>
                <a:gd name="T7" fmla="*/ 18346 h 203"/>
                <a:gd name="T8" fmla="*/ 49866 w 357"/>
                <a:gd name="T9" fmla="*/ 18346 h 203"/>
                <a:gd name="T10" fmla="*/ 41951 w 357"/>
                <a:gd name="T11" fmla="*/ 18346 h 203"/>
                <a:gd name="T12" fmla="*/ 38785 w 357"/>
                <a:gd name="T13" fmla="*/ 29513 h 203"/>
                <a:gd name="T14" fmla="*/ 34827 w 357"/>
                <a:gd name="T15" fmla="*/ 36692 h 203"/>
                <a:gd name="T16" fmla="*/ 31661 w 357"/>
                <a:gd name="T17" fmla="*/ 40681 h 203"/>
                <a:gd name="T18" fmla="*/ 20580 w 357"/>
                <a:gd name="T19" fmla="*/ 36692 h 203"/>
                <a:gd name="T20" fmla="*/ 20580 w 357"/>
                <a:gd name="T21" fmla="*/ 29513 h 203"/>
                <a:gd name="T22" fmla="*/ 27703 w 357"/>
                <a:gd name="T23" fmla="*/ 29513 h 203"/>
                <a:gd name="T24" fmla="*/ 20580 w 357"/>
                <a:gd name="T25" fmla="*/ 29513 h 203"/>
                <a:gd name="T26" fmla="*/ 13456 w 357"/>
                <a:gd name="T27" fmla="*/ 29513 h 203"/>
                <a:gd name="T28" fmla="*/ 17414 w 357"/>
                <a:gd name="T29" fmla="*/ 22334 h 203"/>
                <a:gd name="T30" fmla="*/ 24537 w 357"/>
                <a:gd name="T31" fmla="*/ 22334 h 203"/>
                <a:gd name="T32" fmla="*/ 27703 w 357"/>
                <a:gd name="T33" fmla="*/ 18346 h 203"/>
                <a:gd name="T34" fmla="*/ 20580 w 357"/>
                <a:gd name="T35" fmla="*/ 18346 h 203"/>
                <a:gd name="T36" fmla="*/ 13456 w 357"/>
                <a:gd name="T37" fmla="*/ 22334 h 203"/>
                <a:gd name="T38" fmla="*/ 10290 w 357"/>
                <a:gd name="T39" fmla="*/ 18346 h 203"/>
                <a:gd name="T40" fmla="*/ 10290 w 357"/>
                <a:gd name="T41" fmla="*/ 18346 h 203"/>
                <a:gd name="T42" fmla="*/ 3166 w 357"/>
                <a:gd name="T43" fmla="*/ 15156 h 203"/>
                <a:gd name="T44" fmla="*/ 0 w 357"/>
                <a:gd name="T45" fmla="*/ 11167 h 203"/>
                <a:gd name="T46" fmla="*/ 0 w 357"/>
                <a:gd name="T47" fmla="*/ 3988 h 203"/>
                <a:gd name="T48" fmla="*/ 6332 w 357"/>
                <a:gd name="T49" fmla="*/ 3988 h 203"/>
                <a:gd name="T50" fmla="*/ 13456 w 357"/>
                <a:gd name="T51" fmla="*/ 3988 h 203"/>
                <a:gd name="T52" fmla="*/ 13456 w 357"/>
                <a:gd name="T53" fmla="*/ 3988 h 203"/>
                <a:gd name="T54" fmla="*/ 13456 w 357"/>
                <a:gd name="T55" fmla="*/ 7179 h 203"/>
                <a:gd name="T56" fmla="*/ 17414 w 357"/>
                <a:gd name="T57" fmla="*/ 3988 h 203"/>
                <a:gd name="T58" fmla="*/ 24537 w 357"/>
                <a:gd name="T59" fmla="*/ 7179 h 203"/>
                <a:gd name="T60" fmla="*/ 24537 w 357"/>
                <a:gd name="T61" fmla="*/ 7179 h 203"/>
                <a:gd name="T62" fmla="*/ 24537 w 357"/>
                <a:gd name="T63" fmla="*/ 0 h 203"/>
                <a:gd name="T64" fmla="*/ 31661 w 357"/>
                <a:gd name="T65" fmla="*/ 0 h 203"/>
                <a:gd name="T66" fmla="*/ 34827 w 357"/>
                <a:gd name="T67" fmla="*/ 3988 h 203"/>
                <a:gd name="T68" fmla="*/ 41951 w 357"/>
                <a:gd name="T69" fmla="*/ 3988 h 203"/>
                <a:gd name="T70" fmla="*/ 41951 w 357"/>
                <a:gd name="T71" fmla="*/ 11167 h 203"/>
                <a:gd name="T72" fmla="*/ 56198 w 357"/>
                <a:gd name="T73" fmla="*/ 18346 h 203"/>
                <a:gd name="T74" fmla="*/ 63322 w 357"/>
                <a:gd name="T75" fmla="*/ 18346 h 203"/>
                <a:gd name="T76" fmla="*/ 70446 w 357"/>
                <a:gd name="T77" fmla="*/ 29513 h 203"/>
                <a:gd name="T78" fmla="*/ 63322 w 357"/>
                <a:gd name="T79" fmla="*/ 33502 h 20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57"/>
                <a:gd name="T121" fmla="*/ 0 h 203"/>
                <a:gd name="T122" fmla="*/ 357 w 357"/>
                <a:gd name="T123" fmla="*/ 203 h 20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57" h="203">
                  <a:moveTo>
                    <a:pt x="286" y="167"/>
                  </a:moveTo>
                  <a:lnTo>
                    <a:pt x="286" y="148"/>
                  </a:lnTo>
                  <a:lnTo>
                    <a:pt x="269" y="148"/>
                  </a:lnTo>
                  <a:lnTo>
                    <a:pt x="252" y="148"/>
                  </a:lnTo>
                  <a:lnTo>
                    <a:pt x="269" y="148"/>
                  </a:lnTo>
                  <a:lnTo>
                    <a:pt x="269" y="128"/>
                  </a:lnTo>
                  <a:lnTo>
                    <a:pt x="252" y="109"/>
                  </a:lnTo>
                  <a:lnTo>
                    <a:pt x="252" y="92"/>
                  </a:lnTo>
                  <a:lnTo>
                    <a:pt x="269" y="92"/>
                  </a:lnTo>
                  <a:lnTo>
                    <a:pt x="252" y="92"/>
                  </a:lnTo>
                  <a:lnTo>
                    <a:pt x="231" y="92"/>
                  </a:lnTo>
                  <a:lnTo>
                    <a:pt x="213" y="92"/>
                  </a:lnTo>
                  <a:lnTo>
                    <a:pt x="213" y="128"/>
                  </a:lnTo>
                  <a:lnTo>
                    <a:pt x="196" y="148"/>
                  </a:lnTo>
                  <a:lnTo>
                    <a:pt x="179" y="148"/>
                  </a:lnTo>
                  <a:lnTo>
                    <a:pt x="179" y="184"/>
                  </a:lnTo>
                  <a:lnTo>
                    <a:pt x="179" y="203"/>
                  </a:lnTo>
                  <a:lnTo>
                    <a:pt x="160" y="203"/>
                  </a:lnTo>
                  <a:lnTo>
                    <a:pt x="125" y="203"/>
                  </a:lnTo>
                  <a:lnTo>
                    <a:pt x="106" y="184"/>
                  </a:lnTo>
                  <a:lnTo>
                    <a:pt x="71" y="148"/>
                  </a:lnTo>
                  <a:lnTo>
                    <a:pt x="106" y="148"/>
                  </a:lnTo>
                  <a:lnTo>
                    <a:pt x="125" y="148"/>
                  </a:lnTo>
                  <a:lnTo>
                    <a:pt x="142" y="148"/>
                  </a:lnTo>
                  <a:lnTo>
                    <a:pt x="125" y="148"/>
                  </a:lnTo>
                  <a:lnTo>
                    <a:pt x="106" y="148"/>
                  </a:lnTo>
                  <a:lnTo>
                    <a:pt x="89" y="148"/>
                  </a:lnTo>
                  <a:lnTo>
                    <a:pt x="71" y="148"/>
                  </a:lnTo>
                  <a:lnTo>
                    <a:pt x="71" y="128"/>
                  </a:lnTo>
                  <a:lnTo>
                    <a:pt x="89" y="109"/>
                  </a:lnTo>
                  <a:lnTo>
                    <a:pt x="106" y="109"/>
                  </a:lnTo>
                  <a:lnTo>
                    <a:pt x="125" y="109"/>
                  </a:lnTo>
                  <a:lnTo>
                    <a:pt x="125" y="92"/>
                  </a:lnTo>
                  <a:lnTo>
                    <a:pt x="142" y="92"/>
                  </a:lnTo>
                  <a:lnTo>
                    <a:pt x="125" y="92"/>
                  </a:lnTo>
                  <a:lnTo>
                    <a:pt x="106" y="92"/>
                  </a:lnTo>
                  <a:lnTo>
                    <a:pt x="89" y="92"/>
                  </a:lnTo>
                  <a:lnTo>
                    <a:pt x="71" y="109"/>
                  </a:lnTo>
                  <a:lnTo>
                    <a:pt x="54" y="109"/>
                  </a:lnTo>
                  <a:lnTo>
                    <a:pt x="54" y="92"/>
                  </a:lnTo>
                  <a:lnTo>
                    <a:pt x="35" y="92"/>
                  </a:lnTo>
                  <a:lnTo>
                    <a:pt x="54" y="92"/>
                  </a:lnTo>
                  <a:lnTo>
                    <a:pt x="35" y="92"/>
                  </a:lnTo>
                  <a:lnTo>
                    <a:pt x="17" y="73"/>
                  </a:lnTo>
                  <a:lnTo>
                    <a:pt x="17" y="54"/>
                  </a:lnTo>
                  <a:lnTo>
                    <a:pt x="0" y="54"/>
                  </a:lnTo>
                  <a:lnTo>
                    <a:pt x="0" y="36"/>
                  </a:lnTo>
                  <a:lnTo>
                    <a:pt x="0" y="19"/>
                  </a:lnTo>
                  <a:lnTo>
                    <a:pt x="17" y="19"/>
                  </a:lnTo>
                  <a:lnTo>
                    <a:pt x="35" y="19"/>
                  </a:lnTo>
                  <a:lnTo>
                    <a:pt x="54" y="19"/>
                  </a:lnTo>
                  <a:lnTo>
                    <a:pt x="71" y="19"/>
                  </a:lnTo>
                  <a:lnTo>
                    <a:pt x="54" y="19"/>
                  </a:lnTo>
                  <a:lnTo>
                    <a:pt x="71" y="19"/>
                  </a:lnTo>
                  <a:lnTo>
                    <a:pt x="89" y="36"/>
                  </a:lnTo>
                  <a:lnTo>
                    <a:pt x="71" y="36"/>
                  </a:lnTo>
                  <a:lnTo>
                    <a:pt x="71" y="19"/>
                  </a:lnTo>
                  <a:lnTo>
                    <a:pt x="89" y="19"/>
                  </a:lnTo>
                  <a:lnTo>
                    <a:pt x="125" y="19"/>
                  </a:lnTo>
                  <a:lnTo>
                    <a:pt x="125" y="36"/>
                  </a:lnTo>
                  <a:lnTo>
                    <a:pt x="142" y="54"/>
                  </a:lnTo>
                  <a:lnTo>
                    <a:pt x="125" y="36"/>
                  </a:lnTo>
                  <a:lnTo>
                    <a:pt x="125" y="19"/>
                  </a:lnTo>
                  <a:lnTo>
                    <a:pt x="125" y="0"/>
                  </a:lnTo>
                  <a:lnTo>
                    <a:pt x="142" y="0"/>
                  </a:lnTo>
                  <a:lnTo>
                    <a:pt x="160" y="0"/>
                  </a:lnTo>
                  <a:lnTo>
                    <a:pt x="179" y="0"/>
                  </a:lnTo>
                  <a:lnTo>
                    <a:pt x="179" y="19"/>
                  </a:lnTo>
                  <a:lnTo>
                    <a:pt x="196" y="19"/>
                  </a:lnTo>
                  <a:lnTo>
                    <a:pt x="213" y="19"/>
                  </a:lnTo>
                  <a:lnTo>
                    <a:pt x="213" y="36"/>
                  </a:lnTo>
                  <a:lnTo>
                    <a:pt x="213" y="54"/>
                  </a:lnTo>
                  <a:lnTo>
                    <a:pt x="269" y="73"/>
                  </a:lnTo>
                  <a:lnTo>
                    <a:pt x="286" y="92"/>
                  </a:lnTo>
                  <a:lnTo>
                    <a:pt x="304" y="92"/>
                  </a:lnTo>
                  <a:lnTo>
                    <a:pt x="323" y="92"/>
                  </a:lnTo>
                  <a:lnTo>
                    <a:pt x="340" y="128"/>
                  </a:lnTo>
                  <a:lnTo>
                    <a:pt x="357" y="148"/>
                  </a:lnTo>
                  <a:lnTo>
                    <a:pt x="340" y="148"/>
                  </a:lnTo>
                  <a:lnTo>
                    <a:pt x="323" y="167"/>
                  </a:lnTo>
                  <a:lnTo>
                    <a:pt x="286" y="16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49" name="Freeform 177">
              <a:extLst>
                <a:ext uri="{FF2B5EF4-FFF2-40B4-BE49-F238E27FC236}">
                  <a16:creationId xmlns:a16="http://schemas.microsoft.com/office/drawing/2014/main" id="{A4F7C1FF-698F-487D-82E3-337174BADB04}"/>
                </a:ext>
              </a:extLst>
            </p:cNvPr>
            <p:cNvSpPr>
              <a:spLocks/>
            </p:cNvSpPr>
            <p:nvPr>
              <p:custDataLst>
                <p:tags r:id="rId178"/>
              </p:custDataLst>
            </p:nvPr>
          </p:nvSpPr>
          <p:spPr bwMode="auto">
            <a:xfrm>
              <a:off x="7706486" y="1789276"/>
              <a:ext cx="219907" cy="80926"/>
            </a:xfrm>
            <a:custGeom>
              <a:avLst/>
              <a:gdLst>
                <a:gd name="T0" fmla="*/ 50207 w 249"/>
                <a:gd name="T1" fmla="*/ 7067 h 93"/>
                <a:gd name="T2" fmla="*/ 43035 w 249"/>
                <a:gd name="T3" fmla="*/ 10993 h 93"/>
                <a:gd name="T4" fmla="*/ 35862 w 249"/>
                <a:gd name="T5" fmla="*/ 14134 h 93"/>
                <a:gd name="T6" fmla="*/ 28690 w 249"/>
                <a:gd name="T7" fmla="*/ 18060 h 93"/>
                <a:gd name="T8" fmla="*/ 24705 w 249"/>
                <a:gd name="T9" fmla="*/ 18060 h 93"/>
                <a:gd name="T10" fmla="*/ 24705 w 249"/>
                <a:gd name="T11" fmla="*/ 14134 h 93"/>
                <a:gd name="T12" fmla="*/ 21517 w 249"/>
                <a:gd name="T13" fmla="*/ 14134 h 93"/>
                <a:gd name="T14" fmla="*/ 14345 w 249"/>
                <a:gd name="T15" fmla="*/ 14134 h 93"/>
                <a:gd name="T16" fmla="*/ 10360 w 249"/>
                <a:gd name="T17" fmla="*/ 14134 h 93"/>
                <a:gd name="T18" fmla="*/ 7172 w 249"/>
                <a:gd name="T19" fmla="*/ 10993 h 93"/>
                <a:gd name="T20" fmla="*/ 10360 w 249"/>
                <a:gd name="T21" fmla="*/ 10993 h 93"/>
                <a:gd name="T22" fmla="*/ 14345 w 249"/>
                <a:gd name="T23" fmla="*/ 10993 h 93"/>
                <a:gd name="T24" fmla="*/ 18330 w 249"/>
                <a:gd name="T25" fmla="*/ 10993 h 93"/>
                <a:gd name="T26" fmla="*/ 14345 w 249"/>
                <a:gd name="T27" fmla="*/ 10993 h 93"/>
                <a:gd name="T28" fmla="*/ 10360 w 249"/>
                <a:gd name="T29" fmla="*/ 10993 h 93"/>
                <a:gd name="T30" fmla="*/ 7172 w 249"/>
                <a:gd name="T31" fmla="*/ 10993 h 93"/>
                <a:gd name="T32" fmla="*/ 3985 w 249"/>
                <a:gd name="T33" fmla="*/ 7067 h 93"/>
                <a:gd name="T34" fmla="*/ 0 w 249"/>
                <a:gd name="T35" fmla="*/ 3926 h 93"/>
                <a:gd name="T36" fmla="*/ 0 w 249"/>
                <a:gd name="T37" fmla="*/ 0 h 93"/>
                <a:gd name="T38" fmla="*/ 3985 w 249"/>
                <a:gd name="T39" fmla="*/ 0 h 93"/>
                <a:gd name="T40" fmla="*/ 7172 w 249"/>
                <a:gd name="T41" fmla="*/ 3926 h 93"/>
                <a:gd name="T42" fmla="*/ 7172 w 249"/>
                <a:gd name="T43" fmla="*/ 0 h 93"/>
                <a:gd name="T44" fmla="*/ 10360 w 249"/>
                <a:gd name="T45" fmla="*/ 0 h 93"/>
                <a:gd name="T46" fmla="*/ 14345 w 249"/>
                <a:gd name="T47" fmla="*/ 0 h 93"/>
                <a:gd name="T48" fmla="*/ 21517 w 249"/>
                <a:gd name="T49" fmla="*/ 3926 h 93"/>
                <a:gd name="T50" fmla="*/ 24705 w 249"/>
                <a:gd name="T51" fmla="*/ 0 h 93"/>
                <a:gd name="T52" fmla="*/ 28690 w 249"/>
                <a:gd name="T53" fmla="*/ 0 h 93"/>
                <a:gd name="T54" fmla="*/ 28690 w 249"/>
                <a:gd name="T55" fmla="*/ 3926 h 93"/>
                <a:gd name="T56" fmla="*/ 32675 w 249"/>
                <a:gd name="T57" fmla="*/ 3926 h 93"/>
                <a:gd name="T58" fmla="*/ 32675 w 249"/>
                <a:gd name="T59" fmla="*/ 0 h 93"/>
                <a:gd name="T60" fmla="*/ 35862 w 249"/>
                <a:gd name="T61" fmla="*/ 0 h 93"/>
                <a:gd name="T62" fmla="*/ 39050 w 249"/>
                <a:gd name="T63" fmla="*/ 0 h 93"/>
                <a:gd name="T64" fmla="*/ 43035 w 249"/>
                <a:gd name="T65" fmla="*/ 0 h 93"/>
                <a:gd name="T66" fmla="*/ 43035 w 249"/>
                <a:gd name="T67" fmla="*/ 3926 h 93"/>
                <a:gd name="T68" fmla="*/ 46223 w 249"/>
                <a:gd name="T69" fmla="*/ 3926 h 93"/>
                <a:gd name="T70" fmla="*/ 50207 w 249"/>
                <a:gd name="T71" fmla="*/ 7067 h 9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49"/>
                <a:gd name="T109" fmla="*/ 0 h 93"/>
                <a:gd name="T110" fmla="*/ 249 w 249"/>
                <a:gd name="T111" fmla="*/ 93 h 9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49" h="93">
                  <a:moveTo>
                    <a:pt x="249" y="39"/>
                  </a:moveTo>
                  <a:lnTo>
                    <a:pt x="213" y="56"/>
                  </a:lnTo>
                  <a:lnTo>
                    <a:pt x="178" y="75"/>
                  </a:lnTo>
                  <a:lnTo>
                    <a:pt x="142" y="93"/>
                  </a:lnTo>
                  <a:lnTo>
                    <a:pt x="124" y="93"/>
                  </a:lnTo>
                  <a:lnTo>
                    <a:pt x="124" y="75"/>
                  </a:lnTo>
                  <a:lnTo>
                    <a:pt x="107" y="75"/>
                  </a:lnTo>
                  <a:lnTo>
                    <a:pt x="71" y="75"/>
                  </a:lnTo>
                  <a:lnTo>
                    <a:pt x="51" y="75"/>
                  </a:lnTo>
                  <a:lnTo>
                    <a:pt x="34" y="56"/>
                  </a:lnTo>
                  <a:lnTo>
                    <a:pt x="51" y="56"/>
                  </a:lnTo>
                  <a:lnTo>
                    <a:pt x="71" y="56"/>
                  </a:lnTo>
                  <a:lnTo>
                    <a:pt x="90" y="56"/>
                  </a:lnTo>
                  <a:lnTo>
                    <a:pt x="71" y="56"/>
                  </a:lnTo>
                  <a:lnTo>
                    <a:pt x="51" y="56"/>
                  </a:lnTo>
                  <a:lnTo>
                    <a:pt x="34" y="56"/>
                  </a:lnTo>
                  <a:lnTo>
                    <a:pt x="17" y="39"/>
                  </a:lnTo>
                  <a:lnTo>
                    <a:pt x="0" y="20"/>
                  </a:lnTo>
                  <a:lnTo>
                    <a:pt x="0" y="0"/>
                  </a:lnTo>
                  <a:lnTo>
                    <a:pt x="17" y="0"/>
                  </a:lnTo>
                  <a:lnTo>
                    <a:pt x="34" y="20"/>
                  </a:lnTo>
                  <a:lnTo>
                    <a:pt x="34" y="0"/>
                  </a:lnTo>
                  <a:lnTo>
                    <a:pt x="51" y="0"/>
                  </a:lnTo>
                  <a:lnTo>
                    <a:pt x="71" y="0"/>
                  </a:lnTo>
                  <a:lnTo>
                    <a:pt x="107" y="20"/>
                  </a:lnTo>
                  <a:lnTo>
                    <a:pt x="124" y="0"/>
                  </a:lnTo>
                  <a:lnTo>
                    <a:pt x="142" y="0"/>
                  </a:lnTo>
                  <a:lnTo>
                    <a:pt x="142" y="20"/>
                  </a:lnTo>
                  <a:lnTo>
                    <a:pt x="161" y="20"/>
                  </a:lnTo>
                  <a:lnTo>
                    <a:pt x="161" y="0"/>
                  </a:lnTo>
                  <a:lnTo>
                    <a:pt x="178" y="0"/>
                  </a:lnTo>
                  <a:lnTo>
                    <a:pt x="195" y="0"/>
                  </a:lnTo>
                  <a:lnTo>
                    <a:pt x="213" y="0"/>
                  </a:lnTo>
                  <a:lnTo>
                    <a:pt x="213" y="20"/>
                  </a:lnTo>
                  <a:lnTo>
                    <a:pt x="232" y="20"/>
                  </a:lnTo>
                  <a:lnTo>
                    <a:pt x="249" y="39"/>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0" name="Freeform 178">
              <a:extLst>
                <a:ext uri="{FF2B5EF4-FFF2-40B4-BE49-F238E27FC236}">
                  <a16:creationId xmlns:a16="http://schemas.microsoft.com/office/drawing/2014/main" id="{323FADDB-AF8A-40AB-AF1B-D816A8AC1CA4}"/>
                </a:ext>
              </a:extLst>
            </p:cNvPr>
            <p:cNvSpPr>
              <a:spLocks/>
            </p:cNvSpPr>
            <p:nvPr>
              <p:custDataLst>
                <p:tags r:id="rId179"/>
              </p:custDataLst>
            </p:nvPr>
          </p:nvSpPr>
          <p:spPr bwMode="auto">
            <a:xfrm>
              <a:off x="7530562" y="1886035"/>
              <a:ext cx="31667" cy="33426"/>
            </a:xfrm>
            <a:custGeom>
              <a:avLst/>
              <a:gdLst>
                <a:gd name="T0" fmla="*/ 3969 w 36"/>
                <a:gd name="T1" fmla="*/ 0 h 36"/>
                <a:gd name="T2" fmla="*/ 3969 w 36"/>
                <a:gd name="T3" fmla="*/ 4189 h 36"/>
                <a:gd name="T4" fmla="*/ 7144 w 36"/>
                <a:gd name="T5" fmla="*/ 8379 h 36"/>
                <a:gd name="T6" fmla="*/ 3969 w 36"/>
                <a:gd name="T7" fmla="*/ 4189 h 36"/>
                <a:gd name="T8" fmla="*/ 0 w 36"/>
                <a:gd name="T9" fmla="*/ 4189 h 36"/>
                <a:gd name="T10" fmla="*/ 3969 w 36"/>
                <a:gd name="T11" fmla="*/ 0 h 36"/>
                <a:gd name="T12" fmla="*/ 0 60000 65536"/>
                <a:gd name="T13" fmla="*/ 0 60000 65536"/>
                <a:gd name="T14" fmla="*/ 0 60000 65536"/>
                <a:gd name="T15" fmla="*/ 0 60000 65536"/>
                <a:gd name="T16" fmla="*/ 0 60000 65536"/>
                <a:gd name="T17" fmla="*/ 0 60000 65536"/>
                <a:gd name="T18" fmla="*/ 0 w 36"/>
                <a:gd name="T19" fmla="*/ 0 h 36"/>
                <a:gd name="T20" fmla="*/ 36 w 36"/>
                <a:gd name="T21" fmla="*/ 36 h 36"/>
              </a:gdLst>
              <a:ahLst/>
              <a:cxnLst>
                <a:cxn ang="T12">
                  <a:pos x="T0" y="T1"/>
                </a:cxn>
                <a:cxn ang="T13">
                  <a:pos x="T2" y="T3"/>
                </a:cxn>
                <a:cxn ang="T14">
                  <a:pos x="T4" y="T5"/>
                </a:cxn>
                <a:cxn ang="T15">
                  <a:pos x="T6" y="T7"/>
                </a:cxn>
                <a:cxn ang="T16">
                  <a:pos x="T8" y="T9"/>
                </a:cxn>
                <a:cxn ang="T17">
                  <a:pos x="T10" y="T11"/>
                </a:cxn>
              </a:cxnLst>
              <a:rect l="T18" t="T19" r="T20" b="T21"/>
              <a:pathLst>
                <a:path w="36" h="36">
                  <a:moveTo>
                    <a:pt x="19" y="0"/>
                  </a:moveTo>
                  <a:lnTo>
                    <a:pt x="19" y="19"/>
                  </a:lnTo>
                  <a:lnTo>
                    <a:pt x="36" y="36"/>
                  </a:lnTo>
                  <a:lnTo>
                    <a:pt x="19" y="19"/>
                  </a:lnTo>
                  <a:lnTo>
                    <a:pt x="0" y="19"/>
                  </a:lnTo>
                  <a:lnTo>
                    <a:pt x="19" y="0"/>
                  </a:lnTo>
                  <a:close/>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1" name="Freeform 179">
              <a:extLst>
                <a:ext uri="{FF2B5EF4-FFF2-40B4-BE49-F238E27FC236}">
                  <a16:creationId xmlns:a16="http://schemas.microsoft.com/office/drawing/2014/main" id="{BB49BD68-6FDE-42D8-A43A-622F54A7487C}"/>
                </a:ext>
              </a:extLst>
            </p:cNvPr>
            <p:cNvSpPr>
              <a:spLocks/>
            </p:cNvSpPr>
            <p:nvPr>
              <p:custDataLst>
                <p:tags r:id="rId180"/>
              </p:custDataLst>
            </p:nvPr>
          </p:nvSpPr>
          <p:spPr bwMode="auto">
            <a:xfrm>
              <a:off x="7762783" y="3062974"/>
              <a:ext cx="77407" cy="42222"/>
            </a:xfrm>
            <a:custGeom>
              <a:avLst/>
              <a:gdLst>
                <a:gd name="T0" fmla="*/ 18681 w 86"/>
                <a:gd name="T1" fmla="*/ 0 h 48"/>
                <a:gd name="T2" fmla="*/ 18681 w 86"/>
                <a:gd name="T3" fmla="*/ 0 h 48"/>
                <a:gd name="T4" fmla="*/ 18681 w 86"/>
                <a:gd name="T5" fmla="*/ 9525 h 48"/>
                <a:gd name="T6" fmla="*/ 11371 w 86"/>
                <a:gd name="T7" fmla="*/ 9525 h 48"/>
                <a:gd name="T8" fmla="*/ 0 w 86"/>
                <a:gd name="T9" fmla="*/ 7144 h 48"/>
                <a:gd name="T10" fmla="*/ 7310 w 86"/>
                <a:gd name="T11" fmla="*/ 3969 h 48"/>
                <a:gd name="T12" fmla="*/ 11371 w 86"/>
                <a:gd name="T13" fmla="*/ 0 h 48"/>
                <a:gd name="T14" fmla="*/ 18681 w 86"/>
                <a:gd name="T15" fmla="*/ 0 h 48"/>
                <a:gd name="T16" fmla="*/ 0 60000 65536"/>
                <a:gd name="T17" fmla="*/ 0 60000 65536"/>
                <a:gd name="T18" fmla="*/ 0 60000 65536"/>
                <a:gd name="T19" fmla="*/ 0 60000 65536"/>
                <a:gd name="T20" fmla="*/ 0 60000 65536"/>
                <a:gd name="T21" fmla="*/ 0 60000 65536"/>
                <a:gd name="T22" fmla="*/ 0 60000 65536"/>
                <a:gd name="T23" fmla="*/ 0 60000 65536"/>
                <a:gd name="T24" fmla="*/ 0 w 86"/>
                <a:gd name="T25" fmla="*/ 0 h 48"/>
                <a:gd name="T26" fmla="*/ 86 w 86"/>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6" h="48">
                  <a:moveTo>
                    <a:pt x="86" y="0"/>
                  </a:moveTo>
                  <a:lnTo>
                    <a:pt x="86" y="0"/>
                  </a:lnTo>
                  <a:lnTo>
                    <a:pt x="86" y="48"/>
                  </a:lnTo>
                  <a:lnTo>
                    <a:pt x="52" y="48"/>
                  </a:lnTo>
                  <a:lnTo>
                    <a:pt x="0" y="33"/>
                  </a:lnTo>
                  <a:lnTo>
                    <a:pt x="34" y="18"/>
                  </a:lnTo>
                  <a:lnTo>
                    <a:pt x="52" y="0"/>
                  </a:lnTo>
                  <a:lnTo>
                    <a:pt x="86"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2" name="Freeform 180">
              <a:extLst>
                <a:ext uri="{FF2B5EF4-FFF2-40B4-BE49-F238E27FC236}">
                  <a16:creationId xmlns:a16="http://schemas.microsoft.com/office/drawing/2014/main" id="{C4798430-847D-4BBA-BD1F-0D7A5B22CD04}"/>
                </a:ext>
              </a:extLst>
            </p:cNvPr>
            <p:cNvSpPr>
              <a:spLocks/>
            </p:cNvSpPr>
            <p:nvPr>
              <p:custDataLst>
                <p:tags r:id="rId181"/>
              </p:custDataLst>
            </p:nvPr>
          </p:nvSpPr>
          <p:spPr bwMode="auto">
            <a:xfrm>
              <a:off x="7532321" y="3048900"/>
              <a:ext cx="17593" cy="29908"/>
            </a:xfrm>
            <a:custGeom>
              <a:avLst/>
              <a:gdLst>
                <a:gd name="T0" fmla="*/ 0 w 19"/>
                <a:gd name="T1" fmla="*/ 3271 h 33"/>
                <a:gd name="T2" fmla="*/ 0 w 19"/>
                <a:gd name="T3" fmla="*/ 3271 h 33"/>
                <a:gd name="T4" fmla="*/ 0 w 19"/>
                <a:gd name="T5" fmla="*/ 7360 h 33"/>
                <a:gd name="T6" fmla="*/ 4178 w 19"/>
                <a:gd name="T7" fmla="*/ 7360 h 33"/>
                <a:gd name="T8" fmla="*/ 4178 w 19"/>
                <a:gd name="T9" fmla="*/ 3271 h 33"/>
                <a:gd name="T10" fmla="*/ 4178 w 19"/>
                <a:gd name="T11" fmla="*/ 0 h 33"/>
                <a:gd name="T12" fmla="*/ 0 w 19"/>
                <a:gd name="T13" fmla="*/ 3271 h 33"/>
                <a:gd name="T14" fmla="*/ 0 60000 65536"/>
                <a:gd name="T15" fmla="*/ 0 60000 65536"/>
                <a:gd name="T16" fmla="*/ 0 60000 65536"/>
                <a:gd name="T17" fmla="*/ 0 60000 65536"/>
                <a:gd name="T18" fmla="*/ 0 60000 65536"/>
                <a:gd name="T19" fmla="*/ 0 60000 65536"/>
                <a:gd name="T20" fmla="*/ 0 60000 65536"/>
                <a:gd name="T21" fmla="*/ 0 w 19"/>
                <a:gd name="T22" fmla="*/ 0 h 33"/>
                <a:gd name="T23" fmla="*/ 19 w 19"/>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33">
                  <a:moveTo>
                    <a:pt x="0" y="15"/>
                  </a:moveTo>
                  <a:lnTo>
                    <a:pt x="0" y="15"/>
                  </a:lnTo>
                  <a:lnTo>
                    <a:pt x="0" y="33"/>
                  </a:lnTo>
                  <a:lnTo>
                    <a:pt x="19" y="33"/>
                  </a:lnTo>
                  <a:lnTo>
                    <a:pt x="19" y="15"/>
                  </a:lnTo>
                  <a:lnTo>
                    <a:pt x="19"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3" name="Freeform 181">
              <a:extLst>
                <a:ext uri="{FF2B5EF4-FFF2-40B4-BE49-F238E27FC236}">
                  <a16:creationId xmlns:a16="http://schemas.microsoft.com/office/drawing/2014/main" id="{57FC5323-F899-481E-B14A-3ECA51958615}"/>
                </a:ext>
              </a:extLst>
            </p:cNvPr>
            <p:cNvSpPr>
              <a:spLocks/>
            </p:cNvSpPr>
            <p:nvPr>
              <p:custDataLst>
                <p:tags r:id="rId182"/>
              </p:custDataLst>
            </p:nvPr>
          </p:nvSpPr>
          <p:spPr bwMode="auto">
            <a:xfrm>
              <a:off x="7563986" y="3036586"/>
              <a:ext cx="31667" cy="26389"/>
            </a:xfrm>
            <a:custGeom>
              <a:avLst/>
              <a:gdLst>
                <a:gd name="T0" fmla="*/ 0 w 37"/>
                <a:gd name="T1" fmla="*/ 3175 h 30"/>
                <a:gd name="T2" fmla="*/ 0 w 37"/>
                <a:gd name="T3" fmla="*/ 3175 h 30"/>
                <a:gd name="T4" fmla="*/ 0 w 37"/>
                <a:gd name="T5" fmla="*/ 6350 h 30"/>
                <a:gd name="T6" fmla="*/ 6951 w 37"/>
                <a:gd name="T7" fmla="*/ 6350 h 30"/>
                <a:gd name="T8" fmla="*/ 6951 w 37"/>
                <a:gd name="T9" fmla="*/ 3175 h 30"/>
                <a:gd name="T10" fmla="*/ 6951 w 37"/>
                <a:gd name="T11" fmla="*/ 0 h 30"/>
                <a:gd name="T12" fmla="*/ 0 w 37"/>
                <a:gd name="T13" fmla="*/ 3175 h 30"/>
                <a:gd name="T14" fmla="*/ 0 60000 65536"/>
                <a:gd name="T15" fmla="*/ 0 60000 65536"/>
                <a:gd name="T16" fmla="*/ 0 60000 65536"/>
                <a:gd name="T17" fmla="*/ 0 60000 65536"/>
                <a:gd name="T18" fmla="*/ 0 60000 65536"/>
                <a:gd name="T19" fmla="*/ 0 60000 65536"/>
                <a:gd name="T20" fmla="*/ 0 60000 65536"/>
                <a:gd name="T21" fmla="*/ 0 w 37"/>
                <a:gd name="T22" fmla="*/ 0 h 30"/>
                <a:gd name="T23" fmla="*/ 37 w 37"/>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30">
                  <a:moveTo>
                    <a:pt x="0" y="15"/>
                  </a:moveTo>
                  <a:lnTo>
                    <a:pt x="0" y="15"/>
                  </a:lnTo>
                  <a:lnTo>
                    <a:pt x="0" y="30"/>
                  </a:lnTo>
                  <a:lnTo>
                    <a:pt x="37" y="30"/>
                  </a:lnTo>
                  <a:lnTo>
                    <a:pt x="37" y="15"/>
                  </a:lnTo>
                  <a:lnTo>
                    <a:pt x="37"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4" name="Freeform 182">
              <a:extLst>
                <a:ext uri="{FF2B5EF4-FFF2-40B4-BE49-F238E27FC236}">
                  <a16:creationId xmlns:a16="http://schemas.microsoft.com/office/drawing/2014/main" id="{C2F036B9-EE1B-4068-B3AC-BBDC131C27C6}"/>
                </a:ext>
              </a:extLst>
            </p:cNvPr>
            <p:cNvSpPr>
              <a:spLocks/>
            </p:cNvSpPr>
            <p:nvPr>
              <p:custDataLst>
                <p:tags r:id="rId183"/>
              </p:custDataLst>
            </p:nvPr>
          </p:nvSpPr>
          <p:spPr bwMode="auto">
            <a:xfrm>
              <a:off x="7563986" y="3078808"/>
              <a:ext cx="31667" cy="12315"/>
            </a:xfrm>
            <a:custGeom>
              <a:avLst/>
              <a:gdLst>
                <a:gd name="T0" fmla="*/ 0 w 37"/>
                <a:gd name="T1" fmla="*/ 0 h 15"/>
                <a:gd name="T2" fmla="*/ 0 w 37"/>
                <a:gd name="T3" fmla="*/ 0 h 15"/>
                <a:gd name="T4" fmla="*/ 0 w 37"/>
                <a:gd name="T5" fmla="*/ 2223 h 15"/>
                <a:gd name="T6" fmla="*/ 6951 w 37"/>
                <a:gd name="T7" fmla="*/ 0 h 15"/>
                <a:gd name="T8" fmla="*/ 0 w 37"/>
                <a:gd name="T9" fmla="*/ 0 h 15"/>
                <a:gd name="T10" fmla="*/ 0 60000 65536"/>
                <a:gd name="T11" fmla="*/ 0 60000 65536"/>
                <a:gd name="T12" fmla="*/ 0 60000 65536"/>
                <a:gd name="T13" fmla="*/ 0 60000 65536"/>
                <a:gd name="T14" fmla="*/ 0 60000 65536"/>
                <a:gd name="T15" fmla="*/ 0 w 37"/>
                <a:gd name="T16" fmla="*/ 0 h 15"/>
                <a:gd name="T17" fmla="*/ 37 w 37"/>
                <a:gd name="T18" fmla="*/ 15 h 15"/>
              </a:gdLst>
              <a:ahLst/>
              <a:cxnLst>
                <a:cxn ang="T10">
                  <a:pos x="T0" y="T1"/>
                </a:cxn>
                <a:cxn ang="T11">
                  <a:pos x="T2" y="T3"/>
                </a:cxn>
                <a:cxn ang="T12">
                  <a:pos x="T4" y="T5"/>
                </a:cxn>
                <a:cxn ang="T13">
                  <a:pos x="T6" y="T7"/>
                </a:cxn>
                <a:cxn ang="T14">
                  <a:pos x="T8" y="T9"/>
                </a:cxn>
              </a:cxnLst>
              <a:rect l="T15" t="T16" r="T17" b="T18"/>
              <a:pathLst>
                <a:path w="37" h="15">
                  <a:moveTo>
                    <a:pt x="0" y="0"/>
                  </a:moveTo>
                  <a:lnTo>
                    <a:pt x="0" y="0"/>
                  </a:lnTo>
                  <a:lnTo>
                    <a:pt x="0" y="15"/>
                  </a:lnTo>
                  <a:lnTo>
                    <a:pt x="37"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5" name="Freeform 183">
              <a:extLst>
                <a:ext uri="{FF2B5EF4-FFF2-40B4-BE49-F238E27FC236}">
                  <a16:creationId xmlns:a16="http://schemas.microsoft.com/office/drawing/2014/main" id="{13F35229-4AEB-45F1-8CC7-F0307AEF4993}"/>
                </a:ext>
              </a:extLst>
            </p:cNvPr>
            <p:cNvSpPr>
              <a:spLocks/>
            </p:cNvSpPr>
            <p:nvPr>
              <p:custDataLst>
                <p:tags r:id="rId184"/>
              </p:custDataLst>
            </p:nvPr>
          </p:nvSpPr>
          <p:spPr bwMode="auto">
            <a:xfrm>
              <a:off x="7731116" y="2964456"/>
              <a:ext cx="31667" cy="29908"/>
            </a:xfrm>
            <a:custGeom>
              <a:avLst/>
              <a:gdLst>
                <a:gd name="T0" fmla="*/ 0 w 37"/>
                <a:gd name="T1" fmla="*/ 3271 h 33"/>
                <a:gd name="T2" fmla="*/ 0 w 37"/>
                <a:gd name="T3" fmla="*/ 3271 h 33"/>
                <a:gd name="T4" fmla="*/ 0 w 37"/>
                <a:gd name="T5" fmla="*/ 7360 h 33"/>
                <a:gd name="T6" fmla="*/ 3089 w 37"/>
                <a:gd name="T7" fmla="*/ 7360 h 33"/>
                <a:gd name="T8" fmla="*/ 3089 w 37"/>
                <a:gd name="T9" fmla="*/ 0 h 33"/>
                <a:gd name="T10" fmla="*/ 6951 w 37"/>
                <a:gd name="T11" fmla="*/ 0 h 33"/>
                <a:gd name="T12" fmla="*/ 0 w 37"/>
                <a:gd name="T13" fmla="*/ 3271 h 33"/>
                <a:gd name="T14" fmla="*/ 0 60000 65536"/>
                <a:gd name="T15" fmla="*/ 0 60000 65536"/>
                <a:gd name="T16" fmla="*/ 0 60000 65536"/>
                <a:gd name="T17" fmla="*/ 0 60000 65536"/>
                <a:gd name="T18" fmla="*/ 0 60000 65536"/>
                <a:gd name="T19" fmla="*/ 0 60000 65536"/>
                <a:gd name="T20" fmla="*/ 0 60000 65536"/>
                <a:gd name="T21" fmla="*/ 0 w 37"/>
                <a:gd name="T22" fmla="*/ 0 h 33"/>
                <a:gd name="T23" fmla="*/ 37 w 37"/>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33">
                  <a:moveTo>
                    <a:pt x="0" y="15"/>
                  </a:moveTo>
                  <a:lnTo>
                    <a:pt x="0" y="15"/>
                  </a:lnTo>
                  <a:lnTo>
                    <a:pt x="0" y="33"/>
                  </a:lnTo>
                  <a:lnTo>
                    <a:pt x="18" y="33"/>
                  </a:lnTo>
                  <a:lnTo>
                    <a:pt x="18" y="0"/>
                  </a:lnTo>
                  <a:lnTo>
                    <a:pt x="37"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6" name="Freeform 184">
              <a:extLst>
                <a:ext uri="{FF2B5EF4-FFF2-40B4-BE49-F238E27FC236}">
                  <a16:creationId xmlns:a16="http://schemas.microsoft.com/office/drawing/2014/main" id="{41F54A45-B7A9-4B47-9D43-1D15B4D179E5}"/>
                </a:ext>
              </a:extLst>
            </p:cNvPr>
            <p:cNvSpPr>
              <a:spLocks/>
            </p:cNvSpPr>
            <p:nvPr>
              <p:custDataLst>
                <p:tags r:id="rId185"/>
              </p:custDataLst>
            </p:nvPr>
          </p:nvSpPr>
          <p:spPr bwMode="auto">
            <a:xfrm>
              <a:off x="7822597" y="2936308"/>
              <a:ext cx="31667" cy="15834"/>
            </a:xfrm>
            <a:custGeom>
              <a:avLst/>
              <a:gdLst>
                <a:gd name="T0" fmla="*/ 0 w 37"/>
                <a:gd name="T1" fmla="*/ 0 h 18"/>
                <a:gd name="T2" fmla="*/ 0 w 37"/>
                <a:gd name="T3" fmla="*/ 0 h 18"/>
                <a:gd name="T4" fmla="*/ 0 w 37"/>
                <a:gd name="T5" fmla="*/ 3969 h 18"/>
                <a:gd name="T6" fmla="*/ 6951 w 37"/>
                <a:gd name="T7" fmla="*/ 0 h 18"/>
                <a:gd name="T8" fmla="*/ 3089 w 37"/>
                <a:gd name="T9" fmla="*/ 0 h 18"/>
                <a:gd name="T10" fmla="*/ 0 w 37"/>
                <a:gd name="T11" fmla="*/ 0 h 18"/>
                <a:gd name="T12" fmla="*/ 0 60000 65536"/>
                <a:gd name="T13" fmla="*/ 0 60000 65536"/>
                <a:gd name="T14" fmla="*/ 0 60000 65536"/>
                <a:gd name="T15" fmla="*/ 0 60000 65536"/>
                <a:gd name="T16" fmla="*/ 0 60000 65536"/>
                <a:gd name="T17" fmla="*/ 0 60000 65536"/>
                <a:gd name="T18" fmla="*/ 0 w 37"/>
                <a:gd name="T19" fmla="*/ 0 h 18"/>
                <a:gd name="T20" fmla="*/ 37 w 37"/>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7" h="18">
                  <a:moveTo>
                    <a:pt x="0" y="0"/>
                  </a:moveTo>
                  <a:lnTo>
                    <a:pt x="0" y="0"/>
                  </a:lnTo>
                  <a:lnTo>
                    <a:pt x="0" y="18"/>
                  </a:lnTo>
                  <a:lnTo>
                    <a:pt x="37" y="0"/>
                  </a:lnTo>
                  <a:lnTo>
                    <a:pt x="19"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7" name="Freeform 185">
              <a:extLst>
                <a:ext uri="{FF2B5EF4-FFF2-40B4-BE49-F238E27FC236}">
                  <a16:creationId xmlns:a16="http://schemas.microsoft.com/office/drawing/2014/main" id="{D02BAFC1-353D-461D-92F5-BC258DA7EBFC}"/>
                </a:ext>
              </a:extLst>
            </p:cNvPr>
            <p:cNvSpPr>
              <a:spLocks/>
            </p:cNvSpPr>
            <p:nvPr>
              <p:custDataLst>
                <p:tags r:id="rId186"/>
              </p:custDataLst>
            </p:nvPr>
          </p:nvSpPr>
          <p:spPr bwMode="auto">
            <a:xfrm>
              <a:off x="7840190" y="2909920"/>
              <a:ext cx="14074" cy="12315"/>
            </a:xfrm>
            <a:custGeom>
              <a:avLst/>
              <a:gdLst>
                <a:gd name="T0" fmla="*/ 0 w 18"/>
                <a:gd name="T1" fmla="*/ 2223 h 15"/>
                <a:gd name="T2" fmla="*/ 0 w 18"/>
                <a:gd name="T3" fmla="*/ 2223 h 15"/>
                <a:gd name="T4" fmla="*/ 2822 w 18"/>
                <a:gd name="T5" fmla="*/ 2223 h 15"/>
                <a:gd name="T6" fmla="*/ 0 w 18"/>
                <a:gd name="T7" fmla="*/ 0 h 15"/>
                <a:gd name="T8" fmla="*/ 0 w 18"/>
                <a:gd name="T9" fmla="*/ 2223 h 15"/>
                <a:gd name="T10" fmla="*/ 0 60000 65536"/>
                <a:gd name="T11" fmla="*/ 0 60000 65536"/>
                <a:gd name="T12" fmla="*/ 0 60000 65536"/>
                <a:gd name="T13" fmla="*/ 0 60000 65536"/>
                <a:gd name="T14" fmla="*/ 0 60000 65536"/>
                <a:gd name="T15" fmla="*/ 0 w 18"/>
                <a:gd name="T16" fmla="*/ 0 h 15"/>
                <a:gd name="T17" fmla="*/ 18 w 18"/>
                <a:gd name="T18" fmla="*/ 15 h 15"/>
              </a:gdLst>
              <a:ahLst/>
              <a:cxnLst>
                <a:cxn ang="T10">
                  <a:pos x="T0" y="T1"/>
                </a:cxn>
                <a:cxn ang="T11">
                  <a:pos x="T2" y="T3"/>
                </a:cxn>
                <a:cxn ang="T12">
                  <a:pos x="T4" y="T5"/>
                </a:cxn>
                <a:cxn ang="T13">
                  <a:pos x="T6" y="T7"/>
                </a:cxn>
                <a:cxn ang="T14">
                  <a:pos x="T8" y="T9"/>
                </a:cxn>
              </a:cxnLst>
              <a:rect l="T15" t="T16" r="T17" b="T18"/>
              <a:pathLst>
                <a:path w="18" h="15">
                  <a:moveTo>
                    <a:pt x="0" y="15"/>
                  </a:moveTo>
                  <a:lnTo>
                    <a:pt x="0" y="15"/>
                  </a:lnTo>
                  <a:lnTo>
                    <a:pt x="18" y="15"/>
                  </a:lnTo>
                  <a:lnTo>
                    <a:pt x="0"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58" name="Freeform 186">
              <a:extLst>
                <a:ext uri="{FF2B5EF4-FFF2-40B4-BE49-F238E27FC236}">
                  <a16:creationId xmlns:a16="http://schemas.microsoft.com/office/drawing/2014/main" id="{A0EFD44E-4572-4F35-8C84-DA1C7423E258}"/>
                </a:ext>
              </a:extLst>
            </p:cNvPr>
            <p:cNvSpPr>
              <a:spLocks/>
            </p:cNvSpPr>
            <p:nvPr>
              <p:custDataLst>
                <p:tags r:id="rId187"/>
              </p:custDataLst>
            </p:nvPr>
          </p:nvSpPr>
          <p:spPr bwMode="auto">
            <a:xfrm>
              <a:off x="8418983" y="3062974"/>
              <a:ext cx="976386" cy="480276"/>
            </a:xfrm>
            <a:custGeom>
              <a:avLst/>
              <a:gdLst>
                <a:gd name="T0" fmla="*/ 216889 w 1109"/>
                <a:gd name="T1" fmla="*/ 54869 h 545"/>
                <a:gd name="T2" fmla="*/ 209739 w 1109"/>
                <a:gd name="T3" fmla="*/ 66797 h 545"/>
                <a:gd name="T4" fmla="*/ 196233 w 1109"/>
                <a:gd name="T5" fmla="*/ 66797 h 545"/>
                <a:gd name="T6" fmla="*/ 182727 w 1109"/>
                <a:gd name="T7" fmla="*/ 80316 h 545"/>
                <a:gd name="T8" fmla="*/ 185905 w 1109"/>
                <a:gd name="T9" fmla="*/ 95425 h 545"/>
                <a:gd name="T10" fmla="*/ 175577 w 1109"/>
                <a:gd name="T11" fmla="*/ 95425 h 545"/>
                <a:gd name="T12" fmla="*/ 148565 w 1109"/>
                <a:gd name="T13" fmla="*/ 93039 h 545"/>
                <a:gd name="T14" fmla="*/ 144593 w 1109"/>
                <a:gd name="T15" fmla="*/ 99401 h 545"/>
                <a:gd name="T16" fmla="*/ 131087 w 1109"/>
                <a:gd name="T17" fmla="*/ 99401 h 545"/>
                <a:gd name="T18" fmla="*/ 117581 w 1109"/>
                <a:gd name="T19" fmla="*/ 104967 h 545"/>
                <a:gd name="T20" fmla="*/ 110431 w 1109"/>
                <a:gd name="T21" fmla="*/ 102582 h 545"/>
                <a:gd name="T22" fmla="*/ 107253 w 1109"/>
                <a:gd name="T23" fmla="*/ 95425 h 545"/>
                <a:gd name="T24" fmla="*/ 82624 w 1109"/>
                <a:gd name="T25" fmla="*/ 89858 h 545"/>
                <a:gd name="T26" fmla="*/ 65146 w 1109"/>
                <a:gd name="T27" fmla="*/ 76340 h 545"/>
                <a:gd name="T28" fmla="*/ 51640 w 1109"/>
                <a:gd name="T29" fmla="*/ 104967 h 545"/>
                <a:gd name="T30" fmla="*/ 41312 w 1109"/>
                <a:gd name="T31" fmla="*/ 99401 h 545"/>
                <a:gd name="T32" fmla="*/ 30984 w 1109"/>
                <a:gd name="T33" fmla="*/ 95425 h 545"/>
                <a:gd name="T34" fmla="*/ 24628 w 1109"/>
                <a:gd name="T35" fmla="*/ 85882 h 545"/>
                <a:gd name="T36" fmla="*/ 27806 w 1109"/>
                <a:gd name="T37" fmla="*/ 85882 h 545"/>
                <a:gd name="T38" fmla="*/ 27806 w 1109"/>
                <a:gd name="T39" fmla="*/ 80316 h 545"/>
                <a:gd name="T40" fmla="*/ 38134 w 1109"/>
                <a:gd name="T41" fmla="*/ 70773 h 545"/>
                <a:gd name="T42" fmla="*/ 24628 w 1109"/>
                <a:gd name="T43" fmla="*/ 64412 h 545"/>
                <a:gd name="T44" fmla="*/ 10328 w 1109"/>
                <a:gd name="T45" fmla="*/ 70773 h 545"/>
                <a:gd name="T46" fmla="*/ 10328 w 1109"/>
                <a:gd name="T47" fmla="*/ 61231 h 545"/>
                <a:gd name="T48" fmla="*/ 0 w 1109"/>
                <a:gd name="T49" fmla="*/ 54869 h 545"/>
                <a:gd name="T50" fmla="*/ 10328 w 1109"/>
                <a:gd name="T51" fmla="*/ 45327 h 545"/>
                <a:gd name="T52" fmla="*/ 10328 w 1109"/>
                <a:gd name="T53" fmla="*/ 38170 h 545"/>
                <a:gd name="T54" fmla="*/ 27806 w 1109"/>
                <a:gd name="T55" fmla="*/ 32603 h 545"/>
                <a:gd name="T56" fmla="*/ 38134 w 1109"/>
                <a:gd name="T57" fmla="*/ 32603 h 545"/>
                <a:gd name="T58" fmla="*/ 54818 w 1109"/>
                <a:gd name="T59" fmla="*/ 35784 h 545"/>
                <a:gd name="T60" fmla="*/ 65146 w 1109"/>
                <a:gd name="T61" fmla="*/ 38170 h 545"/>
                <a:gd name="T62" fmla="*/ 82624 w 1109"/>
                <a:gd name="T63" fmla="*/ 32603 h 545"/>
                <a:gd name="T64" fmla="*/ 79447 w 1109"/>
                <a:gd name="T65" fmla="*/ 26242 h 545"/>
                <a:gd name="T66" fmla="*/ 79447 w 1109"/>
                <a:gd name="T67" fmla="*/ 19085 h 545"/>
                <a:gd name="T68" fmla="*/ 85802 w 1109"/>
                <a:gd name="T69" fmla="*/ 13519 h 545"/>
                <a:gd name="T70" fmla="*/ 117581 w 1109"/>
                <a:gd name="T71" fmla="*/ 0 h 545"/>
                <a:gd name="T72" fmla="*/ 131087 w 1109"/>
                <a:gd name="T73" fmla="*/ 0 h 545"/>
                <a:gd name="T74" fmla="*/ 134265 w 1109"/>
                <a:gd name="T75" fmla="*/ 9542 h 545"/>
                <a:gd name="T76" fmla="*/ 144593 w 1109"/>
                <a:gd name="T77" fmla="*/ 13519 h 545"/>
                <a:gd name="T78" fmla="*/ 151743 w 1109"/>
                <a:gd name="T79" fmla="*/ 16699 h 545"/>
                <a:gd name="T80" fmla="*/ 165249 w 1109"/>
                <a:gd name="T81" fmla="*/ 7157 h 545"/>
                <a:gd name="T82" fmla="*/ 182727 w 1109"/>
                <a:gd name="T83" fmla="*/ 38170 h 545"/>
                <a:gd name="T84" fmla="*/ 189083 w 1109"/>
                <a:gd name="T85" fmla="*/ 38170 h 545"/>
                <a:gd name="T86" fmla="*/ 209739 w 1109"/>
                <a:gd name="T87" fmla="*/ 45327 h 545"/>
                <a:gd name="T88" fmla="*/ 216889 w 1109"/>
                <a:gd name="T89" fmla="*/ 45327 h 545"/>
                <a:gd name="T90" fmla="*/ 216889 w 1109"/>
                <a:gd name="T91" fmla="*/ 54869 h 54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09"/>
                <a:gd name="T139" fmla="*/ 0 h 545"/>
                <a:gd name="T140" fmla="*/ 1109 w 1109"/>
                <a:gd name="T141" fmla="*/ 545 h 54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09" h="545">
                  <a:moveTo>
                    <a:pt x="1092" y="273"/>
                  </a:moveTo>
                  <a:lnTo>
                    <a:pt x="1092" y="273"/>
                  </a:lnTo>
                  <a:lnTo>
                    <a:pt x="1075" y="288"/>
                  </a:lnTo>
                  <a:lnTo>
                    <a:pt x="1056" y="336"/>
                  </a:lnTo>
                  <a:lnTo>
                    <a:pt x="1038" y="336"/>
                  </a:lnTo>
                  <a:lnTo>
                    <a:pt x="987" y="336"/>
                  </a:lnTo>
                  <a:lnTo>
                    <a:pt x="969" y="401"/>
                  </a:lnTo>
                  <a:lnTo>
                    <a:pt x="917" y="401"/>
                  </a:lnTo>
                  <a:lnTo>
                    <a:pt x="917" y="417"/>
                  </a:lnTo>
                  <a:lnTo>
                    <a:pt x="935" y="480"/>
                  </a:lnTo>
                  <a:lnTo>
                    <a:pt x="917" y="497"/>
                  </a:lnTo>
                  <a:lnTo>
                    <a:pt x="883" y="480"/>
                  </a:lnTo>
                  <a:lnTo>
                    <a:pt x="779" y="480"/>
                  </a:lnTo>
                  <a:lnTo>
                    <a:pt x="745" y="465"/>
                  </a:lnTo>
                  <a:lnTo>
                    <a:pt x="727" y="480"/>
                  </a:lnTo>
                  <a:lnTo>
                    <a:pt x="727" y="497"/>
                  </a:lnTo>
                  <a:lnTo>
                    <a:pt x="676" y="480"/>
                  </a:lnTo>
                  <a:lnTo>
                    <a:pt x="658" y="497"/>
                  </a:lnTo>
                  <a:lnTo>
                    <a:pt x="606" y="545"/>
                  </a:lnTo>
                  <a:lnTo>
                    <a:pt x="589" y="528"/>
                  </a:lnTo>
                  <a:lnTo>
                    <a:pt x="555" y="528"/>
                  </a:lnTo>
                  <a:lnTo>
                    <a:pt x="555" y="513"/>
                  </a:lnTo>
                  <a:lnTo>
                    <a:pt x="537" y="513"/>
                  </a:lnTo>
                  <a:lnTo>
                    <a:pt x="537" y="480"/>
                  </a:lnTo>
                  <a:lnTo>
                    <a:pt x="501" y="449"/>
                  </a:lnTo>
                  <a:lnTo>
                    <a:pt x="414" y="449"/>
                  </a:lnTo>
                  <a:lnTo>
                    <a:pt x="363" y="401"/>
                  </a:lnTo>
                  <a:lnTo>
                    <a:pt x="328" y="384"/>
                  </a:lnTo>
                  <a:lnTo>
                    <a:pt x="259" y="401"/>
                  </a:lnTo>
                  <a:lnTo>
                    <a:pt x="259" y="528"/>
                  </a:lnTo>
                  <a:lnTo>
                    <a:pt x="242" y="528"/>
                  </a:lnTo>
                  <a:lnTo>
                    <a:pt x="207" y="497"/>
                  </a:lnTo>
                  <a:lnTo>
                    <a:pt x="155" y="513"/>
                  </a:lnTo>
                  <a:lnTo>
                    <a:pt x="155" y="480"/>
                  </a:lnTo>
                  <a:lnTo>
                    <a:pt x="138" y="480"/>
                  </a:lnTo>
                  <a:lnTo>
                    <a:pt x="121" y="432"/>
                  </a:lnTo>
                  <a:lnTo>
                    <a:pt x="103" y="432"/>
                  </a:lnTo>
                  <a:lnTo>
                    <a:pt x="138" y="432"/>
                  </a:lnTo>
                  <a:lnTo>
                    <a:pt x="121" y="417"/>
                  </a:lnTo>
                  <a:lnTo>
                    <a:pt x="138" y="401"/>
                  </a:lnTo>
                  <a:lnTo>
                    <a:pt x="207" y="401"/>
                  </a:lnTo>
                  <a:lnTo>
                    <a:pt x="190" y="353"/>
                  </a:lnTo>
                  <a:lnTo>
                    <a:pt x="155" y="336"/>
                  </a:lnTo>
                  <a:lnTo>
                    <a:pt x="121" y="321"/>
                  </a:lnTo>
                  <a:lnTo>
                    <a:pt x="69" y="353"/>
                  </a:lnTo>
                  <a:lnTo>
                    <a:pt x="52" y="353"/>
                  </a:lnTo>
                  <a:lnTo>
                    <a:pt x="69" y="336"/>
                  </a:lnTo>
                  <a:lnTo>
                    <a:pt x="52" y="305"/>
                  </a:lnTo>
                  <a:lnTo>
                    <a:pt x="17" y="305"/>
                  </a:lnTo>
                  <a:lnTo>
                    <a:pt x="0" y="273"/>
                  </a:lnTo>
                  <a:lnTo>
                    <a:pt x="17" y="192"/>
                  </a:lnTo>
                  <a:lnTo>
                    <a:pt x="52" y="225"/>
                  </a:lnTo>
                  <a:lnTo>
                    <a:pt x="69" y="225"/>
                  </a:lnTo>
                  <a:lnTo>
                    <a:pt x="52" y="192"/>
                  </a:lnTo>
                  <a:lnTo>
                    <a:pt x="103" y="144"/>
                  </a:lnTo>
                  <a:lnTo>
                    <a:pt x="138" y="161"/>
                  </a:lnTo>
                  <a:lnTo>
                    <a:pt x="155" y="144"/>
                  </a:lnTo>
                  <a:lnTo>
                    <a:pt x="190" y="161"/>
                  </a:lnTo>
                  <a:lnTo>
                    <a:pt x="242" y="192"/>
                  </a:lnTo>
                  <a:lnTo>
                    <a:pt x="276" y="177"/>
                  </a:lnTo>
                  <a:lnTo>
                    <a:pt x="311" y="177"/>
                  </a:lnTo>
                  <a:lnTo>
                    <a:pt x="328" y="192"/>
                  </a:lnTo>
                  <a:lnTo>
                    <a:pt x="397" y="192"/>
                  </a:lnTo>
                  <a:lnTo>
                    <a:pt x="414" y="161"/>
                  </a:lnTo>
                  <a:lnTo>
                    <a:pt x="363" y="144"/>
                  </a:lnTo>
                  <a:lnTo>
                    <a:pt x="397" y="129"/>
                  </a:lnTo>
                  <a:lnTo>
                    <a:pt x="380" y="113"/>
                  </a:lnTo>
                  <a:lnTo>
                    <a:pt x="397" y="96"/>
                  </a:lnTo>
                  <a:lnTo>
                    <a:pt x="397" y="48"/>
                  </a:lnTo>
                  <a:lnTo>
                    <a:pt x="432" y="65"/>
                  </a:lnTo>
                  <a:lnTo>
                    <a:pt x="589" y="18"/>
                  </a:lnTo>
                  <a:lnTo>
                    <a:pt x="589" y="0"/>
                  </a:lnTo>
                  <a:lnTo>
                    <a:pt x="606" y="0"/>
                  </a:lnTo>
                  <a:lnTo>
                    <a:pt x="658" y="0"/>
                  </a:lnTo>
                  <a:lnTo>
                    <a:pt x="676" y="33"/>
                  </a:lnTo>
                  <a:lnTo>
                    <a:pt x="676" y="48"/>
                  </a:lnTo>
                  <a:lnTo>
                    <a:pt x="693" y="48"/>
                  </a:lnTo>
                  <a:lnTo>
                    <a:pt x="727" y="65"/>
                  </a:lnTo>
                  <a:lnTo>
                    <a:pt x="727" y="81"/>
                  </a:lnTo>
                  <a:lnTo>
                    <a:pt x="762" y="81"/>
                  </a:lnTo>
                  <a:lnTo>
                    <a:pt x="796" y="48"/>
                  </a:lnTo>
                  <a:lnTo>
                    <a:pt x="831" y="33"/>
                  </a:lnTo>
                  <a:lnTo>
                    <a:pt x="848" y="81"/>
                  </a:lnTo>
                  <a:lnTo>
                    <a:pt x="917" y="192"/>
                  </a:lnTo>
                  <a:lnTo>
                    <a:pt x="935" y="161"/>
                  </a:lnTo>
                  <a:lnTo>
                    <a:pt x="952" y="192"/>
                  </a:lnTo>
                  <a:lnTo>
                    <a:pt x="1004" y="177"/>
                  </a:lnTo>
                  <a:lnTo>
                    <a:pt x="1056" y="225"/>
                  </a:lnTo>
                  <a:lnTo>
                    <a:pt x="1092" y="240"/>
                  </a:lnTo>
                  <a:lnTo>
                    <a:pt x="1092" y="225"/>
                  </a:lnTo>
                  <a:lnTo>
                    <a:pt x="1109" y="257"/>
                  </a:lnTo>
                  <a:lnTo>
                    <a:pt x="1092" y="27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59" name="Freeform 187">
              <a:extLst>
                <a:ext uri="{FF2B5EF4-FFF2-40B4-BE49-F238E27FC236}">
                  <a16:creationId xmlns:a16="http://schemas.microsoft.com/office/drawing/2014/main" id="{0C3AAEF9-083A-4299-A12E-9762E208A102}"/>
                </a:ext>
              </a:extLst>
            </p:cNvPr>
            <p:cNvSpPr>
              <a:spLocks/>
            </p:cNvSpPr>
            <p:nvPr>
              <p:custDataLst>
                <p:tags r:id="rId188"/>
              </p:custDataLst>
            </p:nvPr>
          </p:nvSpPr>
          <p:spPr bwMode="auto">
            <a:xfrm>
              <a:off x="8556205" y="3485195"/>
              <a:ext cx="350092" cy="211110"/>
            </a:xfrm>
            <a:custGeom>
              <a:avLst/>
              <a:gdLst>
                <a:gd name="T0" fmla="*/ 75029 w 400"/>
                <a:gd name="T1" fmla="*/ 38100 h 240"/>
                <a:gd name="T2" fmla="*/ 75029 w 400"/>
                <a:gd name="T3" fmla="*/ 38100 h 240"/>
                <a:gd name="T4" fmla="*/ 71870 w 400"/>
                <a:gd name="T5" fmla="*/ 34925 h 240"/>
                <a:gd name="T6" fmla="*/ 71870 w 400"/>
                <a:gd name="T7" fmla="*/ 38100 h 240"/>
                <a:gd name="T8" fmla="*/ 67921 w 400"/>
                <a:gd name="T9" fmla="*/ 38100 h 240"/>
                <a:gd name="T10" fmla="*/ 64762 w 400"/>
                <a:gd name="T11" fmla="*/ 44450 h 240"/>
                <a:gd name="T12" fmla="*/ 57654 w 400"/>
                <a:gd name="T13" fmla="*/ 44450 h 240"/>
                <a:gd name="T14" fmla="*/ 57654 w 400"/>
                <a:gd name="T15" fmla="*/ 47625 h 240"/>
                <a:gd name="T16" fmla="*/ 47387 w 400"/>
                <a:gd name="T17" fmla="*/ 47625 h 240"/>
                <a:gd name="T18" fmla="*/ 47387 w 400"/>
                <a:gd name="T19" fmla="*/ 44450 h 240"/>
                <a:gd name="T20" fmla="*/ 47387 w 400"/>
                <a:gd name="T21" fmla="*/ 42069 h 240"/>
                <a:gd name="T22" fmla="*/ 26853 w 400"/>
                <a:gd name="T23" fmla="*/ 32544 h 240"/>
                <a:gd name="T24" fmla="*/ 16585 w 400"/>
                <a:gd name="T25" fmla="*/ 32544 h 240"/>
                <a:gd name="T26" fmla="*/ 10267 w 400"/>
                <a:gd name="T27" fmla="*/ 34925 h 240"/>
                <a:gd name="T28" fmla="*/ 10267 w 400"/>
                <a:gd name="T29" fmla="*/ 26194 h 240"/>
                <a:gd name="T30" fmla="*/ 6318 w 400"/>
                <a:gd name="T31" fmla="*/ 26194 h 240"/>
                <a:gd name="T32" fmla="*/ 6318 w 400"/>
                <a:gd name="T33" fmla="*/ 19050 h 240"/>
                <a:gd name="T34" fmla="*/ 3159 w 400"/>
                <a:gd name="T35" fmla="*/ 19050 h 240"/>
                <a:gd name="T36" fmla="*/ 3159 w 400"/>
                <a:gd name="T37" fmla="*/ 16669 h 240"/>
                <a:gd name="T38" fmla="*/ 10267 w 400"/>
                <a:gd name="T39" fmla="*/ 16669 h 240"/>
                <a:gd name="T40" fmla="*/ 13426 w 400"/>
                <a:gd name="T41" fmla="*/ 13494 h 240"/>
                <a:gd name="T42" fmla="*/ 6318 w 400"/>
                <a:gd name="T43" fmla="*/ 7144 h 240"/>
                <a:gd name="T44" fmla="*/ 3159 w 400"/>
                <a:gd name="T45" fmla="*/ 7144 h 240"/>
                <a:gd name="T46" fmla="*/ 3159 w 400"/>
                <a:gd name="T47" fmla="*/ 13494 h 240"/>
                <a:gd name="T48" fmla="*/ 0 w 400"/>
                <a:gd name="T49" fmla="*/ 7144 h 240"/>
                <a:gd name="T50" fmla="*/ 10267 w 400"/>
                <a:gd name="T51" fmla="*/ 3969 h 240"/>
                <a:gd name="T52" fmla="*/ 16585 w 400"/>
                <a:gd name="T53" fmla="*/ 9525 h 240"/>
                <a:gd name="T54" fmla="*/ 20534 w 400"/>
                <a:gd name="T55" fmla="*/ 9525 h 240"/>
                <a:gd name="T56" fmla="*/ 23693 w 400"/>
                <a:gd name="T57" fmla="*/ 9525 h 240"/>
                <a:gd name="T58" fmla="*/ 23693 w 400"/>
                <a:gd name="T59" fmla="*/ 7144 h 240"/>
                <a:gd name="T60" fmla="*/ 30802 w 400"/>
                <a:gd name="T61" fmla="*/ 3969 h 240"/>
                <a:gd name="T62" fmla="*/ 33961 w 400"/>
                <a:gd name="T63" fmla="*/ 3969 h 240"/>
                <a:gd name="T64" fmla="*/ 30802 w 400"/>
                <a:gd name="T65" fmla="*/ 0 h 240"/>
                <a:gd name="T66" fmla="*/ 33961 w 400"/>
                <a:gd name="T67" fmla="*/ 0 h 240"/>
                <a:gd name="T68" fmla="*/ 40279 w 400"/>
                <a:gd name="T69" fmla="*/ 3969 h 240"/>
                <a:gd name="T70" fmla="*/ 40279 w 400"/>
                <a:gd name="T71" fmla="*/ 9525 h 240"/>
                <a:gd name="T72" fmla="*/ 50546 w 400"/>
                <a:gd name="T73" fmla="*/ 9525 h 240"/>
                <a:gd name="T74" fmla="*/ 54495 w 400"/>
                <a:gd name="T75" fmla="*/ 19050 h 240"/>
                <a:gd name="T76" fmla="*/ 71870 w 400"/>
                <a:gd name="T77" fmla="*/ 28575 h 240"/>
                <a:gd name="T78" fmla="*/ 78188 w 400"/>
                <a:gd name="T79" fmla="*/ 32544 h 240"/>
                <a:gd name="T80" fmla="*/ 75029 w 400"/>
                <a:gd name="T81" fmla="*/ 38100 h 2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400"/>
                <a:gd name="T124" fmla="*/ 0 h 240"/>
                <a:gd name="T125" fmla="*/ 400 w 400"/>
                <a:gd name="T126" fmla="*/ 240 h 2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400" h="240">
                  <a:moveTo>
                    <a:pt x="382" y="192"/>
                  </a:moveTo>
                  <a:lnTo>
                    <a:pt x="382" y="192"/>
                  </a:lnTo>
                  <a:lnTo>
                    <a:pt x="365" y="176"/>
                  </a:lnTo>
                  <a:lnTo>
                    <a:pt x="365" y="192"/>
                  </a:lnTo>
                  <a:lnTo>
                    <a:pt x="348" y="192"/>
                  </a:lnTo>
                  <a:lnTo>
                    <a:pt x="330" y="224"/>
                  </a:lnTo>
                  <a:lnTo>
                    <a:pt x="296" y="224"/>
                  </a:lnTo>
                  <a:lnTo>
                    <a:pt x="296" y="240"/>
                  </a:lnTo>
                  <a:lnTo>
                    <a:pt x="242" y="240"/>
                  </a:lnTo>
                  <a:lnTo>
                    <a:pt x="242" y="224"/>
                  </a:lnTo>
                  <a:lnTo>
                    <a:pt x="242" y="209"/>
                  </a:lnTo>
                  <a:lnTo>
                    <a:pt x="139" y="161"/>
                  </a:lnTo>
                  <a:lnTo>
                    <a:pt x="87" y="161"/>
                  </a:lnTo>
                  <a:lnTo>
                    <a:pt x="52" y="176"/>
                  </a:lnTo>
                  <a:lnTo>
                    <a:pt x="52" y="129"/>
                  </a:lnTo>
                  <a:lnTo>
                    <a:pt x="35" y="129"/>
                  </a:lnTo>
                  <a:lnTo>
                    <a:pt x="35" y="96"/>
                  </a:lnTo>
                  <a:lnTo>
                    <a:pt x="18" y="96"/>
                  </a:lnTo>
                  <a:lnTo>
                    <a:pt x="18" y="81"/>
                  </a:lnTo>
                  <a:lnTo>
                    <a:pt x="52" y="81"/>
                  </a:lnTo>
                  <a:lnTo>
                    <a:pt x="69" y="65"/>
                  </a:lnTo>
                  <a:lnTo>
                    <a:pt x="35" y="33"/>
                  </a:lnTo>
                  <a:lnTo>
                    <a:pt x="18" y="33"/>
                  </a:lnTo>
                  <a:lnTo>
                    <a:pt x="18" y="65"/>
                  </a:lnTo>
                  <a:lnTo>
                    <a:pt x="0" y="33"/>
                  </a:lnTo>
                  <a:lnTo>
                    <a:pt x="52" y="17"/>
                  </a:lnTo>
                  <a:lnTo>
                    <a:pt x="87" y="48"/>
                  </a:lnTo>
                  <a:lnTo>
                    <a:pt x="104" y="48"/>
                  </a:lnTo>
                  <a:lnTo>
                    <a:pt x="121" y="48"/>
                  </a:lnTo>
                  <a:lnTo>
                    <a:pt x="121" y="33"/>
                  </a:lnTo>
                  <a:lnTo>
                    <a:pt x="156" y="17"/>
                  </a:lnTo>
                  <a:lnTo>
                    <a:pt x="173" y="17"/>
                  </a:lnTo>
                  <a:lnTo>
                    <a:pt x="156" y="0"/>
                  </a:lnTo>
                  <a:lnTo>
                    <a:pt x="173" y="0"/>
                  </a:lnTo>
                  <a:lnTo>
                    <a:pt x="208" y="17"/>
                  </a:lnTo>
                  <a:lnTo>
                    <a:pt x="208" y="48"/>
                  </a:lnTo>
                  <a:lnTo>
                    <a:pt x="259" y="48"/>
                  </a:lnTo>
                  <a:lnTo>
                    <a:pt x="279" y="96"/>
                  </a:lnTo>
                  <a:lnTo>
                    <a:pt x="365" y="144"/>
                  </a:lnTo>
                  <a:lnTo>
                    <a:pt x="400" y="161"/>
                  </a:lnTo>
                  <a:lnTo>
                    <a:pt x="382" y="19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0" name="Freeform 188">
              <a:extLst>
                <a:ext uri="{FF2B5EF4-FFF2-40B4-BE49-F238E27FC236}">
                  <a16:creationId xmlns:a16="http://schemas.microsoft.com/office/drawing/2014/main" id="{09F5B866-50B0-4406-9F45-644C02CACDBC}"/>
                </a:ext>
              </a:extLst>
            </p:cNvPr>
            <p:cNvSpPr>
              <a:spLocks/>
            </p:cNvSpPr>
            <p:nvPr>
              <p:custDataLst>
                <p:tags r:id="rId189"/>
              </p:custDataLst>
            </p:nvPr>
          </p:nvSpPr>
          <p:spPr bwMode="auto">
            <a:xfrm>
              <a:off x="8645927" y="3400751"/>
              <a:ext cx="413425" cy="253332"/>
            </a:xfrm>
            <a:custGeom>
              <a:avLst/>
              <a:gdLst>
                <a:gd name="T0" fmla="*/ 55800 w 468"/>
                <a:gd name="T1" fmla="*/ 57150 h 288"/>
                <a:gd name="T2" fmla="*/ 55800 w 468"/>
                <a:gd name="T3" fmla="*/ 57150 h 288"/>
                <a:gd name="T4" fmla="*/ 62177 w 468"/>
                <a:gd name="T5" fmla="*/ 57150 h 288"/>
                <a:gd name="T6" fmla="*/ 66163 w 468"/>
                <a:gd name="T7" fmla="*/ 51594 h 288"/>
                <a:gd name="T8" fmla="*/ 66163 w 468"/>
                <a:gd name="T9" fmla="*/ 44450 h 288"/>
                <a:gd name="T10" fmla="*/ 62177 w 468"/>
                <a:gd name="T11" fmla="*/ 41275 h 288"/>
                <a:gd name="T12" fmla="*/ 69351 w 468"/>
                <a:gd name="T13" fmla="*/ 41275 h 288"/>
                <a:gd name="T14" fmla="*/ 72540 w 468"/>
                <a:gd name="T15" fmla="*/ 34925 h 288"/>
                <a:gd name="T16" fmla="*/ 72540 w 468"/>
                <a:gd name="T17" fmla="*/ 31750 h 288"/>
                <a:gd name="T18" fmla="*/ 79714 w 468"/>
                <a:gd name="T19" fmla="*/ 31750 h 288"/>
                <a:gd name="T20" fmla="*/ 79714 w 468"/>
                <a:gd name="T21" fmla="*/ 34925 h 288"/>
                <a:gd name="T22" fmla="*/ 86889 w 468"/>
                <a:gd name="T23" fmla="*/ 34925 h 288"/>
                <a:gd name="T24" fmla="*/ 94063 w 468"/>
                <a:gd name="T25" fmla="*/ 31750 h 288"/>
                <a:gd name="T26" fmla="*/ 86889 w 468"/>
                <a:gd name="T27" fmla="*/ 28575 h 288"/>
                <a:gd name="T28" fmla="*/ 83700 w 468"/>
                <a:gd name="T29" fmla="*/ 28575 h 288"/>
                <a:gd name="T30" fmla="*/ 76526 w 468"/>
                <a:gd name="T31" fmla="*/ 28575 h 288"/>
                <a:gd name="T32" fmla="*/ 83700 w 468"/>
                <a:gd name="T33" fmla="*/ 22225 h 288"/>
                <a:gd name="T34" fmla="*/ 79714 w 468"/>
                <a:gd name="T35" fmla="*/ 22225 h 288"/>
                <a:gd name="T36" fmla="*/ 69351 w 468"/>
                <a:gd name="T37" fmla="*/ 31750 h 288"/>
                <a:gd name="T38" fmla="*/ 66163 w 468"/>
                <a:gd name="T39" fmla="*/ 28575 h 288"/>
                <a:gd name="T40" fmla="*/ 58989 w 468"/>
                <a:gd name="T41" fmla="*/ 28575 h 288"/>
                <a:gd name="T42" fmla="*/ 58989 w 468"/>
                <a:gd name="T43" fmla="*/ 26194 h 288"/>
                <a:gd name="T44" fmla="*/ 55800 w 468"/>
                <a:gd name="T45" fmla="*/ 26194 h 288"/>
                <a:gd name="T46" fmla="*/ 55800 w 468"/>
                <a:gd name="T47" fmla="*/ 19050 h 288"/>
                <a:gd name="T48" fmla="*/ 48626 w 468"/>
                <a:gd name="T49" fmla="*/ 13494 h 288"/>
                <a:gd name="T50" fmla="*/ 31089 w 468"/>
                <a:gd name="T51" fmla="*/ 13494 h 288"/>
                <a:gd name="T52" fmla="*/ 20726 w 468"/>
                <a:gd name="T53" fmla="*/ 3969 h 288"/>
                <a:gd name="T54" fmla="*/ 14349 w 468"/>
                <a:gd name="T55" fmla="*/ 0 h 288"/>
                <a:gd name="T56" fmla="*/ 0 w 468"/>
                <a:gd name="T57" fmla="*/ 3969 h 288"/>
                <a:gd name="T58" fmla="*/ 0 w 468"/>
                <a:gd name="T59" fmla="*/ 28575 h 288"/>
                <a:gd name="T60" fmla="*/ 3986 w 468"/>
                <a:gd name="T61" fmla="*/ 28575 h 288"/>
                <a:gd name="T62" fmla="*/ 3986 w 468"/>
                <a:gd name="T63" fmla="*/ 26194 h 288"/>
                <a:gd name="T64" fmla="*/ 10363 w 468"/>
                <a:gd name="T65" fmla="*/ 22225 h 288"/>
                <a:gd name="T66" fmla="*/ 14349 w 468"/>
                <a:gd name="T67" fmla="*/ 22225 h 288"/>
                <a:gd name="T68" fmla="*/ 10363 w 468"/>
                <a:gd name="T69" fmla="*/ 19050 h 288"/>
                <a:gd name="T70" fmla="*/ 14349 w 468"/>
                <a:gd name="T71" fmla="*/ 19050 h 288"/>
                <a:gd name="T72" fmla="*/ 20726 w 468"/>
                <a:gd name="T73" fmla="*/ 22225 h 288"/>
                <a:gd name="T74" fmla="*/ 20726 w 468"/>
                <a:gd name="T75" fmla="*/ 28575 h 288"/>
                <a:gd name="T76" fmla="*/ 31089 w 468"/>
                <a:gd name="T77" fmla="*/ 28575 h 288"/>
                <a:gd name="T78" fmla="*/ 35074 w 468"/>
                <a:gd name="T79" fmla="*/ 38100 h 288"/>
                <a:gd name="T80" fmla="*/ 51814 w 468"/>
                <a:gd name="T81" fmla="*/ 47625 h 288"/>
                <a:gd name="T82" fmla="*/ 58989 w 468"/>
                <a:gd name="T83" fmla="*/ 51594 h 288"/>
                <a:gd name="T84" fmla="*/ 55800 w 468"/>
                <a:gd name="T85" fmla="*/ 57150 h 28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68"/>
                <a:gd name="T130" fmla="*/ 0 h 288"/>
                <a:gd name="T131" fmla="*/ 468 w 468"/>
                <a:gd name="T132" fmla="*/ 288 h 28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68" h="288">
                  <a:moveTo>
                    <a:pt x="276" y="288"/>
                  </a:moveTo>
                  <a:lnTo>
                    <a:pt x="276" y="288"/>
                  </a:lnTo>
                  <a:lnTo>
                    <a:pt x="311" y="288"/>
                  </a:lnTo>
                  <a:lnTo>
                    <a:pt x="328" y="257"/>
                  </a:lnTo>
                  <a:lnTo>
                    <a:pt x="328" y="225"/>
                  </a:lnTo>
                  <a:lnTo>
                    <a:pt x="311" y="209"/>
                  </a:lnTo>
                  <a:lnTo>
                    <a:pt x="346" y="209"/>
                  </a:lnTo>
                  <a:lnTo>
                    <a:pt x="363" y="177"/>
                  </a:lnTo>
                  <a:lnTo>
                    <a:pt x="363" y="161"/>
                  </a:lnTo>
                  <a:lnTo>
                    <a:pt x="399" y="161"/>
                  </a:lnTo>
                  <a:lnTo>
                    <a:pt x="399" y="177"/>
                  </a:lnTo>
                  <a:lnTo>
                    <a:pt x="434" y="177"/>
                  </a:lnTo>
                  <a:lnTo>
                    <a:pt x="468" y="161"/>
                  </a:lnTo>
                  <a:lnTo>
                    <a:pt x="434" y="144"/>
                  </a:lnTo>
                  <a:lnTo>
                    <a:pt x="417" y="144"/>
                  </a:lnTo>
                  <a:lnTo>
                    <a:pt x="380" y="144"/>
                  </a:lnTo>
                  <a:lnTo>
                    <a:pt x="417" y="113"/>
                  </a:lnTo>
                  <a:lnTo>
                    <a:pt x="399" y="113"/>
                  </a:lnTo>
                  <a:lnTo>
                    <a:pt x="346" y="161"/>
                  </a:lnTo>
                  <a:lnTo>
                    <a:pt x="328" y="144"/>
                  </a:lnTo>
                  <a:lnTo>
                    <a:pt x="294" y="144"/>
                  </a:lnTo>
                  <a:lnTo>
                    <a:pt x="294" y="129"/>
                  </a:lnTo>
                  <a:lnTo>
                    <a:pt x="276" y="129"/>
                  </a:lnTo>
                  <a:lnTo>
                    <a:pt x="276" y="96"/>
                  </a:lnTo>
                  <a:lnTo>
                    <a:pt x="242" y="65"/>
                  </a:lnTo>
                  <a:lnTo>
                    <a:pt x="155" y="65"/>
                  </a:lnTo>
                  <a:lnTo>
                    <a:pt x="104" y="17"/>
                  </a:lnTo>
                  <a:lnTo>
                    <a:pt x="69" y="0"/>
                  </a:lnTo>
                  <a:lnTo>
                    <a:pt x="0" y="17"/>
                  </a:lnTo>
                  <a:lnTo>
                    <a:pt x="0" y="144"/>
                  </a:lnTo>
                  <a:lnTo>
                    <a:pt x="17" y="144"/>
                  </a:lnTo>
                  <a:lnTo>
                    <a:pt x="17" y="129"/>
                  </a:lnTo>
                  <a:lnTo>
                    <a:pt x="52" y="113"/>
                  </a:lnTo>
                  <a:lnTo>
                    <a:pt x="69" y="113"/>
                  </a:lnTo>
                  <a:lnTo>
                    <a:pt x="52" y="96"/>
                  </a:lnTo>
                  <a:lnTo>
                    <a:pt x="69" y="96"/>
                  </a:lnTo>
                  <a:lnTo>
                    <a:pt x="104" y="113"/>
                  </a:lnTo>
                  <a:lnTo>
                    <a:pt x="104" y="144"/>
                  </a:lnTo>
                  <a:lnTo>
                    <a:pt x="155" y="144"/>
                  </a:lnTo>
                  <a:lnTo>
                    <a:pt x="173" y="192"/>
                  </a:lnTo>
                  <a:lnTo>
                    <a:pt x="259" y="240"/>
                  </a:lnTo>
                  <a:lnTo>
                    <a:pt x="294" y="257"/>
                  </a:lnTo>
                  <a:lnTo>
                    <a:pt x="276" y="28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1" name="Freeform 189">
              <a:extLst>
                <a:ext uri="{FF2B5EF4-FFF2-40B4-BE49-F238E27FC236}">
                  <a16:creationId xmlns:a16="http://schemas.microsoft.com/office/drawing/2014/main" id="{CA347006-1410-4BC3-BDF4-B188693D5AA1}"/>
                </a:ext>
              </a:extLst>
            </p:cNvPr>
            <p:cNvSpPr>
              <a:spLocks/>
            </p:cNvSpPr>
            <p:nvPr>
              <p:custDataLst>
                <p:tags r:id="rId190"/>
              </p:custDataLst>
            </p:nvPr>
          </p:nvSpPr>
          <p:spPr bwMode="auto">
            <a:xfrm>
              <a:off x="8920371" y="3543251"/>
              <a:ext cx="184722" cy="126666"/>
            </a:xfrm>
            <a:custGeom>
              <a:avLst/>
              <a:gdLst>
                <a:gd name="T0" fmla="*/ 35092 w 209"/>
                <a:gd name="T1" fmla="*/ 9525 h 144"/>
                <a:gd name="T2" fmla="*/ 35092 w 209"/>
                <a:gd name="T3" fmla="*/ 9525 h 144"/>
                <a:gd name="T4" fmla="*/ 35092 w 209"/>
                <a:gd name="T5" fmla="*/ 15081 h 144"/>
                <a:gd name="T6" fmla="*/ 42270 w 209"/>
                <a:gd name="T7" fmla="*/ 15081 h 144"/>
                <a:gd name="T8" fmla="*/ 42270 w 209"/>
                <a:gd name="T9" fmla="*/ 24606 h 144"/>
                <a:gd name="T10" fmla="*/ 31902 w 209"/>
                <a:gd name="T11" fmla="*/ 21431 h 144"/>
                <a:gd name="T12" fmla="*/ 24724 w 209"/>
                <a:gd name="T13" fmla="*/ 28575 h 144"/>
                <a:gd name="T14" fmla="*/ 21534 w 209"/>
                <a:gd name="T15" fmla="*/ 19050 h 144"/>
                <a:gd name="T16" fmla="*/ 17546 w 209"/>
                <a:gd name="T17" fmla="*/ 15081 h 144"/>
                <a:gd name="T18" fmla="*/ 14356 w 209"/>
                <a:gd name="T19" fmla="*/ 21431 h 144"/>
                <a:gd name="T20" fmla="*/ 11166 w 209"/>
                <a:gd name="T21" fmla="*/ 21431 h 144"/>
                <a:gd name="T22" fmla="*/ 11166 w 209"/>
                <a:gd name="T23" fmla="*/ 24606 h 144"/>
                <a:gd name="T24" fmla="*/ 3988 w 209"/>
                <a:gd name="T25" fmla="*/ 24606 h 144"/>
                <a:gd name="T26" fmla="*/ 0 w 209"/>
                <a:gd name="T27" fmla="*/ 24606 h 144"/>
                <a:gd name="T28" fmla="*/ 3988 w 209"/>
                <a:gd name="T29" fmla="*/ 19050 h 144"/>
                <a:gd name="T30" fmla="*/ 3988 w 209"/>
                <a:gd name="T31" fmla="*/ 12700 h 144"/>
                <a:gd name="T32" fmla="*/ 0 w 209"/>
                <a:gd name="T33" fmla="*/ 9525 h 144"/>
                <a:gd name="T34" fmla="*/ 7178 w 209"/>
                <a:gd name="T35" fmla="*/ 9525 h 144"/>
                <a:gd name="T36" fmla="*/ 11166 w 209"/>
                <a:gd name="T37" fmla="*/ 3175 h 144"/>
                <a:gd name="T38" fmla="*/ 11166 w 209"/>
                <a:gd name="T39" fmla="*/ 0 h 144"/>
                <a:gd name="T40" fmla="*/ 17546 w 209"/>
                <a:gd name="T41" fmla="*/ 0 h 144"/>
                <a:gd name="T42" fmla="*/ 17546 w 209"/>
                <a:gd name="T43" fmla="*/ 3175 h 144"/>
                <a:gd name="T44" fmla="*/ 17546 w 209"/>
                <a:gd name="T45" fmla="*/ 5556 h 144"/>
                <a:gd name="T46" fmla="*/ 11166 w 209"/>
                <a:gd name="T47" fmla="*/ 5556 h 144"/>
                <a:gd name="T48" fmla="*/ 11166 w 209"/>
                <a:gd name="T49" fmla="*/ 9525 h 144"/>
                <a:gd name="T50" fmla="*/ 21534 w 209"/>
                <a:gd name="T51" fmla="*/ 9525 h 144"/>
                <a:gd name="T52" fmla="*/ 24724 w 209"/>
                <a:gd name="T53" fmla="*/ 9525 h 144"/>
                <a:gd name="T54" fmla="*/ 35092 w 209"/>
                <a:gd name="T55" fmla="*/ 9525 h 14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09"/>
                <a:gd name="T85" fmla="*/ 0 h 144"/>
                <a:gd name="T86" fmla="*/ 209 w 209"/>
                <a:gd name="T87" fmla="*/ 144 h 14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09" h="144">
                  <a:moveTo>
                    <a:pt x="175" y="48"/>
                  </a:moveTo>
                  <a:lnTo>
                    <a:pt x="175" y="48"/>
                  </a:lnTo>
                  <a:lnTo>
                    <a:pt x="175" y="79"/>
                  </a:lnTo>
                  <a:lnTo>
                    <a:pt x="209" y="79"/>
                  </a:lnTo>
                  <a:lnTo>
                    <a:pt x="209" y="127"/>
                  </a:lnTo>
                  <a:lnTo>
                    <a:pt x="157" y="111"/>
                  </a:lnTo>
                  <a:lnTo>
                    <a:pt x="123" y="144"/>
                  </a:lnTo>
                  <a:lnTo>
                    <a:pt x="106" y="96"/>
                  </a:lnTo>
                  <a:lnTo>
                    <a:pt x="88" y="79"/>
                  </a:lnTo>
                  <a:lnTo>
                    <a:pt x="71" y="111"/>
                  </a:lnTo>
                  <a:lnTo>
                    <a:pt x="54" y="111"/>
                  </a:lnTo>
                  <a:lnTo>
                    <a:pt x="54" y="127"/>
                  </a:lnTo>
                  <a:lnTo>
                    <a:pt x="17" y="127"/>
                  </a:lnTo>
                  <a:lnTo>
                    <a:pt x="0" y="127"/>
                  </a:lnTo>
                  <a:lnTo>
                    <a:pt x="17" y="96"/>
                  </a:lnTo>
                  <a:lnTo>
                    <a:pt x="17" y="64"/>
                  </a:lnTo>
                  <a:lnTo>
                    <a:pt x="0" y="48"/>
                  </a:lnTo>
                  <a:lnTo>
                    <a:pt x="35" y="48"/>
                  </a:lnTo>
                  <a:lnTo>
                    <a:pt x="54" y="16"/>
                  </a:lnTo>
                  <a:lnTo>
                    <a:pt x="54" y="0"/>
                  </a:lnTo>
                  <a:lnTo>
                    <a:pt x="88" y="0"/>
                  </a:lnTo>
                  <a:lnTo>
                    <a:pt x="88" y="16"/>
                  </a:lnTo>
                  <a:lnTo>
                    <a:pt x="88" y="31"/>
                  </a:lnTo>
                  <a:lnTo>
                    <a:pt x="54" y="31"/>
                  </a:lnTo>
                  <a:lnTo>
                    <a:pt x="54" y="48"/>
                  </a:lnTo>
                  <a:lnTo>
                    <a:pt x="106" y="48"/>
                  </a:lnTo>
                  <a:lnTo>
                    <a:pt x="123" y="48"/>
                  </a:lnTo>
                  <a:lnTo>
                    <a:pt x="175" y="4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2" name="Freeform 190">
              <a:extLst>
                <a:ext uri="{FF2B5EF4-FFF2-40B4-BE49-F238E27FC236}">
                  <a16:creationId xmlns:a16="http://schemas.microsoft.com/office/drawing/2014/main" id="{F40813A1-E6BE-4C2C-BBDE-E44592446F90}"/>
                </a:ext>
              </a:extLst>
            </p:cNvPr>
            <p:cNvSpPr>
              <a:spLocks/>
            </p:cNvSpPr>
            <p:nvPr>
              <p:custDataLst>
                <p:tags r:id="rId191"/>
              </p:custDataLst>
            </p:nvPr>
          </p:nvSpPr>
          <p:spPr bwMode="auto">
            <a:xfrm>
              <a:off x="8967870" y="3471121"/>
              <a:ext cx="260369" cy="114352"/>
            </a:xfrm>
            <a:custGeom>
              <a:avLst/>
              <a:gdLst>
                <a:gd name="T0" fmla="*/ 58937 w 295"/>
                <a:gd name="T1" fmla="*/ 6449 h 128"/>
                <a:gd name="T2" fmla="*/ 58937 w 295"/>
                <a:gd name="T3" fmla="*/ 6449 h 128"/>
                <a:gd name="T4" fmla="*/ 58937 w 295"/>
                <a:gd name="T5" fmla="*/ 9674 h 128"/>
                <a:gd name="T6" fmla="*/ 48583 w 295"/>
                <a:gd name="T7" fmla="*/ 16929 h 128"/>
                <a:gd name="T8" fmla="*/ 41415 w 295"/>
                <a:gd name="T9" fmla="*/ 16929 h 128"/>
                <a:gd name="T10" fmla="*/ 38229 w 295"/>
                <a:gd name="T11" fmla="*/ 20154 h 128"/>
                <a:gd name="T12" fmla="*/ 31061 w 295"/>
                <a:gd name="T13" fmla="*/ 20154 h 128"/>
                <a:gd name="T14" fmla="*/ 24690 w 295"/>
                <a:gd name="T15" fmla="*/ 22572 h 128"/>
                <a:gd name="T16" fmla="*/ 24690 w 295"/>
                <a:gd name="T17" fmla="*/ 26603 h 128"/>
                <a:gd name="T18" fmla="*/ 14336 w 295"/>
                <a:gd name="T19" fmla="*/ 26603 h 128"/>
                <a:gd name="T20" fmla="*/ 10354 w 295"/>
                <a:gd name="T21" fmla="*/ 26603 h 128"/>
                <a:gd name="T22" fmla="*/ 0 w 295"/>
                <a:gd name="T23" fmla="*/ 26603 h 128"/>
                <a:gd name="T24" fmla="*/ 0 w 295"/>
                <a:gd name="T25" fmla="*/ 22572 h 128"/>
                <a:gd name="T26" fmla="*/ 7168 w 295"/>
                <a:gd name="T27" fmla="*/ 22572 h 128"/>
                <a:gd name="T28" fmla="*/ 7168 w 295"/>
                <a:gd name="T29" fmla="*/ 20154 h 128"/>
                <a:gd name="T30" fmla="*/ 14336 w 295"/>
                <a:gd name="T31" fmla="*/ 20154 h 128"/>
                <a:gd name="T32" fmla="*/ 20707 w 295"/>
                <a:gd name="T33" fmla="*/ 16929 h 128"/>
                <a:gd name="T34" fmla="*/ 14336 w 295"/>
                <a:gd name="T35" fmla="*/ 12899 h 128"/>
                <a:gd name="T36" fmla="*/ 10354 w 295"/>
                <a:gd name="T37" fmla="*/ 12899 h 128"/>
                <a:gd name="T38" fmla="*/ 3982 w 295"/>
                <a:gd name="T39" fmla="*/ 12899 h 128"/>
                <a:gd name="T40" fmla="*/ 10354 w 295"/>
                <a:gd name="T41" fmla="*/ 6449 h 128"/>
                <a:gd name="T42" fmla="*/ 7168 w 295"/>
                <a:gd name="T43" fmla="*/ 6449 h 128"/>
                <a:gd name="T44" fmla="*/ 10354 w 295"/>
                <a:gd name="T45" fmla="*/ 3225 h 128"/>
                <a:gd name="T46" fmla="*/ 20707 w 295"/>
                <a:gd name="T47" fmla="*/ 6449 h 128"/>
                <a:gd name="T48" fmla="*/ 20707 w 295"/>
                <a:gd name="T49" fmla="*/ 3225 h 128"/>
                <a:gd name="T50" fmla="*/ 24690 w 295"/>
                <a:gd name="T51" fmla="*/ 0 h 128"/>
                <a:gd name="T52" fmla="*/ 31061 w 295"/>
                <a:gd name="T53" fmla="*/ 3225 h 128"/>
                <a:gd name="T54" fmla="*/ 51769 w 295"/>
                <a:gd name="T55" fmla="*/ 3225 h 128"/>
                <a:gd name="T56" fmla="*/ 58937 w 295"/>
                <a:gd name="T57" fmla="*/ 6449 h 12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95"/>
                <a:gd name="T88" fmla="*/ 0 h 128"/>
                <a:gd name="T89" fmla="*/ 295 w 295"/>
                <a:gd name="T90" fmla="*/ 128 h 12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95" h="128">
                  <a:moveTo>
                    <a:pt x="295" y="32"/>
                  </a:moveTo>
                  <a:lnTo>
                    <a:pt x="295" y="32"/>
                  </a:lnTo>
                  <a:lnTo>
                    <a:pt x="295" y="48"/>
                  </a:lnTo>
                  <a:lnTo>
                    <a:pt x="242" y="80"/>
                  </a:lnTo>
                  <a:lnTo>
                    <a:pt x="207" y="80"/>
                  </a:lnTo>
                  <a:lnTo>
                    <a:pt x="190" y="96"/>
                  </a:lnTo>
                  <a:lnTo>
                    <a:pt x="155" y="96"/>
                  </a:lnTo>
                  <a:lnTo>
                    <a:pt x="121" y="111"/>
                  </a:lnTo>
                  <a:lnTo>
                    <a:pt x="121" y="128"/>
                  </a:lnTo>
                  <a:lnTo>
                    <a:pt x="69" y="128"/>
                  </a:lnTo>
                  <a:lnTo>
                    <a:pt x="52" y="128"/>
                  </a:lnTo>
                  <a:lnTo>
                    <a:pt x="0" y="128"/>
                  </a:lnTo>
                  <a:lnTo>
                    <a:pt x="0" y="111"/>
                  </a:lnTo>
                  <a:lnTo>
                    <a:pt x="34" y="111"/>
                  </a:lnTo>
                  <a:lnTo>
                    <a:pt x="34" y="96"/>
                  </a:lnTo>
                  <a:lnTo>
                    <a:pt x="69" y="96"/>
                  </a:lnTo>
                  <a:lnTo>
                    <a:pt x="103" y="80"/>
                  </a:lnTo>
                  <a:lnTo>
                    <a:pt x="69" y="63"/>
                  </a:lnTo>
                  <a:lnTo>
                    <a:pt x="52" y="63"/>
                  </a:lnTo>
                  <a:lnTo>
                    <a:pt x="17" y="63"/>
                  </a:lnTo>
                  <a:lnTo>
                    <a:pt x="52" y="32"/>
                  </a:lnTo>
                  <a:lnTo>
                    <a:pt x="34" y="32"/>
                  </a:lnTo>
                  <a:lnTo>
                    <a:pt x="52" y="15"/>
                  </a:lnTo>
                  <a:lnTo>
                    <a:pt x="103" y="32"/>
                  </a:lnTo>
                  <a:lnTo>
                    <a:pt x="103" y="15"/>
                  </a:lnTo>
                  <a:lnTo>
                    <a:pt x="121" y="0"/>
                  </a:lnTo>
                  <a:lnTo>
                    <a:pt x="155" y="15"/>
                  </a:lnTo>
                  <a:lnTo>
                    <a:pt x="259" y="15"/>
                  </a:lnTo>
                  <a:lnTo>
                    <a:pt x="295" y="3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3" name="Freeform 191">
              <a:extLst>
                <a:ext uri="{FF2B5EF4-FFF2-40B4-BE49-F238E27FC236}">
                  <a16:creationId xmlns:a16="http://schemas.microsoft.com/office/drawing/2014/main" id="{7CF40FAA-55AA-4992-B6BA-9EDB28FFCAF8}"/>
                </a:ext>
              </a:extLst>
            </p:cNvPr>
            <p:cNvSpPr>
              <a:spLocks/>
            </p:cNvSpPr>
            <p:nvPr>
              <p:custDataLst>
                <p:tags r:id="rId192"/>
              </p:custDataLst>
            </p:nvPr>
          </p:nvSpPr>
          <p:spPr bwMode="auto">
            <a:xfrm>
              <a:off x="8770834" y="3654083"/>
              <a:ext cx="346919" cy="351850"/>
            </a:xfrm>
            <a:custGeom>
              <a:avLst/>
              <a:gdLst>
                <a:gd name="T0" fmla="*/ 3168 w 449"/>
                <a:gd name="T1" fmla="*/ 69676 h 401"/>
                <a:gd name="T2" fmla="*/ 3168 w 449"/>
                <a:gd name="T3" fmla="*/ 69676 h 401"/>
                <a:gd name="T4" fmla="*/ 3168 w 449"/>
                <a:gd name="T5" fmla="*/ 63342 h 401"/>
                <a:gd name="T6" fmla="*/ 10296 w 449"/>
                <a:gd name="T7" fmla="*/ 60175 h 401"/>
                <a:gd name="T8" fmla="*/ 6336 w 449"/>
                <a:gd name="T9" fmla="*/ 53840 h 401"/>
                <a:gd name="T10" fmla="*/ 3168 w 449"/>
                <a:gd name="T11" fmla="*/ 50673 h 401"/>
                <a:gd name="T12" fmla="*/ 0 w 449"/>
                <a:gd name="T13" fmla="*/ 44339 h 401"/>
                <a:gd name="T14" fmla="*/ 6336 w 449"/>
                <a:gd name="T15" fmla="*/ 47506 h 401"/>
                <a:gd name="T16" fmla="*/ 26927 w 449"/>
                <a:gd name="T17" fmla="*/ 44339 h 401"/>
                <a:gd name="T18" fmla="*/ 26927 w 449"/>
                <a:gd name="T19" fmla="*/ 38005 h 401"/>
                <a:gd name="T20" fmla="*/ 30887 w 449"/>
                <a:gd name="T21" fmla="*/ 34838 h 401"/>
                <a:gd name="T22" fmla="*/ 44351 w 449"/>
                <a:gd name="T23" fmla="*/ 31671 h 401"/>
                <a:gd name="T24" fmla="*/ 44351 w 449"/>
                <a:gd name="T25" fmla="*/ 25337 h 401"/>
                <a:gd name="T26" fmla="*/ 47519 w 449"/>
                <a:gd name="T27" fmla="*/ 22170 h 401"/>
                <a:gd name="T28" fmla="*/ 47519 w 449"/>
                <a:gd name="T29" fmla="*/ 19002 h 401"/>
                <a:gd name="T30" fmla="*/ 50687 w 449"/>
                <a:gd name="T31" fmla="*/ 19002 h 401"/>
                <a:gd name="T32" fmla="*/ 54647 w 449"/>
                <a:gd name="T33" fmla="*/ 12668 h 401"/>
                <a:gd name="T34" fmla="*/ 54647 w 449"/>
                <a:gd name="T35" fmla="*/ 6334 h 401"/>
                <a:gd name="T36" fmla="*/ 60983 w 449"/>
                <a:gd name="T37" fmla="*/ 3167 h 401"/>
                <a:gd name="T38" fmla="*/ 68110 w 449"/>
                <a:gd name="T39" fmla="*/ 0 h 401"/>
                <a:gd name="T40" fmla="*/ 71278 w 449"/>
                <a:gd name="T41" fmla="*/ 0 h 401"/>
                <a:gd name="T42" fmla="*/ 78406 w 449"/>
                <a:gd name="T43" fmla="*/ 3167 h 401"/>
                <a:gd name="T44" fmla="*/ 81574 w 449"/>
                <a:gd name="T45" fmla="*/ 6334 h 401"/>
                <a:gd name="T46" fmla="*/ 88702 w 449"/>
                <a:gd name="T47" fmla="*/ 9501 h 401"/>
                <a:gd name="T48" fmla="*/ 85534 w 449"/>
                <a:gd name="T49" fmla="*/ 12668 h 401"/>
                <a:gd name="T50" fmla="*/ 78406 w 449"/>
                <a:gd name="T51" fmla="*/ 15835 h 401"/>
                <a:gd name="T52" fmla="*/ 71278 w 449"/>
                <a:gd name="T53" fmla="*/ 12668 h 401"/>
                <a:gd name="T54" fmla="*/ 68110 w 449"/>
                <a:gd name="T55" fmla="*/ 15835 h 401"/>
                <a:gd name="T56" fmla="*/ 71278 w 449"/>
                <a:gd name="T57" fmla="*/ 19002 h 401"/>
                <a:gd name="T58" fmla="*/ 68110 w 449"/>
                <a:gd name="T59" fmla="*/ 25337 h 401"/>
                <a:gd name="T60" fmla="*/ 75238 w 449"/>
                <a:gd name="T61" fmla="*/ 28504 h 401"/>
                <a:gd name="T62" fmla="*/ 75238 w 449"/>
                <a:gd name="T63" fmla="*/ 31671 h 401"/>
                <a:gd name="T64" fmla="*/ 71278 w 449"/>
                <a:gd name="T65" fmla="*/ 31671 h 401"/>
                <a:gd name="T66" fmla="*/ 75238 w 449"/>
                <a:gd name="T67" fmla="*/ 34838 h 401"/>
                <a:gd name="T68" fmla="*/ 57815 w 449"/>
                <a:gd name="T69" fmla="*/ 53840 h 401"/>
                <a:gd name="T70" fmla="*/ 50687 w 449"/>
                <a:gd name="T71" fmla="*/ 57007 h 401"/>
                <a:gd name="T72" fmla="*/ 47519 w 449"/>
                <a:gd name="T73" fmla="*/ 53840 h 401"/>
                <a:gd name="T74" fmla="*/ 44351 w 449"/>
                <a:gd name="T75" fmla="*/ 57007 h 401"/>
                <a:gd name="T76" fmla="*/ 44351 w 449"/>
                <a:gd name="T77" fmla="*/ 63342 h 401"/>
                <a:gd name="T78" fmla="*/ 47519 w 449"/>
                <a:gd name="T79" fmla="*/ 63342 h 401"/>
                <a:gd name="T80" fmla="*/ 47519 w 449"/>
                <a:gd name="T81" fmla="*/ 66509 h 401"/>
                <a:gd name="T82" fmla="*/ 50687 w 449"/>
                <a:gd name="T83" fmla="*/ 66509 h 401"/>
                <a:gd name="T84" fmla="*/ 50687 w 449"/>
                <a:gd name="T85" fmla="*/ 72843 h 401"/>
                <a:gd name="T86" fmla="*/ 50687 w 449"/>
                <a:gd name="T87" fmla="*/ 76010 h 401"/>
                <a:gd name="T88" fmla="*/ 40391 w 449"/>
                <a:gd name="T89" fmla="*/ 76010 h 401"/>
                <a:gd name="T90" fmla="*/ 37223 w 449"/>
                <a:gd name="T91" fmla="*/ 79177 h 401"/>
                <a:gd name="T92" fmla="*/ 34055 w 449"/>
                <a:gd name="T93" fmla="*/ 76010 h 401"/>
                <a:gd name="T94" fmla="*/ 30887 w 449"/>
                <a:gd name="T95" fmla="*/ 69676 h 401"/>
                <a:gd name="T96" fmla="*/ 20592 w 449"/>
                <a:gd name="T97" fmla="*/ 69676 h 401"/>
                <a:gd name="T98" fmla="*/ 13464 w 449"/>
                <a:gd name="T99" fmla="*/ 69676 h 401"/>
                <a:gd name="T100" fmla="*/ 3168 w 449"/>
                <a:gd name="T101" fmla="*/ 69676 h 40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49"/>
                <a:gd name="T154" fmla="*/ 0 h 401"/>
                <a:gd name="T155" fmla="*/ 449 w 449"/>
                <a:gd name="T156" fmla="*/ 401 h 401"/>
                <a:gd name="connsiteX0" fmla="*/ 379 w 9621"/>
                <a:gd name="connsiteY0" fmla="*/ 8803 h 10000"/>
                <a:gd name="connsiteX1" fmla="*/ 379 w 9621"/>
                <a:gd name="connsiteY1" fmla="*/ 8803 h 10000"/>
                <a:gd name="connsiteX2" fmla="*/ 379 w 9621"/>
                <a:gd name="connsiteY2" fmla="*/ 7980 h 10000"/>
                <a:gd name="connsiteX3" fmla="*/ 1158 w 9621"/>
                <a:gd name="connsiteY3" fmla="*/ 7606 h 10000"/>
                <a:gd name="connsiteX4" fmla="*/ 780 w 9621"/>
                <a:gd name="connsiteY4" fmla="*/ 6783 h 10000"/>
                <a:gd name="connsiteX5" fmla="*/ 379 w 9621"/>
                <a:gd name="connsiteY5" fmla="*/ 6409 h 10000"/>
                <a:gd name="connsiteX6" fmla="*/ 0 w 9621"/>
                <a:gd name="connsiteY6" fmla="*/ 5586 h 10000"/>
                <a:gd name="connsiteX7" fmla="*/ 780 w 9621"/>
                <a:gd name="connsiteY7" fmla="*/ 5985 h 10000"/>
                <a:gd name="connsiteX8" fmla="*/ 3073 w 9621"/>
                <a:gd name="connsiteY8" fmla="*/ 5586 h 10000"/>
                <a:gd name="connsiteX9" fmla="*/ 3073 w 9621"/>
                <a:gd name="connsiteY9" fmla="*/ 4788 h 10000"/>
                <a:gd name="connsiteX10" fmla="*/ 3474 w 9621"/>
                <a:gd name="connsiteY10" fmla="*/ 4389 h 10000"/>
                <a:gd name="connsiteX11" fmla="*/ 5011 w 9621"/>
                <a:gd name="connsiteY11" fmla="*/ 4015 h 10000"/>
                <a:gd name="connsiteX12" fmla="*/ 5011 w 9621"/>
                <a:gd name="connsiteY12" fmla="*/ 3192 h 10000"/>
                <a:gd name="connsiteX13" fmla="*/ 5390 w 9621"/>
                <a:gd name="connsiteY13" fmla="*/ 2818 h 10000"/>
                <a:gd name="connsiteX14" fmla="*/ 5390 w 9621"/>
                <a:gd name="connsiteY14" fmla="*/ 2394 h 10000"/>
                <a:gd name="connsiteX15" fmla="*/ 5768 w 9621"/>
                <a:gd name="connsiteY15" fmla="*/ 2394 h 10000"/>
                <a:gd name="connsiteX16" fmla="*/ 6169 w 9621"/>
                <a:gd name="connsiteY16" fmla="*/ 1621 h 10000"/>
                <a:gd name="connsiteX17" fmla="*/ 6169 w 9621"/>
                <a:gd name="connsiteY17" fmla="*/ 798 h 10000"/>
                <a:gd name="connsiteX18" fmla="*/ 6927 w 9621"/>
                <a:gd name="connsiteY18" fmla="*/ 424 h 10000"/>
                <a:gd name="connsiteX19" fmla="*/ 7706 w 9621"/>
                <a:gd name="connsiteY19" fmla="*/ 0 h 10000"/>
                <a:gd name="connsiteX20" fmla="*/ 8085 w 9621"/>
                <a:gd name="connsiteY20" fmla="*/ 0 h 10000"/>
                <a:gd name="connsiteX21" fmla="*/ 8842 w 9621"/>
                <a:gd name="connsiteY21" fmla="*/ 424 h 10000"/>
                <a:gd name="connsiteX22" fmla="*/ 9243 w 9621"/>
                <a:gd name="connsiteY22" fmla="*/ 798 h 10000"/>
                <a:gd name="connsiteX23" fmla="*/ 9621 w 9621"/>
                <a:gd name="connsiteY23" fmla="*/ 1621 h 10000"/>
                <a:gd name="connsiteX24" fmla="*/ 8842 w 9621"/>
                <a:gd name="connsiteY24" fmla="*/ 1995 h 10000"/>
                <a:gd name="connsiteX25" fmla="*/ 8085 w 9621"/>
                <a:gd name="connsiteY25" fmla="*/ 1621 h 10000"/>
                <a:gd name="connsiteX26" fmla="*/ 7706 w 9621"/>
                <a:gd name="connsiteY26" fmla="*/ 1995 h 10000"/>
                <a:gd name="connsiteX27" fmla="*/ 8085 w 9621"/>
                <a:gd name="connsiteY27" fmla="*/ 2394 h 10000"/>
                <a:gd name="connsiteX28" fmla="*/ 7706 w 9621"/>
                <a:gd name="connsiteY28" fmla="*/ 3192 h 10000"/>
                <a:gd name="connsiteX29" fmla="*/ 8463 w 9621"/>
                <a:gd name="connsiteY29" fmla="*/ 3591 h 10000"/>
                <a:gd name="connsiteX30" fmla="*/ 8463 w 9621"/>
                <a:gd name="connsiteY30" fmla="*/ 4015 h 10000"/>
                <a:gd name="connsiteX31" fmla="*/ 8085 w 9621"/>
                <a:gd name="connsiteY31" fmla="*/ 4015 h 10000"/>
                <a:gd name="connsiteX32" fmla="*/ 8463 w 9621"/>
                <a:gd name="connsiteY32" fmla="*/ 4389 h 10000"/>
                <a:gd name="connsiteX33" fmla="*/ 6548 w 9621"/>
                <a:gd name="connsiteY33" fmla="*/ 6783 h 10000"/>
                <a:gd name="connsiteX34" fmla="*/ 5768 w 9621"/>
                <a:gd name="connsiteY34" fmla="*/ 7182 h 10000"/>
                <a:gd name="connsiteX35" fmla="*/ 5390 w 9621"/>
                <a:gd name="connsiteY35" fmla="*/ 6783 h 10000"/>
                <a:gd name="connsiteX36" fmla="*/ 5011 w 9621"/>
                <a:gd name="connsiteY36" fmla="*/ 7182 h 10000"/>
                <a:gd name="connsiteX37" fmla="*/ 5011 w 9621"/>
                <a:gd name="connsiteY37" fmla="*/ 7980 h 10000"/>
                <a:gd name="connsiteX38" fmla="*/ 5390 w 9621"/>
                <a:gd name="connsiteY38" fmla="*/ 7980 h 10000"/>
                <a:gd name="connsiteX39" fmla="*/ 5390 w 9621"/>
                <a:gd name="connsiteY39" fmla="*/ 8379 h 10000"/>
                <a:gd name="connsiteX40" fmla="*/ 5768 w 9621"/>
                <a:gd name="connsiteY40" fmla="*/ 8379 h 10000"/>
                <a:gd name="connsiteX41" fmla="*/ 5768 w 9621"/>
                <a:gd name="connsiteY41" fmla="*/ 9177 h 10000"/>
                <a:gd name="connsiteX42" fmla="*/ 5768 w 9621"/>
                <a:gd name="connsiteY42" fmla="*/ 9576 h 10000"/>
                <a:gd name="connsiteX43" fmla="*/ 4610 w 9621"/>
                <a:gd name="connsiteY43" fmla="*/ 9576 h 10000"/>
                <a:gd name="connsiteX44" fmla="*/ 4232 w 9621"/>
                <a:gd name="connsiteY44" fmla="*/ 10000 h 10000"/>
                <a:gd name="connsiteX45" fmla="*/ 3853 w 9621"/>
                <a:gd name="connsiteY45" fmla="*/ 9576 h 10000"/>
                <a:gd name="connsiteX46" fmla="*/ 3474 w 9621"/>
                <a:gd name="connsiteY46" fmla="*/ 8803 h 10000"/>
                <a:gd name="connsiteX47" fmla="*/ 2316 w 9621"/>
                <a:gd name="connsiteY47" fmla="*/ 8803 h 10000"/>
                <a:gd name="connsiteX48" fmla="*/ 1537 w 9621"/>
                <a:gd name="connsiteY48" fmla="*/ 8803 h 10000"/>
                <a:gd name="connsiteX49" fmla="*/ 379 w 9621"/>
                <a:gd name="connsiteY49" fmla="*/ 8803 h 10000"/>
                <a:gd name="connsiteX0" fmla="*/ 394 w 10000"/>
                <a:gd name="connsiteY0" fmla="*/ 8803 h 10000"/>
                <a:gd name="connsiteX1" fmla="*/ 394 w 10000"/>
                <a:gd name="connsiteY1" fmla="*/ 8803 h 10000"/>
                <a:gd name="connsiteX2" fmla="*/ 394 w 10000"/>
                <a:gd name="connsiteY2" fmla="*/ 7980 h 10000"/>
                <a:gd name="connsiteX3" fmla="*/ 1204 w 10000"/>
                <a:gd name="connsiteY3" fmla="*/ 7606 h 10000"/>
                <a:gd name="connsiteX4" fmla="*/ 811 w 10000"/>
                <a:gd name="connsiteY4" fmla="*/ 6783 h 10000"/>
                <a:gd name="connsiteX5" fmla="*/ 394 w 10000"/>
                <a:gd name="connsiteY5" fmla="*/ 6409 h 10000"/>
                <a:gd name="connsiteX6" fmla="*/ 0 w 10000"/>
                <a:gd name="connsiteY6" fmla="*/ 5586 h 10000"/>
                <a:gd name="connsiteX7" fmla="*/ 811 w 10000"/>
                <a:gd name="connsiteY7" fmla="*/ 5985 h 10000"/>
                <a:gd name="connsiteX8" fmla="*/ 3194 w 10000"/>
                <a:gd name="connsiteY8" fmla="*/ 5586 h 10000"/>
                <a:gd name="connsiteX9" fmla="*/ 3194 w 10000"/>
                <a:gd name="connsiteY9" fmla="*/ 4788 h 10000"/>
                <a:gd name="connsiteX10" fmla="*/ 3611 w 10000"/>
                <a:gd name="connsiteY10" fmla="*/ 4389 h 10000"/>
                <a:gd name="connsiteX11" fmla="*/ 5208 w 10000"/>
                <a:gd name="connsiteY11" fmla="*/ 4015 h 10000"/>
                <a:gd name="connsiteX12" fmla="*/ 5208 w 10000"/>
                <a:gd name="connsiteY12" fmla="*/ 3192 h 10000"/>
                <a:gd name="connsiteX13" fmla="*/ 5602 w 10000"/>
                <a:gd name="connsiteY13" fmla="*/ 2818 h 10000"/>
                <a:gd name="connsiteX14" fmla="*/ 5602 w 10000"/>
                <a:gd name="connsiteY14" fmla="*/ 2394 h 10000"/>
                <a:gd name="connsiteX15" fmla="*/ 5995 w 10000"/>
                <a:gd name="connsiteY15" fmla="*/ 2394 h 10000"/>
                <a:gd name="connsiteX16" fmla="*/ 6412 w 10000"/>
                <a:gd name="connsiteY16" fmla="*/ 1621 h 10000"/>
                <a:gd name="connsiteX17" fmla="*/ 6412 w 10000"/>
                <a:gd name="connsiteY17" fmla="*/ 798 h 10000"/>
                <a:gd name="connsiteX18" fmla="*/ 7200 w 10000"/>
                <a:gd name="connsiteY18" fmla="*/ 424 h 10000"/>
                <a:gd name="connsiteX19" fmla="*/ 8010 w 10000"/>
                <a:gd name="connsiteY19" fmla="*/ 0 h 10000"/>
                <a:gd name="connsiteX20" fmla="*/ 8403 w 10000"/>
                <a:gd name="connsiteY20" fmla="*/ 0 h 10000"/>
                <a:gd name="connsiteX21" fmla="*/ 9190 w 10000"/>
                <a:gd name="connsiteY21" fmla="*/ 424 h 10000"/>
                <a:gd name="connsiteX22" fmla="*/ 10000 w 10000"/>
                <a:gd name="connsiteY22" fmla="*/ 1621 h 10000"/>
                <a:gd name="connsiteX23" fmla="*/ 9190 w 10000"/>
                <a:gd name="connsiteY23" fmla="*/ 1995 h 10000"/>
                <a:gd name="connsiteX24" fmla="*/ 8403 w 10000"/>
                <a:gd name="connsiteY24" fmla="*/ 1621 h 10000"/>
                <a:gd name="connsiteX25" fmla="*/ 8010 w 10000"/>
                <a:gd name="connsiteY25" fmla="*/ 1995 h 10000"/>
                <a:gd name="connsiteX26" fmla="*/ 8403 w 10000"/>
                <a:gd name="connsiteY26" fmla="*/ 2394 h 10000"/>
                <a:gd name="connsiteX27" fmla="*/ 8010 w 10000"/>
                <a:gd name="connsiteY27" fmla="*/ 3192 h 10000"/>
                <a:gd name="connsiteX28" fmla="*/ 8796 w 10000"/>
                <a:gd name="connsiteY28" fmla="*/ 3591 h 10000"/>
                <a:gd name="connsiteX29" fmla="*/ 8796 w 10000"/>
                <a:gd name="connsiteY29" fmla="*/ 4015 h 10000"/>
                <a:gd name="connsiteX30" fmla="*/ 8403 w 10000"/>
                <a:gd name="connsiteY30" fmla="*/ 4015 h 10000"/>
                <a:gd name="connsiteX31" fmla="*/ 8796 w 10000"/>
                <a:gd name="connsiteY31" fmla="*/ 4389 h 10000"/>
                <a:gd name="connsiteX32" fmla="*/ 6806 w 10000"/>
                <a:gd name="connsiteY32" fmla="*/ 6783 h 10000"/>
                <a:gd name="connsiteX33" fmla="*/ 5995 w 10000"/>
                <a:gd name="connsiteY33" fmla="*/ 7182 h 10000"/>
                <a:gd name="connsiteX34" fmla="*/ 5602 w 10000"/>
                <a:gd name="connsiteY34" fmla="*/ 6783 h 10000"/>
                <a:gd name="connsiteX35" fmla="*/ 5208 w 10000"/>
                <a:gd name="connsiteY35" fmla="*/ 7182 h 10000"/>
                <a:gd name="connsiteX36" fmla="*/ 5208 w 10000"/>
                <a:gd name="connsiteY36" fmla="*/ 7980 h 10000"/>
                <a:gd name="connsiteX37" fmla="*/ 5602 w 10000"/>
                <a:gd name="connsiteY37" fmla="*/ 7980 h 10000"/>
                <a:gd name="connsiteX38" fmla="*/ 5602 w 10000"/>
                <a:gd name="connsiteY38" fmla="*/ 8379 h 10000"/>
                <a:gd name="connsiteX39" fmla="*/ 5995 w 10000"/>
                <a:gd name="connsiteY39" fmla="*/ 8379 h 10000"/>
                <a:gd name="connsiteX40" fmla="*/ 5995 w 10000"/>
                <a:gd name="connsiteY40" fmla="*/ 9177 h 10000"/>
                <a:gd name="connsiteX41" fmla="*/ 5995 w 10000"/>
                <a:gd name="connsiteY41" fmla="*/ 9576 h 10000"/>
                <a:gd name="connsiteX42" fmla="*/ 4792 w 10000"/>
                <a:gd name="connsiteY42" fmla="*/ 9576 h 10000"/>
                <a:gd name="connsiteX43" fmla="*/ 4399 w 10000"/>
                <a:gd name="connsiteY43" fmla="*/ 10000 h 10000"/>
                <a:gd name="connsiteX44" fmla="*/ 4005 w 10000"/>
                <a:gd name="connsiteY44" fmla="*/ 9576 h 10000"/>
                <a:gd name="connsiteX45" fmla="*/ 3611 w 10000"/>
                <a:gd name="connsiteY45" fmla="*/ 8803 h 10000"/>
                <a:gd name="connsiteX46" fmla="*/ 2407 w 10000"/>
                <a:gd name="connsiteY46" fmla="*/ 8803 h 10000"/>
                <a:gd name="connsiteX47" fmla="*/ 1598 w 10000"/>
                <a:gd name="connsiteY47" fmla="*/ 8803 h 10000"/>
                <a:gd name="connsiteX48" fmla="*/ 394 w 10000"/>
                <a:gd name="connsiteY48" fmla="*/ 8803 h 10000"/>
                <a:gd name="connsiteX0" fmla="*/ 394 w 9190"/>
                <a:gd name="connsiteY0" fmla="*/ 8803 h 10000"/>
                <a:gd name="connsiteX1" fmla="*/ 394 w 9190"/>
                <a:gd name="connsiteY1" fmla="*/ 8803 h 10000"/>
                <a:gd name="connsiteX2" fmla="*/ 394 w 9190"/>
                <a:gd name="connsiteY2" fmla="*/ 7980 h 10000"/>
                <a:gd name="connsiteX3" fmla="*/ 1204 w 9190"/>
                <a:gd name="connsiteY3" fmla="*/ 7606 h 10000"/>
                <a:gd name="connsiteX4" fmla="*/ 811 w 9190"/>
                <a:gd name="connsiteY4" fmla="*/ 6783 h 10000"/>
                <a:gd name="connsiteX5" fmla="*/ 394 w 9190"/>
                <a:gd name="connsiteY5" fmla="*/ 6409 h 10000"/>
                <a:gd name="connsiteX6" fmla="*/ 0 w 9190"/>
                <a:gd name="connsiteY6" fmla="*/ 5586 h 10000"/>
                <a:gd name="connsiteX7" fmla="*/ 811 w 9190"/>
                <a:gd name="connsiteY7" fmla="*/ 5985 h 10000"/>
                <a:gd name="connsiteX8" fmla="*/ 3194 w 9190"/>
                <a:gd name="connsiteY8" fmla="*/ 5586 h 10000"/>
                <a:gd name="connsiteX9" fmla="*/ 3194 w 9190"/>
                <a:gd name="connsiteY9" fmla="*/ 4788 h 10000"/>
                <a:gd name="connsiteX10" fmla="*/ 3611 w 9190"/>
                <a:gd name="connsiteY10" fmla="*/ 4389 h 10000"/>
                <a:gd name="connsiteX11" fmla="*/ 5208 w 9190"/>
                <a:gd name="connsiteY11" fmla="*/ 4015 h 10000"/>
                <a:gd name="connsiteX12" fmla="*/ 5208 w 9190"/>
                <a:gd name="connsiteY12" fmla="*/ 3192 h 10000"/>
                <a:gd name="connsiteX13" fmla="*/ 5602 w 9190"/>
                <a:gd name="connsiteY13" fmla="*/ 2818 h 10000"/>
                <a:gd name="connsiteX14" fmla="*/ 5602 w 9190"/>
                <a:gd name="connsiteY14" fmla="*/ 2394 h 10000"/>
                <a:gd name="connsiteX15" fmla="*/ 5995 w 9190"/>
                <a:gd name="connsiteY15" fmla="*/ 2394 h 10000"/>
                <a:gd name="connsiteX16" fmla="*/ 6412 w 9190"/>
                <a:gd name="connsiteY16" fmla="*/ 1621 h 10000"/>
                <a:gd name="connsiteX17" fmla="*/ 6412 w 9190"/>
                <a:gd name="connsiteY17" fmla="*/ 798 h 10000"/>
                <a:gd name="connsiteX18" fmla="*/ 7200 w 9190"/>
                <a:gd name="connsiteY18" fmla="*/ 424 h 10000"/>
                <a:gd name="connsiteX19" fmla="*/ 8010 w 9190"/>
                <a:gd name="connsiteY19" fmla="*/ 0 h 10000"/>
                <a:gd name="connsiteX20" fmla="*/ 8403 w 9190"/>
                <a:gd name="connsiteY20" fmla="*/ 0 h 10000"/>
                <a:gd name="connsiteX21" fmla="*/ 9190 w 9190"/>
                <a:gd name="connsiteY21" fmla="*/ 424 h 10000"/>
                <a:gd name="connsiteX22" fmla="*/ 9190 w 9190"/>
                <a:gd name="connsiteY22" fmla="*/ 1995 h 10000"/>
                <a:gd name="connsiteX23" fmla="*/ 8403 w 9190"/>
                <a:gd name="connsiteY23" fmla="*/ 1621 h 10000"/>
                <a:gd name="connsiteX24" fmla="*/ 8010 w 9190"/>
                <a:gd name="connsiteY24" fmla="*/ 1995 h 10000"/>
                <a:gd name="connsiteX25" fmla="*/ 8403 w 9190"/>
                <a:gd name="connsiteY25" fmla="*/ 2394 h 10000"/>
                <a:gd name="connsiteX26" fmla="*/ 8010 w 9190"/>
                <a:gd name="connsiteY26" fmla="*/ 3192 h 10000"/>
                <a:gd name="connsiteX27" fmla="*/ 8796 w 9190"/>
                <a:gd name="connsiteY27" fmla="*/ 3591 h 10000"/>
                <a:gd name="connsiteX28" fmla="*/ 8796 w 9190"/>
                <a:gd name="connsiteY28" fmla="*/ 4015 h 10000"/>
                <a:gd name="connsiteX29" fmla="*/ 8403 w 9190"/>
                <a:gd name="connsiteY29" fmla="*/ 4015 h 10000"/>
                <a:gd name="connsiteX30" fmla="*/ 8796 w 9190"/>
                <a:gd name="connsiteY30" fmla="*/ 4389 h 10000"/>
                <a:gd name="connsiteX31" fmla="*/ 6806 w 9190"/>
                <a:gd name="connsiteY31" fmla="*/ 6783 h 10000"/>
                <a:gd name="connsiteX32" fmla="*/ 5995 w 9190"/>
                <a:gd name="connsiteY32" fmla="*/ 7182 h 10000"/>
                <a:gd name="connsiteX33" fmla="*/ 5602 w 9190"/>
                <a:gd name="connsiteY33" fmla="*/ 6783 h 10000"/>
                <a:gd name="connsiteX34" fmla="*/ 5208 w 9190"/>
                <a:gd name="connsiteY34" fmla="*/ 7182 h 10000"/>
                <a:gd name="connsiteX35" fmla="*/ 5208 w 9190"/>
                <a:gd name="connsiteY35" fmla="*/ 7980 h 10000"/>
                <a:gd name="connsiteX36" fmla="*/ 5602 w 9190"/>
                <a:gd name="connsiteY36" fmla="*/ 7980 h 10000"/>
                <a:gd name="connsiteX37" fmla="*/ 5602 w 9190"/>
                <a:gd name="connsiteY37" fmla="*/ 8379 h 10000"/>
                <a:gd name="connsiteX38" fmla="*/ 5995 w 9190"/>
                <a:gd name="connsiteY38" fmla="*/ 8379 h 10000"/>
                <a:gd name="connsiteX39" fmla="*/ 5995 w 9190"/>
                <a:gd name="connsiteY39" fmla="*/ 9177 h 10000"/>
                <a:gd name="connsiteX40" fmla="*/ 5995 w 9190"/>
                <a:gd name="connsiteY40" fmla="*/ 9576 h 10000"/>
                <a:gd name="connsiteX41" fmla="*/ 4792 w 9190"/>
                <a:gd name="connsiteY41" fmla="*/ 9576 h 10000"/>
                <a:gd name="connsiteX42" fmla="*/ 4399 w 9190"/>
                <a:gd name="connsiteY42" fmla="*/ 10000 h 10000"/>
                <a:gd name="connsiteX43" fmla="*/ 4005 w 9190"/>
                <a:gd name="connsiteY43" fmla="*/ 9576 h 10000"/>
                <a:gd name="connsiteX44" fmla="*/ 3611 w 9190"/>
                <a:gd name="connsiteY44" fmla="*/ 8803 h 10000"/>
                <a:gd name="connsiteX45" fmla="*/ 2407 w 9190"/>
                <a:gd name="connsiteY45" fmla="*/ 8803 h 10000"/>
                <a:gd name="connsiteX46" fmla="*/ 1598 w 9190"/>
                <a:gd name="connsiteY46" fmla="*/ 8803 h 10000"/>
                <a:gd name="connsiteX47" fmla="*/ 394 w 9190"/>
                <a:gd name="connsiteY47" fmla="*/ 8803 h 10000"/>
                <a:gd name="connsiteX0" fmla="*/ 429 w 10000"/>
                <a:gd name="connsiteY0" fmla="*/ 8803 h 10000"/>
                <a:gd name="connsiteX1" fmla="*/ 429 w 10000"/>
                <a:gd name="connsiteY1" fmla="*/ 8803 h 10000"/>
                <a:gd name="connsiteX2" fmla="*/ 429 w 10000"/>
                <a:gd name="connsiteY2" fmla="*/ 7980 h 10000"/>
                <a:gd name="connsiteX3" fmla="*/ 1310 w 10000"/>
                <a:gd name="connsiteY3" fmla="*/ 7606 h 10000"/>
                <a:gd name="connsiteX4" fmla="*/ 882 w 10000"/>
                <a:gd name="connsiteY4" fmla="*/ 6783 h 10000"/>
                <a:gd name="connsiteX5" fmla="*/ 429 w 10000"/>
                <a:gd name="connsiteY5" fmla="*/ 6409 h 10000"/>
                <a:gd name="connsiteX6" fmla="*/ 0 w 10000"/>
                <a:gd name="connsiteY6" fmla="*/ 5586 h 10000"/>
                <a:gd name="connsiteX7" fmla="*/ 882 w 10000"/>
                <a:gd name="connsiteY7" fmla="*/ 5985 h 10000"/>
                <a:gd name="connsiteX8" fmla="*/ 3476 w 10000"/>
                <a:gd name="connsiteY8" fmla="*/ 5586 h 10000"/>
                <a:gd name="connsiteX9" fmla="*/ 3476 w 10000"/>
                <a:gd name="connsiteY9" fmla="*/ 4788 h 10000"/>
                <a:gd name="connsiteX10" fmla="*/ 3929 w 10000"/>
                <a:gd name="connsiteY10" fmla="*/ 4389 h 10000"/>
                <a:gd name="connsiteX11" fmla="*/ 5667 w 10000"/>
                <a:gd name="connsiteY11" fmla="*/ 4015 h 10000"/>
                <a:gd name="connsiteX12" fmla="*/ 5667 w 10000"/>
                <a:gd name="connsiteY12" fmla="*/ 3192 h 10000"/>
                <a:gd name="connsiteX13" fmla="*/ 6096 w 10000"/>
                <a:gd name="connsiteY13" fmla="*/ 2818 h 10000"/>
                <a:gd name="connsiteX14" fmla="*/ 6096 w 10000"/>
                <a:gd name="connsiteY14" fmla="*/ 2394 h 10000"/>
                <a:gd name="connsiteX15" fmla="*/ 6523 w 10000"/>
                <a:gd name="connsiteY15" fmla="*/ 2394 h 10000"/>
                <a:gd name="connsiteX16" fmla="*/ 6977 w 10000"/>
                <a:gd name="connsiteY16" fmla="*/ 1621 h 10000"/>
                <a:gd name="connsiteX17" fmla="*/ 6977 w 10000"/>
                <a:gd name="connsiteY17" fmla="*/ 798 h 10000"/>
                <a:gd name="connsiteX18" fmla="*/ 7835 w 10000"/>
                <a:gd name="connsiteY18" fmla="*/ 424 h 10000"/>
                <a:gd name="connsiteX19" fmla="*/ 8716 w 10000"/>
                <a:gd name="connsiteY19" fmla="*/ 0 h 10000"/>
                <a:gd name="connsiteX20" fmla="*/ 9144 w 10000"/>
                <a:gd name="connsiteY20" fmla="*/ 0 h 10000"/>
                <a:gd name="connsiteX21" fmla="*/ 10000 w 10000"/>
                <a:gd name="connsiteY21" fmla="*/ 424 h 10000"/>
                <a:gd name="connsiteX22" fmla="*/ 9144 w 10000"/>
                <a:gd name="connsiteY22" fmla="*/ 1621 h 10000"/>
                <a:gd name="connsiteX23" fmla="*/ 8716 w 10000"/>
                <a:gd name="connsiteY23" fmla="*/ 1995 h 10000"/>
                <a:gd name="connsiteX24" fmla="*/ 9144 w 10000"/>
                <a:gd name="connsiteY24" fmla="*/ 2394 h 10000"/>
                <a:gd name="connsiteX25" fmla="*/ 8716 w 10000"/>
                <a:gd name="connsiteY25" fmla="*/ 3192 h 10000"/>
                <a:gd name="connsiteX26" fmla="*/ 9571 w 10000"/>
                <a:gd name="connsiteY26" fmla="*/ 3591 h 10000"/>
                <a:gd name="connsiteX27" fmla="*/ 9571 w 10000"/>
                <a:gd name="connsiteY27" fmla="*/ 4015 h 10000"/>
                <a:gd name="connsiteX28" fmla="*/ 9144 w 10000"/>
                <a:gd name="connsiteY28" fmla="*/ 4015 h 10000"/>
                <a:gd name="connsiteX29" fmla="*/ 9571 w 10000"/>
                <a:gd name="connsiteY29" fmla="*/ 4389 h 10000"/>
                <a:gd name="connsiteX30" fmla="*/ 7406 w 10000"/>
                <a:gd name="connsiteY30" fmla="*/ 6783 h 10000"/>
                <a:gd name="connsiteX31" fmla="*/ 6523 w 10000"/>
                <a:gd name="connsiteY31" fmla="*/ 7182 h 10000"/>
                <a:gd name="connsiteX32" fmla="*/ 6096 w 10000"/>
                <a:gd name="connsiteY32" fmla="*/ 6783 h 10000"/>
                <a:gd name="connsiteX33" fmla="*/ 5667 w 10000"/>
                <a:gd name="connsiteY33" fmla="*/ 7182 h 10000"/>
                <a:gd name="connsiteX34" fmla="*/ 5667 w 10000"/>
                <a:gd name="connsiteY34" fmla="*/ 7980 h 10000"/>
                <a:gd name="connsiteX35" fmla="*/ 6096 w 10000"/>
                <a:gd name="connsiteY35" fmla="*/ 7980 h 10000"/>
                <a:gd name="connsiteX36" fmla="*/ 6096 w 10000"/>
                <a:gd name="connsiteY36" fmla="*/ 8379 h 10000"/>
                <a:gd name="connsiteX37" fmla="*/ 6523 w 10000"/>
                <a:gd name="connsiteY37" fmla="*/ 8379 h 10000"/>
                <a:gd name="connsiteX38" fmla="*/ 6523 w 10000"/>
                <a:gd name="connsiteY38" fmla="*/ 9177 h 10000"/>
                <a:gd name="connsiteX39" fmla="*/ 6523 w 10000"/>
                <a:gd name="connsiteY39" fmla="*/ 9576 h 10000"/>
                <a:gd name="connsiteX40" fmla="*/ 5214 w 10000"/>
                <a:gd name="connsiteY40" fmla="*/ 9576 h 10000"/>
                <a:gd name="connsiteX41" fmla="*/ 4787 w 10000"/>
                <a:gd name="connsiteY41" fmla="*/ 10000 h 10000"/>
                <a:gd name="connsiteX42" fmla="*/ 4358 w 10000"/>
                <a:gd name="connsiteY42" fmla="*/ 9576 h 10000"/>
                <a:gd name="connsiteX43" fmla="*/ 3929 w 10000"/>
                <a:gd name="connsiteY43" fmla="*/ 8803 h 10000"/>
                <a:gd name="connsiteX44" fmla="*/ 2619 w 10000"/>
                <a:gd name="connsiteY44" fmla="*/ 8803 h 10000"/>
                <a:gd name="connsiteX45" fmla="*/ 1739 w 10000"/>
                <a:gd name="connsiteY45" fmla="*/ 8803 h 10000"/>
                <a:gd name="connsiteX46" fmla="*/ 429 w 10000"/>
                <a:gd name="connsiteY46" fmla="*/ 8803 h 10000"/>
                <a:gd name="connsiteX0" fmla="*/ 429 w 9571"/>
                <a:gd name="connsiteY0" fmla="*/ 8803 h 10000"/>
                <a:gd name="connsiteX1" fmla="*/ 429 w 9571"/>
                <a:gd name="connsiteY1" fmla="*/ 8803 h 10000"/>
                <a:gd name="connsiteX2" fmla="*/ 429 w 9571"/>
                <a:gd name="connsiteY2" fmla="*/ 7980 h 10000"/>
                <a:gd name="connsiteX3" fmla="*/ 1310 w 9571"/>
                <a:gd name="connsiteY3" fmla="*/ 7606 h 10000"/>
                <a:gd name="connsiteX4" fmla="*/ 882 w 9571"/>
                <a:gd name="connsiteY4" fmla="*/ 6783 h 10000"/>
                <a:gd name="connsiteX5" fmla="*/ 429 w 9571"/>
                <a:gd name="connsiteY5" fmla="*/ 6409 h 10000"/>
                <a:gd name="connsiteX6" fmla="*/ 0 w 9571"/>
                <a:gd name="connsiteY6" fmla="*/ 5586 h 10000"/>
                <a:gd name="connsiteX7" fmla="*/ 882 w 9571"/>
                <a:gd name="connsiteY7" fmla="*/ 5985 h 10000"/>
                <a:gd name="connsiteX8" fmla="*/ 3476 w 9571"/>
                <a:gd name="connsiteY8" fmla="*/ 5586 h 10000"/>
                <a:gd name="connsiteX9" fmla="*/ 3476 w 9571"/>
                <a:gd name="connsiteY9" fmla="*/ 4788 h 10000"/>
                <a:gd name="connsiteX10" fmla="*/ 3929 w 9571"/>
                <a:gd name="connsiteY10" fmla="*/ 4389 h 10000"/>
                <a:gd name="connsiteX11" fmla="*/ 5667 w 9571"/>
                <a:gd name="connsiteY11" fmla="*/ 4015 h 10000"/>
                <a:gd name="connsiteX12" fmla="*/ 5667 w 9571"/>
                <a:gd name="connsiteY12" fmla="*/ 3192 h 10000"/>
                <a:gd name="connsiteX13" fmla="*/ 6096 w 9571"/>
                <a:gd name="connsiteY13" fmla="*/ 2818 h 10000"/>
                <a:gd name="connsiteX14" fmla="*/ 6096 w 9571"/>
                <a:gd name="connsiteY14" fmla="*/ 2394 h 10000"/>
                <a:gd name="connsiteX15" fmla="*/ 6523 w 9571"/>
                <a:gd name="connsiteY15" fmla="*/ 2394 h 10000"/>
                <a:gd name="connsiteX16" fmla="*/ 6977 w 9571"/>
                <a:gd name="connsiteY16" fmla="*/ 1621 h 10000"/>
                <a:gd name="connsiteX17" fmla="*/ 6977 w 9571"/>
                <a:gd name="connsiteY17" fmla="*/ 798 h 10000"/>
                <a:gd name="connsiteX18" fmla="*/ 7835 w 9571"/>
                <a:gd name="connsiteY18" fmla="*/ 424 h 10000"/>
                <a:gd name="connsiteX19" fmla="*/ 8716 w 9571"/>
                <a:gd name="connsiteY19" fmla="*/ 0 h 10000"/>
                <a:gd name="connsiteX20" fmla="*/ 9144 w 9571"/>
                <a:gd name="connsiteY20" fmla="*/ 0 h 10000"/>
                <a:gd name="connsiteX21" fmla="*/ 9144 w 9571"/>
                <a:gd name="connsiteY21" fmla="*/ 1621 h 10000"/>
                <a:gd name="connsiteX22" fmla="*/ 8716 w 9571"/>
                <a:gd name="connsiteY22" fmla="*/ 1995 h 10000"/>
                <a:gd name="connsiteX23" fmla="*/ 9144 w 9571"/>
                <a:gd name="connsiteY23" fmla="*/ 2394 h 10000"/>
                <a:gd name="connsiteX24" fmla="*/ 8716 w 9571"/>
                <a:gd name="connsiteY24" fmla="*/ 3192 h 10000"/>
                <a:gd name="connsiteX25" fmla="*/ 9571 w 9571"/>
                <a:gd name="connsiteY25" fmla="*/ 3591 h 10000"/>
                <a:gd name="connsiteX26" fmla="*/ 9571 w 9571"/>
                <a:gd name="connsiteY26" fmla="*/ 4015 h 10000"/>
                <a:gd name="connsiteX27" fmla="*/ 9144 w 9571"/>
                <a:gd name="connsiteY27" fmla="*/ 4015 h 10000"/>
                <a:gd name="connsiteX28" fmla="*/ 9571 w 9571"/>
                <a:gd name="connsiteY28" fmla="*/ 4389 h 10000"/>
                <a:gd name="connsiteX29" fmla="*/ 7406 w 9571"/>
                <a:gd name="connsiteY29" fmla="*/ 6783 h 10000"/>
                <a:gd name="connsiteX30" fmla="*/ 6523 w 9571"/>
                <a:gd name="connsiteY30" fmla="*/ 7182 h 10000"/>
                <a:gd name="connsiteX31" fmla="*/ 6096 w 9571"/>
                <a:gd name="connsiteY31" fmla="*/ 6783 h 10000"/>
                <a:gd name="connsiteX32" fmla="*/ 5667 w 9571"/>
                <a:gd name="connsiteY32" fmla="*/ 7182 h 10000"/>
                <a:gd name="connsiteX33" fmla="*/ 5667 w 9571"/>
                <a:gd name="connsiteY33" fmla="*/ 7980 h 10000"/>
                <a:gd name="connsiteX34" fmla="*/ 6096 w 9571"/>
                <a:gd name="connsiteY34" fmla="*/ 7980 h 10000"/>
                <a:gd name="connsiteX35" fmla="*/ 6096 w 9571"/>
                <a:gd name="connsiteY35" fmla="*/ 8379 h 10000"/>
                <a:gd name="connsiteX36" fmla="*/ 6523 w 9571"/>
                <a:gd name="connsiteY36" fmla="*/ 8379 h 10000"/>
                <a:gd name="connsiteX37" fmla="*/ 6523 w 9571"/>
                <a:gd name="connsiteY37" fmla="*/ 9177 h 10000"/>
                <a:gd name="connsiteX38" fmla="*/ 6523 w 9571"/>
                <a:gd name="connsiteY38" fmla="*/ 9576 h 10000"/>
                <a:gd name="connsiteX39" fmla="*/ 5214 w 9571"/>
                <a:gd name="connsiteY39" fmla="*/ 9576 h 10000"/>
                <a:gd name="connsiteX40" fmla="*/ 4787 w 9571"/>
                <a:gd name="connsiteY40" fmla="*/ 10000 h 10000"/>
                <a:gd name="connsiteX41" fmla="*/ 4358 w 9571"/>
                <a:gd name="connsiteY41" fmla="*/ 9576 h 10000"/>
                <a:gd name="connsiteX42" fmla="*/ 3929 w 9571"/>
                <a:gd name="connsiteY42" fmla="*/ 8803 h 10000"/>
                <a:gd name="connsiteX43" fmla="*/ 2619 w 9571"/>
                <a:gd name="connsiteY43" fmla="*/ 8803 h 10000"/>
                <a:gd name="connsiteX44" fmla="*/ 1739 w 9571"/>
                <a:gd name="connsiteY44" fmla="*/ 8803 h 10000"/>
                <a:gd name="connsiteX45" fmla="*/ 429 w 9571"/>
                <a:gd name="connsiteY45" fmla="*/ 8803 h 10000"/>
                <a:gd name="connsiteX0" fmla="*/ 448 w 10000"/>
                <a:gd name="connsiteY0" fmla="*/ 8803 h 10000"/>
                <a:gd name="connsiteX1" fmla="*/ 448 w 10000"/>
                <a:gd name="connsiteY1" fmla="*/ 8803 h 10000"/>
                <a:gd name="connsiteX2" fmla="*/ 448 w 10000"/>
                <a:gd name="connsiteY2" fmla="*/ 7980 h 10000"/>
                <a:gd name="connsiteX3" fmla="*/ 1369 w 10000"/>
                <a:gd name="connsiteY3" fmla="*/ 7606 h 10000"/>
                <a:gd name="connsiteX4" fmla="*/ 922 w 10000"/>
                <a:gd name="connsiteY4" fmla="*/ 6783 h 10000"/>
                <a:gd name="connsiteX5" fmla="*/ 448 w 10000"/>
                <a:gd name="connsiteY5" fmla="*/ 6409 h 10000"/>
                <a:gd name="connsiteX6" fmla="*/ 0 w 10000"/>
                <a:gd name="connsiteY6" fmla="*/ 5586 h 10000"/>
                <a:gd name="connsiteX7" fmla="*/ 922 w 10000"/>
                <a:gd name="connsiteY7" fmla="*/ 5985 h 10000"/>
                <a:gd name="connsiteX8" fmla="*/ 3632 w 10000"/>
                <a:gd name="connsiteY8" fmla="*/ 5586 h 10000"/>
                <a:gd name="connsiteX9" fmla="*/ 3632 w 10000"/>
                <a:gd name="connsiteY9" fmla="*/ 4788 h 10000"/>
                <a:gd name="connsiteX10" fmla="*/ 4105 w 10000"/>
                <a:gd name="connsiteY10" fmla="*/ 4389 h 10000"/>
                <a:gd name="connsiteX11" fmla="*/ 5921 w 10000"/>
                <a:gd name="connsiteY11" fmla="*/ 4015 h 10000"/>
                <a:gd name="connsiteX12" fmla="*/ 5921 w 10000"/>
                <a:gd name="connsiteY12" fmla="*/ 3192 h 10000"/>
                <a:gd name="connsiteX13" fmla="*/ 6369 w 10000"/>
                <a:gd name="connsiteY13" fmla="*/ 2818 h 10000"/>
                <a:gd name="connsiteX14" fmla="*/ 6369 w 10000"/>
                <a:gd name="connsiteY14" fmla="*/ 2394 h 10000"/>
                <a:gd name="connsiteX15" fmla="*/ 6815 w 10000"/>
                <a:gd name="connsiteY15" fmla="*/ 2394 h 10000"/>
                <a:gd name="connsiteX16" fmla="*/ 7290 w 10000"/>
                <a:gd name="connsiteY16" fmla="*/ 1621 h 10000"/>
                <a:gd name="connsiteX17" fmla="*/ 7290 w 10000"/>
                <a:gd name="connsiteY17" fmla="*/ 798 h 10000"/>
                <a:gd name="connsiteX18" fmla="*/ 8186 w 10000"/>
                <a:gd name="connsiteY18" fmla="*/ 424 h 10000"/>
                <a:gd name="connsiteX19" fmla="*/ 9107 w 10000"/>
                <a:gd name="connsiteY19" fmla="*/ 0 h 10000"/>
                <a:gd name="connsiteX20" fmla="*/ 9554 w 10000"/>
                <a:gd name="connsiteY20" fmla="*/ 0 h 10000"/>
                <a:gd name="connsiteX21" fmla="*/ 8652 w 10000"/>
                <a:gd name="connsiteY21" fmla="*/ 800 h 10000"/>
                <a:gd name="connsiteX22" fmla="*/ 9554 w 10000"/>
                <a:gd name="connsiteY22" fmla="*/ 1621 h 10000"/>
                <a:gd name="connsiteX23" fmla="*/ 9107 w 10000"/>
                <a:gd name="connsiteY23" fmla="*/ 1995 h 10000"/>
                <a:gd name="connsiteX24" fmla="*/ 9554 w 10000"/>
                <a:gd name="connsiteY24" fmla="*/ 2394 h 10000"/>
                <a:gd name="connsiteX25" fmla="*/ 9107 w 10000"/>
                <a:gd name="connsiteY25" fmla="*/ 3192 h 10000"/>
                <a:gd name="connsiteX26" fmla="*/ 10000 w 10000"/>
                <a:gd name="connsiteY26" fmla="*/ 3591 h 10000"/>
                <a:gd name="connsiteX27" fmla="*/ 10000 w 10000"/>
                <a:gd name="connsiteY27" fmla="*/ 4015 h 10000"/>
                <a:gd name="connsiteX28" fmla="*/ 9554 w 10000"/>
                <a:gd name="connsiteY28" fmla="*/ 4015 h 10000"/>
                <a:gd name="connsiteX29" fmla="*/ 10000 w 10000"/>
                <a:gd name="connsiteY29" fmla="*/ 4389 h 10000"/>
                <a:gd name="connsiteX30" fmla="*/ 7738 w 10000"/>
                <a:gd name="connsiteY30" fmla="*/ 6783 h 10000"/>
                <a:gd name="connsiteX31" fmla="*/ 6815 w 10000"/>
                <a:gd name="connsiteY31" fmla="*/ 7182 h 10000"/>
                <a:gd name="connsiteX32" fmla="*/ 6369 w 10000"/>
                <a:gd name="connsiteY32" fmla="*/ 6783 h 10000"/>
                <a:gd name="connsiteX33" fmla="*/ 5921 w 10000"/>
                <a:gd name="connsiteY33" fmla="*/ 7182 h 10000"/>
                <a:gd name="connsiteX34" fmla="*/ 5921 w 10000"/>
                <a:gd name="connsiteY34" fmla="*/ 7980 h 10000"/>
                <a:gd name="connsiteX35" fmla="*/ 6369 w 10000"/>
                <a:gd name="connsiteY35" fmla="*/ 7980 h 10000"/>
                <a:gd name="connsiteX36" fmla="*/ 6369 w 10000"/>
                <a:gd name="connsiteY36" fmla="*/ 8379 h 10000"/>
                <a:gd name="connsiteX37" fmla="*/ 6815 w 10000"/>
                <a:gd name="connsiteY37" fmla="*/ 8379 h 10000"/>
                <a:gd name="connsiteX38" fmla="*/ 6815 w 10000"/>
                <a:gd name="connsiteY38" fmla="*/ 9177 h 10000"/>
                <a:gd name="connsiteX39" fmla="*/ 6815 w 10000"/>
                <a:gd name="connsiteY39" fmla="*/ 9576 h 10000"/>
                <a:gd name="connsiteX40" fmla="*/ 5448 w 10000"/>
                <a:gd name="connsiteY40" fmla="*/ 9576 h 10000"/>
                <a:gd name="connsiteX41" fmla="*/ 5002 w 10000"/>
                <a:gd name="connsiteY41" fmla="*/ 10000 h 10000"/>
                <a:gd name="connsiteX42" fmla="*/ 4553 w 10000"/>
                <a:gd name="connsiteY42" fmla="*/ 9576 h 10000"/>
                <a:gd name="connsiteX43" fmla="*/ 4105 w 10000"/>
                <a:gd name="connsiteY43" fmla="*/ 8803 h 10000"/>
                <a:gd name="connsiteX44" fmla="*/ 2736 w 10000"/>
                <a:gd name="connsiteY44" fmla="*/ 8803 h 10000"/>
                <a:gd name="connsiteX45" fmla="*/ 1817 w 10000"/>
                <a:gd name="connsiteY45" fmla="*/ 8803 h 10000"/>
                <a:gd name="connsiteX46" fmla="*/ 448 w 10000"/>
                <a:gd name="connsiteY46" fmla="*/ 8803 h 10000"/>
                <a:gd name="connsiteX0" fmla="*/ 448 w 10023"/>
                <a:gd name="connsiteY0" fmla="*/ 8803 h 10000"/>
                <a:gd name="connsiteX1" fmla="*/ 448 w 10023"/>
                <a:gd name="connsiteY1" fmla="*/ 8803 h 10000"/>
                <a:gd name="connsiteX2" fmla="*/ 448 w 10023"/>
                <a:gd name="connsiteY2" fmla="*/ 7980 h 10000"/>
                <a:gd name="connsiteX3" fmla="*/ 1369 w 10023"/>
                <a:gd name="connsiteY3" fmla="*/ 7606 h 10000"/>
                <a:gd name="connsiteX4" fmla="*/ 922 w 10023"/>
                <a:gd name="connsiteY4" fmla="*/ 6783 h 10000"/>
                <a:gd name="connsiteX5" fmla="*/ 448 w 10023"/>
                <a:gd name="connsiteY5" fmla="*/ 6409 h 10000"/>
                <a:gd name="connsiteX6" fmla="*/ 0 w 10023"/>
                <a:gd name="connsiteY6" fmla="*/ 5586 h 10000"/>
                <a:gd name="connsiteX7" fmla="*/ 922 w 10023"/>
                <a:gd name="connsiteY7" fmla="*/ 5985 h 10000"/>
                <a:gd name="connsiteX8" fmla="*/ 3632 w 10023"/>
                <a:gd name="connsiteY8" fmla="*/ 5586 h 10000"/>
                <a:gd name="connsiteX9" fmla="*/ 3632 w 10023"/>
                <a:gd name="connsiteY9" fmla="*/ 4788 h 10000"/>
                <a:gd name="connsiteX10" fmla="*/ 4105 w 10023"/>
                <a:gd name="connsiteY10" fmla="*/ 4389 h 10000"/>
                <a:gd name="connsiteX11" fmla="*/ 5921 w 10023"/>
                <a:gd name="connsiteY11" fmla="*/ 4015 h 10000"/>
                <a:gd name="connsiteX12" fmla="*/ 5921 w 10023"/>
                <a:gd name="connsiteY12" fmla="*/ 3192 h 10000"/>
                <a:gd name="connsiteX13" fmla="*/ 6369 w 10023"/>
                <a:gd name="connsiteY13" fmla="*/ 2818 h 10000"/>
                <a:gd name="connsiteX14" fmla="*/ 6369 w 10023"/>
                <a:gd name="connsiteY14" fmla="*/ 2394 h 10000"/>
                <a:gd name="connsiteX15" fmla="*/ 6815 w 10023"/>
                <a:gd name="connsiteY15" fmla="*/ 2394 h 10000"/>
                <a:gd name="connsiteX16" fmla="*/ 7290 w 10023"/>
                <a:gd name="connsiteY16" fmla="*/ 1621 h 10000"/>
                <a:gd name="connsiteX17" fmla="*/ 7290 w 10023"/>
                <a:gd name="connsiteY17" fmla="*/ 798 h 10000"/>
                <a:gd name="connsiteX18" fmla="*/ 8186 w 10023"/>
                <a:gd name="connsiteY18" fmla="*/ 424 h 10000"/>
                <a:gd name="connsiteX19" fmla="*/ 9107 w 10023"/>
                <a:gd name="connsiteY19" fmla="*/ 0 h 10000"/>
                <a:gd name="connsiteX20" fmla="*/ 9554 w 10023"/>
                <a:gd name="connsiteY20" fmla="*/ 0 h 10000"/>
                <a:gd name="connsiteX21" fmla="*/ 8652 w 10023"/>
                <a:gd name="connsiteY21" fmla="*/ 800 h 10000"/>
                <a:gd name="connsiteX22" fmla="*/ 9554 w 10023"/>
                <a:gd name="connsiteY22" fmla="*/ 1621 h 10000"/>
                <a:gd name="connsiteX23" fmla="*/ 9107 w 10023"/>
                <a:gd name="connsiteY23" fmla="*/ 1995 h 10000"/>
                <a:gd name="connsiteX24" fmla="*/ 9554 w 10023"/>
                <a:gd name="connsiteY24" fmla="*/ 2394 h 10000"/>
                <a:gd name="connsiteX25" fmla="*/ 10023 w 10023"/>
                <a:gd name="connsiteY25" fmla="*/ 2850 h 10000"/>
                <a:gd name="connsiteX26" fmla="*/ 10000 w 10023"/>
                <a:gd name="connsiteY26" fmla="*/ 3591 h 10000"/>
                <a:gd name="connsiteX27" fmla="*/ 10000 w 10023"/>
                <a:gd name="connsiteY27" fmla="*/ 4015 h 10000"/>
                <a:gd name="connsiteX28" fmla="*/ 9554 w 10023"/>
                <a:gd name="connsiteY28" fmla="*/ 4015 h 10000"/>
                <a:gd name="connsiteX29" fmla="*/ 10000 w 10023"/>
                <a:gd name="connsiteY29" fmla="*/ 4389 h 10000"/>
                <a:gd name="connsiteX30" fmla="*/ 7738 w 10023"/>
                <a:gd name="connsiteY30" fmla="*/ 6783 h 10000"/>
                <a:gd name="connsiteX31" fmla="*/ 6815 w 10023"/>
                <a:gd name="connsiteY31" fmla="*/ 7182 h 10000"/>
                <a:gd name="connsiteX32" fmla="*/ 6369 w 10023"/>
                <a:gd name="connsiteY32" fmla="*/ 6783 h 10000"/>
                <a:gd name="connsiteX33" fmla="*/ 5921 w 10023"/>
                <a:gd name="connsiteY33" fmla="*/ 7182 h 10000"/>
                <a:gd name="connsiteX34" fmla="*/ 5921 w 10023"/>
                <a:gd name="connsiteY34" fmla="*/ 7980 h 10000"/>
                <a:gd name="connsiteX35" fmla="*/ 6369 w 10023"/>
                <a:gd name="connsiteY35" fmla="*/ 7980 h 10000"/>
                <a:gd name="connsiteX36" fmla="*/ 6369 w 10023"/>
                <a:gd name="connsiteY36" fmla="*/ 8379 h 10000"/>
                <a:gd name="connsiteX37" fmla="*/ 6815 w 10023"/>
                <a:gd name="connsiteY37" fmla="*/ 8379 h 10000"/>
                <a:gd name="connsiteX38" fmla="*/ 6815 w 10023"/>
                <a:gd name="connsiteY38" fmla="*/ 9177 h 10000"/>
                <a:gd name="connsiteX39" fmla="*/ 6815 w 10023"/>
                <a:gd name="connsiteY39" fmla="*/ 9576 h 10000"/>
                <a:gd name="connsiteX40" fmla="*/ 5448 w 10023"/>
                <a:gd name="connsiteY40" fmla="*/ 9576 h 10000"/>
                <a:gd name="connsiteX41" fmla="*/ 5002 w 10023"/>
                <a:gd name="connsiteY41" fmla="*/ 10000 h 10000"/>
                <a:gd name="connsiteX42" fmla="*/ 4553 w 10023"/>
                <a:gd name="connsiteY42" fmla="*/ 9576 h 10000"/>
                <a:gd name="connsiteX43" fmla="*/ 4105 w 10023"/>
                <a:gd name="connsiteY43" fmla="*/ 8803 h 10000"/>
                <a:gd name="connsiteX44" fmla="*/ 2736 w 10023"/>
                <a:gd name="connsiteY44" fmla="*/ 8803 h 10000"/>
                <a:gd name="connsiteX45" fmla="*/ 1817 w 10023"/>
                <a:gd name="connsiteY45" fmla="*/ 8803 h 10000"/>
                <a:gd name="connsiteX46" fmla="*/ 448 w 10023"/>
                <a:gd name="connsiteY46" fmla="*/ 8803 h 10000"/>
                <a:gd name="connsiteX0" fmla="*/ 448 w 10023"/>
                <a:gd name="connsiteY0" fmla="*/ 8803 h 10000"/>
                <a:gd name="connsiteX1" fmla="*/ 448 w 10023"/>
                <a:gd name="connsiteY1" fmla="*/ 8803 h 10000"/>
                <a:gd name="connsiteX2" fmla="*/ 448 w 10023"/>
                <a:gd name="connsiteY2" fmla="*/ 7980 h 10000"/>
                <a:gd name="connsiteX3" fmla="*/ 1369 w 10023"/>
                <a:gd name="connsiteY3" fmla="*/ 7606 h 10000"/>
                <a:gd name="connsiteX4" fmla="*/ 922 w 10023"/>
                <a:gd name="connsiteY4" fmla="*/ 6783 h 10000"/>
                <a:gd name="connsiteX5" fmla="*/ 448 w 10023"/>
                <a:gd name="connsiteY5" fmla="*/ 6409 h 10000"/>
                <a:gd name="connsiteX6" fmla="*/ 0 w 10023"/>
                <a:gd name="connsiteY6" fmla="*/ 5586 h 10000"/>
                <a:gd name="connsiteX7" fmla="*/ 922 w 10023"/>
                <a:gd name="connsiteY7" fmla="*/ 5985 h 10000"/>
                <a:gd name="connsiteX8" fmla="*/ 3632 w 10023"/>
                <a:gd name="connsiteY8" fmla="*/ 5586 h 10000"/>
                <a:gd name="connsiteX9" fmla="*/ 3632 w 10023"/>
                <a:gd name="connsiteY9" fmla="*/ 4788 h 10000"/>
                <a:gd name="connsiteX10" fmla="*/ 4105 w 10023"/>
                <a:gd name="connsiteY10" fmla="*/ 4389 h 10000"/>
                <a:gd name="connsiteX11" fmla="*/ 5921 w 10023"/>
                <a:gd name="connsiteY11" fmla="*/ 4015 h 10000"/>
                <a:gd name="connsiteX12" fmla="*/ 5921 w 10023"/>
                <a:gd name="connsiteY12" fmla="*/ 3192 h 10000"/>
                <a:gd name="connsiteX13" fmla="*/ 6369 w 10023"/>
                <a:gd name="connsiteY13" fmla="*/ 2818 h 10000"/>
                <a:gd name="connsiteX14" fmla="*/ 6369 w 10023"/>
                <a:gd name="connsiteY14" fmla="*/ 2394 h 10000"/>
                <a:gd name="connsiteX15" fmla="*/ 6815 w 10023"/>
                <a:gd name="connsiteY15" fmla="*/ 2394 h 10000"/>
                <a:gd name="connsiteX16" fmla="*/ 7290 w 10023"/>
                <a:gd name="connsiteY16" fmla="*/ 1621 h 10000"/>
                <a:gd name="connsiteX17" fmla="*/ 7290 w 10023"/>
                <a:gd name="connsiteY17" fmla="*/ 798 h 10000"/>
                <a:gd name="connsiteX18" fmla="*/ 8186 w 10023"/>
                <a:gd name="connsiteY18" fmla="*/ 424 h 10000"/>
                <a:gd name="connsiteX19" fmla="*/ 9107 w 10023"/>
                <a:gd name="connsiteY19" fmla="*/ 0 h 10000"/>
                <a:gd name="connsiteX20" fmla="*/ 9554 w 10023"/>
                <a:gd name="connsiteY20" fmla="*/ 0 h 10000"/>
                <a:gd name="connsiteX21" fmla="*/ 8652 w 10023"/>
                <a:gd name="connsiteY21" fmla="*/ 800 h 10000"/>
                <a:gd name="connsiteX22" fmla="*/ 9554 w 10023"/>
                <a:gd name="connsiteY22" fmla="*/ 1621 h 10000"/>
                <a:gd name="connsiteX23" fmla="*/ 9107 w 10023"/>
                <a:gd name="connsiteY23" fmla="*/ 1995 h 10000"/>
                <a:gd name="connsiteX24" fmla="*/ 9554 w 10023"/>
                <a:gd name="connsiteY24" fmla="*/ 2394 h 10000"/>
                <a:gd name="connsiteX25" fmla="*/ 10023 w 10023"/>
                <a:gd name="connsiteY25" fmla="*/ 2850 h 10000"/>
                <a:gd name="connsiteX26" fmla="*/ 10000 w 10023"/>
                <a:gd name="connsiteY26" fmla="*/ 3591 h 10000"/>
                <a:gd name="connsiteX27" fmla="*/ 10000 w 10023"/>
                <a:gd name="connsiteY27" fmla="*/ 4015 h 10000"/>
                <a:gd name="connsiteX28" fmla="*/ 10000 w 10023"/>
                <a:gd name="connsiteY28" fmla="*/ 4389 h 10000"/>
                <a:gd name="connsiteX29" fmla="*/ 7738 w 10023"/>
                <a:gd name="connsiteY29" fmla="*/ 6783 h 10000"/>
                <a:gd name="connsiteX30" fmla="*/ 6815 w 10023"/>
                <a:gd name="connsiteY30" fmla="*/ 7182 h 10000"/>
                <a:gd name="connsiteX31" fmla="*/ 6369 w 10023"/>
                <a:gd name="connsiteY31" fmla="*/ 6783 h 10000"/>
                <a:gd name="connsiteX32" fmla="*/ 5921 w 10023"/>
                <a:gd name="connsiteY32" fmla="*/ 7182 h 10000"/>
                <a:gd name="connsiteX33" fmla="*/ 5921 w 10023"/>
                <a:gd name="connsiteY33" fmla="*/ 7980 h 10000"/>
                <a:gd name="connsiteX34" fmla="*/ 6369 w 10023"/>
                <a:gd name="connsiteY34" fmla="*/ 7980 h 10000"/>
                <a:gd name="connsiteX35" fmla="*/ 6369 w 10023"/>
                <a:gd name="connsiteY35" fmla="*/ 8379 h 10000"/>
                <a:gd name="connsiteX36" fmla="*/ 6815 w 10023"/>
                <a:gd name="connsiteY36" fmla="*/ 8379 h 10000"/>
                <a:gd name="connsiteX37" fmla="*/ 6815 w 10023"/>
                <a:gd name="connsiteY37" fmla="*/ 9177 h 10000"/>
                <a:gd name="connsiteX38" fmla="*/ 6815 w 10023"/>
                <a:gd name="connsiteY38" fmla="*/ 9576 h 10000"/>
                <a:gd name="connsiteX39" fmla="*/ 5448 w 10023"/>
                <a:gd name="connsiteY39" fmla="*/ 9576 h 10000"/>
                <a:gd name="connsiteX40" fmla="*/ 5002 w 10023"/>
                <a:gd name="connsiteY40" fmla="*/ 10000 h 10000"/>
                <a:gd name="connsiteX41" fmla="*/ 4553 w 10023"/>
                <a:gd name="connsiteY41" fmla="*/ 9576 h 10000"/>
                <a:gd name="connsiteX42" fmla="*/ 4105 w 10023"/>
                <a:gd name="connsiteY42" fmla="*/ 8803 h 10000"/>
                <a:gd name="connsiteX43" fmla="*/ 2736 w 10023"/>
                <a:gd name="connsiteY43" fmla="*/ 8803 h 10000"/>
                <a:gd name="connsiteX44" fmla="*/ 1817 w 10023"/>
                <a:gd name="connsiteY44" fmla="*/ 8803 h 10000"/>
                <a:gd name="connsiteX45" fmla="*/ 448 w 10023"/>
                <a:gd name="connsiteY45" fmla="*/ 8803 h 10000"/>
                <a:gd name="connsiteX0" fmla="*/ 448 w 10023"/>
                <a:gd name="connsiteY0" fmla="*/ 8803 h 10000"/>
                <a:gd name="connsiteX1" fmla="*/ 448 w 10023"/>
                <a:gd name="connsiteY1" fmla="*/ 8803 h 10000"/>
                <a:gd name="connsiteX2" fmla="*/ 448 w 10023"/>
                <a:gd name="connsiteY2" fmla="*/ 7980 h 10000"/>
                <a:gd name="connsiteX3" fmla="*/ 1369 w 10023"/>
                <a:gd name="connsiteY3" fmla="*/ 7606 h 10000"/>
                <a:gd name="connsiteX4" fmla="*/ 922 w 10023"/>
                <a:gd name="connsiteY4" fmla="*/ 6783 h 10000"/>
                <a:gd name="connsiteX5" fmla="*/ 448 w 10023"/>
                <a:gd name="connsiteY5" fmla="*/ 6409 h 10000"/>
                <a:gd name="connsiteX6" fmla="*/ 0 w 10023"/>
                <a:gd name="connsiteY6" fmla="*/ 5586 h 10000"/>
                <a:gd name="connsiteX7" fmla="*/ 922 w 10023"/>
                <a:gd name="connsiteY7" fmla="*/ 5985 h 10000"/>
                <a:gd name="connsiteX8" fmla="*/ 3632 w 10023"/>
                <a:gd name="connsiteY8" fmla="*/ 5586 h 10000"/>
                <a:gd name="connsiteX9" fmla="*/ 3632 w 10023"/>
                <a:gd name="connsiteY9" fmla="*/ 4788 h 10000"/>
                <a:gd name="connsiteX10" fmla="*/ 4105 w 10023"/>
                <a:gd name="connsiteY10" fmla="*/ 4389 h 10000"/>
                <a:gd name="connsiteX11" fmla="*/ 5921 w 10023"/>
                <a:gd name="connsiteY11" fmla="*/ 4015 h 10000"/>
                <a:gd name="connsiteX12" fmla="*/ 5921 w 10023"/>
                <a:gd name="connsiteY12" fmla="*/ 3192 h 10000"/>
                <a:gd name="connsiteX13" fmla="*/ 6369 w 10023"/>
                <a:gd name="connsiteY13" fmla="*/ 2818 h 10000"/>
                <a:gd name="connsiteX14" fmla="*/ 6369 w 10023"/>
                <a:gd name="connsiteY14" fmla="*/ 2394 h 10000"/>
                <a:gd name="connsiteX15" fmla="*/ 6815 w 10023"/>
                <a:gd name="connsiteY15" fmla="*/ 2394 h 10000"/>
                <a:gd name="connsiteX16" fmla="*/ 7290 w 10023"/>
                <a:gd name="connsiteY16" fmla="*/ 1621 h 10000"/>
                <a:gd name="connsiteX17" fmla="*/ 7290 w 10023"/>
                <a:gd name="connsiteY17" fmla="*/ 798 h 10000"/>
                <a:gd name="connsiteX18" fmla="*/ 8186 w 10023"/>
                <a:gd name="connsiteY18" fmla="*/ 424 h 10000"/>
                <a:gd name="connsiteX19" fmla="*/ 9107 w 10023"/>
                <a:gd name="connsiteY19" fmla="*/ 0 h 10000"/>
                <a:gd name="connsiteX20" fmla="*/ 9554 w 10023"/>
                <a:gd name="connsiteY20" fmla="*/ 0 h 10000"/>
                <a:gd name="connsiteX21" fmla="*/ 8652 w 10023"/>
                <a:gd name="connsiteY21" fmla="*/ 800 h 10000"/>
                <a:gd name="connsiteX22" fmla="*/ 9554 w 10023"/>
                <a:gd name="connsiteY22" fmla="*/ 1621 h 10000"/>
                <a:gd name="connsiteX23" fmla="*/ 9107 w 10023"/>
                <a:gd name="connsiteY23" fmla="*/ 1995 h 10000"/>
                <a:gd name="connsiteX24" fmla="*/ 9554 w 10023"/>
                <a:gd name="connsiteY24" fmla="*/ 2394 h 10000"/>
                <a:gd name="connsiteX25" fmla="*/ 10023 w 10023"/>
                <a:gd name="connsiteY25" fmla="*/ 2850 h 10000"/>
                <a:gd name="connsiteX26" fmla="*/ 10000 w 10023"/>
                <a:gd name="connsiteY26" fmla="*/ 3591 h 10000"/>
                <a:gd name="connsiteX27" fmla="*/ 10000 w 10023"/>
                <a:gd name="connsiteY27" fmla="*/ 4389 h 10000"/>
                <a:gd name="connsiteX28" fmla="*/ 7738 w 10023"/>
                <a:gd name="connsiteY28" fmla="*/ 6783 h 10000"/>
                <a:gd name="connsiteX29" fmla="*/ 6815 w 10023"/>
                <a:gd name="connsiteY29" fmla="*/ 7182 h 10000"/>
                <a:gd name="connsiteX30" fmla="*/ 6369 w 10023"/>
                <a:gd name="connsiteY30" fmla="*/ 6783 h 10000"/>
                <a:gd name="connsiteX31" fmla="*/ 5921 w 10023"/>
                <a:gd name="connsiteY31" fmla="*/ 7182 h 10000"/>
                <a:gd name="connsiteX32" fmla="*/ 5921 w 10023"/>
                <a:gd name="connsiteY32" fmla="*/ 7980 h 10000"/>
                <a:gd name="connsiteX33" fmla="*/ 6369 w 10023"/>
                <a:gd name="connsiteY33" fmla="*/ 7980 h 10000"/>
                <a:gd name="connsiteX34" fmla="*/ 6369 w 10023"/>
                <a:gd name="connsiteY34" fmla="*/ 8379 h 10000"/>
                <a:gd name="connsiteX35" fmla="*/ 6815 w 10023"/>
                <a:gd name="connsiteY35" fmla="*/ 8379 h 10000"/>
                <a:gd name="connsiteX36" fmla="*/ 6815 w 10023"/>
                <a:gd name="connsiteY36" fmla="*/ 9177 h 10000"/>
                <a:gd name="connsiteX37" fmla="*/ 6815 w 10023"/>
                <a:gd name="connsiteY37" fmla="*/ 9576 h 10000"/>
                <a:gd name="connsiteX38" fmla="*/ 5448 w 10023"/>
                <a:gd name="connsiteY38" fmla="*/ 9576 h 10000"/>
                <a:gd name="connsiteX39" fmla="*/ 5002 w 10023"/>
                <a:gd name="connsiteY39" fmla="*/ 10000 h 10000"/>
                <a:gd name="connsiteX40" fmla="*/ 4553 w 10023"/>
                <a:gd name="connsiteY40" fmla="*/ 9576 h 10000"/>
                <a:gd name="connsiteX41" fmla="*/ 4105 w 10023"/>
                <a:gd name="connsiteY41" fmla="*/ 8803 h 10000"/>
                <a:gd name="connsiteX42" fmla="*/ 2736 w 10023"/>
                <a:gd name="connsiteY42" fmla="*/ 8803 h 10000"/>
                <a:gd name="connsiteX43" fmla="*/ 1817 w 10023"/>
                <a:gd name="connsiteY43" fmla="*/ 8803 h 10000"/>
                <a:gd name="connsiteX44" fmla="*/ 448 w 10023"/>
                <a:gd name="connsiteY44" fmla="*/ 8803 h 10000"/>
                <a:gd name="connsiteX0" fmla="*/ 448 w 10381"/>
                <a:gd name="connsiteY0" fmla="*/ 8803 h 10000"/>
                <a:gd name="connsiteX1" fmla="*/ 448 w 10381"/>
                <a:gd name="connsiteY1" fmla="*/ 8803 h 10000"/>
                <a:gd name="connsiteX2" fmla="*/ 448 w 10381"/>
                <a:gd name="connsiteY2" fmla="*/ 7980 h 10000"/>
                <a:gd name="connsiteX3" fmla="*/ 1369 w 10381"/>
                <a:gd name="connsiteY3" fmla="*/ 7606 h 10000"/>
                <a:gd name="connsiteX4" fmla="*/ 922 w 10381"/>
                <a:gd name="connsiteY4" fmla="*/ 6783 h 10000"/>
                <a:gd name="connsiteX5" fmla="*/ 448 w 10381"/>
                <a:gd name="connsiteY5" fmla="*/ 6409 h 10000"/>
                <a:gd name="connsiteX6" fmla="*/ 0 w 10381"/>
                <a:gd name="connsiteY6" fmla="*/ 5586 h 10000"/>
                <a:gd name="connsiteX7" fmla="*/ 922 w 10381"/>
                <a:gd name="connsiteY7" fmla="*/ 5985 h 10000"/>
                <a:gd name="connsiteX8" fmla="*/ 3632 w 10381"/>
                <a:gd name="connsiteY8" fmla="*/ 5586 h 10000"/>
                <a:gd name="connsiteX9" fmla="*/ 3632 w 10381"/>
                <a:gd name="connsiteY9" fmla="*/ 4788 h 10000"/>
                <a:gd name="connsiteX10" fmla="*/ 4105 w 10381"/>
                <a:gd name="connsiteY10" fmla="*/ 4389 h 10000"/>
                <a:gd name="connsiteX11" fmla="*/ 5921 w 10381"/>
                <a:gd name="connsiteY11" fmla="*/ 4015 h 10000"/>
                <a:gd name="connsiteX12" fmla="*/ 5921 w 10381"/>
                <a:gd name="connsiteY12" fmla="*/ 3192 h 10000"/>
                <a:gd name="connsiteX13" fmla="*/ 6369 w 10381"/>
                <a:gd name="connsiteY13" fmla="*/ 2818 h 10000"/>
                <a:gd name="connsiteX14" fmla="*/ 6369 w 10381"/>
                <a:gd name="connsiteY14" fmla="*/ 2394 h 10000"/>
                <a:gd name="connsiteX15" fmla="*/ 6815 w 10381"/>
                <a:gd name="connsiteY15" fmla="*/ 2394 h 10000"/>
                <a:gd name="connsiteX16" fmla="*/ 7290 w 10381"/>
                <a:gd name="connsiteY16" fmla="*/ 1621 h 10000"/>
                <a:gd name="connsiteX17" fmla="*/ 7290 w 10381"/>
                <a:gd name="connsiteY17" fmla="*/ 798 h 10000"/>
                <a:gd name="connsiteX18" fmla="*/ 8186 w 10381"/>
                <a:gd name="connsiteY18" fmla="*/ 424 h 10000"/>
                <a:gd name="connsiteX19" fmla="*/ 9107 w 10381"/>
                <a:gd name="connsiteY19" fmla="*/ 0 h 10000"/>
                <a:gd name="connsiteX20" fmla="*/ 9554 w 10381"/>
                <a:gd name="connsiteY20" fmla="*/ 0 h 10000"/>
                <a:gd name="connsiteX21" fmla="*/ 8652 w 10381"/>
                <a:gd name="connsiteY21" fmla="*/ 800 h 10000"/>
                <a:gd name="connsiteX22" fmla="*/ 9554 w 10381"/>
                <a:gd name="connsiteY22" fmla="*/ 1621 h 10000"/>
                <a:gd name="connsiteX23" fmla="*/ 9107 w 10381"/>
                <a:gd name="connsiteY23" fmla="*/ 1995 h 10000"/>
                <a:gd name="connsiteX24" fmla="*/ 9554 w 10381"/>
                <a:gd name="connsiteY24" fmla="*/ 2394 h 10000"/>
                <a:gd name="connsiteX25" fmla="*/ 10023 w 10381"/>
                <a:gd name="connsiteY25" fmla="*/ 2850 h 10000"/>
                <a:gd name="connsiteX26" fmla="*/ 10000 w 10381"/>
                <a:gd name="connsiteY26" fmla="*/ 4389 h 10000"/>
                <a:gd name="connsiteX27" fmla="*/ 7738 w 10381"/>
                <a:gd name="connsiteY27" fmla="*/ 6783 h 10000"/>
                <a:gd name="connsiteX28" fmla="*/ 6815 w 10381"/>
                <a:gd name="connsiteY28" fmla="*/ 7182 h 10000"/>
                <a:gd name="connsiteX29" fmla="*/ 6369 w 10381"/>
                <a:gd name="connsiteY29" fmla="*/ 6783 h 10000"/>
                <a:gd name="connsiteX30" fmla="*/ 5921 w 10381"/>
                <a:gd name="connsiteY30" fmla="*/ 7182 h 10000"/>
                <a:gd name="connsiteX31" fmla="*/ 5921 w 10381"/>
                <a:gd name="connsiteY31" fmla="*/ 7980 h 10000"/>
                <a:gd name="connsiteX32" fmla="*/ 6369 w 10381"/>
                <a:gd name="connsiteY32" fmla="*/ 7980 h 10000"/>
                <a:gd name="connsiteX33" fmla="*/ 6369 w 10381"/>
                <a:gd name="connsiteY33" fmla="*/ 8379 h 10000"/>
                <a:gd name="connsiteX34" fmla="*/ 6815 w 10381"/>
                <a:gd name="connsiteY34" fmla="*/ 8379 h 10000"/>
                <a:gd name="connsiteX35" fmla="*/ 6815 w 10381"/>
                <a:gd name="connsiteY35" fmla="*/ 9177 h 10000"/>
                <a:gd name="connsiteX36" fmla="*/ 6815 w 10381"/>
                <a:gd name="connsiteY36" fmla="*/ 9576 h 10000"/>
                <a:gd name="connsiteX37" fmla="*/ 5448 w 10381"/>
                <a:gd name="connsiteY37" fmla="*/ 9576 h 10000"/>
                <a:gd name="connsiteX38" fmla="*/ 5002 w 10381"/>
                <a:gd name="connsiteY38" fmla="*/ 10000 h 10000"/>
                <a:gd name="connsiteX39" fmla="*/ 4553 w 10381"/>
                <a:gd name="connsiteY39" fmla="*/ 9576 h 10000"/>
                <a:gd name="connsiteX40" fmla="*/ 4105 w 10381"/>
                <a:gd name="connsiteY40" fmla="*/ 8803 h 10000"/>
                <a:gd name="connsiteX41" fmla="*/ 2736 w 10381"/>
                <a:gd name="connsiteY41" fmla="*/ 8803 h 10000"/>
                <a:gd name="connsiteX42" fmla="*/ 1817 w 10381"/>
                <a:gd name="connsiteY42" fmla="*/ 8803 h 10000"/>
                <a:gd name="connsiteX43" fmla="*/ 448 w 10381"/>
                <a:gd name="connsiteY43" fmla="*/ 8803 h 10000"/>
                <a:gd name="connsiteX0" fmla="*/ 448 w 10403"/>
                <a:gd name="connsiteY0" fmla="*/ 8803 h 10000"/>
                <a:gd name="connsiteX1" fmla="*/ 448 w 10403"/>
                <a:gd name="connsiteY1" fmla="*/ 8803 h 10000"/>
                <a:gd name="connsiteX2" fmla="*/ 448 w 10403"/>
                <a:gd name="connsiteY2" fmla="*/ 7980 h 10000"/>
                <a:gd name="connsiteX3" fmla="*/ 1369 w 10403"/>
                <a:gd name="connsiteY3" fmla="*/ 7606 h 10000"/>
                <a:gd name="connsiteX4" fmla="*/ 922 w 10403"/>
                <a:gd name="connsiteY4" fmla="*/ 6783 h 10000"/>
                <a:gd name="connsiteX5" fmla="*/ 448 w 10403"/>
                <a:gd name="connsiteY5" fmla="*/ 6409 h 10000"/>
                <a:gd name="connsiteX6" fmla="*/ 0 w 10403"/>
                <a:gd name="connsiteY6" fmla="*/ 5586 h 10000"/>
                <a:gd name="connsiteX7" fmla="*/ 922 w 10403"/>
                <a:gd name="connsiteY7" fmla="*/ 5985 h 10000"/>
                <a:gd name="connsiteX8" fmla="*/ 3632 w 10403"/>
                <a:gd name="connsiteY8" fmla="*/ 5586 h 10000"/>
                <a:gd name="connsiteX9" fmla="*/ 3632 w 10403"/>
                <a:gd name="connsiteY9" fmla="*/ 4788 h 10000"/>
                <a:gd name="connsiteX10" fmla="*/ 4105 w 10403"/>
                <a:gd name="connsiteY10" fmla="*/ 4389 h 10000"/>
                <a:gd name="connsiteX11" fmla="*/ 5921 w 10403"/>
                <a:gd name="connsiteY11" fmla="*/ 4015 h 10000"/>
                <a:gd name="connsiteX12" fmla="*/ 5921 w 10403"/>
                <a:gd name="connsiteY12" fmla="*/ 3192 h 10000"/>
                <a:gd name="connsiteX13" fmla="*/ 6369 w 10403"/>
                <a:gd name="connsiteY13" fmla="*/ 2818 h 10000"/>
                <a:gd name="connsiteX14" fmla="*/ 6369 w 10403"/>
                <a:gd name="connsiteY14" fmla="*/ 2394 h 10000"/>
                <a:gd name="connsiteX15" fmla="*/ 6815 w 10403"/>
                <a:gd name="connsiteY15" fmla="*/ 2394 h 10000"/>
                <a:gd name="connsiteX16" fmla="*/ 7290 w 10403"/>
                <a:gd name="connsiteY16" fmla="*/ 1621 h 10000"/>
                <a:gd name="connsiteX17" fmla="*/ 7290 w 10403"/>
                <a:gd name="connsiteY17" fmla="*/ 798 h 10000"/>
                <a:gd name="connsiteX18" fmla="*/ 8186 w 10403"/>
                <a:gd name="connsiteY18" fmla="*/ 424 h 10000"/>
                <a:gd name="connsiteX19" fmla="*/ 9107 w 10403"/>
                <a:gd name="connsiteY19" fmla="*/ 0 h 10000"/>
                <a:gd name="connsiteX20" fmla="*/ 9554 w 10403"/>
                <a:gd name="connsiteY20" fmla="*/ 0 h 10000"/>
                <a:gd name="connsiteX21" fmla="*/ 8652 w 10403"/>
                <a:gd name="connsiteY21" fmla="*/ 800 h 10000"/>
                <a:gd name="connsiteX22" fmla="*/ 9554 w 10403"/>
                <a:gd name="connsiteY22" fmla="*/ 1621 h 10000"/>
                <a:gd name="connsiteX23" fmla="*/ 9107 w 10403"/>
                <a:gd name="connsiteY23" fmla="*/ 1995 h 10000"/>
                <a:gd name="connsiteX24" fmla="*/ 9554 w 10403"/>
                <a:gd name="connsiteY24" fmla="*/ 2394 h 10000"/>
                <a:gd name="connsiteX25" fmla="*/ 10023 w 10403"/>
                <a:gd name="connsiteY25" fmla="*/ 2850 h 10000"/>
                <a:gd name="connsiteX26" fmla="*/ 10381 w 10403"/>
                <a:gd name="connsiteY26" fmla="*/ 3200 h 10000"/>
                <a:gd name="connsiteX27" fmla="*/ 10000 w 10403"/>
                <a:gd name="connsiteY27" fmla="*/ 4389 h 10000"/>
                <a:gd name="connsiteX28" fmla="*/ 7738 w 10403"/>
                <a:gd name="connsiteY28" fmla="*/ 6783 h 10000"/>
                <a:gd name="connsiteX29" fmla="*/ 6815 w 10403"/>
                <a:gd name="connsiteY29" fmla="*/ 7182 h 10000"/>
                <a:gd name="connsiteX30" fmla="*/ 6369 w 10403"/>
                <a:gd name="connsiteY30" fmla="*/ 6783 h 10000"/>
                <a:gd name="connsiteX31" fmla="*/ 5921 w 10403"/>
                <a:gd name="connsiteY31" fmla="*/ 7182 h 10000"/>
                <a:gd name="connsiteX32" fmla="*/ 5921 w 10403"/>
                <a:gd name="connsiteY32" fmla="*/ 7980 h 10000"/>
                <a:gd name="connsiteX33" fmla="*/ 6369 w 10403"/>
                <a:gd name="connsiteY33" fmla="*/ 7980 h 10000"/>
                <a:gd name="connsiteX34" fmla="*/ 6369 w 10403"/>
                <a:gd name="connsiteY34" fmla="*/ 8379 h 10000"/>
                <a:gd name="connsiteX35" fmla="*/ 6815 w 10403"/>
                <a:gd name="connsiteY35" fmla="*/ 8379 h 10000"/>
                <a:gd name="connsiteX36" fmla="*/ 6815 w 10403"/>
                <a:gd name="connsiteY36" fmla="*/ 9177 h 10000"/>
                <a:gd name="connsiteX37" fmla="*/ 6815 w 10403"/>
                <a:gd name="connsiteY37" fmla="*/ 9576 h 10000"/>
                <a:gd name="connsiteX38" fmla="*/ 5448 w 10403"/>
                <a:gd name="connsiteY38" fmla="*/ 9576 h 10000"/>
                <a:gd name="connsiteX39" fmla="*/ 5002 w 10403"/>
                <a:gd name="connsiteY39" fmla="*/ 10000 h 10000"/>
                <a:gd name="connsiteX40" fmla="*/ 4553 w 10403"/>
                <a:gd name="connsiteY40" fmla="*/ 9576 h 10000"/>
                <a:gd name="connsiteX41" fmla="*/ 4105 w 10403"/>
                <a:gd name="connsiteY41" fmla="*/ 8803 h 10000"/>
                <a:gd name="connsiteX42" fmla="*/ 2736 w 10403"/>
                <a:gd name="connsiteY42" fmla="*/ 8803 h 10000"/>
                <a:gd name="connsiteX43" fmla="*/ 1817 w 10403"/>
                <a:gd name="connsiteY43" fmla="*/ 8803 h 10000"/>
                <a:gd name="connsiteX44" fmla="*/ 448 w 10403"/>
                <a:gd name="connsiteY44" fmla="*/ 8803 h 10000"/>
                <a:gd name="connsiteX0" fmla="*/ 448 w 10403"/>
                <a:gd name="connsiteY0" fmla="*/ 8803 h 10000"/>
                <a:gd name="connsiteX1" fmla="*/ 448 w 10403"/>
                <a:gd name="connsiteY1" fmla="*/ 8803 h 10000"/>
                <a:gd name="connsiteX2" fmla="*/ 448 w 10403"/>
                <a:gd name="connsiteY2" fmla="*/ 7980 h 10000"/>
                <a:gd name="connsiteX3" fmla="*/ 1369 w 10403"/>
                <a:gd name="connsiteY3" fmla="*/ 7606 h 10000"/>
                <a:gd name="connsiteX4" fmla="*/ 922 w 10403"/>
                <a:gd name="connsiteY4" fmla="*/ 6783 h 10000"/>
                <a:gd name="connsiteX5" fmla="*/ 448 w 10403"/>
                <a:gd name="connsiteY5" fmla="*/ 6409 h 10000"/>
                <a:gd name="connsiteX6" fmla="*/ 0 w 10403"/>
                <a:gd name="connsiteY6" fmla="*/ 5586 h 10000"/>
                <a:gd name="connsiteX7" fmla="*/ 922 w 10403"/>
                <a:gd name="connsiteY7" fmla="*/ 5985 h 10000"/>
                <a:gd name="connsiteX8" fmla="*/ 3632 w 10403"/>
                <a:gd name="connsiteY8" fmla="*/ 5586 h 10000"/>
                <a:gd name="connsiteX9" fmla="*/ 3632 w 10403"/>
                <a:gd name="connsiteY9" fmla="*/ 4788 h 10000"/>
                <a:gd name="connsiteX10" fmla="*/ 4105 w 10403"/>
                <a:gd name="connsiteY10" fmla="*/ 4389 h 10000"/>
                <a:gd name="connsiteX11" fmla="*/ 5921 w 10403"/>
                <a:gd name="connsiteY11" fmla="*/ 4015 h 10000"/>
                <a:gd name="connsiteX12" fmla="*/ 5921 w 10403"/>
                <a:gd name="connsiteY12" fmla="*/ 3192 h 10000"/>
                <a:gd name="connsiteX13" fmla="*/ 6369 w 10403"/>
                <a:gd name="connsiteY13" fmla="*/ 2818 h 10000"/>
                <a:gd name="connsiteX14" fmla="*/ 6369 w 10403"/>
                <a:gd name="connsiteY14" fmla="*/ 2394 h 10000"/>
                <a:gd name="connsiteX15" fmla="*/ 6815 w 10403"/>
                <a:gd name="connsiteY15" fmla="*/ 2394 h 10000"/>
                <a:gd name="connsiteX16" fmla="*/ 7290 w 10403"/>
                <a:gd name="connsiteY16" fmla="*/ 1621 h 10000"/>
                <a:gd name="connsiteX17" fmla="*/ 7290 w 10403"/>
                <a:gd name="connsiteY17" fmla="*/ 798 h 10000"/>
                <a:gd name="connsiteX18" fmla="*/ 8186 w 10403"/>
                <a:gd name="connsiteY18" fmla="*/ 424 h 10000"/>
                <a:gd name="connsiteX19" fmla="*/ 9107 w 10403"/>
                <a:gd name="connsiteY19" fmla="*/ 0 h 10000"/>
                <a:gd name="connsiteX20" fmla="*/ 9554 w 10403"/>
                <a:gd name="connsiteY20" fmla="*/ 0 h 10000"/>
                <a:gd name="connsiteX21" fmla="*/ 9074 w 10403"/>
                <a:gd name="connsiteY21" fmla="*/ 800 h 10000"/>
                <a:gd name="connsiteX22" fmla="*/ 9554 w 10403"/>
                <a:gd name="connsiteY22" fmla="*/ 1621 h 10000"/>
                <a:gd name="connsiteX23" fmla="*/ 9107 w 10403"/>
                <a:gd name="connsiteY23" fmla="*/ 1995 h 10000"/>
                <a:gd name="connsiteX24" fmla="*/ 9554 w 10403"/>
                <a:gd name="connsiteY24" fmla="*/ 2394 h 10000"/>
                <a:gd name="connsiteX25" fmla="*/ 10023 w 10403"/>
                <a:gd name="connsiteY25" fmla="*/ 2850 h 10000"/>
                <a:gd name="connsiteX26" fmla="*/ 10381 w 10403"/>
                <a:gd name="connsiteY26" fmla="*/ 3200 h 10000"/>
                <a:gd name="connsiteX27" fmla="*/ 10000 w 10403"/>
                <a:gd name="connsiteY27" fmla="*/ 4389 h 10000"/>
                <a:gd name="connsiteX28" fmla="*/ 7738 w 10403"/>
                <a:gd name="connsiteY28" fmla="*/ 6783 h 10000"/>
                <a:gd name="connsiteX29" fmla="*/ 6815 w 10403"/>
                <a:gd name="connsiteY29" fmla="*/ 7182 h 10000"/>
                <a:gd name="connsiteX30" fmla="*/ 6369 w 10403"/>
                <a:gd name="connsiteY30" fmla="*/ 6783 h 10000"/>
                <a:gd name="connsiteX31" fmla="*/ 5921 w 10403"/>
                <a:gd name="connsiteY31" fmla="*/ 7182 h 10000"/>
                <a:gd name="connsiteX32" fmla="*/ 5921 w 10403"/>
                <a:gd name="connsiteY32" fmla="*/ 7980 h 10000"/>
                <a:gd name="connsiteX33" fmla="*/ 6369 w 10403"/>
                <a:gd name="connsiteY33" fmla="*/ 7980 h 10000"/>
                <a:gd name="connsiteX34" fmla="*/ 6369 w 10403"/>
                <a:gd name="connsiteY34" fmla="*/ 8379 h 10000"/>
                <a:gd name="connsiteX35" fmla="*/ 6815 w 10403"/>
                <a:gd name="connsiteY35" fmla="*/ 8379 h 10000"/>
                <a:gd name="connsiteX36" fmla="*/ 6815 w 10403"/>
                <a:gd name="connsiteY36" fmla="*/ 9177 h 10000"/>
                <a:gd name="connsiteX37" fmla="*/ 6815 w 10403"/>
                <a:gd name="connsiteY37" fmla="*/ 9576 h 10000"/>
                <a:gd name="connsiteX38" fmla="*/ 5448 w 10403"/>
                <a:gd name="connsiteY38" fmla="*/ 9576 h 10000"/>
                <a:gd name="connsiteX39" fmla="*/ 5002 w 10403"/>
                <a:gd name="connsiteY39" fmla="*/ 10000 h 10000"/>
                <a:gd name="connsiteX40" fmla="*/ 4553 w 10403"/>
                <a:gd name="connsiteY40" fmla="*/ 9576 h 10000"/>
                <a:gd name="connsiteX41" fmla="*/ 4105 w 10403"/>
                <a:gd name="connsiteY41" fmla="*/ 8803 h 10000"/>
                <a:gd name="connsiteX42" fmla="*/ 2736 w 10403"/>
                <a:gd name="connsiteY42" fmla="*/ 8803 h 10000"/>
                <a:gd name="connsiteX43" fmla="*/ 1817 w 10403"/>
                <a:gd name="connsiteY43" fmla="*/ 8803 h 10000"/>
                <a:gd name="connsiteX44" fmla="*/ 448 w 10403"/>
                <a:gd name="connsiteY44" fmla="*/ 8803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403" h="10000">
                  <a:moveTo>
                    <a:pt x="448" y="8803"/>
                  </a:moveTo>
                  <a:lnTo>
                    <a:pt x="448" y="8803"/>
                  </a:lnTo>
                  <a:lnTo>
                    <a:pt x="448" y="7980"/>
                  </a:lnTo>
                  <a:lnTo>
                    <a:pt x="1369" y="7606"/>
                  </a:lnTo>
                  <a:lnTo>
                    <a:pt x="922" y="6783"/>
                  </a:lnTo>
                  <a:lnTo>
                    <a:pt x="448" y="6409"/>
                  </a:lnTo>
                  <a:lnTo>
                    <a:pt x="0" y="5586"/>
                  </a:lnTo>
                  <a:lnTo>
                    <a:pt x="922" y="5985"/>
                  </a:lnTo>
                  <a:lnTo>
                    <a:pt x="3632" y="5586"/>
                  </a:lnTo>
                  <a:lnTo>
                    <a:pt x="3632" y="4788"/>
                  </a:lnTo>
                  <a:lnTo>
                    <a:pt x="4105" y="4389"/>
                  </a:lnTo>
                  <a:lnTo>
                    <a:pt x="5921" y="4015"/>
                  </a:lnTo>
                  <a:lnTo>
                    <a:pt x="5921" y="3192"/>
                  </a:lnTo>
                  <a:lnTo>
                    <a:pt x="6369" y="2818"/>
                  </a:lnTo>
                  <a:lnTo>
                    <a:pt x="6369" y="2394"/>
                  </a:lnTo>
                  <a:lnTo>
                    <a:pt x="6815" y="2394"/>
                  </a:lnTo>
                  <a:lnTo>
                    <a:pt x="7290" y="1621"/>
                  </a:lnTo>
                  <a:lnTo>
                    <a:pt x="7290" y="798"/>
                  </a:lnTo>
                  <a:lnTo>
                    <a:pt x="8186" y="424"/>
                  </a:lnTo>
                  <a:lnTo>
                    <a:pt x="9107" y="0"/>
                  </a:lnTo>
                  <a:lnTo>
                    <a:pt x="9554" y="0"/>
                  </a:lnTo>
                  <a:cubicBezTo>
                    <a:pt x="9570" y="225"/>
                    <a:pt x="9058" y="575"/>
                    <a:pt x="9074" y="800"/>
                  </a:cubicBezTo>
                  <a:cubicBezTo>
                    <a:pt x="9058" y="1115"/>
                    <a:pt x="9570" y="1306"/>
                    <a:pt x="9554" y="1621"/>
                  </a:cubicBezTo>
                  <a:lnTo>
                    <a:pt x="9107" y="1995"/>
                  </a:lnTo>
                  <a:lnTo>
                    <a:pt x="9554" y="2394"/>
                  </a:lnTo>
                  <a:lnTo>
                    <a:pt x="10023" y="2850"/>
                  </a:lnTo>
                  <a:cubicBezTo>
                    <a:pt x="10123" y="3101"/>
                    <a:pt x="10385" y="2944"/>
                    <a:pt x="10381" y="3200"/>
                  </a:cubicBezTo>
                  <a:cubicBezTo>
                    <a:pt x="10377" y="3456"/>
                    <a:pt x="10403" y="3909"/>
                    <a:pt x="10000" y="4389"/>
                  </a:cubicBezTo>
                  <a:lnTo>
                    <a:pt x="7738" y="6783"/>
                  </a:lnTo>
                  <a:lnTo>
                    <a:pt x="6815" y="7182"/>
                  </a:lnTo>
                  <a:lnTo>
                    <a:pt x="6369" y="6783"/>
                  </a:lnTo>
                  <a:lnTo>
                    <a:pt x="5921" y="7182"/>
                  </a:lnTo>
                  <a:lnTo>
                    <a:pt x="5921" y="7980"/>
                  </a:lnTo>
                  <a:lnTo>
                    <a:pt x="6369" y="7980"/>
                  </a:lnTo>
                  <a:lnTo>
                    <a:pt x="6369" y="8379"/>
                  </a:lnTo>
                  <a:lnTo>
                    <a:pt x="6815" y="8379"/>
                  </a:lnTo>
                  <a:lnTo>
                    <a:pt x="6815" y="9177"/>
                  </a:lnTo>
                  <a:lnTo>
                    <a:pt x="6815" y="9576"/>
                  </a:lnTo>
                  <a:lnTo>
                    <a:pt x="5448" y="9576"/>
                  </a:lnTo>
                  <a:lnTo>
                    <a:pt x="5002" y="10000"/>
                  </a:lnTo>
                  <a:lnTo>
                    <a:pt x="4553" y="9576"/>
                  </a:lnTo>
                  <a:lnTo>
                    <a:pt x="4105" y="8803"/>
                  </a:lnTo>
                  <a:lnTo>
                    <a:pt x="2736" y="8803"/>
                  </a:lnTo>
                  <a:lnTo>
                    <a:pt x="1817" y="8803"/>
                  </a:lnTo>
                  <a:lnTo>
                    <a:pt x="448" y="880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4" name="Line 192">
              <a:extLst>
                <a:ext uri="{FF2B5EF4-FFF2-40B4-BE49-F238E27FC236}">
                  <a16:creationId xmlns:a16="http://schemas.microsoft.com/office/drawing/2014/main" id="{8ECA4484-B4FF-4588-9021-D7F2ED1586DB}"/>
                </a:ext>
              </a:extLst>
            </p:cNvPr>
            <p:cNvSpPr>
              <a:spLocks noChangeShapeType="1"/>
            </p:cNvSpPr>
            <p:nvPr>
              <p:custDataLst>
                <p:tags r:id="rId193"/>
              </p:custDataLst>
            </p:nvPr>
          </p:nvSpPr>
          <p:spPr bwMode="auto">
            <a:xfrm>
              <a:off x="8594908" y="4280377"/>
              <a:ext cx="14074" cy="0"/>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265" name="Freeform 193">
              <a:extLst>
                <a:ext uri="{FF2B5EF4-FFF2-40B4-BE49-F238E27FC236}">
                  <a16:creationId xmlns:a16="http://schemas.microsoft.com/office/drawing/2014/main" id="{DB34BA52-DED6-4B54-B9D8-0162BA31589A}"/>
                </a:ext>
              </a:extLst>
            </p:cNvPr>
            <p:cNvSpPr>
              <a:spLocks/>
            </p:cNvSpPr>
            <p:nvPr>
              <p:custDataLst>
                <p:tags r:id="rId194"/>
              </p:custDataLst>
            </p:nvPr>
          </p:nvSpPr>
          <p:spPr bwMode="auto">
            <a:xfrm>
              <a:off x="8357410" y="3569639"/>
              <a:ext cx="457406" cy="394072"/>
            </a:xfrm>
            <a:custGeom>
              <a:avLst/>
              <a:gdLst>
                <a:gd name="T0" fmla="*/ 96044 w 520"/>
                <a:gd name="T1" fmla="*/ 88702 h 449"/>
                <a:gd name="T2" fmla="*/ 96044 w 520"/>
                <a:gd name="T3" fmla="*/ 88702 h 449"/>
                <a:gd name="T4" fmla="*/ 72231 w 520"/>
                <a:gd name="T5" fmla="*/ 85534 h 449"/>
                <a:gd name="T6" fmla="*/ 68262 w 520"/>
                <a:gd name="T7" fmla="*/ 79198 h 449"/>
                <a:gd name="T8" fmla="*/ 57944 w 520"/>
                <a:gd name="T9" fmla="*/ 82366 h 449"/>
                <a:gd name="T10" fmla="*/ 51594 w 520"/>
                <a:gd name="T11" fmla="*/ 82366 h 449"/>
                <a:gd name="T12" fmla="*/ 40481 w 520"/>
                <a:gd name="T13" fmla="*/ 72862 h 449"/>
                <a:gd name="T14" fmla="*/ 34131 w 520"/>
                <a:gd name="T15" fmla="*/ 63359 h 449"/>
                <a:gd name="T16" fmla="*/ 26987 w 520"/>
                <a:gd name="T17" fmla="*/ 60191 h 449"/>
                <a:gd name="T18" fmla="*/ 23812 w 520"/>
                <a:gd name="T19" fmla="*/ 60191 h 449"/>
                <a:gd name="T20" fmla="*/ 19844 w 520"/>
                <a:gd name="T21" fmla="*/ 57023 h 449"/>
                <a:gd name="T22" fmla="*/ 16669 w 520"/>
                <a:gd name="T23" fmla="*/ 47519 h 449"/>
                <a:gd name="T24" fmla="*/ 10319 w 520"/>
                <a:gd name="T25" fmla="*/ 44351 h 449"/>
                <a:gd name="T26" fmla="*/ 6350 w 520"/>
                <a:gd name="T27" fmla="*/ 38015 h 449"/>
                <a:gd name="T28" fmla="*/ 10319 w 520"/>
                <a:gd name="T29" fmla="*/ 31679 h 449"/>
                <a:gd name="T30" fmla="*/ 10319 w 520"/>
                <a:gd name="T31" fmla="*/ 25343 h 449"/>
                <a:gd name="T32" fmla="*/ 6350 w 520"/>
                <a:gd name="T33" fmla="*/ 25343 h 449"/>
                <a:gd name="T34" fmla="*/ 3175 w 520"/>
                <a:gd name="T35" fmla="*/ 19008 h 449"/>
                <a:gd name="T36" fmla="*/ 0 w 520"/>
                <a:gd name="T37" fmla="*/ 3168 h 449"/>
                <a:gd name="T38" fmla="*/ 3175 w 520"/>
                <a:gd name="T39" fmla="*/ 0 h 449"/>
                <a:gd name="T40" fmla="*/ 6350 w 520"/>
                <a:gd name="T41" fmla="*/ 6336 h 449"/>
                <a:gd name="T42" fmla="*/ 10319 w 520"/>
                <a:gd name="T43" fmla="*/ 6336 h 449"/>
                <a:gd name="T44" fmla="*/ 13494 w 520"/>
                <a:gd name="T45" fmla="*/ 6336 h 449"/>
                <a:gd name="T46" fmla="*/ 19844 w 520"/>
                <a:gd name="T47" fmla="*/ 3168 h 449"/>
                <a:gd name="T48" fmla="*/ 23812 w 520"/>
                <a:gd name="T49" fmla="*/ 3168 h 449"/>
                <a:gd name="T50" fmla="*/ 19844 w 520"/>
                <a:gd name="T51" fmla="*/ 6336 h 449"/>
                <a:gd name="T52" fmla="*/ 26987 w 520"/>
                <a:gd name="T53" fmla="*/ 9504 h 449"/>
                <a:gd name="T54" fmla="*/ 26987 w 520"/>
                <a:gd name="T55" fmla="*/ 15840 h 449"/>
                <a:gd name="T56" fmla="*/ 40481 w 520"/>
                <a:gd name="T57" fmla="*/ 22176 h 449"/>
                <a:gd name="T58" fmla="*/ 54769 w 520"/>
                <a:gd name="T59" fmla="*/ 22176 h 449"/>
                <a:gd name="T60" fmla="*/ 54769 w 520"/>
                <a:gd name="T61" fmla="*/ 15840 h 449"/>
                <a:gd name="T62" fmla="*/ 61119 w 520"/>
                <a:gd name="T63" fmla="*/ 12672 h 449"/>
                <a:gd name="T64" fmla="*/ 72231 w 520"/>
                <a:gd name="T65" fmla="*/ 12672 h 449"/>
                <a:gd name="T66" fmla="*/ 92869 w 520"/>
                <a:gd name="T67" fmla="*/ 22176 h 449"/>
                <a:gd name="T68" fmla="*/ 92869 w 520"/>
                <a:gd name="T69" fmla="*/ 25343 h 449"/>
                <a:gd name="T70" fmla="*/ 92869 w 520"/>
                <a:gd name="T71" fmla="*/ 28511 h 449"/>
                <a:gd name="T72" fmla="*/ 92869 w 520"/>
                <a:gd name="T73" fmla="*/ 31679 h 449"/>
                <a:gd name="T74" fmla="*/ 88900 w 520"/>
                <a:gd name="T75" fmla="*/ 38015 h 449"/>
                <a:gd name="T76" fmla="*/ 88900 w 520"/>
                <a:gd name="T77" fmla="*/ 50687 h 449"/>
                <a:gd name="T78" fmla="*/ 96044 w 520"/>
                <a:gd name="T79" fmla="*/ 53855 h 449"/>
                <a:gd name="T80" fmla="*/ 96044 w 520"/>
                <a:gd name="T81" fmla="*/ 57023 h 449"/>
                <a:gd name="T82" fmla="*/ 92869 w 520"/>
                <a:gd name="T83" fmla="*/ 63359 h 449"/>
                <a:gd name="T84" fmla="*/ 96044 w 520"/>
                <a:gd name="T85" fmla="*/ 69694 h 449"/>
                <a:gd name="T86" fmla="*/ 99219 w 520"/>
                <a:gd name="T87" fmla="*/ 72862 h 449"/>
                <a:gd name="T88" fmla="*/ 103188 w 520"/>
                <a:gd name="T89" fmla="*/ 79198 h 449"/>
                <a:gd name="T90" fmla="*/ 96044 w 520"/>
                <a:gd name="T91" fmla="*/ 82366 h 449"/>
                <a:gd name="T92" fmla="*/ 96044 w 520"/>
                <a:gd name="T93" fmla="*/ 88702 h 44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520"/>
                <a:gd name="T142" fmla="*/ 0 h 449"/>
                <a:gd name="T143" fmla="*/ 520 w 520"/>
                <a:gd name="T144" fmla="*/ 449 h 449"/>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520" h="449">
                  <a:moveTo>
                    <a:pt x="485" y="449"/>
                  </a:moveTo>
                  <a:lnTo>
                    <a:pt x="485" y="449"/>
                  </a:lnTo>
                  <a:lnTo>
                    <a:pt x="364" y="432"/>
                  </a:lnTo>
                  <a:lnTo>
                    <a:pt x="345" y="401"/>
                  </a:lnTo>
                  <a:lnTo>
                    <a:pt x="293" y="416"/>
                  </a:lnTo>
                  <a:lnTo>
                    <a:pt x="259" y="416"/>
                  </a:lnTo>
                  <a:lnTo>
                    <a:pt x="207" y="368"/>
                  </a:lnTo>
                  <a:lnTo>
                    <a:pt x="172" y="320"/>
                  </a:lnTo>
                  <a:lnTo>
                    <a:pt x="138" y="305"/>
                  </a:lnTo>
                  <a:lnTo>
                    <a:pt x="121" y="305"/>
                  </a:lnTo>
                  <a:lnTo>
                    <a:pt x="103" y="288"/>
                  </a:lnTo>
                  <a:lnTo>
                    <a:pt x="86" y="240"/>
                  </a:lnTo>
                  <a:lnTo>
                    <a:pt x="52" y="224"/>
                  </a:lnTo>
                  <a:lnTo>
                    <a:pt x="34" y="192"/>
                  </a:lnTo>
                  <a:lnTo>
                    <a:pt x="52" y="161"/>
                  </a:lnTo>
                  <a:lnTo>
                    <a:pt x="52" y="128"/>
                  </a:lnTo>
                  <a:lnTo>
                    <a:pt x="34" y="128"/>
                  </a:lnTo>
                  <a:lnTo>
                    <a:pt x="17" y="96"/>
                  </a:lnTo>
                  <a:lnTo>
                    <a:pt x="0" y="17"/>
                  </a:lnTo>
                  <a:lnTo>
                    <a:pt x="17" y="0"/>
                  </a:lnTo>
                  <a:lnTo>
                    <a:pt x="34" y="33"/>
                  </a:lnTo>
                  <a:lnTo>
                    <a:pt x="52" y="33"/>
                  </a:lnTo>
                  <a:lnTo>
                    <a:pt x="69" y="33"/>
                  </a:lnTo>
                  <a:lnTo>
                    <a:pt x="103" y="17"/>
                  </a:lnTo>
                  <a:lnTo>
                    <a:pt x="121" y="17"/>
                  </a:lnTo>
                  <a:lnTo>
                    <a:pt x="103" y="33"/>
                  </a:lnTo>
                  <a:lnTo>
                    <a:pt x="138" y="48"/>
                  </a:lnTo>
                  <a:lnTo>
                    <a:pt x="138" y="80"/>
                  </a:lnTo>
                  <a:lnTo>
                    <a:pt x="207" y="113"/>
                  </a:lnTo>
                  <a:lnTo>
                    <a:pt x="276" y="113"/>
                  </a:lnTo>
                  <a:lnTo>
                    <a:pt x="276" y="80"/>
                  </a:lnTo>
                  <a:lnTo>
                    <a:pt x="311" y="65"/>
                  </a:lnTo>
                  <a:lnTo>
                    <a:pt x="364" y="65"/>
                  </a:lnTo>
                  <a:lnTo>
                    <a:pt x="468" y="113"/>
                  </a:lnTo>
                  <a:lnTo>
                    <a:pt x="468" y="128"/>
                  </a:lnTo>
                  <a:lnTo>
                    <a:pt x="468" y="144"/>
                  </a:lnTo>
                  <a:lnTo>
                    <a:pt x="468" y="161"/>
                  </a:lnTo>
                  <a:lnTo>
                    <a:pt x="451" y="192"/>
                  </a:lnTo>
                  <a:lnTo>
                    <a:pt x="451" y="257"/>
                  </a:lnTo>
                  <a:lnTo>
                    <a:pt x="485" y="272"/>
                  </a:lnTo>
                  <a:lnTo>
                    <a:pt x="485" y="288"/>
                  </a:lnTo>
                  <a:lnTo>
                    <a:pt x="468" y="320"/>
                  </a:lnTo>
                  <a:lnTo>
                    <a:pt x="485" y="353"/>
                  </a:lnTo>
                  <a:lnTo>
                    <a:pt x="503" y="368"/>
                  </a:lnTo>
                  <a:lnTo>
                    <a:pt x="520" y="401"/>
                  </a:lnTo>
                  <a:lnTo>
                    <a:pt x="485" y="416"/>
                  </a:lnTo>
                  <a:lnTo>
                    <a:pt x="485" y="449"/>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6" name="Freeform 194">
              <a:extLst>
                <a:ext uri="{FF2B5EF4-FFF2-40B4-BE49-F238E27FC236}">
                  <a16:creationId xmlns:a16="http://schemas.microsoft.com/office/drawing/2014/main" id="{0D9B9177-95BF-49B3-9549-199302954A0A}"/>
                </a:ext>
              </a:extLst>
            </p:cNvPr>
            <p:cNvSpPr>
              <a:spLocks/>
            </p:cNvSpPr>
            <p:nvPr>
              <p:custDataLst>
                <p:tags r:id="rId195"/>
              </p:custDataLst>
            </p:nvPr>
          </p:nvSpPr>
          <p:spPr bwMode="auto">
            <a:xfrm>
              <a:off x="8250095" y="3471121"/>
              <a:ext cx="168888" cy="56296"/>
            </a:xfrm>
            <a:custGeom>
              <a:avLst/>
              <a:gdLst>
                <a:gd name="T0" fmla="*/ 10319 w 192"/>
                <a:gd name="T1" fmla="*/ 12902 h 63"/>
                <a:gd name="T2" fmla="*/ 10319 w 192"/>
                <a:gd name="T3" fmla="*/ 12902 h 63"/>
                <a:gd name="T4" fmla="*/ 10319 w 192"/>
                <a:gd name="T5" fmla="*/ 9676 h 63"/>
                <a:gd name="T6" fmla="*/ 10319 w 192"/>
                <a:gd name="T7" fmla="*/ 6451 h 63"/>
                <a:gd name="T8" fmla="*/ 0 w 192"/>
                <a:gd name="T9" fmla="*/ 0 h 63"/>
                <a:gd name="T10" fmla="*/ 17463 w 192"/>
                <a:gd name="T11" fmla="*/ 0 h 63"/>
                <a:gd name="T12" fmla="*/ 23812 w 192"/>
                <a:gd name="T13" fmla="*/ 3225 h 63"/>
                <a:gd name="T14" fmla="*/ 31750 w 192"/>
                <a:gd name="T15" fmla="*/ 3225 h 63"/>
                <a:gd name="T16" fmla="*/ 38100 w 192"/>
                <a:gd name="T17" fmla="*/ 9676 h 63"/>
                <a:gd name="T18" fmla="*/ 34925 w 192"/>
                <a:gd name="T19" fmla="*/ 9676 h 63"/>
                <a:gd name="T20" fmla="*/ 38100 w 192"/>
                <a:gd name="T21" fmla="*/ 12902 h 63"/>
                <a:gd name="T22" fmla="*/ 31750 w 192"/>
                <a:gd name="T23" fmla="*/ 12902 h 63"/>
                <a:gd name="T24" fmla="*/ 27781 w 192"/>
                <a:gd name="T25" fmla="*/ 12902 h 63"/>
                <a:gd name="T26" fmla="*/ 20637 w 192"/>
                <a:gd name="T27" fmla="*/ 12902 h 63"/>
                <a:gd name="T28" fmla="*/ 10319 w 192"/>
                <a:gd name="T29" fmla="*/ 12902 h 6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2"/>
                <a:gd name="T46" fmla="*/ 0 h 63"/>
                <a:gd name="T47" fmla="*/ 192 w 192"/>
                <a:gd name="T48" fmla="*/ 63 h 6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2" h="63">
                  <a:moveTo>
                    <a:pt x="54" y="63"/>
                  </a:moveTo>
                  <a:lnTo>
                    <a:pt x="54" y="63"/>
                  </a:lnTo>
                  <a:lnTo>
                    <a:pt x="54" y="48"/>
                  </a:lnTo>
                  <a:lnTo>
                    <a:pt x="54" y="32"/>
                  </a:lnTo>
                  <a:lnTo>
                    <a:pt x="0" y="0"/>
                  </a:lnTo>
                  <a:lnTo>
                    <a:pt x="88" y="0"/>
                  </a:lnTo>
                  <a:lnTo>
                    <a:pt x="123" y="15"/>
                  </a:lnTo>
                  <a:lnTo>
                    <a:pt x="157" y="15"/>
                  </a:lnTo>
                  <a:lnTo>
                    <a:pt x="192" y="48"/>
                  </a:lnTo>
                  <a:lnTo>
                    <a:pt x="175" y="48"/>
                  </a:lnTo>
                  <a:lnTo>
                    <a:pt x="192" y="63"/>
                  </a:lnTo>
                  <a:lnTo>
                    <a:pt x="157" y="63"/>
                  </a:lnTo>
                  <a:lnTo>
                    <a:pt x="140" y="63"/>
                  </a:lnTo>
                  <a:lnTo>
                    <a:pt x="105" y="63"/>
                  </a:lnTo>
                  <a:lnTo>
                    <a:pt x="54" y="6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7" name="Freeform 195">
              <a:extLst>
                <a:ext uri="{FF2B5EF4-FFF2-40B4-BE49-F238E27FC236}">
                  <a16:creationId xmlns:a16="http://schemas.microsoft.com/office/drawing/2014/main" id="{E86DEE0B-D746-4DB4-A25F-C68B73317562}"/>
                </a:ext>
              </a:extLst>
            </p:cNvPr>
            <p:cNvSpPr>
              <a:spLocks/>
            </p:cNvSpPr>
            <p:nvPr>
              <p:custDataLst>
                <p:tags r:id="rId196"/>
              </p:custDataLst>
            </p:nvPr>
          </p:nvSpPr>
          <p:spPr bwMode="auto">
            <a:xfrm>
              <a:off x="8343336" y="3527417"/>
              <a:ext cx="75648" cy="70370"/>
            </a:xfrm>
            <a:custGeom>
              <a:avLst/>
              <a:gdLst>
                <a:gd name="T0" fmla="*/ 16477 w 87"/>
                <a:gd name="T1" fmla="*/ 15679 h 81"/>
                <a:gd name="T2" fmla="*/ 16477 w 87"/>
                <a:gd name="T3" fmla="*/ 15679 h 81"/>
                <a:gd name="T4" fmla="*/ 16477 w 87"/>
                <a:gd name="T5" fmla="*/ 12543 h 81"/>
                <a:gd name="T6" fmla="*/ 13339 w 87"/>
                <a:gd name="T7" fmla="*/ 9407 h 81"/>
                <a:gd name="T8" fmla="*/ 13339 w 87"/>
                <a:gd name="T9" fmla="*/ 6272 h 81"/>
                <a:gd name="T10" fmla="*/ 6277 w 87"/>
                <a:gd name="T11" fmla="*/ 0 h 81"/>
                <a:gd name="T12" fmla="*/ 0 w 87"/>
                <a:gd name="T13" fmla="*/ 0 h 81"/>
                <a:gd name="T14" fmla="*/ 3139 w 87"/>
                <a:gd name="T15" fmla="*/ 9407 h 81"/>
                <a:gd name="T16" fmla="*/ 6277 w 87"/>
                <a:gd name="T17" fmla="*/ 9407 h 81"/>
                <a:gd name="T18" fmla="*/ 13339 w 87"/>
                <a:gd name="T19" fmla="*/ 12543 h 81"/>
                <a:gd name="T20" fmla="*/ 13339 w 87"/>
                <a:gd name="T21" fmla="*/ 15679 h 81"/>
                <a:gd name="T22" fmla="*/ 16477 w 87"/>
                <a:gd name="T23" fmla="*/ 15679 h 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7"/>
                <a:gd name="T37" fmla="*/ 0 h 81"/>
                <a:gd name="T38" fmla="*/ 87 w 87"/>
                <a:gd name="T39" fmla="*/ 81 h 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7" h="81">
                  <a:moveTo>
                    <a:pt x="87" y="81"/>
                  </a:moveTo>
                  <a:lnTo>
                    <a:pt x="87" y="81"/>
                  </a:lnTo>
                  <a:lnTo>
                    <a:pt x="87" y="65"/>
                  </a:lnTo>
                  <a:lnTo>
                    <a:pt x="70" y="48"/>
                  </a:lnTo>
                  <a:lnTo>
                    <a:pt x="70" y="33"/>
                  </a:lnTo>
                  <a:lnTo>
                    <a:pt x="35" y="0"/>
                  </a:lnTo>
                  <a:lnTo>
                    <a:pt x="0" y="0"/>
                  </a:lnTo>
                  <a:lnTo>
                    <a:pt x="18" y="48"/>
                  </a:lnTo>
                  <a:lnTo>
                    <a:pt x="35" y="48"/>
                  </a:lnTo>
                  <a:lnTo>
                    <a:pt x="70" y="65"/>
                  </a:lnTo>
                  <a:lnTo>
                    <a:pt x="70" y="81"/>
                  </a:lnTo>
                  <a:lnTo>
                    <a:pt x="87" y="8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8" name="Freeform 196">
              <a:extLst>
                <a:ext uri="{FF2B5EF4-FFF2-40B4-BE49-F238E27FC236}">
                  <a16:creationId xmlns:a16="http://schemas.microsoft.com/office/drawing/2014/main" id="{971BC85D-7F6C-4768-A145-C8F42E728A4F}"/>
                </a:ext>
              </a:extLst>
            </p:cNvPr>
            <p:cNvSpPr>
              <a:spLocks/>
            </p:cNvSpPr>
            <p:nvPr>
              <p:custDataLst>
                <p:tags r:id="rId197"/>
              </p:custDataLst>
            </p:nvPr>
          </p:nvSpPr>
          <p:spPr bwMode="auto">
            <a:xfrm>
              <a:off x="8373243" y="3513343"/>
              <a:ext cx="138982" cy="98518"/>
            </a:xfrm>
            <a:custGeom>
              <a:avLst/>
              <a:gdLst>
                <a:gd name="T0" fmla="*/ 10385 w 157"/>
                <a:gd name="T1" fmla="*/ 19222 h 111"/>
                <a:gd name="T2" fmla="*/ 10385 w 157"/>
                <a:gd name="T3" fmla="*/ 19222 h 111"/>
                <a:gd name="T4" fmla="*/ 17574 w 157"/>
                <a:gd name="T5" fmla="*/ 16018 h 111"/>
                <a:gd name="T6" fmla="*/ 20769 w 157"/>
                <a:gd name="T7" fmla="*/ 16018 h 111"/>
                <a:gd name="T8" fmla="*/ 17574 w 157"/>
                <a:gd name="T9" fmla="*/ 19222 h 111"/>
                <a:gd name="T10" fmla="*/ 24763 w 157"/>
                <a:gd name="T11" fmla="*/ 22425 h 111"/>
                <a:gd name="T12" fmla="*/ 20769 w 157"/>
                <a:gd name="T13" fmla="*/ 19222 h 111"/>
                <a:gd name="T14" fmla="*/ 24763 w 157"/>
                <a:gd name="T15" fmla="*/ 19222 h 111"/>
                <a:gd name="T16" fmla="*/ 24763 w 157"/>
                <a:gd name="T17" fmla="*/ 12814 h 111"/>
                <a:gd name="T18" fmla="*/ 31952 w 157"/>
                <a:gd name="T19" fmla="*/ 9611 h 111"/>
                <a:gd name="T20" fmla="*/ 24763 w 157"/>
                <a:gd name="T21" fmla="*/ 6407 h 111"/>
                <a:gd name="T22" fmla="*/ 20769 w 157"/>
                <a:gd name="T23" fmla="*/ 0 h 111"/>
                <a:gd name="T24" fmla="*/ 17574 w 157"/>
                <a:gd name="T25" fmla="*/ 3204 h 111"/>
                <a:gd name="T26" fmla="*/ 14379 w 157"/>
                <a:gd name="T27" fmla="*/ 3204 h 111"/>
                <a:gd name="T28" fmla="*/ 10385 w 157"/>
                <a:gd name="T29" fmla="*/ 0 h 111"/>
                <a:gd name="T30" fmla="*/ 7189 w 157"/>
                <a:gd name="T31" fmla="*/ 0 h 111"/>
                <a:gd name="T32" fmla="*/ 10385 w 157"/>
                <a:gd name="T33" fmla="*/ 3204 h 111"/>
                <a:gd name="T34" fmla="*/ 3994 w 157"/>
                <a:gd name="T35" fmla="*/ 3204 h 111"/>
                <a:gd name="T36" fmla="*/ 0 w 157"/>
                <a:gd name="T37" fmla="*/ 3204 h 111"/>
                <a:gd name="T38" fmla="*/ 7189 w 157"/>
                <a:gd name="T39" fmla="*/ 9611 h 111"/>
                <a:gd name="T40" fmla="*/ 7189 w 157"/>
                <a:gd name="T41" fmla="*/ 12814 h 111"/>
                <a:gd name="T42" fmla="*/ 10385 w 157"/>
                <a:gd name="T43" fmla="*/ 16018 h 111"/>
                <a:gd name="T44" fmla="*/ 10385 w 157"/>
                <a:gd name="T45" fmla="*/ 19222 h 11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7"/>
                <a:gd name="T70" fmla="*/ 0 h 111"/>
                <a:gd name="T71" fmla="*/ 157 w 157"/>
                <a:gd name="T72" fmla="*/ 111 h 11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7" h="111">
                  <a:moveTo>
                    <a:pt x="52" y="96"/>
                  </a:moveTo>
                  <a:lnTo>
                    <a:pt x="52" y="96"/>
                  </a:lnTo>
                  <a:lnTo>
                    <a:pt x="86" y="80"/>
                  </a:lnTo>
                  <a:lnTo>
                    <a:pt x="104" y="80"/>
                  </a:lnTo>
                  <a:lnTo>
                    <a:pt x="86" y="96"/>
                  </a:lnTo>
                  <a:lnTo>
                    <a:pt x="121" y="111"/>
                  </a:lnTo>
                  <a:lnTo>
                    <a:pt x="104" y="96"/>
                  </a:lnTo>
                  <a:lnTo>
                    <a:pt x="121" y="96"/>
                  </a:lnTo>
                  <a:lnTo>
                    <a:pt x="121" y="63"/>
                  </a:lnTo>
                  <a:lnTo>
                    <a:pt x="157" y="48"/>
                  </a:lnTo>
                  <a:lnTo>
                    <a:pt x="121" y="32"/>
                  </a:lnTo>
                  <a:lnTo>
                    <a:pt x="104" y="0"/>
                  </a:lnTo>
                  <a:lnTo>
                    <a:pt x="86" y="15"/>
                  </a:lnTo>
                  <a:lnTo>
                    <a:pt x="69" y="15"/>
                  </a:lnTo>
                  <a:lnTo>
                    <a:pt x="52" y="0"/>
                  </a:lnTo>
                  <a:lnTo>
                    <a:pt x="35" y="0"/>
                  </a:lnTo>
                  <a:lnTo>
                    <a:pt x="52" y="15"/>
                  </a:lnTo>
                  <a:lnTo>
                    <a:pt x="17" y="15"/>
                  </a:lnTo>
                  <a:lnTo>
                    <a:pt x="0" y="15"/>
                  </a:lnTo>
                  <a:lnTo>
                    <a:pt x="35" y="48"/>
                  </a:lnTo>
                  <a:lnTo>
                    <a:pt x="35" y="63"/>
                  </a:lnTo>
                  <a:lnTo>
                    <a:pt x="52" y="80"/>
                  </a:lnTo>
                  <a:lnTo>
                    <a:pt x="52" y="9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69" name="Freeform 197">
              <a:extLst>
                <a:ext uri="{FF2B5EF4-FFF2-40B4-BE49-F238E27FC236}">
                  <a16:creationId xmlns:a16="http://schemas.microsoft.com/office/drawing/2014/main" id="{D77B1B00-32DD-4590-8804-39CA70417B7F}"/>
                </a:ext>
              </a:extLst>
            </p:cNvPr>
            <p:cNvSpPr>
              <a:spLocks/>
            </p:cNvSpPr>
            <p:nvPr>
              <p:custDataLst>
                <p:tags r:id="rId198"/>
              </p:custDataLst>
            </p:nvPr>
          </p:nvSpPr>
          <p:spPr bwMode="auto">
            <a:xfrm>
              <a:off x="8371484" y="3851119"/>
              <a:ext cx="45741" cy="28148"/>
            </a:xfrm>
            <a:custGeom>
              <a:avLst/>
              <a:gdLst>
                <a:gd name="T0" fmla="*/ 0 w 52"/>
                <a:gd name="T1" fmla="*/ 3079 h 33"/>
                <a:gd name="T2" fmla="*/ 0 w 52"/>
                <a:gd name="T3" fmla="*/ 3079 h 33"/>
                <a:gd name="T4" fmla="*/ 3969 w 52"/>
                <a:gd name="T5" fmla="*/ 0 h 33"/>
                <a:gd name="T6" fmla="*/ 10319 w 52"/>
                <a:gd name="T7" fmla="*/ 3079 h 33"/>
                <a:gd name="T8" fmla="*/ 3969 w 52"/>
                <a:gd name="T9" fmla="*/ 6158 h 33"/>
                <a:gd name="T10" fmla="*/ 0 w 52"/>
                <a:gd name="T11" fmla="*/ 3079 h 33"/>
                <a:gd name="T12" fmla="*/ 0 60000 65536"/>
                <a:gd name="T13" fmla="*/ 0 60000 65536"/>
                <a:gd name="T14" fmla="*/ 0 60000 65536"/>
                <a:gd name="T15" fmla="*/ 0 60000 65536"/>
                <a:gd name="T16" fmla="*/ 0 60000 65536"/>
                <a:gd name="T17" fmla="*/ 0 60000 65536"/>
                <a:gd name="T18" fmla="*/ 0 w 52"/>
                <a:gd name="T19" fmla="*/ 0 h 33"/>
                <a:gd name="T20" fmla="*/ 52 w 52"/>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52" h="33">
                  <a:moveTo>
                    <a:pt x="0" y="16"/>
                  </a:moveTo>
                  <a:lnTo>
                    <a:pt x="0" y="16"/>
                  </a:lnTo>
                  <a:lnTo>
                    <a:pt x="17" y="0"/>
                  </a:lnTo>
                  <a:lnTo>
                    <a:pt x="52" y="16"/>
                  </a:lnTo>
                  <a:lnTo>
                    <a:pt x="17" y="33"/>
                  </a:lnTo>
                  <a:lnTo>
                    <a:pt x="0"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70" name="Freeform 198">
              <a:extLst>
                <a:ext uri="{FF2B5EF4-FFF2-40B4-BE49-F238E27FC236}">
                  <a16:creationId xmlns:a16="http://schemas.microsoft.com/office/drawing/2014/main" id="{BE43E81E-A1EC-469F-A13E-BA0B84DCDECB}"/>
                </a:ext>
              </a:extLst>
            </p:cNvPr>
            <p:cNvSpPr>
              <a:spLocks/>
            </p:cNvSpPr>
            <p:nvPr>
              <p:custDataLst>
                <p:tags r:id="rId199"/>
              </p:custDataLst>
            </p:nvPr>
          </p:nvSpPr>
          <p:spPr bwMode="auto">
            <a:xfrm>
              <a:off x="8130466" y="3780749"/>
              <a:ext cx="531294" cy="450369"/>
            </a:xfrm>
            <a:custGeom>
              <a:avLst/>
              <a:gdLst>
                <a:gd name="T0" fmla="*/ 99219 w 604"/>
                <a:gd name="T1" fmla="*/ 82550 h 512"/>
                <a:gd name="T2" fmla="*/ 99219 w 604"/>
                <a:gd name="T3" fmla="*/ 82550 h 512"/>
                <a:gd name="T4" fmla="*/ 103188 w 604"/>
                <a:gd name="T5" fmla="*/ 79375 h 512"/>
                <a:gd name="T6" fmla="*/ 106363 w 604"/>
                <a:gd name="T7" fmla="*/ 76200 h 512"/>
                <a:gd name="T8" fmla="*/ 109538 w 604"/>
                <a:gd name="T9" fmla="*/ 73025 h 512"/>
                <a:gd name="T10" fmla="*/ 113506 w 604"/>
                <a:gd name="T11" fmla="*/ 69850 h 512"/>
                <a:gd name="T12" fmla="*/ 116681 w 604"/>
                <a:gd name="T13" fmla="*/ 66675 h 512"/>
                <a:gd name="T14" fmla="*/ 119856 w 604"/>
                <a:gd name="T15" fmla="*/ 66675 h 512"/>
                <a:gd name="T16" fmla="*/ 119856 w 604"/>
                <a:gd name="T17" fmla="*/ 63500 h 512"/>
                <a:gd name="T18" fmla="*/ 119856 w 604"/>
                <a:gd name="T19" fmla="*/ 60325 h 512"/>
                <a:gd name="T20" fmla="*/ 119856 w 604"/>
                <a:gd name="T21" fmla="*/ 57150 h 512"/>
                <a:gd name="T22" fmla="*/ 116681 w 604"/>
                <a:gd name="T23" fmla="*/ 53975 h 512"/>
                <a:gd name="T24" fmla="*/ 113506 w 604"/>
                <a:gd name="T25" fmla="*/ 50800 h 512"/>
                <a:gd name="T26" fmla="*/ 109538 w 604"/>
                <a:gd name="T27" fmla="*/ 50800 h 512"/>
                <a:gd name="T28" fmla="*/ 106363 w 604"/>
                <a:gd name="T29" fmla="*/ 50800 h 512"/>
                <a:gd name="T30" fmla="*/ 106363 w 604"/>
                <a:gd name="T31" fmla="*/ 53975 h 512"/>
                <a:gd name="T32" fmla="*/ 103188 w 604"/>
                <a:gd name="T33" fmla="*/ 53975 h 512"/>
                <a:gd name="T34" fmla="*/ 99219 w 604"/>
                <a:gd name="T35" fmla="*/ 53975 h 512"/>
                <a:gd name="T36" fmla="*/ 95250 w 604"/>
                <a:gd name="T37" fmla="*/ 53975 h 512"/>
                <a:gd name="T38" fmla="*/ 92075 w 604"/>
                <a:gd name="T39" fmla="*/ 53975 h 512"/>
                <a:gd name="T40" fmla="*/ 88900 w 604"/>
                <a:gd name="T41" fmla="*/ 53975 h 512"/>
                <a:gd name="T42" fmla="*/ 84931 w 604"/>
                <a:gd name="T43" fmla="*/ 50800 h 512"/>
                <a:gd name="T44" fmla="*/ 88900 w 604"/>
                <a:gd name="T45" fmla="*/ 47625 h 512"/>
                <a:gd name="T46" fmla="*/ 84931 w 604"/>
                <a:gd name="T47" fmla="*/ 41275 h 512"/>
                <a:gd name="T48" fmla="*/ 84931 w 604"/>
                <a:gd name="T49" fmla="*/ 31750 h 512"/>
                <a:gd name="T50" fmla="*/ 75406 w 604"/>
                <a:gd name="T51" fmla="*/ 22225 h 512"/>
                <a:gd name="T52" fmla="*/ 65087 w 604"/>
                <a:gd name="T53" fmla="*/ 19050 h 512"/>
                <a:gd name="T54" fmla="*/ 58738 w 604"/>
                <a:gd name="T55" fmla="*/ 22225 h 512"/>
                <a:gd name="T56" fmla="*/ 54769 w 604"/>
                <a:gd name="T57" fmla="*/ 19050 h 512"/>
                <a:gd name="T58" fmla="*/ 47625 w 604"/>
                <a:gd name="T59" fmla="*/ 15875 h 512"/>
                <a:gd name="T60" fmla="*/ 47625 w 604"/>
                <a:gd name="T61" fmla="*/ 12700 h 512"/>
                <a:gd name="T62" fmla="*/ 44450 w 604"/>
                <a:gd name="T63" fmla="*/ 9525 h 512"/>
                <a:gd name="T64" fmla="*/ 34131 w 604"/>
                <a:gd name="T65" fmla="*/ 3175 h 512"/>
                <a:gd name="T66" fmla="*/ 23812 w 604"/>
                <a:gd name="T67" fmla="*/ 0 h 512"/>
                <a:gd name="T68" fmla="*/ 14288 w 604"/>
                <a:gd name="T69" fmla="*/ 6350 h 512"/>
                <a:gd name="T70" fmla="*/ 16669 w 604"/>
                <a:gd name="T71" fmla="*/ 9525 h 512"/>
                <a:gd name="T72" fmla="*/ 14288 w 604"/>
                <a:gd name="T73" fmla="*/ 15875 h 512"/>
                <a:gd name="T74" fmla="*/ 9525 w 604"/>
                <a:gd name="T75" fmla="*/ 15875 h 512"/>
                <a:gd name="T76" fmla="*/ 7144 w 604"/>
                <a:gd name="T77" fmla="*/ 19050 h 512"/>
                <a:gd name="T78" fmla="*/ 0 w 604"/>
                <a:gd name="T79" fmla="*/ 19050 h 512"/>
                <a:gd name="T80" fmla="*/ 0 w 604"/>
                <a:gd name="T81" fmla="*/ 25400 h 512"/>
                <a:gd name="T82" fmla="*/ 3969 w 604"/>
                <a:gd name="T83" fmla="*/ 25400 h 512"/>
                <a:gd name="T84" fmla="*/ 16669 w 604"/>
                <a:gd name="T85" fmla="*/ 44450 h 512"/>
                <a:gd name="T86" fmla="*/ 19844 w 604"/>
                <a:gd name="T87" fmla="*/ 47625 h 512"/>
                <a:gd name="T88" fmla="*/ 23812 w 604"/>
                <a:gd name="T89" fmla="*/ 53975 h 512"/>
                <a:gd name="T90" fmla="*/ 23812 w 604"/>
                <a:gd name="T91" fmla="*/ 63500 h 512"/>
                <a:gd name="T92" fmla="*/ 34131 w 604"/>
                <a:gd name="T93" fmla="*/ 69850 h 512"/>
                <a:gd name="T94" fmla="*/ 40481 w 604"/>
                <a:gd name="T95" fmla="*/ 85725 h 512"/>
                <a:gd name="T96" fmla="*/ 44450 w 604"/>
                <a:gd name="T97" fmla="*/ 88900 h 512"/>
                <a:gd name="T98" fmla="*/ 47625 w 604"/>
                <a:gd name="T99" fmla="*/ 85725 h 512"/>
                <a:gd name="T100" fmla="*/ 58738 w 604"/>
                <a:gd name="T101" fmla="*/ 94456 h 512"/>
                <a:gd name="T102" fmla="*/ 61119 w 604"/>
                <a:gd name="T103" fmla="*/ 101600 h 512"/>
                <a:gd name="T104" fmla="*/ 84931 w 604"/>
                <a:gd name="T105" fmla="*/ 85725 h 512"/>
                <a:gd name="T106" fmla="*/ 99219 w 604"/>
                <a:gd name="T107" fmla="*/ 82550 h 51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604"/>
                <a:gd name="T163" fmla="*/ 0 h 512"/>
                <a:gd name="T164" fmla="*/ 604 w 604"/>
                <a:gd name="T165" fmla="*/ 512 h 51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604" h="512">
                  <a:moveTo>
                    <a:pt x="501" y="416"/>
                  </a:moveTo>
                  <a:lnTo>
                    <a:pt x="501" y="416"/>
                  </a:lnTo>
                  <a:lnTo>
                    <a:pt x="518" y="401"/>
                  </a:lnTo>
                  <a:lnTo>
                    <a:pt x="535" y="384"/>
                  </a:lnTo>
                  <a:lnTo>
                    <a:pt x="552" y="368"/>
                  </a:lnTo>
                  <a:lnTo>
                    <a:pt x="570" y="353"/>
                  </a:lnTo>
                  <a:lnTo>
                    <a:pt x="587" y="336"/>
                  </a:lnTo>
                  <a:lnTo>
                    <a:pt x="604" y="336"/>
                  </a:lnTo>
                  <a:lnTo>
                    <a:pt x="604" y="320"/>
                  </a:lnTo>
                  <a:lnTo>
                    <a:pt x="604" y="305"/>
                  </a:lnTo>
                  <a:lnTo>
                    <a:pt x="604" y="288"/>
                  </a:lnTo>
                  <a:lnTo>
                    <a:pt x="587" y="272"/>
                  </a:lnTo>
                  <a:lnTo>
                    <a:pt x="570" y="257"/>
                  </a:lnTo>
                  <a:lnTo>
                    <a:pt x="552" y="257"/>
                  </a:lnTo>
                  <a:lnTo>
                    <a:pt x="535" y="257"/>
                  </a:lnTo>
                  <a:lnTo>
                    <a:pt x="535" y="272"/>
                  </a:lnTo>
                  <a:lnTo>
                    <a:pt x="518" y="272"/>
                  </a:lnTo>
                  <a:lnTo>
                    <a:pt x="501" y="272"/>
                  </a:lnTo>
                  <a:lnTo>
                    <a:pt x="483" y="272"/>
                  </a:lnTo>
                  <a:lnTo>
                    <a:pt x="466" y="272"/>
                  </a:lnTo>
                  <a:lnTo>
                    <a:pt x="449" y="272"/>
                  </a:lnTo>
                  <a:lnTo>
                    <a:pt x="431" y="257"/>
                  </a:lnTo>
                  <a:lnTo>
                    <a:pt x="449" y="240"/>
                  </a:lnTo>
                  <a:lnTo>
                    <a:pt x="431" y="209"/>
                  </a:lnTo>
                  <a:lnTo>
                    <a:pt x="431" y="161"/>
                  </a:lnTo>
                  <a:lnTo>
                    <a:pt x="380" y="113"/>
                  </a:lnTo>
                  <a:lnTo>
                    <a:pt x="328" y="96"/>
                  </a:lnTo>
                  <a:lnTo>
                    <a:pt x="293" y="113"/>
                  </a:lnTo>
                  <a:lnTo>
                    <a:pt x="276" y="96"/>
                  </a:lnTo>
                  <a:lnTo>
                    <a:pt x="241" y="80"/>
                  </a:lnTo>
                  <a:lnTo>
                    <a:pt x="241" y="65"/>
                  </a:lnTo>
                  <a:lnTo>
                    <a:pt x="224" y="48"/>
                  </a:lnTo>
                  <a:lnTo>
                    <a:pt x="172" y="17"/>
                  </a:lnTo>
                  <a:lnTo>
                    <a:pt x="120" y="0"/>
                  </a:lnTo>
                  <a:lnTo>
                    <a:pt x="69" y="32"/>
                  </a:lnTo>
                  <a:lnTo>
                    <a:pt x="86" y="48"/>
                  </a:lnTo>
                  <a:lnTo>
                    <a:pt x="69" y="80"/>
                  </a:lnTo>
                  <a:lnTo>
                    <a:pt x="51" y="80"/>
                  </a:lnTo>
                  <a:lnTo>
                    <a:pt x="34" y="96"/>
                  </a:lnTo>
                  <a:lnTo>
                    <a:pt x="0" y="96"/>
                  </a:lnTo>
                  <a:lnTo>
                    <a:pt x="0" y="128"/>
                  </a:lnTo>
                  <a:lnTo>
                    <a:pt x="17" y="128"/>
                  </a:lnTo>
                  <a:lnTo>
                    <a:pt x="86" y="224"/>
                  </a:lnTo>
                  <a:lnTo>
                    <a:pt x="103" y="240"/>
                  </a:lnTo>
                  <a:lnTo>
                    <a:pt x="120" y="272"/>
                  </a:lnTo>
                  <a:lnTo>
                    <a:pt x="120" y="320"/>
                  </a:lnTo>
                  <a:lnTo>
                    <a:pt x="172" y="353"/>
                  </a:lnTo>
                  <a:lnTo>
                    <a:pt x="207" y="432"/>
                  </a:lnTo>
                  <a:lnTo>
                    <a:pt x="224" y="449"/>
                  </a:lnTo>
                  <a:lnTo>
                    <a:pt x="241" y="432"/>
                  </a:lnTo>
                  <a:lnTo>
                    <a:pt x="293" y="479"/>
                  </a:lnTo>
                  <a:lnTo>
                    <a:pt x="311" y="512"/>
                  </a:lnTo>
                  <a:lnTo>
                    <a:pt x="431" y="432"/>
                  </a:lnTo>
                  <a:lnTo>
                    <a:pt x="501" y="4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71" name="Freeform 199">
              <a:extLst>
                <a:ext uri="{FF2B5EF4-FFF2-40B4-BE49-F238E27FC236}">
                  <a16:creationId xmlns:a16="http://schemas.microsoft.com/office/drawing/2014/main" id="{F2DCD7F0-3319-48B7-AE2E-E35B5532FF78}"/>
                </a:ext>
              </a:extLst>
            </p:cNvPr>
            <p:cNvSpPr>
              <a:spLocks/>
            </p:cNvSpPr>
            <p:nvPr>
              <p:custDataLst>
                <p:tags r:id="rId200"/>
              </p:custDataLst>
            </p:nvPr>
          </p:nvSpPr>
          <p:spPr bwMode="auto">
            <a:xfrm>
              <a:off x="8510464" y="3949637"/>
              <a:ext cx="29908" cy="42222"/>
            </a:xfrm>
            <a:custGeom>
              <a:avLst/>
              <a:gdLst>
                <a:gd name="T0" fmla="*/ 3084 w 35"/>
                <a:gd name="T1" fmla="*/ 9525 h 48"/>
                <a:gd name="T2" fmla="*/ 3084 w 35"/>
                <a:gd name="T3" fmla="*/ 9525 h 48"/>
                <a:gd name="T4" fmla="*/ 0 w 35"/>
                <a:gd name="T5" fmla="*/ 3969 h 48"/>
                <a:gd name="T6" fmla="*/ 3084 w 35"/>
                <a:gd name="T7" fmla="*/ 0 h 48"/>
                <a:gd name="T8" fmla="*/ 6169 w 35"/>
                <a:gd name="T9" fmla="*/ 0 h 48"/>
                <a:gd name="T10" fmla="*/ 3084 w 35"/>
                <a:gd name="T11" fmla="*/ 9525 h 48"/>
                <a:gd name="T12" fmla="*/ 0 60000 65536"/>
                <a:gd name="T13" fmla="*/ 0 60000 65536"/>
                <a:gd name="T14" fmla="*/ 0 60000 65536"/>
                <a:gd name="T15" fmla="*/ 0 60000 65536"/>
                <a:gd name="T16" fmla="*/ 0 60000 65536"/>
                <a:gd name="T17" fmla="*/ 0 60000 65536"/>
                <a:gd name="T18" fmla="*/ 0 w 35"/>
                <a:gd name="T19" fmla="*/ 0 h 48"/>
                <a:gd name="T20" fmla="*/ 35 w 35"/>
                <a:gd name="T21" fmla="*/ 48 h 48"/>
              </a:gdLst>
              <a:ahLst/>
              <a:cxnLst>
                <a:cxn ang="T12">
                  <a:pos x="T0" y="T1"/>
                </a:cxn>
                <a:cxn ang="T13">
                  <a:pos x="T2" y="T3"/>
                </a:cxn>
                <a:cxn ang="T14">
                  <a:pos x="T4" y="T5"/>
                </a:cxn>
                <a:cxn ang="T15">
                  <a:pos x="T6" y="T7"/>
                </a:cxn>
                <a:cxn ang="T16">
                  <a:pos x="T8" y="T9"/>
                </a:cxn>
                <a:cxn ang="T17">
                  <a:pos x="T10" y="T11"/>
                </a:cxn>
              </a:cxnLst>
              <a:rect l="T18" t="T19" r="T20" b="T21"/>
              <a:pathLst>
                <a:path w="35" h="48">
                  <a:moveTo>
                    <a:pt x="18" y="48"/>
                  </a:moveTo>
                  <a:lnTo>
                    <a:pt x="18" y="48"/>
                  </a:lnTo>
                  <a:lnTo>
                    <a:pt x="0" y="17"/>
                  </a:lnTo>
                  <a:lnTo>
                    <a:pt x="18" y="0"/>
                  </a:lnTo>
                  <a:lnTo>
                    <a:pt x="35" y="0"/>
                  </a:lnTo>
                  <a:lnTo>
                    <a:pt x="18"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72" name="Freeform 200">
              <a:extLst>
                <a:ext uri="{FF2B5EF4-FFF2-40B4-BE49-F238E27FC236}">
                  <a16:creationId xmlns:a16="http://schemas.microsoft.com/office/drawing/2014/main" id="{60F40F6D-819F-4693-B2B6-95B9385389BD}"/>
                </a:ext>
              </a:extLst>
            </p:cNvPr>
            <p:cNvSpPr>
              <a:spLocks/>
            </p:cNvSpPr>
            <p:nvPr>
              <p:custDataLst>
                <p:tags r:id="rId201"/>
              </p:custDataLst>
            </p:nvPr>
          </p:nvSpPr>
          <p:spPr bwMode="auto">
            <a:xfrm>
              <a:off x="8570279" y="3977785"/>
              <a:ext cx="167130" cy="182962"/>
            </a:xfrm>
            <a:custGeom>
              <a:avLst/>
              <a:gdLst>
                <a:gd name="T0" fmla="*/ 0 w 190"/>
                <a:gd name="T1" fmla="*/ 41275 h 208"/>
                <a:gd name="T2" fmla="*/ 0 w 190"/>
                <a:gd name="T3" fmla="*/ 41275 h 208"/>
                <a:gd name="T4" fmla="*/ 9525 w 190"/>
                <a:gd name="T5" fmla="*/ 41275 h 208"/>
                <a:gd name="T6" fmla="*/ 14288 w 190"/>
                <a:gd name="T7" fmla="*/ 38100 h 208"/>
                <a:gd name="T8" fmla="*/ 17463 w 190"/>
                <a:gd name="T9" fmla="*/ 35719 h 208"/>
                <a:gd name="T10" fmla="*/ 23813 w 190"/>
                <a:gd name="T11" fmla="*/ 31750 h 208"/>
                <a:gd name="T12" fmla="*/ 27781 w 190"/>
                <a:gd name="T13" fmla="*/ 28575 h 208"/>
                <a:gd name="T14" fmla="*/ 27781 w 190"/>
                <a:gd name="T15" fmla="*/ 26194 h 208"/>
                <a:gd name="T16" fmla="*/ 34131 w 190"/>
                <a:gd name="T17" fmla="*/ 16669 h 208"/>
                <a:gd name="T18" fmla="*/ 38100 w 190"/>
                <a:gd name="T19" fmla="*/ 12700 h 208"/>
                <a:gd name="T20" fmla="*/ 30956 w 190"/>
                <a:gd name="T21" fmla="*/ 7144 h 208"/>
                <a:gd name="T22" fmla="*/ 23813 w 190"/>
                <a:gd name="T23" fmla="*/ 3175 h 208"/>
                <a:gd name="T24" fmla="*/ 19844 w 190"/>
                <a:gd name="T25" fmla="*/ 0 h 208"/>
                <a:gd name="T26" fmla="*/ 14288 w 190"/>
                <a:gd name="T27" fmla="*/ 7144 h 208"/>
                <a:gd name="T28" fmla="*/ 17463 w 190"/>
                <a:gd name="T29" fmla="*/ 9525 h 208"/>
                <a:gd name="T30" fmla="*/ 19844 w 190"/>
                <a:gd name="T31" fmla="*/ 12700 h 208"/>
                <a:gd name="T32" fmla="*/ 19844 w 190"/>
                <a:gd name="T33" fmla="*/ 16669 h 208"/>
                <a:gd name="T34" fmla="*/ 19844 w 190"/>
                <a:gd name="T35" fmla="*/ 19050 h 208"/>
                <a:gd name="T36" fmla="*/ 19844 w 190"/>
                <a:gd name="T37" fmla="*/ 22225 h 208"/>
                <a:gd name="T38" fmla="*/ 17463 w 190"/>
                <a:gd name="T39" fmla="*/ 22225 h 208"/>
                <a:gd name="T40" fmla="*/ 14288 w 190"/>
                <a:gd name="T41" fmla="*/ 26194 h 208"/>
                <a:gd name="T42" fmla="*/ 9525 w 190"/>
                <a:gd name="T43" fmla="*/ 28575 h 208"/>
                <a:gd name="T44" fmla="*/ 7144 w 190"/>
                <a:gd name="T45" fmla="*/ 31750 h 208"/>
                <a:gd name="T46" fmla="*/ 3969 w 190"/>
                <a:gd name="T47" fmla="*/ 35719 h 208"/>
                <a:gd name="T48" fmla="*/ 0 w 190"/>
                <a:gd name="T49" fmla="*/ 38100 h 208"/>
                <a:gd name="T50" fmla="*/ 0 w 190"/>
                <a:gd name="T51" fmla="*/ 41275 h 20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0"/>
                <a:gd name="T79" fmla="*/ 0 h 208"/>
                <a:gd name="T80" fmla="*/ 190 w 190"/>
                <a:gd name="T81" fmla="*/ 208 h 20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0" h="208">
                  <a:moveTo>
                    <a:pt x="0" y="208"/>
                  </a:moveTo>
                  <a:lnTo>
                    <a:pt x="0" y="208"/>
                  </a:lnTo>
                  <a:lnTo>
                    <a:pt x="51" y="208"/>
                  </a:lnTo>
                  <a:lnTo>
                    <a:pt x="69" y="192"/>
                  </a:lnTo>
                  <a:lnTo>
                    <a:pt x="86" y="177"/>
                  </a:lnTo>
                  <a:lnTo>
                    <a:pt x="121" y="160"/>
                  </a:lnTo>
                  <a:lnTo>
                    <a:pt x="138" y="144"/>
                  </a:lnTo>
                  <a:lnTo>
                    <a:pt x="138" y="129"/>
                  </a:lnTo>
                  <a:lnTo>
                    <a:pt x="172" y="81"/>
                  </a:lnTo>
                  <a:lnTo>
                    <a:pt x="190" y="64"/>
                  </a:lnTo>
                  <a:lnTo>
                    <a:pt x="155" y="33"/>
                  </a:lnTo>
                  <a:lnTo>
                    <a:pt x="121" y="16"/>
                  </a:lnTo>
                  <a:lnTo>
                    <a:pt x="103" y="0"/>
                  </a:lnTo>
                  <a:lnTo>
                    <a:pt x="69" y="33"/>
                  </a:lnTo>
                  <a:lnTo>
                    <a:pt x="86" y="48"/>
                  </a:lnTo>
                  <a:lnTo>
                    <a:pt x="103" y="64"/>
                  </a:lnTo>
                  <a:lnTo>
                    <a:pt x="103" y="81"/>
                  </a:lnTo>
                  <a:lnTo>
                    <a:pt x="103" y="96"/>
                  </a:lnTo>
                  <a:lnTo>
                    <a:pt x="103" y="112"/>
                  </a:lnTo>
                  <a:lnTo>
                    <a:pt x="86" y="112"/>
                  </a:lnTo>
                  <a:lnTo>
                    <a:pt x="69" y="129"/>
                  </a:lnTo>
                  <a:lnTo>
                    <a:pt x="51" y="144"/>
                  </a:lnTo>
                  <a:lnTo>
                    <a:pt x="34" y="160"/>
                  </a:lnTo>
                  <a:lnTo>
                    <a:pt x="17" y="177"/>
                  </a:lnTo>
                  <a:lnTo>
                    <a:pt x="0" y="192"/>
                  </a:lnTo>
                  <a:lnTo>
                    <a:pt x="0" y="20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73" name="Freeform 201">
              <a:extLst>
                <a:ext uri="{FF2B5EF4-FFF2-40B4-BE49-F238E27FC236}">
                  <a16:creationId xmlns:a16="http://schemas.microsoft.com/office/drawing/2014/main" id="{E5A458B0-7F79-4C32-80A1-0B81B75330D9}"/>
                </a:ext>
              </a:extLst>
            </p:cNvPr>
            <p:cNvSpPr>
              <a:spLocks/>
            </p:cNvSpPr>
            <p:nvPr>
              <p:custDataLst>
                <p:tags r:id="rId202"/>
              </p:custDataLst>
            </p:nvPr>
          </p:nvSpPr>
          <p:spPr bwMode="auto">
            <a:xfrm>
              <a:off x="8753241" y="3611861"/>
              <a:ext cx="351851" cy="253332"/>
            </a:xfrm>
            <a:custGeom>
              <a:avLst/>
              <a:gdLst>
                <a:gd name="T0" fmla="*/ 76391 w 399"/>
                <a:gd name="T1" fmla="*/ 9525 h 288"/>
                <a:gd name="T2" fmla="*/ 76391 w 399"/>
                <a:gd name="T3" fmla="*/ 9525 h 288"/>
                <a:gd name="T4" fmla="*/ 73208 w 399"/>
                <a:gd name="T5" fmla="*/ 9525 h 288"/>
                <a:gd name="T6" fmla="*/ 66046 w 399"/>
                <a:gd name="T7" fmla="*/ 13494 h 288"/>
                <a:gd name="T8" fmla="*/ 58885 w 399"/>
                <a:gd name="T9" fmla="*/ 15875 h 288"/>
                <a:gd name="T10" fmla="*/ 58885 w 399"/>
                <a:gd name="T11" fmla="*/ 22225 h 288"/>
                <a:gd name="T12" fmla="*/ 55702 w 399"/>
                <a:gd name="T13" fmla="*/ 28575 h 288"/>
                <a:gd name="T14" fmla="*/ 52519 w 399"/>
                <a:gd name="T15" fmla="*/ 28575 h 288"/>
                <a:gd name="T16" fmla="*/ 52519 w 399"/>
                <a:gd name="T17" fmla="*/ 31750 h 288"/>
                <a:gd name="T18" fmla="*/ 48540 w 399"/>
                <a:gd name="T19" fmla="*/ 34925 h 288"/>
                <a:gd name="T20" fmla="*/ 48540 w 399"/>
                <a:gd name="T21" fmla="*/ 41275 h 288"/>
                <a:gd name="T22" fmla="*/ 35013 w 399"/>
                <a:gd name="T23" fmla="*/ 44450 h 288"/>
                <a:gd name="T24" fmla="*/ 31830 w 399"/>
                <a:gd name="T25" fmla="*/ 47625 h 288"/>
                <a:gd name="T26" fmla="*/ 31830 w 399"/>
                <a:gd name="T27" fmla="*/ 53975 h 288"/>
                <a:gd name="T28" fmla="*/ 11140 w 399"/>
                <a:gd name="T29" fmla="*/ 57150 h 288"/>
                <a:gd name="T30" fmla="*/ 3979 w 399"/>
                <a:gd name="T31" fmla="*/ 53975 h 288"/>
                <a:gd name="T32" fmla="*/ 7162 w 399"/>
                <a:gd name="T33" fmla="*/ 47625 h 288"/>
                <a:gd name="T34" fmla="*/ 7162 w 399"/>
                <a:gd name="T35" fmla="*/ 44450 h 288"/>
                <a:gd name="T36" fmla="*/ 0 w 399"/>
                <a:gd name="T37" fmla="*/ 41275 h 288"/>
                <a:gd name="T38" fmla="*/ 0 w 399"/>
                <a:gd name="T39" fmla="*/ 28575 h 288"/>
                <a:gd name="T40" fmla="*/ 3979 w 399"/>
                <a:gd name="T41" fmla="*/ 22225 h 288"/>
                <a:gd name="T42" fmla="*/ 3979 w 399"/>
                <a:gd name="T43" fmla="*/ 19050 h 288"/>
                <a:gd name="T44" fmla="*/ 14323 w 399"/>
                <a:gd name="T45" fmla="*/ 19050 h 288"/>
                <a:gd name="T46" fmla="*/ 14323 w 399"/>
                <a:gd name="T47" fmla="*/ 15875 h 288"/>
                <a:gd name="T48" fmla="*/ 21485 w 399"/>
                <a:gd name="T49" fmla="*/ 15875 h 288"/>
                <a:gd name="T50" fmla="*/ 24668 w 399"/>
                <a:gd name="T51" fmla="*/ 9525 h 288"/>
                <a:gd name="T52" fmla="*/ 27851 w 399"/>
                <a:gd name="T53" fmla="*/ 9525 h 288"/>
                <a:gd name="T54" fmla="*/ 27851 w 399"/>
                <a:gd name="T55" fmla="*/ 6350 h 288"/>
                <a:gd name="T56" fmla="*/ 42174 w 399"/>
                <a:gd name="T57" fmla="*/ 9525 h 288"/>
                <a:gd name="T58" fmla="*/ 48540 w 399"/>
                <a:gd name="T59" fmla="*/ 9525 h 288"/>
                <a:gd name="T60" fmla="*/ 48540 w 399"/>
                <a:gd name="T61" fmla="*/ 6350 h 288"/>
                <a:gd name="T62" fmla="*/ 52519 w 399"/>
                <a:gd name="T63" fmla="*/ 6350 h 288"/>
                <a:gd name="T64" fmla="*/ 55702 w 399"/>
                <a:gd name="T65" fmla="*/ 0 h 288"/>
                <a:gd name="T66" fmla="*/ 58885 w 399"/>
                <a:gd name="T67" fmla="*/ 3969 h 288"/>
                <a:gd name="T68" fmla="*/ 62863 w 399"/>
                <a:gd name="T69" fmla="*/ 13494 h 288"/>
                <a:gd name="T70" fmla="*/ 69229 w 399"/>
                <a:gd name="T71" fmla="*/ 6350 h 288"/>
                <a:gd name="T72" fmla="*/ 79574 w 399"/>
                <a:gd name="T73" fmla="*/ 9525 h 288"/>
                <a:gd name="T74" fmla="*/ 76391 w 399"/>
                <a:gd name="T75" fmla="*/ 9525 h 28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99"/>
                <a:gd name="T115" fmla="*/ 0 h 288"/>
                <a:gd name="T116" fmla="*/ 399 w 399"/>
                <a:gd name="T117" fmla="*/ 288 h 28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99" h="288">
                  <a:moveTo>
                    <a:pt x="382" y="48"/>
                  </a:moveTo>
                  <a:lnTo>
                    <a:pt x="382" y="48"/>
                  </a:lnTo>
                  <a:lnTo>
                    <a:pt x="365" y="48"/>
                  </a:lnTo>
                  <a:lnTo>
                    <a:pt x="330" y="65"/>
                  </a:lnTo>
                  <a:lnTo>
                    <a:pt x="296" y="80"/>
                  </a:lnTo>
                  <a:lnTo>
                    <a:pt x="296" y="113"/>
                  </a:lnTo>
                  <a:lnTo>
                    <a:pt x="278" y="144"/>
                  </a:lnTo>
                  <a:lnTo>
                    <a:pt x="261" y="144"/>
                  </a:lnTo>
                  <a:lnTo>
                    <a:pt x="261" y="161"/>
                  </a:lnTo>
                  <a:lnTo>
                    <a:pt x="244" y="176"/>
                  </a:lnTo>
                  <a:lnTo>
                    <a:pt x="244" y="209"/>
                  </a:lnTo>
                  <a:lnTo>
                    <a:pt x="175" y="224"/>
                  </a:lnTo>
                  <a:lnTo>
                    <a:pt x="157" y="240"/>
                  </a:lnTo>
                  <a:lnTo>
                    <a:pt x="157" y="272"/>
                  </a:lnTo>
                  <a:lnTo>
                    <a:pt x="54" y="288"/>
                  </a:lnTo>
                  <a:lnTo>
                    <a:pt x="19" y="272"/>
                  </a:lnTo>
                  <a:lnTo>
                    <a:pt x="36" y="240"/>
                  </a:lnTo>
                  <a:lnTo>
                    <a:pt x="36" y="224"/>
                  </a:lnTo>
                  <a:lnTo>
                    <a:pt x="0" y="209"/>
                  </a:lnTo>
                  <a:lnTo>
                    <a:pt x="0" y="144"/>
                  </a:lnTo>
                  <a:lnTo>
                    <a:pt x="19" y="113"/>
                  </a:lnTo>
                  <a:lnTo>
                    <a:pt x="19" y="96"/>
                  </a:lnTo>
                  <a:lnTo>
                    <a:pt x="71" y="96"/>
                  </a:lnTo>
                  <a:lnTo>
                    <a:pt x="71" y="80"/>
                  </a:lnTo>
                  <a:lnTo>
                    <a:pt x="105" y="80"/>
                  </a:lnTo>
                  <a:lnTo>
                    <a:pt x="123" y="48"/>
                  </a:lnTo>
                  <a:lnTo>
                    <a:pt x="140" y="48"/>
                  </a:lnTo>
                  <a:lnTo>
                    <a:pt x="140" y="32"/>
                  </a:lnTo>
                  <a:lnTo>
                    <a:pt x="209" y="48"/>
                  </a:lnTo>
                  <a:lnTo>
                    <a:pt x="244" y="48"/>
                  </a:lnTo>
                  <a:lnTo>
                    <a:pt x="244" y="32"/>
                  </a:lnTo>
                  <a:lnTo>
                    <a:pt x="261" y="32"/>
                  </a:lnTo>
                  <a:lnTo>
                    <a:pt x="278" y="0"/>
                  </a:lnTo>
                  <a:lnTo>
                    <a:pt x="296" y="17"/>
                  </a:lnTo>
                  <a:lnTo>
                    <a:pt x="313" y="65"/>
                  </a:lnTo>
                  <a:lnTo>
                    <a:pt x="347" y="32"/>
                  </a:lnTo>
                  <a:lnTo>
                    <a:pt x="399" y="48"/>
                  </a:lnTo>
                  <a:lnTo>
                    <a:pt x="382" y="4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74" name="Freeform 202">
              <a:extLst>
                <a:ext uri="{FF2B5EF4-FFF2-40B4-BE49-F238E27FC236}">
                  <a16:creationId xmlns:a16="http://schemas.microsoft.com/office/drawing/2014/main" id="{EDCC8BEF-0F55-4C88-9770-D550844DA079}"/>
                </a:ext>
              </a:extLst>
            </p:cNvPr>
            <p:cNvSpPr>
              <a:spLocks/>
            </p:cNvSpPr>
            <p:nvPr>
              <p:custDataLst>
                <p:tags r:id="rId203"/>
              </p:custDataLst>
            </p:nvPr>
          </p:nvSpPr>
          <p:spPr bwMode="auto">
            <a:xfrm>
              <a:off x="8250095" y="3471121"/>
              <a:ext cx="168888" cy="56296"/>
            </a:xfrm>
            <a:custGeom>
              <a:avLst/>
              <a:gdLst>
                <a:gd name="T0" fmla="*/ 10319 w 192"/>
                <a:gd name="T1" fmla="*/ 12902 h 63"/>
                <a:gd name="T2" fmla="*/ 10319 w 192"/>
                <a:gd name="T3" fmla="*/ 12902 h 63"/>
                <a:gd name="T4" fmla="*/ 10319 w 192"/>
                <a:gd name="T5" fmla="*/ 9676 h 63"/>
                <a:gd name="T6" fmla="*/ 10319 w 192"/>
                <a:gd name="T7" fmla="*/ 6451 h 63"/>
                <a:gd name="T8" fmla="*/ 0 w 192"/>
                <a:gd name="T9" fmla="*/ 0 h 63"/>
                <a:gd name="T10" fmla="*/ 17463 w 192"/>
                <a:gd name="T11" fmla="*/ 0 h 63"/>
                <a:gd name="T12" fmla="*/ 23812 w 192"/>
                <a:gd name="T13" fmla="*/ 3225 h 63"/>
                <a:gd name="T14" fmla="*/ 31750 w 192"/>
                <a:gd name="T15" fmla="*/ 3225 h 63"/>
                <a:gd name="T16" fmla="*/ 38100 w 192"/>
                <a:gd name="T17" fmla="*/ 9676 h 63"/>
                <a:gd name="T18" fmla="*/ 34925 w 192"/>
                <a:gd name="T19" fmla="*/ 9676 h 63"/>
                <a:gd name="T20" fmla="*/ 38100 w 192"/>
                <a:gd name="T21" fmla="*/ 12902 h 63"/>
                <a:gd name="T22" fmla="*/ 31750 w 192"/>
                <a:gd name="T23" fmla="*/ 12902 h 63"/>
                <a:gd name="T24" fmla="*/ 27781 w 192"/>
                <a:gd name="T25" fmla="*/ 12902 h 63"/>
                <a:gd name="T26" fmla="*/ 20637 w 192"/>
                <a:gd name="T27" fmla="*/ 12902 h 63"/>
                <a:gd name="T28" fmla="*/ 10319 w 192"/>
                <a:gd name="T29" fmla="*/ 12902 h 6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2"/>
                <a:gd name="T46" fmla="*/ 0 h 63"/>
                <a:gd name="T47" fmla="*/ 192 w 192"/>
                <a:gd name="T48" fmla="*/ 63 h 6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2" h="63">
                  <a:moveTo>
                    <a:pt x="54" y="63"/>
                  </a:moveTo>
                  <a:lnTo>
                    <a:pt x="54" y="63"/>
                  </a:lnTo>
                  <a:lnTo>
                    <a:pt x="54" y="48"/>
                  </a:lnTo>
                  <a:lnTo>
                    <a:pt x="54" y="32"/>
                  </a:lnTo>
                  <a:lnTo>
                    <a:pt x="0" y="0"/>
                  </a:lnTo>
                  <a:lnTo>
                    <a:pt x="88" y="0"/>
                  </a:lnTo>
                  <a:lnTo>
                    <a:pt x="123" y="15"/>
                  </a:lnTo>
                  <a:lnTo>
                    <a:pt x="157" y="15"/>
                  </a:lnTo>
                  <a:lnTo>
                    <a:pt x="192" y="48"/>
                  </a:lnTo>
                  <a:lnTo>
                    <a:pt x="175" y="48"/>
                  </a:lnTo>
                  <a:lnTo>
                    <a:pt x="192" y="63"/>
                  </a:lnTo>
                  <a:lnTo>
                    <a:pt x="157" y="63"/>
                  </a:lnTo>
                  <a:lnTo>
                    <a:pt x="140" y="63"/>
                  </a:lnTo>
                  <a:lnTo>
                    <a:pt x="105" y="63"/>
                  </a:lnTo>
                  <a:lnTo>
                    <a:pt x="54" y="6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75" name="Freeform 203">
              <a:extLst>
                <a:ext uri="{FF2B5EF4-FFF2-40B4-BE49-F238E27FC236}">
                  <a16:creationId xmlns:a16="http://schemas.microsoft.com/office/drawing/2014/main" id="{DAE7C5CA-FE6E-44C9-9B18-99A39A87C366}"/>
                </a:ext>
              </a:extLst>
            </p:cNvPr>
            <p:cNvSpPr>
              <a:spLocks/>
            </p:cNvSpPr>
            <p:nvPr>
              <p:custDataLst>
                <p:tags r:id="rId204"/>
              </p:custDataLst>
            </p:nvPr>
          </p:nvSpPr>
          <p:spPr bwMode="auto">
            <a:xfrm>
              <a:off x="7914078" y="3513343"/>
              <a:ext cx="457406" cy="168888"/>
            </a:xfrm>
            <a:custGeom>
              <a:avLst/>
              <a:gdLst>
                <a:gd name="T0" fmla="*/ 103188 w 520"/>
                <a:gd name="T1" fmla="*/ 12766 h 191"/>
                <a:gd name="T2" fmla="*/ 103188 w 520"/>
                <a:gd name="T3" fmla="*/ 12766 h 191"/>
                <a:gd name="T4" fmla="*/ 99219 w 520"/>
                <a:gd name="T5" fmla="*/ 12766 h 191"/>
                <a:gd name="T6" fmla="*/ 96044 w 520"/>
                <a:gd name="T7" fmla="*/ 3192 h 191"/>
                <a:gd name="T8" fmla="*/ 85725 w 520"/>
                <a:gd name="T9" fmla="*/ 3192 h 191"/>
                <a:gd name="T10" fmla="*/ 75406 w 520"/>
                <a:gd name="T11" fmla="*/ 6383 h 191"/>
                <a:gd name="T12" fmla="*/ 61912 w 520"/>
                <a:gd name="T13" fmla="*/ 6383 h 191"/>
                <a:gd name="T14" fmla="*/ 51594 w 520"/>
                <a:gd name="T15" fmla="*/ 0 h 191"/>
                <a:gd name="T16" fmla="*/ 41275 w 520"/>
                <a:gd name="T17" fmla="*/ 0 h 191"/>
                <a:gd name="T18" fmla="*/ 30956 w 520"/>
                <a:gd name="T19" fmla="*/ 6383 h 191"/>
                <a:gd name="T20" fmla="*/ 23812 w 520"/>
                <a:gd name="T21" fmla="*/ 6383 h 191"/>
                <a:gd name="T22" fmla="*/ 17462 w 520"/>
                <a:gd name="T23" fmla="*/ 6383 h 191"/>
                <a:gd name="T24" fmla="*/ 13494 w 520"/>
                <a:gd name="T25" fmla="*/ 0 h 191"/>
                <a:gd name="T26" fmla="*/ 7144 w 520"/>
                <a:gd name="T27" fmla="*/ 0 h 191"/>
                <a:gd name="T28" fmla="*/ 3175 w 520"/>
                <a:gd name="T29" fmla="*/ 3192 h 191"/>
                <a:gd name="T30" fmla="*/ 0 w 520"/>
                <a:gd name="T31" fmla="*/ 9575 h 191"/>
                <a:gd name="T32" fmla="*/ 3175 w 520"/>
                <a:gd name="T33" fmla="*/ 9575 h 191"/>
                <a:gd name="T34" fmla="*/ 3175 w 520"/>
                <a:gd name="T35" fmla="*/ 12766 h 191"/>
                <a:gd name="T36" fmla="*/ 10319 w 520"/>
                <a:gd name="T37" fmla="*/ 6383 h 191"/>
                <a:gd name="T38" fmla="*/ 17462 w 520"/>
                <a:gd name="T39" fmla="*/ 6383 h 191"/>
                <a:gd name="T40" fmla="*/ 20637 w 520"/>
                <a:gd name="T41" fmla="*/ 9575 h 191"/>
                <a:gd name="T42" fmla="*/ 17462 w 520"/>
                <a:gd name="T43" fmla="*/ 9575 h 191"/>
                <a:gd name="T44" fmla="*/ 17462 w 520"/>
                <a:gd name="T45" fmla="*/ 12766 h 191"/>
                <a:gd name="T46" fmla="*/ 7144 w 520"/>
                <a:gd name="T47" fmla="*/ 12766 h 191"/>
                <a:gd name="T48" fmla="*/ 3175 w 520"/>
                <a:gd name="T49" fmla="*/ 12766 h 191"/>
                <a:gd name="T50" fmla="*/ 3175 w 520"/>
                <a:gd name="T51" fmla="*/ 19150 h 191"/>
                <a:gd name="T52" fmla="*/ 7144 w 520"/>
                <a:gd name="T53" fmla="*/ 15958 h 191"/>
                <a:gd name="T54" fmla="*/ 7144 w 520"/>
                <a:gd name="T55" fmla="*/ 22341 h 191"/>
                <a:gd name="T56" fmla="*/ 3175 w 520"/>
                <a:gd name="T57" fmla="*/ 22341 h 191"/>
                <a:gd name="T58" fmla="*/ 3175 w 520"/>
                <a:gd name="T59" fmla="*/ 25533 h 191"/>
                <a:gd name="T60" fmla="*/ 7144 w 520"/>
                <a:gd name="T61" fmla="*/ 25533 h 191"/>
                <a:gd name="T62" fmla="*/ 7144 w 520"/>
                <a:gd name="T63" fmla="*/ 28725 h 191"/>
                <a:gd name="T64" fmla="*/ 10319 w 520"/>
                <a:gd name="T65" fmla="*/ 31916 h 191"/>
                <a:gd name="T66" fmla="*/ 7144 w 520"/>
                <a:gd name="T67" fmla="*/ 31916 h 191"/>
                <a:gd name="T68" fmla="*/ 13494 w 520"/>
                <a:gd name="T69" fmla="*/ 31916 h 191"/>
                <a:gd name="T70" fmla="*/ 13494 w 520"/>
                <a:gd name="T71" fmla="*/ 35108 h 191"/>
                <a:gd name="T72" fmla="*/ 20637 w 520"/>
                <a:gd name="T73" fmla="*/ 38299 h 191"/>
                <a:gd name="T74" fmla="*/ 27781 w 520"/>
                <a:gd name="T75" fmla="*/ 35108 h 191"/>
                <a:gd name="T76" fmla="*/ 30956 w 520"/>
                <a:gd name="T77" fmla="*/ 35108 h 191"/>
                <a:gd name="T78" fmla="*/ 38100 w 520"/>
                <a:gd name="T79" fmla="*/ 38299 h 191"/>
                <a:gd name="T80" fmla="*/ 41275 w 520"/>
                <a:gd name="T81" fmla="*/ 38299 h 191"/>
                <a:gd name="T82" fmla="*/ 48419 w 520"/>
                <a:gd name="T83" fmla="*/ 35108 h 191"/>
                <a:gd name="T84" fmla="*/ 54769 w 520"/>
                <a:gd name="T85" fmla="*/ 35108 h 191"/>
                <a:gd name="T86" fmla="*/ 54769 w 520"/>
                <a:gd name="T87" fmla="*/ 31916 h 191"/>
                <a:gd name="T88" fmla="*/ 54769 w 520"/>
                <a:gd name="T89" fmla="*/ 38299 h 191"/>
                <a:gd name="T90" fmla="*/ 57944 w 520"/>
                <a:gd name="T91" fmla="*/ 38299 h 191"/>
                <a:gd name="T92" fmla="*/ 57944 w 520"/>
                <a:gd name="T93" fmla="*/ 35108 h 191"/>
                <a:gd name="T94" fmla="*/ 68262 w 520"/>
                <a:gd name="T95" fmla="*/ 31916 h 191"/>
                <a:gd name="T96" fmla="*/ 72231 w 520"/>
                <a:gd name="T97" fmla="*/ 35108 h 191"/>
                <a:gd name="T98" fmla="*/ 82550 w 520"/>
                <a:gd name="T99" fmla="*/ 31916 h 191"/>
                <a:gd name="T100" fmla="*/ 92869 w 520"/>
                <a:gd name="T101" fmla="*/ 31916 h 191"/>
                <a:gd name="T102" fmla="*/ 92869 w 520"/>
                <a:gd name="T103" fmla="*/ 28725 h 191"/>
                <a:gd name="T104" fmla="*/ 103188 w 520"/>
                <a:gd name="T105" fmla="*/ 31916 h 191"/>
                <a:gd name="T106" fmla="*/ 99219 w 520"/>
                <a:gd name="T107" fmla="*/ 15958 h 191"/>
                <a:gd name="T108" fmla="*/ 103188 w 520"/>
                <a:gd name="T109" fmla="*/ 12766 h 19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520"/>
                <a:gd name="T166" fmla="*/ 0 h 191"/>
                <a:gd name="T167" fmla="*/ 520 w 520"/>
                <a:gd name="T168" fmla="*/ 191 h 191"/>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520" h="191">
                  <a:moveTo>
                    <a:pt x="520" y="63"/>
                  </a:moveTo>
                  <a:lnTo>
                    <a:pt x="520" y="63"/>
                  </a:lnTo>
                  <a:lnTo>
                    <a:pt x="503" y="63"/>
                  </a:lnTo>
                  <a:lnTo>
                    <a:pt x="485" y="15"/>
                  </a:lnTo>
                  <a:lnTo>
                    <a:pt x="434" y="15"/>
                  </a:lnTo>
                  <a:lnTo>
                    <a:pt x="382" y="32"/>
                  </a:lnTo>
                  <a:lnTo>
                    <a:pt x="313" y="32"/>
                  </a:lnTo>
                  <a:lnTo>
                    <a:pt x="261" y="0"/>
                  </a:lnTo>
                  <a:lnTo>
                    <a:pt x="209" y="0"/>
                  </a:lnTo>
                  <a:lnTo>
                    <a:pt x="157" y="32"/>
                  </a:lnTo>
                  <a:lnTo>
                    <a:pt x="123" y="32"/>
                  </a:lnTo>
                  <a:lnTo>
                    <a:pt x="88" y="32"/>
                  </a:lnTo>
                  <a:lnTo>
                    <a:pt x="71" y="0"/>
                  </a:lnTo>
                  <a:lnTo>
                    <a:pt x="36" y="0"/>
                  </a:lnTo>
                  <a:lnTo>
                    <a:pt x="19" y="15"/>
                  </a:lnTo>
                  <a:lnTo>
                    <a:pt x="0" y="48"/>
                  </a:lnTo>
                  <a:lnTo>
                    <a:pt x="19" y="48"/>
                  </a:lnTo>
                  <a:lnTo>
                    <a:pt x="19" y="63"/>
                  </a:lnTo>
                  <a:lnTo>
                    <a:pt x="54" y="32"/>
                  </a:lnTo>
                  <a:lnTo>
                    <a:pt x="88" y="32"/>
                  </a:lnTo>
                  <a:lnTo>
                    <a:pt x="105" y="48"/>
                  </a:lnTo>
                  <a:lnTo>
                    <a:pt x="88" y="48"/>
                  </a:lnTo>
                  <a:lnTo>
                    <a:pt x="88" y="63"/>
                  </a:lnTo>
                  <a:lnTo>
                    <a:pt x="36" y="63"/>
                  </a:lnTo>
                  <a:lnTo>
                    <a:pt x="19" y="63"/>
                  </a:lnTo>
                  <a:lnTo>
                    <a:pt x="19" y="96"/>
                  </a:lnTo>
                  <a:lnTo>
                    <a:pt x="36" y="80"/>
                  </a:lnTo>
                  <a:lnTo>
                    <a:pt x="36" y="111"/>
                  </a:lnTo>
                  <a:lnTo>
                    <a:pt x="19" y="111"/>
                  </a:lnTo>
                  <a:lnTo>
                    <a:pt x="19" y="128"/>
                  </a:lnTo>
                  <a:lnTo>
                    <a:pt x="36" y="128"/>
                  </a:lnTo>
                  <a:lnTo>
                    <a:pt x="36" y="143"/>
                  </a:lnTo>
                  <a:lnTo>
                    <a:pt x="54" y="159"/>
                  </a:lnTo>
                  <a:lnTo>
                    <a:pt x="36" y="159"/>
                  </a:lnTo>
                  <a:lnTo>
                    <a:pt x="71" y="159"/>
                  </a:lnTo>
                  <a:lnTo>
                    <a:pt x="71" y="176"/>
                  </a:lnTo>
                  <a:lnTo>
                    <a:pt x="105" y="191"/>
                  </a:lnTo>
                  <a:lnTo>
                    <a:pt x="140" y="176"/>
                  </a:lnTo>
                  <a:lnTo>
                    <a:pt x="157" y="176"/>
                  </a:lnTo>
                  <a:lnTo>
                    <a:pt x="192" y="191"/>
                  </a:lnTo>
                  <a:lnTo>
                    <a:pt x="209" y="191"/>
                  </a:lnTo>
                  <a:lnTo>
                    <a:pt x="244" y="176"/>
                  </a:lnTo>
                  <a:lnTo>
                    <a:pt x="278" y="176"/>
                  </a:lnTo>
                  <a:lnTo>
                    <a:pt x="278" y="159"/>
                  </a:lnTo>
                  <a:lnTo>
                    <a:pt x="278" y="191"/>
                  </a:lnTo>
                  <a:lnTo>
                    <a:pt x="295" y="191"/>
                  </a:lnTo>
                  <a:lnTo>
                    <a:pt x="295" y="176"/>
                  </a:lnTo>
                  <a:lnTo>
                    <a:pt x="347" y="159"/>
                  </a:lnTo>
                  <a:lnTo>
                    <a:pt x="365" y="176"/>
                  </a:lnTo>
                  <a:lnTo>
                    <a:pt x="416" y="159"/>
                  </a:lnTo>
                  <a:lnTo>
                    <a:pt x="468" y="159"/>
                  </a:lnTo>
                  <a:lnTo>
                    <a:pt x="468" y="143"/>
                  </a:lnTo>
                  <a:lnTo>
                    <a:pt x="520" y="159"/>
                  </a:lnTo>
                  <a:lnTo>
                    <a:pt x="503" y="80"/>
                  </a:lnTo>
                  <a:lnTo>
                    <a:pt x="520" y="6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76" name="Freeform 204">
              <a:extLst>
                <a:ext uri="{FF2B5EF4-FFF2-40B4-BE49-F238E27FC236}">
                  <a16:creationId xmlns:a16="http://schemas.microsoft.com/office/drawing/2014/main" id="{35414B1D-A96A-4853-8A58-933E6B480636}"/>
                </a:ext>
              </a:extLst>
            </p:cNvPr>
            <p:cNvSpPr>
              <a:spLocks/>
            </p:cNvSpPr>
            <p:nvPr>
              <p:custDataLst>
                <p:tags r:id="rId205"/>
              </p:custDataLst>
            </p:nvPr>
          </p:nvSpPr>
          <p:spPr bwMode="auto">
            <a:xfrm>
              <a:off x="8130466" y="3754361"/>
              <a:ext cx="103796" cy="110833"/>
            </a:xfrm>
            <a:custGeom>
              <a:avLst/>
              <a:gdLst>
                <a:gd name="T0" fmla="*/ 22825 w 119"/>
                <a:gd name="T1" fmla="*/ 5513 h 127"/>
                <a:gd name="T2" fmla="*/ 22825 w 119"/>
                <a:gd name="T3" fmla="*/ 5513 h 127"/>
                <a:gd name="T4" fmla="*/ 22825 w 119"/>
                <a:gd name="T5" fmla="*/ 0 h 127"/>
                <a:gd name="T6" fmla="*/ 19677 w 119"/>
                <a:gd name="T7" fmla="*/ 0 h 127"/>
                <a:gd name="T8" fmla="*/ 9445 w 119"/>
                <a:gd name="T9" fmla="*/ 5513 h 127"/>
                <a:gd name="T10" fmla="*/ 2361 w 119"/>
                <a:gd name="T11" fmla="*/ 5513 h 127"/>
                <a:gd name="T12" fmla="*/ 2361 w 119"/>
                <a:gd name="T13" fmla="*/ 9450 h 127"/>
                <a:gd name="T14" fmla="*/ 2361 w 119"/>
                <a:gd name="T15" fmla="*/ 14963 h 127"/>
                <a:gd name="T16" fmla="*/ 0 w 119"/>
                <a:gd name="T17" fmla="*/ 24413 h 127"/>
                <a:gd name="T18" fmla="*/ 6297 w 119"/>
                <a:gd name="T19" fmla="*/ 24413 h 127"/>
                <a:gd name="T20" fmla="*/ 9445 w 119"/>
                <a:gd name="T21" fmla="*/ 21263 h 127"/>
                <a:gd name="T22" fmla="*/ 12593 w 119"/>
                <a:gd name="T23" fmla="*/ 21263 h 127"/>
                <a:gd name="T24" fmla="*/ 16529 w 119"/>
                <a:gd name="T25" fmla="*/ 14963 h 127"/>
                <a:gd name="T26" fmla="*/ 12593 w 119"/>
                <a:gd name="T27" fmla="*/ 11813 h 127"/>
                <a:gd name="T28" fmla="*/ 22825 w 119"/>
                <a:gd name="T29" fmla="*/ 5513 h 12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9"/>
                <a:gd name="T46" fmla="*/ 0 h 127"/>
                <a:gd name="T47" fmla="*/ 119 w 119"/>
                <a:gd name="T48" fmla="*/ 127 h 12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9" h="127">
                  <a:moveTo>
                    <a:pt x="119" y="31"/>
                  </a:moveTo>
                  <a:lnTo>
                    <a:pt x="119" y="31"/>
                  </a:lnTo>
                  <a:lnTo>
                    <a:pt x="119" y="0"/>
                  </a:lnTo>
                  <a:lnTo>
                    <a:pt x="101" y="0"/>
                  </a:lnTo>
                  <a:lnTo>
                    <a:pt x="49" y="31"/>
                  </a:lnTo>
                  <a:lnTo>
                    <a:pt x="15" y="31"/>
                  </a:lnTo>
                  <a:lnTo>
                    <a:pt x="15" y="48"/>
                  </a:lnTo>
                  <a:lnTo>
                    <a:pt x="15" y="79"/>
                  </a:lnTo>
                  <a:lnTo>
                    <a:pt x="0" y="127"/>
                  </a:lnTo>
                  <a:lnTo>
                    <a:pt x="32" y="127"/>
                  </a:lnTo>
                  <a:lnTo>
                    <a:pt x="49" y="111"/>
                  </a:lnTo>
                  <a:lnTo>
                    <a:pt x="67" y="111"/>
                  </a:lnTo>
                  <a:lnTo>
                    <a:pt x="84" y="79"/>
                  </a:lnTo>
                  <a:lnTo>
                    <a:pt x="67" y="63"/>
                  </a:lnTo>
                  <a:lnTo>
                    <a:pt x="119" y="3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77" name="Freeform 205">
              <a:extLst>
                <a:ext uri="{FF2B5EF4-FFF2-40B4-BE49-F238E27FC236}">
                  <a16:creationId xmlns:a16="http://schemas.microsoft.com/office/drawing/2014/main" id="{49CD6F37-2A23-4FBE-94A1-BF5C9097CEF1}"/>
                </a:ext>
              </a:extLst>
            </p:cNvPr>
            <p:cNvSpPr>
              <a:spLocks/>
            </p:cNvSpPr>
            <p:nvPr>
              <p:custDataLst>
                <p:tags r:id="rId206"/>
              </p:custDataLst>
            </p:nvPr>
          </p:nvSpPr>
          <p:spPr bwMode="auto">
            <a:xfrm>
              <a:off x="8510464" y="3949637"/>
              <a:ext cx="151296" cy="70370"/>
            </a:xfrm>
            <a:custGeom>
              <a:avLst/>
              <a:gdLst>
                <a:gd name="T0" fmla="*/ 26832 w 173"/>
                <a:gd name="T1" fmla="*/ 13494 h 80"/>
                <a:gd name="T2" fmla="*/ 26832 w 173"/>
                <a:gd name="T3" fmla="*/ 13494 h 80"/>
                <a:gd name="T4" fmla="*/ 33934 w 173"/>
                <a:gd name="T5" fmla="*/ 6350 h 80"/>
                <a:gd name="T6" fmla="*/ 33934 w 173"/>
                <a:gd name="T7" fmla="*/ 3969 h 80"/>
                <a:gd name="T8" fmla="*/ 30777 w 173"/>
                <a:gd name="T9" fmla="*/ 0 h 80"/>
                <a:gd name="T10" fmla="*/ 20518 w 173"/>
                <a:gd name="T11" fmla="*/ 9525 h 80"/>
                <a:gd name="T12" fmla="*/ 10259 w 173"/>
                <a:gd name="T13" fmla="*/ 9525 h 80"/>
                <a:gd name="T14" fmla="*/ 3157 w 173"/>
                <a:gd name="T15" fmla="*/ 9525 h 80"/>
                <a:gd name="T16" fmla="*/ 0 w 173"/>
                <a:gd name="T17" fmla="*/ 13494 h 80"/>
                <a:gd name="T18" fmla="*/ 3157 w 173"/>
                <a:gd name="T19" fmla="*/ 15875 h 80"/>
                <a:gd name="T20" fmla="*/ 6313 w 173"/>
                <a:gd name="T21" fmla="*/ 15875 h 80"/>
                <a:gd name="T22" fmla="*/ 10259 w 173"/>
                <a:gd name="T23" fmla="*/ 15875 h 80"/>
                <a:gd name="T24" fmla="*/ 13416 w 173"/>
                <a:gd name="T25" fmla="*/ 15875 h 80"/>
                <a:gd name="T26" fmla="*/ 16572 w 173"/>
                <a:gd name="T27" fmla="*/ 15875 h 80"/>
                <a:gd name="T28" fmla="*/ 20518 w 173"/>
                <a:gd name="T29" fmla="*/ 15875 h 80"/>
                <a:gd name="T30" fmla="*/ 20518 w 173"/>
                <a:gd name="T31" fmla="*/ 13494 h 80"/>
                <a:gd name="T32" fmla="*/ 23675 w 173"/>
                <a:gd name="T33" fmla="*/ 13494 h 80"/>
                <a:gd name="T34" fmla="*/ 26832 w 173"/>
                <a:gd name="T35" fmla="*/ 13494 h 8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3"/>
                <a:gd name="T55" fmla="*/ 0 h 80"/>
                <a:gd name="T56" fmla="*/ 173 w 173"/>
                <a:gd name="T57" fmla="*/ 80 h 8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3" h="80">
                  <a:moveTo>
                    <a:pt x="139" y="65"/>
                  </a:moveTo>
                  <a:lnTo>
                    <a:pt x="139" y="65"/>
                  </a:lnTo>
                  <a:lnTo>
                    <a:pt x="173" y="32"/>
                  </a:lnTo>
                  <a:lnTo>
                    <a:pt x="173" y="17"/>
                  </a:lnTo>
                  <a:lnTo>
                    <a:pt x="156" y="0"/>
                  </a:lnTo>
                  <a:lnTo>
                    <a:pt x="104" y="48"/>
                  </a:lnTo>
                  <a:lnTo>
                    <a:pt x="52" y="48"/>
                  </a:lnTo>
                  <a:lnTo>
                    <a:pt x="18" y="48"/>
                  </a:lnTo>
                  <a:lnTo>
                    <a:pt x="0" y="65"/>
                  </a:lnTo>
                  <a:lnTo>
                    <a:pt x="18" y="80"/>
                  </a:lnTo>
                  <a:lnTo>
                    <a:pt x="35" y="80"/>
                  </a:lnTo>
                  <a:lnTo>
                    <a:pt x="52" y="80"/>
                  </a:lnTo>
                  <a:lnTo>
                    <a:pt x="70" y="80"/>
                  </a:lnTo>
                  <a:lnTo>
                    <a:pt x="87" y="80"/>
                  </a:lnTo>
                  <a:lnTo>
                    <a:pt x="104" y="80"/>
                  </a:lnTo>
                  <a:lnTo>
                    <a:pt x="104" y="65"/>
                  </a:lnTo>
                  <a:lnTo>
                    <a:pt x="121" y="65"/>
                  </a:lnTo>
                  <a:lnTo>
                    <a:pt x="139" y="6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78" name="Freeform 206">
              <a:extLst>
                <a:ext uri="{FF2B5EF4-FFF2-40B4-BE49-F238E27FC236}">
                  <a16:creationId xmlns:a16="http://schemas.microsoft.com/office/drawing/2014/main" id="{B0B8606F-10FD-4974-B206-C60E40D89606}"/>
                </a:ext>
              </a:extLst>
            </p:cNvPr>
            <p:cNvSpPr>
              <a:spLocks/>
            </p:cNvSpPr>
            <p:nvPr>
              <p:custDataLst>
                <p:tags r:id="rId207"/>
              </p:custDataLst>
            </p:nvPr>
          </p:nvSpPr>
          <p:spPr bwMode="auto">
            <a:xfrm>
              <a:off x="8645927" y="3935563"/>
              <a:ext cx="15834" cy="28148"/>
            </a:xfrm>
            <a:custGeom>
              <a:avLst/>
              <a:gdLst>
                <a:gd name="T0" fmla="*/ 4202 w 17"/>
                <a:gd name="T1" fmla="*/ 6158 h 33"/>
                <a:gd name="T2" fmla="*/ 4202 w 17"/>
                <a:gd name="T3" fmla="*/ 6158 h 33"/>
                <a:gd name="T4" fmla="*/ 0 w 17"/>
                <a:gd name="T5" fmla="*/ 3079 h 33"/>
                <a:gd name="T6" fmla="*/ 0 w 17"/>
                <a:gd name="T7" fmla="*/ 0 h 33"/>
                <a:gd name="T8" fmla="*/ 4202 w 17"/>
                <a:gd name="T9" fmla="*/ 0 h 33"/>
                <a:gd name="T10" fmla="*/ 4202 w 17"/>
                <a:gd name="T11" fmla="*/ 6158 h 33"/>
                <a:gd name="T12" fmla="*/ 0 60000 65536"/>
                <a:gd name="T13" fmla="*/ 0 60000 65536"/>
                <a:gd name="T14" fmla="*/ 0 60000 65536"/>
                <a:gd name="T15" fmla="*/ 0 60000 65536"/>
                <a:gd name="T16" fmla="*/ 0 60000 65536"/>
                <a:gd name="T17" fmla="*/ 0 60000 65536"/>
                <a:gd name="T18" fmla="*/ 0 w 17"/>
                <a:gd name="T19" fmla="*/ 0 h 33"/>
                <a:gd name="T20" fmla="*/ 17 w 17"/>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17" h="33">
                  <a:moveTo>
                    <a:pt x="17" y="33"/>
                  </a:moveTo>
                  <a:lnTo>
                    <a:pt x="17" y="33"/>
                  </a:lnTo>
                  <a:lnTo>
                    <a:pt x="0" y="16"/>
                  </a:lnTo>
                  <a:lnTo>
                    <a:pt x="0" y="0"/>
                  </a:lnTo>
                  <a:lnTo>
                    <a:pt x="17" y="0"/>
                  </a:lnTo>
                  <a:lnTo>
                    <a:pt x="17"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79" name="Freeform 207">
              <a:extLst>
                <a:ext uri="{FF2B5EF4-FFF2-40B4-BE49-F238E27FC236}">
                  <a16:creationId xmlns:a16="http://schemas.microsoft.com/office/drawing/2014/main" id="{366CAAF7-612E-4C72-AA49-BD1B60FCA388}"/>
                </a:ext>
              </a:extLst>
            </p:cNvPr>
            <p:cNvSpPr>
              <a:spLocks/>
            </p:cNvSpPr>
            <p:nvPr>
              <p:custDataLst>
                <p:tags r:id="rId208"/>
              </p:custDataLst>
            </p:nvPr>
          </p:nvSpPr>
          <p:spPr bwMode="auto">
            <a:xfrm>
              <a:off x="8325743" y="4146674"/>
              <a:ext cx="244537" cy="112592"/>
            </a:xfrm>
            <a:custGeom>
              <a:avLst/>
              <a:gdLst>
                <a:gd name="T0" fmla="*/ 0 w 279"/>
                <a:gd name="T1" fmla="*/ 6301 h 129"/>
                <a:gd name="T2" fmla="*/ 0 w 279"/>
                <a:gd name="T3" fmla="*/ 6301 h 129"/>
                <a:gd name="T4" fmla="*/ 3164 w 279"/>
                <a:gd name="T5" fmla="*/ 3150 h 129"/>
                <a:gd name="T6" fmla="*/ 13445 w 279"/>
                <a:gd name="T7" fmla="*/ 11814 h 129"/>
                <a:gd name="T8" fmla="*/ 16609 w 279"/>
                <a:gd name="T9" fmla="*/ 18902 h 129"/>
                <a:gd name="T10" fmla="*/ 41127 w 279"/>
                <a:gd name="T11" fmla="*/ 3150 h 129"/>
                <a:gd name="T12" fmla="*/ 54573 w 279"/>
                <a:gd name="T13" fmla="*/ 0 h 129"/>
                <a:gd name="T14" fmla="*/ 54573 w 279"/>
                <a:gd name="T15" fmla="*/ 3150 h 129"/>
                <a:gd name="T16" fmla="*/ 51409 w 279"/>
                <a:gd name="T17" fmla="*/ 6301 h 129"/>
                <a:gd name="T18" fmla="*/ 51409 w 279"/>
                <a:gd name="T19" fmla="*/ 9451 h 129"/>
                <a:gd name="T20" fmla="*/ 37964 w 279"/>
                <a:gd name="T21" fmla="*/ 11814 h 129"/>
                <a:gd name="T22" fmla="*/ 23727 w 279"/>
                <a:gd name="T23" fmla="*/ 21265 h 129"/>
                <a:gd name="T24" fmla="*/ 16609 w 279"/>
                <a:gd name="T25" fmla="*/ 21265 h 129"/>
                <a:gd name="T26" fmla="*/ 10282 w 279"/>
                <a:gd name="T27" fmla="*/ 25203 h 129"/>
                <a:gd name="T28" fmla="*/ 3164 w 279"/>
                <a:gd name="T29" fmla="*/ 25203 h 129"/>
                <a:gd name="T30" fmla="*/ 0 w 279"/>
                <a:gd name="T31" fmla="*/ 6301 h 12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9"/>
                <a:gd name="T49" fmla="*/ 0 h 129"/>
                <a:gd name="T50" fmla="*/ 279 w 279"/>
                <a:gd name="T51" fmla="*/ 129 h 12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9" h="129">
                  <a:moveTo>
                    <a:pt x="0" y="33"/>
                  </a:moveTo>
                  <a:lnTo>
                    <a:pt x="0" y="33"/>
                  </a:lnTo>
                  <a:lnTo>
                    <a:pt x="17" y="16"/>
                  </a:lnTo>
                  <a:lnTo>
                    <a:pt x="69" y="63"/>
                  </a:lnTo>
                  <a:lnTo>
                    <a:pt x="87" y="96"/>
                  </a:lnTo>
                  <a:lnTo>
                    <a:pt x="209" y="16"/>
                  </a:lnTo>
                  <a:lnTo>
                    <a:pt x="279" y="0"/>
                  </a:lnTo>
                  <a:lnTo>
                    <a:pt x="279" y="16"/>
                  </a:lnTo>
                  <a:lnTo>
                    <a:pt x="261" y="33"/>
                  </a:lnTo>
                  <a:lnTo>
                    <a:pt x="261" y="48"/>
                  </a:lnTo>
                  <a:lnTo>
                    <a:pt x="192" y="63"/>
                  </a:lnTo>
                  <a:lnTo>
                    <a:pt x="123" y="111"/>
                  </a:lnTo>
                  <a:lnTo>
                    <a:pt x="87" y="111"/>
                  </a:lnTo>
                  <a:lnTo>
                    <a:pt x="52" y="129"/>
                  </a:lnTo>
                  <a:lnTo>
                    <a:pt x="17" y="129"/>
                  </a:lnTo>
                  <a:lnTo>
                    <a:pt x="0" y="3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80" name="Freeform 208">
              <a:extLst>
                <a:ext uri="{FF2B5EF4-FFF2-40B4-BE49-F238E27FC236}">
                  <a16:creationId xmlns:a16="http://schemas.microsoft.com/office/drawing/2014/main" id="{7B772F05-02E4-4624-9718-D0C6632DC4FC}"/>
                </a:ext>
              </a:extLst>
            </p:cNvPr>
            <p:cNvSpPr>
              <a:spLocks/>
            </p:cNvSpPr>
            <p:nvPr>
              <p:custDataLst>
                <p:tags r:id="rId209"/>
              </p:custDataLst>
            </p:nvPr>
          </p:nvSpPr>
          <p:spPr bwMode="auto">
            <a:xfrm>
              <a:off x="7502414" y="3485195"/>
              <a:ext cx="14074" cy="58056"/>
            </a:xfrm>
            <a:custGeom>
              <a:avLst/>
              <a:gdLst>
                <a:gd name="T0" fmla="*/ 0 w 18"/>
                <a:gd name="T1" fmla="*/ 4030 h 65"/>
                <a:gd name="T2" fmla="*/ 0 w 18"/>
                <a:gd name="T3" fmla="*/ 4030 h 65"/>
                <a:gd name="T4" fmla="*/ 0 w 18"/>
                <a:gd name="T5" fmla="*/ 9672 h 65"/>
                <a:gd name="T6" fmla="*/ 2822 w 18"/>
                <a:gd name="T7" fmla="*/ 13701 h 65"/>
                <a:gd name="T8" fmla="*/ 2822 w 18"/>
                <a:gd name="T9" fmla="*/ 0 h 65"/>
                <a:gd name="T10" fmla="*/ 0 w 18"/>
                <a:gd name="T11" fmla="*/ 4030 h 65"/>
                <a:gd name="T12" fmla="*/ 0 60000 65536"/>
                <a:gd name="T13" fmla="*/ 0 60000 65536"/>
                <a:gd name="T14" fmla="*/ 0 60000 65536"/>
                <a:gd name="T15" fmla="*/ 0 60000 65536"/>
                <a:gd name="T16" fmla="*/ 0 60000 65536"/>
                <a:gd name="T17" fmla="*/ 0 60000 65536"/>
                <a:gd name="T18" fmla="*/ 0 w 18"/>
                <a:gd name="T19" fmla="*/ 0 h 65"/>
                <a:gd name="T20" fmla="*/ 18 w 18"/>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18" h="65">
                  <a:moveTo>
                    <a:pt x="0" y="17"/>
                  </a:moveTo>
                  <a:lnTo>
                    <a:pt x="0" y="17"/>
                  </a:lnTo>
                  <a:lnTo>
                    <a:pt x="0" y="48"/>
                  </a:lnTo>
                  <a:lnTo>
                    <a:pt x="18" y="65"/>
                  </a:lnTo>
                  <a:lnTo>
                    <a:pt x="18"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81" name="Freeform 209">
              <a:extLst>
                <a:ext uri="{FF2B5EF4-FFF2-40B4-BE49-F238E27FC236}">
                  <a16:creationId xmlns:a16="http://schemas.microsoft.com/office/drawing/2014/main" id="{9B807E56-E27B-435B-8BCB-33FB9D0F0754}"/>
                </a:ext>
              </a:extLst>
            </p:cNvPr>
            <p:cNvSpPr>
              <a:spLocks/>
            </p:cNvSpPr>
            <p:nvPr>
              <p:custDataLst>
                <p:tags r:id="rId210"/>
              </p:custDataLst>
            </p:nvPr>
          </p:nvSpPr>
          <p:spPr bwMode="auto">
            <a:xfrm>
              <a:off x="7486580" y="3543251"/>
              <a:ext cx="45741" cy="68611"/>
            </a:xfrm>
            <a:custGeom>
              <a:avLst/>
              <a:gdLst>
                <a:gd name="T0" fmla="*/ 0 w 52"/>
                <a:gd name="T1" fmla="*/ 0 h 79"/>
                <a:gd name="T2" fmla="*/ 0 w 52"/>
                <a:gd name="T3" fmla="*/ 0 h 79"/>
                <a:gd name="T4" fmla="*/ 3969 w 52"/>
                <a:gd name="T5" fmla="*/ 12539 h 79"/>
                <a:gd name="T6" fmla="*/ 3969 w 52"/>
                <a:gd name="T7" fmla="*/ 14890 h 79"/>
                <a:gd name="T8" fmla="*/ 7144 w 52"/>
                <a:gd name="T9" fmla="*/ 12539 h 79"/>
                <a:gd name="T10" fmla="*/ 10319 w 52"/>
                <a:gd name="T11" fmla="*/ 3135 h 79"/>
                <a:gd name="T12" fmla="*/ 7144 w 52"/>
                <a:gd name="T13" fmla="*/ 0 h 79"/>
                <a:gd name="T14" fmla="*/ 0 w 52"/>
                <a:gd name="T15" fmla="*/ 0 h 79"/>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79"/>
                <a:gd name="T26" fmla="*/ 52 w 52"/>
                <a:gd name="T27" fmla="*/ 79 h 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79">
                  <a:moveTo>
                    <a:pt x="0" y="0"/>
                  </a:moveTo>
                  <a:lnTo>
                    <a:pt x="0" y="0"/>
                  </a:lnTo>
                  <a:lnTo>
                    <a:pt x="17" y="64"/>
                  </a:lnTo>
                  <a:lnTo>
                    <a:pt x="17" y="79"/>
                  </a:lnTo>
                  <a:lnTo>
                    <a:pt x="35" y="64"/>
                  </a:lnTo>
                  <a:lnTo>
                    <a:pt x="52" y="16"/>
                  </a:lnTo>
                  <a:lnTo>
                    <a:pt x="35"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82" name="Freeform 210">
              <a:extLst>
                <a:ext uri="{FF2B5EF4-FFF2-40B4-BE49-F238E27FC236}">
                  <a16:creationId xmlns:a16="http://schemas.microsoft.com/office/drawing/2014/main" id="{1C8ACADC-BD60-4FC0-BF65-F432D691ED88}"/>
                </a:ext>
              </a:extLst>
            </p:cNvPr>
            <p:cNvSpPr>
              <a:spLocks/>
            </p:cNvSpPr>
            <p:nvPr>
              <p:custDataLst>
                <p:tags r:id="rId211"/>
              </p:custDataLst>
            </p:nvPr>
          </p:nvSpPr>
          <p:spPr bwMode="auto">
            <a:xfrm>
              <a:off x="7593894" y="3627695"/>
              <a:ext cx="79167" cy="42222"/>
            </a:xfrm>
            <a:custGeom>
              <a:avLst/>
              <a:gdLst>
                <a:gd name="T0" fmla="*/ 0 w 88"/>
                <a:gd name="T1" fmla="*/ 0 h 48"/>
                <a:gd name="T2" fmla="*/ 0 w 88"/>
                <a:gd name="T3" fmla="*/ 0 h 48"/>
                <a:gd name="T4" fmla="*/ 0 w 88"/>
                <a:gd name="T5" fmla="*/ 2381 h 48"/>
                <a:gd name="T6" fmla="*/ 14612 w 88"/>
                <a:gd name="T7" fmla="*/ 9525 h 48"/>
                <a:gd name="T8" fmla="*/ 18671 w 88"/>
                <a:gd name="T9" fmla="*/ 0 h 48"/>
                <a:gd name="T10" fmla="*/ 11365 w 88"/>
                <a:gd name="T11" fmla="*/ 0 h 48"/>
                <a:gd name="T12" fmla="*/ 4059 w 88"/>
                <a:gd name="T13" fmla="*/ 0 h 48"/>
                <a:gd name="T14" fmla="*/ 0 w 88"/>
                <a:gd name="T15" fmla="*/ 0 h 48"/>
                <a:gd name="T16" fmla="*/ 0 60000 65536"/>
                <a:gd name="T17" fmla="*/ 0 60000 65536"/>
                <a:gd name="T18" fmla="*/ 0 60000 65536"/>
                <a:gd name="T19" fmla="*/ 0 60000 65536"/>
                <a:gd name="T20" fmla="*/ 0 60000 65536"/>
                <a:gd name="T21" fmla="*/ 0 60000 65536"/>
                <a:gd name="T22" fmla="*/ 0 60000 65536"/>
                <a:gd name="T23" fmla="*/ 0 60000 65536"/>
                <a:gd name="T24" fmla="*/ 0 w 88"/>
                <a:gd name="T25" fmla="*/ 0 h 48"/>
                <a:gd name="T26" fmla="*/ 88 w 88"/>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8" h="48">
                  <a:moveTo>
                    <a:pt x="0" y="0"/>
                  </a:moveTo>
                  <a:lnTo>
                    <a:pt x="0" y="0"/>
                  </a:lnTo>
                  <a:lnTo>
                    <a:pt x="0" y="15"/>
                  </a:lnTo>
                  <a:lnTo>
                    <a:pt x="69" y="48"/>
                  </a:lnTo>
                  <a:lnTo>
                    <a:pt x="88" y="0"/>
                  </a:lnTo>
                  <a:lnTo>
                    <a:pt x="52" y="0"/>
                  </a:lnTo>
                  <a:lnTo>
                    <a:pt x="17"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83" name="Freeform 211">
              <a:extLst>
                <a:ext uri="{FF2B5EF4-FFF2-40B4-BE49-F238E27FC236}">
                  <a16:creationId xmlns:a16="http://schemas.microsoft.com/office/drawing/2014/main" id="{1B4D0C60-0B54-41B5-8004-213C878F45E9}"/>
                </a:ext>
              </a:extLst>
            </p:cNvPr>
            <p:cNvSpPr>
              <a:spLocks/>
            </p:cNvSpPr>
            <p:nvPr>
              <p:custDataLst>
                <p:tags r:id="rId212"/>
              </p:custDataLst>
            </p:nvPr>
          </p:nvSpPr>
          <p:spPr bwMode="auto">
            <a:xfrm>
              <a:off x="7808523" y="3627695"/>
              <a:ext cx="45741" cy="42222"/>
            </a:xfrm>
            <a:custGeom>
              <a:avLst/>
              <a:gdLst>
                <a:gd name="T0" fmla="*/ 0 w 52"/>
                <a:gd name="T1" fmla="*/ 2381 h 48"/>
                <a:gd name="T2" fmla="*/ 0 w 52"/>
                <a:gd name="T3" fmla="*/ 2381 h 48"/>
                <a:gd name="T4" fmla="*/ 3969 w 52"/>
                <a:gd name="T5" fmla="*/ 2381 h 48"/>
                <a:gd name="T6" fmla="*/ 3969 w 52"/>
                <a:gd name="T7" fmla="*/ 9525 h 48"/>
                <a:gd name="T8" fmla="*/ 7144 w 52"/>
                <a:gd name="T9" fmla="*/ 9525 h 48"/>
                <a:gd name="T10" fmla="*/ 10319 w 52"/>
                <a:gd name="T11" fmla="*/ 9525 h 48"/>
                <a:gd name="T12" fmla="*/ 7144 w 52"/>
                <a:gd name="T13" fmla="*/ 2381 h 48"/>
                <a:gd name="T14" fmla="*/ 10319 w 52"/>
                <a:gd name="T15" fmla="*/ 5556 h 48"/>
                <a:gd name="T16" fmla="*/ 10319 w 52"/>
                <a:gd name="T17" fmla="*/ 2381 h 48"/>
                <a:gd name="T18" fmla="*/ 3969 w 52"/>
                <a:gd name="T19" fmla="*/ 0 h 48"/>
                <a:gd name="T20" fmla="*/ 0 w 52"/>
                <a:gd name="T21" fmla="*/ 2381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48"/>
                <a:gd name="T35" fmla="*/ 52 w 52"/>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48">
                  <a:moveTo>
                    <a:pt x="0" y="15"/>
                  </a:moveTo>
                  <a:lnTo>
                    <a:pt x="0" y="15"/>
                  </a:lnTo>
                  <a:lnTo>
                    <a:pt x="17" y="15"/>
                  </a:lnTo>
                  <a:lnTo>
                    <a:pt x="17" y="48"/>
                  </a:lnTo>
                  <a:lnTo>
                    <a:pt x="34" y="48"/>
                  </a:lnTo>
                  <a:lnTo>
                    <a:pt x="52" y="48"/>
                  </a:lnTo>
                  <a:lnTo>
                    <a:pt x="34" y="15"/>
                  </a:lnTo>
                  <a:lnTo>
                    <a:pt x="52" y="31"/>
                  </a:lnTo>
                  <a:lnTo>
                    <a:pt x="52" y="15"/>
                  </a:lnTo>
                  <a:lnTo>
                    <a:pt x="17"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84" name="Freeform 212">
              <a:extLst>
                <a:ext uri="{FF2B5EF4-FFF2-40B4-BE49-F238E27FC236}">
                  <a16:creationId xmlns:a16="http://schemas.microsoft.com/office/drawing/2014/main" id="{3AF5F86F-6211-452B-B8E9-DEE30CECE49A}"/>
                </a:ext>
              </a:extLst>
            </p:cNvPr>
            <p:cNvSpPr>
              <a:spLocks/>
            </p:cNvSpPr>
            <p:nvPr>
              <p:custDataLst>
                <p:tags r:id="rId213"/>
              </p:custDataLst>
            </p:nvPr>
          </p:nvSpPr>
          <p:spPr bwMode="auto">
            <a:xfrm>
              <a:off x="7868338" y="3696305"/>
              <a:ext cx="61574" cy="15834"/>
            </a:xfrm>
            <a:custGeom>
              <a:avLst/>
              <a:gdLst>
                <a:gd name="T0" fmla="*/ 0 w 71"/>
                <a:gd name="T1" fmla="*/ 4202 h 17"/>
                <a:gd name="T2" fmla="*/ 0 w 71"/>
                <a:gd name="T3" fmla="*/ 4202 h 17"/>
                <a:gd name="T4" fmla="*/ 7043 w 71"/>
                <a:gd name="T5" fmla="*/ 4202 h 17"/>
                <a:gd name="T6" fmla="*/ 13304 w 71"/>
                <a:gd name="T7" fmla="*/ 4202 h 17"/>
                <a:gd name="T8" fmla="*/ 10174 w 71"/>
                <a:gd name="T9" fmla="*/ 4202 h 17"/>
                <a:gd name="T10" fmla="*/ 0 w 71"/>
                <a:gd name="T11" fmla="*/ 0 h 17"/>
                <a:gd name="T12" fmla="*/ 0 w 71"/>
                <a:gd name="T13" fmla="*/ 4202 h 17"/>
                <a:gd name="T14" fmla="*/ 0 60000 65536"/>
                <a:gd name="T15" fmla="*/ 0 60000 65536"/>
                <a:gd name="T16" fmla="*/ 0 60000 65536"/>
                <a:gd name="T17" fmla="*/ 0 60000 65536"/>
                <a:gd name="T18" fmla="*/ 0 60000 65536"/>
                <a:gd name="T19" fmla="*/ 0 60000 65536"/>
                <a:gd name="T20" fmla="*/ 0 60000 65536"/>
                <a:gd name="T21" fmla="*/ 0 w 71"/>
                <a:gd name="T22" fmla="*/ 0 h 17"/>
                <a:gd name="T23" fmla="*/ 71 w 71"/>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17">
                  <a:moveTo>
                    <a:pt x="0" y="17"/>
                  </a:moveTo>
                  <a:lnTo>
                    <a:pt x="0" y="17"/>
                  </a:lnTo>
                  <a:lnTo>
                    <a:pt x="36" y="17"/>
                  </a:lnTo>
                  <a:lnTo>
                    <a:pt x="71" y="17"/>
                  </a:lnTo>
                  <a:lnTo>
                    <a:pt x="54" y="17"/>
                  </a:lnTo>
                  <a:lnTo>
                    <a:pt x="0"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85" name="Freeform 213">
              <a:extLst>
                <a:ext uri="{FF2B5EF4-FFF2-40B4-BE49-F238E27FC236}">
                  <a16:creationId xmlns:a16="http://schemas.microsoft.com/office/drawing/2014/main" id="{67B466BC-9BB6-468A-89D8-4A39C69AA740}"/>
                </a:ext>
              </a:extLst>
            </p:cNvPr>
            <p:cNvSpPr>
              <a:spLocks/>
            </p:cNvSpPr>
            <p:nvPr>
              <p:custDataLst>
                <p:tags r:id="rId214"/>
              </p:custDataLst>
            </p:nvPr>
          </p:nvSpPr>
          <p:spPr bwMode="auto">
            <a:xfrm>
              <a:off x="8067133" y="3696305"/>
              <a:ext cx="61574" cy="28148"/>
            </a:xfrm>
            <a:custGeom>
              <a:avLst/>
              <a:gdLst>
                <a:gd name="T0" fmla="*/ 0 w 70"/>
                <a:gd name="T1" fmla="*/ 3175 h 32"/>
                <a:gd name="T2" fmla="*/ 0 w 70"/>
                <a:gd name="T3" fmla="*/ 3175 h 32"/>
                <a:gd name="T4" fmla="*/ 3175 w 70"/>
                <a:gd name="T5" fmla="*/ 6350 h 32"/>
                <a:gd name="T6" fmla="*/ 7144 w 70"/>
                <a:gd name="T7" fmla="*/ 6350 h 32"/>
                <a:gd name="T8" fmla="*/ 10319 w 70"/>
                <a:gd name="T9" fmla="*/ 3175 h 32"/>
                <a:gd name="T10" fmla="*/ 14288 w 70"/>
                <a:gd name="T11" fmla="*/ 0 h 32"/>
                <a:gd name="T12" fmla="*/ 0 w 70"/>
                <a:gd name="T13" fmla="*/ 3175 h 32"/>
                <a:gd name="T14" fmla="*/ 0 60000 65536"/>
                <a:gd name="T15" fmla="*/ 0 60000 65536"/>
                <a:gd name="T16" fmla="*/ 0 60000 65536"/>
                <a:gd name="T17" fmla="*/ 0 60000 65536"/>
                <a:gd name="T18" fmla="*/ 0 60000 65536"/>
                <a:gd name="T19" fmla="*/ 0 60000 65536"/>
                <a:gd name="T20" fmla="*/ 0 60000 65536"/>
                <a:gd name="T21" fmla="*/ 0 w 70"/>
                <a:gd name="T22" fmla="*/ 0 h 32"/>
                <a:gd name="T23" fmla="*/ 70 w 70"/>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0" h="32">
                  <a:moveTo>
                    <a:pt x="0" y="17"/>
                  </a:moveTo>
                  <a:lnTo>
                    <a:pt x="0" y="17"/>
                  </a:lnTo>
                  <a:lnTo>
                    <a:pt x="18" y="32"/>
                  </a:lnTo>
                  <a:lnTo>
                    <a:pt x="35" y="32"/>
                  </a:lnTo>
                  <a:lnTo>
                    <a:pt x="52" y="17"/>
                  </a:lnTo>
                  <a:lnTo>
                    <a:pt x="70"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86" name="Line 214">
              <a:extLst>
                <a:ext uri="{FF2B5EF4-FFF2-40B4-BE49-F238E27FC236}">
                  <a16:creationId xmlns:a16="http://schemas.microsoft.com/office/drawing/2014/main" id="{6756E8FD-945E-4C70-A81D-F9A22FB2B230}"/>
                </a:ext>
              </a:extLst>
            </p:cNvPr>
            <p:cNvSpPr>
              <a:spLocks noChangeShapeType="1"/>
            </p:cNvSpPr>
            <p:nvPr>
              <p:custDataLst>
                <p:tags r:id="rId215"/>
              </p:custDataLst>
            </p:nvPr>
          </p:nvSpPr>
          <p:spPr bwMode="auto">
            <a:xfrm flipV="1">
              <a:off x="7970374" y="3675194"/>
              <a:ext cx="12315" cy="42222"/>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287" name="Freeform 215">
              <a:extLst>
                <a:ext uri="{FF2B5EF4-FFF2-40B4-BE49-F238E27FC236}">
                  <a16:creationId xmlns:a16="http://schemas.microsoft.com/office/drawing/2014/main" id="{A827C45A-4BF0-4ABE-93F1-222493A8EFC7}"/>
                </a:ext>
              </a:extLst>
            </p:cNvPr>
            <p:cNvSpPr>
              <a:spLocks/>
            </p:cNvSpPr>
            <p:nvPr>
              <p:custDataLst>
                <p:tags r:id="rId216"/>
              </p:custDataLst>
            </p:nvPr>
          </p:nvSpPr>
          <p:spPr bwMode="auto">
            <a:xfrm>
              <a:off x="8373243" y="3569639"/>
              <a:ext cx="29908" cy="28148"/>
            </a:xfrm>
            <a:custGeom>
              <a:avLst/>
              <a:gdLst>
                <a:gd name="T0" fmla="*/ 6169 w 35"/>
                <a:gd name="T1" fmla="*/ 6158 h 33"/>
                <a:gd name="T2" fmla="*/ 6169 w 35"/>
                <a:gd name="T3" fmla="*/ 6158 h 33"/>
                <a:gd name="T4" fmla="*/ 3084 w 35"/>
                <a:gd name="T5" fmla="*/ 6158 h 33"/>
                <a:gd name="T6" fmla="*/ 0 w 35"/>
                <a:gd name="T7" fmla="*/ 0 h 33"/>
                <a:gd name="T8" fmla="*/ 6169 w 35"/>
                <a:gd name="T9" fmla="*/ 3079 h 33"/>
                <a:gd name="T10" fmla="*/ 6169 w 35"/>
                <a:gd name="T11" fmla="*/ 6158 h 33"/>
                <a:gd name="T12" fmla="*/ 0 60000 65536"/>
                <a:gd name="T13" fmla="*/ 0 60000 65536"/>
                <a:gd name="T14" fmla="*/ 0 60000 65536"/>
                <a:gd name="T15" fmla="*/ 0 60000 65536"/>
                <a:gd name="T16" fmla="*/ 0 60000 65536"/>
                <a:gd name="T17" fmla="*/ 0 60000 65536"/>
                <a:gd name="T18" fmla="*/ 0 w 35"/>
                <a:gd name="T19" fmla="*/ 0 h 33"/>
                <a:gd name="T20" fmla="*/ 35 w 35"/>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5" h="33">
                  <a:moveTo>
                    <a:pt x="35" y="33"/>
                  </a:moveTo>
                  <a:lnTo>
                    <a:pt x="35" y="33"/>
                  </a:lnTo>
                  <a:lnTo>
                    <a:pt x="17" y="33"/>
                  </a:lnTo>
                  <a:lnTo>
                    <a:pt x="0" y="0"/>
                  </a:lnTo>
                  <a:lnTo>
                    <a:pt x="35" y="17"/>
                  </a:lnTo>
                  <a:lnTo>
                    <a:pt x="35"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88" name="Freeform 216">
              <a:extLst>
                <a:ext uri="{FF2B5EF4-FFF2-40B4-BE49-F238E27FC236}">
                  <a16:creationId xmlns:a16="http://schemas.microsoft.com/office/drawing/2014/main" id="{A15F522E-20D0-4A7A-8C4D-C7C22CF96175}"/>
                </a:ext>
              </a:extLst>
            </p:cNvPr>
            <p:cNvSpPr>
              <a:spLocks/>
            </p:cNvSpPr>
            <p:nvPr>
              <p:custDataLst>
                <p:tags r:id="rId217"/>
              </p:custDataLst>
            </p:nvPr>
          </p:nvSpPr>
          <p:spPr bwMode="auto">
            <a:xfrm>
              <a:off x="8142781" y="3654083"/>
              <a:ext cx="182962" cy="126666"/>
            </a:xfrm>
            <a:custGeom>
              <a:avLst/>
              <a:gdLst>
                <a:gd name="T0" fmla="*/ 0 w 207"/>
                <a:gd name="T1" fmla="*/ 28575 h 144"/>
                <a:gd name="T2" fmla="*/ 0 w 207"/>
                <a:gd name="T3" fmla="*/ 28575 h 144"/>
                <a:gd name="T4" fmla="*/ 3988 w 207"/>
                <a:gd name="T5" fmla="*/ 25400 h 144"/>
                <a:gd name="T6" fmla="*/ 7178 w 207"/>
                <a:gd name="T7" fmla="*/ 19050 h 144"/>
                <a:gd name="T8" fmla="*/ 3988 w 207"/>
                <a:gd name="T9" fmla="*/ 15875 h 144"/>
                <a:gd name="T10" fmla="*/ 3988 w 207"/>
                <a:gd name="T11" fmla="*/ 6350 h 144"/>
                <a:gd name="T12" fmla="*/ 7178 w 207"/>
                <a:gd name="T13" fmla="*/ 6350 h 144"/>
                <a:gd name="T14" fmla="*/ 7178 w 207"/>
                <a:gd name="T15" fmla="*/ 3969 h 144"/>
                <a:gd name="T16" fmla="*/ 17547 w 207"/>
                <a:gd name="T17" fmla="*/ 0 h 144"/>
                <a:gd name="T18" fmla="*/ 20737 w 207"/>
                <a:gd name="T19" fmla="*/ 3969 h 144"/>
                <a:gd name="T20" fmla="*/ 31106 w 207"/>
                <a:gd name="T21" fmla="*/ 0 h 144"/>
                <a:gd name="T22" fmla="*/ 41474 w 207"/>
                <a:gd name="T23" fmla="*/ 0 h 144"/>
                <a:gd name="T24" fmla="*/ 35094 w 207"/>
                <a:gd name="T25" fmla="*/ 3969 h 144"/>
                <a:gd name="T26" fmla="*/ 31106 w 207"/>
                <a:gd name="T27" fmla="*/ 15875 h 144"/>
                <a:gd name="T28" fmla="*/ 20737 w 207"/>
                <a:gd name="T29" fmla="*/ 22225 h 144"/>
                <a:gd name="T30" fmla="*/ 17547 w 207"/>
                <a:gd name="T31" fmla="*/ 22225 h 144"/>
                <a:gd name="T32" fmla="*/ 7178 w 207"/>
                <a:gd name="T33" fmla="*/ 28575 h 144"/>
                <a:gd name="T34" fmla="*/ 0 w 207"/>
                <a:gd name="T35" fmla="*/ 28575 h 1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7"/>
                <a:gd name="T55" fmla="*/ 0 h 144"/>
                <a:gd name="T56" fmla="*/ 207 w 207"/>
                <a:gd name="T57" fmla="*/ 144 h 14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7" h="144">
                  <a:moveTo>
                    <a:pt x="0" y="144"/>
                  </a:moveTo>
                  <a:lnTo>
                    <a:pt x="0" y="144"/>
                  </a:lnTo>
                  <a:lnTo>
                    <a:pt x="17" y="128"/>
                  </a:lnTo>
                  <a:lnTo>
                    <a:pt x="34" y="96"/>
                  </a:lnTo>
                  <a:lnTo>
                    <a:pt x="17" y="80"/>
                  </a:lnTo>
                  <a:lnTo>
                    <a:pt x="17" y="32"/>
                  </a:lnTo>
                  <a:lnTo>
                    <a:pt x="34" y="32"/>
                  </a:lnTo>
                  <a:lnTo>
                    <a:pt x="34" y="17"/>
                  </a:lnTo>
                  <a:lnTo>
                    <a:pt x="86" y="0"/>
                  </a:lnTo>
                  <a:lnTo>
                    <a:pt x="104" y="17"/>
                  </a:lnTo>
                  <a:lnTo>
                    <a:pt x="155" y="0"/>
                  </a:lnTo>
                  <a:lnTo>
                    <a:pt x="207" y="0"/>
                  </a:lnTo>
                  <a:lnTo>
                    <a:pt x="173" y="17"/>
                  </a:lnTo>
                  <a:lnTo>
                    <a:pt x="155" y="80"/>
                  </a:lnTo>
                  <a:lnTo>
                    <a:pt x="104" y="113"/>
                  </a:lnTo>
                  <a:lnTo>
                    <a:pt x="86" y="113"/>
                  </a:lnTo>
                  <a:lnTo>
                    <a:pt x="34" y="144"/>
                  </a:lnTo>
                  <a:lnTo>
                    <a:pt x="0" y="14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89" name="Freeform 217">
              <a:extLst>
                <a:ext uri="{FF2B5EF4-FFF2-40B4-BE49-F238E27FC236}">
                  <a16:creationId xmlns:a16="http://schemas.microsoft.com/office/drawing/2014/main" id="{7DA9D637-F2EE-4DEA-B274-875F49FCBF2D}"/>
                </a:ext>
              </a:extLst>
            </p:cNvPr>
            <p:cNvSpPr>
              <a:spLocks/>
            </p:cNvSpPr>
            <p:nvPr>
              <p:custDataLst>
                <p:tags r:id="rId218"/>
              </p:custDataLst>
            </p:nvPr>
          </p:nvSpPr>
          <p:spPr bwMode="auto">
            <a:xfrm>
              <a:off x="8112873" y="3766675"/>
              <a:ext cx="45741" cy="98518"/>
            </a:xfrm>
            <a:custGeom>
              <a:avLst/>
              <a:gdLst>
                <a:gd name="T0" fmla="*/ 7144 w 52"/>
                <a:gd name="T1" fmla="*/ 3175 h 112"/>
                <a:gd name="T2" fmla="*/ 7144 w 52"/>
                <a:gd name="T3" fmla="*/ 3175 h 112"/>
                <a:gd name="T4" fmla="*/ 7144 w 52"/>
                <a:gd name="T5" fmla="*/ 7144 h 112"/>
                <a:gd name="T6" fmla="*/ 7144 w 52"/>
                <a:gd name="T7" fmla="*/ 12700 h 112"/>
                <a:gd name="T8" fmla="*/ 3969 w 52"/>
                <a:gd name="T9" fmla="*/ 22225 h 112"/>
                <a:gd name="T10" fmla="*/ 0 w 52"/>
                <a:gd name="T11" fmla="*/ 9525 h 112"/>
                <a:gd name="T12" fmla="*/ 3969 w 52"/>
                <a:gd name="T13" fmla="*/ 7144 h 112"/>
                <a:gd name="T14" fmla="*/ 7144 w 52"/>
                <a:gd name="T15" fmla="*/ 0 h 112"/>
                <a:gd name="T16" fmla="*/ 10319 w 52"/>
                <a:gd name="T17" fmla="*/ 0 h 112"/>
                <a:gd name="T18" fmla="*/ 7144 w 52"/>
                <a:gd name="T19" fmla="*/ 3175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
                <a:gd name="T31" fmla="*/ 0 h 112"/>
                <a:gd name="T32" fmla="*/ 52 w 52"/>
                <a:gd name="T33" fmla="*/ 112 h 1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 h="112">
                  <a:moveTo>
                    <a:pt x="35" y="16"/>
                  </a:moveTo>
                  <a:lnTo>
                    <a:pt x="35" y="16"/>
                  </a:lnTo>
                  <a:lnTo>
                    <a:pt x="35" y="33"/>
                  </a:lnTo>
                  <a:lnTo>
                    <a:pt x="35" y="64"/>
                  </a:lnTo>
                  <a:lnTo>
                    <a:pt x="18" y="112"/>
                  </a:lnTo>
                  <a:lnTo>
                    <a:pt x="0" y="48"/>
                  </a:lnTo>
                  <a:lnTo>
                    <a:pt x="18" y="33"/>
                  </a:lnTo>
                  <a:lnTo>
                    <a:pt x="35" y="0"/>
                  </a:lnTo>
                  <a:lnTo>
                    <a:pt x="52" y="0"/>
                  </a:lnTo>
                  <a:lnTo>
                    <a:pt x="35"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90" name="Freeform 218">
              <a:extLst>
                <a:ext uri="{FF2B5EF4-FFF2-40B4-BE49-F238E27FC236}">
                  <a16:creationId xmlns:a16="http://schemas.microsoft.com/office/drawing/2014/main" id="{CC3E1E81-1F2D-4C5A-B522-3B17202B3EE4}"/>
                </a:ext>
              </a:extLst>
            </p:cNvPr>
            <p:cNvSpPr>
              <a:spLocks/>
            </p:cNvSpPr>
            <p:nvPr>
              <p:custDataLst>
                <p:tags r:id="rId219"/>
              </p:custDataLst>
            </p:nvPr>
          </p:nvSpPr>
          <p:spPr bwMode="auto">
            <a:xfrm>
              <a:off x="8234262" y="3640009"/>
              <a:ext cx="228703" cy="225184"/>
            </a:xfrm>
            <a:custGeom>
              <a:avLst/>
              <a:gdLst>
                <a:gd name="T0" fmla="*/ 31076 w 259"/>
                <a:gd name="T1" fmla="*/ 3175 h 256"/>
                <a:gd name="T2" fmla="*/ 31076 w 259"/>
                <a:gd name="T3" fmla="*/ 3175 h 256"/>
                <a:gd name="T4" fmla="*/ 34263 w 259"/>
                <a:gd name="T5" fmla="*/ 9525 h 256"/>
                <a:gd name="T6" fmla="*/ 38247 w 259"/>
                <a:gd name="T7" fmla="*/ 9525 h 256"/>
                <a:gd name="T8" fmla="*/ 38247 w 259"/>
                <a:gd name="T9" fmla="*/ 15875 h 256"/>
                <a:gd name="T10" fmla="*/ 34263 w 259"/>
                <a:gd name="T11" fmla="*/ 22225 h 256"/>
                <a:gd name="T12" fmla="*/ 38247 w 259"/>
                <a:gd name="T13" fmla="*/ 28575 h 256"/>
                <a:gd name="T14" fmla="*/ 44622 w 259"/>
                <a:gd name="T15" fmla="*/ 31750 h 256"/>
                <a:gd name="T16" fmla="*/ 48606 w 259"/>
                <a:gd name="T17" fmla="*/ 41275 h 256"/>
                <a:gd name="T18" fmla="*/ 51793 w 259"/>
                <a:gd name="T19" fmla="*/ 44450 h 256"/>
                <a:gd name="T20" fmla="*/ 51793 w 259"/>
                <a:gd name="T21" fmla="*/ 47625 h 256"/>
                <a:gd name="T22" fmla="*/ 44622 w 259"/>
                <a:gd name="T23" fmla="*/ 47625 h 256"/>
                <a:gd name="T24" fmla="*/ 41434 w 259"/>
                <a:gd name="T25" fmla="*/ 50800 h 256"/>
                <a:gd name="T26" fmla="*/ 34263 w 259"/>
                <a:gd name="T27" fmla="*/ 47625 h 256"/>
                <a:gd name="T28" fmla="*/ 31076 w 259"/>
                <a:gd name="T29" fmla="*/ 50800 h 256"/>
                <a:gd name="T30" fmla="*/ 23904 w 259"/>
                <a:gd name="T31" fmla="*/ 47625 h 256"/>
                <a:gd name="T32" fmla="*/ 23904 w 259"/>
                <a:gd name="T33" fmla="*/ 44450 h 256"/>
                <a:gd name="T34" fmla="*/ 20717 w 259"/>
                <a:gd name="T35" fmla="*/ 41275 h 256"/>
                <a:gd name="T36" fmla="*/ 10359 w 259"/>
                <a:gd name="T37" fmla="*/ 34925 h 256"/>
                <a:gd name="T38" fmla="*/ 0 w 259"/>
                <a:gd name="T39" fmla="*/ 31750 h 256"/>
                <a:gd name="T40" fmla="*/ 0 w 259"/>
                <a:gd name="T41" fmla="*/ 25400 h 256"/>
                <a:gd name="T42" fmla="*/ 10359 w 259"/>
                <a:gd name="T43" fmla="*/ 19050 h 256"/>
                <a:gd name="T44" fmla="*/ 14343 w 259"/>
                <a:gd name="T45" fmla="*/ 6350 h 256"/>
                <a:gd name="T46" fmla="*/ 20717 w 259"/>
                <a:gd name="T47" fmla="*/ 3175 h 256"/>
                <a:gd name="T48" fmla="*/ 20717 w 259"/>
                <a:gd name="T49" fmla="*/ 0 h 256"/>
                <a:gd name="T50" fmla="*/ 31076 w 259"/>
                <a:gd name="T51" fmla="*/ 3175 h 2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9"/>
                <a:gd name="T79" fmla="*/ 0 h 256"/>
                <a:gd name="T80" fmla="*/ 259 w 259"/>
                <a:gd name="T81" fmla="*/ 256 h 25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9" h="256">
                  <a:moveTo>
                    <a:pt x="155" y="16"/>
                  </a:moveTo>
                  <a:lnTo>
                    <a:pt x="155" y="16"/>
                  </a:lnTo>
                  <a:lnTo>
                    <a:pt x="172" y="48"/>
                  </a:lnTo>
                  <a:lnTo>
                    <a:pt x="190" y="48"/>
                  </a:lnTo>
                  <a:lnTo>
                    <a:pt x="190" y="81"/>
                  </a:lnTo>
                  <a:lnTo>
                    <a:pt x="172" y="112"/>
                  </a:lnTo>
                  <a:lnTo>
                    <a:pt x="190" y="144"/>
                  </a:lnTo>
                  <a:lnTo>
                    <a:pt x="224" y="160"/>
                  </a:lnTo>
                  <a:lnTo>
                    <a:pt x="241" y="208"/>
                  </a:lnTo>
                  <a:lnTo>
                    <a:pt x="259" y="225"/>
                  </a:lnTo>
                  <a:lnTo>
                    <a:pt x="259" y="240"/>
                  </a:lnTo>
                  <a:lnTo>
                    <a:pt x="224" y="240"/>
                  </a:lnTo>
                  <a:lnTo>
                    <a:pt x="207" y="256"/>
                  </a:lnTo>
                  <a:lnTo>
                    <a:pt x="172" y="240"/>
                  </a:lnTo>
                  <a:lnTo>
                    <a:pt x="155" y="256"/>
                  </a:lnTo>
                  <a:lnTo>
                    <a:pt x="120" y="240"/>
                  </a:lnTo>
                  <a:lnTo>
                    <a:pt x="120" y="225"/>
                  </a:lnTo>
                  <a:lnTo>
                    <a:pt x="103" y="208"/>
                  </a:lnTo>
                  <a:lnTo>
                    <a:pt x="51" y="177"/>
                  </a:lnTo>
                  <a:lnTo>
                    <a:pt x="0" y="160"/>
                  </a:lnTo>
                  <a:lnTo>
                    <a:pt x="0" y="129"/>
                  </a:lnTo>
                  <a:lnTo>
                    <a:pt x="51" y="96"/>
                  </a:lnTo>
                  <a:lnTo>
                    <a:pt x="69" y="33"/>
                  </a:lnTo>
                  <a:lnTo>
                    <a:pt x="103" y="16"/>
                  </a:lnTo>
                  <a:lnTo>
                    <a:pt x="103" y="0"/>
                  </a:lnTo>
                  <a:lnTo>
                    <a:pt x="155"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91" name="Freeform 219">
              <a:extLst>
                <a:ext uri="{FF2B5EF4-FFF2-40B4-BE49-F238E27FC236}">
                  <a16:creationId xmlns:a16="http://schemas.microsoft.com/office/drawing/2014/main" id="{586F5AB4-C597-4B80-A574-09ECF9A6DE38}"/>
                </a:ext>
              </a:extLst>
            </p:cNvPr>
            <p:cNvSpPr>
              <a:spLocks/>
            </p:cNvSpPr>
            <p:nvPr>
              <p:custDataLst>
                <p:tags r:id="rId220"/>
              </p:custDataLst>
            </p:nvPr>
          </p:nvSpPr>
          <p:spPr bwMode="auto">
            <a:xfrm>
              <a:off x="8142781" y="3724453"/>
              <a:ext cx="33426" cy="42222"/>
            </a:xfrm>
            <a:custGeom>
              <a:avLst/>
              <a:gdLst>
                <a:gd name="T0" fmla="*/ 4189 w 36"/>
                <a:gd name="T1" fmla="*/ 9525 h 48"/>
                <a:gd name="T2" fmla="*/ 4189 w 36"/>
                <a:gd name="T3" fmla="*/ 9525 h 48"/>
                <a:gd name="T4" fmla="*/ 0 w 36"/>
                <a:gd name="T5" fmla="*/ 9525 h 48"/>
                <a:gd name="T6" fmla="*/ 4189 w 36"/>
                <a:gd name="T7" fmla="*/ 0 h 48"/>
                <a:gd name="T8" fmla="*/ 8379 w 36"/>
                <a:gd name="T9" fmla="*/ 3175 h 48"/>
                <a:gd name="T10" fmla="*/ 4189 w 36"/>
                <a:gd name="T11" fmla="*/ 9525 h 48"/>
                <a:gd name="T12" fmla="*/ 0 60000 65536"/>
                <a:gd name="T13" fmla="*/ 0 60000 65536"/>
                <a:gd name="T14" fmla="*/ 0 60000 65536"/>
                <a:gd name="T15" fmla="*/ 0 60000 65536"/>
                <a:gd name="T16" fmla="*/ 0 60000 65536"/>
                <a:gd name="T17" fmla="*/ 0 60000 65536"/>
                <a:gd name="T18" fmla="*/ 0 w 36"/>
                <a:gd name="T19" fmla="*/ 0 h 48"/>
                <a:gd name="T20" fmla="*/ 36 w 36"/>
                <a:gd name="T21" fmla="*/ 48 h 48"/>
              </a:gdLst>
              <a:ahLst/>
              <a:cxnLst>
                <a:cxn ang="T12">
                  <a:pos x="T0" y="T1"/>
                </a:cxn>
                <a:cxn ang="T13">
                  <a:pos x="T2" y="T3"/>
                </a:cxn>
                <a:cxn ang="T14">
                  <a:pos x="T4" y="T5"/>
                </a:cxn>
                <a:cxn ang="T15">
                  <a:pos x="T6" y="T7"/>
                </a:cxn>
                <a:cxn ang="T16">
                  <a:pos x="T8" y="T9"/>
                </a:cxn>
                <a:cxn ang="T17">
                  <a:pos x="T10" y="T11"/>
                </a:cxn>
              </a:cxnLst>
              <a:rect l="T18" t="T19" r="T20" b="T21"/>
              <a:pathLst>
                <a:path w="36" h="48">
                  <a:moveTo>
                    <a:pt x="17" y="48"/>
                  </a:moveTo>
                  <a:lnTo>
                    <a:pt x="17" y="48"/>
                  </a:lnTo>
                  <a:lnTo>
                    <a:pt x="0" y="48"/>
                  </a:lnTo>
                  <a:lnTo>
                    <a:pt x="17" y="0"/>
                  </a:lnTo>
                  <a:lnTo>
                    <a:pt x="36" y="16"/>
                  </a:lnTo>
                  <a:lnTo>
                    <a:pt x="17"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92" name="Freeform 220">
              <a:extLst>
                <a:ext uri="{FF2B5EF4-FFF2-40B4-BE49-F238E27FC236}">
                  <a16:creationId xmlns:a16="http://schemas.microsoft.com/office/drawing/2014/main" id="{9AFA5DB9-E898-46CC-8D69-123DA5FBF9FC}"/>
                </a:ext>
              </a:extLst>
            </p:cNvPr>
            <p:cNvSpPr>
              <a:spLocks/>
            </p:cNvSpPr>
            <p:nvPr>
              <p:custDataLst>
                <p:tags r:id="rId221"/>
              </p:custDataLst>
            </p:nvPr>
          </p:nvSpPr>
          <p:spPr bwMode="auto">
            <a:xfrm>
              <a:off x="8417224" y="3851119"/>
              <a:ext cx="45741" cy="28148"/>
            </a:xfrm>
            <a:custGeom>
              <a:avLst/>
              <a:gdLst>
                <a:gd name="T0" fmla="*/ 0 w 52"/>
                <a:gd name="T1" fmla="*/ 3079 h 33"/>
                <a:gd name="T2" fmla="*/ 0 w 52"/>
                <a:gd name="T3" fmla="*/ 3079 h 33"/>
                <a:gd name="T4" fmla="*/ 3969 w 52"/>
                <a:gd name="T5" fmla="*/ 0 h 33"/>
                <a:gd name="T6" fmla="*/ 10319 w 52"/>
                <a:gd name="T7" fmla="*/ 0 h 33"/>
                <a:gd name="T8" fmla="*/ 7144 w 52"/>
                <a:gd name="T9" fmla="*/ 3079 h 33"/>
                <a:gd name="T10" fmla="*/ 10319 w 52"/>
                <a:gd name="T11" fmla="*/ 6158 h 33"/>
                <a:gd name="T12" fmla="*/ 0 w 52"/>
                <a:gd name="T13" fmla="*/ 3079 h 33"/>
                <a:gd name="T14" fmla="*/ 0 60000 65536"/>
                <a:gd name="T15" fmla="*/ 0 60000 65536"/>
                <a:gd name="T16" fmla="*/ 0 60000 65536"/>
                <a:gd name="T17" fmla="*/ 0 60000 65536"/>
                <a:gd name="T18" fmla="*/ 0 60000 65536"/>
                <a:gd name="T19" fmla="*/ 0 60000 65536"/>
                <a:gd name="T20" fmla="*/ 0 60000 65536"/>
                <a:gd name="T21" fmla="*/ 0 w 52"/>
                <a:gd name="T22" fmla="*/ 0 h 33"/>
                <a:gd name="T23" fmla="*/ 52 w 5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 h="33">
                  <a:moveTo>
                    <a:pt x="0" y="16"/>
                  </a:moveTo>
                  <a:lnTo>
                    <a:pt x="0" y="16"/>
                  </a:lnTo>
                  <a:lnTo>
                    <a:pt x="17" y="0"/>
                  </a:lnTo>
                  <a:lnTo>
                    <a:pt x="52" y="0"/>
                  </a:lnTo>
                  <a:lnTo>
                    <a:pt x="34" y="16"/>
                  </a:lnTo>
                  <a:lnTo>
                    <a:pt x="52" y="33"/>
                  </a:lnTo>
                  <a:lnTo>
                    <a:pt x="0" y="1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293" name="Freeform 221">
              <a:extLst>
                <a:ext uri="{FF2B5EF4-FFF2-40B4-BE49-F238E27FC236}">
                  <a16:creationId xmlns:a16="http://schemas.microsoft.com/office/drawing/2014/main" id="{D38C6746-2E97-4F1E-BA96-64568CB811F0}"/>
                </a:ext>
              </a:extLst>
            </p:cNvPr>
            <p:cNvSpPr>
              <a:spLocks/>
            </p:cNvSpPr>
            <p:nvPr>
              <p:custDataLst>
                <p:tags r:id="rId222"/>
              </p:custDataLst>
            </p:nvPr>
          </p:nvSpPr>
          <p:spPr bwMode="auto">
            <a:xfrm>
              <a:off x="7857782" y="3020752"/>
              <a:ext cx="228703" cy="184722"/>
            </a:xfrm>
            <a:custGeom>
              <a:avLst/>
              <a:gdLst>
                <a:gd name="T0" fmla="*/ 48606 w 259"/>
                <a:gd name="T1" fmla="*/ 35890 h 209"/>
                <a:gd name="T2" fmla="*/ 48606 w 259"/>
                <a:gd name="T3" fmla="*/ 35890 h 209"/>
                <a:gd name="T4" fmla="*/ 44622 w 259"/>
                <a:gd name="T5" fmla="*/ 28712 h 209"/>
                <a:gd name="T6" fmla="*/ 44622 w 259"/>
                <a:gd name="T7" fmla="*/ 26319 h 209"/>
                <a:gd name="T8" fmla="*/ 48606 w 259"/>
                <a:gd name="T9" fmla="*/ 28712 h 209"/>
                <a:gd name="T10" fmla="*/ 51793 w 259"/>
                <a:gd name="T11" fmla="*/ 23129 h 209"/>
                <a:gd name="T12" fmla="*/ 48606 w 259"/>
                <a:gd name="T13" fmla="*/ 23129 h 209"/>
                <a:gd name="T14" fmla="*/ 41434 w 259"/>
                <a:gd name="T15" fmla="*/ 13558 h 209"/>
                <a:gd name="T16" fmla="*/ 41434 w 259"/>
                <a:gd name="T17" fmla="*/ 7178 h 209"/>
                <a:gd name="T18" fmla="*/ 38247 w 259"/>
                <a:gd name="T19" fmla="*/ 3988 h 209"/>
                <a:gd name="T20" fmla="*/ 27889 w 259"/>
                <a:gd name="T21" fmla="*/ 0 h 209"/>
                <a:gd name="T22" fmla="*/ 20717 w 259"/>
                <a:gd name="T23" fmla="*/ 7178 h 209"/>
                <a:gd name="T24" fmla="*/ 20717 w 259"/>
                <a:gd name="T25" fmla="*/ 9571 h 209"/>
                <a:gd name="T26" fmla="*/ 14343 w 259"/>
                <a:gd name="T27" fmla="*/ 13558 h 209"/>
                <a:gd name="T28" fmla="*/ 14343 w 259"/>
                <a:gd name="T29" fmla="*/ 19141 h 209"/>
                <a:gd name="T30" fmla="*/ 10359 w 259"/>
                <a:gd name="T31" fmla="*/ 19141 h 209"/>
                <a:gd name="T32" fmla="*/ 3984 w 259"/>
                <a:gd name="T33" fmla="*/ 23129 h 209"/>
                <a:gd name="T34" fmla="*/ 0 w 259"/>
                <a:gd name="T35" fmla="*/ 23129 h 209"/>
                <a:gd name="T36" fmla="*/ 3984 w 259"/>
                <a:gd name="T37" fmla="*/ 28712 h 209"/>
                <a:gd name="T38" fmla="*/ 0 w 259"/>
                <a:gd name="T39" fmla="*/ 35890 h 209"/>
                <a:gd name="T40" fmla="*/ 0 w 259"/>
                <a:gd name="T41" fmla="*/ 42270 h 209"/>
                <a:gd name="T42" fmla="*/ 7171 w 259"/>
                <a:gd name="T43" fmla="*/ 38282 h 209"/>
                <a:gd name="T44" fmla="*/ 14343 w 259"/>
                <a:gd name="T45" fmla="*/ 38282 h 209"/>
                <a:gd name="T46" fmla="*/ 24701 w 259"/>
                <a:gd name="T47" fmla="*/ 42270 h 209"/>
                <a:gd name="T48" fmla="*/ 27889 w 259"/>
                <a:gd name="T49" fmla="*/ 42270 h 209"/>
                <a:gd name="T50" fmla="*/ 31076 w 259"/>
                <a:gd name="T51" fmla="*/ 42270 h 209"/>
                <a:gd name="T52" fmla="*/ 34263 w 259"/>
                <a:gd name="T53" fmla="*/ 42270 h 209"/>
                <a:gd name="T54" fmla="*/ 41434 w 259"/>
                <a:gd name="T55" fmla="*/ 42270 h 209"/>
                <a:gd name="T56" fmla="*/ 44622 w 259"/>
                <a:gd name="T57" fmla="*/ 35890 h 209"/>
                <a:gd name="T58" fmla="*/ 48606 w 259"/>
                <a:gd name="T59" fmla="*/ 35890 h 2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59"/>
                <a:gd name="T91" fmla="*/ 0 h 209"/>
                <a:gd name="T92" fmla="*/ 259 w 259"/>
                <a:gd name="T93" fmla="*/ 209 h 20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59" h="209">
                  <a:moveTo>
                    <a:pt x="241" y="177"/>
                  </a:moveTo>
                  <a:lnTo>
                    <a:pt x="241" y="177"/>
                  </a:lnTo>
                  <a:lnTo>
                    <a:pt x="224" y="144"/>
                  </a:lnTo>
                  <a:lnTo>
                    <a:pt x="224" y="129"/>
                  </a:lnTo>
                  <a:lnTo>
                    <a:pt x="241" y="144"/>
                  </a:lnTo>
                  <a:lnTo>
                    <a:pt x="259" y="113"/>
                  </a:lnTo>
                  <a:lnTo>
                    <a:pt x="241" y="113"/>
                  </a:lnTo>
                  <a:lnTo>
                    <a:pt x="207" y="66"/>
                  </a:lnTo>
                  <a:lnTo>
                    <a:pt x="207" y="33"/>
                  </a:lnTo>
                  <a:lnTo>
                    <a:pt x="190" y="18"/>
                  </a:lnTo>
                  <a:lnTo>
                    <a:pt x="138" y="0"/>
                  </a:lnTo>
                  <a:lnTo>
                    <a:pt x="103" y="33"/>
                  </a:lnTo>
                  <a:lnTo>
                    <a:pt x="103" y="48"/>
                  </a:lnTo>
                  <a:lnTo>
                    <a:pt x="69" y="66"/>
                  </a:lnTo>
                  <a:lnTo>
                    <a:pt x="69" y="96"/>
                  </a:lnTo>
                  <a:lnTo>
                    <a:pt x="51" y="96"/>
                  </a:lnTo>
                  <a:lnTo>
                    <a:pt x="17" y="113"/>
                  </a:lnTo>
                  <a:lnTo>
                    <a:pt x="0" y="113"/>
                  </a:lnTo>
                  <a:lnTo>
                    <a:pt x="17" y="144"/>
                  </a:lnTo>
                  <a:lnTo>
                    <a:pt x="0" y="177"/>
                  </a:lnTo>
                  <a:lnTo>
                    <a:pt x="0" y="209"/>
                  </a:lnTo>
                  <a:lnTo>
                    <a:pt x="34" y="192"/>
                  </a:lnTo>
                  <a:lnTo>
                    <a:pt x="69" y="192"/>
                  </a:lnTo>
                  <a:lnTo>
                    <a:pt x="121" y="209"/>
                  </a:lnTo>
                  <a:lnTo>
                    <a:pt x="138" y="209"/>
                  </a:lnTo>
                  <a:lnTo>
                    <a:pt x="155" y="209"/>
                  </a:lnTo>
                  <a:lnTo>
                    <a:pt x="172" y="209"/>
                  </a:lnTo>
                  <a:lnTo>
                    <a:pt x="207" y="209"/>
                  </a:lnTo>
                  <a:lnTo>
                    <a:pt x="224" y="177"/>
                  </a:lnTo>
                  <a:lnTo>
                    <a:pt x="241" y="17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94" name="Freeform 409">
              <a:extLst>
                <a:ext uri="{FF2B5EF4-FFF2-40B4-BE49-F238E27FC236}">
                  <a16:creationId xmlns:a16="http://schemas.microsoft.com/office/drawing/2014/main" id="{B8F3610C-2C19-4FF3-A95E-3E1004011BE8}"/>
                </a:ext>
              </a:extLst>
            </p:cNvPr>
            <p:cNvSpPr>
              <a:spLocks/>
            </p:cNvSpPr>
            <p:nvPr>
              <p:custDataLst>
                <p:tags r:id="rId223"/>
              </p:custDataLst>
            </p:nvPr>
          </p:nvSpPr>
          <p:spPr bwMode="auto">
            <a:xfrm>
              <a:off x="7813800" y="2952142"/>
              <a:ext cx="167130" cy="96759"/>
            </a:xfrm>
            <a:custGeom>
              <a:avLst/>
              <a:gdLst>
                <a:gd name="T0" fmla="*/ 17463 w 190"/>
                <a:gd name="T1" fmla="*/ 0 h 111"/>
                <a:gd name="T2" fmla="*/ 17463 w 190"/>
                <a:gd name="T3" fmla="*/ 0 h 111"/>
                <a:gd name="T4" fmla="*/ 17463 w 190"/>
                <a:gd name="T5" fmla="*/ 9439 h 111"/>
                <a:gd name="T6" fmla="*/ 14288 w 190"/>
                <a:gd name="T7" fmla="*/ 9439 h 111"/>
                <a:gd name="T8" fmla="*/ 10319 w 190"/>
                <a:gd name="T9" fmla="*/ 9439 h 111"/>
                <a:gd name="T10" fmla="*/ 7144 w 190"/>
                <a:gd name="T11" fmla="*/ 2360 h 111"/>
                <a:gd name="T12" fmla="*/ 3969 w 190"/>
                <a:gd name="T13" fmla="*/ 5506 h 111"/>
                <a:gd name="T14" fmla="*/ 0 w 190"/>
                <a:gd name="T15" fmla="*/ 11799 h 111"/>
                <a:gd name="T16" fmla="*/ 0 w 190"/>
                <a:gd name="T17" fmla="*/ 18878 h 111"/>
                <a:gd name="T18" fmla="*/ 3969 w 190"/>
                <a:gd name="T19" fmla="*/ 14945 h 111"/>
                <a:gd name="T20" fmla="*/ 17463 w 190"/>
                <a:gd name="T21" fmla="*/ 14945 h 111"/>
                <a:gd name="T22" fmla="*/ 19844 w 190"/>
                <a:gd name="T23" fmla="*/ 14945 h 111"/>
                <a:gd name="T24" fmla="*/ 30956 w 190"/>
                <a:gd name="T25" fmla="*/ 21238 h 111"/>
                <a:gd name="T26" fmla="*/ 38100 w 190"/>
                <a:gd name="T27" fmla="*/ 14945 h 111"/>
                <a:gd name="T28" fmla="*/ 34925 w 190"/>
                <a:gd name="T29" fmla="*/ 9439 h 111"/>
                <a:gd name="T30" fmla="*/ 34925 w 190"/>
                <a:gd name="T31" fmla="*/ 5506 h 111"/>
                <a:gd name="T32" fmla="*/ 34925 w 190"/>
                <a:gd name="T33" fmla="*/ 2360 h 111"/>
                <a:gd name="T34" fmla="*/ 27781 w 190"/>
                <a:gd name="T35" fmla="*/ 2360 h 111"/>
                <a:gd name="T36" fmla="*/ 19844 w 190"/>
                <a:gd name="T37" fmla="*/ 0 h 111"/>
                <a:gd name="T38" fmla="*/ 17463 w 190"/>
                <a:gd name="T39" fmla="*/ 0 h 11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90"/>
                <a:gd name="T61" fmla="*/ 0 h 111"/>
                <a:gd name="T62" fmla="*/ 190 w 190"/>
                <a:gd name="T63" fmla="*/ 111 h 11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90" h="111">
                  <a:moveTo>
                    <a:pt x="86" y="0"/>
                  </a:moveTo>
                  <a:lnTo>
                    <a:pt x="86" y="0"/>
                  </a:lnTo>
                  <a:lnTo>
                    <a:pt x="86" y="48"/>
                  </a:lnTo>
                  <a:lnTo>
                    <a:pt x="69" y="48"/>
                  </a:lnTo>
                  <a:lnTo>
                    <a:pt x="52" y="48"/>
                  </a:lnTo>
                  <a:lnTo>
                    <a:pt x="34" y="15"/>
                  </a:lnTo>
                  <a:lnTo>
                    <a:pt x="17" y="30"/>
                  </a:lnTo>
                  <a:lnTo>
                    <a:pt x="0" y="63"/>
                  </a:lnTo>
                  <a:lnTo>
                    <a:pt x="0" y="96"/>
                  </a:lnTo>
                  <a:lnTo>
                    <a:pt x="17" y="78"/>
                  </a:lnTo>
                  <a:lnTo>
                    <a:pt x="86" y="78"/>
                  </a:lnTo>
                  <a:lnTo>
                    <a:pt x="103" y="78"/>
                  </a:lnTo>
                  <a:lnTo>
                    <a:pt x="155" y="111"/>
                  </a:lnTo>
                  <a:lnTo>
                    <a:pt x="190" y="78"/>
                  </a:lnTo>
                  <a:lnTo>
                    <a:pt x="173" y="48"/>
                  </a:lnTo>
                  <a:lnTo>
                    <a:pt x="173" y="30"/>
                  </a:lnTo>
                  <a:lnTo>
                    <a:pt x="173" y="15"/>
                  </a:lnTo>
                  <a:lnTo>
                    <a:pt x="138" y="15"/>
                  </a:lnTo>
                  <a:lnTo>
                    <a:pt x="103" y="0"/>
                  </a:lnTo>
                  <a:lnTo>
                    <a:pt x="86"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95" name="Freeform 410">
              <a:extLst>
                <a:ext uri="{FF2B5EF4-FFF2-40B4-BE49-F238E27FC236}">
                  <a16:creationId xmlns:a16="http://schemas.microsoft.com/office/drawing/2014/main" id="{D021766B-93C6-4436-979D-E61A9B251BDC}"/>
                </a:ext>
              </a:extLst>
            </p:cNvPr>
            <p:cNvSpPr>
              <a:spLocks/>
            </p:cNvSpPr>
            <p:nvPr>
              <p:custDataLst>
                <p:tags r:id="rId224"/>
              </p:custDataLst>
            </p:nvPr>
          </p:nvSpPr>
          <p:spPr bwMode="auto">
            <a:xfrm>
              <a:off x="7812042" y="3020752"/>
              <a:ext cx="137222" cy="100278"/>
            </a:xfrm>
            <a:custGeom>
              <a:avLst/>
              <a:gdLst>
                <a:gd name="T0" fmla="*/ 0 w 155"/>
                <a:gd name="T1" fmla="*/ 9609 h 113"/>
                <a:gd name="T2" fmla="*/ 0 w 155"/>
                <a:gd name="T3" fmla="*/ 9609 h 113"/>
                <a:gd name="T4" fmla="*/ 0 w 155"/>
                <a:gd name="T5" fmla="*/ 7207 h 113"/>
                <a:gd name="T6" fmla="*/ 0 w 155"/>
                <a:gd name="T7" fmla="*/ 4004 h 113"/>
                <a:gd name="T8" fmla="*/ 3994 w 155"/>
                <a:gd name="T9" fmla="*/ 0 h 113"/>
                <a:gd name="T10" fmla="*/ 17575 w 155"/>
                <a:gd name="T11" fmla="*/ 0 h 113"/>
                <a:gd name="T12" fmla="*/ 20771 w 155"/>
                <a:gd name="T13" fmla="*/ 0 h 113"/>
                <a:gd name="T14" fmla="*/ 31156 w 155"/>
                <a:gd name="T15" fmla="*/ 7207 h 113"/>
                <a:gd name="T16" fmla="*/ 31156 w 155"/>
                <a:gd name="T17" fmla="*/ 9609 h 113"/>
                <a:gd name="T18" fmla="*/ 24765 w 155"/>
                <a:gd name="T19" fmla="*/ 13613 h 113"/>
                <a:gd name="T20" fmla="*/ 24765 w 155"/>
                <a:gd name="T21" fmla="*/ 19219 h 113"/>
                <a:gd name="T22" fmla="*/ 20771 w 155"/>
                <a:gd name="T23" fmla="*/ 19219 h 113"/>
                <a:gd name="T24" fmla="*/ 14380 w 155"/>
                <a:gd name="T25" fmla="*/ 23223 h 113"/>
                <a:gd name="T26" fmla="*/ 10385 w 155"/>
                <a:gd name="T27" fmla="*/ 23223 h 113"/>
                <a:gd name="T28" fmla="*/ 7190 w 155"/>
                <a:gd name="T29" fmla="*/ 19219 h 113"/>
                <a:gd name="T30" fmla="*/ 7190 w 155"/>
                <a:gd name="T31" fmla="*/ 9609 h 113"/>
                <a:gd name="T32" fmla="*/ 0 w 155"/>
                <a:gd name="T33" fmla="*/ 9609 h 1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5"/>
                <a:gd name="T52" fmla="*/ 0 h 113"/>
                <a:gd name="T53" fmla="*/ 155 w 155"/>
                <a:gd name="T54" fmla="*/ 113 h 1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5" h="113">
                  <a:moveTo>
                    <a:pt x="0" y="48"/>
                  </a:moveTo>
                  <a:lnTo>
                    <a:pt x="0" y="48"/>
                  </a:lnTo>
                  <a:lnTo>
                    <a:pt x="0" y="33"/>
                  </a:lnTo>
                  <a:lnTo>
                    <a:pt x="0" y="18"/>
                  </a:lnTo>
                  <a:lnTo>
                    <a:pt x="17" y="0"/>
                  </a:lnTo>
                  <a:lnTo>
                    <a:pt x="86" y="0"/>
                  </a:lnTo>
                  <a:lnTo>
                    <a:pt x="103" y="0"/>
                  </a:lnTo>
                  <a:lnTo>
                    <a:pt x="155" y="33"/>
                  </a:lnTo>
                  <a:lnTo>
                    <a:pt x="155" y="48"/>
                  </a:lnTo>
                  <a:lnTo>
                    <a:pt x="121" y="66"/>
                  </a:lnTo>
                  <a:lnTo>
                    <a:pt x="121" y="96"/>
                  </a:lnTo>
                  <a:lnTo>
                    <a:pt x="103" y="96"/>
                  </a:lnTo>
                  <a:lnTo>
                    <a:pt x="69" y="113"/>
                  </a:lnTo>
                  <a:lnTo>
                    <a:pt x="52" y="113"/>
                  </a:lnTo>
                  <a:lnTo>
                    <a:pt x="34" y="96"/>
                  </a:lnTo>
                  <a:lnTo>
                    <a:pt x="34" y="48"/>
                  </a:lnTo>
                  <a:lnTo>
                    <a:pt x="0" y="4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96" name="Freeform 411">
              <a:extLst>
                <a:ext uri="{FF2B5EF4-FFF2-40B4-BE49-F238E27FC236}">
                  <a16:creationId xmlns:a16="http://schemas.microsoft.com/office/drawing/2014/main" id="{15E2F1C2-2E3F-45BA-A203-5B8FB1388079}"/>
                </a:ext>
              </a:extLst>
            </p:cNvPr>
            <p:cNvSpPr>
              <a:spLocks/>
            </p:cNvSpPr>
            <p:nvPr>
              <p:custDataLst>
                <p:tags r:id="rId225"/>
              </p:custDataLst>
            </p:nvPr>
          </p:nvSpPr>
          <p:spPr bwMode="auto">
            <a:xfrm>
              <a:off x="7875375" y="2894086"/>
              <a:ext cx="105555" cy="70370"/>
            </a:xfrm>
            <a:custGeom>
              <a:avLst/>
              <a:gdLst>
                <a:gd name="T0" fmla="*/ 3149 w 121"/>
                <a:gd name="T1" fmla="*/ 12543 h 81"/>
                <a:gd name="T2" fmla="*/ 3149 w 121"/>
                <a:gd name="T3" fmla="*/ 12543 h 81"/>
                <a:gd name="T4" fmla="*/ 0 w 121"/>
                <a:gd name="T5" fmla="*/ 9407 h 81"/>
                <a:gd name="T6" fmla="*/ 0 w 121"/>
                <a:gd name="T7" fmla="*/ 3136 h 81"/>
                <a:gd name="T8" fmla="*/ 3149 w 121"/>
                <a:gd name="T9" fmla="*/ 0 h 81"/>
                <a:gd name="T10" fmla="*/ 10233 w 121"/>
                <a:gd name="T11" fmla="*/ 0 h 81"/>
                <a:gd name="T12" fmla="*/ 23616 w 121"/>
                <a:gd name="T13" fmla="*/ 0 h 81"/>
                <a:gd name="T14" fmla="*/ 20467 w 121"/>
                <a:gd name="T15" fmla="*/ 3136 h 81"/>
                <a:gd name="T16" fmla="*/ 16531 w 121"/>
                <a:gd name="T17" fmla="*/ 3136 h 81"/>
                <a:gd name="T18" fmla="*/ 20467 w 121"/>
                <a:gd name="T19" fmla="*/ 12543 h 81"/>
                <a:gd name="T20" fmla="*/ 20467 w 121"/>
                <a:gd name="T21" fmla="*/ 15679 h 81"/>
                <a:gd name="T22" fmla="*/ 13382 w 121"/>
                <a:gd name="T23" fmla="*/ 15679 h 81"/>
                <a:gd name="T24" fmla="*/ 6298 w 121"/>
                <a:gd name="T25" fmla="*/ 12543 h 81"/>
                <a:gd name="T26" fmla="*/ 3149 w 121"/>
                <a:gd name="T27" fmla="*/ 12543 h 8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1"/>
                <a:gd name="T43" fmla="*/ 0 h 81"/>
                <a:gd name="T44" fmla="*/ 121 w 121"/>
                <a:gd name="T45" fmla="*/ 81 h 8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1" h="81">
                  <a:moveTo>
                    <a:pt x="17" y="66"/>
                  </a:moveTo>
                  <a:lnTo>
                    <a:pt x="17" y="66"/>
                  </a:lnTo>
                  <a:lnTo>
                    <a:pt x="0" y="48"/>
                  </a:lnTo>
                  <a:lnTo>
                    <a:pt x="0" y="18"/>
                  </a:lnTo>
                  <a:lnTo>
                    <a:pt x="17" y="0"/>
                  </a:lnTo>
                  <a:lnTo>
                    <a:pt x="52" y="0"/>
                  </a:lnTo>
                  <a:lnTo>
                    <a:pt x="121" y="0"/>
                  </a:lnTo>
                  <a:lnTo>
                    <a:pt x="104" y="18"/>
                  </a:lnTo>
                  <a:lnTo>
                    <a:pt x="86" y="18"/>
                  </a:lnTo>
                  <a:lnTo>
                    <a:pt x="104" y="66"/>
                  </a:lnTo>
                  <a:lnTo>
                    <a:pt x="104" y="81"/>
                  </a:lnTo>
                  <a:lnTo>
                    <a:pt x="69" y="81"/>
                  </a:lnTo>
                  <a:lnTo>
                    <a:pt x="34" y="66"/>
                  </a:lnTo>
                  <a:lnTo>
                    <a:pt x="17" y="6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97" name="Freeform 412">
              <a:extLst>
                <a:ext uri="{FF2B5EF4-FFF2-40B4-BE49-F238E27FC236}">
                  <a16:creationId xmlns:a16="http://schemas.microsoft.com/office/drawing/2014/main" id="{2232D894-E98E-40DD-A958-F179E11386C8}"/>
                </a:ext>
              </a:extLst>
            </p:cNvPr>
            <p:cNvSpPr>
              <a:spLocks/>
            </p:cNvSpPr>
            <p:nvPr>
              <p:custDataLst>
                <p:tags r:id="rId226"/>
              </p:custDataLst>
            </p:nvPr>
          </p:nvSpPr>
          <p:spPr bwMode="auto">
            <a:xfrm>
              <a:off x="7929911" y="3302233"/>
              <a:ext cx="91481" cy="98518"/>
            </a:xfrm>
            <a:custGeom>
              <a:avLst/>
              <a:gdLst>
                <a:gd name="T0" fmla="*/ 0 w 104"/>
                <a:gd name="T1" fmla="*/ 3204 h 111"/>
                <a:gd name="T2" fmla="*/ 0 w 104"/>
                <a:gd name="T3" fmla="*/ 3204 h 111"/>
                <a:gd name="T4" fmla="*/ 3969 w 104"/>
                <a:gd name="T5" fmla="*/ 3204 h 111"/>
                <a:gd name="T6" fmla="*/ 10319 w 104"/>
                <a:gd name="T7" fmla="*/ 12814 h 111"/>
                <a:gd name="T8" fmla="*/ 10319 w 104"/>
                <a:gd name="T9" fmla="*/ 22425 h 111"/>
                <a:gd name="T10" fmla="*/ 14288 w 104"/>
                <a:gd name="T11" fmla="*/ 16018 h 111"/>
                <a:gd name="T12" fmla="*/ 20638 w 104"/>
                <a:gd name="T13" fmla="*/ 16018 h 111"/>
                <a:gd name="T14" fmla="*/ 20638 w 104"/>
                <a:gd name="T15" fmla="*/ 12814 h 111"/>
                <a:gd name="T16" fmla="*/ 17463 w 104"/>
                <a:gd name="T17" fmla="*/ 6407 h 111"/>
                <a:gd name="T18" fmla="*/ 17463 w 104"/>
                <a:gd name="T19" fmla="*/ 3204 h 111"/>
                <a:gd name="T20" fmla="*/ 7144 w 104"/>
                <a:gd name="T21" fmla="*/ 0 h 111"/>
                <a:gd name="T22" fmla="*/ 0 w 104"/>
                <a:gd name="T23" fmla="*/ 3204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4"/>
                <a:gd name="T37" fmla="*/ 0 h 111"/>
                <a:gd name="T38" fmla="*/ 104 w 104"/>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4" h="111">
                  <a:moveTo>
                    <a:pt x="0" y="15"/>
                  </a:moveTo>
                  <a:lnTo>
                    <a:pt x="0" y="15"/>
                  </a:lnTo>
                  <a:lnTo>
                    <a:pt x="17" y="15"/>
                  </a:lnTo>
                  <a:lnTo>
                    <a:pt x="52" y="63"/>
                  </a:lnTo>
                  <a:lnTo>
                    <a:pt x="52" y="111"/>
                  </a:lnTo>
                  <a:lnTo>
                    <a:pt x="69" y="80"/>
                  </a:lnTo>
                  <a:lnTo>
                    <a:pt x="104" y="80"/>
                  </a:lnTo>
                  <a:lnTo>
                    <a:pt x="104" y="63"/>
                  </a:lnTo>
                  <a:lnTo>
                    <a:pt x="86" y="32"/>
                  </a:lnTo>
                  <a:lnTo>
                    <a:pt x="86" y="15"/>
                  </a:lnTo>
                  <a:lnTo>
                    <a:pt x="35" y="0"/>
                  </a:lnTo>
                  <a:lnTo>
                    <a:pt x="0" y="1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98" name="Freeform 413">
              <a:extLst>
                <a:ext uri="{FF2B5EF4-FFF2-40B4-BE49-F238E27FC236}">
                  <a16:creationId xmlns:a16="http://schemas.microsoft.com/office/drawing/2014/main" id="{43C48329-110A-4447-A190-DD08DEACD5D1}"/>
                </a:ext>
              </a:extLst>
            </p:cNvPr>
            <p:cNvSpPr>
              <a:spLocks/>
            </p:cNvSpPr>
            <p:nvPr>
              <p:custDataLst>
                <p:tags r:id="rId227"/>
              </p:custDataLst>
            </p:nvPr>
          </p:nvSpPr>
          <p:spPr bwMode="auto">
            <a:xfrm>
              <a:off x="7776857" y="3316307"/>
              <a:ext cx="230463" cy="154814"/>
            </a:xfrm>
            <a:custGeom>
              <a:avLst/>
              <a:gdLst>
                <a:gd name="T0" fmla="*/ 7171 w 261"/>
                <a:gd name="T1" fmla="*/ 25257 h 177"/>
                <a:gd name="T2" fmla="*/ 7171 w 261"/>
                <a:gd name="T3" fmla="*/ 25257 h 177"/>
                <a:gd name="T4" fmla="*/ 14342 w 261"/>
                <a:gd name="T5" fmla="*/ 25257 h 177"/>
                <a:gd name="T6" fmla="*/ 14342 w 261"/>
                <a:gd name="T7" fmla="*/ 28414 h 177"/>
                <a:gd name="T8" fmla="*/ 17529 w 261"/>
                <a:gd name="T9" fmla="*/ 31571 h 177"/>
                <a:gd name="T10" fmla="*/ 20717 w 261"/>
                <a:gd name="T11" fmla="*/ 31571 h 177"/>
                <a:gd name="T12" fmla="*/ 31075 w 261"/>
                <a:gd name="T13" fmla="*/ 34728 h 177"/>
                <a:gd name="T14" fmla="*/ 38246 w 261"/>
                <a:gd name="T15" fmla="*/ 28414 h 177"/>
                <a:gd name="T16" fmla="*/ 48604 w 261"/>
                <a:gd name="T17" fmla="*/ 31571 h 177"/>
                <a:gd name="T18" fmla="*/ 48604 w 261"/>
                <a:gd name="T19" fmla="*/ 28414 h 177"/>
                <a:gd name="T20" fmla="*/ 52588 w 261"/>
                <a:gd name="T21" fmla="*/ 25257 h 177"/>
                <a:gd name="T22" fmla="*/ 52588 w 261"/>
                <a:gd name="T23" fmla="*/ 22099 h 177"/>
                <a:gd name="T24" fmla="*/ 45417 w 261"/>
                <a:gd name="T25" fmla="*/ 22099 h 177"/>
                <a:gd name="T26" fmla="*/ 45417 w 261"/>
                <a:gd name="T27" fmla="*/ 18942 h 177"/>
                <a:gd name="T28" fmla="*/ 45417 w 261"/>
                <a:gd name="T29" fmla="*/ 9471 h 177"/>
                <a:gd name="T30" fmla="*/ 38246 w 261"/>
                <a:gd name="T31" fmla="*/ 0 h 177"/>
                <a:gd name="T32" fmla="*/ 35059 w 261"/>
                <a:gd name="T33" fmla="*/ 0 h 177"/>
                <a:gd name="T34" fmla="*/ 27888 w 261"/>
                <a:gd name="T35" fmla="*/ 3157 h 177"/>
                <a:gd name="T36" fmla="*/ 24701 w 261"/>
                <a:gd name="T37" fmla="*/ 3157 h 177"/>
                <a:gd name="T38" fmla="*/ 14342 w 261"/>
                <a:gd name="T39" fmla="*/ 3157 h 177"/>
                <a:gd name="T40" fmla="*/ 10358 w 261"/>
                <a:gd name="T41" fmla="*/ 3157 h 177"/>
                <a:gd name="T42" fmla="*/ 7171 w 261"/>
                <a:gd name="T43" fmla="*/ 15785 h 177"/>
                <a:gd name="T44" fmla="*/ 0 w 261"/>
                <a:gd name="T45" fmla="*/ 15785 h 177"/>
                <a:gd name="T46" fmla="*/ 7171 w 261"/>
                <a:gd name="T47" fmla="*/ 25257 h 17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61"/>
                <a:gd name="T73" fmla="*/ 0 h 177"/>
                <a:gd name="T74" fmla="*/ 261 w 261"/>
                <a:gd name="T75" fmla="*/ 177 h 17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61" h="177">
                  <a:moveTo>
                    <a:pt x="35" y="129"/>
                  </a:moveTo>
                  <a:lnTo>
                    <a:pt x="35" y="129"/>
                  </a:lnTo>
                  <a:lnTo>
                    <a:pt x="69" y="129"/>
                  </a:lnTo>
                  <a:lnTo>
                    <a:pt x="69" y="144"/>
                  </a:lnTo>
                  <a:lnTo>
                    <a:pt x="87" y="161"/>
                  </a:lnTo>
                  <a:lnTo>
                    <a:pt x="104" y="161"/>
                  </a:lnTo>
                  <a:lnTo>
                    <a:pt x="156" y="177"/>
                  </a:lnTo>
                  <a:lnTo>
                    <a:pt x="190" y="144"/>
                  </a:lnTo>
                  <a:lnTo>
                    <a:pt x="244" y="161"/>
                  </a:lnTo>
                  <a:lnTo>
                    <a:pt x="244" y="144"/>
                  </a:lnTo>
                  <a:lnTo>
                    <a:pt x="261" y="129"/>
                  </a:lnTo>
                  <a:lnTo>
                    <a:pt x="261" y="113"/>
                  </a:lnTo>
                  <a:lnTo>
                    <a:pt x="227" y="113"/>
                  </a:lnTo>
                  <a:lnTo>
                    <a:pt x="227" y="96"/>
                  </a:lnTo>
                  <a:lnTo>
                    <a:pt x="227" y="48"/>
                  </a:lnTo>
                  <a:lnTo>
                    <a:pt x="190" y="0"/>
                  </a:lnTo>
                  <a:lnTo>
                    <a:pt x="173" y="0"/>
                  </a:lnTo>
                  <a:lnTo>
                    <a:pt x="139" y="17"/>
                  </a:lnTo>
                  <a:lnTo>
                    <a:pt x="121" y="17"/>
                  </a:lnTo>
                  <a:lnTo>
                    <a:pt x="69" y="17"/>
                  </a:lnTo>
                  <a:lnTo>
                    <a:pt x="52" y="17"/>
                  </a:lnTo>
                  <a:lnTo>
                    <a:pt x="35" y="81"/>
                  </a:lnTo>
                  <a:lnTo>
                    <a:pt x="0" y="81"/>
                  </a:lnTo>
                  <a:lnTo>
                    <a:pt x="35" y="129"/>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299" name="Freeform 414">
              <a:extLst>
                <a:ext uri="{FF2B5EF4-FFF2-40B4-BE49-F238E27FC236}">
                  <a16:creationId xmlns:a16="http://schemas.microsoft.com/office/drawing/2014/main" id="{E3872257-A9EE-4D80-9BC9-2BA7FBDF6D75}"/>
                </a:ext>
              </a:extLst>
            </p:cNvPr>
            <p:cNvSpPr>
              <a:spLocks/>
            </p:cNvSpPr>
            <p:nvPr>
              <p:custDataLst>
                <p:tags r:id="rId228"/>
              </p:custDataLst>
            </p:nvPr>
          </p:nvSpPr>
          <p:spPr bwMode="auto">
            <a:xfrm>
              <a:off x="7776857" y="3527417"/>
              <a:ext cx="153056" cy="112592"/>
            </a:xfrm>
            <a:custGeom>
              <a:avLst/>
              <a:gdLst>
                <a:gd name="T0" fmla="*/ 6314 w 175"/>
                <a:gd name="T1" fmla="*/ 3175 h 128"/>
                <a:gd name="T2" fmla="*/ 6314 w 175"/>
                <a:gd name="T3" fmla="*/ 3175 h 128"/>
                <a:gd name="T4" fmla="*/ 17363 w 175"/>
                <a:gd name="T5" fmla="*/ 0 h 128"/>
                <a:gd name="T6" fmla="*/ 23677 w 175"/>
                <a:gd name="T7" fmla="*/ 0 h 128"/>
                <a:gd name="T8" fmla="*/ 30779 w 175"/>
                <a:gd name="T9" fmla="*/ 3175 h 128"/>
                <a:gd name="T10" fmla="*/ 33936 w 175"/>
                <a:gd name="T11" fmla="*/ 0 h 128"/>
                <a:gd name="T12" fmla="*/ 30779 w 175"/>
                <a:gd name="T13" fmla="*/ 6350 h 128"/>
                <a:gd name="T14" fmla="*/ 23677 w 175"/>
                <a:gd name="T15" fmla="*/ 3175 h 128"/>
                <a:gd name="T16" fmla="*/ 20520 w 175"/>
                <a:gd name="T17" fmla="*/ 6350 h 128"/>
                <a:gd name="T18" fmla="*/ 20520 w 175"/>
                <a:gd name="T19" fmla="*/ 9525 h 128"/>
                <a:gd name="T20" fmla="*/ 17363 w 175"/>
                <a:gd name="T21" fmla="*/ 9525 h 128"/>
                <a:gd name="T22" fmla="*/ 13417 w 175"/>
                <a:gd name="T23" fmla="*/ 6350 h 128"/>
                <a:gd name="T24" fmla="*/ 13417 w 175"/>
                <a:gd name="T25" fmla="*/ 9525 h 128"/>
                <a:gd name="T26" fmla="*/ 17363 w 175"/>
                <a:gd name="T27" fmla="*/ 15875 h 128"/>
                <a:gd name="T28" fmla="*/ 23677 w 175"/>
                <a:gd name="T29" fmla="*/ 22225 h 128"/>
                <a:gd name="T30" fmla="*/ 20520 w 175"/>
                <a:gd name="T31" fmla="*/ 22225 h 128"/>
                <a:gd name="T32" fmla="*/ 20520 w 175"/>
                <a:gd name="T33" fmla="*/ 25400 h 128"/>
                <a:gd name="T34" fmla="*/ 13417 w 175"/>
                <a:gd name="T35" fmla="*/ 22225 h 128"/>
                <a:gd name="T36" fmla="*/ 6314 w 175"/>
                <a:gd name="T37" fmla="*/ 22225 h 128"/>
                <a:gd name="T38" fmla="*/ 0 w 175"/>
                <a:gd name="T39" fmla="*/ 12700 h 128"/>
                <a:gd name="T40" fmla="*/ 6314 w 175"/>
                <a:gd name="T41" fmla="*/ 6350 h 128"/>
                <a:gd name="T42" fmla="*/ 6314 w 175"/>
                <a:gd name="T43" fmla="*/ 3175 h 12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5"/>
                <a:gd name="T67" fmla="*/ 0 h 128"/>
                <a:gd name="T68" fmla="*/ 175 w 175"/>
                <a:gd name="T69" fmla="*/ 128 h 12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5" h="128">
                  <a:moveTo>
                    <a:pt x="35" y="17"/>
                  </a:moveTo>
                  <a:lnTo>
                    <a:pt x="35" y="17"/>
                  </a:lnTo>
                  <a:lnTo>
                    <a:pt x="89" y="0"/>
                  </a:lnTo>
                  <a:lnTo>
                    <a:pt x="123" y="0"/>
                  </a:lnTo>
                  <a:lnTo>
                    <a:pt x="158" y="17"/>
                  </a:lnTo>
                  <a:lnTo>
                    <a:pt x="175" y="0"/>
                  </a:lnTo>
                  <a:lnTo>
                    <a:pt x="158" y="33"/>
                  </a:lnTo>
                  <a:lnTo>
                    <a:pt x="123" y="17"/>
                  </a:lnTo>
                  <a:lnTo>
                    <a:pt x="106" y="33"/>
                  </a:lnTo>
                  <a:lnTo>
                    <a:pt x="106" y="48"/>
                  </a:lnTo>
                  <a:lnTo>
                    <a:pt x="89" y="48"/>
                  </a:lnTo>
                  <a:lnTo>
                    <a:pt x="69" y="33"/>
                  </a:lnTo>
                  <a:lnTo>
                    <a:pt x="69" y="48"/>
                  </a:lnTo>
                  <a:lnTo>
                    <a:pt x="89" y="81"/>
                  </a:lnTo>
                  <a:lnTo>
                    <a:pt x="123" y="113"/>
                  </a:lnTo>
                  <a:lnTo>
                    <a:pt x="106" y="113"/>
                  </a:lnTo>
                  <a:lnTo>
                    <a:pt x="106" y="128"/>
                  </a:lnTo>
                  <a:lnTo>
                    <a:pt x="69" y="113"/>
                  </a:lnTo>
                  <a:lnTo>
                    <a:pt x="35" y="113"/>
                  </a:lnTo>
                  <a:lnTo>
                    <a:pt x="0" y="65"/>
                  </a:lnTo>
                  <a:lnTo>
                    <a:pt x="35" y="33"/>
                  </a:lnTo>
                  <a:lnTo>
                    <a:pt x="35"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00" name="Freeform 415">
              <a:extLst>
                <a:ext uri="{FF2B5EF4-FFF2-40B4-BE49-F238E27FC236}">
                  <a16:creationId xmlns:a16="http://schemas.microsoft.com/office/drawing/2014/main" id="{601A6B79-00A2-47C0-B596-390F02774414}"/>
                </a:ext>
              </a:extLst>
            </p:cNvPr>
            <p:cNvSpPr>
              <a:spLocks/>
            </p:cNvSpPr>
            <p:nvPr>
              <p:custDataLst>
                <p:tags r:id="rId229"/>
              </p:custDataLst>
            </p:nvPr>
          </p:nvSpPr>
          <p:spPr bwMode="auto">
            <a:xfrm>
              <a:off x="7840190" y="3442973"/>
              <a:ext cx="151296" cy="100278"/>
            </a:xfrm>
            <a:custGeom>
              <a:avLst/>
              <a:gdLst>
                <a:gd name="T0" fmla="*/ 33934 w 173"/>
                <a:gd name="T1" fmla="*/ 4004 h 113"/>
                <a:gd name="T2" fmla="*/ 33934 w 173"/>
                <a:gd name="T3" fmla="*/ 4004 h 113"/>
                <a:gd name="T4" fmla="*/ 33934 w 173"/>
                <a:gd name="T5" fmla="*/ 7207 h 113"/>
                <a:gd name="T6" fmla="*/ 30777 w 173"/>
                <a:gd name="T7" fmla="*/ 7207 h 113"/>
                <a:gd name="T8" fmla="*/ 26832 w 173"/>
                <a:gd name="T9" fmla="*/ 13613 h 113"/>
                <a:gd name="T10" fmla="*/ 30777 w 173"/>
                <a:gd name="T11" fmla="*/ 16816 h 113"/>
                <a:gd name="T12" fmla="*/ 23675 w 173"/>
                <a:gd name="T13" fmla="*/ 16816 h 113"/>
                <a:gd name="T14" fmla="*/ 20518 w 173"/>
                <a:gd name="T15" fmla="*/ 19219 h 113"/>
                <a:gd name="T16" fmla="*/ 16572 w 173"/>
                <a:gd name="T17" fmla="*/ 23223 h 113"/>
                <a:gd name="T18" fmla="*/ 10259 w 173"/>
                <a:gd name="T19" fmla="*/ 19219 h 113"/>
                <a:gd name="T20" fmla="*/ 3157 w 173"/>
                <a:gd name="T21" fmla="*/ 19219 h 113"/>
                <a:gd name="T22" fmla="*/ 3157 w 173"/>
                <a:gd name="T23" fmla="*/ 16816 h 113"/>
                <a:gd name="T24" fmla="*/ 0 w 173"/>
                <a:gd name="T25" fmla="*/ 13613 h 113"/>
                <a:gd name="T26" fmla="*/ 3157 w 173"/>
                <a:gd name="T27" fmla="*/ 9609 h 113"/>
                <a:gd name="T28" fmla="*/ 0 w 173"/>
                <a:gd name="T29" fmla="*/ 4004 h 113"/>
                <a:gd name="T30" fmla="*/ 0 w 173"/>
                <a:gd name="T31" fmla="*/ 0 h 113"/>
                <a:gd name="T32" fmla="*/ 3157 w 173"/>
                <a:gd name="T33" fmla="*/ 4004 h 113"/>
                <a:gd name="T34" fmla="*/ 6313 w 173"/>
                <a:gd name="T35" fmla="*/ 4004 h 113"/>
                <a:gd name="T36" fmla="*/ 16572 w 173"/>
                <a:gd name="T37" fmla="*/ 7207 h 113"/>
                <a:gd name="T38" fmla="*/ 23675 w 173"/>
                <a:gd name="T39" fmla="*/ 0 h 113"/>
                <a:gd name="T40" fmla="*/ 33934 w 173"/>
                <a:gd name="T41" fmla="*/ 4004 h 1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3"/>
                <a:gd name="T64" fmla="*/ 0 h 113"/>
                <a:gd name="T65" fmla="*/ 173 w 173"/>
                <a:gd name="T66" fmla="*/ 113 h 11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3" h="113">
                  <a:moveTo>
                    <a:pt x="173" y="17"/>
                  </a:moveTo>
                  <a:lnTo>
                    <a:pt x="173" y="17"/>
                  </a:lnTo>
                  <a:lnTo>
                    <a:pt x="173" y="33"/>
                  </a:lnTo>
                  <a:lnTo>
                    <a:pt x="156" y="33"/>
                  </a:lnTo>
                  <a:lnTo>
                    <a:pt x="139" y="65"/>
                  </a:lnTo>
                  <a:lnTo>
                    <a:pt x="156" y="81"/>
                  </a:lnTo>
                  <a:lnTo>
                    <a:pt x="121" y="81"/>
                  </a:lnTo>
                  <a:lnTo>
                    <a:pt x="104" y="96"/>
                  </a:lnTo>
                  <a:lnTo>
                    <a:pt x="87" y="113"/>
                  </a:lnTo>
                  <a:lnTo>
                    <a:pt x="52" y="96"/>
                  </a:lnTo>
                  <a:lnTo>
                    <a:pt x="18" y="96"/>
                  </a:lnTo>
                  <a:lnTo>
                    <a:pt x="18" y="81"/>
                  </a:lnTo>
                  <a:lnTo>
                    <a:pt x="0" y="65"/>
                  </a:lnTo>
                  <a:lnTo>
                    <a:pt x="18" y="48"/>
                  </a:lnTo>
                  <a:lnTo>
                    <a:pt x="0" y="17"/>
                  </a:lnTo>
                  <a:lnTo>
                    <a:pt x="0" y="0"/>
                  </a:lnTo>
                  <a:lnTo>
                    <a:pt x="18" y="17"/>
                  </a:lnTo>
                  <a:lnTo>
                    <a:pt x="35" y="17"/>
                  </a:lnTo>
                  <a:lnTo>
                    <a:pt x="87" y="33"/>
                  </a:lnTo>
                  <a:lnTo>
                    <a:pt x="121" y="0"/>
                  </a:lnTo>
                  <a:lnTo>
                    <a:pt x="173" y="1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01" name="Freeform 416">
              <a:extLst>
                <a:ext uri="{FF2B5EF4-FFF2-40B4-BE49-F238E27FC236}">
                  <a16:creationId xmlns:a16="http://schemas.microsoft.com/office/drawing/2014/main" id="{CBE63F8D-A52F-4433-91E4-FB2202D525EA}"/>
                </a:ext>
              </a:extLst>
            </p:cNvPr>
            <p:cNvSpPr>
              <a:spLocks/>
            </p:cNvSpPr>
            <p:nvPr>
              <p:custDataLst>
                <p:tags r:id="rId230"/>
              </p:custDataLst>
            </p:nvPr>
          </p:nvSpPr>
          <p:spPr bwMode="auto">
            <a:xfrm>
              <a:off x="7639635" y="3078808"/>
              <a:ext cx="228703" cy="211110"/>
            </a:xfrm>
            <a:custGeom>
              <a:avLst/>
              <a:gdLst>
                <a:gd name="T0" fmla="*/ 44622 w 259"/>
                <a:gd name="T1" fmla="*/ 47824 h 239"/>
                <a:gd name="T2" fmla="*/ 44622 w 259"/>
                <a:gd name="T3" fmla="*/ 47824 h 239"/>
                <a:gd name="T4" fmla="*/ 48606 w 259"/>
                <a:gd name="T5" fmla="*/ 41448 h 239"/>
                <a:gd name="T6" fmla="*/ 51793 w 259"/>
                <a:gd name="T7" fmla="*/ 38259 h 239"/>
                <a:gd name="T8" fmla="*/ 48606 w 259"/>
                <a:gd name="T9" fmla="*/ 28695 h 239"/>
                <a:gd name="T10" fmla="*/ 48606 w 259"/>
                <a:gd name="T11" fmla="*/ 22318 h 239"/>
                <a:gd name="T12" fmla="*/ 51793 w 259"/>
                <a:gd name="T13" fmla="*/ 15941 h 239"/>
                <a:gd name="T14" fmla="*/ 48606 w 259"/>
                <a:gd name="T15" fmla="*/ 9565 h 239"/>
                <a:gd name="T16" fmla="*/ 44622 w 259"/>
                <a:gd name="T17" fmla="*/ 6377 h 239"/>
                <a:gd name="T18" fmla="*/ 38247 w 259"/>
                <a:gd name="T19" fmla="*/ 6377 h 239"/>
                <a:gd name="T20" fmla="*/ 27889 w 259"/>
                <a:gd name="T21" fmla="*/ 3188 h 239"/>
                <a:gd name="T22" fmla="*/ 27889 w 259"/>
                <a:gd name="T23" fmla="*/ 6377 h 239"/>
                <a:gd name="T24" fmla="*/ 24701 w 259"/>
                <a:gd name="T25" fmla="*/ 6377 h 239"/>
                <a:gd name="T26" fmla="*/ 20717 w 259"/>
                <a:gd name="T27" fmla="*/ 0 h 239"/>
                <a:gd name="T28" fmla="*/ 0 w 259"/>
                <a:gd name="T29" fmla="*/ 9565 h 239"/>
                <a:gd name="T30" fmla="*/ 3984 w 259"/>
                <a:gd name="T31" fmla="*/ 35071 h 239"/>
                <a:gd name="T32" fmla="*/ 3984 w 259"/>
                <a:gd name="T33" fmla="*/ 31883 h 239"/>
                <a:gd name="T34" fmla="*/ 7171 w 259"/>
                <a:gd name="T35" fmla="*/ 35071 h 239"/>
                <a:gd name="T36" fmla="*/ 14343 w 259"/>
                <a:gd name="T37" fmla="*/ 38259 h 239"/>
                <a:gd name="T38" fmla="*/ 17530 w 259"/>
                <a:gd name="T39" fmla="*/ 38259 h 239"/>
                <a:gd name="T40" fmla="*/ 24701 w 259"/>
                <a:gd name="T41" fmla="*/ 44636 h 239"/>
                <a:gd name="T42" fmla="*/ 27889 w 259"/>
                <a:gd name="T43" fmla="*/ 44636 h 239"/>
                <a:gd name="T44" fmla="*/ 31076 w 259"/>
                <a:gd name="T45" fmla="*/ 47824 h 239"/>
                <a:gd name="T46" fmla="*/ 38247 w 259"/>
                <a:gd name="T47" fmla="*/ 44636 h 239"/>
                <a:gd name="T48" fmla="*/ 44622 w 259"/>
                <a:gd name="T49" fmla="*/ 47824 h 2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9"/>
                <a:gd name="T76" fmla="*/ 0 h 239"/>
                <a:gd name="T77" fmla="*/ 259 w 259"/>
                <a:gd name="T78" fmla="*/ 239 h 2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9" h="239">
                  <a:moveTo>
                    <a:pt x="224" y="239"/>
                  </a:moveTo>
                  <a:lnTo>
                    <a:pt x="224" y="239"/>
                  </a:lnTo>
                  <a:lnTo>
                    <a:pt x="242" y="207"/>
                  </a:lnTo>
                  <a:lnTo>
                    <a:pt x="259" y="191"/>
                  </a:lnTo>
                  <a:lnTo>
                    <a:pt x="242" y="143"/>
                  </a:lnTo>
                  <a:lnTo>
                    <a:pt x="242" y="111"/>
                  </a:lnTo>
                  <a:lnTo>
                    <a:pt x="259" y="78"/>
                  </a:lnTo>
                  <a:lnTo>
                    <a:pt x="242" y="47"/>
                  </a:lnTo>
                  <a:lnTo>
                    <a:pt x="224" y="30"/>
                  </a:lnTo>
                  <a:lnTo>
                    <a:pt x="190" y="30"/>
                  </a:lnTo>
                  <a:lnTo>
                    <a:pt x="138" y="15"/>
                  </a:lnTo>
                  <a:lnTo>
                    <a:pt x="138" y="30"/>
                  </a:lnTo>
                  <a:lnTo>
                    <a:pt x="121" y="30"/>
                  </a:lnTo>
                  <a:lnTo>
                    <a:pt x="103" y="0"/>
                  </a:lnTo>
                  <a:lnTo>
                    <a:pt x="0" y="47"/>
                  </a:lnTo>
                  <a:lnTo>
                    <a:pt x="17" y="174"/>
                  </a:lnTo>
                  <a:lnTo>
                    <a:pt x="17" y="159"/>
                  </a:lnTo>
                  <a:lnTo>
                    <a:pt x="34" y="174"/>
                  </a:lnTo>
                  <a:lnTo>
                    <a:pt x="69" y="191"/>
                  </a:lnTo>
                  <a:lnTo>
                    <a:pt x="86" y="191"/>
                  </a:lnTo>
                  <a:lnTo>
                    <a:pt x="121" y="222"/>
                  </a:lnTo>
                  <a:lnTo>
                    <a:pt x="138" y="222"/>
                  </a:lnTo>
                  <a:lnTo>
                    <a:pt x="155" y="239"/>
                  </a:lnTo>
                  <a:lnTo>
                    <a:pt x="190" y="222"/>
                  </a:lnTo>
                  <a:lnTo>
                    <a:pt x="224" y="239"/>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02" name="Freeform 417">
              <a:extLst>
                <a:ext uri="{FF2B5EF4-FFF2-40B4-BE49-F238E27FC236}">
                  <a16:creationId xmlns:a16="http://schemas.microsoft.com/office/drawing/2014/main" id="{35915220-CA70-4B44-8DE3-D5A3B5F4D5A3}"/>
                </a:ext>
              </a:extLst>
            </p:cNvPr>
            <p:cNvSpPr>
              <a:spLocks/>
            </p:cNvSpPr>
            <p:nvPr>
              <p:custDataLst>
                <p:tags r:id="rId231"/>
              </p:custDataLst>
            </p:nvPr>
          </p:nvSpPr>
          <p:spPr bwMode="auto">
            <a:xfrm>
              <a:off x="7762783" y="3501029"/>
              <a:ext cx="45741" cy="84444"/>
            </a:xfrm>
            <a:custGeom>
              <a:avLst/>
              <a:gdLst>
                <a:gd name="T0" fmla="*/ 0 w 52"/>
                <a:gd name="T1" fmla="*/ 0 h 96"/>
                <a:gd name="T2" fmla="*/ 0 w 52"/>
                <a:gd name="T3" fmla="*/ 0 h 96"/>
                <a:gd name="T4" fmla="*/ 3969 w 52"/>
                <a:gd name="T5" fmla="*/ 0 h 96"/>
                <a:gd name="T6" fmla="*/ 7144 w 52"/>
                <a:gd name="T7" fmla="*/ 3175 h 96"/>
                <a:gd name="T8" fmla="*/ 7144 w 52"/>
                <a:gd name="T9" fmla="*/ 5556 h 96"/>
                <a:gd name="T10" fmla="*/ 10319 w 52"/>
                <a:gd name="T11" fmla="*/ 9525 h 96"/>
                <a:gd name="T12" fmla="*/ 10319 w 52"/>
                <a:gd name="T13" fmla="*/ 12700 h 96"/>
                <a:gd name="T14" fmla="*/ 3969 w 52"/>
                <a:gd name="T15" fmla="*/ 19050 h 96"/>
                <a:gd name="T16" fmla="*/ 0 w 52"/>
                <a:gd name="T17" fmla="*/ 15875 h 96"/>
                <a:gd name="T18" fmla="*/ 0 w 52"/>
                <a:gd name="T19" fmla="*/ 5556 h 96"/>
                <a:gd name="T20" fmla="*/ 0 w 52"/>
                <a:gd name="T21" fmla="*/ 3175 h 96"/>
                <a:gd name="T22" fmla="*/ 0 w 52"/>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2"/>
                <a:gd name="T37" fmla="*/ 0 h 96"/>
                <a:gd name="T38" fmla="*/ 52 w 52"/>
                <a:gd name="T39" fmla="*/ 96 h 9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2" h="96">
                  <a:moveTo>
                    <a:pt x="0" y="0"/>
                  </a:moveTo>
                  <a:lnTo>
                    <a:pt x="0" y="0"/>
                  </a:lnTo>
                  <a:lnTo>
                    <a:pt x="17" y="0"/>
                  </a:lnTo>
                  <a:lnTo>
                    <a:pt x="34" y="16"/>
                  </a:lnTo>
                  <a:lnTo>
                    <a:pt x="34" y="31"/>
                  </a:lnTo>
                  <a:lnTo>
                    <a:pt x="52" y="48"/>
                  </a:lnTo>
                  <a:lnTo>
                    <a:pt x="52" y="64"/>
                  </a:lnTo>
                  <a:lnTo>
                    <a:pt x="17" y="96"/>
                  </a:lnTo>
                  <a:lnTo>
                    <a:pt x="0" y="79"/>
                  </a:lnTo>
                  <a:lnTo>
                    <a:pt x="0" y="31"/>
                  </a:lnTo>
                  <a:lnTo>
                    <a:pt x="0" y="16"/>
                  </a:lnTo>
                  <a:lnTo>
                    <a:pt x="0"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03" name="Freeform 418">
              <a:extLst>
                <a:ext uri="{FF2B5EF4-FFF2-40B4-BE49-F238E27FC236}">
                  <a16:creationId xmlns:a16="http://schemas.microsoft.com/office/drawing/2014/main" id="{7CD335C5-990A-4E37-BD78-2DC2B8E6D38D}"/>
                </a:ext>
              </a:extLst>
            </p:cNvPr>
            <p:cNvSpPr>
              <a:spLocks/>
            </p:cNvSpPr>
            <p:nvPr>
              <p:custDataLst>
                <p:tags r:id="rId232"/>
              </p:custDataLst>
            </p:nvPr>
          </p:nvSpPr>
          <p:spPr bwMode="auto">
            <a:xfrm>
              <a:off x="7685375" y="3302233"/>
              <a:ext cx="154814" cy="98518"/>
            </a:xfrm>
            <a:custGeom>
              <a:avLst/>
              <a:gdLst>
                <a:gd name="T0" fmla="*/ 14452 w 174"/>
                <a:gd name="T1" fmla="*/ 22425 h 111"/>
                <a:gd name="T2" fmla="*/ 14452 w 174"/>
                <a:gd name="T3" fmla="*/ 22425 h 111"/>
                <a:gd name="T4" fmla="*/ 20875 w 174"/>
                <a:gd name="T5" fmla="*/ 19222 h 111"/>
                <a:gd name="T6" fmla="*/ 28903 w 174"/>
                <a:gd name="T7" fmla="*/ 19222 h 111"/>
                <a:gd name="T8" fmla="*/ 32115 w 174"/>
                <a:gd name="T9" fmla="*/ 6407 h 111"/>
                <a:gd name="T10" fmla="*/ 36129 w 174"/>
                <a:gd name="T11" fmla="*/ 6407 h 111"/>
                <a:gd name="T12" fmla="*/ 32115 w 174"/>
                <a:gd name="T13" fmla="*/ 3204 h 111"/>
                <a:gd name="T14" fmla="*/ 24889 w 174"/>
                <a:gd name="T15" fmla="*/ 0 h 111"/>
                <a:gd name="T16" fmla="*/ 10437 w 174"/>
                <a:gd name="T17" fmla="*/ 6407 h 111"/>
                <a:gd name="T18" fmla="*/ 4014 w 174"/>
                <a:gd name="T19" fmla="*/ 6407 h 111"/>
                <a:gd name="T20" fmla="*/ 0 w 174"/>
                <a:gd name="T21" fmla="*/ 12814 h 111"/>
                <a:gd name="T22" fmla="*/ 0 w 174"/>
                <a:gd name="T23" fmla="*/ 16018 h 111"/>
                <a:gd name="T24" fmla="*/ 10437 w 174"/>
                <a:gd name="T25" fmla="*/ 22425 h 111"/>
                <a:gd name="T26" fmla="*/ 14452 w 174"/>
                <a:gd name="T27" fmla="*/ 22425 h 1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4"/>
                <a:gd name="T43" fmla="*/ 0 h 111"/>
                <a:gd name="T44" fmla="*/ 174 w 174"/>
                <a:gd name="T45" fmla="*/ 111 h 11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4" h="111">
                  <a:moveTo>
                    <a:pt x="69" y="111"/>
                  </a:moveTo>
                  <a:lnTo>
                    <a:pt x="69" y="111"/>
                  </a:lnTo>
                  <a:lnTo>
                    <a:pt x="103" y="96"/>
                  </a:lnTo>
                  <a:lnTo>
                    <a:pt x="140" y="96"/>
                  </a:lnTo>
                  <a:lnTo>
                    <a:pt x="157" y="32"/>
                  </a:lnTo>
                  <a:lnTo>
                    <a:pt x="174" y="32"/>
                  </a:lnTo>
                  <a:lnTo>
                    <a:pt x="157" y="15"/>
                  </a:lnTo>
                  <a:lnTo>
                    <a:pt x="121" y="0"/>
                  </a:lnTo>
                  <a:lnTo>
                    <a:pt x="51" y="32"/>
                  </a:lnTo>
                  <a:lnTo>
                    <a:pt x="17" y="32"/>
                  </a:lnTo>
                  <a:lnTo>
                    <a:pt x="0" y="63"/>
                  </a:lnTo>
                  <a:lnTo>
                    <a:pt x="0" y="80"/>
                  </a:lnTo>
                  <a:lnTo>
                    <a:pt x="51" y="111"/>
                  </a:lnTo>
                  <a:lnTo>
                    <a:pt x="69" y="11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04" name="Freeform 419">
              <a:extLst>
                <a:ext uri="{FF2B5EF4-FFF2-40B4-BE49-F238E27FC236}">
                  <a16:creationId xmlns:a16="http://schemas.microsoft.com/office/drawing/2014/main" id="{1A8D2256-08E4-443E-B751-F75DB1A8D2BB}"/>
                </a:ext>
              </a:extLst>
            </p:cNvPr>
            <p:cNvSpPr>
              <a:spLocks/>
            </p:cNvSpPr>
            <p:nvPr>
              <p:custDataLst>
                <p:tags r:id="rId233"/>
              </p:custDataLst>
            </p:nvPr>
          </p:nvSpPr>
          <p:spPr bwMode="auto">
            <a:xfrm>
              <a:off x="7673060" y="3400751"/>
              <a:ext cx="89722" cy="84444"/>
            </a:xfrm>
            <a:custGeom>
              <a:avLst/>
              <a:gdLst>
                <a:gd name="T0" fmla="*/ 16348 w 104"/>
                <a:gd name="T1" fmla="*/ 19050 h 96"/>
                <a:gd name="T2" fmla="*/ 16348 w 104"/>
                <a:gd name="T3" fmla="*/ 19050 h 96"/>
                <a:gd name="T4" fmla="*/ 13234 w 104"/>
                <a:gd name="T5" fmla="*/ 19050 h 96"/>
                <a:gd name="T6" fmla="*/ 16348 w 104"/>
                <a:gd name="T7" fmla="*/ 16669 h 96"/>
                <a:gd name="T8" fmla="*/ 19462 w 104"/>
                <a:gd name="T9" fmla="*/ 16669 h 96"/>
                <a:gd name="T10" fmla="*/ 19462 w 104"/>
                <a:gd name="T11" fmla="*/ 13494 h 96"/>
                <a:gd name="T12" fmla="*/ 19462 w 104"/>
                <a:gd name="T13" fmla="*/ 9525 h 96"/>
                <a:gd name="T14" fmla="*/ 19462 w 104"/>
                <a:gd name="T15" fmla="*/ 7144 h 96"/>
                <a:gd name="T16" fmla="*/ 16348 w 104"/>
                <a:gd name="T17" fmla="*/ 7144 h 96"/>
                <a:gd name="T18" fmla="*/ 16348 w 104"/>
                <a:gd name="T19" fmla="*/ 3969 h 96"/>
                <a:gd name="T20" fmla="*/ 6228 w 104"/>
                <a:gd name="T21" fmla="*/ 0 h 96"/>
                <a:gd name="T22" fmla="*/ 3114 w 104"/>
                <a:gd name="T23" fmla="*/ 3969 h 96"/>
                <a:gd name="T24" fmla="*/ 3114 w 104"/>
                <a:gd name="T25" fmla="*/ 0 h 96"/>
                <a:gd name="T26" fmla="*/ 0 w 104"/>
                <a:gd name="T27" fmla="*/ 3969 h 96"/>
                <a:gd name="T28" fmla="*/ 3114 w 104"/>
                <a:gd name="T29" fmla="*/ 7144 h 96"/>
                <a:gd name="T30" fmla="*/ 10120 w 104"/>
                <a:gd name="T31" fmla="*/ 16669 h 96"/>
                <a:gd name="T32" fmla="*/ 16348 w 104"/>
                <a:gd name="T33" fmla="*/ 19050 h 9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
                <a:gd name="T52" fmla="*/ 0 h 96"/>
                <a:gd name="T53" fmla="*/ 104 w 104"/>
                <a:gd name="T54" fmla="*/ 96 h 9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 h="96">
                  <a:moveTo>
                    <a:pt x="87" y="96"/>
                  </a:moveTo>
                  <a:lnTo>
                    <a:pt x="87" y="96"/>
                  </a:lnTo>
                  <a:lnTo>
                    <a:pt x="69" y="96"/>
                  </a:lnTo>
                  <a:lnTo>
                    <a:pt x="87" y="81"/>
                  </a:lnTo>
                  <a:lnTo>
                    <a:pt x="104" y="81"/>
                  </a:lnTo>
                  <a:lnTo>
                    <a:pt x="104" y="65"/>
                  </a:lnTo>
                  <a:lnTo>
                    <a:pt x="104" y="48"/>
                  </a:lnTo>
                  <a:lnTo>
                    <a:pt x="104" y="33"/>
                  </a:lnTo>
                  <a:lnTo>
                    <a:pt x="87" y="33"/>
                  </a:lnTo>
                  <a:lnTo>
                    <a:pt x="87" y="17"/>
                  </a:lnTo>
                  <a:lnTo>
                    <a:pt x="35" y="0"/>
                  </a:lnTo>
                  <a:lnTo>
                    <a:pt x="18" y="17"/>
                  </a:lnTo>
                  <a:lnTo>
                    <a:pt x="18" y="0"/>
                  </a:lnTo>
                  <a:lnTo>
                    <a:pt x="0" y="17"/>
                  </a:lnTo>
                  <a:lnTo>
                    <a:pt x="18" y="33"/>
                  </a:lnTo>
                  <a:lnTo>
                    <a:pt x="52" y="81"/>
                  </a:lnTo>
                  <a:lnTo>
                    <a:pt x="87" y="9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05" name="Freeform 420">
              <a:extLst>
                <a:ext uri="{FF2B5EF4-FFF2-40B4-BE49-F238E27FC236}">
                  <a16:creationId xmlns:a16="http://schemas.microsoft.com/office/drawing/2014/main" id="{788CD9F6-A7B8-43E4-B760-34F0D41C7679}"/>
                </a:ext>
              </a:extLst>
            </p:cNvPr>
            <p:cNvSpPr>
              <a:spLocks/>
            </p:cNvSpPr>
            <p:nvPr>
              <p:custDataLst>
                <p:tags r:id="rId234"/>
              </p:custDataLst>
            </p:nvPr>
          </p:nvSpPr>
          <p:spPr bwMode="auto">
            <a:xfrm>
              <a:off x="7748708" y="3386677"/>
              <a:ext cx="105555" cy="126666"/>
            </a:xfrm>
            <a:custGeom>
              <a:avLst/>
              <a:gdLst>
                <a:gd name="T0" fmla="*/ 3149 w 121"/>
                <a:gd name="T1" fmla="*/ 9525 h 144"/>
                <a:gd name="T2" fmla="*/ 3149 w 121"/>
                <a:gd name="T3" fmla="*/ 9525 h 144"/>
                <a:gd name="T4" fmla="*/ 3149 w 121"/>
                <a:gd name="T5" fmla="*/ 6350 h 144"/>
                <a:gd name="T6" fmla="*/ 0 w 121"/>
                <a:gd name="T7" fmla="*/ 2381 h 144"/>
                <a:gd name="T8" fmla="*/ 6298 w 121"/>
                <a:gd name="T9" fmla="*/ 0 h 144"/>
                <a:gd name="T10" fmla="*/ 13382 w 121"/>
                <a:gd name="T11" fmla="*/ 9525 h 144"/>
                <a:gd name="T12" fmla="*/ 19680 w 121"/>
                <a:gd name="T13" fmla="*/ 9525 h 144"/>
                <a:gd name="T14" fmla="*/ 19680 w 121"/>
                <a:gd name="T15" fmla="*/ 11906 h 144"/>
                <a:gd name="T16" fmla="*/ 19680 w 121"/>
                <a:gd name="T17" fmla="*/ 15875 h 144"/>
                <a:gd name="T18" fmla="*/ 23616 w 121"/>
                <a:gd name="T19" fmla="*/ 21431 h 144"/>
                <a:gd name="T20" fmla="*/ 19680 w 121"/>
                <a:gd name="T21" fmla="*/ 25400 h 144"/>
                <a:gd name="T22" fmla="*/ 13382 w 121"/>
                <a:gd name="T23" fmla="*/ 25400 h 144"/>
                <a:gd name="T24" fmla="*/ 9446 w 121"/>
                <a:gd name="T25" fmla="*/ 28575 h 144"/>
                <a:gd name="T26" fmla="*/ 6298 w 121"/>
                <a:gd name="T27" fmla="*/ 25400 h 144"/>
                <a:gd name="T28" fmla="*/ 6298 w 121"/>
                <a:gd name="T29" fmla="*/ 21431 h 144"/>
                <a:gd name="T30" fmla="*/ 3149 w 121"/>
                <a:gd name="T31" fmla="*/ 19050 h 144"/>
                <a:gd name="T32" fmla="*/ 3149 w 121"/>
                <a:gd name="T33" fmla="*/ 15875 h 144"/>
                <a:gd name="T34" fmla="*/ 3149 w 121"/>
                <a:gd name="T35" fmla="*/ 11906 h 144"/>
                <a:gd name="T36" fmla="*/ 3149 w 121"/>
                <a:gd name="T37" fmla="*/ 9525 h 1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1"/>
                <a:gd name="T58" fmla="*/ 0 h 144"/>
                <a:gd name="T59" fmla="*/ 121 w 121"/>
                <a:gd name="T60" fmla="*/ 144 h 1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1" h="144">
                  <a:moveTo>
                    <a:pt x="17" y="48"/>
                  </a:moveTo>
                  <a:lnTo>
                    <a:pt x="17" y="48"/>
                  </a:lnTo>
                  <a:lnTo>
                    <a:pt x="17" y="32"/>
                  </a:lnTo>
                  <a:lnTo>
                    <a:pt x="0" y="15"/>
                  </a:lnTo>
                  <a:lnTo>
                    <a:pt x="34" y="0"/>
                  </a:lnTo>
                  <a:lnTo>
                    <a:pt x="69" y="48"/>
                  </a:lnTo>
                  <a:lnTo>
                    <a:pt x="103" y="48"/>
                  </a:lnTo>
                  <a:lnTo>
                    <a:pt x="103" y="63"/>
                  </a:lnTo>
                  <a:lnTo>
                    <a:pt x="103" y="80"/>
                  </a:lnTo>
                  <a:lnTo>
                    <a:pt x="121" y="111"/>
                  </a:lnTo>
                  <a:lnTo>
                    <a:pt x="103" y="128"/>
                  </a:lnTo>
                  <a:lnTo>
                    <a:pt x="69" y="128"/>
                  </a:lnTo>
                  <a:lnTo>
                    <a:pt x="51" y="144"/>
                  </a:lnTo>
                  <a:lnTo>
                    <a:pt x="34" y="128"/>
                  </a:lnTo>
                  <a:lnTo>
                    <a:pt x="34" y="111"/>
                  </a:lnTo>
                  <a:lnTo>
                    <a:pt x="17" y="96"/>
                  </a:lnTo>
                  <a:lnTo>
                    <a:pt x="17" y="80"/>
                  </a:lnTo>
                  <a:lnTo>
                    <a:pt x="17" y="63"/>
                  </a:lnTo>
                  <a:lnTo>
                    <a:pt x="17"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06" name="Freeform 421">
              <a:extLst>
                <a:ext uri="{FF2B5EF4-FFF2-40B4-BE49-F238E27FC236}">
                  <a16:creationId xmlns:a16="http://schemas.microsoft.com/office/drawing/2014/main" id="{919D7229-BBCD-46A5-B429-958E9B7D9F16}"/>
                </a:ext>
              </a:extLst>
            </p:cNvPr>
            <p:cNvSpPr>
              <a:spLocks/>
            </p:cNvSpPr>
            <p:nvPr>
              <p:custDataLst>
                <p:tags r:id="rId235"/>
              </p:custDataLst>
            </p:nvPr>
          </p:nvSpPr>
          <p:spPr bwMode="auto">
            <a:xfrm>
              <a:off x="7794449" y="3501029"/>
              <a:ext cx="59815" cy="42222"/>
            </a:xfrm>
            <a:custGeom>
              <a:avLst/>
              <a:gdLst>
                <a:gd name="T0" fmla="*/ 3084 w 70"/>
                <a:gd name="T1" fmla="*/ 9525 h 48"/>
                <a:gd name="T2" fmla="*/ 3084 w 70"/>
                <a:gd name="T3" fmla="*/ 9525 h 48"/>
                <a:gd name="T4" fmla="*/ 0 w 70"/>
                <a:gd name="T5" fmla="*/ 5556 h 48"/>
                <a:gd name="T6" fmla="*/ 0 w 70"/>
                <a:gd name="T7" fmla="*/ 3175 h 48"/>
                <a:gd name="T8" fmla="*/ 3084 w 70"/>
                <a:gd name="T9" fmla="*/ 0 h 48"/>
                <a:gd name="T10" fmla="*/ 9253 w 70"/>
                <a:gd name="T11" fmla="*/ 0 h 48"/>
                <a:gd name="T12" fmla="*/ 13108 w 70"/>
                <a:gd name="T13" fmla="*/ 3175 h 48"/>
                <a:gd name="T14" fmla="*/ 13108 w 70"/>
                <a:gd name="T15" fmla="*/ 5556 h 48"/>
                <a:gd name="T16" fmla="*/ 3084 w 70"/>
                <a:gd name="T17" fmla="*/ 9525 h 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0"/>
                <a:gd name="T28" fmla="*/ 0 h 48"/>
                <a:gd name="T29" fmla="*/ 70 w 70"/>
                <a:gd name="T30" fmla="*/ 48 h 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0" h="48">
                  <a:moveTo>
                    <a:pt x="18" y="48"/>
                  </a:moveTo>
                  <a:lnTo>
                    <a:pt x="18" y="48"/>
                  </a:lnTo>
                  <a:lnTo>
                    <a:pt x="0" y="31"/>
                  </a:lnTo>
                  <a:lnTo>
                    <a:pt x="0" y="16"/>
                  </a:lnTo>
                  <a:lnTo>
                    <a:pt x="18" y="0"/>
                  </a:lnTo>
                  <a:lnTo>
                    <a:pt x="52" y="0"/>
                  </a:lnTo>
                  <a:lnTo>
                    <a:pt x="70" y="16"/>
                  </a:lnTo>
                  <a:lnTo>
                    <a:pt x="70" y="31"/>
                  </a:lnTo>
                  <a:lnTo>
                    <a:pt x="18"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07" name="Freeform 422">
              <a:extLst>
                <a:ext uri="{FF2B5EF4-FFF2-40B4-BE49-F238E27FC236}">
                  <a16:creationId xmlns:a16="http://schemas.microsoft.com/office/drawing/2014/main" id="{0C02A4F5-8DA6-4671-BDC5-A80ADFAAC9B8}"/>
                </a:ext>
              </a:extLst>
            </p:cNvPr>
            <p:cNvSpPr>
              <a:spLocks/>
            </p:cNvSpPr>
            <p:nvPr>
              <p:custDataLst>
                <p:tags r:id="rId236"/>
              </p:custDataLst>
            </p:nvPr>
          </p:nvSpPr>
          <p:spPr bwMode="auto">
            <a:xfrm>
              <a:off x="7581579" y="3217788"/>
              <a:ext cx="165370" cy="84444"/>
            </a:xfrm>
            <a:custGeom>
              <a:avLst/>
              <a:gdLst>
                <a:gd name="T0" fmla="*/ 37306 w 188"/>
                <a:gd name="T1" fmla="*/ 11906 h 96"/>
                <a:gd name="T2" fmla="*/ 37306 w 188"/>
                <a:gd name="T3" fmla="*/ 11906 h 96"/>
                <a:gd name="T4" fmla="*/ 30956 w 188"/>
                <a:gd name="T5" fmla="*/ 6350 h 96"/>
                <a:gd name="T6" fmla="*/ 26988 w 188"/>
                <a:gd name="T7" fmla="*/ 6350 h 96"/>
                <a:gd name="T8" fmla="*/ 19844 w 188"/>
                <a:gd name="T9" fmla="*/ 2381 h 96"/>
                <a:gd name="T10" fmla="*/ 17463 w 188"/>
                <a:gd name="T11" fmla="*/ 0 h 96"/>
                <a:gd name="T12" fmla="*/ 17463 w 188"/>
                <a:gd name="T13" fmla="*/ 2381 h 96"/>
                <a:gd name="T14" fmla="*/ 14288 w 188"/>
                <a:gd name="T15" fmla="*/ 0 h 96"/>
                <a:gd name="T16" fmla="*/ 7144 w 188"/>
                <a:gd name="T17" fmla="*/ 2381 h 96"/>
                <a:gd name="T18" fmla="*/ 0 w 188"/>
                <a:gd name="T19" fmla="*/ 6350 h 96"/>
                <a:gd name="T20" fmla="*/ 3969 w 188"/>
                <a:gd name="T21" fmla="*/ 11906 h 96"/>
                <a:gd name="T22" fmla="*/ 9525 w 188"/>
                <a:gd name="T23" fmla="*/ 19050 h 96"/>
                <a:gd name="T24" fmla="*/ 17463 w 188"/>
                <a:gd name="T25" fmla="*/ 19050 h 96"/>
                <a:gd name="T26" fmla="*/ 17463 w 188"/>
                <a:gd name="T27" fmla="*/ 15875 h 96"/>
                <a:gd name="T28" fmla="*/ 26988 w 188"/>
                <a:gd name="T29" fmla="*/ 19050 h 96"/>
                <a:gd name="T30" fmla="*/ 37306 w 188"/>
                <a:gd name="T31" fmla="*/ 11906 h 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8"/>
                <a:gd name="T49" fmla="*/ 0 h 96"/>
                <a:gd name="T50" fmla="*/ 188 w 188"/>
                <a:gd name="T51" fmla="*/ 96 h 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8" h="96">
                  <a:moveTo>
                    <a:pt x="188" y="63"/>
                  </a:moveTo>
                  <a:lnTo>
                    <a:pt x="188" y="63"/>
                  </a:lnTo>
                  <a:lnTo>
                    <a:pt x="153" y="32"/>
                  </a:lnTo>
                  <a:lnTo>
                    <a:pt x="136" y="32"/>
                  </a:lnTo>
                  <a:lnTo>
                    <a:pt x="103" y="15"/>
                  </a:lnTo>
                  <a:lnTo>
                    <a:pt x="86" y="0"/>
                  </a:lnTo>
                  <a:lnTo>
                    <a:pt x="86" y="15"/>
                  </a:lnTo>
                  <a:lnTo>
                    <a:pt x="69" y="0"/>
                  </a:lnTo>
                  <a:lnTo>
                    <a:pt x="34" y="15"/>
                  </a:lnTo>
                  <a:lnTo>
                    <a:pt x="0" y="32"/>
                  </a:lnTo>
                  <a:lnTo>
                    <a:pt x="17" y="63"/>
                  </a:lnTo>
                  <a:lnTo>
                    <a:pt x="51" y="96"/>
                  </a:lnTo>
                  <a:lnTo>
                    <a:pt x="86" y="96"/>
                  </a:lnTo>
                  <a:lnTo>
                    <a:pt x="86" y="80"/>
                  </a:lnTo>
                  <a:lnTo>
                    <a:pt x="136" y="96"/>
                  </a:lnTo>
                  <a:lnTo>
                    <a:pt x="188" y="6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08" name="Freeform 423">
              <a:extLst>
                <a:ext uri="{FF2B5EF4-FFF2-40B4-BE49-F238E27FC236}">
                  <a16:creationId xmlns:a16="http://schemas.microsoft.com/office/drawing/2014/main" id="{591AC164-2595-4818-946E-824FB839D953}"/>
                </a:ext>
              </a:extLst>
            </p:cNvPr>
            <p:cNvSpPr>
              <a:spLocks/>
            </p:cNvSpPr>
            <p:nvPr>
              <p:custDataLst>
                <p:tags r:id="rId237"/>
              </p:custDataLst>
            </p:nvPr>
          </p:nvSpPr>
          <p:spPr bwMode="auto">
            <a:xfrm>
              <a:off x="7701208" y="3274085"/>
              <a:ext cx="138982" cy="58056"/>
            </a:xfrm>
            <a:custGeom>
              <a:avLst/>
              <a:gdLst>
                <a:gd name="T0" fmla="*/ 0 w 157"/>
                <a:gd name="T1" fmla="*/ 7254 h 65"/>
                <a:gd name="T2" fmla="*/ 0 w 157"/>
                <a:gd name="T3" fmla="*/ 7254 h 65"/>
                <a:gd name="T4" fmla="*/ 0 w 157"/>
                <a:gd name="T5" fmla="*/ 13701 h 65"/>
                <a:gd name="T6" fmla="*/ 7189 w 157"/>
                <a:gd name="T7" fmla="*/ 13701 h 65"/>
                <a:gd name="T8" fmla="*/ 21568 w 157"/>
                <a:gd name="T9" fmla="*/ 7254 h 65"/>
                <a:gd name="T10" fmla="*/ 27958 w 157"/>
                <a:gd name="T11" fmla="*/ 9672 h 65"/>
                <a:gd name="T12" fmla="*/ 31952 w 157"/>
                <a:gd name="T13" fmla="*/ 4030 h 65"/>
                <a:gd name="T14" fmla="*/ 24763 w 157"/>
                <a:gd name="T15" fmla="*/ 0 h 65"/>
                <a:gd name="T16" fmla="*/ 17574 w 157"/>
                <a:gd name="T17" fmla="*/ 4030 h 65"/>
                <a:gd name="T18" fmla="*/ 14379 w 157"/>
                <a:gd name="T19" fmla="*/ 0 h 65"/>
                <a:gd name="T20" fmla="*/ 11183 w 157"/>
                <a:gd name="T21" fmla="*/ 0 h 65"/>
                <a:gd name="T22" fmla="*/ 0 w 157"/>
                <a:gd name="T23" fmla="*/ 7254 h 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7"/>
                <a:gd name="T37" fmla="*/ 0 h 65"/>
                <a:gd name="T38" fmla="*/ 157 w 157"/>
                <a:gd name="T39" fmla="*/ 65 h 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7" h="65">
                  <a:moveTo>
                    <a:pt x="0" y="33"/>
                  </a:moveTo>
                  <a:lnTo>
                    <a:pt x="0" y="33"/>
                  </a:lnTo>
                  <a:lnTo>
                    <a:pt x="0" y="65"/>
                  </a:lnTo>
                  <a:lnTo>
                    <a:pt x="34" y="65"/>
                  </a:lnTo>
                  <a:lnTo>
                    <a:pt x="105" y="33"/>
                  </a:lnTo>
                  <a:lnTo>
                    <a:pt x="140" y="48"/>
                  </a:lnTo>
                  <a:lnTo>
                    <a:pt x="157" y="17"/>
                  </a:lnTo>
                  <a:lnTo>
                    <a:pt x="123" y="0"/>
                  </a:lnTo>
                  <a:lnTo>
                    <a:pt x="88" y="17"/>
                  </a:lnTo>
                  <a:lnTo>
                    <a:pt x="71" y="0"/>
                  </a:lnTo>
                  <a:lnTo>
                    <a:pt x="54" y="0"/>
                  </a:lnTo>
                  <a:lnTo>
                    <a:pt x="0" y="3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09" name="Freeform 424">
              <a:extLst>
                <a:ext uri="{FF2B5EF4-FFF2-40B4-BE49-F238E27FC236}">
                  <a16:creationId xmlns:a16="http://schemas.microsoft.com/office/drawing/2014/main" id="{C1C5916B-C86D-4101-90FD-100332996387}"/>
                </a:ext>
              </a:extLst>
            </p:cNvPr>
            <p:cNvSpPr>
              <a:spLocks/>
            </p:cNvSpPr>
            <p:nvPr>
              <p:custDataLst>
                <p:tags r:id="rId238"/>
              </p:custDataLst>
            </p:nvPr>
          </p:nvSpPr>
          <p:spPr bwMode="auto">
            <a:xfrm>
              <a:off x="7627319" y="3374362"/>
              <a:ext cx="135463" cy="126666"/>
            </a:xfrm>
            <a:custGeom>
              <a:avLst/>
              <a:gdLst>
                <a:gd name="T0" fmla="*/ 13321 w 156"/>
                <a:gd name="T1" fmla="*/ 0 h 144"/>
                <a:gd name="T2" fmla="*/ 13321 w 156"/>
                <a:gd name="T3" fmla="*/ 0 h 144"/>
                <a:gd name="T4" fmla="*/ 23507 w 156"/>
                <a:gd name="T5" fmla="*/ 5556 h 144"/>
                <a:gd name="T6" fmla="*/ 26642 w 156"/>
                <a:gd name="T7" fmla="*/ 5556 h 144"/>
                <a:gd name="T8" fmla="*/ 29776 w 156"/>
                <a:gd name="T9" fmla="*/ 9525 h 144"/>
                <a:gd name="T10" fmla="*/ 29776 w 156"/>
                <a:gd name="T11" fmla="*/ 12700 h 144"/>
                <a:gd name="T12" fmla="*/ 26642 w 156"/>
                <a:gd name="T13" fmla="*/ 12700 h 144"/>
                <a:gd name="T14" fmla="*/ 26642 w 156"/>
                <a:gd name="T15" fmla="*/ 9525 h 144"/>
                <a:gd name="T16" fmla="*/ 16455 w 156"/>
                <a:gd name="T17" fmla="*/ 5556 h 144"/>
                <a:gd name="T18" fmla="*/ 13321 w 156"/>
                <a:gd name="T19" fmla="*/ 9525 h 144"/>
                <a:gd name="T20" fmla="*/ 13321 w 156"/>
                <a:gd name="T21" fmla="*/ 5556 h 144"/>
                <a:gd name="T22" fmla="*/ 10186 w 156"/>
                <a:gd name="T23" fmla="*/ 9525 h 144"/>
                <a:gd name="T24" fmla="*/ 13321 w 156"/>
                <a:gd name="T25" fmla="*/ 12700 h 144"/>
                <a:gd name="T26" fmla="*/ 19589 w 156"/>
                <a:gd name="T27" fmla="*/ 22225 h 144"/>
                <a:gd name="T28" fmla="*/ 26642 w 156"/>
                <a:gd name="T29" fmla="*/ 24606 h 144"/>
                <a:gd name="T30" fmla="*/ 23507 w 156"/>
                <a:gd name="T31" fmla="*/ 28575 h 144"/>
                <a:gd name="T32" fmla="*/ 16455 w 156"/>
                <a:gd name="T33" fmla="*/ 22225 h 144"/>
                <a:gd name="T34" fmla="*/ 13321 w 156"/>
                <a:gd name="T35" fmla="*/ 22225 h 144"/>
                <a:gd name="T36" fmla="*/ 6269 w 156"/>
                <a:gd name="T37" fmla="*/ 15081 h 144"/>
                <a:gd name="T38" fmla="*/ 10186 w 156"/>
                <a:gd name="T39" fmla="*/ 15081 h 144"/>
                <a:gd name="T40" fmla="*/ 6269 w 156"/>
                <a:gd name="T41" fmla="*/ 15081 h 144"/>
                <a:gd name="T42" fmla="*/ 6269 w 156"/>
                <a:gd name="T43" fmla="*/ 9525 h 144"/>
                <a:gd name="T44" fmla="*/ 3134 w 156"/>
                <a:gd name="T45" fmla="*/ 9525 h 144"/>
                <a:gd name="T46" fmla="*/ 0 w 156"/>
                <a:gd name="T47" fmla="*/ 12700 h 144"/>
                <a:gd name="T48" fmla="*/ 0 w 156"/>
                <a:gd name="T49" fmla="*/ 9525 h 144"/>
                <a:gd name="T50" fmla="*/ 0 w 156"/>
                <a:gd name="T51" fmla="*/ 5556 h 144"/>
                <a:gd name="T52" fmla="*/ 3134 w 156"/>
                <a:gd name="T53" fmla="*/ 5556 h 144"/>
                <a:gd name="T54" fmla="*/ 6269 w 156"/>
                <a:gd name="T55" fmla="*/ 5556 h 144"/>
                <a:gd name="T56" fmla="*/ 10186 w 156"/>
                <a:gd name="T57" fmla="*/ 0 h 144"/>
                <a:gd name="T58" fmla="*/ 13321 w 156"/>
                <a:gd name="T59" fmla="*/ 0 h 14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56"/>
                <a:gd name="T91" fmla="*/ 0 h 144"/>
                <a:gd name="T92" fmla="*/ 156 w 156"/>
                <a:gd name="T93" fmla="*/ 144 h 14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56" h="144">
                  <a:moveTo>
                    <a:pt x="70" y="0"/>
                  </a:moveTo>
                  <a:lnTo>
                    <a:pt x="70" y="0"/>
                  </a:lnTo>
                  <a:lnTo>
                    <a:pt x="121" y="31"/>
                  </a:lnTo>
                  <a:lnTo>
                    <a:pt x="139" y="31"/>
                  </a:lnTo>
                  <a:lnTo>
                    <a:pt x="156" y="48"/>
                  </a:lnTo>
                  <a:lnTo>
                    <a:pt x="156" y="64"/>
                  </a:lnTo>
                  <a:lnTo>
                    <a:pt x="139" y="64"/>
                  </a:lnTo>
                  <a:lnTo>
                    <a:pt x="139" y="48"/>
                  </a:lnTo>
                  <a:lnTo>
                    <a:pt x="87" y="31"/>
                  </a:lnTo>
                  <a:lnTo>
                    <a:pt x="70" y="48"/>
                  </a:lnTo>
                  <a:lnTo>
                    <a:pt x="70" y="31"/>
                  </a:lnTo>
                  <a:lnTo>
                    <a:pt x="52" y="48"/>
                  </a:lnTo>
                  <a:lnTo>
                    <a:pt x="70" y="64"/>
                  </a:lnTo>
                  <a:lnTo>
                    <a:pt x="104" y="112"/>
                  </a:lnTo>
                  <a:lnTo>
                    <a:pt x="139" y="127"/>
                  </a:lnTo>
                  <a:lnTo>
                    <a:pt x="121" y="144"/>
                  </a:lnTo>
                  <a:lnTo>
                    <a:pt x="87" y="112"/>
                  </a:lnTo>
                  <a:lnTo>
                    <a:pt x="70" y="112"/>
                  </a:lnTo>
                  <a:lnTo>
                    <a:pt x="35" y="79"/>
                  </a:lnTo>
                  <a:lnTo>
                    <a:pt x="52" y="79"/>
                  </a:lnTo>
                  <a:lnTo>
                    <a:pt x="35" y="79"/>
                  </a:lnTo>
                  <a:lnTo>
                    <a:pt x="35" y="48"/>
                  </a:lnTo>
                  <a:lnTo>
                    <a:pt x="18" y="48"/>
                  </a:lnTo>
                  <a:lnTo>
                    <a:pt x="0" y="64"/>
                  </a:lnTo>
                  <a:lnTo>
                    <a:pt x="0" y="48"/>
                  </a:lnTo>
                  <a:lnTo>
                    <a:pt x="0" y="31"/>
                  </a:lnTo>
                  <a:lnTo>
                    <a:pt x="18" y="31"/>
                  </a:lnTo>
                  <a:lnTo>
                    <a:pt x="35" y="31"/>
                  </a:lnTo>
                  <a:lnTo>
                    <a:pt x="52" y="0"/>
                  </a:lnTo>
                  <a:lnTo>
                    <a:pt x="7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0" name="Freeform 425">
              <a:extLst>
                <a:ext uri="{FF2B5EF4-FFF2-40B4-BE49-F238E27FC236}">
                  <a16:creationId xmlns:a16="http://schemas.microsoft.com/office/drawing/2014/main" id="{C6240884-F5F0-48AD-917B-AF48FC460C9F}"/>
                </a:ext>
              </a:extLst>
            </p:cNvPr>
            <p:cNvSpPr>
              <a:spLocks/>
            </p:cNvSpPr>
            <p:nvPr>
              <p:custDataLst>
                <p:tags r:id="rId239"/>
              </p:custDataLst>
            </p:nvPr>
          </p:nvSpPr>
          <p:spPr bwMode="auto">
            <a:xfrm>
              <a:off x="7731116" y="3471121"/>
              <a:ext cx="45741" cy="42222"/>
            </a:xfrm>
            <a:custGeom>
              <a:avLst/>
              <a:gdLst>
                <a:gd name="T0" fmla="*/ 0 w 52"/>
                <a:gd name="T1" fmla="*/ 6350 h 48"/>
                <a:gd name="T2" fmla="*/ 0 w 52"/>
                <a:gd name="T3" fmla="*/ 6350 h 48"/>
                <a:gd name="T4" fmla="*/ 7144 w 52"/>
                <a:gd name="T5" fmla="*/ 9525 h 48"/>
                <a:gd name="T6" fmla="*/ 7144 w 52"/>
                <a:gd name="T7" fmla="*/ 6350 h 48"/>
                <a:gd name="T8" fmla="*/ 10319 w 52"/>
                <a:gd name="T9" fmla="*/ 6350 h 48"/>
                <a:gd name="T10" fmla="*/ 10319 w 52"/>
                <a:gd name="T11" fmla="*/ 2381 h 48"/>
                <a:gd name="T12" fmla="*/ 7144 w 52"/>
                <a:gd name="T13" fmla="*/ 0 h 48"/>
                <a:gd name="T14" fmla="*/ 3969 w 52"/>
                <a:gd name="T15" fmla="*/ 0 h 48"/>
                <a:gd name="T16" fmla="*/ 0 w 52"/>
                <a:gd name="T17" fmla="*/ 2381 h 48"/>
                <a:gd name="T18" fmla="*/ 3969 w 52"/>
                <a:gd name="T19" fmla="*/ 2381 h 48"/>
                <a:gd name="T20" fmla="*/ 0 w 52"/>
                <a:gd name="T21" fmla="*/ 635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48"/>
                <a:gd name="T35" fmla="*/ 52 w 52"/>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48">
                  <a:moveTo>
                    <a:pt x="0" y="32"/>
                  </a:moveTo>
                  <a:lnTo>
                    <a:pt x="0" y="32"/>
                  </a:lnTo>
                  <a:lnTo>
                    <a:pt x="35" y="48"/>
                  </a:lnTo>
                  <a:lnTo>
                    <a:pt x="35" y="32"/>
                  </a:lnTo>
                  <a:lnTo>
                    <a:pt x="52" y="32"/>
                  </a:lnTo>
                  <a:lnTo>
                    <a:pt x="52" y="15"/>
                  </a:lnTo>
                  <a:lnTo>
                    <a:pt x="35" y="0"/>
                  </a:lnTo>
                  <a:lnTo>
                    <a:pt x="18" y="0"/>
                  </a:lnTo>
                  <a:lnTo>
                    <a:pt x="0" y="15"/>
                  </a:lnTo>
                  <a:lnTo>
                    <a:pt x="18" y="15"/>
                  </a:lnTo>
                  <a:lnTo>
                    <a:pt x="0" y="32"/>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1" name="Freeform 426">
              <a:extLst>
                <a:ext uri="{FF2B5EF4-FFF2-40B4-BE49-F238E27FC236}">
                  <a16:creationId xmlns:a16="http://schemas.microsoft.com/office/drawing/2014/main" id="{6FBD77DF-0333-4762-90F0-D30C64DF820B}"/>
                </a:ext>
              </a:extLst>
            </p:cNvPr>
            <p:cNvSpPr>
              <a:spLocks/>
            </p:cNvSpPr>
            <p:nvPr>
              <p:custDataLst>
                <p:tags r:id="rId240"/>
              </p:custDataLst>
            </p:nvPr>
          </p:nvSpPr>
          <p:spPr bwMode="auto">
            <a:xfrm>
              <a:off x="7104823" y="3062974"/>
              <a:ext cx="63333" cy="58056"/>
            </a:xfrm>
            <a:custGeom>
              <a:avLst/>
              <a:gdLst>
                <a:gd name="T0" fmla="*/ 11269 w 71"/>
                <a:gd name="T1" fmla="*/ 13701 h 65"/>
                <a:gd name="T2" fmla="*/ 11269 w 71"/>
                <a:gd name="T3" fmla="*/ 9672 h 65"/>
                <a:gd name="T4" fmla="*/ 4025 w 71"/>
                <a:gd name="T5" fmla="*/ 9672 h 65"/>
                <a:gd name="T6" fmla="*/ 0 w 71"/>
                <a:gd name="T7" fmla="*/ 7254 h 65"/>
                <a:gd name="T8" fmla="*/ 4025 w 71"/>
                <a:gd name="T9" fmla="*/ 0 h 65"/>
                <a:gd name="T10" fmla="*/ 11269 w 71"/>
                <a:gd name="T11" fmla="*/ 4030 h 65"/>
                <a:gd name="T12" fmla="*/ 14489 w 71"/>
                <a:gd name="T13" fmla="*/ 9672 h 65"/>
                <a:gd name="T14" fmla="*/ 11269 w 71"/>
                <a:gd name="T15" fmla="*/ 13701 h 65"/>
                <a:gd name="T16" fmla="*/ 0 60000 65536"/>
                <a:gd name="T17" fmla="*/ 0 60000 65536"/>
                <a:gd name="T18" fmla="*/ 0 60000 65536"/>
                <a:gd name="T19" fmla="*/ 0 60000 65536"/>
                <a:gd name="T20" fmla="*/ 0 60000 65536"/>
                <a:gd name="T21" fmla="*/ 0 60000 65536"/>
                <a:gd name="T22" fmla="*/ 0 60000 65536"/>
                <a:gd name="T23" fmla="*/ 0 60000 65536"/>
                <a:gd name="T24" fmla="*/ 0 w 71"/>
                <a:gd name="T25" fmla="*/ 0 h 65"/>
                <a:gd name="T26" fmla="*/ 71 w 71"/>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 h="65">
                  <a:moveTo>
                    <a:pt x="54" y="65"/>
                  </a:moveTo>
                  <a:lnTo>
                    <a:pt x="54" y="48"/>
                  </a:lnTo>
                  <a:lnTo>
                    <a:pt x="18" y="48"/>
                  </a:lnTo>
                  <a:lnTo>
                    <a:pt x="0" y="33"/>
                  </a:lnTo>
                  <a:lnTo>
                    <a:pt x="18" y="0"/>
                  </a:lnTo>
                  <a:lnTo>
                    <a:pt x="54" y="18"/>
                  </a:lnTo>
                  <a:lnTo>
                    <a:pt x="71" y="48"/>
                  </a:lnTo>
                  <a:lnTo>
                    <a:pt x="54" y="6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2" name="Freeform 427">
              <a:extLst>
                <a:ext uri="{FF2B5EF4-FFF2-40B4-BE49-F238E27FC236}">
                  <a16:creationId xmlns:a16="http://schemas.microsoft.com/office/drawing/2014/main" id="{3920325B-B728-4030-BF48-AA3F1A3F0EDD}"/>
                </a:ext>
              </a:extLst>
            </p:cNvPr>
            <p:cNvSpPr>
              <a:spLocks/>
            </p:cNvSpPr>
            <p:nvPr>
              <p:custDataLst>
                <p:tags r:id="rId241"/>
              </p:custDataLst>
            </p:nvPr>
          </p:nvSpPr>
          <p:spPr bwMode="auto">
            <a:xfrm>
              <a:off x="7046767" y="3062974"/>
              <a:ext cx="103796" cy="142500"/>
            </a:xfrm>
            <a:custGeom>
              <a:avLst/>
              <a:gdLst>
                <a:gd name="T0" fmla="*/ 16529 w 119"/>
                <a:gd name="T1" fmla="*/ 0 h 161"/>
                <a:gd name="T2" fmla="*/ 13380 w 119"/>
                <a:gd name="T3" fmla="*/ 7188 h 161"/>
                <a:gd name="T4" fmla="*/ 16529 w 119"/>
                <a:gd name="T5" fmla="*/ 9584 h 161"/>
                <a:gd name="T6" fmla="*/ 22825 w 119"/>
                <a:gd name="T7" fmla="*/ 9584 h 161"/>
                <a:gd name="T8" fmla="*/ 22825 w 119"/>
                <a:gd name="T9" fmla="*/ 13578 h 161"/>
                <a:gd name="T10" fmla="*/ 22825 w 119"/>
                <a:gd name="T11" fmla="*/ 19168 h 161"/>
                <a:gd name="T12" fmla="*/ 19677 w 119"/>
                <a:gd name="T13" fmla="*/ 28753 h 161"/>
                <a:gd name="T14" fmla="*/ 3148 w 119"/>
                <a:gd name="T15" fmla="*/ 32746 h 161"/>
                <a:gd name="T16" fmla="*/ 0 w 119"/>
                <a:gd name="T17" fmla="*/ 28753 h 161"/>
                <a:gd name="T18" fmla="*/ 3148 w 119"/>
                <a:gd name="T19" fmla="*/ 28753 h 161"/>
                <a:gd name="T20" fmla="*/ 6297 w 119"/>
                <a:gd name="T21" fmla="*/ 19168 h 161"/>
                <a:gd name="T22" fmla="*/ 3148 w 119"/>
                <a:gd name="T23" fmla="*/ 16772 h 161"/>
                <a:gd name="T24" fmla="*/ 6297 w 119"/>
                <a:gd name="T25" fmla="*/ 13578 h 161"/>
                <a:gd name="T26" fmla="*/ 3148 w 119"/>
                <a:gd name="T27" fmla="*/ 13578 h 161"/>
                <a:gd name="T28" fmla="*/ 3148 w 119"/>
                <a:gd name="T29" fmla="*/ 9584 h 161"/>
                <a:gd name="T30" fmla="*/ 10232 w 119"/>
                <a:gd name="T31" fmla="*/ 9584 h 161"/>
                <a:gd name="T32" fmla="*/ 13380 w 119"/>
                <a:gd name="T33" fmla="*/ 7188 h 161"/>
                <a:gd name="T34" fmla="*/ 10232 w 119"/>
                <a:gd name="T35" fmla="*/ 7188 h 161"/>
                <a:gd name="T36" fmla="*/ 10232 w 119"/>
                <a:gd name="T37" fmla="*/ 3993 h 161"/>
                <a:gd name="T38" fmla="*/ 16529 w 119"/>
                <a:gd name="T39" fmla="*/ 0 h 1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9"/>
                <a:gd name="T61" fmla="*/ 0 h 161"/>
                <a:gd name="T62" fmla="*/ 119 w 119"/>
                <a:gd name="T63" fmla="*/ 161 h 16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9" h="161">
                  <a:moveTo>
                    <a:pt x="86" y="0"/>
                  </a:moveTo>
                  <a:lnTo>
                    <a:pt x="69" y="33"/>
                  </a:lnTo>
                  <a:lnTo>
                    <a:pt x="86" y="48"/>
                  </a:lnTo>
                  <a:lnTo>
                    <a:pt x="119" y="48"/>
                  </a:lnTo>
                  <a:lnTo>
                    <a:pt x="119" y="65"/>
                  </a:lnTo>
                  <a:lnTo>
                    <a:pt x="119" y="96"/>
                  </a:lnTo>
                  <a:lnTo>
                    <a:pt x="102" y="144"/>
                  </a:lnTo>
                  <a:lnTo>
                    <a:pt x="17" y="161"/>
                  </a:lnTo>
                  <a:lnTo>
                    <a:pt x="0" y="144"/>
                  </a:lnTo>
                  <a:lnTo>
                    <a:pt x="17" y="144"/>
                  </a:lnTo>
                  <a:lnTo>
                    <a:pt x="35" y="96"/>
                  </a:lnTo>
                  <a:lnTo>
                    <a:pt x="17" y="81"/>
                  </a:lnTo>
                  <a:lnTo>
                    <a:pt x="35" y="65"/>
                  </a:lnTo>
                  <a:lnTo>
                    <a:pt x="17" y="65"/>
                  </a:lnTo>
                  <a:lnTo>
                    <a:pt x="17" y="48"/>
                  </a:lnTo>
                  <a:lnTo>
                    <a:pt x="52" y="48"/>
                  </a:lnTo>
                  <a:lnTo>
                    <a:pt x="69" y="33"/>
                  </a:lnTo>
                  <a:lnTo>
                    <a:pt x="52" y="33"/>
                  </a:lnTo>
                  <a:lnTo>
                    <a:pt x="52" y="18"/>
                  </a:lnTo>
                  <a:lnTo>
                    <a:pt x="86"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3" name="Freeform 428">
              <a:extLst>
                <a:ext uri="{FF2B5EF4-FFF2-40B4-BE49-F238E27FC236}">
                  <a16:creationId xmlns:a16="http://schemas.microsoft.com/office/drawing/2014/main" id="{964FFF7A-430D-479F-92CB-AAE040B51B90}"/>
                </a:ext>
              </a:extLst>
            </p:cNvPr>
            <p:cNvSpPr>
              <a:spLocks/>
            </p:cNvSpPr>
            <p:nvPr>
              <p:custDataLst>
                <p:tags r:id="rId242"/>
              </p:custDataLst>
            </p:nvPr>
          </p:nvSpPr>
          <p:spPr bwMode="auto">
            <a:xfrm>
              <a:off x="7076675" y="3458807"/>
              <a:ext cx="288517" cy="223426"/>
            </a:xfrm>
            <a:custGeom>
              <a:avLst/>
              <a:gdLst>
                <a:gd name="T0" fmla="*/ 3969 w 328"/>
                <a:gd name="T1" fmla="*/ 12650 h 255"/>
                <a:gd name="T2" fmla="*/ 3969 w 328"/>
                <a:gd name="T3" fmla="*/ 12650 h 255"/>
                <a:gd name="T4" fmla="*/ 16669 w 328"/>
                <a:gd name="T5" fmla="*/ 12650 h 255"/>
                <a:gd name="T6" fmla="*/ 16669 w 328"/>
                <a:gd name="T7" fmla="*/ 15022 h 255"/>
                <a:gd name="T8" fmla="*/ 14288 w 328"/>
                <a:gd name="T9" fmla="*/ 18975 h 255"/>
                <a:gd name="T10" fmla="*/ 14288 w 328"/>
                <a:gd name="T11" fmla="*/ 24510 h 255"/>
                <a:gd name="T12" fmla="*/ 9525 w 328"/>
                <a:gd name="T13" fmla="*/ 28463 h 255"/>
                <a:gd name="T14" fmla="*/ 14288 w 328"/>
                <a:gd name="T15" fmla="*/ 37951 h 255"/>
                <a:gd name="T16" fmla="*/ 9525 w 328"/>
                <a:gd name="T17" fmla="*/ 43485 h 255"/>
                <a:gd name="T18" fmla="*/ 19844 w 328"/>
                <a:gd name="T19" fmla="*/ 49810 h 255"/>
                <a:gd name="T20" fmla="*/ 23812 w 328"/>
                <a:gd name="T21" fmla="*/ 47438 h 255"/>
                <a:gd name="T22" fmla="*/ 37306 w 328"/>
                <a:gd name="T23" fmla="*/ 47438 h 255"/>
                <a:gd name="T24" fmla="*/ 51594 w 328"/>
                <a:gd name="T25" fmla="*/ 33997 h 255"/>
                <a:gd name="T26" fmla="*/ 47625 w 328"/>
                <a:gd name="T27" fmla="*/ 28463 h 255"/>
                <a:gd name="T28" fmla="*/ 54769 w 328"/>
                <a:gd name="T29" fmla="*/ 18975 h 255"/>
                <a:gd name="T30" fmla="*/ 65088 w 328"/>
                <a:gd name="T31" fmla="*/ 12650 h 255"/>
                <a:gd name="T32" fmla="*/ 65088 w 328"/>
                <a:gd name="T33" fmla="*/ 9488 h 255"/>
                <a:gd name="T34" fmla="*/ 47625 w 328"/>
                <a:gd name="T35" fmla="*/ 5534 h 255"/>
                <a:gd name="T36" fmla="*/ 40481 w 328"/>
                <a:gd name="T37" fmla="*/ 3163 h 255"/>
                <a:gd name="T38" fmla="*/ 37306 w 328"/>
                <a:gd name="T39" fmla="*/ 3163 h 255"/>
                <a:gd name="T40" fmla="*/ 30956 w 328"/>
                <a:gd name="T41" fmla="*/ 3163 h 255"/>
                <a:gd name="T42" fmla="*/ 27781 w 328"/>
                <a:gd name="T43" fmla="*/ 3163 h 255"/>
                <a:gd name="T44" fmla="*/ 7144 w 328"/>
                <a:gd name="T45" fmla="*/ 0 h 255"/>
                <a:gd name="T46" fmla="*/ 3969 w 328"/>
                <a:gd name="T47" fmla="*/ 3163 h 255"/>
                <a:gd name="T48" fmla="*/ 0 w 328"/>
                <a:gd name="T49" fmla="*/ 3163 h 255"/>
                <a:gd name="T50" fmla="*/ 0 w 328"/>
                <a:gd name="T51" fmla="*/ 5534 h 255"/>
                <a:gd name="T52" fmla="*/ 3969 w 328"/>
                <a:gd name="T53" fmla="*/ 12650 h 25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28"/>
                <a:gd name="T82" fmla="*/ 0 h 255"/>
                <a:gd name="T83" fmla="*/ 328 w 328"/>
                <a:gd name="T84" fmla="*/ 255 h 25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28" h="255">
                  <a:moveTo>
                    <a:pt x="17" y="64"/>
                  </a:moveTo>
                  <a:lnTo>
                    <a:pt x="17" y="64"/>
                  </a:lnTo>
                  <a:lnTo>
                    <a:pt x="86" y="64"/>
                  </a:lnTo>
                  <a:lnTo>
                    <a:pt x="86" y="79"/>
                  </a:lnTo>
                  <a:lnTo>
                    <a:pt x="69" y="96"/>
                  </a:lnTo>
                  <a:lnTo>
                    <a:pt x="69" y="127"/>
                  </a:lnTo>
                  <a:lnTo>
                    <a:pt x="51" y="144"/>
                  </a:lnTo>
                  <a:lnTo>
                    <a:pt x="69" y="192"/>
                  </a:lnTo>
                  <a:lnTo>
                    <a:pt x="51" y="223"/>
                  </a:lnTo>
                  <a:lnTo>
                    <a:pt x="103" y="255"/>
                  </a:lnTo>
                  <a:lnTo>
                    <a:pt x="121" y="240"/>
                  </a:lnTo>
                  <a:lnTo>
                    <a:pt x="190" y="240"/>
                  </a:lnTo>
                  <a:lnTo>
                    <a:pt x="259" y="175"/>
                  </a:lnTo>
                  <a:lnTo>
                    <a:pt x="241" y="144"/>
                  </a:lnTo>
                  <a:lnTo>
                    <a:pt x="276" y="96"/>
                  </a:lnTo>
                  <a:lnTo>
                    <a:pt x="328" y="64"/>
                  </a:lnTo>
                  <a:lnTo>
                    <a:pt x="328" y="48"/>
                  </a:lnTo>
                  <a:lnTo>
                    <a:pt x="241" y="31"/>
                  </a:lnTo>
                  <a:lnTo>
                    <a:pt x="207" y="16"/>
                  </a:lnTo>
                  <a:lnTo>
                    <a:pt x="190" y="16"/>
                  </a:lnTo>
                  <a:lnTo>
                    <a:pt x="155" y="16"/>
                  </a:lnTo>
                  <a:lnTo>
                    <a:pt x="138" y="16"/>
                  </a:lnTo>
                  <a:lnTo>
                    <a:pt x="34" y="0"/>
                  </a:lnTo>
                  <a:lnTo>
                    <a:pt x="17" y="16"/>
                  </a:lnTo>
                  <a:lnTo>
                    <a:pt x="0" y="16"/>
                  </a:lnTo>
                  <a:lnTo>
                    <a:pt x="0" y="31"/>
                  </a:lnTo>
                  <a:lnTo>
                    <a:pt x="17" y="64"/>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4" name="Freeform 429">
              <a:extLst>
                <a:ext uri="{FF2B5EF4-FFF2-40B4-BE49-F238E27FC236}">
                  <a16:creationId xmlns:a16="http://schemas.microsoft.com/office/drawing/2014/main" id="{DDE0478F-C366-4852-8073-F2B869B3D4E4}"/>
                </a:ext>
              </a:extLst>
            </p:cNvPr>
            <p:cNvSpPr>
              <a:spLocks/>
            </p:cNvSpPr>
            <p:nvPr>
              <p:custDataLst>
                <p:tags r:id="rId243"/>
              </p:custDataLst>
            </p:nvPr>
          </p:nvSpPr>
          <p:spPr bwMode="auto">
            <a:xfrm>
              <a:off x="7076675" y="3513343"/>
              <a:ext cx="73889" cy="140740"/>
            </a:xfrm>
            <a:custGeom>
              <a:avLst/>
              <a:gdLst>
                <a:gd name="T0" fmla="*/ 9525 w 84"/>
                <a:gd name="T1" fmla="*/ 31950 h 159"/>
                <a:gd name="T2" fmla="*/ 9525 w 84"/>
                <a:gd name="T3" fmla="*/ 31950 h 159"/>
                <a:gd name="T4" fmla="*/ 13494 w 84"/>
                <a:gd name="T5" fmla="*/ 25560 h 159"/>
                <a:gd name="T6" fmla="*/ 9525 w 84"/>
                <a:gd name="T7" fmla="*/ 15975 h 159"/>
                <a:gd name="T8" fmla="*/ 13494 w 84"/>
                <a:gd name="T9" fmla="*/ 12780 h 159"/>
                <a:gd name="T10" fmla="*/ 13494 w 84"/>
                <a:gd name="T11" fmla="*/ 6390 h 159"/>
                <a:gd name="T12" fmla="*/ 16669 w 84"/>
                <a:gd name="T13" fmla="*/ 3195 h 159"/>
                <a:gd name="T14" fmla="*/ 16669 w 84"/>
                <a:gd name="T15" fmla="*/ 0 h 159"/>
                <a:gd name="T16" fmla="*/ 3969 w 84"/>
                <a:gd name="T17" fmla="*/ 0 h 159"/>
                <a:gd name="T18" fmla="*/ 3969 w 84"/>
                <a:gd name="T19" fmla="*/ 6390 h 159"/>
                <a:gd name="T20" fmla="*/ 0 w 84"/>
                <a:gd name="T21" fmla="*/ 22365 h 159"/>
                <a:gd name="T22" fmla="*/ 3969 w 84"/>
                <a:gd name="T23" fmla="*/ 22365 h 159"/>
                <a:gd name="T24" fmla="*/ 0 w 84"/>
                <a:gd name="T25" fmla="*/ 31950 h 159"/>
                <a:gd name="T26" fmla="*/ 9525 w 84"/>
                <a:gd name="T27" fmla="*/ 31950 h 1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4"/>
                <a:gd name="T43" fmla="*/ 0 h 159"/>
                <a:gd name="T44" fmla="*/ 84 w 84"/>
                <a:gd name="T45" fmla="*/ 159 h 1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4" h="159">
                  <a:moveTo>
                    <a:pt x="50" y="159"/>
                  </a:moveTo>
                  <a:lnTo>
                    <a:pt x="50" y="159"/>
                  </a:lnTo>
                  <a:lnTo>
                    <a:pt x="67" y="128"/>
                  </a:lnTo>
                  <a:lnTo>
                    <a:pt x="50" y="80"/>
                  </a:lnTo>
                  <a:lnTo>
                    <a:pt x="67" y="63"/>
                  </a:lnTo>
                  <a:lnTo>
                    <a:pt x="67" y="32"/>
                  </a:lnTo>
                  <a:lnTo>
                    <a:pt x="84" y="15"/>
                  </a:lnTo>
                  <a:lnTo>
                    <a:pt x="84" y="0"/>
                  </a:lnTo>
                  <a:lnTo>
                    <a:pt x="17" y="0"/>
                  </a:lnTo>
                  <a:lnTo>
                    <a:pt x="17" y="32"/>
                  </a:lnTo>
                  <a:lnTo>
                    <a:pt x="0" y="111"/>
                  </a:lnTo>
                  <a:lnTo>
                    <a:pt x="17" y="111"/>
                  </a:lnTo>
                  <a:lnTo>
                    <a:pt x="0" y="159"/>
                  </a:lnTo>
                  <a:lnTo>
                    <a:pt x="50" y="159"/>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5" name="Freeform 430">
              <a:extLst>
                <a:ext uri="{FF2B5EF4-FFF2-40B4-BE49-F238E27FC236}">
                  <a16:creationId xmlns:a16="http://schemas.microsoft.com/office/drawing/2014/main" id="{C5D56C5D-5FD7-44AB-BF50-07EE7CFB3716}"/>
                </a:ext>
              </a:extLst>
            </p:cNvPr>
            <p:cNvSpPr>
              <a:spLocks/>
            </p:cNvSpPr>
            <p:nvPr>
              <p:custDataLst>
                <p:tags r:id="rId244"/>
              </p:custDataLst>
            </p:nvPr>
          </p:nvSpPr>
          <p:spPr bwMode="auto">
            <a:xfrm>
              <a:off x="7136490" y="2936308"/>
              <a:ext cx="198796" cy="323702"/>
            </a:xfrm>
            <a:custGeom>
              <a:avLst/>
              <a:gdLst>
                <a:gd name="T0" fmla="*/ 7208 w 224"/>
                <a:gd name="T1" fmla="*/ 72827 h 369"/>
                <a:gd name="T2" fmla="*/ 10411 w 224"/>
                <a:gd name="T3" fmla="*/ 69661 h 369"/>
                <a:gd name="T4" fmla="*/ 17618 w 224"/>
                <a:gd name="T5" fmla="*/ 72827 h 369"/>
                <a:gd name="T6" fmla="*/ 17618 w 224"/>
                <a:gd name="T7" fmla="*/ 69661 h 369"/>
                <a:gd name="T8" fmla="*/ 20822 w 224"/>
                <a:gd name="T9" fmla="*/ 66494 h 369"/>
                <a:gd name="T10" fmla="*/ 24826 w 224"/>
                <a:gd name="T11" fmla="*/ 69661 h 369"/>
                <a:gd name="T12" fmla="*/ 28029 w 224"/>
                <a:gd name="T13" fmla="*/ 66494 h 369"/>
                <a:gd name="T14" fmla="*/ 41644 w 224"/>
                <a:gd name="T15" fmla="*/ 66494 h 369"/>
                <a:gd name="T16" fmla="*/ 45648 w 224"/>
                <a:gd name="T17" fmla="*/ 63328 h 369"/>
                <a:gd name="T18" fmla="*/ 38440 w 224"/>
                <a:gd name="T19" fmla="*/ 63328 h 369"/>
                <a:gd name="T20" fmla="*/ 45648 w 224"/>
                <a:gd name="T21" fmla="*/ 53829 h 369"/>
                <a:gd name="T22" fmla="*/ 41644 w 224"/>
                <a:gd name="T23" fmla="*/ 50662 h 369"/>
                <a:gd name="T24" fmla="*/ 38440 w 224"/>
                <a:gd name="T25" fmla="*/ 50662 h 369"/>
                <a:gd name="T26" fmla="*/ 35237 w 224"/>
                <a:gd name="T27" fmla="*/ 50662 h 369"/>
                <a:gd name="T28" fmla="*/ 38440 w 224"/>
                <a:gd name="T29" fmla="*/ 47496 h 369"/>
                <a:gd name="T30" fmla="*/ 38440 w 224"/>
                <a:gd name="T31" fmla="*/ 44330 h 369"/>
                <a:gd name="T32" fmla="*/ 35237 w 224"/>
                <a:gd name="T33" fmla="*/ 37997 h 369"/>
                <a:gd name="T34" fmla="*/ 31233 w 224"/>
                <a:gd name="T35" fmla="*/ 34830 h 369"/>
                <a:gd name="T36" fmla="*/ 24826 w 224"/>
                <a:gd name="T37" fmla="*/ 25331 h 369"/>
                <a:gd name="T38" fmla="*/ 17618 w 224"/>
                <a:gd name="T39" fmla="*/ 22165 h 369"/>
                <a:gd name="T40" fmla="*/ 28029 w 224"/>
                <a:gd name="T41" fmla="*/ 9499 h 369"/>
                <a:gd name="T42" fmla="*/ 24826 w 224"/>
                <a:gd name="T43" fmla="*/ 6333 h 369"/>
                <a:gd name="T44" fmla="*/ 14415 w 224"/>
                <a:gd name="T45" fmla="*/ 9499 h 369"/>
                <a:gd name="T46" fmla="*/ 14415 w 224"/>
                <a:gd name="T47" fmla="*/ 3166 h 369"/>
                <a:gd name="T48" fmla="*/ 20822 w 224"/>
                <a:gd name="T49" fmla="*/ 0 h 369"/>
                <a:gd name="T50" fmla="*/ 17618 w 224"/>
                <a:gd name="T51" fmla="*/ 0 h 369"/>
                <a:gd name="T52" fmla="*/ 10411 w 224"/>
                <a:gd name="T53" fmla="*/ 0 h 369"/>
                <a:gd name="T54" fmla="*/ 4004 w 224"/>
                <a:gd name="T55" fmla="*/ 9499 h 369"/>
                <a:gd name="T56" fmla="*/ 0 w 224"/>
                <a:gd name="T57" fmla="*/ 9499 h 369"/>
                <a:gd name="T58" fmla="*/ 4004 w 224"/>
                <a:gd name="T59" fmla="*/ 12666 h 369"/>
                <a:gd name="T60" fmla="*/ 7208 w 224"/>
                <a:gd name="T61" fmla="*/ 12666 h 369"/>
                <a:gd name="T62" fmla="*/ 4004 w 224"/>
                <a:gd name="T63" fmla="*/ 18998 h 369"/>
                <a:gd name="T64" fmla="*/ 7208 w 224"/>
                <a:gd name="T65" fmla="*/ 18998 h 369"/>
                <a:gd name="T66" fmla="*/ 7208 w 224"/>
                <a:gd name="T67" fmla="*/ 22165 h 369"/>
                <a:gd name="T68" fmla="*/ 4004 w 224"/>
                <a:gd name="T69" fmla="*/ 25331 h 369"/>
                <a:gd name="T70" fmla="*/ 7208 w 224"/>
                <a:gd name="T71" fmla="*/ 25331 h 369"/>
                <a:gd name="T72" fmla="*/ 7208 w 224"/>
                <a:gd name="T73" fmla="*/ 28498 h 369"/>
                <a:gd name="T74" fmla="*/ 7208 w 224"/>
                <a:gd name="T75" fmla="*/ 25331 h 369"/>
                <a:gd name="T76" fmla="*/ 10411 w 224"/>
                <a:gd name="T77" fmla="*/ 28498 h 369"/>
                <a:gd name="T78" fmla="*/ 7208 w 224"/>
                <a:gd name="T79" fmla="*/ 31664 h 369"/>
                <a:gd name="T80" fmla="*/ 10411 w 224"/>
                <a:gd name="T81" fmla="*/ 34830 h 369"/>
                <a:gd name="T82" fmla="*/ 17618 w 224"/>
                <a:gd name="T83" fmla="*/ 31664 h 369"/>
                <a:gd name="T84" fmla="*/ 17618 w 224"/>
                <a:gd name="T85" fmla="*/ 34830 h 369"/>
                <a:gd name="T86" fmla="*/ 17618 w 224"/>
                <a:gd name="T87" fmla="*/ 37997 h 369"/>
                <a:gd name="T88" fmla="*/ 20822 w 224"/>
                <a:gd name="T89" fmla="*/ 37997 h 369"/>
                <a:gd name="T90" fmla="*/ 20822 w 224"/>
                <a:gd name="T91" fmla="*/ 44330 h 369"/>
                <a:gd name="T92" fmla="*/ 10411 w 224"/>
                <a:gd name="T93" fmla="*/ 44330 h 369"/>
                <a:gd name="T94" fmla="*/ 14415 w 224"/>
                <a:gd name="T95" fmla="*/ 47496 h 369"/>
                <a:gd name="T96" fmla="*/ 10411 w 224"/>
                <a:gd name="T97" fmla="*/ 50662 h 369"/>
                <a:gd name="T98" fmla="*/ 14415 w 224"/>
                <a:gd name="T99" fmla="*/ 50662 h 369"/>
                <a:gd name="T100" fmla="*/ 14415 w 224"/>
                <a:gd name="T101" fmla="*/ 53829 h 369"/>
                <a:gd name="T102" fmla="*/ 7208 w 224"/>
                <a:gd name="T103" fmla="*/ 56995 h 369"/>
                <a:gd name="T104" fmla="*/ 10411 w 224"/>
                <a:gd name="T105" fmla="*/ 60162 h 369"/>
                <a:gd name="T106" fmla="*/ 14415 w 224"/>
                <a:gd name="T107" fmla="*/ 60162 h 369"/>
                <a:gd name="T108" fmla="*/ 17618 w 224"/>
                <a:gd name="T109" fmla="*/ 63328 h 369"/>
                <a:gd name="T110" fmla="*/ 20822 w 224"/>
                <a:gd name="T111" fmla="*/ 60162 h 369"/>
                <a:gd name="T112" fmla="*/ 20822 w 224"/>
                <a:gd name="T113" fmla="*/ 63328 h 369"/>
                <a:gd name="T114" fmla="*/ 14415 w 224"/>
                <a:gd name="T115" fmla="*/ 63328 h 369"/>
                <a:gd name="T116" fmla="*/ 7208 w 224"/>
                <a:gd name="T117" fmla="*/ 72827 h 36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24"/>
                <a:gd name="T178" fmla="*/ 0 h 369"/>
                <a:gd name="T179" fmla="*/ 224 w 224"/>
                <a:gd name="T180" fmla="*/ 369 h 36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24" h="369">
                  <a:moveTo>
                    <a:pt x="34" y="369"/>
                  </a:moveTo>
                  <a:lnTo>
                    <a:pt x="52" y="353"/>
                  </a:lnTo>
                  <a:lnTo>
                    <a:pt x="86" y="369"/>
                  </a:lnTo>
                  <a:lnTo>
                    <a:pt x="86" y="353"/>
                  </a:lnTo>
                  <a:lnTo>
                    <a:pt x="103" y="336"/>
                  </a:lnTo>
                  <a:lnTo>
                    <a:pt x="121" y="353"/>
                  </a:lnTo>
                  <a:lnTo>
                    <a:pt x="138" y="336"/>
                  </a:lnTo>
                  <a:lnTo>
                    <a:pt x="207" y="336"/>
                  </a:lnTo>
                  <a:lnTo>
                    <a:pt x="224" y="321"/>
                  </a:lnTo>
                  <a:lnTo>
                    <a:pt x="190" y="321"/>
                  </a:lnTo>
                  <a:lnTo>
                    <a:pt x="224" y="273"/>
                  </a:lnTo>
                  <a:lnTo>
                    <a:pt x="207" y="257"/>
                  </a:lnTo>
                  <a:lnTo>
                    <a:pt x="190" y="257"/>
                  </a:lnTo>
                  <a:lnTo>
                    <a:pt x="172" y="257"/>
                  </a:lnTo>
                  <a:lnTo>
                    <a:pt x="190" y="240"/>
                  </a:lnTo>
                  <a:lnTo>
                    <a:pt x="190" y="225"/>
                  </a:lnTo>
                  <a:lnTo>
                    <a:pt x="172" y="192"/>
                  </a:lnTo>
                  <a:lnTo>
                    <a:pt x="155" y="177"/>
                  </a:lnTo>
                  <a:lnTo>
                    <a:pt x="121" y="129"/>
                  </a:lnTo>
                  <a:lnTo>
                    <a:pt x="86" y="114"/>
                  </a:lnTo>
                  <a:lnTo>
                    <a:pt x="138" y="48"/>
                  </a:lnTo>
                  <a:lnTo>
                    <a:pt x="121" y="33"/>
                  </a:lnTo>
                  <a:lnTo>
                    <a:pt x="69" y="48"/>
                  </a:lnTo>
                  <a:lnTo>
                    <a:pt x="69" y="18"/>
                  </a:lnTo>
                  <a:lnTo>
                    <a:pt x="103" y="0"/>
                  </a:lnTo>
                  <a:lnTo>
                    <a:pt x="86" y="0"/>
                  </a:lnTo>
                  <a:lnTo>
                    <a:pt x="52" y="0"/>
                  </a:lnTo>
                  <a:lnTo>
                    <a:pt x="17" y="48"/>
                  </a:lnTo>
                  <a:lnTo>
                    <a:pt x="0" y="48"/>
                  </a:lnTo>
                  <a:lnTo>
                    <a:pt x="17" y="66"/>
                  </a:lnTo>
                  <a:lnTo>
                    <a:pt x="34" y="66"/>
                  </a:lnTo>
                  <a:lnTo>
                    <a:pt x="17" y="96"/>
                  </a:lnTo>
                  <a:lnTo>
                    <a:pt x="34" y="96"/>
                  </a:lnTo>
                  <a:lnTo>
                    <a:pt x="34" y="114"/>
                  </a:lnTo>
                  <a:lnTo>
                    <a:pt x="17" y="129"/>
                  </a:lnTo>
                  <a:lnTo>
                    <a:pt x="34" y="129"/>
                  </a:lnTo>
                  <a:lnTo>
                    <a:pt x="34" y="144"/>
                  </a:lnTo>
                  <a:lnTo>
                    <a:pt x="34" y="129"/>
                  </a:lnTo>
                  <a:lnTo>
                    <a:pt x="52" y="144"/>
                  </a:lnTo>
                  <a:lnTo>
                    <a:pt x="34" y="162"/>
                  </a:lnTo>
                  <a:lnTo>
                    <a:pt x="52" y="177"/>
                  </a:lnTo>
                  <a:lnTo>
                    <a:pt x="86" y="162"/>
                  </a:lnTo>
                  <a:lnTo>
                    <a:pt x="86" y="177"/>
                  </a:lnTo>
                  <a:lnTo>
                    <a:pt x="86" y="192"/>
                  </a:lnTo>
                  <a:lnTo>
                    <a:pt x="103" y="192"/>
                  </a:lnTo>
                  <a:lnTo>
                    <a:pt x="103" y="225"/>
                  </a:lnTo>
                  <a:lnTo>
                    <a:pt x="52" y="225"/>
                  </a:lnTo>
                  <a:lnTo>
                    <a:pt x="69" y="240"/>
                  </a:lnTo>
                  <a:lnTo>
                    <a:pt x="52" y="257"/>
                  </a:lnTo>
                  <a:lnTo>
                    <a:pt x="69" y="257"/>
                  </a:lnTo>
                  <a:lnTo>
                    <a:pt x="69" y="273"/>
                  </a:lnTo>
                  <a:lnTo>
                    <a:pt x="34" y="288"/>
                  </a:lnTo>
                  <a:lnTo>
                    <a:pt x="52" y="305"/>
                  </a:lnTo>
                  <a:lnTo>
                    <a:pt x="69" y="305"/>
                  </a:lnTo>
                  <a:lnTo>
                    <a:pt x="86" y="321"/>
                  </a:lnTo>
                  <a:lnTo>
                    <a:pt x="103" y="305"/>
                  </a:lnTo>
                  <a:lnTo>
                    <a:pt x="103" y="321"/>
                  </a:lnTo>
                  <a:lnTo>
                    <a:pt x="69" y="321"/>
                  </a:lnTo>
                  <a:lnTo>
                    <a:pt x="34" y="369"/>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6" name="Freeform 431">
              <a:extLst>
                <a:ext uri="{FF2B5EF4-FFF2-40B4-BE49-F238E27FC236}">
                  <a16:creationId xmlns:a16="http://schemas.microsoft.com/office/drawing/2014/main" id="{DEF15E91-8C70-48BD-B041-205ED1ABC221}"/>
                </a:ext>
              </a:extLst>
            </p:cNvPr>
            <p:cNvSpPr>
              <a:spLocks/>
            </p:cNvSpPr>
            <p:nvPr>
              <p:custDataLst>
                <p:tags r:id="rId245"/>
              </p:custDataLst>
            </p:nvPr>
          </p:nvSpPr>
          <p:spPr bwMode="auto">
            <a:xfrm>
              <a:off x="7349359" y="3569639"/>
              <a:ext cx="31667" cy="28148"/>
            </a:xfrm>
            <a:custGeom>
              <a:avLst/>
              <a:gdLst>
                <a:gd name="T0" fmla="*/ 0 w 34"/>
                <a:gd name="T1" fmla="*/ 3079 h 33"/>
                <a:gd name="T2" fmla="*/ 0 w 34"/>
                <a:gd name="T3" fmla="*/ 3079 h 33"/>
                <a:gd name="T4" fmla="*/ 4202 w 34"/>
                <a:gd name="T5" fmla="*/ 6158 h 33"/>
                <a:gd name="T6" fmla="*/ 8404 w 34"/>
                <a:gd name="T7" fmla="*/ 3079 h 33"/>
                <a:gd name="T8" fmla="*/ 4202 w 34"/>
                <a:gd name="T9" fmla="*/ 0 h 33"/>
                <a:gd name="T10" fmla="*/ 0 w 34"/>
                <a:gd name="T11" fmla="*/ 3079 h 33"/>
                <a:gd name="T12" fmla="*/ 0 60000 65536"/>
                <a:gd name="T13" fmla="*/ 0 60000 65536"/>
                <a:gd name="T14" fmla="*/ 0 60000 65536"/>
                <a:gd name="T15" fmla="*/ 0 60000 65536"/>
                <a:gd name="T16" fmla="*/ 0 60000 65536"/>
                <a:gd name="T17" fmla="*/ 0 60000 65536"/>
                <a:gd name="T18" fmla="*/ 0 w 34"/>
                <a:gd name="T19" fmla="*/ 0 h 33"/>
                <a:gd name="T20" fmla="*/ 34 w 34"/>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4" h="33">
                  <a:moveTo>
                    <a:pt x="0" y="17"/>
                  </a:moveTo>
                  <a:lnTo>
                    <a:pt x="0" y="17"/>
                  </a:lnTo>
                  <a:lnTo>
                    <a:pt x="17" y="33"/>
                  </a:lnTo>
                  <a:lnTo>
                    <a:pt x="34" y="17"/>
                  </a:lnTo>
                  <a:lnTo>
                    <a:pt x="17" y="0"/>
                  </a:lnTo>
                  <a:lnTo>
                    <a:pt x="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7" name="Freeform 432">
              <a:extLst>
                <a:ext uri="{FF2B5EF4-FFF2-40B4-BE49-F238E27FC236}">
                  <a16:creationId xmlns:a16="http://schemas.microsoft.com/office/drawing/2014/main" id="{743FCEA0-4446-4769-BEBE-4070DD963FA1}"/>
                </a:ext>
              </a:extLst>
            </p:cNvPr>
            <p:cNvSpPr>
              <a:spLocks/>
            </p:cNvSpPr>
            <p:nvPr>
              <p:custDataLst>
                <p:tags r:id="rId246"/>
              </p:custDataLst>
            </p:nvPr>
          </p:nvSpPr>
          <p:spPr bwMode="auto">
            <a:xfrm>
              <a:off x="6891953" y="3879267"/>
              <a:ext cx="17593" cy="14074"/>
            </a:xfrm>
            <a:custGeom>
              <a:avLst/>
              <a:gdLst>
                <a:gd name="T0" fmla="*/ 0 w 20"/>
                <a:gd name="T1" fmla="*/ 0 h 15"/>
                <a:gd name="T2" fmla="*/ 0 w 20"/>
                <a:gd name="T3" fmla="*/ 0 h 15"/>
                <a:gd name="T4" fmla="*/ 0 w 20"/>
                <a:gd name="T5" fmla="*/ 3387 h 15"/>
                <a:gd name="T6" fmla="*/ 3969 w 20"/>
                <a:gd name="T7" fmla="*/ 0 h 15"/>
                <a:gd name="T8" fmla="*/ 0 w 20"/>
                <a:gd name="T9" fmla="*/ 0 h 15"/>
                <a:gd name="T10" fmla="*/ 0 60000 65536"/>
                <a:gd name="T11" fmla="*/ 0 60000 65536"/>
                <a:gd name="T12" fmla="*/ 0 60000 65536"/>
                <a:gd name="T13" fmla="*/ 0 60000 65536"/>
                <a:gd name="T14" fmla="*/ 0 60000 65536"/>
                <a:gd name="T15" fmla="*/ 0 w 20"/>
                <a:gd name="T16" fmla="*/ 0 h 15"/>
                <a:gd name="T17" fmla="*/ 20 w 20"/>
                <a:gd name="T18" fmla="*/ 15 h 15"/>
              </a:gdLst>
              <a:ahLst/>
              <a:cxnLst>
                <a:cxn ang="T10">
                  <a:pos x="T0" y="T1"/>
                </a:cxn>
                <a:cxn ang="T11">
                  <a:pos x="T2" y="T3"/>
                </a:cxn>
                <a:cxn ang="T12">
                  <a:pos x="T4" y="T5"/>
                </a:cxn>
                <a:cxn ang="T13">
                  <a:pos x="T6" y="T7"/>
                </a:cxn>
                <a:cxn ang="T14">
                  <a:pos x="T8" y="T9"/>
                </a:cxn>
              </a:cxnLst>
              <a:rect l="T15" t="T16" r="T17" b="T18"/>
              <a:pathLst>
                <a:path w="20" h="15">
                  <a:moveTo>
                    <a:pt x="0" y="0"/>
                  </a:moveTo>
                  <a:lnTo>
                    <a:pt x="0" y="0"/>
                  </a:lnTo>
                  <a:lnTo>
                    <a:pt x="0" y="15"/>
                  </a:lnTo>
                  <a:lnTo>
                    <a:pt x="20" y="0"/>
                  </a:lnTo>
                  <a:lnTo>
                    <a:pt x="0"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8" name="Freeform 433">
              <a:extLst>
                <a:ext uri="{FF2B5EF4-FFF2-40B4-BE49-F238E27FC236}">
                  <a16:creationId xmlns:a16="http://schemas.microsoft.com/office/drawing/2014/main" id="{4904CDB4-C70D-4503-8B0A-CBBB9C1D9125}"/>
                </a:ext>
              </a:extLst>
            </p:cNvPr>
            <p:cNvSpPr>
              <a:spLocks/>
            </p:cNvSpPr>
            <p:nvPr>
              <p:custDataLst>
                <p:tags r:id="rId247"/>
              </p:custDataLst>
            </p:nvPr>
          </p:nvSpPr>
          <p:spPr bwMode="auto">
            <a:xfrm>
              <a:off x="7182230" y="3217788"/>
              <a:ext cx="304351" cy="283240"/>
            </a:xfrm>
            <a:custGeom>
              <a:avLst/>
              <a:gdLst>
                <a:gd name="T0" fmla="*/ 41395 w 345"/>
                <a:gd name="T1" fmla="*/ 0 h 320"/>
                <a:gd name="T2" fmla="*/ 41395 w 345"/>
                <a:gd name="T3" fmla="*/ 0 h 320"/>
                <a:gd name="T4" fmla="*/ 34230 w 345"/>
                <a:gd name="T5" fmla="*/ 3195 h 320"/>
                <a:gd name="T6" fmla="*/ 34230 w 345"/>
                <a:gd name="T7" fmla="*/ 9585 h 320"/>
                <a:gd name="T8" fmla="*/ 27862 w 345"/>
                <a:gd name="T9" fmla="*/ 12779 h 320"/>
                <a:gd name="T10" fmla="*/ 23882 w 345"/>
                <a:gd name="T11" fmla="*/ 15974 h 320"/>
                <a:gd name="T12" fmla="*/ 20697 w 345"/>
                <a:gd name="T13" fmla="*/ 15974 h 320"/>
                <a:gd name="T14" fmla="*/ 17513 w 345"/>
                <a:gd name="T15" fmla="*/ 12779 h 320"/>
                <a:gd name="T16" fmla="*/ 14329 w 345"/>
                <a:gd name="T17" fmla="*/ 12779 h 320"/>
                <a:gd name="T18" fmla="*/ 17513 w 345"/>
                <a:gd name="T19" fmla="*/ 19169 h 320"/>
                <a:gd name="T20" fmla="*/ 10349 w 345"/>
                <a:gd name="T21" fmla="*/ 22364 h 320"/>
                <a:gd name="T22" fmla="*/ 10349 w 345"/>
                <a:gd name="T23" fmla="*/ 19169 h 320"/>
                <a:gd name="T24" fmla="*/ 0 w 345"/>
                <a:gd name="T25" fmla="*/ 22364 h 320"/>
                <a:gd name="T26" fmla="*/ 0 w 345"/>
                <a:gd name="T27" fmla="*/ 25559 h 320"/>
                <a:gd name="T28" fmla="*/ 14329 w 345"/>
                <a:gd name="T29" fmla="*/ 28754 h 320"/>
                <a:gd name="T30" fmla="*/ 20697 w 345"/>
                <a:gd name="T31" fmla="*/ 39137 h 320"/>
                <a:gd name="T32" fmla="*/ 20697 w 345"/>
                <a:gd name="T33" fmla="*/ 41533 h 320"/>
                <a:gd name="T34" fmla="*/ 17513 w 345"/>
                <a:gd name="T35" fmla="*/ 58306 h 320"/>
                <a:gd name="T36" fmla="*/ 23882 w 345"/>
                <a:gd name="T37" fmla="*/ 60702 h 320"/>
                <a:gd name="T38" fmla="*/ 41395 w 345"/>
                <a:gd name="T39" fmla="*/ 64696 h 320"/>
                <a:gd name="T40" fmla="*/ 41395 w 345"/>
                <a:gd name="T41" fmla="*/ 60702 h 320"/>
                <a:gd name="T42" fmla="*/ 48559 w 345"/>
                <a:gd name="T43" fmla="*/ 58306 h 320"/>
                <a:gd name="T44" fmla="*/ 58908 w 345"/>
                <a:gd name="T45" fmla="*/ 60702 h 320"/>
                <a:gd name="T46" fmla="*/ 62092 w 345"/>
                <a:gd name="T47" fmla="*/ 60702 h 320"/>
                <a:gd name="T48" fmla="*/ 65276 w 345"/>
                <a:gd name="T49" fmla="*/ 55111 h 320"/>
                <a:gd name="T50" fmla="*/ 62092 w 345"/>
                <a:gd name="T51" fmla="*/ 48721 h 320"/>
                <a:gd name="T52" fmla="*/ 62092 w 345"/>
                <a:gd name="T53" fmla="*/ 41533 h 320"/>
                <a:gd name="T54" fmla="*/ 62092 w 345"/>
                <a:gd name="T55" fmla="*/ 35942 h 320"/>
                <a:gd name="T56" fmla="*/ 58908 w 345"/>
                <a:gd name="T57" fmla="*/ 39137 h 320"/>
                <a:gd name="T58" fmla="*/ 58908 w 345"/>
                <a:gd name="T59" fmla="*/ 35942 h 320"/>
                <a:gd name="T60" fmla="*/ 62092 w 345"/>
                <a:gd name="T61" fmla="*/ 28754 h 320"/>
                <a:gd name="T62" fmla="*/ 65276 w 345"/>
                <a:gd name="T63" fmla="*/ 28754 h 320"/>
                <a:gd name="T64" fmla="*/ 69257 w 345"/>
                <a:gd name="T65" fmla="*/ 19169 h 320"/>
                <a:gd name="T66" fmla="*/ 58908 w 345"/>
                <a:gd name="T67" fmla="*/ 12779 h 320"/>
                <a:gd name="T68" fmla="*/ 54928 w 345"/>
                <a:gd name="T69" fmla="*/ 12779 h 320"/>
                <a:gd name="T70" fmla="*/ 51743 w 345"/>
                <a:gd name="T71" fmla="*/ 12779 h 320"/>
                <a:gd name="T72" fmla="*/ 51743 w 345"/>
                <a:gd name="T73" fmla="*/ 9585 h 320"/>
                <a:gd name="T74" fmla="*/ 48559 w 345"/>
                <a:gd name="T75" fmla="*/ 9585 h 320"/>
                <a:gd name="T76" fmla="*/ 48559 w 345"/>
                <a:gd name="T77" fmla="*/ 6390 h 320"/>
                <a:gd name="T78" fmla="*/ 41395 w 345"/>
                <a:gd name="T79" fmla="*/ 3195 h 320"/>
                <a:gd name="T80" fmla="*/ 41395 w 345"/>
                <a:gd name="T81" fmla="*/ 0 h 32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45"/>
                <a:gd name="T124" fmla="*/ 0 h 320"/>
                <a:gd name="T125" fmla="*/ 345 w 345"/>
                <a:gd name="T126" fmla="*/ 320 h 32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45" h="320">
                  <a:moveTo>
                    <a:pt x="207" y="0"/>
                  </a:moveTo>
                  <a:lnTo>
                    <a:pt x="207" y="0"/>
                  </a:lnTo>
                  <a:lnTo>
                    <a:pt x="172" y="15"/>
                  </a:lnTo>
                  <a:lnTo>
                    <a:pt x="172" y="48"/>
                  </a:lnTo>
                  <a:lnTo>
                    <a:pt x="138" y="63"/>
                  </a:lnTo>
                  <a:lnTo>
                    <a:pt x="120" y="80"/>
                  </a:lnTo>
                  <a:lnTo>
                    <a:pt x="103" y="80"/>
                  </a:lnTo>
                  <a:lnTo>
                    <a:pt x="86" y="63"/>
                  </a:lnTo>
                  <a:lnTo>
                    <a:pt x="69" y="63"/>
                  </a:lnTo>
                  <a:lnTo>
                    <a:pt x="86" y="96"/>
                  </a:lnTo>
                  <a:lnTo>
                    <a:pt x="51" y="111"/>
                  </a:lnTo>
                  <a:lnTo>
                    <a:pt x="51" y="96"/>
                  </a:lnTo>
                  <a:lnTo>
                    <a:pt x="0" y="111"/>
                  </a:lnTo>
                  <a:lnTo>
                    <a:pt x="0" y="128"/>
                  </a:lnTo>
                  <a:lnTo>
                    <a:pt x="69" y="144"/>
                  </a:lnTo>
                  <a:lnTo>
                    <a:pt x="103" y="192"/>
                  </a:lnTo>
                  <a:lnTo>
                    <a:pt x="103" y="207"/>
                  </a:lnTo>
                  <a:lnTo>
                    <a:pt x="86" y="288"/>
                  </a:lnTo>
                  <a:lnTo>
                    <a:pt x="120" y="303"/>
                  </a:lnTo>
                  <a:lnTo>
                    <a:pt x="207" y="320"/>
                  </a:lnTo>
                  <a:lnTo>
                    <a:pt x="207" y="303"/>
                  </a:lnTo>
                  <a:lnTo>
                    <a:pt x="241" y="288"/>
                  </a:lnTo>
                  <a:lnTo>
                    <a:pt x="293" y="303"/>
                  </a:lnTo>
                  <a:lnTo>
                    <a:pt x="311" y="303"/>
                  </a:lnTo>
                  <a:lnTo>
                    <a:pt x="328" y="272"/>
                  </a:lnTo>
                  <a:lnTo>
                    <a:pt x="311" y="240"/>
                  </a:lnTo>
                  <a:lnTo>
                    <a:pt x="311" y="207"/>
                  </a:lnTo>
                  <a:lnTo>
                    <a:pt x="311" y="176"/>
                  </a:lnTo>
                  <a:lnTo>
                    <a:pt x="293" y="192"/>
                  </a:lnTo>
                  <a:lnTo>
                    <a:pt x="293" y="176"/>
                  </a:lnTo>
                  <a:lnTo>
                    <a:pt x="311" y="144"/>
                  </a:lnTo>
                  <a:lnTo>
                    <a:pt x="328" y="144"/>
                  </a:lnTo>
                  <a:lnTo>
                    <a:pt x="345" y="96"/>
                  </a:lnTo>
                  <a:lnTo>
                    <a:pt x="293" y="63"/>
                  </a:lnTo>
                  <a:lnTo>
                    <a:pt x="276" y="63"/>
                  </a:lnTo>
                  <a:lnTo>
                    <a:pt x="259" y="63"/>
                  </a:lnTo>
                  <a:lnTo>
                    <a:pt x="259" y="48"/>
                  </a:lnTo>
                  <a:lnTo>
                    <a:pt x="241" y="48"/>
                  </a:lnTo>
                  <a:lnTo>
                    <a:pt x="241" y="32"/>
                  </a:lnTo>
                  <a:lnTo>
                    <a:pt x="207" y="15"/>
                  </a:lnTo>
                  <a:lnTo>
                    <a:pt x="207"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19" name="Freeform 434">
              <a:extLst>
                <a:ext uri="{FF2B5EF4-FFF2-40B4-BE49-F238E27FC236}">
                  <a16:creationId xmlns:a16="http://schemas.microsoft.com/office/drawing/2014/main" id="{FCBBCE56-E18A-4BA4-AD7E-F73B9E8D8DFE}"/>
                </a:ext>
              </a:extLst>
            </p:cNvPr>
            <p:cNvSpPr>
              <a:spLocks/>
            </p:cNvSpPr>
            <p:nvPr>
              <p:custDataLst>
                <p:tags r:id="rId248"/>
              </p:custDataLst>
            </p:nvPr>
          </p:nvSpPr>
          <p:spPr bwMode="auto">
            <a:xfrm>
              <a:off x="6955286" y="3879267"/>
              <a:ext cx="12315" cy="14074"/>
            </a:xfrm>
            <a:custGeom>
              <a:avLst/>
              <a:gdLst>
                <a:gd name="T0" fmla="*/ 2084 w 16"/>
                <a:gd name="T1" fmla="*/ 0 h 15"/>
                <a:gd name="T2" fmla="*/ 2084 w 16"/>
                <a:gd name="T3" fmla="*/ 0 h 15"/>
                <a:gd name="T4" fmla="*/ 0 w 16"/>
                <a:gd name="T5" fmla="*/ 3387 h 15"/>
                <a:gd name="T6" fmla="*/ 2084 w 16"/>
                <a:gd name="T7" fmla="*/ 3387 h 15"/>
                <a:gd name="T8" fmla="*/ 2084 w 16"/>
                <a:gd name="T9" fmla="*/ 0 h 15"/>
                <a:gd name="T10" fmla="*/ 0 60000 65536"/>
                <a:gd name="T11" fmla="*/ 0 60000 65536"/>
                <a:gd name="T12" fmla="*/ 0 60000 65536"/>
                <a:gd name="T13" fmla="*/ 0 60000 65536"/>
                <a:gd name="T14" fmla="*/ 0 60000 65536"/>
                <a:gd name="T15" fmla="*/ 0 w 16"/>
                <a:gd name="T16" fmla="*/ 0 h 15"/>
                <a:gd name="T17" fmla="*/ 16 w 16"/>
                <a:gd name="T18" fmla="*/ 15 h 15"/>
              </a:gdLst>
              <a:ahLst/>
              <a:cxnLst>
                <a:cxn ang="T10">
                  <a:pos x="T0" y="T1"/>
                </a:cxn>
                <a:cxn ang="T11">
                  <a:pos x="T2" y="T3"/>
                </a:cxn>
                <a:cxn ang="T12">
                  <a:pos x="T4" y="T5"/>
                </a:cxn>
                <a:cxn ang="T13">
                  <a:pos x="T6" y="T7"/>
                </a:cxn>
                <a:cxn ang="T14">
                  <a:pos x="T8" y="T9"/>
                </a:cxn>
              </a:cxnLst>
              <a:rect l="T15" t="T16" r="T17" b="T18"/>
              <a:pathLst>
                <a:path w="16" h="15">
                  <a:moveTo>
                    <a:pt x="16" y="0"/>
                  </a:moveTo>
                  <a:lnTo>
                    <a:pt x="16" y="0"/>
                  </a:lnTo>
                  <a:lnTo>
                    <a:pt x="0" y="15"/>
                  </a:lnTo>
                  <a:lnTo>
                    <a:pt x="16" y="15"/>
                  </a:lnTo>
                  <a:lnTo>
                    <a:pt x="16"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20" name="Freeform 435">
              <a:extLst>
                <a:ext uri="{FF2B5EF4-FFF2-40B4-BE49-F238E27FC236}">
                  <a16:creationId xmlns:a16="http://schemas.microsoft.com/office/drawing/2014/main" id="{23EDC289-AD7F-409B-AE18-6113EADB7186}"/>
                </a:ext>
              </a:extLst>
            </p:cNvPr>
            <p:cNvSpPr>
              <a:spLocks/>
            </p:cNvSpPr>
            <p:nvPr>
              <p:custDataLst>
                <p:tags r:id="rId249"/>
              </p:custDataLst>
            </p:nvPr>
          </p:nvSpPr>
          <p:spPr bwMode="auto">
            <a:xfrm>
              <a:off x="7486580" y="2978530"/>
              <a:ext cx="77407" cy="100278"/>
            </a:xfrm>
            <a:custGeom>
              <a:avLst/>
              <a:gdLst>
                <a:gd name="T0" fmla="*/ 3969 w 88"/>
                <a:gd name="T1" fmla="*/ 23019 h 114"/>
                <a:gd name="T2" fmla="*/ 3969 w 88"/>
                <a:gd name="T3" fmla="*/ 23019 h 114"/>
                <a:gd name="T4" fmla="*/ 7938 w 88"/>
                <a:gd name="T5" fmla="*/ 23019 h 114"/>
                <a:gd name="T6" fmla="*/ 10319 w 88"/>
                <a:gd name="T7" fmla="*/ 23019 h 114"/>
                <a:gd name="T8" fmla="*/ 14288 w 88"/>
                <a:gd name="T9" fmla="*/ 13494 h 114"/>
                <a:gd name="T10" fmla="*/ 17463 w 88"/>
                <a:gd name="T11" fmla="*/ 13494 h 114"/>
                <a:gd name="T12" fmla="*/ 17463 w 88"/>
                <a:gd name="T13" fmla="*/ 9525 h 114"/>
                <a:gd name="T14" fmla="*/ 14288 w 88"/>
                <a:gd name="T15" fmla="*/ 9525 h 114"/>
                <a:gd name="T16" fmla="*/ 14288 w 88"/>
                <a:gd name="T17" fmla="*/ 0 h 114"/>
                <a:gd name="T18" fmla="*/ 3969 w 88"/>
                <a:gd name="T19" fmla="*/ 3969 h 114"/>
                <a:gd name="T20" fmla="*/ 0 w 88"/>
                <a:gd name="T21" fmla="*/ 9525 h 114"/>
                <a:gd name="T22" fmla="*/ 0 w 88"/>
                <a:gd name="T23" fmla="*/ 16669 h 114"/>
                <a:gd name="T24" fmla="*/ 3969 w 88"/>
                <a:gd name="T25" fmla="*/ 19050 h 114"/>
                <a:gd name="T26" fmla="*/ 3969 w 88"/>
                <a:gd name="T27" fmla="*/ 23019 h 1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114"/>
                <a:gd name="T44" fmla="*/ 88 w 88"/>
                <a:gd name="T45" fmla="*/ 114 h 1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114">
                  <a:moveTo>
                    <a:pt x="19" y="114"/>
                  </a:moveTo>
                  <a:lnTo>
                    <a:pt x="19" y="114"/>
                  </a:lnTo>
                  <a:lnTo>
                    <a:pt x="37" y="114"/>
                  </a:lnTo>
                  <a:lnTo>
                    <a:pt x="54" y="114"/>
                  </a:lnTo>
                  <a:lnTo>
                    <a:pt x="71" y="66"/>
                  </a:lnTo>
                  <a:lnTo>
                    <a:pt x="88" y="66"/>
                  </a:lnTo>
                  <a:lnTo>
                    <a:pt x="88" y="48"/>
                  </a:lnTo>
                  <a:lnTo>
                    <a:pt x="71" y="48"/>
                  </a:lnTo>
                  <a:lnTo>
                    <a:pt x="71" y="0"/>
                  </a:lnTo>
                  <a:lnTo>
                    <a:pt x="19" y="18"/>
                  </a:lnTo>
                  <a:lnTo>
                    <a:pt x="0" y="48"/>
                  </a:lnTo>
                  <a:lnTo>
                    <a:pt x="0" y="81"/>
                  </a:lnTo>
                  <a:lnTo>
                    <a:pt x="19" y="96"/>
                  </a:lnTo>
                  <a:lnTo>
                    <a:pt x="19" y="11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21" name="Freeform 436">
              <a:extLst>
                <a:ext uri="{FF2B5EF4-FFF2-40B4-BE49-F238E27FC236}">
                  <a16:creationId xmlns:a16="http://schemas.microsoft.com/office/drawing/2014/main" id="{D6068AA5-89C7-4EEF-9BA4-3898CE54383B}"/>
                </a:ext>
              </a:extLst>
            </p:cNvPr>
            <p:cNvSpPr>
              <a:spLocks/>
            </p:cNvSpPr>
            <p:nvPr>
              <p:custDataLst>
                <p:tags r:id="rId250"/>
              </p:custDataLst>
            </p:nvPr>
          </p:nvSpPr>
          <p:spPr bwMode="auto">
            <a:xfrm>
              <a:off x="7381025" y="3133344"/>
              <a:ext cx="89722" cy="98518"/>
            </a:xfrm>
            <a:custGeom>
              <a:avLst/>
              <a:gdLst>
                <a:gd name="T0" fmla="*/ 13234 w 104"/>
                <a:gd name="T1" fmla="*/ 22425 h 111"/>
                <a:gd name="T2" fmla="*/ 13234 w 104"/>
                <a:gd name="T3" fmla="*/ 22425 h 111"/>
                <a:gd name="T4" fmla="*/ 13234 w 104"/>
                <a:gd name="T5" fmla="*/ 12814 h 111"/>
                <a:gd name="T6" fmla="*/ 16348 w 104"/>
                <a:gd name="T7" fmla="*/ 9611 h 111"/>
                <a:gd name="T8" fmla="*/ 19462 w 104"/>
                <a:gd name="T9" fmla="*/ 0 h 111"/>
                <a:gd name="T10" fmla="*/ 10120 w 104"/>
                <a:gd name="T11" fmla="*/ 3204 h 111"/>
                <a:gd name="T12" fmla="*/ 13234 w 104"/>
                <a:gd name="T13" fmla="*/ 9611 h 111"/>
                <a:gd name="T14" fmla="*/ 10120 w 104"/>
                <a:gd name="T15" fmla="*/ 9611 h 111"/>
                <a:gd name="T16" fmla="*/ 10120 w 104"/>
                <a:gd name="T17" fmla="*/ 6407 h 111"/>
                <a:gd name="T18" fmla="*/ 6228 w 104"/>
                <a:gd name="T19" fmla="*/ 6407 h 111"/>
                <a:gd name="T20" fmla="*/ 0 w 104"/>
                <a:gd name="T21" fmla="*/ 19222 h 111"/>
                <a:gd name="T22" fmla="*/ 10120 w 104"/>
                <a:gd name="T23" fmla="*/ 19222 h 111"/>
                <a:gd name="T24" fmla="*/ 13234 w 104"/>
                <a:gd name="T25" fmla="*/ 22425 h 1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11"/>
                <a:gd name="T41" fmla="*/ 104 w 104"/>
                <a:gd name="T42" fmla="*/ 111 h 1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11">
                  <a:moveTo>
                    <a:pt x="69" y="111"/>
                  </a:moveTo>
                  <a:lnTo>
                    <a:pt x="69" y="111"/>
                  </a:lnTo>
                  <a:lnTo>
                    <a:pt x="69" y="63"/>
                  </a:lnTo>
                  <a:lnTo>
                    <a:pt x="87" y="48"/>
                  </a:lnTo>
                  <a:lnTo>
                    <a:pt x="104" y="0"/>
                  </a:lnTo>
                  <a:lnTo>
                    <a:pt x="52" y="15"/>
                  </a:lnTo>
                  <a:lnTo>
                    <a:pt x="69" y="48"/>
                  </a:lnTo>
                  <a:lnTo>
                    <a:pt x="52" y="48"/>
                  </a:lnTo>
                  <a:lnTo>
                    <a:pt x="52" y="32"/>
                  </a:lnTo>
                  <a:lnTo>
                    <a:pt x="35" y="32"/>
                  </a:lnTo>
                  <a:lnTo>
                    <a:pt x="0" y="96"/>
                  </a:lnTo>
                  <a:lnTo>
                    <a:pt x="52" y="96"/>
                  </a:lnTo>
                  <a:lnTo>
                    <a:pt x="69" y="111"/>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22" name="Freeform 437">
              <a:extLst>
                <a:ext uri="{FF2B5EF4-FFF2-40B4-BE49-F238E27FC236}">
                  <a16:creationId xmlns:a16="http://schemas.microsoft.com/office/drawing/2014/main" id="{3FC90C02-F9D8-48D1-99C8-CE5B411CE3EC}"/>
                </a:ext>
              </a:extLst>
            </p:cNvPr>
            <p:cNvSpPr>
              <a:spLocks/>
            </p:cNvSpPr>
            <p:nvPr>
              <p:custDataLst>
                <p:tags r:id="rId251"/>
              </p:custDataLst>
            </p:nvPr>
          </p:nvSpPr>
          <p:spPr bwMode="auto">
            <a:xfrm>
              <a:off x="7363433" y="3217788"/>
              <a:ext cx="77407" cy="56296"/>
            </a:xfrm>
            <a:custGeom>
              <a:avLst/>
              <a:gdLst>
                <a:gd name="T0" fmla="*/ 14288 w 88"/>
                <a:gd name="T1" fmla="*/ 12902 h 63"/>
                <a:gd name="T2" fmla="*/ 14288 w 88"/>
                <a:gd name="T3" fmla="*/ 12902 h 63"/>
                <a:gd name="T4" fmla="*/ 10319 w 88"/>
                <a:gd name="T5" fmla="*/ 12902 h 63"/>
                <a:gd name="T6" fmla="*/ 10319 w 88"/>
                <a:gd name="T7" fmla="*/ 9676 h 63"/>
                <a:gd name="T8" fmla="*/ 7144 w 88"/>
                <a:gd name="T9" fmla="*/ 9676 h 63"/>
                <a:gd name="T10" fmla="*/ 7144 w 88"/>
                <a:gd name="T11" fmla="*/ 6451 h 63"/>
                <a:gd name="T12" fmla="*/ 0 w 88"/>
                <a:gd name="T13" fmla="*/ 3225 h 63"/>
                <a:gd name="T14" fmla="*/ 0 w 88"/>
                <a:gd name="T15" fmla="*/ 0 h 63"/>
                <a:gd name="T16" fmla="*/ 3969 w 88"/>
                <a:gd name="T17" fmla="*/ 0 h 63"/>
                <a:gd name="T18" fmla="*/ 14288 w 88"/>
                <a:gd name="T19" fmla="*/ 0 h 63"/>
                <a:gd name="T20" fmla="*/ 17463 w 88"/>
                <a:gd name="T21" fmla="*/ 3225 h 63"/>
                <a:gd name="T22" fmla="*/ 17463 w 88"/>
                <a:gd name="T23" fmla="*/ 9676 h 63"/>
                <a:gd name="T24" fmla="*/ 14288 w 88"/>
                <a:gd name="T25" fmla="*/ 9676 h 63"/>
                <a:gd name="T26" fmla="*/ 14288 w 88"/>
                <a:gd name="T27" fmla="*/ 12902 h 6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63"/>
                <a:gd name="T44" fmla="*/ 88 w 88"/>
                <a:gd name="T45" fmla="*/ 63 h 6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63">
                  <a:moveTo>
                    <a:pt x="71" y="63"/>
                  </a:moveTo>
                  <a:lnTo>
                    <a:pt x="71" y="63"/>
                  </a:lnTo>
                  <a:lnTo>
                    <a:pt x="54" y="63"/>
                  </a:lnTo>
                  <a:lnTo>
                    <a:pt x="54" y="48"/>
                  </a:lnTo>
                  <a:lnTo>
                    <a:pt x="36" y="48"/>
                  </a:lnTo>
                  <a:lnTo>
                    <a:pt x="36" y="32"/>
                  </a:lnTo>
                  <a:lnTo>
                    <a:pt x="0" y="15"/>
                  </a:lnTo>
                  <a:lnTo>
                    <a:pt x="0" y="0"/>
                  </a:lnTo>
                  <a:lnTo>
                    <a:pt x="19" y="0"/>
                  </a:lnTo>
                  <a:lnTo>
                    <a:pt x="71" y="0"/>
                  </a:lnTo>
                  <a:lnTo>
                    <a:pt x="88" y="15"/>
                  </a:lnTo>
                  <a:lnTo>
                    <a:pt x="88" y="48"/>
                  </a:lnTo>
                  <a:lnTo>
                    <a:pt x="71" y="48"/>
                  </a:lnTo>
                  <a:lnTo>
                    <a:pt x="71" y="6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23" name="Freeform 438">
              <a:extLst>
                <a:ext uri="{FF2B5EF4-FFF2-40B4-BE49-F238E27FC236}">
                  <a16:creationId xmlns:a16="http://schemas.microsoft.com/office/drawing/2014/main" id="{A2944A4F-C77A-42E7-9C8A-49F58B57EA2E}"/>
                </a:ext>
              </a:extLst>
            </p:cNvPr>
            <p:cNvSpPr>
              <a:spLocks/>
            </p:cNvSpPr>
            <p:nvPr>
              <p:custDataLst>
                <p:tags r:id="rId252"/>
              </p:custDataLst>
            </p:nvPr>
          </p:nvSpPr>
          <p:spPr bwMode="auto">
            <a:xfrm>
              <a:off x="7516488" y="3289918"/>
              <a:ext cx="184722" cy="84444"/>
            </a:xfrm>
            <a:custGeom>
              <a:avLst/>
              <a:gdLst>
                <a:gd name="T0" fmla="*/ 0 w 209"/>
                <a:gd name="T1" fmla="*/ 12700 h 96"/>
                <a:gd name="T2" fmla="*/ 0 w 209"/>
                <a:gd name="T3" fmla="*/ 12700 h 96"/>
                <a:gd name="T4" fmla="*/ 7178 w 209"/>
                <a:gd name="T5" fmla="*/ 12700 h 96"/>
                <a:gd name="T6" fmla="*/ 21534 w 209"/>
                <a:gd name="T7" fmla="*/ 9525 h 96"/>
                <a:gd name="T8" fmla="*/ 21534 w 209"/>
                <a:gd name="T9" fmla="*/ 5556 h 96"/>
                <a:gd name="T10" fmla="*/ 24724 w 209"/>
                <a:gd name="T11" fmla="*/ 3175 h 96"/>
                <a:gd name="T12" fmla="*/ 31902 w 209"/>
                <a:gd name="T13" fmla="*/ 3175 h 96"/>
                <a:gd name="T14" fmla="*/ 31902 w 209"/>
                <a:gd name="T15" fmla="*/ 0 h 96"/>
                <a:gd name="T16" fmla="*/ 42270 w 209"/>
                <a:gd name="T17" fmla="*/ 3175 h 96"/>
                <a:gd name="T18" fmla="*/ 42270 w 209"/>
                <a:gd name="T19" fmla="*/ 9525 h 96"/>
                <a:gd name="T20" fmla="*/ 38282 w 209"/>
                <a:gd name="T21" fmla="*/ 15875 h 96"/>
                <a:gd name="T22" fmla="*/ 24724 w 209"/>
                <a:gd name="T23" fmla="*/ 19050 h 96"/>
                <a:gd name="T24" fmla="*/ 17546 w 209"/>
                <a:gd name="T25" fmla="*/ 15875 h 96"/>
                <a:gd name="T26" fmla="*/ 7178 w 209"/>
                <a:gd name="T27" fmla="*/ 15875 h 96"/>
                <a:gd name="T28" fmla="*/ 3988 w 209"/>
                <a:gd name="T29" fmla="*/ 15875 h 96"/>
                <a:gd name="T30" fmla="*/ 0 w 209"/>
                <a:gd name="T31" fmla="*/ 12700 h 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9"/>
                <a:gd name="T49" fmla="*/ 0 h 96"/>
                <a:gd name="T50" fmla="*/ 209 w 209"/>
                <a:gd name="T51" fmla="*/ 96 h 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9" h="96">
                  <a:moveTo>
                    <a:pt x="0" y="64"/>
                  </a:moveTo>
                  <a:lnTo>
                    <a:pt x="0" y="64"/>
                  </a:lnTo>
                  <a:lnTo>
                    <a:pt x="34" y="64"/>
                  </a:lnTo>
                  <a:lnTo>
                    <a:pt x="105" y="48"/>
                  </a:lnTo>
                  <a:lnTo>
                    <a:pt x="105" y="31"/>
                  </a:lnTo>
                  <a:lnTo>
                    <a:pt x="123" y="16"/>
                  </a:lnTo>
                  <a:lnTo>
                    <a:pt x="157" y="16"/>
                  </a:lnTo>
                  <a:lnTo>
                    <a:pt x="157" y="0"/>
                  </a:lnTo>
                  <a:lnTo>
                    <a:pt x="209" y="16"/>
                  </a:lnTo>
                  <a:lnTo>
                    <a:pt x="209" y="48"/>
                  </a:lnTo>
                  <a:lnTo>
                    <a:pt x="192" y="79"/>
                  </a:lnTo>
                  <a:lnTo>
                    <a:pt x="123" y="96"/>
                  </a:lnTo>
                  <a:lnTo>
                    <a:pt x="88" y="79"/>
                  </a:lnTo>
                  <a:lnTo>
                    <a:pt x="34" y="79"/>
                  </a:lnTo>
                  <a:lnTo>
                    <a:pt x="17" y="79"/>
                  </a:lnTo>
                  <a:lnTo>
                    <a:pt x="0" y="64"/>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24" name="Freeform 439">
              <a:extLst>
                <a:ext uri="{FF2B5EF4-FFF2-40B4-BE49-F238E27FC236}">
                  <a16:creationId xmlns:a16="http://schemas.microsoft.com/office/drawing/2014/main" id="{B1A9D06B-0E95-4855-A6E3-9ACB174629E8}"/>
                </a:ext>
              </a:extLst>
            </p:cNvPr>
            <p:cNvSpPr>
              <a:spLocks/>
            </p:cNvSpPr>
            <p:nvPr>
              <p:custDataLst>
                <p:tags r:id="rId253"/>
              </p:custDataLst>
            </p:nvPr>
          </p:nvSpPr>
          <p:spPr bwMode="auto">
            <a:xfrm>
              <a:off x="7440840" y="3344455"/>
              <a:ext cx="109074" cy="56296"/>
            </a:xfrm>
            <a:custGeom>
              <a:avLst/>
              <a:gdLst>
                <a:gd name="T0" fmla="*/ 7202 w 123"/>
                <a:gd name="T1" fmla="*/ 12902 h 63"/>
                <a:gd name="T2" fmla="*/ 7202 w 123"/>
                <a:gd name="T3" fmla="*/ 12902 h 63"/>
                <a:gd name="T4" fmla="*/ 14404 w 123"/>
                <a:gd name="T5" fmla="*/ 9676 h 63"/>
                <a:gd name="T6" fmla="*/ 18405 w 123"/>
                <a:gd name="T7" fmla="*/ 9676 h 63"/>
                <a:gd name="T8" fmla="*/ 18405 w 123"/>
                <a:gd name="T9" fmla="*/ 6451 h 63"/>
                <a:gd name="T10" fmla="*/ 21605 w 123"/>
                <a:gd name="T11" fmla="*/ 9676 h 63"/>
                <a:gd name="T12" fmla="*/ 24806 w 123"/>
                <a:gd name="T13" fmla="*/ 3225 h 63"/>
                <a:gd name="T14" fmla="*/ 21605 w 123"/>
                <a:gd name="T15" fmla="*/ 3225 h 63"/>
                <a:gd name="T16" fmla="*/ 18405 w 123"/>
                <a:gd name="T17" fmla="*/ 0 h 63"/>
                <a:gd name="T18" fmla="*/ 7202 w 123"/>
                <a:gd name="T19" fmla="*/ 0 h 63"/>
                <a:gd name="T20" fmla="*/ 4001 w 123"/>
                <a:gd name="T21" fmla="*/ 0 h 63"/>
                <a:gd name="T22" fmla="*/ 0 w 123"/>
                <a:gd name="T23" fmla="*/ 6451 h 63"/>
                <a:gd name="T24" fmla="*/ 0 w 123"/>
                <a:gd name="T25" fmla="*/ 9676 h 63"/>
                <a:gd name="T26" fmla="*/ 4001 w 123"/>
                <a:gd name="T27" fmla="*/ 6451 h 63"/>
                <a:gd name="T28" fmla="*/ 4001 w 123"/>
                <a:gd name="T29" fmla="*/ 12902 h 63"/>
                <a:gd name="T30" fmla="*/ 7202 w 123"/>
                <a:gd name="T31" fmla="*/ 12902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3"/>
                <a:gd name="T49" fmla="*/ 0 h 63"/>
                <a:gd name="T50" fmla="*/ 123 w 123"/>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3" h="63">
                  <a:moveTo>
                    <a:pt x="35" y="63"/>
                  </a:moveTo>
                  <a:lnTo>
                    <a:pt x="35" y="63"/>
                  </a:lnTo>
                  <a:lnTo>
                    <a:pt x="71" y="48"/>
                  </a:lnTo>
                  <a:lnTo>
                    <a:pt x="89" y="48"/>
                  </a:lnTo>
                  <a:lnTo>
                    <a:pt x="89" y="32"/>
                  </a:lnTo>
                  <a:lnTo>
                    <a:pt x="106" y="48"/>
                  </a:lnTo>
                  <a:lnTo>
                    <a:pt x="123" y="15"/>
                  </a:lnTo>
                  <a:lnTo>
                    <a:pt x="106" y="15"/>
                  </a:lnTo>
                  <a:lnTo>
                    <a:pt x="89" y="0"/>
                  </a:lnTo>
                  <a:lnTo>
                    <a:pt x="35" y="0"/>
                  </a:lnTo>
                  <a:lnTo>
                    <a:pt x="18" y="0"/>
                  </a:lnTo>
                  <a:lnTo>
                    <a:pt x="0" y="32"/>
                  </a:lnTo>
                  <a:lnTo>
                    <a:pt x="0" y="48"/>
                  </a:lnTo>
                  <a:lnTo>
                    <a:pt x="18" y="32"/>
                  </a:lnTo>
                  <a:lnTo>
                    <a:pt x="18" y="63"/>
                  </a:lnTo>
                  <a:lnTo>
                    <a:pt x="35" y="6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25" name="Freeform 440">
              <a:extLst>
                <a:ext uri="{FF2B5EF4-FFF2-40B4-BE49-F238E27FC236}">
                  <a16:creationId xmlns:a16="http://schemas.microsoft.com/office/drawing/2014/main" id="{4C884BEA-934C-427E-A653-F52F17D7CA8E}"/>
                </a:ext>
              </a:extLst>
            </p:cNvPr>
            <p:cNvSpPr>
              <a:spLocks/>
            </p:cNvSpPr>
            <p:nvPr>
              <p:custDataLst>
                <p:tags r:id="rId254"/>
              </p:custDataLst>
            </p:nvPr>
          </p:nvSpPr>
          <p:spPr bwMode="auto">
            <a:xfrm>
              <a:off x="7122416" y="2936308"/>
              <a:ext cx="28148" cy="42222"/>
            </a:xfrm>
            <a:custGeom>
              <a:avLst/>
              <a:gdLst>
                <a:gd name="T0" fmla="*/ 0 w 33"/>
                <a:gd name="T1" fmla="*/ 9525 h 48"/>
                <a:gd name="T2" fmla="*/ 3079 w 33"/>
                <a:gd name="T3" fmla="*/ 3969 h 48"/>
                <a:gd name="T4" fmla="*/ 6158 w 33"/>
                <a:gd name="T5" fmla="*/ 0 h 48"/>
                <a:gd name="T6" fmla="*/ 0 w 33"/>
                <a:gd name="T7" fmla="*/ 3969 h 48"/>
                <a:gd name="T8" fmla="*/ 0 w 33"/>
                <a:gd name="T9" fmla="*/ 9525 h 48"/>
                <a:gd name="T10" fmla="*/ 0 60000 65536"/>
                <a:gd name="T11" fmla="*/ 0 60000 65536"/>
                <a:gd name="T12" fmla="*/ 0 60000 65536"/>
                <a:gd name="T13" fmla="*/ 0 60000 65536"/>
                <a:gd name="T14" fmla="*/ 0 60000 65536"/>
                <a:gd name="T15" fmla="*/ 0 w 33"/>
                <a:gd name="T16" fmla="*/ 0 h 48"/>
                <a:gd name="T17" fmla="*/ 33 w 33"/>
                <a:gd name="T18" fmla="*/ 48 h 48"/>
              </a:gdLst>
              <a:ahLst/>
              <a:cxnLst>
                <a:cxn ang="T10">
                  <a:pos x="T0" y="T1"/>
                </a:cxn>
                <a:cxn ang="T11">
                  <a:pos x="T2" y="T3"/>
                </a:cxn>
                <a:cxn ang="T12">
                  <a:pos x="T4" y="T5"/>
                </a:cxn>
                <a:cxn ang="T13">
                  <a:pos x="T6" y="T7"/>
                </a:cxn>
                <a:cxn ang="T14">
                  <a:pos x="T8" y="T9"/>
                </a:cxn>
              </a:cxnLst>
              <a:rect l="T15" t="T16" r="T17" b="T18"/>
              <a:pathLst>
                <a:path w="33" h="48">
                  <a:moveTo>
                    <a:pt x="0" y="48"/>
                  </a:moveTo>
                  <a:lnTo>
                    <a:pt x="18" y="18"/>
                  </a:lnTo>
                  <a:lnTo>
                    <a:pt x="33" y="0"/>
                  </a:lnTo>
                  <a:lnTo>
                    <a:pt x="0" y="18"/>
                  </a:lnTo>
                  <a:lnTo>
                    <a:pt x="0"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26" name="Freeform 441">
              <a:extLst>
                <a:ext uri="{FF2B5EF4-FFF2-40B4-BE49-F238E27FC236}">
                  <a16:creationId xmlns:a16="http://schemas.microsoft.com/office/drawing/2014/main" id="{F49D3D7A-A7FF-4E32-BBC4-A4F9F55F87B7}"/>
                </a:ext>
              </a:extLst>
            </p:cNvPr>
            <p:cNvSpPr>
              <a:spLocks/>
            </p:cNvSpPr>
            <p:nvPr>
              <p:custDataLst>
                <p:tags r:id="rId255"/>
              </p:custDataLst>
            </p:nvPr>
          </p:nvSpPr>
          <p:spPr bwMode="auto">
            <a:xfrm>
              <a:off x="7257878" y="2851864"/>
              <a:ext cx="15834" cy="15834"/>
            </a:xfrm>
            <a:custGeom>
              <a:avLst/>
              <a:gdLst>
                <a:gd name="T0" fmla="*/ 0 w 17"/>
                <a:gd name="T1" fmla="*/ 3969 h 18"/>
                <a:gd name="T2" fmla="*/ 0 w 17"/>
                <a:gd name="T3" fmla="*/ 3969 h 18"/>
                <a:gd name="T4" fmla="*/ 4202 w 17"/>
                <a:gd name="T5" fmla="*/ 0 h 18"/>
                <a:gd name="T6" fmla="*/ 4202 w 17"/>
                <a:gd name="T7" fmla="*/ 3969 h 18"/>
                <a:gd name="T8" fmla="*/ 0 w 17"/>
                <a:gd name="T9" fmla="*/ 3969 h 18"/>
                <a:gd name="T10" fmla="*/ 0 60000 65536"/>
                <a:gd name="T11" fmla="*/ 0 60000 65536"/>
                <a:gd name="T12" fmla="*/ 0 60000 65536"/>
                <a:gd name="T13" fmla="*/ 0 60000 65536"/>
                <a:gd name="T14" fmla="*/ 0 60000 65536"/>
                <a:gd name="T15" fmla="*/ 0 w 17"/>
                <a:gd name="T16" fmla="*/ 0 h 18"/>
                <a:gd name="T17" fmla="*/ 17 w 17"/>
                <a:gd name="T18" fmla="*/ 18 h 18"/>
              </a:gdLst>
              <a:ahLst/>
              <a:cxnLst>
                <a:cxn ang="T10">
                  <a:pos x="T0" y="T1"/>
                </a:cxn>
                <a:cxn ang="T11">
                  <a:pos x="T2" y="T3"/>
                </a:cxn>
                <a:cxn ang="T12">
                  <a:pos x="T4" y="T5"/>
                </a:cxn>
                <a:cxn ang="T13">
                  <a:pos x="T6" y="T7"/>
                </a:cxn>
                <a:cxn ang="T14">
                  <a:pos x="T8" y="T9"/>
                </a:cxn>
              </a:cxnLst>
              <a:rect l="T15" t="T16" r="T17" b="T18"/>
              <a:pathLst>
                <a:path w="17" h="18">
                  <a:moveTo>
                    <a:pt x="0" y="18"/>
                  </a:moveTo>
                  <a:lnTo>
                    <a:pt x="0" y="18"/>
                  </a:lnTo>
                  <a:lnTo>
                    <a:pt x="17" y="0"/>
                  </a:lnTo>
                  <a:lnTo>
                    <a:pt x="17" y="18"/>
                  </a:lnTo>
                  <a:lnTo>
                    <a:pt x="0" y="1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27" name="Line 256">
              <a:extLst>
                <a:ext uri="{FF2B5EF4-FFF2-40B4-BE49-F238E27FC236}">
                  <a16:creationId xmlns:a16="http://schemas.microsoft.com/office/drawing/2014/main" id="{531F90CA-E47A-46C0-872F-F5C22020B505}"/>
                </a:ext>
              </a:extLst>
            </p:cNvPr>
            <p:cNvSpPr>
              <a:spLocks noChangeShapeType="1"/>
            </p:cNvSpPr>
            <p:nvPr>
              <p:custDataLst>
                <p:tags r:id="rId256"/>
              </p:custDataLst>
            </p:nvPr>
          </p:nvSpPr>
          <p:spPr bwMode="auto">
            <a:xfrm>
              <a:off x="7219174" y="2929271"/>
              <a:ext cx="15834" cy="14074"/>
            </a:xfrm>
            <a:prstGeom prst="line">
              <a:avLst/>
            </a:prstGeom>
            <a:grpFill/>
            <a:ln w="0">
              <a:solidFill>
                <a:schemeClr val="tx2">
                  <a:lumMod val="20000"/>
                  <a:lumOff val="80000"/>
                  <a:alpha val="9000"/>
                </a:schemeClr>
              </a:solidFill>
              <a:round/>
              <a:headEnd/>
              <a:tailEnd/>
            </a:ln>
          </p:spPr>
          <p:txBody>
            <a:bodyPr rtlCol="0"/>
            <a:lstStyle/>
            <a:p>
              <a:pPr rtl="0"/>
              <a:endParaRPr lang="ru-RU" dirty="0"/>
            </a:p>
          </p:txBody>
        </p:sp>
        <p:sp>
          <p:nvSpPr>
            <p:cNvPr id="328" name="Freeform 443">
              <a:extLst>
                <a:ext uri="{FF2B5EF4-FFF2-40B4-BE49-F238E27FC236}">
                  <a16:creationId xmlns:a16="http://schemas.microsoft.com/office/drawing/2014/main" id="{EFF257A8-7D99-461E-92F3-42E8AB427570}"/>
                </a:ext>
              </a:extLst>
            </p:cNvPr>
            <p:cNvSpPr>
              <a:spLocks/>
            </p:cNvSpPr>
            <p:nvPr>
              <p:custDataLst>
                <p:tags r:id="rId257"/>
              </p:custDataLst>
            </p:nvPr>
          </p:nvSpPr>
          <p:spPr bwMode="auto">
            <a:xfrm>
              <a:off x="7440840" y="3078808"/>
              <a:ext cx="214629" cy="265648"/>
            </a:xfrm>
            <a:custGeom>
              <a:avLst/>
              <a:gdLst>
                <a:gd name="T0" fmla="*/ 27781 w 244"/>
                <a:gd name="T1" fmla="*/ 8702 h 303"/>
                <a:gd name="T2" fmla="*/ 27781 w 244"/>
                <a:gd name="T3" fmla="*/ 8702 h 303"/>
                <a:gd name="T4" fmla="*/ 42069 w 244"/>
                <a:gd name="T5" fmla="*/ 2373 h 303"/>
                <a:gd name="T6" fmla="*/ 42069 w 244"/>
                <a:gd name="T7" fmla="*/ 5538 h 303"/>
                <a:gd name="T8" fmla="*/ 38100 w 244"/>
                <a:gd name="T9" fmla="*/ 5538 h 303"/>
                <a:gd name="T10" fmla="*/ 45244 w 244"/>
                <a:gd name="T11" fmla="*/ 8702 h 303"/>
                <a:gd name="T12" fmla="*/ 48419 w 244"/>
                <a:gd name="T13" fmla="*/ 34019 h 303"/>
                <a:gd name="T14" fmla="*/ 45244 w 244"/>
                <a:gd name="T15" fmla="*/ 30854 h 303"/>
                <a:gd name="T16" fmla="*/ 38100 w 244"/>
                <a:gd name="T17" fmla="*/ 34019 h 303"/>
                <a:gd name="T18" fmla="*/ 31750 w 244"/>
                <a:gd name="T19" fmla="*/ 37183 h 303"/>
                <a:gd name="T20" fmla="*/ 34925 w 244"/>
                <a:gd name="T21" fmla="*/ 43512 h 303"/>
                <a:gd name="T22" fmla="*/ 42069 w 244"/>
                <a:gd name="T23" fmla="*/ 49841 h 303"/>
                <a:gd name="T24" fmla="*/ 38100 w 244"/>
                <a:gd name="T25" fmla="*/ 53006 h 303"/>
                <a:gd name="T26" fmla="*/ 38100 w 244"/>
                <a:gd name="T27" fmla="*/ 56170 h 303"/>
                <a:gd name="T28" fmla="*/ 24606 w 244"/>
                <a:gd name="T29" fmla="*/ 59335 h 303"/>
                <a:gd name="T30" fmla="*/ 18256 w 244"/>
                <a:gd name="T31" fmla="*/ 59335 h 303"/>
                <a:gd name="T32" fmla="*/ 7144 w 244"/>
                <a:gd name="T33" fmla="*/ 59335 h 303"/>
                <a:gd name="T34" fmla="*/ 11113 w 244"/>
                <a:gd name="T35" fmla="*/ 49841 h 303"/>
                <a:gd name="T36" fmla="*/ 0 w 244"/>
                <a:gd name="T37" fmla="*/ 43512 h 303"/>
                <a:gd name="T38" fmla="*/ 0 w 244"/>
                <a:gd name="T39" fmla="*/ 40348 h 303"/>
                <a:gd name="T40" fmla="*/ 0 w 244"/>
                <a:gd name="T41" fmla="*/ 34019 h 303"/>
                <a:gd name="T42" fmla="*/ 0 w 244"/>
                <a:gd name="T43" fmla="*/ 24525 h 303"/>
                <a:gd name="T44" fmla="*/ 3969 w 244"/>
                <a:gd name="T45" fmla="*/ 21361 h 303"/>
                <a:gd name="T46" fmla="*/ 7144 w 244"/>
                <a:gd name="T47" fmla="*/ 11867 h 303"/>
                <a:gd name="T48" fmla="*/ 14288 w 244"/>
                <a:gd name="T49" fmla="*/ 11867 h 303"/>
                <a:gd name="T50" fmla="*/ 18256 w 244"/>
                <a:gd name="T51" fmla="*/ 5538 h 303"/>
                <a:gd name="T52" fmla="*/ 14288 w 244"/>
                <a:gd name="T53" fmla="*/ 5538 h 303"/>
                <a:gd name="T54" fmla="*/ 18256 w 244"/>
                <a:gd name="T55" fmla="*/ 2373 h 303"/>
                <a:gd name="T56" fmla="*/ 14288 w 244"/>
                <a:gd name="T57" fmla="*/ 0 h 303"/>
                <a:gd name="T58" fmla="*/ 18256 w 244"/>
                <a:gd name="T59" fmla="*/ 0 h 303"/>
                <a:gd name="T60" fmla="*/ 21431 w 244"/>
                <a:gd name="T61" fmla="*/ 0 h 303"/>
                <a:gd name="T62" fmla="*/ 21431 w 244"/>
                <a:gd name="T63" fmla="*/ 2373 h 303"/>
                <a:gd name="T64" fmla="*/ 27781 w 244"/>
                <a:gd name="T65" fmla="*/ 5538 h 303"/>
                <a:gd name="T66" fmla="*/ 24606 w 244"/>
                <a:gd name="T67" fmla="*/ 8702 h 303"/>
                <a:gd name="T68" fmla="*/ 27781 w 244"/>
                <a:gd name="T69" fmla="*/ 8702 h 30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4"/>
                <a:gd name="T106" fmla="*/ 0 h 303"/>
                <a:gd name="T107" fmla="*/ 244 w 244"/>
                <a:gd name="T108" fmla="*/ 303 h 30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4" h="303">
                  <a:moveTo>
                    <a:pt x="140" y="47"/>
                  </a:moveTo>
                  <a:lnTo>
                    <a:pt x="140" y="47"/>
                  </a:lnTo>
                  <a:lnTo>
                    <a:pt x="210" y="15"/>
                  </a:lnTo>
                  <a:lnTo>
                    <a:pt x="210" y="30"/>
                  </a:lnTo>
                  <a:lnTo>
                    <a:pt x="192" y="30"/>
                  </a:lnTo>
                  <a:lnTo>
                    <a:pt x="227" y="47"/>
                  </a:lnTo>
                  <a:lnTo>
                    <a:pt x="244" y="174"/>
                  </a:lnTo>
                  <a:lnTo>
                    <a:pt x="227" y="159"/>
                  </a:lnTo>
                  <a:lnTo>
                    <a:pt x="192" y="174"/>
                  </a:lnTo>
                  <a:lnTo>
                    <a:pt x="158" y="191"/>
                  </a:lnTo>
                  <a:lnTo>
                    <a:pt x="175" y="222"/>
                  </a:lnTo>
                  <a:lnTo>
                    <a:pt x="210" y="255"/>
                  </a:lnTo>
                  <a:lnTo>
                    <a:pt x="192" y="270"/>
                  </a:lnTo>
                  <a:lnTo>
                    <a:pt x="192" y="287"/>
                  </a:lnTo>
                  <a:lnTo>
                    <a:pt x="123" y="303"/>
                  </a:lnTo>
                  <a:lnTo>
                    <a:pt x="89" y="303"/>
                  </a:lnTo>
                  <a:lnTo>
                    <a:pt x="35" y="303"/>
                  </a:lnTo>
                  <a:lnTo>
                    <a:pt x="54" y="255"/>
                  </a:lnTo>
                  <a:lnTo>
                    <a:pt x="0" y="222"/>
                  </a:lnTo>
                  <a:lnTo>
                    <a:pt x="0" y="207"/>
                  </a:lnTo>
                  <a:lnTo>
                    <a:pt x="0" y="174"/>
                  </a:lnTo>
                  <a:lnTo>
                    <a:pt x="0" y="126"/>
                  </a:lnTo>
                  <a:lnTo>
                    <a:pt x="18" y="111"/>
                  </a:lnTo>
                  <a:lnTo>
                    <a:pt x="35" y="63"/>
                  </a:lnTo>
                  <a:lnTo>
                    <a:pt x="71" y="63"/>
                  </a:lnTo>
                  <a:lnTo>
                    <a:pt x="89" y="30"/>
                  </a:lnTo>
                  <a:lnTo>
                    <a:pt x="71" y="30"/>
                  </a:lnTo>
                  <a:lnTo>
                    <a:pt x="89" y="15"/>
                  </a:lnTo>
                  <a:lnTo>
                    <a:pt x="71" y="0"/>
                  </a:lnTo>
                  <a:lnTo>
                    <a:pt x="89" y="0"/>
                  </a:lnTo>
                  <a:lnTo>
                    <a:pt x="106" y="0"/>
                  </a:lnTo>
                  <a:lnTo>
                    <a:pt x="106" y="15"/>
                  </a:lnTo>
                  <a:lnTo>
                    <a:pt x="140" y="30"/>
                  </a:lnTo>
                  <a:lnTo>
                    <a:pt x="123" y="47"/>
                  </a:lnTo>
                  <a:lnTo>
                    <a:pt x="140" y="4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29" name="Freeform 444">
              <a:extLst>
                <a:ext uri="{FF2B5EF4-FFF2-40B4-BE49-F238E27FC236}">
                  <a16:creationId xmlns:a16="http://schemas.microsoft.com/office/drawing/2014/main" id="{CEDB05FA-BFC9-4572-A262-01BCEAE835D7}"/>
                </a:ext>
              </a:extLst>
            </p:cNvPr>
            <p:cNvSpPr>
              <a:spLocks/>
            </p:cNvSpPr>
            <p:nvPr>
              <p:custDataLst>
                <p:tags r:id="rId258"/>
              </p:custDataLst>
            </p:nvPr>
          </p:nvSpPr>
          <p:spPr bwMode="auto">
            <a:xfrm>
              <a:off x="7456674" y="3358529"/>
              <a:ext cx="290277" cy="269166"/>
            </a:xfrm>
            <a:custGeom>
              <a:avLst/>
              <a:gdLst>
                <a:gd name="T0" fmla="*/ 3969 w 330"/>
                <a:gd name="T1" fmla="*/ 23094 h 305"/>
                <a:gd name="T2" fmla="*/ 3969 w 330"/>
                <a:gd name="T3" fmla="*/ 23094 h 305"/>
                <a:gd name="T4" fmla="*/ 9525 w 330"/>
                <a:gd name="T5" fmla="*/ 19112 h 305"/>
                <a:gd name="T6" fmla="*/ 16669 w 330"/>
                <a:gd name="T7" fmla="*/ 23094 h 305"/>
                <a:gd name="T8" fmla="*/ 23813 w 330"/>
                <a:gd name="T9" fmla="*/ 32651 h 305"/>
                <a:gd name="T10" fmla="*/ 27781 w 330"/>
                <a:gd name="T11" fmla="*/ 32651 h 305"/>
                <a:gd name="T12" fmla="*/ 30956 w 330"/>
                <a:gd name="T13" fmla="*/ 38225 h 305"/>
                <a:gd name="T14" fmla="*/ 38100 w 330"/>
                <a:gd name="T15" fmla="*/ 42207 h 305"/>
                <a:gd name="T16" fmla="*/ 44450 w 330"/>
                <a:gd name="T17" fmla="*/ 47781 h 305"/>
                <a:gd name="T18" fmla="*/ 47625 w 330"/>
                <a:gd name="T19" fmla="*/ 47781 h 305"/>
                <a:gd name="T20" fmla="*/ 52388 w 330"/>
                <a:gd name="T21" fmla="*/ 57337 h 305"/>
                <a:gd name="T22" fmla="*/ 47625 w 330"/>
                <a:gd name="T23" fmla="*/ 61319 h 305"/>
                <a:gd name="T24" fmla="*/ 52388 w 330"/>
                <a:gd name="T25" fmla="*/ 61319 h 305"/>
                <a:gd name="T26" fmla="*/ 55563 w 330"/>
                <a:gd name="T27" fmla="*/ 57337 h 305"/>
                <a:gd name="T28" fmla="*/ 55563 w 330"/>
                <a:gd name="T29" fmla="*/ 54948 h 305"/>
                <a:gd name="T30" fmla="*/ 55563 w 330"/>
                <a:gd name="T31" fmla="*/ 51763 h 305"/>
                <a:gd name="T32" fmla="*/ 55563 w 330"/>
                <a:gd name="T33" fmla="*/ 45392 h 305"/>
                <a:gd name="T34" fmla="*/ 61913 w 330"/>
                <a:gd name="T35" fmla="*/ 51763 h 305"/>
                <a:gd name="T36" fmla="*/ 65881 w 330"/>
                <a:gd name="T37" fmla="*/ 47781 h 305"/>
                <a:gd name="T38" fmla="*/ 47625 w 330"/>
                <a:gd name="T39" fmla="*/ 38225 h 305"/>
                <a:gd name="T40" fmla="*/ 52388 w 330"/>
                <a:gd name="T41" fmla="*/ 35836 h 305"/>
                <a:gd name="T42" fmla="*/ 47625 w 330"/>
                <a:gd name="T43" fmla="*/ 35836 h 305"/>
                <a:gd name="T44" fmla="*/ 41275 w 330"/>
                <a:gd name="T45" fmla="*/ 32651 h 305"/>
                <a:gd name="T46" fmla="*/ 38100 w 330"/>
                <a:gd name="T47" fmla="*/ 26280 h 305"/>
                <a:gd name="T48" fmla="*/ 30956 w 330"/>
                <a:gd name="T49" fmla="*/ 19112 h 305"/>
                <a:gd name="T50" fmla="*/ 30956 w 330"/>
                <a:gd name="T51" fmla="*/ 9556 h 305"/>
                <a:gd name="T52" fmla="*/ 34131 w 330"/>
                <a:gd name="T53" fmla="*/ 9556 h 305"/>
                <a:gd name="T54" fmla="*/ 38100 w 330"/>
                <a:gd name="T55" fmla="*/ 9556 h 305"/>
                <a:gd name="T56" fmla="*/ 38100 w 330"/>
                <a:gd name="T57" fmla="*/ 7167 h 305"/>
                <a:gd name="T58" fmla="*/ 38100 w 330"/>
                <a:gd name="T59" fmla="*/ 3982 h 305"/>
                <a:gd name="T60" fmla="*/ 30956 w 330"/>
                <a:gd name="T61" fmla="*/ 0 h 305"/>
                <a:gd name="T62" fmla="*/ 19844 w 330"/>
                <a:gd name="T63" fmla="*/ 0 h 305"/>
                <a:gd name="T64" fmla="*/ 16669 w 330"/>
                <a:gd name="T65" fmla="*/ 7167 h 305"/>
                <a:gd name="T66" fmla="*/ 14288 w 330"/>
                <a:gd name="T67" fmla="*/ 3982 h 305"/>
                <a:gd name="T68" fmla="*/ 14288 w 330"/>
                <a:gd name="T69" fmla="*/ 7167 h 305"/>
                <a:gd name="T70" fmla="*/ 9525 w 330"/>
                <a:gd name="T71" fmla="*/ 7167 h 305"/>
                <a:gd name="T72" fmla="*/ 3969 w 330"/>
                <a:gd name="T73" fmla="*/ 9556 h 305"/>
                <a:gd name="T74" fmla="*/ 0 w 330"/>
                <a:gd name="T75" fmla="*/ 9556 h 305"/>
                <a:gd name="T76" fmla="*/ 0 w 330"/>
                <a:gd name="T77" fmla="*/ 16723 h 305"/>
                <a:gd name="T78" fmla="*/ 3969 w 330"/>
                <a:gd name="T79" fmla="*/ 23094 h 30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0"/>
                <a:gd name="T121" fmla="*/ 0 h 305"/>
                <a:gd name="T122" fmla="*/ 330 w 330"/>
                <a:gd name="T123" fmla="*/ 305 h 30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0" h="305">
                  <a:moveTo>
                    <a:pt x="17" y="113"/>
                  </a:moveTo>
                  <a:lnTo>
                    <a:pt x="17" y="113"/>
                  </a:lnTo>
                  <a:lnTo>
                    <a:pt x="51" y="96"/>
                  </a:lnTo>
                  <a:lnTo>
                    <a:pt x="86" y="113"/>
                  </a:lnTo>
                  <a:lnTo>
                    <a:pt x="120" y="161"/>
                  </a:lnTo>
                  <a:lnTo>
                    <a:pt x="138" y="161"/>
                  </a:lnTo>
                  <a:lnTo>
                    <a:pt x="155" y="192"/>
                  </a:lnTo>
                  <a:lnTo>
                    <a:pt x="192" y="209"/>
                  </a:lnTo>
                  <a:lnTo>
                    <a:pt x="226" y="240"/>
                  </a:lnTo>
                  <a:lnTo>
                    <a:pt x="243" y="240"/>
                  </a:lnTo>
                  <a:lnTo>
                    <a:pt x="261" y="288"/>
                  </a:lnTo>
                  <a:lnTo>
                    <a:pt x="243" y="305"/>
                  </a:lnTo>
                  <a:lnTo>
                    <a:pt x="261" y="305"/>
                  </a:lnTo>
                  <a:lnTo>
                    <a:pt x="278" y="288"/>
                  </a:lnTo>
                  <a:lnTo>
                    <a:pt x="278" y="273"/>
                  </a:lnTo>
                  <a:lnTo>
                    <a:pt x="278" y="257"/>
                  </a:lnTo>
                  <a:lnTo>
                    <a:pt x="278" y="225"/>
                  </a:lnTo>
                  <a:lnTo>
                    <a:pt x="312" y="257"/>
                  </a:lnTo>
                  <a:lnTo>
                    <a:pt x="330" y="240"/>
                  </a:lnTo>
                  <a:lnTo>
                    <a:pt x="243" y="192"/>
                  </a:lnTo>
                  <a:lnTo>
                    <a:pt x="261" y="177"/>
                  </a:lnTo>
                  <a:lnTo>
                    <a:pt x="243" y="177"/>
                  </a:lnTo>
                  <a:lnTo>
                    <a:pt x="209" y="161"/>
                  </a:lnTo>
                  <a:lnTo>
                    <a:pt x="192" y="129"/>
                  </a:lnTo>
                  <a:lnTo>
                    <a:pt x="155" y="96"/>
                  </a:lnTo>
                  <a:lnTo>
                    <a:pt x="155" y="48"/>
                  </a:lnTo>
                  <a:lnTo>
                    <a:pt x="174" y="48"/>
                  </a:lnTo>
                  <a:lnTo>
                    <a:pt x="192" y="48"/>
                  </a:lnTo>
                  <a:lnTo>
                    <a:pt x="192" y="33"/>
                  </a:lnTo>
                  <a:lnTo>
                    <a:pt x="192" y="17"/>
                  </a:lnTo>
                  <a:lnTo>
                    <a:pt x="155" y="0"/>
                  </a:lnTo>
                  <a:lnTo>
                    <a:pt x="103" y="0"/>
                  </a:lnTo>
                  <a:lnTo>
                    <a:pt x="86" y="33"/>
                  </a:lnTo>
                  <a:lnTo>
                    <a:pt x="69" y="17"/>
                  </a:lnTo>
                  <a:lnTo>
                    <a:pt x="69" y="33"/>
                  </a:lnTo>
                  <a:lnTo>
                    <a:pt x="51" y="33"/>
                  </a:lnTo>
                  <a:lnTo>
                    <a:pt x="17" y="48"/>
                  </a:lnTo>
                  <a:lnTo>
                    <a:pt x="0" y="48"/>
                  </a:lnTo>
                  <a:lnTo>
                    <a:pt x="0" y="81"/>
                  </a:lnTo>
                  <a:lnTo>
                    <a:pt x="17" y="11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30" name="Freeform 445">
              <a:extLst>
                <a:ext uri="{FF2B5EF4-FFF2-40B4-BE49-F238E27FC236}">
                  <a16:creationId xmlns:a16="http://schemas.microsoft.com/office/drawing/2014/main" id="{799D50E7-40CF-4E0C-AA2B-6F04E4A90B04}"/>
                </a:ext>
              </a:extLst>
            </p:cNvPr>
            <p:cNvSpPr>
              <a:spLocks/>
            </p:cNvSpPr>
            <p:nvPr>
              <p:custDataLst>
                <p:tags r:id="rId259"/>
              </p:custDataLst>
            </p:nvPr>
          </p:nvSpPr>
          <p:spPr bwMode="auto">
            <a:xfrm>
              <a:off x="7425007" y="3260011"/>
              <a:ext cx="15834" cy="14074"/>
            </a:xfrm>
            <a:custGeom>
              <a:avLst/>
              <a:gdLst>
                <a:gd name="T0" fmla="*/ 0 w 17"/>
                <a:gd name="T1" fmla="*/ 3387 h 15"/>
                <a:gd name="T2" fmla="*/ 0 w 17"/>
                <a:gd name="T3" fmla="*/ 3387 h 15"/>
                <a:gd name="T4" fmla="*/ 0 w 17"/>
                <a:gd name="T5" fmla="*/ 0 h 15"/>
                <a:gd name="T6" fmla="*/ 4202 w 17"/>
                <a:gd name="T7" fmla="*/ 0 h 15"/>
                <a:gd name="T8" fmla="*/ 4202 w 17"/>
                <a:gd name="T9" fmla="*/ 3387 h 15"/>
                <a:gd name="T10" fmla="*/ 0 w 17"/>
                <a:gd name="T11" fmla="*/ 3387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15"/>
                  </a:moveTo>
                  <a:lnTo>
                    <a:pt x="0" y="15"/>
                  </a:lnTo>
                  <a:lnTo>
                    <a:pt x="0" y="0"/>
                  </a:lnTo>
                  <a:lnTo>
                    <a:pt x="17" y="0"/>
                  </a:lnTo>
                  <a:lnTo>
                    <a:pt x="17" y="15"/>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31" name="Freeform 446">
              <a:extLst>
                <a:ext uri="{FF2B5EF4-FFF2-40B4-BE49-F238E27FC236}">
                  <a16:creationId xmlns:a16="http://schemas.microsoft.com/office/drawing/2014/main" id="{D78AEF5D-FA74-4958-97C5-23F6AF31DE5B}"/>
                </a:ext>
              </a:extLst>
            </p:cNvPr>
            <p:cNvSpPr>
              <a:spLocks/>
            </p:cNvSpPr>
            <p:nvPr>
              <p:custDataLst>
                <p:tags r:id="rId260"/>
              </p:custDataLst>
            </p:nvPr>
          </p:nvSpPr>
          <p:spPr bwMode="auto">
            <a:xfrm>
              <a:off x="7627319" y="3358529"/>
              <a:ext cx="59815" cy="42222"/>
            </a:xfrm>
            <a:custGeom>
              <a:avLst/>
              <a:gdLst>
                <a:gd name="T0" fmla="*/ 13108 w 70"/>
                <a:gd name="T1" fmla="*/ 3969 h 48"/>
                <a:gd name="T2" fmla="*/ 13108 w 70"/>
                <a:gd name="T3" fmla="*/ 3969 h 48"/>
                <a:gd name="T4" fmla="*/ 9253 w 70"/>
                <a:gd name="T5" fmla="*/ 3969 h 48"/>
                <a:gd name="T6" fmla="*/ 6169 w 70"/>
                <a:gd name="T7" fmla="*/ 9525 h 48"/>
                <a:gd name="T8" fmla="*/ 3084 w 70"/>
                <a:gd name="T9" fmla="*/ 9525 h 48"/>
                <a:gd name="T10" fmla="*/ 0 w 70"/>
                <a:gd name="T11" fmla="*/ 9525 h 48"/>
                <a:gd name="T12" fmla="*/ 0 w 70"/>
                <a:gd name="T13" fmla="*/ 7144 h 48"/>
                <a:gd name="T14" fmla="*/ 0 w 70"/>
                <a:gd name="T15" fmla="*/ 3969 h 48"/>
                <a:gd name="T16" fmla="*/ 13108 w 70"/>
                <a:gd name="T17" fmla="*/ 0 h 48"/>
                <a:gd name="T18" fmla="*/ 13108 w 70"/>
                <a:gd name="T19" fmla="*/ 3969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0"/>
                <a:gd name="T31" fmla="*/ 0 h 48"/>
                <a:gd name="T32" fmla="*/ 70 w 70"/>
                <a:gd name="T33" fmla="*/ 48 h 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0" h="48">
                  <a:moveTo>
                    <a:pt x="70" y="17"/>
                  </a:moveTo>
                  <a:lnTo>
                    <a:pt x="70" y="17"/>
                  </a:lnTo>
                  <a:lnTo>
                    <a:pt x="52" y="17"/>
                  </a:lnTo>
                  <a:lnTo>
                    <a:pt x="35" y="48"/>
                  </a:lnTo>
                  <a:lnTo>
                    <a:pt x="18" y="48"/>
                  </a:lnTo>
                  <a:lnTo>
                    <a:pt x="0" y="48"/>
                  </a:lnTo>
                  <a:lnTo>
                    <a:pt x="0" y="33"/>
                  </a:lnTo>
                  <a:lnTo>
                    <a:pt x="0" y="17"/>
                  </a:lnTo>
                  <a:lnTo>
                    <a:pt x="70" y="0"/>
                  </a:lnTo>
                  <a:lnTo>
                    <a:pt x="70"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32" name="Freeform 447">
              <a:extLst>
                <a:ext uri="{FF2B5EF4-FFF2-40B4-BE49-F238E27FC236}">
                  <a16:creationId xmlns:a16="http://schemas.microsoft.com/office/drawing/2014/main" id="{7AABE4E9-B232-4038-BD1D-887BE14A50F0}"/>
                </a:ext>
              </a:extLst>
            </p:cNvPr>
            <p:cNvSpPr>
              <a:spLocks/>
            </p:cNvSpPr>
            <p:nvPr>
              <p:custDataLst>
                <p:tags r:id="rId261"/>
              </p:custDataLst>
            </p:nvPr>
          </p:nvSpPr>
          <p:spPr bwMode="auto">
            <a:xfrm>
              <a:off x="7794449" y="2332885"/>
              <a:ext cx="258611" cy="534813"/>
            </a:xfrm>
            <a:custGeom>
              <a:avLst/>
              <a:gdLst>
                <a:gd name="T0" fmla="*/ 44450 w 294"/>
                <a:gd name="T1" fmla="*/ 15849 h 609"/>
                <a:gd name="T2" fmla="*/ 44450 w 294"/>
                <a:gd name="T3" fmla="*/ 15849 h 609"/>
                <a:gd name="T4" fmla="*/ 44450 w 294"/>
                <a:gd name="T5" fmla="*/ 25358 h 609"/>
                <a:gd name="T6" fmla="*/ 51594 w 294"/>
                <a:gd name="T7" fmla="*/ 31698 h 609"/>
                <a:gd name="T8" fmla="*/ 47625 w 294"/>
                <a:gd name="T9" fmla="*/ 41207 h 609"/>
                <a:gd name="T10" fmla="*/ 51594 w 294"/>
                <a:gd name="T11" fmla="*/ 57056 h 609"/>
                <a:gd name="T12" fmla="*/ 47625 w 294"/>
                <a:gd name="T13" fmla="*/ 66566 h 609"/>
                <a:gd name="T14" fmla="*/ 55563 w 294"/>
                <a:gd name="T15" fmla="*/ 76075 h 609"/>
                <a:gd name="T16" fmla="*/ 51594 w 294"/>
                <a:gd name="T17" fmla="*/ 82414 h 609"/>
                <a:gd name="T18" fmla="*/ 58738 w 294"/>
                <a:gd name="T19" fmla="*/ 87962 h 609"/>
                <a:gd name="T20" fmla="*/ 58738 w 294"/>
                <a:gd name="T21" fmla="*/ 91924 h 609"/>
                <a:gd name="T22" fmla="*/ 47625 w 294"/>
                <a:gd name="T23" fmla="*/ 106980 h 609"/>
                <a:gd name="T24" fmla="*/ 37306 w 294"/>
                <a:gd name="T25" fmla="*/ 114112 h 609"/>
                <a:gd name="T26" fmla="*/ 34131 w 294"/>
                <a:gd name="T27" fmla="*/ 114112 h 609"/>
                <a:gd name="T28" fmla="*/ 16669 w 294"/>
                <a:gd name="T29" fmla="*/ 120452 h 609"/>
                <a:gd name="T30" fmla="*/ 3969 w 294"/>
                <a:gd name="T31" fmla="*/ 114112 h 609"/>
                <a:gd name="T32" fmla="*/ 7144 w 294"/>
                <a:gd name="T33" fmla="*/ 104603 h 609"/>
                <a:gd name="T34" fmla="*/ 3969 w 294"/>
                <a:gd name="T35" fmla="*/ 95094 h 609"/>
                <a:gd name="T36" fmla="*/ 7144 w 294"/>
                <a:gd name="T37" fmla="*/ 87962 h 609"/>
                <a:gd name="T38" fmla="*/ 20638 w 294"/>
                <a:gd name="T39" fmla="*/ 69735 h 609"/>
                <a:gd name="T40" fmla="*/ 23813 w 294"/>
                <a:gd name="T41" fmla="*/ 66566 h 609"/>
                <a:gd name="T42" fmla="*/ 23813 w 294"/>
                <a:gd name="T43" fmla="*/ 60226 h 609"/>
                <a:gd name="T44" fmla="*/ 20638 w 294"/>
                <a:gd name="T45" fmla="*/ 57056 h 609"/>
                <a:gd name="T46" fmla="*/ 16669 w 294"/>
                <a:gd name="T47" fmla="*/ 57056 h 609"/>
                <a:gd name="T48" fmla="*/ 14288 w 294"/>
                <a:gd name="T49" fmla="*/ 28528 h 609"/>
                <a:gd name="T50" fmla="*/ 0 w 294"/>
                <a:gd name="T51" fmla="*/ 15849 h 609"/>
                <a:gd name="T52" fmla="*/ 3969 w 294"/>
                <a:gd name="T53" fmla="*/ 12679 h 609"/>
                <a:gd name="T54" fmla="*/ 10319 w 294"/>
                <a:gd name="T55" fmla="*/ 19019 h 609"/>
                <a:gd name="T56" fmla="*/ 14288 w 294"/>
                <a:gd name="T57" fmla="*/ 19019 h 609"/>
                <a:gd name="T58" fmla="*/ 16669 w 294"/>
                <a:gd name="T59" fmla="*/ 19019 h 609"/>
                <a:gd name="T60" fmla="*/ 23813 w 294"/>
                <a:gd name="T61" fmla="*/ 19019 h 609"/>
                <a:gd name="T62" fmla="*/ 27781 w 294"/>
                <a:gd name="T63" fmla="*/ 15849 h 609"/>
                <a:gd name="T64" fmla="*/ 30956 w 294"/>
                <a:gd name="T65" fmla="*/ 3170 h 609"/>
                <a:gd name="T66" fmla="*/ 37306 w 294"/>
                <a:gd name="T67" fmla="*/ 0 h 609"/>
                <a:gd name="T68" fmla="*/ 47625 w 294"/>
                <a:gd name="T69" fmla="*/ 6340 h 609"/>
                <a:gd name="T70" fmla="*/ 44450 w 294"/>
                <a:gd name="T71" fmla="*/ 15849 h 60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94"/>
                <a:gd name="T109" fmla="*/ 0 h 609"/>
                <a:gd name="T110" fmla="*/ 294 w 294"/>
                <a:gd name="T111" fmla="*/ 609 h 60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94" h="609">
                  <a:moveTo>
                    <a:pt x="225" y="81"/>
                  </a:moveTo>
                  <a:lnTo>
                    <a:pt x="225" y="81"/>
                  </a:lnTo>
                  <a:lnTo>
                    <a:pt x="225" y="129"/>
                  </a:lnTo>
                  <a:lnTo>
                    <a:pt x="260" y="160"/>
                  </a:lnTo>
                  <a:lnTo>
                    <a:pt x="242" y="208"/>
                  </a:lnTo>
                  <a:lnTo>
                    <a:pt x="260" y="288"/>
                  </a:lnTo>
                  <a:lnTo>
                    <a:pt x="242" y="336"/>
                  </a:lnTo>
                  <a:lnTo>
                    <a:pt x="277" y="384"/>
                  </a:lnTo>
                  <a:lnTo>
                    <a:pt x="260" y="417"/>
                  </a:lnTo>
                  <a:lnTo>
                    <a:pt x="294" y="447"/>
                  </a:lnTo>
                  <a:lnTo>
                    <a:pt x="294" y="465"/>
                  </a:lnTo>
                  <a:lnTo>
                    <a:pt x="242" y="543"/>
                  </a:lnTo>
                  <a:lnTo>
                    <a:pt x="191" y="576"/>
                  </a:lnTo>
                  <a:lnTo>
                    <a:pt x="173" y="576"/>
                  </a:lnTo>
                  <a:lnTo>
                    <a:pt x="87" y="609"/>
                  </a:lnTo>
                  <a:lnTo>
                    <a:pt x="18" y="576"/>
                  </a:lnTo>
                  <a:lnTo>
                    <a:pt x="35" y="528"/>
                  </a:lnTo>
                  <a:lnTo>
                    <a:pt x="18" y="480"/>
                  </a:lnTo>
                  <a:lnTo>
                    <a:pt x="35" y="447"/>
                  </a:lnTo>
                  <a:lnTo>
                    <a:pt x="104" y="352"/>
                  </a:lnTo>
                  <a:lnTo>
                    <a:pt x="121" y="336"/>
                  </a:lnTo>
                  <a:lnTo>
                    <a:pt x="121" y="304"/>
                  </a:lnTo>
                  <a:lnTo>
                    <a:pt x="104" y="288"/>
                  </a:lnTo>
                  <a:lnTo>
                    <a:pt x="87" y="288"/>
                  </a:lnTo>
                  <a:lnTo>
                    <a:pt x="70" y="144"/>
                  </a:lnTo>
                  <a:lnTo>
                    <a:pt x="0" y="81"/>
                  </a:lnTo>
                  <a:lnTo>
                    <a:pt x="18" y="64"/>
                  </a:lnTo>
                  <a:lnTo>
                    <a:pt x="52" y="96"/>
                  </a:lnTo>
                  <a:lnTo>
                    <a:pt x="70" y="96"/>
                  </a:lnTo>
                  <a:lnTo>
                    <a:pt x="87" y="96"/>
                  </a:lnTo>
                  <a:lnTo>
                    <a:pt x="121" y="96"/>
                  </a:lnTo>
                  <a:lnTo>
                    <a:pt x="139" y="81"/>
                  </a:lnTo>
                  <a:lnTo>
                    <a:pt x="156" y="16"/>
                  </a:lnTo>
                  <a:lnTo>
                    <a:pt x="191" y="0"/>
                  </a:lnTo>
                  <a:lnTo>
                    <a:pt x="242" y="33"/>
                  </a:lnTo>
                  <a:lnTo>
                    <a:pt x="225" y="8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33" name="Freeform 448">
              <a:extLst>
                <a:ext uri="{FF2B5EF4-FFF2-40B4-BE49-F238E27FC236}">
                  <a16:creationId xmlns:a16="http://schemas.microsoft.com/office/drawing/2014/main" id="{3EC32922-CDA4-4FD9-913E-51247BF8E5DA}"/>
                </a:ext>
              </a:extLst>
            </p:cNvPr>
            <p:cNvSpPr>
              <a:spLocks/>
            </p:cNvSpPr>
            <p:nvPr>
              <p:custDataLst>
                <p:tags r:id="rId262"/>
              </p:custDataLst>
            </p:nvPr>
          </p:nvSpPr>
          <p:spPr bwMode="auto">
            <a:xfrm>
              <a:off x="7410933" y="2260755"/>
              <a:ext cx="642128" cy="691387"/>
            </a:xfrm>
            <a:custGeom>
              <a:avLst/>
              <a:gdLst>
                <a:gd name="T0" fmla="*/ 34178 w 729"/>
                <a:gd name="T1" fmla="*/ 149415 h 785"/>
                <a:gd name="T2" fmla="*/ 30999 w 729"/>
                <a:gd name="T3" fmla="*/ 143057 h 785"/>
                <a:gd name="T4" fmla="*/ 27819 w 729"/>
                <a:gd name="T5" fmla="*/ 147031 h 785"/>
                <a:gd name="T6" fmla="*/ 10333 w 729"/>
                <a:gd name="T7" fmla="*/ 156568 h 785"/>
                <a:gd name="T8" fmla="*/ 7154 w 729"/>
                <a:gd name="T9" fmla="*/ 143057 h 785"/>
                <a:gd name="T10" fmla="*/ 3974 w 729"/>
                <a:gd name="T11" fmla="*/ 143057 h 785"/>
                <a:gd name="T12" fmla="*/ 3974 w 729"/>
                <a:gd name="T13" fmla="*/ 133520 h 785"/>
                <a:gd name="T14" fmla="*/ 3974 w 729"/>
                <a:gd name="T15" fmla="*/ 120804 h 785"/>
                <a:gd name="T16" fmla="*/ 14307 w 729"/>
                <a:gd name="T17" fmla="*/ 108882 h 785"/>
                <a:gd name="T18" fmla="*/ 24640 w 729"/>
                <a:gd name="T19" fmla="*/ 99345 h 785"/>
                <a:gd name="T20" fmla="*/ 34178 w 729"/>
                <a:gd name="T21" fmla="*/ 85834 h 785"/>
                <a:gd name="T22" fmla="*/ 48485 w 729"/>
                <a:gd name="T23" fmla="*/ 63581 h 785"/>
                <a:gd name="T24" fmla="*/ 61997 w 729"/>
                <a:gd name="T25" fmla="*/ 42122 h 785"/>
                <a:gd name="T26" fmla="*/ 44511 w 729"/>
                <a:gd name="T27" fmla="*/ 47686 h 785"/>
                <a:gd name="T28" fmla="*/ 54844 w 729"/>
                <a:gd name="T29" fmla="*/ 42122 h 785"/>
                <a:gd name="T30" fmla="*/ 61997 w 729"/>
                <a:gd name="T31" fmla="*/ 28611 h 785"/>
                <a:gd name="T32" fmla="*/ 65177 w 729"/>
                <a:gd name="T33" fmla="*/ 32585 h 785"/>
                <a:gd name="T34" fmla="*/ 69151 w 729"/>
                <a:gd name="T35" fmla="*/ 32585 h 785"/>
                <a:gd name="T36" fmla="*/ 65177 w 729"/>
                <a:gd name="T37" fmla="*/ 25432 h 785"/>
                <a:gd name="T38" fmla="*/ 76305 w 729"/>
                <a:gd name="T39" fmla="*/ 15895 h 785"/>
                <a:gd name="T40" fmla="*/ 89817 w 729"/>
                <a:gd name="T41" fmla="*/ 13511 h 785"/>
                <a:gd name="T42" fmla="*/ 107303 w 729"/>
                <a:gd name="T43" fmla="*/ 6358 h 785"/>
                <a:gd name="T44" fmla="*/ 113662 w 729"/>
                <a:gd name="T45" fmla="*/ 0 h 785"/>
                <a:gd name="T46" fmla="*/ 117636 w 729"/>
                <a:gd name="T47" fmla="*/ 3974 h 785"/>
                <a:gd name="T48" fmla="*/ 123995 w 729"/>
                <a:gd name="T49" fmla="*/ 0 h 785"/>
                <a:gd name="T50" fmla="*/ 145456 w 729"/>
                <a:gd name="T51" fmla="*/ 13511 h 785"/>
                <a:gd name="T52" fmla="*/ 131149 w 729"/>
                <a:gd name="T53" fmla="*/ 15895 h 785"/>
                <a:gd name="T54" fmla="*/ 141481 w 729"/>
                <a:gd name="T55" fmla="*/ 23048 h 785"/>
                <a:gd name="T56" fmla="*/ 138302 w 729"/>
                <a:gd name="T57" fmla="*/ 25432 h 785"/>
                <a:gd name="T58" fmla="*/ 135123 w 729"/>
                <a:gd name="T59" fmla="*/ 23048 h 785"/>
                <a:gd name="T60" fmla="*/ 117636 w 729"/>
                <a:gd name="T61" fmla="*/ 19074 h 785"/>
                <a:gd name="T62" fmla="*/ 110483 w 729"/>
                <a:gd name="T63" fmla="*/ 34970 h 785"/>
                <a:gd name="T64" fmla="*/ 100150 w 729"/>
                <a:gd name="T65" fmla="*/ 34970 h 785"/>
                <a:gd name="T66" fmla="*/ 89817 w 729"/>
                <a:gd name="T67" fmla="*/ 28611 h 785"/>
                <a:gd name="T68" fmla="*/ 82663 w 729"/>
                <a:gd name="T69" fmla="*/ 32585 h 785"/>
                <a:gd name="T70" fmla="*/ 76305 w 729"/>
                <a:gd name="T71" fmla="*/ 38149 h 785"/>
                <a:gd name="T72" fmla="*/ 72330 w 729"/>
                <a:gd name="T73" fmla="*/ 44507 h 785"/>
                <a:gd name="T74" fmla="*/ 65177 w 729"/>
                <a:gd name="T75" fmla="*/ 47686 h 785"/>
                <a:gd name="T76" fmla="*/ 61997 w 729"/>
                <a:gd name="T77" fmla="*/ 57223 h 785"/>
                <a:gd name="T78" fmla="*/ 54844 w 729"/>
                <a:gd name="T79" fmla="*/ 70734 h 785"/>
                <a:gd name="T80" fmla="*/ 48485 w 729"/>
                <a:gd name="T81" fmla="*/ 85834 h 785"/>
                <a:gd name="T82" fmla="*/ 44511 w 729"/>
                <a:gd name="T83" fmla="*/ 95371 h 785"/>
                <a:gd name="T84" fmla="*/ 38152 w 729"/>
                <a:gd name="T85" fmla="*/ 111267 h 785"/>
                <a:gd name="T86" fmla="*/ 41332 w 729"/>
                <a:gd name="T87" fmla="*/ 127957 h 785"/>
                <a:gd name="T88" fmla="*/ 38152 w 729"/>
                <a:gd name="T89" fmla="*/ 139878 h 785"/>
                <a:gd name="T90" fmla="*/ 34178 w 729"/>
                <a:gd name="T91" fmla="*/ 149415 h 7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29"/>
                <a:gd name="T139" fmla="*/ 0 h 785"/>
                <a:gd name="T140" fmla="*/ 729 w 729"/>
                <a:gd name="T141" fmla="*/ 785 h 78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29" h="785">
                  <a:moveTo>
                    <a:pt x="172" y="752"/>
                  </a:moveTo>
                  <a:lnTo>
                    <a:pt x="172" y="752"/>
                  </a:lnTo>
                  <a:lnTo>
                    <a:pt x="172" y="737"/>
                  </a:lnTo>
                  <a:lnTo>
                    <a:pt x="155" y="719"/>
                  </a:lnTo>
                  <a:lnTo>
                    <a:pt x="155" y="737"/>
                  </a:lnTo>
                  <a:lnTo>
                    <a:pt x="138" y="737"/>
                  </a:lnTo>
                  <a:lnTo>
                    <a:pt x="86" y="785"/>
                  </a:lnTo>
                  <a:lnTo>
                    <a:pt x="52" y="785"/>
                  </a:lnTo>
                  <a:lnTo>
                    <a:pt x="17" y="767"/>
                  </a:lnTo>
                  <a:lnTo>
                    <a:pt x="34" y="719"/>
                  </a:lnTo>
                  <a:lnTo>
                    <a:pt x="17" y="737"/>
                  </a:lnTo>
                  <a:lnTo>
                    <a:pt x="17" y="719"/>
                  </a:lnTo>
                  <a:lnTo>
                    <a:pt x="17" y="704"/>
                  </a:lnTo>
                  <a:lnTo>
                    <a:pt x="17" y="671"/>
                  </a:lnTo>
                  <a:lnTo>
                    <a:pt x="0" y="641"/>
                  </a:lnTo>
                  <a:lnTo>
                    <a:pt x="17" y="608"/>
                  </a:lnTo>
                  <a:lnTo>
                    <a:pt x="0" y="593"/>
                  </a:lnTo>
                  <a:lnTo>
                    <a:pt x="69" y="545"/>
                  </a:lnTo>
                  <a:lnTo>
                    <a:pt x="86" y="527"/>
                  </a:lnTo>
                  <a:lnTo>
                    <a:pt x="121" y="497"/>
                  </a:lnTo>
                  <a:lnTo>
                    <a:pt x="121" y="512"/>
                  </a:lnTo>
                  <a:lnTo>
                    <a:pt x="172" y="432"/>
                  </a:lnTo>
                  <a:lnTo>
                    <a:pt x="207" y="401"/>
                  </a:lnTo>
                  <a:lnTo>
                    <a:pt x="242" y="320"/>
                  </a:lnTo>
                  <a:lnTo>
                    <a:pt x="276" y="240"/>
                  </a:lnTo>
                  <a:lnTo>
                    <a:pt x="311" y="209"/>
                  </a:lnTo>
                  <a:lnTo>
                    <a:pt x="259" y="224"/>
                  </a:lnTo>
                  <a:lnTo>
                    <a:pt x="224" y="240"/>
                  </a:lnTo>
                  <a:lnTo>
                    <a:pt x="242" y="209"/>
                  </a:lnTo>
                  <a:lnTo>
                    <a:pt x="276" y="209"/>
                  </a:lnTo>
                  <a:lnTo>
                    <a:pt x="259" y="176"/>
                  </a:lnTo>
                  <a:lnTo>
                    <a:pt x="311" y="144"/>
                  </a:lnTo>
                  <a:lnTo>
                    <a:pt x="311" y="176"/>
                  </a:lnTo>
                  <a:lnTo>
                    <a:pt x="328" y="161"/>
                  </a:lnTo>
                  <a:lnTo>
                    <a:pt x="328" y="176"/>
                  </a:lnTo>
                  <a:lnTo>
                    <a:pt x="347" y="161"/>
                  </a:lnTo>
                  <a:lnTo>
                    <a:pt x="328" y="161"/>
                  </a:lnTo>
                  <a:lnTo>
                    <a:pt x="328" y="128"/>
                  </a:lnTo>
                  <a:lnTo>
                    <a:pt x="364" y="113"/>
                  </a:lnTo>
                  <a:lnTo>
                    <a:pt x="382" y="80"/>
                  </a:lnTo>
                  <a:lnTo>
                    <a:pt x="416" y="80"/>
                  </a:lnTo>
                  <a:lnTo>
                    <a:pt x="451" y="65"/>
                  </a:lnTo>
                  <a:lnTo>
                    <a:pt x="503" y="17"/>
                  </a:lnTo>
                  <a:lnTo>
                    <a:pt x="537" y="32"/>
                  </a:lnTo>
                  <a:lnTo>
                    <a:pt x="555" y="17"/>
                  </a:lnTo>
                  <a:lnTo>
                    <a:pt x="572" y="0"/>
                  </a:lnTo>
                  <a:lnTo>
                    <a:pt x="572" y="48"/>
                  </a:lnTo>
                  <a:lnTo>
                    <a:pt x="589" y="17"/>
                  </a:lnTo>
                  <a:lnTo>
                    <a:pt x="606" y="48"/>
                  </a:lnTo>
                  <a:lnTo>
                    <a:pt x="624" y="0"/>
                  </a:lnTo>
                  <a:lnTo>
                    <a:pt x="658" y="17"/>
                  </a:lnTo>
                  <a:lnTo>
                    <a:pt x="729" y="65"/>
                  </a:lnTo>
                  <a:lnTo>
                    <a:pt x="695" y="80"/>
                  </a:lnTo>
                  <a:lnTo>
                    <a:pt x="658" y="80"/>
                  </a:lnTo>
                  <a:lnTo>
                    <a:pt x="695" y="96"/>
                  </a:lnTo>
                  <a:lnTo>
                    <a:pt x="712" y="113"/>
                  </a:lnTo>
                  <a:lnTo>
                    <a:pt x="712" y="128"/>
                  </a:lnTo>
                  <a:lnTo>
                    <a:pt x="695" y="128"/>
                  </a:lnTo>
                  <a:lnTo>
                    <a:pt x="658" y="161"/>
                  </a:lnTo>
                  <a:lnTo>
                    <a:pt x="677" y="113"/>
                  </a:lnTo>
                  <a:lnTo>
                    <a:pt x="624" y="80"/>
                  </a:lnTo>
                  <a:lnTo>
                    <a:pt x="589" y="96"/>
                  </a:lnTo>
                  <a:lnTo>
                    <a:pt x="572" y="161"/>
                  </a:lnTo>
                  <a:lnTo>
                    <a:pt x="555" y="176"/>
                  </a:lnTo>
                  <a:lnTo>
                    <a:pt x="520" y="176"/>
                  </a:lnTo>
                  <a:lnTo>
                    <a:pt x="503" y="176"/>
                  </a:lnTo>
                  <a:lnTo>
                    <a:pt x="485" y="176"/>
                  </a:lnTo>
                  <a:lnTo>
                    <a:pt x="451" y="144"/>
                  </a:lnTo>
                  <a:lnTo>
                    <a:pt x="434" y="161"/>
                  </a:lnTo>
                  <a:lnTo>
                    <a:pt x="416" y="161"/>
                  </a:lnTo>
                  <a:lnTo>
                    <a:pt x="416" y="192"/>
                  </a:lnTo>
                  <a:lnTo>
                    <a:pt x="382" y="192"/>
                  </a:lnTo>
                  <a:lnTo>
                    <a:pt x="364" y="192"/>
                  </a:lnTo>
                  <a:lnTo>
                    <a:pt x="364" y="224"/>
                  </a:lnTo>
                  <a:lnTo>
                    <a:pt x="347" y="224"/>
                  </a:lnTo>
                  <a:lnTo>
                    <a:pt x="328" y="240"/>
                  </a:lnTo>
                  <a:lnTo>
                    <a:pt x="311" y="272"/>
                  </a:lnTo>
                  <a:lnTo>
                    <a:pt x="311" y="288"/>
                  </a:lnTo>
                  <a:lnTo>
                    <a:pt x="311" y="305"/>
                  </a:lnTo>
                  <a:lnTo>
                    <a:pt x="276" y="353"/>
                  </a:lnTo>
                  <a:lnTo>
                    <a:pt x="259" y="401"/>
                  </a:lnTo>
                  <a:lnTo>
                    <a:pt x="242" y="432"/>
                  </a:lnTo>
                  <a:lnTo>
                    <a:pt x="259" y="464"/>
                  </a:lnTo>
                  <a:lnTo>
                    <a:pt x="224" y="479"/>
                  </a:lnTo>
                  <a:lnTo>
                    <a:pt x="207" y="497"/>
                  </a:lnTo>
                  <a:lnTo>
                    <a:pt x="190" y="560"/>
                  </a:lnTo>
                  <a:lnTo>
                    <a:pt x="207" y="623"/>
                  </a:lnTo>
                  <a:lnTo>
                    <a:pt x="207" y="641"/>
                  </a:lnTo>
                  <a:lnTo>
                    <a:pt x="207" y="689"/>
                  </a:lnTo>
                  <a:lnTo>
                    <a:pt x="190" y="704"/>
                  </a:lnTo>
                  <a:lnTo>
                    <a:pt x="190" y="752"/>
                  </a:lnTo>
                  <a:lnTo>
                    <a:pt x="172" y="75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34" name="Freeform 449">
              <a:extLst>
                <a:ext uri="{FF2B5EF4-FFF2-40B4-BE49-F238E27FC236}">
                  <a16:creationId xmlns:a16="http://schemas.microsoft.com/office/drawing/2014/main" id="{9B2C0CA0-E79C-4BF9-A8FF-E1E7D0F9489C}"/>
                </a:ext>
              </a:extLst>
            </p:cNvPr>
            <p:cNvSpPr>
              <a:spLocks/>
            </p:cNvSpPr>
            <p:nvPr>
              <p:custDataLst>
                <p:tags r:id="rId263"/>
              </p:custDataLst>
            </p:nvPr>
          </p:nvSpPr>
          <p:spPr bwMode="auto">
            <a:xfrm>
              <a:off x="7563986" y="2403255"/>
              <a:ext cx="304351" cy="659720"/>
            </a:xfrm>
            <a:custGeom>
              <a:avLst/>
              <a:gdLst>
                <a:gd name="T0" fmla="*/ 0 w 346"/>
                <a:gd name="T1" fmla="*/ 117475 h 750"/>
                <a:gd name="T2" fmla="*/ 0 w 346"/>
                <a:gd name="T3" fmla="*/ 117475 h 750"/>
                <a:gd name="T4" fmla="*/ 3969 w 346"/>
                <a:gd name="T5" fmla="*/ 117475 h 750"/>
                <a:gd name="T6" fmla="*/ 3969 w 346"/>
                <a:gd name="T7" fmla="*/ 107950 h 750"/>
                <a:gd name="T8" fmla="*/ 7144 w 346"/>
                <a:gd name="T9" fmla="*/ 104775 h 750"/>
                <a:gd name="T10" fmla="*/ 7144 w 346"/>
                <a:gd name="T11" fmla="*/ 95250 h 750"/>
                <a:gd name="T12" fmla="*/ 7144 w 346"/>
                <a:gd name="T13" fmla="*/ 91281 h 750"/>
                <a:gd name="T14" fmla="*/ 3969 w 346"/>
                <a:gd name="T15" fmla="*/ 78581 h 750"/>
                <a:gd name="T16" fmla="*/ 7144 w 346"/>
                <a:gd name="T17" fmla="*/ 66675 h 750"/>
                <a:gd name="T18" fmla="*/ 10319 w 346"/>
                <a:gd name="T19" fmla="*/ 63500 h 750"/>
                <a:gd name="T20" fmla="*/ 17463 w 346"/>
                <a:gd name="T21" fmla="*/ 60325 h 750"/>
                <a:gd name="T22" fmla="*/ 14288 w 346"/>
                <a:gd name="T23" fmla="*/ 53975 h 750"/>
                <a:gd name="T24" fmla="*/ 17463 w 346"/>
                <a:gd name="T25" fmla="*/ 47625 h 750"/>
                <a:gd name="T26" fmla="*/ 20638 w 346"/>
                <a:gd name="T27" fmla="*/ 38100 h 750"/>
                <a:gd name="T28" fmla="*/ 27781 w 346"/>
                <a:gd name="T29" fmla="*/ 28575 h 750"/>
                <a:gd name="T30" fmla="*/ 27781 w 346"/>
                <a:gd name="T31" fmla="*/ 24606 h 750"/>
                <a:gd name="T32" fmla="*/ 27781 w 346"/>
                <a:gd name="T33" fmla="*/ 21431 h 750"/>
                <a:gd name="T34" fmla="*/ 30956 w 346"/>
                <a:gd name="T35" fmla="*/ 15875 h 750"/>
                <a:gd name="T36" fmla="*/ 34131 w 346"/>
                <a:gd name="T37" fmla="*/ 11906 h 750"/>
                <a:gd name="T38" fmla="*/ 37306 w 346"/>
                <a:gd name="T39" fmla="*/ 11906 h 750"/>
                <a:gd name="T40" fmla="*/ 37306 w 346"/>
                <a:gd name="T41" fmla="*/ 5556 h 750"/>
                <a:gd name="T42" fmla="*/ 41275 w 346"/>
                <a:gd name="T43" fmla="*/ 5556 h 750"/>
                <a:gd name="T44" fmla="*/ 47625 w 346"/>
                <a:gd name="T45" fmla="*/ 5556 h 750"/>
                <a:gd name="T46" fmla="*/ 47625 w 346"/>
                <a:gd name="T47" fmla="*/ 0 h 750"/>
                <a:gd name="T48" fmla="*/ 51594 w 346"/>
                <a:gd name="T49" fmla="*/ 0 h 750"/>
                <a:gd name="T50" fmla="*/ 65881 w 346"/>
                <a:gd name="T51" fmla="*/ 11906 h 750"/>
                <a:gd name="T52" fmla="*/ 69056 w 346"/>
                <a:gd name="T53" fmla="*/ 40481 h 750"/>
                <a:gd name="T54" fmla="*/ 61913 w 346"/>
                <a:gd name="T55" fmla="*/ 40481 h 750"/>
                <a:gd name="T56" fmla="*/ 55563 w 346"/>
                <a:gd name="T57" fmla="*/ 47625 h 750"/>
                <a:gd name="T58" fmla="*/ 55563 w 346"/>
                <a:gd name="T59" fmla="*/ 50006 h 750"/>
                <a:gd name="T60" fmla="*/ 55563 w 346"/>
                <a:gd name="T61" fmla="*/ 53975 h 750"/>
                <a:gd name="T62" fmla="*/ 58738 w 346"/>
                <a:gd name="T63" fmla="*/ 57150 h 750"/>
                <a:gd name="T64" fmla="*/ 51594 w 346"/>
                <a:gd name="T65" fmla="*/ 63500 h 750"/>
                <a:gd name="T66" fmla="*/ 41275 w 346"/>
                <a:gd name="T67" fmla="*/ 73025 h 750"/>
                <a:gd name="T68" fmla="*/ 34131 w 346"/>
                <a:gd name="T69" fmla="*/ 81756 h 750"/>
                <a:gd name="T70" fmla="*/ 34131 w 346"/>
                <a:gd name="T71" fmla="*/ 97631 h 750"/>
                <a:gd name="T72" fmla="*/ 41275 w 346"/>
                <a:gd name="T73" fmla="*/ 107950 h 750"/>
                <a:gd name="T74" fmla="*/ 37306 w 346"/>
                <a:gd name="T75" fmla="*/ 111125 h 750"/>
                <a:gd name="T76" fmla="*/ 37306 w 346"/>
                <a:gd name="T77" fmla="*/ 114300 h 750"/>
                <a:gd name="T78" fmla="*/ 30956 w 346"/>
                <a:gd name="T79" fmla="*/ 120650 h 750"/>
                <a:gd name="T80" fmla="*/ 27781 w 346"/>
                <a:gd name="T81" fmla="*/ 142875 h 750"/>
                <a:gd name="T82" fmla="*/ 20638 w 346"/>
                <a:gd name="T83" fmla="*/ 142875 h 750"/>
                <a:gd name="T84" fmla="*/ 17463 w 346"/>
                <a:gd name="T85" fmla="*/ 146050 h 750"/>
                <a:gd name="T86" fmla="*/ 17463 w 346"/>
                <a:gd name="T87" fmla="*/ 149225 h 750"/>
                <a:gd name="T88" fmla="*/ 10319 w 346"/>
                <a:gd name="T89" fmla="*/ 149225 h 750"/>
                <a:gd name="T90" fmla="*/ 7144 w 346"/>
                <a:gd name="T91" fmla="*/ 142875 h 750"/>
                <a:gd name="T92" fmla="*/ 10319 w 346"/>
                <a:gd name="T93" fmla="*/ 139700 h 750"/>
                <a:gd name="T94" fmla="*/ 7144 w 346"/>
                <a:gd name="T95" fmla="*/ 136525 h 750"/>
                <a:gd name="T96" fmla="*/ 0 w 346"/>
                <a:gd name="T97" fmla="*/ 117475 h 75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46"/>
                <a:gd name="T148" fmla="*/ 0 h 750"/>
                <a:gd name="T149" fmla="*/ 346 w 346"/>
                <a:gd name="T150" fmla="*/ 750 h 75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46" h="750">
                  <a:moveTo>
                    <a:pt x="0" y="591"/>
                  </a:moveTo>
                  <a:lnTo>
                    <a:pt x="0" y="591"/>
                  </a:lnTo>
                  <a:lnTo>
                    <a:pt x="18" y="591"/>
                  </a:lnTo>
                  <a:lnTo>
                    <a:pt x="18" y="543"/>
                  </a:lnTo>
                  <a:lnTo>
                    <a:pt x="35" y="528"/>
                  </a:lnTo>
                  <a:lnTo>
                    <a:pt x="35" y="480"/>
                  </a:lnTo>
                  <a:lnTo>
                    <a:pt x="35" y="462"/>
                  </a:lnTo>
                  <a:lnTo>
                    <a:pt x="18" y="399"/>
                  </a:lnTo>
                  <a:lnTo>
                    <a:pt x="35" y="336"/>
                  </a:lnTo>
                  <a:lnTo>
                    <a:pt x="52" y="318"/>
                  </a:lnTo>
                  <a:lnTo>
                    <a:pt x="87" y="303"/>
                  </a:lnTo>
                  <a:lnTo>
                    <a:pt x="70" y="271"/>
                  </a:lnTo>
                  <a:lnTo>
                    <a:pt x="87" y="240"/>
                  </a:lnTo>
                  <a:lnTo>
                    <a:pt x="104" y="192"/>
                  </a:lnTo>
                  <a:lnTo>
                    <a:pt x="139" y="144"/>
                  </a:lnTo>
                  <a:lnTo>
                    <a:pt x="139" y="127"/>
                  </a:lnTo>
                  <a:lnTo>
                    <a:pt x="139" y="111"/>
                  </a:lnTo>
                  <a:lnTo>
                    <a:pt x="156" y="79"/>
                  </a:lnTo>
                  <a:lnTo>
                    <a:pt x="173" y="63"/>
                  </a:lnTo>
                  <a:lnTo>
                    <a:pt x="190" y="63"/>
                  </a:lnTo>
                  <a:lnTo>
                    <a:pt x="190" y="31"/>
                  </a:lnTo>
                  <a:lnTo>
                    <a:pt x="208" y="31"/>
                  </a:lnTo>
                  <a:lnTo>
                    <a:pt x="242" y="31"/>
                  </a:lnTo>
                  <a:lnTo>
                    <a:pt x="242" y="0"/>
                  </a:lnTo>
                  <a:lnTo>
                    <a:pt x="260" y="0"/>
                  </a:lnTo>
                  <a:lnTo>
                    <a:pt x="329" y="63"/>
                  </a:lnTo>
                  <a:lnTo>
                    <a:pt x="346" y="207"/>
                  </a:lnTo>
                  <a:lnTo>
                    <a:pt x="311" y="207"/>
                  </a:lnTo>
                  <a:lnTo>
                    <a:pt x="277" y="240"/>
                  </a:lnTo>
                  <a:lnTo>
                    <a:pt x="277" y="255"/>
                  </a:lnTo>
                  <a:lnTo>
                    <a:pt x="277" y="271"/>
                  </a:lnTo>
                  <a:lnTo>
                    <a:pt x="294" y="288"/>
                  </a:lnTo>
                  <a:lnTo>
                    <a:pt x="260" y="318"/>
                  </a:lnTo>
                  <a:lnTo>
                    <a:pt x="208" y="366"/>
                  </a:lnTo>
                  <a:lnTo>
                    <a:pt x="173" y="414"/>
                  </a:lnTo>
                  <a:lnTo>
                    <a:pt x="173" y="495"/>
                  </a:lnTo>
                  <a:lnTo>
                    <a:pt x="208" y="543"/>
                  </a:lnTo>
                  <a:lnTo>
                    <a:pt x="190" y="558"/>
                  </a:lnTo>
                  <a:lnTo>
                    <a:pt x="190" y="576"/>
                  </a:lnTo>
                  <a:lnTo>
                    <a:pt x="156" y="606"/>
                  </a:lnTo>
                  <a:lnTo>
                    <a:pt x="139" y="720"/>
                  </a:lnTo>
                  <a:lnTo>
                    <a:pt x="104" y="720"/>
                  </a:lnTo>
                  <a:lnTo>
                    <a:pt x="87" y="735"/>
                  </a:lnTo>
                  <a:lnTo>
                    <a:pt x="87" y="750"/>
                  </a:lnTo>
                  <a:lnTo>
                    <a:pt x="52" y="750"/>
                  </a:lnTo>
                  <a:lnTo>
                    <a:pt x="35" y="720"/>
                  </a:lnTo>
                  <a:lnTo>
                    <a:pt x="52" y="702"/>
                  </a:lnTo>
                  <a:lnTo>
                    <a:pt x="35" y="687"/>
                  </a:lnTo>
                  <a:lnTo>
                    <a:pt x="0" y="591"/>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35" name="Freeform 450">
              <a:extLst>
                <a:ext uri="{FF2B5EF4-FFF2-40B4-BE49-F238E27FC236}">
                  <a16:creationId xmlns:a16="http://schemas.microsoft.com/office/drawing/2014/main" id="{8B185963-C983-457B-87A7-ECDAEF290BAB}"/>
                </a:ext>
              </a:extLst>
            </p:cNvPr>
            <p:cNvSpPr>
              <a:spLocks/>
            </p:cNvSpPr>
            <p:nvPr>
              <p:custDataLst>
                <p:tags r:id="rId264"/>
              </p:custDataLst>
            </p:nvPr>
          </p:nvSpPr>
          <p:spPr bwMode="auto">
            <a:xfrm>
              <a:off x="7581579" y="4920745"/>
              <a:ext cx="318425" cy="281480"/>
            </a:xfrm>
            <a:custGeom>
              <a:avLst/>
              <a:gdLst>
                <a:gd name="T0" fmla="*/ 23813 w 362"/>
                <a:gd name="T1" fmla="*/ 63500 h 320"/>
                <a:gd name="T2" fmla="*/ 23813 w 362"/>
                <a:gd name="T3" fmla="*/ 63500 h 320"/>
                <a:gd name="T4" fmla="*/ 19844 w 362"/>
                <a:gd name="T5" fmla="*/ 57150 h 320"/>
                <a:gd name="T6" fmla="*/ 14288 w 362"/>
                <a:gd name="T7" fmla="*/ 38100 h 320"/>
                <a:gd name="T8" fmla="*/ 14288 w 362"/>
                <a:gd name="T9" fmla="*/ 28575 h 320"/>
                <a:gd name="T10" fmla="*/ 0 w 362"/>
                <a:gd name="T11" fmla="*/ 3969 h 320"/>
                <a:gd name="T12" fmla="*/ 0 w 362"/>
                <a:gd name="T13" fmla="*/ 0 h 320"/>
                <a:gd name="T14" fmla="*/ 7144 w 362"/>
                <a:gd name="T15" fmla="*/ 0 h 320"/>
                <a:gd name="T16" fmla="*/ 14288 w 362"/>
                <a:gd name="T17" fmla="*/ 0 h 320"/>
                <a:gd name="T18" fmla="*/ 34131 w 362"/>
                <a:gd name="T19" fmla="*/ 3969 h 320"/>
                <a:gd name="T20" fmla="*/ 40481 w 362"/>
                <a:gd name="T21" fmla="*/ 3969 h 320"/>
                <a:gd name="T22" fmla="*/ 54769 w 362"/>
                <a:gd name="T23" fmla="*/ 7144 h 320"/>
                <a:gd name="T24" fmla="*/ 61913 w 362"/>
                <a:gd name="T25" fmla="*/ 3969 h 320"/>
                <a:gd name="T26" fmla="*/ 65088 w 362"/>
                <a:gd name="T27" fmla="*/ 0 h 320"/>
                <a:gd name="T28" fmla="*/ 72231 w 362"/>
                <a:gd name="T29" fmla="*/ 3969 h 320"/>
                <a:gd name="T30" fmla="*/ 65088 w 362"/>
                <a:gd name="T31" fmla="*/ 9525 h 320"/>
                <a:gd name="T32" fmla="*/ 61913 w 362"/>
                <a:gd name="T33" fmla="*/ 7144 h 320"/>
                <a:gd name="T34" fmla="*/ 51594 w 362"/>
                <a:gd name="T35" fmla="*/ 7144 h 320"/>
                <a:gd name="T36" fmla="*/ 47625 w 362"/>
                <a:gd name="T37" fmla="*/ 26194 h 320"/>
                <a:gd name="T38" fmla="*/ 44450 w 362"/>
                <a:gd name="T39" fmla="*/ 28575 h 320"/>
                <a:gd name="T40" fmla="*/ 44450 w 362"/>
                <a:gd name="T41" fmla="*/ 41275 h 320"/>
                <a:gd name="T42" fmla="*/ 44450 w 362"/>
                <a:gd name="T43" fmla="*/ 61119 h 320"/>
                <a:gd name="T44" fmla="*/ 37306 w 362"/>
                <a:gd name="T45" fmla="*/ 63500 h 320"/>
                <a:gd name="T46" fmla="*/ 30956 w 362"/>
                <a:gd name="T47" fmla="*/ 63500 h 320"/>
                <a:gd name="T48" fmla="*/ 27781 w 362"/>
                <a:gd name="T49" fmla="*/ 61119 h 320"/>
                <a:gd name="T50" fmla="*/ 23813 w 362"/>
                <a:gd name="T51" fmla="*/ 63500 h 32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62"/>
                <a:gd name="T79" fmla="*/ 0 h 320"/>
                <a:gd name="T80" fmla="*/ 362 w 362"/>
                <a:gd name="T81" fmla="*/ 320 h 32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62" h="320">
                  <a:moveTo>
                    <a:pt x="121" y="320"/>
                  </a:moveTo>
                  <a:lnTo>
                    <a:pt x="121" y="320"/>
                  </a:lnTo>
                  <a:lnTo>
                    <a:pt x="103" y="288"/>
                  </a:lnTo>
                  <a:lnTo>
                    <a:pt x="69" y="192"/>
                  </a:lnTo>
                  <a:lnTo>
                    <a:pt x="69" y="144"/>
                  </a:lnTo>
                  <a:lnTo>
                    <a:pt x="0" y="17"/>
                  </a:lnTo>
                  <a:lnTo>
                    <a:pt x="0" y="0"/>
                  </a:lnTo>
                  <a:lnTo>
                    <a:pt x="34" y="0"/>
                  </a:lnTo>
                  <a:lnTo>
                    <a:pt x="69" y="0"/>
                  </a:lnTo>
                  <a:lnTo>
                    <a:pt x="172" y="17"/>
                  </a:lnTo>
                  <a:lnTo>
                    <a:pt x="207" y="17"/>
                  </a:lnTo>
                  <a:lnTo>
                    <a:pt x="276" y="33"/>
                  </a:lnTo>
                  <a:lnTo>
                    <a:pt x="311" y="17"/>
                  </a:lnTo>
                  <a:lnTo>
                    <a:pt x="328" y="0"/>
                  </a:lnTo>
                  <a:lnTo>
                    <a:pt x="362" y="17"/>
                  </a:lnTo>
                  <a:lnTo>
                    <a:pt x="328" y="48"/>
                  </a:lnTo>
                  <a:lnTo>
                    <a:pt x="311" y="33"/>
                  </a:lnTo>
                  <a:lnTo>
                    <a:pt x="259" y="33"/>
                  </a:lnTo>
                  <a:lnTo>
                    <a:pt x="241" y="129"/>
                  </a:lnTo>
                  <a:lnTo>
                    <a:pt x="224" y="144"/>
                  </a:lnTo>
                  <a:lnTo>
                    <a:pt x="224" y="209"/>
                  </a:lnTo>
                  <a:lnTo>
                    <a:pt x="224" y="305"/>
                  </a:lnTo>
                  <a:lnTo>
                    <a:pt x="190" y="320"/>
                  </a:lnTo>
                  <a:lnTo>
                    <a:pt x="155" y="320"/>
                  </a:lnTo>
                  <a:lnTo>
                    <a:pt x="138" y="305"/>
                  </a:lnTo>
                  <a:lnTo>
                    <a:pt x="121" y="32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36" name="Freeform 451">
              <a:extLst>
                <a:ext uri="{FF2B5EF4-FFF2-40B4-BE49-F238E27FC236}">
                  <a16:creationId xmlns:a16="http://schemas.microsoft.com/office/drawing/2014/main" id="{73AB1498-35FD-4A61-9418-FF0A52BD28E2}"/>
                </a:ext>
              </a:extLst>
            </p:cNvPr>
            <p:cNvSpPr>
              <a:spLocks/>
            </p:cNvSpPr>
            <p:nvPr>
              <p:custDataLst>
                <p:tags r:id="rId265"/>
              </p:custDataLst>
            </p:nvPr>
          </p:nvSpPr>
          <p:spPr bwMode="auto">
            <a:xfrm>
              <a:off x="7685375" y="5033337"/>
              <a:ext cx="397591" cy="323702"/>
            </a:xfrm>
            <a:custGeom>
              <a:avLst/>
              <a:gdLst>
                <a:gd name="T0" fmla="*/ 82733 w 451"/>
                <a:gd name="T1" fmla="*/ 2381 h 368"/>
                <a:gd name="T2" fmla="*/ 86711 w 451"/>
                <a:gd name="T3" fmla="*/ 21431 h 368"/>
                <a:gd name="T4" fmla="*/ 82733 w 451"/>
                <a:gd name="T5" fmla="*/ 21431 h 368"/>
                <a:gd name="T6" fmla="*/ 79551 w 451"/>
                <a:gd name="T7" fmla="*/ 25400 h 368"/>
                <a:gd name="T8" fmla="*/ 82733 w 451"/>
                <a:gd name="T9" fmla="*/ 28575 h 368"/>
                <a:gd name="T10" fmla="*/ 86711 w 451"/>
                <a:gd name="T11" fmla="*/ 25400 h 368"/>
                <a:gd name="T12" fmla="*/ 89893 w 451"/>
                <a:gd name="T13" fmla="*/ 25400 h 368"/>
                <a:gd name="T14" fmla="*/ 89893 w 451"/>
                <a:gd name="T15" fmla="*/ 28575 h 368"/>
                <a:gd name="T16" fmla="*/ 89893 w 451"/>
                <a:gd name="T17" fmla="*/ 37306 h 368"/>
                <a:gd name="T18" fmla="*/ 82733 w 451"/>
                <a:gd name="T19" fmla="*/ 40481 h 368"/>
                <a:gd name="T20" fmla="*/ 76369 w 451"/>
                <a:gd name="T21" fmla="*/ 50006 h 368"/>
                <a:gd name="T22" fmla="*/ 66027 w 451"/>
                <a:gd name="T23" fmla="*/ 60325 h 368"/>
                <a:gd name="T24" fmla="*/ 58868 w 451"/>
                <a:gd name="T25" fmla="*/ 66675 h 368"/>
                <a:gd name="T26" fmla="*/ 48526 w 451"/>
                <a:gd name="T27" fmla="*/ 69850 h 368"/>
                <a:gd name="T28" fmla="*/ 42162 w 451"/>
                <a:gd name="T29" fmla="*/ 69850 h 368"/>
                <a:gd name="T30" fmla="*/ 31820 w 451"/>
                <a:gd name="T31" fmla="*/ 69850 h 368"/>
                <a:gd name="T32" fmla="*/ 20683 w 451"/>
                <a:gd name="T33" fmla="*/ 73025 h 368"/>
                <a:gd name="T34" fmla="*/ 17501 w 451"/>
                <a:gd name="T35" fmla="*/ 73025 h 368"/>
                <a:gd name="T36" fmla="*/ 14319 w 451"/>
                <a:gd name="T37" fmla="*/ 69850 h 368"/>
                <a:gd name="T38" fmla="*/ 10342 w 451"/>
                <a:gd name="T39" fmla="*/ 60325 h 368"/>
                <a:gd name="T40" fmla="*/ 10342 w 451"/>
                <a:gd name="T41" fmla="*/ 57150 h 368"/>
                <a:gd name="T42" fmla="*/ 3978 w 451"/>
                <a:gd name="T43" fmla="*/ 37306 h 368"/>
                <a:gd name="T44" fmla="*/ 0 w 451"/>
                <a:gd name="T45" fmla="*/ 37306 h 368"/>
                <a:gd name="T46" fmla="*/ 3978 w 451"/>
                <a:gd name="T47" fmla="*/ 34925 h 368"/>
                <a:gd name="T48" fmla="*/ 7160 w 451"/>
                <a:gd name="T49" fmla="*/ 37306 h 368"/>
                <a:gd name="T50" fmla="*/ 14319 w 451"/>
                <a:gd name="T51" fmla="*/ 37306 h 368"/>
                <a:gd name="T52" fmla="*/ 20683 w 451"/>
                <a:gd name="T53" fmla="*/ 34925 h 368"/>
                <a:gd name="T54" fmla="*/ 20683 w 451"/>
                <a:gd name="T55" fmla="*/ 15875 h 368"/>
                <a:gd name="T56" fmla="*/ 24661 w 451"/>
                <a:gd name="T57" fmla="*/ 19050 h 368"/>
                <a:gd name="T58" fmla="*/ 24661 w 451"/>
                <a:gd name="T59" fmla="*/ 25400 h 368"/>
                <a:gd name="T60" fmla="*/ 31820 w 451"/>
                <a:gd name="T61" fmla="*/ 25400 h 368"/>
                <a:gd name="T62" fmla="*/ 42162 w 451"/>
                <a:gd name="T63" fmla="*/ 19050 h 368"/>
                <a:gd name="T64" fmla="*/ 45344 w 451"/>
                <a:gd name="T65" fmla="*/ 21431 h 368"/>
                <a:gd name="T66" fmla="*/ 48526 w 451"/>
                <a:gd name="T67" fmla="*/ 19050 h 368"/>
                <a:gd name="T68" fmla="*/ 62845 w 451"/>
                <a:gd name="T69" fmla="*/ 6350 h 368"/>
                <a:gd name="T70" fmla="*/ 72391 w 451"/>
                <a:gd name="T71" fmla="*/ 0 h 368"/>
                <a:gd name="T72" fmla="*/ 79551 w 451"/>
                <a:gd name="T73" fmla="*/ 2381 h 368"/>
                <a:gd name="T74" fmla="*/ 82733 w 451"/>
                <a:gd name="T75" fmla="*/ 2381 h 36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51"/>
                <a:gd name="T115" fmla="*/ 0 h 368"/>
                <a:gd name="T116" fmla="*/ 451 w 451"/>
                <a:gd name="T117" fmla="*/ 368 h 36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51" h="368">
                  <a:moveTo>
                    <a:pt x="416" y="15"/>
                  </a:moveTo>
                  <a:lnTo>
                    <a:pt x="433" y="111"/>
                  </a:lnTo>
                  <a:lnTo>
                    <a:pt x="416" y="111"/>
                  </a:lnTo>
                  <a:lnTo>
                    <a:pt x="399" y="128"/>
                  </a:lnTo>
                  <a:lnTo>
                    <a:pt x="416" y="143"/>
                  </a:lnTo>
                  <a:lnTo>
                    <a:pt x="433" y="128"/>
                  </a:lnTo>
                  <a:lnTo>
                    <a:pt x="451" y="128"/>
                  </a:lnTo>
                  <a:lnTo>
                    <a:pt x="451" y="143"/>
                  </a:lnTo>
                  <a:lnTo>
                    <a:pt x="451" y="191"/>
                  </a:lnTo>
                  <a:lnTo>
                    <a:pt x="416" y="207"/>
                  </a:lnTo>
                  <a:lnTo>
                    <a:pt x="382" y="255"/>
                  </a:lnTo>
                  <a:lnTo>
                    <a:pt x="330" y="303"/>
                  </a:lnTo>
                  <a:lnTo>
                    <a:pt x="295" y="335"/>
                  </a:lnTo>
                  <a:lnTo>
                    <a:pt x="243" y="351"/>
                  </a:lnTo>
                  <a:lnTo>
                    <a:pt x="209" y="351"/>
                  </a:lnTo>
                  <a:lnTo>
                    <a:pt x="157" y="351"/>
                  </a:lnTo>
                  <a:lnTo>
                    <a:pt x="103" y="368"/>
                  </a:lnTo>
                  <a:lnTo>
                    <a:pt x="86" y="368"/>
                  </a:lnTo>
                  <a:lnTo>
                    <a:pt x="69" y="351"/>
                  </a:lnTo>
                  <a:lnTo>
                    <a:pt x="51" y="303"/>
                  </a:lnTo>
                  <a:lnTo>
                    <a:pt x="51" y="287"/>
                  </a:lnTo>
                  <a:lnTo>
                    <a:pt x="17" y="191"/>
                  </a:lnTo>
                  <a:lnTo>
                    <a:pt x="0" y="191"/>
                  </a:lnTo>
                  <a:lnTo>
                    <a:pt x="17" y="176"/>
                  </a:lnTo>
                  <a:lnTo>
                    <a:pt x="34" y="191"/>
                  </a:lnTo>
                  <a:lnTo>
                    <a:pt x="69" y="191"/>
                  </a:lnTo>
                  <a:lnTo>
                    <a:pt x="103" y="176"/>
                  </a:lnTo>
                  <a:lnTo>
                    <a:pt x="103" y="80"/>
                  </a:lnTo>
                  <a:lnTo>
                    <a:pt x="121" y="96"/>
                  </a:lnTo>
                  <a:lnTo>
                    <a:pt x="121" y="128"/>
                  </a:lnTo>
                  <a:lnTo>
                    <a:pt x="157" y="128"/>
                  </a:lnTo>
                  <a:lnTo>
                    <a:pt x="209" y="96"/>
                  </a:lnTo>
                  <a:lnTo>
                    <a:pt x="226" y="111"/>
                  </a:lnTo>
                  <a:lnTo>
                    <a:pt x="243" y="96"/>
                  </a:lnTo>
                  <a:lnTo>
                    <a:pt x="313" y="32"/>
                  </a:lnTo>
                  <a:lnTo>
                    <a:pt x="364" y="0"/>
                  </a:lnTo>
                  <a:lnTo>
                    <a:pt x="399" y="15"/>
                  </a:lnTo>
                  <a:lnTo>
                    <a:pt x="416" y="1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37" name="Freeform 452">
              <a:extLst>
                <a:ext uri="{FF2B5EF4-FFF2-40B4-BE49-F238E27FC236}">
                  <a16:creationId xmlns:a16="http://schemas.microsoft.com/office/drawing/2014/main" id="{9E6FDCC3-8606-4AA9-BF12-C5E8F7D6DD4B}"/>
                </a:ext>
              </a:extLst>
            </p:cNvPr>
            <p:cNvSpPr>
              <a:spLocks/>
            </p:cNvSpPr>
            <p:nvPr>
              <p:custDataLst>
                <p:tags r:id="rId266"/>
              </p:custDataLst>
            </p:nvPr>
          </p:nvSpPr>
          <p:spPr bwMode="auto">
            <a:xfrm>
              <a:off x="7776857" y="4934819"/>
              <a:ext cx="230463" cy="211110"/>
            </a:xfrm>
            <a:custGeom>
              <a:avLst/>
              <a:gdLst>
                <a:gd name="T0" fmla="*/ 0 w 261"/>
                <a:gd name="T1" fmla="*/ 38100 h 240"/>
                <a:gd name="T2" fmla="*/ 0 w 261"/>
                <a:gd name="T3" fmla="*/ 38100 h 240"/>
                <a:gd name="T4" fmla="*/ 3984 w 261"/>
                <a:gd name="T5" fmla="*/ 41275 h 240"/>
                <a:gd name="T6" fmla="*/ 3984 w 261"/>
                <a:gd name="T7" fmla="*/ 47625 h 240"/>
                <a:gd name="T8" fmla="*/ 10358 w 261"/>
                <a:gd name="T9" fmla="*/ 47625 h 240"/>
                <a:gd name="T10" fmla="*/ 20717 w 261"/>
                <a:gd name="T11" fmla="*/ 41275 h 240"/>
                <a:gd name="T12" fmla="*/ 24701 w 261"/>
                <a:gd name="T13" fmla="*/ 44450 h 240"/>
                <a:gd name="T14" fmla="*/ 27888 w 261"/>
                <a:gd name="T15" fmla="*/ 41275 h 240"/>
                <a:gd name="T16" fmla="*/ 42230 w 261"/>
                <a:gd name="T17" fmla="*/ 28575 h 240"/>
                <a:gd name="T18" fmla="*/ 52588 w 261"/>
                <a:gd name="T19" fmla="*/ 22225 h 240"/>
                <a:gd name="T20" fmla="*/ 45417 w 261"/>
                <a:gd name="T21" fmla="*/ 22225 h 240"/>
                <a:gd name="T22" fmla="*/ 42230 w 261"/>
                <a:gd name="T23" fmla="*/ 15875 h 240"/>
                <a:gd name="T24" fmla="*/ 35059 w 261"/>
                <a:gd name="T25" fmla="*/ 9525 h 240"/>
                <a:gd name="T26" fmla="*/ 27888 w 261"/>
                <a:gd name="T27" fmla="*/ 0 h 240"/>
                <a:gd name="T28" fmla="*/ 20717 w 261"/>
                <a:gd name="T29" fmla="*/ 6350 h 240"/>
                <a:gd name="T30" fmla="*/ 17529 w 261"/>
                <a:gd name="T31" fmla="*/ 3175 h 240"/>
                <a:gd name="T32" fmla="*/ 7171 w 261"/>
                <a:gd name="T33" fmla="*/ 3175 h 240"/>
                <a:gd name="T34" fmla="*/ 3984 w 261"/>
                <a:gd name="T35" fmla="*/ 22225 h 240"/>
                <a:gd name="T36" fmla="*/ 0 w 261"/>
                <a:gd name="T37" fmla="*/ 24606 h 240"/>
                <a:gd name="T38" fmla="*/ 0 w 261"/>
                <a:gd name="T39" fmla="*/ 38100 h 24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61"/>
                <a:gd name="T61" fmla="*/ 0 h 240"/>
                <a:gd name="T62" fmla="*/ 261 w 261"/>
                <a:gd name="T63" fmla="*/ 240 h 24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61" h="240">
                  <a:moveTo>
                    <a:pt x="0" y="192"/>
                  </a:moveTo>
                  <a:lnTo>
                    <a:pt x="0" y="192"/>
                  </a:lnTo>
                  <a:lnTo>
                    <a:pt x="18" y="208"/>
                  </a:lnTo>
                  <a:lnTo>
                    <a:pt x="18" y="240"/>
                  </a:lnTo>
                  <a:lnTo>
                    <a:pt x="52" y="240"/>
                  </a:lnTo>
                  <a:lnTo>
                    <a:pt x="104" y="208"/>
                  </a:lnTo>
                  <a:lnTo>
                    <a:pt x="121" y="223"/>
                  </a:lnTo>
                  <a:lnTo>
                    <a:pt x="139" y="208"/>
                  </a:lnTo>
                  <a:lnTo>
                    <a:pt x="210" y="144"/>
                  </a:lnTo>
                  <a:lnTo>
                    <a:pt x="261" y="112"/>
                  </a:lnTo>
                  <a:lnTo>
                    <a:pt x="227" y="112"/>
                  </a:lnTo>
                  <a:lnTo>
                    <a:pt x="210" y="79"/>
                  </a:lnTo>
                  <a:lnTo>
                    <a:pt x="173" y="48"/>
                  </a:lnTo>
                  <a:lnTo>
                    <a:pt x="139" y="0"/>
                  </a:lnTo>
                  <a:lnTo>
                    <a:pt x="104" y="31"/>
                  </a:lnTo>
                  <a:lnTo>
                    <a:pt x="87" y="16"/>
                  </a:lnTo>
                  <a:lnTo>
                    <a:pt x="35" y="16"/>
                  </a:lnTo>
                  <a:lnTo>
                    <a:pt x="18" y="112"/>
                  </a:lnTo>
                  <a:lnTo>
                    <a:pt x="0" y="127"/>
                  </a:lnTo>
                  <a:lnTo>
                    <a:pt x="0" y="19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38" name="Freeform 453">
              <a:extLst>
                <a:ext uri="{FF2B5EF4-FFF2-40B4-BE49-F238E27FC236}">
                  <a16:creationId xmlns:a16="http://schemas.microsoft.com/office/drawing/2014/main" id="{4DE070EF-5455-4A1C-9164-AFF0C42CF3D6}"/>
                </a:ext>
              </a:extLst>
            </p:cNvPr>
            <p:cNvSpPr>
              <a:spLocks/>
            </p:cNvSpPr>
            <p:nvPr>
              <p:custDataLst>
                <p:tags r:id="rId267"/>
              </p:custDataLst>
            </p:nvPr>
          </p:nvSpPr>
          <p:spPr bwMode="auto">
            <a:xfrm>
              <a:off x="7900004" y="4892597"/>
              <a:ext cx="198796" cy="153055"/>
            </a:xfrm>
            <a:custGeom>
              <a:avLst/>
              <a:gdLst>
                <a:gd name="T0" fmla="*/ 27905 w 225"/>
                <a:gd name="T1" fmla="*/ 0 h 175"/>
                <a:gd name="T2" fmla="*/ 27905 w 225"/>
                <a:gd name="T3" fmla="*/ 0 h 175"/>
                <a:gd name="T4" fmla="*/ 20729 w 225"/>
                <a:gd name="T5" fmla="*/ 0 h 175"/>
                <a:gd name="T6" fmla="*/ 20729 w 225"/>
                <a:gd name="T7" fmla="*/ 3157 h 175"/>
                <a:gd name="T8" fmla="*/ 10365 w 225"/>
                <a:gd name="T9" fmla="*/ 9471 h 175"/>
                <a:gd name="T10" fmla="*/ 0 w 225"/>
                <a:gd name="T11" fmla="*/ 9471 h 175"/>
                <a:gd name="T12" fmla="*/ 7176 w 225"/>
                <a:gd name="T13" fmla="*/ 18941 h 175"/>
                <a:gd name="T14" fmla="*/ 14351 w 225"/>
                <a:gd name="T15" fmla="*/ 24466 h 175"/>
                <a:gd name="T16" fmla="*/ 17540 w 225"/>
                <a:gd name="T17" fmla="*/ 31569 h 175"/>
                <a:gd name="T18" fmla="*/ 24716 w 225"/>
                <a:gd name="T19" fmla="*/ 31569 h 175"/>
                <a:gd name="T20" fmla="*/ 31094 w 225"/>
                <a:gd name="T21" fmla="*/ 33936 h 175"/>
                <a:gd name="T22" fmla="*/ 35080 w 225"/>
                <a:gd name="T23" fmla="*/ 33936 h 175"/>
                <a:gd name="T24" fmla="*/ 41459 w 225"/>
                <a:gd name="T25" fmla="*/ 22098 h 175"/>
                <a:gd name="T26" fmla="*/ 45445 w 225"/>
                <a:gd name="T27" fmla="*/ 9471 h 175"/>
                <a:gd name="T28" fmla="*/ 41459 w 225"/>
                <a:gd name="T29" fmla="*/ 3157 h 175"/>
                <a:gd name="T30" fmla="*/ 35080 w 225"/>
                <a:gd name="T31" fmla="*/ 0 h 175"/>
                <a:gd name="T32" fmla="*/ 27905 w 225"/>
                <a:gd name="T33" fmla="*/ 0 h 17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25"/>
                <a:gd name="T52" fmla="*/ 0 h 175"/>
                <a:gd name="T53" fmla="*/ 225 w 225"/>
                <a:gd name="T54" fmla="*/ 175 h 17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25" h="175">
                  <a:moveTo>
                    <a:pt x="139" y="0"/>
                  </a:moveTo>
                  <a:lnTo>
                    <a:pt x="139" y="0"/>
                  </a:lnTo>
                  <a:lnTo>
                    <a:pt x="104" y="0"/>
                  </a:lnTo>
                  <a:lnTo>
                    <a:pt x="104" y="16"/>
                  </a:lnTo>
                  <a:lnTo>
                    <a:pt x="52" y="48"/>
                  </a:lnTo>
                  <a:lnTo>
                    <a:pt x="0" y="48"/>
                  </a:lnTo>
                  <a:lnTo>
                    <a:pt x="35" y="96"/>
                  </a:lnTo>
                  <a:lnTo>
                    <a:pt x="70" y="127"/>
                  </a:lnTo>
                  <a:lnTo>
                    <a:pt x="87" y="160"/>
                  </a:lnTo>
                  <a:lnTo>
                    <a:pt x="121" y="160"/>
                  </a:lnTo>
                  <a:lnTo>
                    <a:pt x="156" y="175"/>
                  </a:lnTo>
                  <a:lnTo>
                    <a:pt x="173" y="175"/>
                  </a:lnTo>
                  <a:lnTo>
                    <a:pt x="208" y="112"/>
                  </a:lnTo>
                  <a:lnTo>
                    <a:pt x="225" y="48"/>
                  </a:lnTo>
                  <a:lnTo>
                    <a:pt x="208" y="16"/>
                  </a:lnTo>
                  <a:lnTo>
                    <a:pt x="173" y="0"/>
                  </a:lnTo>
                  <a:lnTo>
                    <a:pt x="139"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39" name="Freeform 454">
              <a:extLst>
                <a:ext uri="{FF2B5EF4-FFF2-40B4-BE49-F238E27FC236}">
                  <a16:creationId xmlns:a16="http://schemas.microsoft.com/office/drawing/2014/main" id="{B6C3E54F-CD49-45EA-A5F4-9E653907C1E4}"/>
                </a:ext>
              </a:extLst>
            </p:cNvPr>
            <p:cNvSpPr>
              <a:spLocks/>
            </p:cNvSpPr>
            <p:nvPr>
              <p:custDataLst>
                <p:tags r:id="rId268"/>
              </p:custDataLst>
            </p:nvPr>
          </p:nvSpPr>
          <p:spPr bwMode="auto">
            <a:xfrm>
              <a:off x="8021392" y="4765930"/>
              <a:ext cx="258611" cy="379998"/>
            </a:xfrm>
            <a:custGeom>
              <a:avLst/>
              <a:gdLst>
                <a:gd name="T0" fmla="*/ 14336 w 293"/>
                <a:gd name="T1" fmla="*/ 85725 h 432"/>
                <a:gd name="T2" fmla="*/ 14336 w 293"/>
                <a:gd name="T3" fmla="*/ 85725 h 432"/>
                <a:gd name="T4" fmla="*/ 14336 w 293"/>
                <a:gd name="T5" fmla="*/ 82550 h 432"/>
                <a:gd name="T6" fmla="*/ 14336 w 293"/>
                <a:gd name="T7" fmla="*/ 79375 h 432"/>
                <a:gd name="T8" fmla="*/ 27876 w 293"/>
                <a:gd name="T9" fmla="*/ 76200 h 432"/>
                <a:gd name="T10" fmla="*/ 31062 w 293"/>
                <a:gd name="T11" fmla="*/ 73025 h 432"/>
                <a:gd name="T12" fmla="*/ 31062 w 293"/>
                <a:gd name="T13" fmla="*/ 63500 h 432"/>
                <a:gd name="T14" fmla="*/ 24690 w 293"/>
                <a:gd name="T15" fmla="*/ 50800 h 432"/>
                <a:gd name="T16" fmla="*/ 38230 w 293"/>
                <a:gd name="T17" fmla="*/ 38100 h 432"/>
                <a:gd name="T18" fmla="*/ 48584 w 293"/>
                <a:gd name="T19" fmla="*/ 34925 h 432"/>
                <a:gd name="T20" fmla="*/ 58938 w 293"/>
                <a:gd name="T21" fmla="*/ 24606 h 432"/>
                <a:gd name="T22" fmla="*/ 54956 w 293"/>
                <a:gd name="T23" fmla="*/ 0 h 432"/>
                <a:gd name="T24" fmla="*/ 48584 w 293"/>
                <a:gd name="T25" fmla="*/ 5556 h 432"/>
                <a:gd name="T26" fmla="*/ 34248 w 293"/>
                <a:gd name="T27" fmla="*/ 5556 h 432"/>
                <a:gd name="T28" fmla="*/ 27876 w 293"/>
                <a:gd name="T29" fmla="*/ 5556 h 432"/>
                <a:gd name="T30" fmla="*/ 24690 w 293"/>
                <a:gd name="T31" fmla="*/ 9525 h 432"/>
                <a:gd name="T32" fmla="*/ 27876 w 293"/>
                <a:gd name="T33" fmla="*/ 15875 h 432"/>
                <a:gd name="T34" fmla="*/ 31062 w 293"/>
                <a:gd name="T35" fmla="*/ 22225 h 432"/>
                <a:gd name="T36" fmla="*/ 31062 w 293"/>
                <a:gd name="T37" fmla="*/ 28575 h 432"/>
                <a:gd name="T38" fmla="*/ 27876 w 293"/>
                <a:gd name="T39" fmla="*/ 34925 h 432"/>
                <a:gd name="T40" fmla="*/ 24690 w 293"/>
                <a:gd name="T41" fmla="*/ 28575 h 432"/>
                <a:gd name="T42" fmla="*/ 24690 w 293"/>
                <a:gd name="T43" fmla="*/ 22225 h 432"/>
                <a:gd name="T44" fmla="*/ 20708 w 293"/>
                <a:gd name="T45" fmla="*/ 22225 h 432"/>
                <a:gd name="T46" fmla="*/ 17522 w 293"/>
                <a:gd name="T47" fmla="*/ 19050 h 432"/>
                <a:gd name="T48" fmla="*/ 0 w 293"/>
                <a:gd name="T49" fmla="*/ 24606 h 432"/>
                <a:gd name="T50" fmla="*/ 0 w 293"/>
                <a:gd name="T51" fmla="*/ 28575 h 432"/>
                <a:gd name="T52" fmla="*/ 7168 w 293"/>
                <a:gd name="T53" fmla="*/ 28575 h 432"/>
                <a:gd name="T54" fmla="*/ 14336 w 293"/>
                <a:gd name="T55" fmla="*/ 31750 h 432"/>
                <a:gd name="T56" fmla="*/ 17522 w 293"/>
                <a:gd name="T57" fmla="*/ 38100 h 432"/>
                <a:gd name="T58" fmla="*/ 14336 w 293"/>
                <a:gd name="T59" fmla="*/ 50800 h 432"/>
                <a:gd name="T60" fmla="*/ 7168 w 293"/>
                <a:gd name="T61" fmla="*/ 63500 h 432"/>
                <a:gd name="T62" fmla="*/ 10354 w 293"/>
                <a:gd name="T63" fmla="*/ 82550 h 432"/>
                <a:gd name="T64" fmla="*/ 10354 w 293"/>
                <a:gd name="T65" fmla="*/ 85725 h 432"/>
                <a:gd name="T66" fmla="*/ 14336 w 293"/>
                <a:gd name="T67" fmla="*/ 85725 h 43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93"/>
                <a:gd name="T103" fmla="*/ 0 h 432"/>
                <a:gd name="T104" fmla="*/ 293 w 293"/>
                <a:gd name="T105" fmla="*/ 432 h 43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93" h="432">
                  <a:moveTo>
                    <a:pt x="69" y="432"/>
                  </a:moveTo>
                  <a:lnTo>
                    <a:pt x="69" y="432"/>
                  </a:lnTo>
                  <a:lnTo>
                    <a:pt x="69" y="415"/>
                  </a:lnTo>
                  <a:lnTo>
                    <a:pt x="69" y="400"/>
                  </a:lnTo>
                  <a:lnTo>
                    <a:pt x="138" y="384"/>
                  </a:lnTo>
                  <a:lnTo>
                    <a:pt x="155" y="367"/>
                  </a:lnTo>
                  <a:lnTo>
                    <a:pt x="155" y="319"/>
                  </a:lnTo>
                  <a:lnTo>
                    <a:pt x="121" y="256"/>
                  </a:lnTo>
                  <a:lnTo>
                    <a:pt x="190" y="192"/>
                  </a:lnTo>
                  <a:lnTo>
                    <a:pt x="242" y="175"/>
                  </a:lnTo>
                  <a:lnTo>
                    <a:pt x="293" y="127"/>
                  </a:lnTo>
                  <a:lnTo>
                    <a:pt x="276" y="0"/>
                  </a:lnTo>
                  <a:lnTo>
                    <a:pt x="242" y="31"/>
                  </a:lnTo>
                  <a:lnTo>
                    <a:pt x="172" y="31"/>
                  </a:lnTo>
                  <a:lnTo>
                    <a:pt x="138" y="31"/>
                  </a:lnTo>
                  <a:lnTo>
                    <a:pt x="121" y="48"/>
                  </a:lnTo>
                  <a:lnTo>
                    <a:pt x="138" y="79"/>
                  </a:lnTo>
                  <a:lnTo>
                    <a:pt x="155" y="112"/>
                  </a:lnTo>
                  <a:lnTo>
                    <a:pt x="155" y="144"/>
                  </a:lnTo>
                  <a:lnTo>
                    <a:pt x="138" y="175"/>
                  </a:lnTo>
                  <a:lnTo>
                    <a:pt x="121" y="144"/>
                  </a:lnTo>
                  <a:lnTo>
                    <a:pt x="121" y="112"/>
                  </a:lnTo>
                  <a:lnTo>
                    <a:pt x="103" y="112"/>
                  </a:lnTo>
                  <a:lnTo>
                    <a:pt x="86" y="96"/>
                  </a:lnTo>
                  <a:lnTo>
                    <a:pt x="0" y="127"/>
                  </a:lnTo>
                  <a:lnTo>
                    <a:pt x="0" y="144"/>
                  </a:lnTo>
                  <a:lnTo>
                    <a:pt x="34" y="144"/>
                  </a:lnTo>
                  <a:lnTo>
                    <a:pt x="69" y="160"/>
                  </a:lnTo>
                  <a:lnTo>
                    <a:pt x="86" y="192"/>
                  </a:lnTo>
                  <a:lnTo>
                    <a:pt x="69" y="256"/>
                  </a:lnTo>
                  <a:lnTo>
                    <a:pt x="34" y="319"/>
                  </a:lnTo>
                  <a:lnTo>
                    <a:pt x="51" y="415"/>
                  </a:lnTo>
                  <a:lnTo>
                    <a:pt x="51" y="432"/>
                  </a:lnTo>
                  <a:lnTo>
                    <a:pt x="69" y="43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40" name="Freeform 455">
              <a:extLst>
                <a:ext uri="{FF2B5EF4-FFF2-40B4-BE49-F238E27FC236}">
                  <a16:creationId xmlns:a16="http://schemas.microsoft.com/office/drawing/2014/main" id="{7ED7825D-5E6E-454C-9BDF-643822D7AA41}"/>
                </a:ext>
              </a:extLst>
            </p:cNvPr>
            <p:cNvSpPr>
              <a:spLocks/>
            </p:cNvSpPr>
            <p:nvPr>
              <p:custDataLst>
                <p:tags r:id="rId269"/>
              </p:custDataLst>
            </p:nvPr>
          </p:nvSpPr>
          <p:spPr bwMode="auto">
            <a:xfrm>
              <a:off x="8082966" y="4751856"/>
              <a:ext cx="75648" cy="168888"/>
            </a:xfrm>
            <a:custGeom>
              <a:avLst/>
              <a:gdLst>
                <a:gd name="T0" fmla="*/ 3969 w 86"/>
                <a:gd name="T1" fmla="*/ 22225 h 192"/>
                <a:gd name="T2" fmla="*/ 3969 w 86"/>
                <a:gd name="T3" fmla="*/ 22225 h 192"/>
                <a:gd name="T4" fmla="*/ 0 w 86"/>
                <a:gd name="T5" fmla="*/ 19050 h 192"/>
                <a:gd name="T6" fmla="*/ 3969 w 86"/>
                <a:gd name="T7" fmla="*/ 13494 h 192"/>
                <a:gd name="T8" fmla="*/ 3969 w 86"/>
                <a:gd name="T9" fmla="*/ 9525 h 192"/>
                <a:gd name="T10" fmla="*/ 7144 w 86"/>
                <a:gd name="T11" fmla="*/ 7144 h 192"/>
                <a:gd name="T12" fmla="*/ 3969 w 86"/>
                <a:gd name="T13" fmla="*/ 0 h 192"/>
                <a:gd name="T14" fmla="*/ 7144 w 86"/>
                <a:gd name="T15" fmla="*/ 0 h 192"/>
                <a:gd name="T16" fmla="*/ 10319 w 86"/>
                <a:gd name="T17" fmla="*/ 0 h 192"/>
                <a:gd name="T18" fmla="*/ 14288 w 86"/>
                <a:gd name="T19" fmla="*/ 9525 h 192"/>
                <a:gd name="T20" fmla="*/ 10319 w 86"/>
                <a:gd name="T21" fmla="*/ 13494 h 192"/>
                <a:gd name="T22" fmla="*/ 14288 w 86"/>
                <a:gd name="T23" fmla="*/ 19050 h 192"/>
                <a:gd name="T24" fmla="*/ 17463 w 86"/>
                <a:gd name="T25" fmla="*/ 26194 h 192"/>
                <a:gd name="T26" fmla="*/ 17463 w 86"/>
                <a:gd name="T27" fmla="*/ 32544 h 192"/>
                <a:gd name="T28" fmla="*/ 14288 w 86"/>
                <a:gd name="T29" fmla="*/ 38100 h 192"/>
                <a:gd name="T30" fmla="*/ 10319 w 86"/>
                <a:gd name="T31" fmla="*/ 32544 h 192"/>
                <a:gd name="T32" fmla="*/ 10319 w 86"/>
                <a:gd name="T33" fmla="*/ 26194 h 192"/>
                <a:gd name="T34" fmla="*/ 7144 w 86"/>
                <a:gd name="T35" fmla="*/ 26194 h 192"/>
                <a:gd name="T36" fmla="*/ 3969 w 86"/>
                <a:gd name="T37" fmla="*/ 22225 h 19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6"/>
                <a:gd name="T58" fmla="*/ 0 h 192"/>
                <a:gd name="T59" fmla="*/ 86 w 86"/>
                <a:gd name="T60" fmla="*/ 192 h 19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6" h="192">
                  <a:moveTo>
                    <a:pt x="17" y="113"/>
                  </a:moveTo>
                  <a:lnTo>
                    <a:pt x="17" y="113"/>
                  </a:lnTo>
                  <a:lnTo>
                    <a:pt x="0" y="96"/>
                  </a:lnTo>
                  <a:lnTo>
                    <a:pt x="17" y="65"/>
                  </a:lnTo>
                  <a:lnTo>
                    <a:pt x="17" y="48"/>
                  </a:lnTo>
                  <a:lnTo>
                    <a:pt x="34" y="33"/>
                  </a:lnTo>
                  <a:lnTo>
                    <a:pt x="17" y="0"/>
                  </a:lnTo>
                  <a:lnTo>
                    <a:pt x="34" y="0"/>
                  </a:lnTo>
                  <a:lnTo>
                    <a:pt x="52" y="0"/>
                  </a:lnTo>
                  <a:lnTo>
                    <a:pt x="69" y="48"/>
                  </a:lnTo>
                  <a:lnTo>
                    <a:pt x="52" y="65"/>
                  </a:lnTo>
                  <a:lnTo>
                    <a:pt x="69" y="96"/>
                  </a:lnTo>
                  <a:lnTo>
                    <a:pt x="86" y="129"/>
                  </a:lnTo>
                  <a:lnTo>
                    <a:pt x="86" y="161"/>
                  </a:lnTo>
                  <a:lnTo>
                    <a:pt x="69" y="192"/>
                  </a:lnTo>
                  <a:lnTo>
                    <a:pt x="52" y="161"/>
                  </a:lnTo>
                  <a:lnTo>
                    <a:pt x="52" y="129"/>
                  </a:lnTo>
                  <a:lnTo>
                    <a:pt x="34" y="129"/>
                  </a:lnTo>
                  <a:lnTo>
                    <a:pt x="17" y="11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41" name="Freeform 456">
              <a:extLst>
                <a:ext uri="{FF2B5EF4-FFF2-40B4-BE49-F238E27FC236}">
                  <a16:creationId xmlns:a16="http://schemas.microsoft.com/office/drawing/2014/main" id="{F450ED03-2DA2-4021-9E4C-AEBCEE67FB58}"/>
                </a:ext>
              </a:extLst>
            </p:cNvPr>
            <p:cNvSpPr>
              <a:spLocks/>
            </p:cNvSpPr>
            <p:nvPr>
              <p:custDataLst>
                <p:tags r:id="rId270"/>
              </p:custDataLst>
            </p:nvPr>
          </p:nvSpPr>
          <p:spPr bwMode="auto">
            <a:xfrm>
              <a:off x="8037226" y="5130096"/>
              <a:ext cx="29908" cy="29908"/>
            </a:xfrm>
            <a:custGeom>
              <a:avLst/>
              <a:gdLst>
                <a:gd name="T0" fmla="*/ 7144 w 34"/>
                <a:gd name="T1" fmla="*/ 4217 h 32"/>
                <a:gd name="T2" fmla="*/ 7144 w 34"/>
                <a:gd name="T3" fmla="*/ 4217 h 32"/>
                <a:gd name="T4" fmla="*/ 7144 w 34"/>
                <a:gd name="T5" fmla="*/ 0 h 32"/>
                <a:gd name="T6" fmla="*/ 3175 w 34"/>
                <a:gd name="T7" fmla="*/ 0 h 32"/>
                <a:gd name="T8" fmla="*/ 0 w 34"/>
                <a:gd name="T9" fmla="*/ 4217 h 32"/>
                <a:gd name="T10" fmla="*/ 3175 w 34"/>
                <a:gd name="T11" fmla="*/ 7590 h 32"/>
                <a:gd name="T12" fmla="*/ 7144 w 34"/>
                <a:gd name="T13" fmla="*/ 4217 h 32"/>
                <a:gd name="T14" fmla="*/ 0 60000 65536"/>
                <a:gd name="T15" fmla="*/ 0 60000 65536"/>
                <a:gd name="T16" fmla="*/ 0 60000 65536"/>
                <a:gd name="T17" fmla="*/ 0 60000 65536"/>
                <a:gd name="T18" fmla="*/ 0 60000 65536"/>
                <a:gd name="T19" fmla="*/ 0 60000 65536"/>
                <a:gd name="T20" fmla="*/ 0 60000 65536"/>
                <a:gd name="T21" fmla="*/ 0 w 34"/>
                <a:gd name="T22" fmla="*/ 0 h 32"/>
                <a:gd name="T23" fmla="*/ 34 w 34"/>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32">
                  <a:moveTo>
                    <a:pt x="34" y="17"/>
                  </a:moveTo>
                  <a:lnTo>
                    <a:pt x="34" y="17"/>
                  </a:lnTo>
                  <a:lnTo>
                    <a:pt x="34" y="0"/>
                  </a:lnTo>
                  <a:lnTo>
                    <a:pt x="17" y="0"/>
                  </a:lnTo>
                  <a:lnTo>
                    <a:pt x="0" y="17"/>
                  </a:lnTo>
                  <a:lnTo>
                    <a:pt x="17" y="32"/>
                  </a:lnTo>
                  <a:lnTo>
                    <a:pt x="34"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42" name="Freeform 457">
              <a:extLst>
                <a:ext uri="{FF2B5EF4-FFF2-40B4-BE49-F238E27FC236}">
                  <a16:creationId xmlns:a16="http://schemas.microsoft.com/office/drawing/2014/main" id="{E57FC8F7-D0DB-4D75-B71B-500EAC582C96}"/>
                </a:ext>
              </a:extLst>
            </p:cNvPr>
            <p:cNvSpPr>
              <a:spLocks/>
            </p:cNvSpPr>
            <p:nvPr>
              <p:custDataLst>
                <p:tags r:id="rId271"/>
              </p:custDataLst>
            </p:nvPr>
          </p:nvSpPr>
          <p:spPr bwMode="auto">
            <a:xfrm>
              <a:off x="8343336" y="4808152"/>
              <a:ext cx="165370" cy="309628"/>
            </a:xfrm>
            <a:custGeom>
              <a:avLst/>
              <a:gdLst>
                <a:gd name="T0" fmla="*/ 0 w 189"/>
                <a:gd name="T1" fmla="*/ 50800 h 352"/>
                <a:gd name="T2" fmla="*/ 0 w 189"/>
                <a:gd name="T3" fmla="*/ 50800 h 352"/>
                <a:gd name="T4" fmla="*/ 3158 w 189"/>
                <a:gd name="T5" fmla="*/ 63500 h 352"/>
                <a:gd name="T6" fmla="*/ 6316 w 189"/>
                <a:gd name="T7" fmla="*/ 69850 h 352"/>
                <a:gd name="T8" fmla="*/ 16581 w 189"/>
                <a:gd name="T9" fmla="*/ 69850 h 352"/>
                <a:gd name="T10" fmla="*/ 20528 w 189"/>
                <a:gd name="T11" fmla="*/ 66675 h 352"/>
                <a:gd name="T12" fmla="*/ 30792 w 189"/>
                <a:gd name="T13" fmla="*/ 31750 h 352"/>
                <a:gd name="T14" fmla="*/ 33951 w 189"/>
                <a:gd name="T15" fmla="*/ 15875 h 352"/>
                <a:gd name="T16" fmla="*/ 37109 w 189"/>
                <a:gd name="T17" fmla="*/ 19050 h 352"/>
                <a:gd name="T18" fmla="*/ 37109 w 189"/>
                <a:gd name="T19" fmla="*/ 15875 h 352"/>
                <a:gd name="T20" fmla="*/ 33951 w 189"/>
                <a:gd name="T21" fmla="*/ 3175 h 352"/>
                <a:gd name="T22" fmla="*/ 30792 w 189"/>
                <a:gd name="T23" fmla="*/ 0 h 352"/>
                <a:gd name="T24" fmla="*/ 26845 w 189"/>
                <a:gd name="T25" fmla="*/ 5556 h 352"/>
                <a:gd name="T26" fmla="*/ 23687 w 189"/>
                <a:gd name="T27" fmla="*/ 5556 h 352"/>
                <a:gd name="T28" fmla="*/ 23687 w 189"/>
                <a:gd name="T29" fmla="*/ 12700 h 352"/>
                <a:gd name="T30" fmla="*/ 6316 w 189"/>
                <a:gd name="T31" fmla="*/ 22225 h 352"/>
                <a:gd name="T32" fmla="*/ 3158 w 189"/>
                <a:gd name="T33" fmla="*/ 28575 h 352"/>
                <a:gd name="T34" fmla="*/ 6316 w 189"/>
                <a:gd name="T35" fmla="*/ 41275 h 352"/>
                <a:gd name="T36" fmla="*/ 0 w 189"/>
                <a:gd name="T37" fmla="*/ 50800 h 3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9"/>
                <a:gd name="T58" fmla="*/ 0 h 352"/>
                <a:gd name="T59" fmla="*/ 189 w 189"/>
                <a:gd name="T60" fmla="*/ 352 h 3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9" h="352">
                  <a:moveTo>
                    <a:pt x="0" y="256"/>
                  </a:moveTo>
                  <a:lnTo>
                    <a:pt x="0" y="256"/>
                  </a:lnTo>
                  <a:lnTo>
                    <a:pt x="18" y="319"/>
                  </a:lnTo>
                  <a:lnTo>
                    <a:pt x="35" y="352"/>
                  </a:lnTo>
                  <a:lnTo>
                    <a:pt x="87" y="352"/>
                  </a:lnTo>
                  <a:lnTo>
                    <a:pt x="104" y="336"/>
                  </a:lnTo>
                  <a:lnTo>
                    <a:pt x="156" y="160"/>
                  </a:lnTo>
                  <a:lnTo>
                    <a:pt x="173" y="79"/>
                  </a:lnTo>
                  <a:lnTo>
                    <a:pt x="189" y="96"/>
                  </a:lnTo>
                  <a:lnTo>
                    <a:pt x="189" y="79"/>
                  </a:lnTo>
                  <a:lnTo>
                    <a:pt x="173" y="16"/>
                  </a:lnTo>
                  <a:lnTo>
                    <a:pt x="156" y="0"/>
                  </a:lnTo>
                  <a:lnTo>
                    <a:pt x="139" y="31"/>
                  </a:lnTo>
                  <a:lnTo>
                    <a:pt x="121" y="31"/>
                  </a:lnTo>
                  <a:lnTo>
                    <a:pt x="121" y="64"/>
                  </a:lnTo>
                  <a:lnTo>
                    <a:pt x="35" y="112"/>
                  </a:lnTo>
                  <a:lnTo>
                    <a:pt x="18" y="144"/>
                  </a:lnTo>
                  <a:lnTo>
                    <a:pt x="35" y="208"/>
                  </a:lnTo>
                  <a:lnTo>
                    <a:pt x="0" y="256"/>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43" name="Freeform 458">
              <a:extLst>
                <a:ext uri="{FF2B5EF4-FFF2-40B4-BE49-F238E27FC236}">
                  <a16:creationId xmlns:a16="http://schemas.microsoft.com/office/drawing/2014/main" id="{1DAE0CCE-A690-4E8F-8AE2-23199CB01A18}"/>
                </a:ext>
              </a:extLst>
            </p:cNvPr>
            <p:cNvSpPr>
              <a:spLocks/>
            </p:cNvSpPr>
            <p:nvPr>
              <p:custDataLst>
                <p:tags r:id="rId272"/>
              </p:custDataLst>
            </p:nvPr>
          </p:nvSpPr>
          <p:spPr bwMode="auto">
            <a:xfrm>
              <a:off x="8679353" y="4991115"/>
              <a:ext cx="12315" cy="12315"/>
            </a:xfrm>
            <a:custGeom>
              <a:avLst/>
              <a:gdLst>
                <a:gd name="T0" fmla="*/ 0 w 16"/>
                <a:gd name="T1" fmla="*/ 2223 h 15"/>
                <a:gd name="T2" fmla="*/ 0 w 16"/>
                <a:gd name="T3" fmla="*/ 2223 h 15"/>
                <a:gd name="T4" fmla="*/ 2084 w 16"/>
                <a:gd name="T5" fmla="*/ 2223 h 15"/>
                <a:gd name="T6" fmla="*/ 0 w 16"/>
                <a:gd name="T7" fmla="*/ 0 h 15"/>
                <a:gd name="T8" fmla="*/ 0 w 16"/>
                <a:gd name="T9" fmla="*/ 2223 h 15"/>
                <a:gd name="T10" fmla="*/ 0 60000 65536"/>
                <a:gd name="T11" fmla="*/ 0 60000 65536"/>
                <a:gd name="T12" fmla="*/ 0 60000 65536"/>
                <a:gd name="T13" fmla="*/ 0 60000 65536"/>
                <a:gd name="T14" fmla="*/ 0 60000 65536"/>
                <a:gd name="T15" fmla="*/ 0 w 16"/>
                <a:gd name="T16" fmla="*/ 0 h 15"/>
                <a:gd name="T17" fmla="*/ 16 w 16"/>
                <a:gd name="T18" fmla="*/ 15 h 15"/>
              </a:gdLst>
              <a:ahLst/>
              <a:cxnLst>
                <a:cxn ang="T10">
                  <a:pos x="T0" y="T1"/>
                </a:cxn>
                <a:cxn ang="T11">
                  <a:pos x="T2" y="T3"/>
                </a:cxn>
                <a:cxn ang="T12">
                  <a:pos x="T4" y="T5"/>
                </a:cxn>
                <a:cxn ang="T13">
                  <a:pos x="T6" y="T7"/>
                </a:cxn>
                <a:cxn ang="T14">
                  <a:pos x="T8" y="T9"/>
                </a:cxn>
              </a:cxnLst>
              <a:rect l="T15" t="T16" r="T17" b="T18"/>
              <a:pathLst>
                <a:path w="16" h="15">
                  <a:moveTo>
                    <a:pt x="0" y="15"/>
                  </a:moveTo>
                  <a:lnTo>
                    <a:pt x="0" y="15"/>
                  </a:lnTo>
                  <a:lnTo>
                    <a:pt x="16" y="15"/>
                  </a:lnTo>
                  <a:lnTo>
                    <a:pt x="0"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44" name="Freeform 459">
              <a:extLst>
                <a:ext uri="{FF2B5EF4-FFF2-40B4-BE49-F238E27FC236}">
                  <a16:creationId xmlns:a16="http://schemas.microsoft.com/office/drawing/2014/main" id="{6B97C82D-F802-4134-8F50-6A1F1EE2A6ED}"/>
                </a:ext>
              </a:extLst>
            </p:cNvPr>
            <p:cNvSpPr>
              <a:spLocks/>
            </p:cNvSpPr>
            <p:nvPr>
              <p:custDataLst>
                <p:tags r:id="rId273"/>
              </p:custDataLst>
            </p:nvPr>
          </p:nvSpPr>
          <p:spPr bwMode="auto">
            <a:xfrm>
              <a:off x="7502414" y="4456302"/>
              <a:ext cx="14074" cy="14074"/>
            </a:xfrm>
            <a:custGeom>
              <a:avLst/>
              <a:gdLst>
                <a:gd name="T0" fmla="*/ 0 w 18"/>
                <a:gd name="T1" fmla="*/ 2822 h 18"/>
                <a:gd name="T2" fmla="*/ 0 w 18"/>
                <a:gd name="T3" fmla="*/ 2822 h 18"/>
                <a:gd name="T4" fmla="*/ 2822 w 18"/>
                <a:gd name="T5" fmla="*/ 0 h 18"/>
                <a:gd name="T6" fmla="*/ 0 w 18"/>
                <a:gd name="T7" fmla="*/ 0 h 18"/>
                <a:gd name="T8" fmla="*/ 0 w 18"/>
                <a:gd name="T9" fmla="*/ 2822 h 18"/>
                <a:gd name="T10" fmla="*/ 0 60000 65536"/>
                <a:gd name="T11" fmla="*/ 0 60000 65536"/>
                <a:gd name="T12" fmla="*/ 0 60000 65536"/>
                <a:gd name="T13" fmla="*/ 0 60000 65536"/>
                <a:gd name="T14" fmla="*/ 0 60000 65536"/>
                <a:gd name="T15" fmla="*/ 0 w 18"/>
                <a:gd name="T16" fmla="*/ 0 h 18"/>
                <a:gd name="T17" fmla="*/ 18 w 18"/>
                <a:gd name="T18" fmla="*/ 18 h 18"/>
              </a:gdLst>
              <a:ahLst/>
              <a:cxnLst>
                <a:cxn ang="T10">
                  <a:pos x="T0" y="T1"/>
                </a:cxn>
                <a:cxn ang="T11">
                  <a:pos x="T2" y="T3"/>
                </a:cxn>
                <a:cxn ang="T12">
                  <a:pos x="T4" y="T5"/>
                </a:cxn>
                <a:cxn ang="T13">
                  <a:pos x="T6" y="T7"/>
                </a:cxn>
                <a:cxn ang="T14">
                  <a:pos x="T8" y="T9"/>
                </a:cxn>
              </a:cxnLst>
              <a:rect l="T15" t="T16" r="T17" b="T18"/>
              <a:pathLst>
                <a:path w="18" h="18">
                  <a:moveTo>
                    <a:pt x="0" y="18"/>
                  </a:moveTo>
                  <a:lnTo>
                    <a:pt x="0" y="18"/>
                  </a:lnTo>
                  <a:lnTo>
                    <a:pt x="18" y="0"/>
                  </a:lnTo>
                  <a:lnTo>
                    <a:pt x="0" y="0"/>
                  </a:lnTo>
                  <a:lnTo>
                    <a:pt x="0" y="1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45" name="Freeform 460">
              <a:extLst>
                <a:ext uri="{FF2B5EF4-FFF2-40B4-BE49-F238E27FC236}">
                  <a16:creationId xmlns:a16="http://schemas.microsoft.com/office/drawing/2014/main" id="{9E9AE176-3299-4329-89D9-1FF688C1A637}"/>
                </a:ext>
              </a:extLst>
            </p:cNvPr>
            <p:cNvSpPr>
              <a:spLocks/>
            </p:cNvSpPr>
            <p:nvPr>
              <p:custDataLst>
                <p:tags r:id="rId274"/>
              </p:custDataLst>
            </p:nvPr>
          </p:nvSpPr>
          <p:spPr bwMode="auto">
            <a:xfrm>
              <a:off x="7945745" y="5188151"/>
              <a:ext cx="61574" cy="56296"/>
            </a:xfrm>
            <a:custGeom>
              <a:avLst/>
              <a:gdLst>
                <a:gd name="T0" fmla="*/ 14495 w 69"/>
                <a:gd name="T1" fmla="*/ 6451 h 63"/>
                <a:gd name="T2" fmla="*/ 14495 w 69"/>
                <a:gd name="T3" fmla="*/ 6451 h 63"/>
                <a:gd name="T4" fmla="*/ 10468 w 69"/>
                <a:gd name="T5" fmla="*/ 9676 h 63"/>
                <a:gd name="T6" fmla="*/ 4026 w 69"/>
                <a:gd name="T7" fmla="*/ 12902 h 63"/>
                <a:gd name="T8" fmla="*/ 0 w 69"/>
                <a:gd name="T9" fmla="*/ 9676 h 63"/>
                <a:gd name="T10" fmla="*/ 7247 w 69"/>
                <a:gd name="T11" fmla="*/ 0 h 63"/>
                <a:gd name="T12" fmla="*/ 10468 w 69"/>
                <a:gd name="T13" fmla="*/ 3225 h 63"/>
                <a:gd name="T14" fmla="*/ 14495 w 69"/>
                <a:gd name="T15" fmla="*/ 6451 h 63"/>
                <a:gd name="T16" fmla="*/ 0 60000 65536"/>
                <a:gd name="T17" fmla="*/ 0 60000 65536"/>
                <a:gd name="T18" fmla="*/ 0 60000 65536"/>
                <a:gd name="T19" fmla="*/ 0 60000 65536"/>
                <a:gd name="T20" fmla="*/ 0 60000 65536"/>
                <a:gd name="T21" fmla="*/ 0 60000 65536"/>
                <a:gd name="T22" fmla="*/ 0 60000 65536"/>
                <a:gd name="T23" fmla="*/ 0 60000 65536"/>
                <a:gd name="T24" fmla="*/ 0 w 69"/>
                <a:gd name="T25" fmla="*/ 0 h 63"/>
                <a:gd name="T26" fmla="*/ 69 w 69"/>
                <a:gd name="T27" fmla="*/ 63 h 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 h="63">
                  <a:moveTo>
                    <a:pt x="69" y="31"/>
                  </a:moveTo>
                  <a:lnTo>
                    <a:pt x="69" y="31"/>
                  </a:lnTo>
                  <a:lnTo>
                    <a:pt x="52" y="48"/>
                  </a:lnTo>
                  <a:lnTo>
                    <a:pt x="18" y="63"/>
                  </a:lnTo>
                  <a:lnTo>
                    <a:pt x="0" y="48"/>
                  </a:lnTo>
                  <a:lnTo>
                    <a:pt x="35" y="0"/>
                  </a:lnTo>
                  <a:lnTo>
                    <a:pt x="52" y="15"/>
                  </a:lnTo>
                  <a:lnTo>
                    <a:pt x="69" y="31"/>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46" name="Freeform 461">
              <a:extLst>
                <a:ext uri="{FF2B5EF4-FFF2-40B4-BE49-F238E27FC236}">
                  <a16:creationId xmlns:a16="http://schemas.microsoft.com/office/drawing/2014/main" id="{0FF99791-DD5E-4022-B8BE-328D49FCE33C}"/>
                </a:ext>
              </a:extLst>
            </p:cNvPr>
            <p:cNvSpPr>
              <a:spLocks/>
            </p:cNvSpPr>
            <p:nvPr>
              <p:custDataLst>
                <p:tags r:id="rId275"/>
              </p:custDataLst>
            </p:nvPr>
          </p:nvSpPr>
          <p:spPr bwMode="auto">
            <a:xfrm>
              <a:off x="8007318" y="4554820"/>
              <a:ext cx="260369" cy="239258"/>
            </a:xfrm>
            <a:custGeom>
              <a:avLst/>
              <a:gdLst>
                <a:gd name="T0" fmla="*/ 20637 w 296"/>
                <a:gd name="T1" fmla="*/ 44779 h 270"/>
                <a:gd name="T2" fmla="*/ 20637 w 296"/>
                <a:gd name="T3" fmla="*/ 44779 h 270"/>
                <a:gd name="T4" fmla="*/ 10319 w 296"/>
                <a:gd name="T5" fmla="*/ 38382 h 270"/>
                <a:gd name="T6" fmla="*/ 7144 w 296"/>
                <a:gd name="T7" fmla="*/ 38382 h 270"/>
                <a:gd name="T8" fmla="*/ 0 w 296"/>
                <a:gd name="T9" fmla="*/ 28787 h 270"/>
                <a:gd name="T10" fmla="*/ 0 w 296"/>
                <a:gd name="T11" fmla="*/ 19191 h 270"/>
                <a:gd name="T12" fmla="*/ 7144 w 296"/>
                <a:gd name="T13" fmla="*/ 12794 h 270"/>
                <a:gd name="T14" fmla="*/ 7144 w 296"/>
                <a:gd name="T15" fmla="*/ 9596 h 270"/>
                <a:gd name="T16" fmla="*/ 7144 w 296"/>
                <a:gd name="T17" fmla="*/ 6397 h 270"/>
                <a:gd name="T18" fmla="*/ 7144 w 296"/>
                <a:gd name="T19" fmla="*/ 0 h 270"/>
                <a:gd name="T20" fmla="*/ 14288 w 296"/>
                <a:gd name="T21" fmla="*/ 0 h 270"/>
                <a:gd name="T22" fmla="*/ 23812 w 296"/>
                <a:gd name="T23" fmla="*/ 0 h 270"/>
                <a:gd name="T24" fmla="*/ 27781 w 296"/>
                <a:gd name="T25" fmla="*/ 0 h 270"/>
                <a:gd name="T26" fmla="*/ 44450 w 296"/>
                <a:gd name="T27" fmla="*/ 9596 h 270"/>
                <a:gd name="T28" fmla="*/ 44450 w 296"/>
                <a:gd name="T29" fmla="*/ 15993 h 270"/>
                <a:gd name="T30" fmla="*/ 55563 w 296"/>
                <a:gd name="T31" fmla="*/ 19191 h 270"/>
                <a:gd name="T32" fmla="*/ 52388 w 296"/>
                <a:gd name="T33" fmla="*/ 25588 h 270"/>
                <a:gd name="T34" fmla="*/ 55563 w 296"/>
                <a:gd name="T35" fmla="*/ 31985 h 270"/>
                <a:gd name="T36" fmla="*/ 55563 w 296"/>
                <a:gd name="T37" fmla="*/ 41581 h 270"/>
                <a:gd name="T38" fmla="*/ 55563 w 296"/>
                <a:gd name="T39" fmla="*/ 44779 h 270"/>
                <a:gd name="T40" fmla="*/ 58738 w 296"/>
                <a:gd name="T41" fmla="*/ 47978 h 270"/>
                <a:gd name="T42" fmla="*/ 52388 w 296"/>
                <a:gd name="T43" fmla="*/ 55174 h 270"/>
                <a:gd name="T44" fmla="*/ 37306 w 296"/>
                <a:gd name="T45" fmla="*/ 55174 h 270"/>
                <a:gd name="T46" fmla="*/ 30956 w 296"/>
                <a:gd name="T47" fmla="*/ 55174 h 270"/>
                <a:gd name="T48" fmla="*/ 27781 w 296"/>
                <a:gd name="T49" fmla="*/ 44779 h 270"/>
                <a:gd name="T50" fmla="*/ 23812 w 296"/>
                <a:gd name="T51" fmla="*/ 44779 h 270"/>
                <a:gd name="T52" fmla="*/ 20637 w 296"/>
                <a:gd name="T53" fmla="*/ 44779 h 27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96"/>
                <a:gd name="T82" fmla="*/ 0 h 270"/>
                <a:gd name="T83" fmla="*/ 296 w 296"/>
                <a:gd name="T84" fmla="*/ 270 h 27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96" h="270">
                  <a:moveTo>
                    <a:pt x="104" y="222"/>
                  </a:moveTo>
                  <a:lnTo>
                    <a:pt x="104" y="222"/>
                  </a:lnTo>
                  <a:lnTo>
                    <a:pt x="52" y="191"/>
                  </a:lnTo>
                  <a:lnTo>
                    <a:pt x="35" y="191"/>
                  </a:lnTo>
                  <a:lnTo>
                    <a:pt x="0" y="143"/>
                  </a:lnTo>
                  <a:lnTo>
                    <a:pt x="0" y="95"/>
                  </a:lnTo>
                  <a:lnTo>
                    <a:pt x="35" y="63"/>
                  </a:lnTo>
                  <a:lnTo>
                    <a:pt x="35" y="47"/>
                  </a:lnTo>
                  <a:lnTo>
                    <a:pt x="35" y="30"/>
                  </a:lnTo>
                  <a:lnTo>
                    <a:pt x="35" y="0"/>
                  </a:lnTo>
                  <a:lnTo>
                    <a:pt x="69" y="0"/>
                  </a:lnTo>
                  <a:lnTo>
                    <a:pt x="121" y="0"/>
                  </a:lnTo>
                  <a:lnTo>
                    <a:pt x="139" y="0"/>
                  </a:lnTo>
                  <a:lnTo>
                    <a:pt x="225" y="47"/>
                  </a:lnTo>
                  <a:lnTo>
                    <a:pt x="225" y="78"/>
                  </a:lnTo>
                  <a:lnTo>
                    <a:pt x="279" y="95"/>
                  </a:lnTo>
                  <a:lnTo>
                    <a:pt x="261" y="126"/>
                  </a:lnTo>
                  <a:lnTo>
                    <a:pt x="279" y="159"/>
                  </a:lnTo>
                  <a:lnTo>
                    <a:pt x="279" y="207"/>
                  </a:lnTo>
                  <a:lnTo>
                    <a:pt x="279" y="222"/>
                  </a:lnTo>
                  <a:lnTo>
                    <a:pt x="296" y="239"/>
                  </a:lnTo>
                  <a:lnTo>
                    <a:pt x="261" y="270"/>
                  </a:lnTo>
                  <a:lnTo>
                    <a:pt x="190" y="270"/>
                  </a:lnTo>
                  <a:lnTo>
                    <a:pt x="156" y="270"/>
                  </a:lnTo>
                  <a:lnTo>
                    <a:pt x="139" y="222"/>
                  </a:lnTo>
                  <a:lnTo>
                    <a:pt x="121" y="222"/>
                  </a:lnTo>
                  <a:lnTo>
                    <a:pt x="104" y="222"/>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47" name="Freeform 462">
              <a:extLst>
                <a:ext uri="{FF2B5EF4-FFF2-40B4-BE49-F238E27FC236}">
                  <a16:creationId xmlns:a16="http://schemas.microsoft.com/office/drawing/2014/main" id="{3F3CE401-F5F9-497A-8E72-BA379D913079}"/>
                </a:ext>
              </a:extLst>
            </p:cNvPr>
            <p:cNvSpPr>
              <a:spLocks/>
            </p:cNvSpPr>
            <p:nvPr>
              <p:custDataLst>
                <p:tags r:id="rId276"/>
              </p:custDataLst>
            </p:nvPr>
          </p:nvSpPr>
          <p:spPr bwMode="auto">
            <a:xfrm>
              <a:off x="7502414" y="4484450"/>
              <a:ext cx="138982" cy="140740"/>
            </a:xfrm>
            <a:custGeom>
              <a:avLst/>
              <a:gdLst>
                <a:gd name="T0" fmla="*/ 6271 w 160"/>
                <a:gd name="T1" fmla="*/ 7189 h 159"/>
                <a:gd name="T2" fmla="*/ 6271 w 160"/>
                <a:gd name="T3" fmla="*/ 7189 h 159"/>
                <a:gd name="T4" fmla="*/ 13325 w 160"/>
                <a:gd name="T5" fmla="*/ 7189 h 159"/>
                <a:gd name="T6" fmla="*/ 13325 w 160"/>
                <a:gd name="T7" fmla="*/ 0 h 159"/>
                <a:gd name="T8" fmla="*/ 23515 w 160"/>
                <a:gd name="T9" fmla="*/ 0 h 159"/>
                <a:gd name="T10" fmla="*/ 23515 w 160"/>
                <a:gd name="T11" fmla="*/ 7189 h 159"/>
                <a:gd name="T12" fmla="*/ 27434 w 160"/>
                <a:gd name="T13" fmla="*/ 3195 h 159"/>
                <a:gd name="T14" fmla="*/ 30569 w 160"/>
                <a:gd name="T15" fmla="*/ 7189 h 159"/>
                <a:gd name="T16" fmla="*/ 30569 w 160"/>
                <a:gd name="T17" fmla="*/ 9585 h 159"/>
                <a:gd name="T18" fmla="*/ 30569 w 160"/>
                <a:gd name="T19" fmla="*/ 22365 h 159"/>
                <a:gd name="T20" fmla="*/ 20380 w 160"/>
                <a:gd name="T21" fmla="*/ 22365 h 159"/>
                <a:gd name="T22" fmla="*/ 17244 w 160"/>
                <a:gd name="T23" fmla="*/ 25560 h 159"/>
                <a:gd name="T24" fmla="*/ 17244 w 160"/>
                <a:gd name="T25" fmla="*/ 28755 h 159"/>
                <a:gd name="T26" fmla="*/ 13325 w 160"/>
                <a:gd name="T27" fmla="*/ 28755 h 159"/>
                <a:gd name="T28" fmla="*/ 13325 w 160"/>
                <a:gd name="T29" fmla="*/ 31950 h 159"/>
                <a:gd name="T30" fmla="*/ 6271 w 160"/>
                <a:gd name="T31" fmla="*/ 25560 h 159"/>
                <a:gd name="T32" fmla="*/ 0 w 160"/>
                <a:gd name="T33" fmla="*/ 16774 h 159"/>
                <a:gd name="T34" fmla="*/ 3135 w 160"/>
                <a:gd name="T35" fmla="*/ 12780 h 159"/>
                <a:gd name="T36" fmla="*/ 3135 w 160"/>
                <a:gd name="T37" fmla="*/ 9585 h 159"/>
                <a:gd name="T38" fmla="*/ 6271 w 160"/>
                <a:gd name="T39" fmla="*/ 7189 h 15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0"/>
                <a:gd name="T61" fmla="*/ 0 h 159"/>
                <a:gd name="T62" fmla="*/ 160 w 160"/>
                <a:gd name="T63" fmla="*/ 159 h 15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0" h="159">
                  <a:moveTo>
                    <a:pt x="35" y="33"/>
                  </a:moveTo>
                  <a:lnTo>
                    <a:pt x="35" y="33"/>
                  </a:lnTo>
                  <a:lnTo>
                    <a:pt x="71" y="33"/>
                  </a:lnTo>
                  <a:lnTo>
                    <a:pt x="71" y="0"/>
                  </a:lnTo>
                  <a:lnTo>
                    <a:pt x="123" y="0"/>
                  </a:lnTo>
                  <a:lnTo>
                    <a:pt x="123" y="33"/>
                  </a:lnTo>
                  <a:lnTo>
                    <a:pt x="142" y="15"/>
                  </a:lnTo>
                  <a:lnTo>
                    <a:pt x="160" y="33"/>
                  </a:lnTo>
                  <a:lnTo>
                    <a:pt x="160" y="48"/>
                  </a:lnTo>
                  <a:lnTo>
                    <a:pt x="160" y="111"/>
                  </a:lnTo>
                  <a:lnTo>
                    <a:pt x="106" y="111"/>
                  </a:lnTo>
                  <a:lnTo>
                    <a:pt x="89" y="128"/>
                  </a:lnTo>
                  <a:lnTo>
                    <a:pt x="89" y="144"/>
                  </a:lnTo>
                  <a:lnTo>
                    <a:pt x="71" y="144"/>
                  </a:lnTo>
                  <a:lnTo>
                    <a:pt x="71" y="159"/>
                  </a:lnTo>
                  <a:lnTo>
                    <a:pt x="35" y="128"/>
                  </a:lnTo>
                  <a:lnTo>
                    <a:pt x="0" y="81"/>
                  </a:lnTo>
                  <a:lnTo>
                    <a:pt x="18" y="63"/>
                  </a:lnTo>
                  <a:lnTo>
                    <a:pt x="18" y="48"/>
                  </a:lnTo>
                  <a:lnTo>
                    <a:pt x="35" y="33"/>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48" name="Freeform 463">
              <a:extLst>
                <a:ext uri="{FF2B5EF4-FFF2-40B4-BE49-F238E27FC236}">
                  <a16:creationId xmlns:a16="http://schemas.microsoft.com/office/drawing/2014/main" id="{CFC125D4-AA1B-401D-8B8F-F3F7DCD40428}"/>
                </a:ext>
              </a:extLst>
            </p:cNvPr>
            <p:cNvSpPr>
              <a:spLocks/>
            </p:cNvSpPr>
            <p:nvPr>
              <p:custDataLst>
                <p:tags r:id="rId277"/>
              </p:custDataLst>
            </p:nvPr>
          </p:nvSpPr>
          <p:spPr bwMode="auto">
            <a:xfrm>
              <a:off x="7563986" y="4456302"/>
              <a:ext cx="182962" cy="197036"/>
            </a:xfrm>
            <a:custGeom>
              <a:avLst/>
              <a:gdLst>
                <a:gd name="T0" fmla="*/ 27781 w 208"/>
                <a:gd name="T1" fmla="*/ 3161 h 225"/>
                <a:gd name="T2" fmla="*/ 27781 w 208"/>
                <a:gd name="T3" fmla="*/ 3161 h 225"/>
                <a:gd name="T4" fmla="*/ 27781 w 208"/>
                <a:gd name="T5" fmla="*/ 9483 h 225"/>
                <a:gd name="T6" fmla="*/ 10319 w 208"/>
                <a:gd name="T7" fmla="*/ 6322 h 225"/>
                <a:gd name="T8" fmla="*/ 10319 w 208"/>
                <a:gd name="T9" fmla="*/ 12644 h 225"/>
                <a:gd name="T10" fmla="*/ 14288 w 208"/>
                <a:gd name="T11" fmla="*/ 9483 h 225"/>
                <a:gd name="T12" fmla="*/ 17463 w 208"/>
                <a:gd name="T13" fmla="*/ 12644 h 225"/>
                <a:gd name="T14" fmla="*/ 17463 w 208"/>
                <a:gd name="T15" fmla="*/ 15804 h 225"/>
                <a:gd name="T16" fmla="*/ 17463 w 208"/>
                <a:gd name="T17" fmla="*/ 28448 h 225"/>
                <a:gd name="T18" fmla="*/ 7144 w 208"/>
                <a:gd name="T19" fmla="*/ 28448 h 225"/>
                <a:gd name="T20" fmla="*/ 3969 w 208"/>
                <a:gd name="T21" fmla="*/ 31609 h 225"/>
                <a:gd name="T22" fmla="*/ 3969 w 208"/>
                <a:gd name="T23" fmla="*/ 34770 h 225"/>
                <a:gd name="T24" fmla="*/ 0 w 208"/>
                <a:gd name="T25" fmla="*/ 34770 h 225"/>
                <a:gd name="T26" fmla="*/ 0 w 208"/>
                <a:gd name="T27" fmla="*/ 37931 h 225"/>
                <a:gd name="T28" fmla="*/ 7144 w 208"/>
                <a:gd name="T29" fmla="*/ 44252 h 225"/>
                <a:gd name="T30" fmla="*/ 7144 w 208"/>
                <a:gd name="T31" fmla="*/ 41092 h 225"/>
                <a:gd name="T32" fmla="*/ 10319 w 208"/>
                <a:gd name="T33" fmla="*/ 41092 h 225"/>
                <a:gd name="T34" fmla="*/ 17463 w 208"/>
                <a:gd name="T35" fmla="*/ 41092 h 225"/>
                <a:gd name="T36" fmla="*/ 23812 w 208"/>
                <a:gd name="T37" fmla="*/ 37931 h 225"/>
                <a:gd name="T38" fmla="*/ 27781 w 208"/>
                <a:gd name="T39" fmla="*/ 28448 h 225"/>
                <a:gd name="T40" fmla="*/ 34925 w 208"/>
                <a:gd name="T41" fmla="*/ 22126 h 225"/>
                <a:gd name="T42" fmla="*/ 41275 w 208"/>
                <a:gd name="T43" fmla="*/ 0 h 225"/>
                <a:gd name="T44" fmla="*/ 30956 w 208"/>
                <a:gd name="T45" fmla="*/ 3161 h 225"/>
                <a:gd name="T46" fmla="*/ 27781 w 208"/>
                <a:gd name="T47" fmla="*/ 3161 h 22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8"/>
                <a:gd name="T73" fmla="*/ 0 h 225"/>
                <a:gd name="T74" fmla="*/ 208 w 208"/>
                <a:gd name="T75" fmla="*/ 225 h 22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8" h="225">
                  <a:moveTo>
                    <a:pt x="139" y="18"/>
                  </a:moveTo>
                  <a:lnTo>
                    <a:pt x="139" y="18"/>
                  </a:lnTo>
                  <a:lnTo>
                    <a:pt x="139" y="48"/>
                  </a:lnTo>
                  <a:lnTo>
                    <a:pt x="52" y="33"/>
                  </a:lnTo>
                  <a:lnTo>
                    <a:pt x="52" y="66"/>
                  </a:lnTo>
                  <a:lnTo>
                    <a:pt x="70" y="48"/>
                  </a:lnTo>
                  <a:lnTo>
                    <a:pt x="87" y="66"/>
                  </a:lnTo>
                  <a:lnTo>
                    <a:pt x="87" y="81"/>
                  </a:lnTo>
                  <a:lnTo>
                    <a:pt x="87" y="144"/>
                  </a:lnTo>
                  <a:lnTo>
                    <a:pt x="35" y="144"/>
                  </a:lnTo>
                  <a:lnTo>
                    <a:pt x="18" y="161"/>
                  </a:lnTo>
                  <a:lnTo>
                    <a:pt x="18" y="177"/>
                  </a:lnTo>
                  <a:lnTo>
                    <a:pt x="0" y="177"/>
                  </a:lnTo>
                  <a:lnTo>
                    <a:pt x="0" y="192"/>
                  </a:lnTo>
                  <a:lnTo>
                    <a:pt x="35" y="225"/>
                  </a:lnTo>
                  <a:lnTo>
                    <a:pt x="35" y="209"/>
                  </a:lnTo>
                  <a:lnTo>
                    <a:pt x="52" y="209"/>
                  </a:lnTo>
                  <a:lnTo>
                    <a:pt x="87" y="209"/>
                  </a:lnTo>
                  <a:lnTo>
                    <a:pt x="121" y="192"/>
                  </a:lnTo>
                  <a:lnTo>
                    <a:pt x="139" y="144"/>
                  </a:lnTo>
                  <a:lnTo>
                    <a:pt x="173" y="114"/>
                  </a:lnTo>
                  <a:lnTo>
                    <a:pt x="208" y="0"/>
                  </a:lnTo>
                  <a:lnTo>
                    <a:pt x="156" y="18"/>
                  </a:lnTo>
                  <a:lnTo>
                    <a:pt x="139" y="1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49" name="Freeform 464">
              <a:extLst>
                <a:ext uri="{FF2B5EF4-FFF2-40B4-BE49-F238E27FC236}">
                  <a16:creationId xmlns:a16="http://schemas.microsoft.com/office/drawing/2014/main" id="{6D9CB4E2-818B-4E13-A892-8876BFA45DB6}"/>
                </a:ext>
              </a:extLst>
            </p:cNvPr>
            <p:cNvSpPr>
              <a:spLocks/>
            </p:cNvSpPr>
            <p:nvPr>
              <p:custDataLst>
                <p:tags r:id="rId278"/>
              </p:custDataLst>
            </p:nvPr>
          </p:nvSpPr>
          <p:spPr bwMode="auto">
            <a:xfrm>
              <a:off x="7593894" y="4428154"/>
              <a:ext cx="459165" cy="408147"/>
            </a:xfrm>
            <a:custGeom>
              <a:avLst/>
              <a:gdLst>
                <a:gd name="T0" fmla="*/ 83664 w 520"/>
                <a:gd name="T1" fmla="*/ 0 h 462"/>
                <a:gd name="T2" fmla="*/ 83664 w 520"/>
                <a:gd name="T3" fmla="*/ 0 h 462"/>
                <a:gd name="T4" fmla="*/ 58963 w 520"/>
                <a:gd name="T5" fmla="*/ 0 h 462"/>
                <a:gd name="T6" fmla="*/ 55776 w 520"/>
                <a:gd name="T7" fmla="*/ 3189 h 462"/>
                <a:gd name="T8" fmla="*/ 45418 w 520"/>
                <a:gd name="T9" fmla="*/ 3189 h 462"/>
                <a:gd name="T10" fmla="*/ 41434 w 520"/>
                <a:gd name="T11" fmla="*/ 0 h 462"/>
                <a:gd name="T12" fmla="*/ 38247 w 520"/>
                <a:gd name="T13" fmla="*/ 0 h 462"/>
                <a:gd name="T14" fmla="*/ 35059 w 520"/>
                <a:gd name="T15" fmla="*/ 6377 h 462"/>
                <a:gd name="T16" fmla="*/ 27888 w 520"/>
                <a:gd name="T17" fmla="*/ 28699 h 462"/>
                <a:gd name="T18" fmla="*/ 20717 w 520"/>
                <a:gd name="T19" fmla="*/ 35076 h 462"/>
                <a:gd name="T20" fmla="*/ 17530 w 520"/>
                <a:gd name="T21" fmla="*/ 44642 h 462"/>
                <a:gd name="T22" fmla="*/ 10358 w 520"/>
                <a:gd name="T23" fmla="*/ 47831 h 462"/>
                <a:gd name="T24" fmla="*/ 3984 w 520"/>
                <a:gd name="T25" fmla="*/ 47831 h 462"/>
                <a:gd name="T26" fmla="*/ 0 w 520"/>
                <a:gd name="T27" fmla="*/ 54209 h 462"/>
                <a:gd name="T28" fmla="*/ 0 w 520"/>
                <a:gd name="T29" fmla="*/ 57397 h 462"/>
                <a:gd name="T30" fmla="*/ 7171 w 520"/>
                <a:gd name="T31" fmla="*/ 54209 h 462"/>
                <a:gd name="T32" fmla="*/ 20717 w 520"/>
                <a:gd name="T33" fmla="*/ 54209 h 462"/>
                <a:gd name="T34" fmla="*/ 24701 w 520"/>
                <a:gd name="T35" fmla="*/ 54209 h 462"/>
                <a:gd name="T36" fmla="*/ 24701 w 520"/>
                <a:gd name="T37" fmla="*/ 60586 h 462"/>
                <a:gd name="T38" fmla="*/ 31075 w 520"/>
                <a:gd name="T39" fmla="*/ 66964 h 462"/>
                <a:gd name="T40" fmla="*/ 38247 w 520"/>
                <a:gd name="T41" fmla="*/ 63775 h 462"/>
                <a:gd name="T42" fmla="*/ 38247 w 520"/>
                <a:gd name="T43" fmla="*/ 60586 h 462"/>
                <a:gd name="T44" fmla="*/ 45418 w 520"/>
                <a:gd name="T45" fmla="*/ 60586 h 462"/>
                <a:gd name="T46" fmla="*/ 51792 w 520"/>
                <a:gd name="T47" fmla="*/ 63775 h 462"/>
                <a:gd name="T48" fmla="*/ 51792 w 520"/>
                <a:gd name="T49" fmla="*/ 73341 h 462"/>
                <a:gd name="T50" fmla="*/ 55776 w 520"/>
                <a:gd name="T51" fmla="*/ 76530 h 462"/>
                <a:gd name="T52" fmla="*/ 51792 w 520"/>
                <a:gd name="T53" fmla="*/ 79719 h 462"/>
                <a:gd name="T54" fmla="*/ 51792 w 520"/>
                <a:gd name="T55" fmla="*/ 82907 h 462"/>
                <a:gd name="T56" fmla="*/ 62151 w 520"/>
                <a:gd name="T57" fmla="*/ 79719 h 462"/>
                <a:gd name="T58" fmla="*/ 76493 w 520"/>
                <a:gd name="T59" fmla="*/ 86096 h 462"/>
                <a:gd name="T60" fmla="*/ 79680 w 520"/>
                <a:gd name="T61" fmla="*/ 82907 h 462"/>
                <a:gd name="T62" fmla="*/ 90039 w 520"/>
                <a:gd name="T63" fmla="*/ 89285 h 462"/>
                <a:gd name="T64" fmla="*/ 94023 w 520"/>
                <a:gd name="T65" fmla="*/ 93271 h 462"/>
                <a:gd name="T66" fmla="*/ 94023 w 520"/>
                <a:gd name="T67" fmla="*/ 86096 h 462"/>
                <a:gd name="T68" fmla="*/ 90039 w 520"/>
                <a:gd name="T69" fmla="*/ 86096 h 462"/>
                <a:gd name="T70" fmla="*/ 90039 w 520"/>
                <a:gd name="T71" fmla="*/ 82907 h 462"/>
                <a:gd name="T72" fmla="*/ 90039 w 520"/>
                <a:gd name="T73" fmla="*/ 70152 h 462"/>
                <a:gd name="T74" fmla="*/ 90039 w 520"/>
                <a:gd name="T75" fmla="*/ 66964 h 462"/>
                <a:gd name="T76" fmla="*/ 100397 w 520"/>
                <a:gd name="T77" fmla="*/ 66964 h 462"/>
                <a:gd name="T78" fmla="*/ 94023 w 520"/>
                <a:gd name="T79" fmla="*/ 57397 h 462"/>
                <a:gd name="T80" fmla="*/ 94023 w 520"/>
                <a:gd name="T81" fmla="*/ 47831 h 462"/>
                <a:gd name="T82" fmla="*/ 94023 w 520"/>
                <a:gd name="T83" fmla="*/ 41454 h 462"/>
                <a:gd name="T84" fmla="*/ 94023 w 520"/>
                <a:gd name="T85" fmla="*/ 38265 h 462"/>
                <a:gd name="T86" fmla="*/ 90039 w 520"/>
                <a:gd name="T87" fmla="*/ 38265 h 462"/>
                <a:gd name="T88" fmla="*/ 94023 w 520"/>
                <a:gd name="T89" fmla="*/ 31887 h 462"/>
                <a:gd name="T90" fmla="*/ 97210 w 520"/>
                <a:gd name="T91" fmla="*/ 22321 h 462"/>
                <a:gd name="T92" fmla="*/ 100397 w 520"/>
                <a:gd name="T93" fmla="*/ 19132 h 462"/>
                <a:gd name="T94" fmla="*/ 104381 w 520"/>
                <a:gd name="T95" fmla="*/ 12755 h 462"/>
                <a:gd name="T96" fmla="*/ 100397 w 520"/>
                <a:gd name="T97" fmla="*/ 12755 h 462"/>
                <a:gd name="T98" fmla="*/ 100397 w 520"/>
                <a:gd name="T99" fmla="*/ 6377 h 462"/>
                <a:gd name="T100" fmla="*/ 97210 w 520"/>
                <a:gd name="T101" fmla="*/ 3189 h 462"/>
                <a:gd name="T102" fmla="*/ 86852 w 520"/>
                <a:gd name="T103" fmla="*/ 3189 h 462"/>
                <a:gd name="T104" fmla="*/ 83664 w 520"/>
                <a:gd name="T105" fmla="*/ 0 h 46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520"/>
                <a:gd name="T160" fmla="*/ 0 h 462"/>
                <a:gd name="T161" fmla="*/ 520 w 520"/>
                <a:gd name="T162" fmla="*/ 462 h 46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520" h="462">
                  <a:moveTo>
                    <a:pt x="417" y="0"/>
                  </a:moveTo>
                  <a:lnTo>
                    <a:pt x="417" y="0"/>
                  </a:lnTo>
                  <a:lnTo>
                    <a:pt x="294" y="0"/>
                  </a:lnTo>
                  <a:lnTo>
                    <a:pt x="276" y="15"/>
                  </a:lnTo>
                  <a:lnTo>
                    <a:pt x="225" y="15"/>
                  </a:lnTo>
                  <a:lnTo>
                    <a:pt x="207" y="0"/>
                  </a:lnTo>
                  <a:lnTo>
                    <a:pt x="190" y="0"/>
                  </a:lnTo>
                  <a:lnTo>
                    <a:pt x="173" y="30"/>
                  </a:lnTo>
                  <a:lnTo>
                    <a:pt x="138" y="144"/>
                  </a:lnTo>
                  <a:lnTo>
                    <a:pt x="104" y="174"/>
                  </a:lnTo>
                  <a:lnTo>
                    <a:pt x="86" y="222"/>
                  </a:lnTo>
                  <a:lnTo>
                    <a:pt x="52" y="239"/>
                  </a:lnTo>
                  <a:lnTo>
                    <a:pt x="17" y="239"/>
                  </a:lnTo>
                  <a:lnTo>
                    <a:pt x="0" y="270"/>
                  </a:lnTo>
                  <a:lnTo>
                    <a:pt x="0" y="287"/>
                  </a:lnTo>
                  <a:lnTo>
                    <a:pt x="35" y="270"/>
                  </a:lnTo>
                  <a:lnTo>
                    <a:pt x="104" y="270"/>
                  </a:lnTo>
                  <a:lnTo>
                    <a:pt x="121" y="270"/>
                  </a:lnTo>
                  <a:lnTo>
                    <a:pt x="121" y="303"/>
                  </a:lnTo>
                  <a:lnTo>
                    <a:pt x="155" y="335"/>
                  </a:lnTo>
                  <a:lnTo>
                    <a:pt x="190" y="318"/>
                  </a:lnTo>
                  <a:lnTo>
                    <a:pt x="190" y="303"/>
                  </a:lnTo>
                  <a:lnTo>
                    <a:pt x="225" y="303"/>
                  </a:lnTo>
                  <a:lnTo>
                    <a:pt x="259" y="318"/>
                  </a:lnTo>
                  <a:lnTo>
                    <a:pt x="259" y="366"/>
                  </a:lnTo>
                  <a:lnTo>
                    <a:pt x="276" y="383"/>
                  </a:lnTo>
                  <a:lnTo>
                    <a:pt x="259" y="399"/>
                  </a:lnTo>
                  <a:lnTo>
                    <a:pt x="259" y="414"/>
                  </a:lnTo>
                  <a:lnTo>
                    <a:pt x="311" y="399"/>
                  </a:lnTo>
                  <a:lnTo>
                    <a:pt x="380" y="431"/>
                  </a:lnTo>
                  <a:lnTo>
                    <a:pt x="397" y="414"/>
                  </a:lnTo>
                  <a:lnTo>
                    <a:pt x="451" y="447"/>
                  </a:lnTo>
                  <a:lnTo>
                    <a:pt x="468" y="462"/>
                  </a:lnTo>
                  <a:lnTo>
                    <a:pt x="468" y="431"/>
                  </a:lnTo>
                  <a:lnTo>
                    <a:pt x="451" y="431"/>
                  </a:lnTo>
                  <a:lnTo>
                    <a:pt x="451" y="414"/>
                  </a:lnTo>
                  <a:lnTo>
                    <a:pt x="451" y="351"/>
                  </a:lnTo>
                  <a:lnTo>
                    <a:pt x="451" y="335"/>
                  </a:lnTo>
                  <a:lnTo>
                    <a:pt x="503" y="335"/>
                  </a:lnTo>
                  <a:lnTo>
                    <a:pt x="468" y="287"/>
                  </a:lnTo>
                  <a:lnTo>
                    <a:pt x="468" y="239"/>
                  </a:lnTo>
                  <a:lnTo>
                    <a:pt x="468" y="207"/>
                  </a:lnTo>
                  <a:lnTo>
                    <a:pt x="468" y="191"/>
                  </a:lnTo>
                  <a:lnTo>
                    <a:pt x="451" y="191"/>
                  </a:lnTo>
                  <a:lnTo>
                    <a:pt x="468" y="159"/>
                  </a:lnTo>
                  <a:lnTo>
                    <a:pt x="486" y="111"/>
                  </a:lnTo>
                  <a:lnTo>
                    <a:pt x="503" y="96"/>
                  </a:lnTo>
                  <a:lnTo>
                    <a:pt x="520" y="63"/>
                  </a:lnTo>
                  <a:lnTo>
                    <a:pt x="503" y="63"/>
                  </a:lnTo>
                  <a:lnTo>
                    <a:pt x="503" y="30"/>
                  </a:lnTo>
                  <a:lnTo>
                    <a:pt x="486" y="15"/>
                  </a:lnTo>
                  <a:lnTo>
                    <a:pt x="434" y="15"/>
                  </a:lnTo>
                  <a:lnTo>
                    <a:pt x="417"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0" name="Freeform 465">
              <a:extLst>
                <a:ext uri="{FF2B5EF4-FFF2-40B4-BE49-F238E27FC236}">
                  <a16:creationId xmlns:a16="http://schemas.microsoft.com/office/drawing/2014/main" id="{BDEED461-4ED8-4E36-9960-5C6869523AB4}"/>
                </a:ext>
              </a:extLst>
            </p:cNvPr>
            <p:cNvSpPr>
              <a:spLocks/>
            </p:cNvSpPr>
            <p:nvPr>
              <p:custDataLst>
                <p:tags r:id="rId279"/>
              </p:custDataLst>
            </p:nvPr>
          </p:nvSpPr>
          <p:spPr bwMode="auto">
            <a:xfrm>
              <a:off x="7822597" y="4723708"/>
              <a:ext cx="290277" cy="211110"/>
            </a:xfrm>
            <a:custGeom>
              <a:avLst/>
              <a:gdLst>
                <a:gd name="T0" fmla="*/ 10319 w 330"/>
                <a:gd name="T1" fmla="*/ 12700 h 240"/>
                <a:gd name="T2" fmla="*/ 10319 w 330"/>
                <a:gd name="T3" fmla="*/ 12700 h 240"/>
                <a:gd name="T4" fmla="*/ 23813 w 330"/>
                <a:gd name="T5" fmla="*/ 19050 h 240"/>
                <a:gd name="T6" fmla="*/ 27781 w 330"/>
                <a:gd name="T7" fmla="*/ 15875 h 240"/>
                <a:gd name="T8" fmla="*/ 38100 w 330"/>
                <a:gd name="T9" fmla="*/ 22225 h 240"/>
                <a:gd name="T10" fmla="*/ 41275 w 330"/>
                <a:gd name="T11" fmla="*/ 24606 h 240"/>
                <a:gd name="T12" fmla="*/ 41275 w 330"/>
                <a:gd name="T13" fmla="*/ 19050 h 240"/>
                <a:gd name="T14" fmla="*/ 38100 w 330"/>
                <a:gd name="T15" fmla="*/ 19050 h 240"/>
                <a:gd name="T16" fmla="*/ 38100 w 330"/>
                <a:gd name="T17" fmla="*/ 15875 h 240"/>
                <a:gd name="T18" fmla="*/ 38100 w 330"/>
                <a:gd name="T19" fmla="*/ 3175 h 240"/>
                <a:gd name="T20" fmla="*/ 38100 w 330"/>
                <a:gd name="T21" fmla="*/ 0 h 240"/>
                <a:gd name="T22" fmla="*/ 48419 w 330"/>
                <a:gd name="T23" fmla="*/ 0 h 240"/>
                <a:gd name="T24" fmla="*/ 52388 w 330"/>
                <a:gd name="T25" fmla="*/ 0 h 240"/>
                <a:gd name="T26" fmla="*/ 62706 w 330"/>
                <a:gd name="T27" fmla="*/ 6350 h 240"/>
                <a:gd name="T28" fmla="*/ 65881 w 330"/>
                <a:gd name="T29" fmla="*/ 12700 h 240"/>
                <a:gd name="T30" fmla="*/ 62706 w 330"/>
                <a:gd name="T31" fmla="*/ 15875 h 240"/>
                <a:gd name="T32" fmla="*/ 62706 w 330"/>
                <a:gd name="T33" fmla="*/ 19050 h 240"/>
                <a:gd name="T34" fmla="*/ 58738 w 330"/>
                <a:gd name="T35" fmla="*/ 24606 h 240"/>
                <a:gd name="T36" fmla="*/ 62706 w 330"/>
                <a:gd name="T37" fmla="*/ 28575 h 240"/>
                <a:gd name="T38" fmla="*/ 44450 w 330"/>
                <a:gd name="T39" fmla="*/ 34925 h 240"/>
                <a:gd name="T40" fmla="*/ 44450 w 330"/>
                <a:gd name="T41" fmla="*/ 38100 h 240"/>
                <a:gd name="T42" fmla="*/ 38100 w 330"/>
                <a:gd name="T43" fmla="*/ 38100 h 240"/>
                <a:gd name="T44" fmla="*/ 38100 w 330"/>
                <a:gd name="T45" fmla="*/ 41275 h 240"/>
                <a:gd name="T46" fmla="*/ 27781 w 330"/>
                <a:gd name="T47" fmla="*/ 47625 h 240"/>
                <a:gd name="T48" fmla="*/ 17463 w 330"/>
                <a:gd name="T49" fmla="*/ 47625 h 240"/>
                <a:gd name="T50" fmla="*/ 10319 w 330"/>
                <a:gd name="T51" fmla="*/ 44450 h 240"/>
                <a:gd name="T52" fmla="*/ 7144 w 330"/>
                <a:gd name="T53" fmla="*/ 47625 h 240"/>
                <a:gd name="T54" fmla="*/ 0 w 330"/>
                <a:gd name="T55" fmla="*/ 41275 h 240"/>
                <a:gd name="T56" fmla="*/ 0 w 330"/>
                <a:gd name="T57" fmla="*/ 24606 h 240"/>
                <a:gd name="T58" fmla="*/ 14288 w 330"/>
                <a:gd name="T59" fmla="*/ 22225 h 240"/>
                <a:gd name="T60" fmla="*/ 10319 w 330"/>
                <a:gd name="T61" fmla="*/ 12700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30"/>
                <a:gd name="T94" fmla="*/ 0 h 240"/>
                <a:gd name="T95" fmla="*/ 330 w 330"/>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30" h="240">
                  <a:moveTo>
                    <a:pt x="52" y="64"/>
                  </a:moveTo>
                  <a:lnTo>
                    <a:pt x="52" y="64"/>
                  </a:lnTo>
                  <a:lnTo>
                    <a:pt x="123" y="96"/>
                  </a:lnTo>
                  <a:lnTo>
                    <a:pt x="140" y="79"/>
                  </a:lnTo>
                  <a:lnTo>
                    <a:pt x="192" y="112"/>
                  </a:lnTo>
                  <a:lnTo>
                    <a:pt x="209" y="127"/>
                  </a:lnTo>
                  <a:lnTo>
                    <a:pt x="209" y="96"/>
                  </a:lnTo>
                  <a:lnTo>
                    <a:pt x="192" y="96"/>
                  </a:lnTo>
                  <a:lnTo>
                    <a:pt x="192" y="79"/>
                  </a:lnTo>
                  <a:lnTo>
                    <a:pt x="192" y="16"/>
                  </a:lnTo>
                  <a:lnTo>
                    <a:pt x="192" y="0"/>
                  </a:lnTo>
                  <a:lnTo>
                    <a:pt x="244" y="0"/>
                  </a:lnTo>
                  <a:lnTo>
                    <a:pt x="261" y="0"/>
                  </a:lnTo>
                  <a:lnTo>
                    <a:pt x="313" y="31"/>
                  </a:lnTo>
                  <a:lnTo>
                    <a:pt x="330" y="64"/>
                  </a:lnTo>
                  <a:lnTo>
                    <a:pt x="313" y="79"/>
                  </a:lnTo>
                  <a:lnTo>
                    <a:pt x="313" y="96"/>
                  </a:lnTo>
                  <a:lnTo>
                    <a:pt x="296" y="127"/>
                  </a:lnTo>
                  <a:lnTo>
                    <a:pt x="313" y="144"/>
                  </a:lnTo>
                  <a:lnTo>
                    <a:pt x="227" y="175"/>
                  </a:lnTo>
                  <a:lnTo>
                    <a:pt x="227" y="192"/>
                  </a:lnTo>
                  <a:lnTo>
                    <a:pt x="192" y="192"/>
                  </a:lnTo>
                  <a:lnTo>
                    <a:pt x="192" y="208"/>
                  </a:lnTo>
                  <a:lnTo>
                    <a:pt x="140" y="240"/>
                  </a:lnTo>
                  <a:lnTo>
                    <a:pt x="88" y="240"/>
                  </a:lnTo>
                  <a:lnTo>
                    <a:pt x="52" y="223"/>
                  </a:lnTo>
                  <a:lnTo>
                    <a:pt x="35" y="240"/>
                  </a:lnTo>
                  <a:lnTo>
                    <a:pt x="0" y="208"/>
                  </a:lnTo>
                  <a:lnTo>
                    <a:pt x="0" y="127"/>
                  </a:lnTo>
                  <a:lnTo>
                    <a:pt x="69" y="112"/>
                  </a:lnTo>
                  <a:lnTo>
                    <a:pt x="52" y="6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1" name="Freeform 466">
              <a:extLst>
                <a:ext uri="{FF2B5EF4-FFF2-40B4-BE49-F238E27FC236}">
                  <a16:creationId xmlns:a16="http://schemas.microsoft.com/office/drawing/2014/main" id="{7A43D020-F154-4814-B600-ABD981E1763A}"/>
                </a:ext>
              </a:extLst>
            </p:cNvPr>
            <p:cNvSpPr>
              <a:spLocks/>
            </p:cNvSpPr>
            <p:nvPr>
              <p:custDataLst>
                <p:tags r:id="rId280"/>
              </p:custDataLst>
            </p:nvPr>
          </p:nvSpPr>
          <p:spPr bwMode="auto">
            <a:xfrm>
              <a:off x="7581579" y="4667412"/>
              <a:ext cx="304351" cy="281480"/>
            </a:xfrm>
            <a:custGeom>
              <a:avLst/>
              <a:gdLst>
                <a:gd name="T0" fmla="*/ 0 w 345"/>
                <a:gd name="T1" fmla="*/ 56972 h 321"/>
                <a:gd name="T2" fmla="*/ 0 w 345"/>
                <a:gd name="T3" fmla="*/ 56972 h 321"/>
                <a:gd name="T4" fmla="*/ 7164 w 345"/>
                <a:gd name="T5" fmla="*/ 56972 h 321"/>
                <a:gd name="T6" fmla="*/ 14329 w 345"/>
                <a:gd name="T7" fmla="*/ 56972 h 321"/>
                <a:gd name="T8" fmla="*/ 34230 w 345"/>
                <a:gd name="T9" fmla="*/ 60137 h 321"/>
                <a:gd name="T10" fmla="*/ 41395 w 345"/>
                <a:gd name="T11" fmla="*/ 60137 h 321"/>
                <a:gd name="T12" fmla="*/ 54928 w 345"/>
                <a:gd name="T13" fmla="*/ 63302 h 321"/>
                <a:gd name="T14" fmla="*/ 62092 w 345"/>
                <a:gd name="T15" fmla="*/ 60137 h 321"/>
                <a:gd name="T16" fmla="*/ 54928 w 345"/>
                <a:gd name="T17" fmla="*/ 53807 h 321"/>
                <a:gd name="T18" fmla="*/ 54928 w 345"/>
                <a:gd name="T19" fmla="*/ 37981 h 321"/>
                <a:gd name="T20" fmla="*/ 69257 w 345"/>
                <a:gd name="T21" fmla="*/ 34816 h 321"/>
                <a:gd name="T22" fmla="*/ 65276 w 345"/>
                <a:gd name="T23" fmla="*/ 25321 h 321"/>
                <a:gd name="T24" fmla="*/ 54928 w 345"/>
                <a:gd name="T25" fmla="*/ 28486 h 321"/>
                <a:gd name="T26" fmla="*/ 54928 w 345"/>
                <a:gd name="T27" fmla="*/ 25321 h 321"/>
                <a:gd name="T28" fmla="*/ 58908 w 345"/>
                <a:gd name="T29" fmla="*/ 22156 h 321"/>
                <a:gd name="T30" fmla="*/ 54928 w 345"/>
                <a:gd name="T31" fmla="*/ 18991 h 321"/>
                <a:gd name="T32" fmla="*/ 54928 w 345"/>
                <a:gd name="T33" fmla="*/ 9495 h 321"/>
                <a:gd name="T34" fmla="*/ 48559 w 345"/>
                <a:gd name="T35" fmla="*/ 6330 h 321"/>
                <a:gd name="T36" fmla="*/ 41395 w 345"/>
                <a:gd name="T37" fmla="*/ 6330 h 321"/>
                <a:gd name="T38" fmla="*/ 41395 w 345"/>
                <a:gd name="T39" fmla="*/ 9495 h 321"/>
                <a:gd name="T40" fmla="*/ 34230 w 345"/>
                <a:gd name="T41" fmla="*/ 12660 h 321"/>
                <a:gd name="T42" fmla="*/ 27862 w 345"/>
                <a:gd name="T43" fmla="*/ 6330 h 321"/>
                <a:gd name="T44" fmla="*/ 27862 w 345"/>
                <a:gd name="T45" fmla="*/ 0 h 321"/>
                <a:gd name="T46" fmla="*/ 24678 w 345"/>
                <a:gd name="T47" fmla="*/ 0 h 321"/>
                <a:gd name="T48" fmla="*/ 10349 w 345"/>
                <a:gd name="T49" fmla="*/ 0 h 321"/>
                <a:gd name="T50" fmla="*/ 3980 w 345"/>
                <a:gd name="T51" fmla="*/ 3165 h 321"/>
                <a:gd name="T52" fmla="*/ 7164 w 345"/>
                <a:gd name="T53" fmla="*/ 12660 h 321"/>
                <a:gd name="T54" fmla="*/ 7164 w 345"/>
                <a:gd name="T55" fmla="*/ 15826 h 321"/>
                <a:gd name="T56" fmla="*/ 10349 w 345"/>
                <a:gd name="T57" fmla="*/ 28486 h 321"/>
                <a:gd name="T58" fmla="*/ 10349 w 345"/>
                <a:gd name="T59" fmla="*/ 34816 h 321"/>
                <a:gd name="T60" fmla="*/ 3980 w 345"/>
                <a:gd name="T61" fmla="*/ 37981 h 321"/>
                <a:gd name="T62" fmla="*/ 0 w 345"/>
                <a:gd name="T63" fmla="*/ 50642 h 321"/>
                <a:gd name="T64" fmla="*/ 0 w 345"/>
                <a:gd name="T65" fmla="*/ 56972 h 3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5"/>
                <a:gd name="T100" fmla="*/ 0 h 321"/>
                <a:gd name="T101" fmla="*/ 345 w 345"/>
                <a:gd name="T102" fmla="*/ 321 h 32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5" h="321">
                  <a:moveTo>
                    <a:pt x="0" y="288"/>
                  </a:moveTo>
                  <a:lnTo>
                    <a:pt x="0" y="288"/>
                  </a:lnTo>
                  <a:lnTo>
                    <a:pt x="34" y="288"/>
                  </a:lnTo>
                  <a:lnTo>
                    <a:pt x="69" y="288"/>
                  </a:lnTo>
                  <a:lnTo>
                    <a:pt x="172" y="305"/>
                  </a:lnTo>
                  <a:lnTo>
                    <a:pt x="207" y="305"/>
                  </a:lnTo>
                  <a:lnTo>
                    <a:pt x="276" y="321"/>
                  </a:lnTo>
                  <a:lnTo>
                    <a:pt x="311" y="305"/>
                  </a:lnTo>
                  <a:lnTo>
                    <a:pt x="276" y="273"/>
                  </a:lnTo>
                  <a:lnTo>
                    <a:pt x="276" y="192"/>
                  </a:lnTo>
                  <a:lnTo>
                    <a:pt x="345" y="177"/>
                  </a:lnTo>
                  <a:lnTo>
                    <a:pt x="328" y="129"/>
                  </a:lnTo>
                  <a:lnTo>
                    <a:pt x="276" y="144"/>
                  </a:lnTo>
                  <a:lnTo>
                    <a:pt x="276" y="129"/>
                  </a:lnTo>
                  <a:lnTo>
                    <a:pt x="293" y="113"/>
                  </a:lnTo>
                  <a:lnTo>
                    <a:pt x="276" y="96"/>
                  </a:lnTo>
                  <a:lnTo>
                    <a:pt x="276" y="48"/>
                  </a:lnTo>
                  <a:lnTo>
                    <a:pt x="241" y="33"/>
                  </a:lnTo>
                  <a:lnTo>
                    <a:pt x="207" y="33"/>
                  </a:lnTo>
                  <a:lnTo>
                    <a:pt x="207" y="48"/>
                  </a:lnTo>
                  <a:lnTo>
                    <a:pt x="172" y="65"/>
                  </a:lnTo>
                  <a:lnTo>
                    <a:pt x="138" y="33"/>
                  </a:lnTo>
                  <a:lnTo>
                    <a:pt x="138" y="0"/>
                  </a:lnTo>
                  <a:lnTo>
                    <a:pt x="121" y="0"/>
                  </a:lnTo>
                  <a:lnTo>
                    <a:pt x="51" y="0"/>
                  </a:lnTo>
                  <a:lnTo>
                    <a:pt x="17" y="17"/>
                  </a:lnTo>
                  <a:lnTo>
                    <a:pt x="34" y="65"/>
                  </a:lnTo>
                  <a:lnTo>
                    <a:pt x="34" y="81"/>
                  </a:lnTo>
                  <a:lnTo>
                    <a:pt x="51" y="144"/>
                  </a:lnTo>
                  <a:lnTo>
                    <a:pt x="51" y="177"/>
                  </a:lnTo>
                  <a:lnTo>
                    <a:pt x="17" y="192"/>
                  </a:lnTo>
                  <a:lnTo>
                    <a:pt x="0" y="257"/>
                  </a:lnTo>
                  <a:lnTo>
                    <a:pt x="0" y="28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2" name="Freeform 467">
              <a:extLst>
                <a:ext uri="{FF2B5EF4-FFF2-40B4-BE49-F238E27FC236}">
                  <a16:creationId xmlns:a16="http://schemas.microsoft.com/office/drawing/2014/main" id="{3292B00A-ABB8-4AE9-BD0A-E4405FC9F9B7}"/>
                </a:ext>
              </a:extLst>
            </p:cNvPr>
            <p:cNvSpPr>
              <a:spLocks/>
            </p:cNvSpPr>
            <p:nvPr>
              <p:custDataLst>
                <p:tags r:id="rId281"/>
              </p:custDataLst>
            </p:nvPr>
          </p:nvSpPr>
          <p:spPr bwMode="auto">
            <a:xfrm>
              <a:off x="7516488" y="3766675"/>
              <a:ext cx="383517" cy="337776"/>
            </a:xfrm>
            <a:custGeom>
              <a:avLst/>
              <a:gdLst>
                <a:gd name="T0" fmla="*/ 14320 w 435"/>
                <a:gd name="T1" fmla="*/ 54769 h 384"/>
                <a:gd name="T2" fmla="*/ 14320 w 435"/>
                <a:gd name="T3" fmla="*/ 54769 h 384"/>
                <a:gd name="T4" fmla="*/ 10342 w 435"/>
                <a:gd name="T5" fmla="*/ 47625 h 384"/>
                <a:gd name="T6" fmla="*/ 7160 w 435"/>
                <a:gd name="T7" fmla="*/ 47625 h 384"/>
                <a:gd name="T8" fmla="*/ 0 w 435"/>
                <a:gd name="T9" fmla="*/ 38100 h 384"/>
                <a:gd name="T10" fmla="*/ 3978 w 435"/>
                <a:gd name="T11" fmla="*/ 35719 h 384"/>
                <a:gd name="T12" fmla="*/ 3978 w 435"/>
                <a:gd name="T13" fmla="*/ 28575 h 384"/>
                <a:gd name="T14" fmla="*/ 3978 w 435"/>
                <a:gd name="T15" fmla="*/ 22225 h 384"/>
                <a:gd name="T16" fmla="*/ 0 w 435"/>
                <a:gd name="T17" fmla="*/ 19050 h 384"/>
                <a:gd name="T18" fmla="*/ 0 w 435"/>
                <a:gd name="T19" fmla="*/ 16669 h 384"/>
                <a:gd name="T20" fmla="*/ 3978 w 435"/>
                <a:gd name="T21" fmla="*/ 12700 h 384"/>
                <a:gd name="T22" fmla="*/ 3978 w 435"/>
                <a:gd name="T23" fmla="*/ 9525 h 384"/>
                <a:gd name="T24" fmla="*/ 10342 w 435"/>
                <a:gd name="T25" fmla="*/ 3175 h 384"/>
                <a:gd name="T26" fmla="*/ 10342 w 435"/>
                <a:gd name="T27" fmla="*/ 0 h 384"/>
                <a:gd name="T28" fmla="*/ 17503 w 435"/>
                <a:gd name="T29" fmla="*/ 0 h 384"/>
                <a:gd name="T30" fmla="*/ 27845 w 435"/>
                <a:gd name="T31" fmla="*/ 3175 h 384"/>
                <a:gd name="T32" fmla="*/ 35005 w 435"/>
                <a:gd name="T33" fmla="*/ 3175 h 384"/>
                <a:gd name="T34" fmla="*/ 35005 w 435"/>
                <a:gd name="T35" fmla="*/ 9525 h 384"/>
                <a:gd name="T36" fmla="*/ 55690 w 435"/>
                <a:gd name="T37" fmla="*/ 16669 h 384"/>
                <a:gd name="T38" fmla="*/ 58873 w 435"/>
                <a:gd name="T39" fmla="*/ 12700 h 384"/>
                <a:gd name="T40" fmla="*/ 58873 w 435"/>
                <a:gd name="T41" fmla="*/ 7144 h 384"/>
                <a:gd name="T42" fmla="*/ 70011 w 435"/>
                <a:gd name="T43" fmla="*/ 0 h 384"/>
                <a:gd name="T44" fmla="*/ 76375 w 435"/>
                <a:gd name="T45" fmla="*/ 3175 h 384"/>
                <a:gd name="T46" fmla="*/ 76375 w 435"/>
                <a:gd name="T47" fmla="*/ 7144 h 384"/>
                <a:gd name="T48" fmla="*/ 86718 w 435"/>
                <a:gd name="T49" fmla="*/ 7144 h 384"/>
                <a:gd name="T50" fmla="*/ 83535 w 435"/>
                <a:gd name="T51" fmla="*/ 19050 h 384"/>
                <a:gd name="T52" fmla="*/ 86718 w 435"/>
                <a:gd name="T53" fmla="*/ 26194 h 384"/>
                <a:gd name="T54" fmla="*/ 86718 w 435"/>
                <a:gd name="T55" fmla="*/ 60325 h 384"/>
                <a:gd name="T56" fmla="*/ 86718 w 435"/>
                <a:gd name="T57" fmla="*/ 69850 h 384"/>
                <a:gd name="T58" fmla="*/ 83535 w 435"/>
                <a:gd name="T59" fmla="*/ 73819 h 384"/>
                <a:gd name="T60" fmla="*/ 80353 w 435"/>
                <a:gd name="T61" fmla="*/ 76200 h 384"/>
                <a:gd name="T62" fmla="*/ 38188 w 435"/>
                <a:gd name="T63" fmla="*/ 54769 h 384"/>
                <a:gd name="T64" fmla="*/ 31823 w 435"/>
                <a:gd name="T65" fmla="*/ 57150 h 384"/>
                <a:gd name="T66" fmla="*/ 27845 w 435"/>
                <a:gd name="T67" fmla="*/ 54769 h 384"/>
                <a:gd name="T68" fmla="*/ 14320 w 435"/>
                <a:gd name="T69" fmla="*/ 54769 h 38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35"/>
                <a:gd name="T106" fmla="*/ 0 h 384"/>
                <a:gd name="T107" fmla="*/ 435 w 435"/>
                <a:gd name="T108" fmla="*/ 384 h 38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35" h="384">
                  <a:moveTo>
                    <a:pt x="69" y="273"/>
                  </a:moveTo>
                  <a:lnTo>
                    <a:pt x="69" y="273"/>
                  </a:lnTo>
                  <a:lnTo>
                    <a:pt x="51" y="240"/>
                  </a:lnTo>
                  <a:lnTo>
                    <a:pt x="34" y="240"/>
                  </a:lnTo>
                  <a:lnTo>
                    <a:pt x="0" y="192"/>
                  </a:lnTo>
                  <a:lnTo>
                    <a:pt x="17" y="177"/>
                  </a:lnTo>
                  <a:lnTo>
                    <a:pt x="17" y="144"/>
                  </a:lnTo>
                  <a:lnTo>
                    <a:pt x="17" y="112"/>
                  </a:lnTo>
                  <a:lnTo>
                    <a:pt x="0" y="96"/>
                  </a:lnTo>
                  <a:lnTo>
                    <a:pt x="0" y="81"/>
                  </a:lnTo>
                  <a:lnTo>
                    <a:pt x="17" y="64"/>
                  </a:lnTo>
                  <a:lnTo>
                    <a:pt x="17" y="48"/>
                  </a:lnTo>
                  <a:lnTo>
                    <a:pt x="51" y="16"/>
                  </a:lnTo>
                  <a:lnTo>
                    <a:pt x="51" y="0"/>
                  </a:lnTo>
                  <a:lnTo>
                    <a:pt x="86" y="0"/>
                  </a:lnTo>
                  <a:lnTo>
                    <a:pt x="140" y="16"/>
                  </a:lnTo>
                  <a:lnTo>
                    <a:pt x="174" y="16"/>
                  </a:lnTo>
                  <a:lnTo>
                    <a:pt x="174" y="48"/>
                  </a:lnTo>
                  <a:lnTo>
                    <a:pt x="278" y="81"/>
                  </a:lnTo>
                  <a:lnTo>
                    <a:pt x="295" y="64"/>
                  </a:lnTo>
                  <a:lnTo>
                    <a:pt x="295" y="33"/>
                  </a:lnTo>
                  <a:lnTo>
                    <a:pt x="349" y="0"/>
                  </a:lnTo>
                  <a:lnTo>
                    <a:pt x="384" y="16"/>
                  </a:lnTo>
                  <a:lnTo>
                    <a:pt x="384" y="33"/>
                  </a:lnTo>
                  <a:lnTo>
                    <a:pt x="435" y="33"/>
                  </a:lnTo>
                  <a:lnTo>
                    <a:pt x="418" y="96"/>
                  </a:lnTo>
                  <a:lnTo>
                    <a:pt x="435" y="129"/>
                  </a:lnTo>
                  <a:lnTo>
                    <a:pt x="435" y="304"/>
                  </a:lnTo>
                  <a:lnTo>
                    <a:pt x="435" y="352"/>
                  </a:lnTo>
                  <a:lnTo>
                    <a:pt x="418" y="369"/>
                  </a:lnTo>
                  <a:lnTo>
                    <a:pt x="401" y="384"/>
                  </a:lnTo>
                  <a:lnTo>
                    <a:pt x="192" y="273"/>
                  </a:lnTo>
                  <a:lnTo>
                    <a:pt x="157" y="288"/>
                  </a:lnTo>
                  <a:lnTo>
                    <a:pt x="140" y="273"/>
                  </a:lnTo>
                  <a:lnTo>
                    <a:pt x="69" y="273"/>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3" name="Freeform 468">
              <a:extLst>
                <a:ext uri="{FF2B5EF4-FFF2-40B4-BE49-F238E27FC236}">
                  <a16:creationId xmlns:a16="http://schemas.microsoft.com/office/drawing/2014/main" id="{48B5EBE8-ACAC-49D4-AD7A-CBBA5C979987}"/>
                </a:ext>
              </a:extLst>
            </p:cNvPr>
            <p:cNvSpPr>
              <a:spLocks/>
            </p:cNvSpPr>
            <p:nvPr>
              <p:custDataLst>
                <p:tags r:id="rId282"/>
              </p:custDataLst>
            </p:nvPr>
          </p:nvSpPr>
          <p:spPr bwMode="auto">
            <a:xfrm>
              <a:off x="7885930" y="3796583"/>
              <a:ext cx="272685" cy="251574"/>
            </a:xfrm>
            <a:custGeom>
              <a:avLst/>
              <a:gdLst>
                <a:gd name="T0" fmla="*/ 60922 w 311"/>
                <a:gd name="T1" fmla="*/ 49659 h 288"/>
                <a:gd name="T2" fmla="*/ 60922 w 311"/>
                <a:gd name="T3" fmla="*/ 49659 h 288"/>
                <a:gd name="T4" fmla="*/ 50637 w 311"/>
                <a:gd name="T5" fmla="*/ 55965 h 288"/>
                <a:gd name="T6" fmla="*/ 47472 w 311"/>
                <a:gd name="T7" fmla="*/ 52812 h 288"/>
                <a:gd name="T8" fmla="*/ 3165 w 311"/>
                <a:gd name="T9" fmla="*/ 52812 h 288"/>
                <a:gd name="T10" fmla="*/ 3165 w 311"/>
                <a:gd name="T11" fmla="*/ 18918 h 288"/>
                <a:gd name="T12" fmla="*/ 0 w 311"/>
                <a:gd name="T13" fmla="*/ 11824 h 288"/>
                <a:gd name="T14" fmla="*/ 3165 w 311"/>
                <a:gd name="T15" fmla="*/ 0 h 288"/>
                <a:gd name="T16" fmla="*/ 3165 w 311"/>
                <a:gd name="T17" fmla="*/ 2365 h 288"/>
                <a:gd name="T18" fmla="*/ 13450 w 311"/>
                <a:gd name="T19" fmla="*/ 2365 h 288"/>
                <a:gd name="T20" fmla="*/ 23736 w 311"/>
                <a:gd name="T21" fmla="*/ 5518 h 288"/>
                <a:gd name="T22" fmla="*/ 37186 w 311"/>
                <a:gd name="T23" fmla="*/ 2365 h 288"/>
                <a:gd name="T24" fmla="*/ 40351 w 311"/>
                <a:gd name="T25" fmla="*/ 2365 h 288"/>
                <a:gd name="T26" fmla="*/ 40351 w 311"/>
                <a:gd name="T27" fmla="*/ 5518 h 288"/>
                <a:gd name="T28" fmla="*/ 44307 w 311"/>
                <a:gd name="T29" fmla="*/ 2365 h 288"/>
                <a:gd name="T30" fmla="*/ 44307 w 311"/>
                <a:gd name="T31" fmla="*/ 5518 h 288"/>
                <a:gd name="T32" fmla="*/ 50637 w 311"/>
                <a:gd name="T33" fmla="*/ 2365 h 288"/>
                <a:gd name="T34" fmla="*/ 54593 w 311"/>
                <a:gd name="T35" fmla="*/ 14977 h 288"/>
                <a:gd name="T36" fmla="*/ 50637 w 311"/>
                <a:gd name="T37" fmla="*/ 24435 h 288"/>
                <a:gd name="T38" fmla="*/ 47472 w 311"/>
                <a:gd name="T39" fmla="*/ 18918 h 288"/>
                <a:gd name="T40" fmla="*/ 44307 w 311"/>
                <a:gd name="T41" fmla="*/ 9459 h 288"/>
                <a:gd name="T42" fmla="*/ 44307 w 311"/>
                <a:gd name="T43" fmla="*/ 11824 h 288"/>
                <a:gd name="T44" fmla="*/ 44307 w 311"/>
                <a:gd name="T45" fmla="*/ 14977 h 288"/>
                <a:gd name="T46" fmla="*/ 60922 w 311"/>
                <a:gd name="T47" fmla="*/ 49659 h 2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11"/>
                <a:gd name="T73" fmla="*/ 0 h 288"/>
                <a:gd name="T74" fmla="*/ 311 w 311"/>
                <a:gd name="T75" fmla="*/ 288 h 28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11" h="288">
                  <a:moveTo>
                    <a:pt x="311" y="255"/>
                  </a:moveTo>
                  <a:lnTo>
                    <a:pt x="311" y="255"/>
                  </a:lnTo>
                  <a:lnTo>
                    <a:pt x="259" y="288"/>
                  </a:lnTo>
                  <a:lnTo>
                    <a:pt x="242" y="271"/>
                  </a:lnTo>
                  <a:lnTo>
                    <a:pt x="17" y="271"/>
                  </a:lnTo>
                  <a:lnTo>
                    <a:pt x="17" y="96"/>
                  </a:lnTo>
                  <a:lnTo>
                    <a:pt x="0" y="63"/>
                  </a:lnTo>
                  <a:lnTo>
                    <a:pt x="17" y="0"/>
                  </a:lnTo>
                  <a:lnTo>
                    <a:pt x="17" y="15"/>
                  </a:lnTo>
                  <a:lnTo>
                    <a:pt x="69" y="15"/>
                  </a:lnTo>
                  <a:lnTo>
                    <a:pt x="121" y="31"/>
                  </a:lnTo>
                  <a:lnTo>
                    <a:pt x="190" y="15"/>
                  </a:lnTo>
                  <a:lnTo>
                    <a:pt x="207" y="15"/>
                  </a:lnTo>
                  <a:lnTo>
                    <a:pt x="207" y="31"/>
                  </a:lnTo>
                  <a:lnTo>
                    <a:pt x="225" y="15"/>
                  </a:lnTo>
                  <a:lnTo>
                    <a:pt x="225" y="31"/>
                  </a:lnTo>
                  <a:lnTo>
                    <a:pt x="259" y="15"/>
                  </a:lnTo>
                  <a:lnTo>
                    <a:pt x="277" y="79"/>
                  </a:lnTo>
                  <a:lnTo>
                    <a:pt x="259" y="127"/>
                  </a:lnTo>
                  <a:lnTo>
                    <a:pt x="242" y="96"/>
                  </a:lnTo>
                  <a:lnTo>
                    <a:pt x="225" y="48"/>
                  </a:lnTo>
                  <a:lnTo>
                    <a:pt x="225" y="63"/>
                  </a:lnTo>
                  <a:lnTo>
                    <a:pt x="225" y="79"/>
                  </a:lnTo>
                  <a:lnTo>
                    <a:pt x="311" y="25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4" name="Freeform 469">
              <a:extLst>
                <a:ext uri="{FF2B5EF4-FFF2-40B4-BE49-F238E27FC236}">
                  <a16:creationId xmlns:a16="http://schemas.microsoft.com/office/drawing/2014/main" id="{D8714ECC-8C6C-4CA3-A6DC-AB2174D240CF}"/>
                </a:ext>
              </a:extLst>
            </p:cNvPr>
            <p:cNvSpPr>
              <a:spLocks/>
            </p:cNvSpPr>
            <p:nvPr>
              <p:custDataLst>
                <p:tags r:id="rId283"/>
              </p:custDataLst>
            </p:nvPr>
          </p:nvSpPr>
          <p:spPr bwMode="auto">
            <a:xfrm>
              <a:off x="8280003" y="4273340"/>
              <a:ext cx="244537" cy="295554"/>
            </a:xfrm>
            <a:custGeom>
              <a:avLst/>
              <a:gdLst>
                <a:gd name="T0" fmla="*/ 6327 w 279"/>
                <a:gd name="T1" fmla="*/ 40481 h 336"/>
                <a:gd name="T2" fmla="*/ 6327 w 279"/>
                <a:gd name="T3" fmla="*/ 40481 h 336"/>
                <a:gd name="T4" fmla="*/ 0 w 279"/>
                <a:gd name="T5" fmla="*/ 47625 h 336"/>
                <a:gd name="T6" fmla="*/ 0 w 279"/>
                <a:gd name="T7" fmla="*/ 64294 h 336"/>
                <a:gd name="T8" fmla="*/ 3164 w 279"/>
                <a:gd name="T9" fmla="*/ 66675 h 336"/>
                <a:gd name="T10" fmla="*/ 13445 w 279"/>
                <a:gd name="T11" fmla="*/ 57150 h 336"/>
                <a:gd name="T12" fmla="*/ 27682 w 279"/>
                <a:gd name="T13" fmla="*/ 47625 h 336"/>
                <a:gd name="T14" fmla="*/ 37964 w 279"/>
                <a:gd name="T15" fmla="*/ 38100 h 336"/>
                <a:gd name="T16" fmla="*/ 44291 w 279"/>
                <a:gd name="T17" fmla="*/ 31750 h 336"/>
                <a:gd name="T18" fmla="*/ 54573 w 279"/>
                <a:gd name="T19" fmla="*/ 7144 h 336"/>
                <a:gd name="T20" fmla="*/ 54573 w 279"/>
                <a:gd name="T21" fmla="*/ 0 h 336"/>
                <a:gd name="T22" fmla="*/ 51409 w 279"/>
                <a:gd name="T23" fmla="*/ 0 h 336"/>
                <a:gd name="T24" fmla="*/ 44291 w 279"/>
                <a:gd name="T25" fmla="*/ 2381 h 336"/>
                <a:gd name="T26" fmla="*/ 20564 w 279"/>
                <a:gd name="T27" fmla="*/ 9525 h 336"/>
                <a:gd name="T28" fmla="*/ 16609 w 279"/>
                <a:gd name="T29" fmla="*/ 7144 h 336"/>
                <a:gd name="T30" fmla="*/ 13445 w 279"/>
                <a:gd name="T31" fmla="*/ 2381 h 336"/>
                <a:gd name="T32" fmla="*/ 10282 w 279"/>
                <a:gd name="T33" fmla="*/ 7144 h 336"/>
                <a:gd name="T34" fmla="*/ 10282 w 279"/>
                <a:gd name="T35" fmla="*/ 9525 h 336"/>
                <a:gd name="T36" fmla="*/ 16609 w 279"/>
                <a:gd name="T37" fmla="*/ 16669 h 336"/>
                <a:gd name="T38" fmla="*/ 34009 w 279"/>
                <a:gd name="T39" fmla="*/ 19050 h 336"/>
                <a:gd name="T40" fmla="*/ 37964 w 279"/>
                <a:gd name="T41" fmla="*/ 19050 h 336"/>
                <a:gd name="T42" fmla="*/ 23727 w 279"/>
                <a:gd name="T43" fmla="*/ 34925 h 336"/>
                <a:gd name="T44" fmla="*/ 13445 w 279"/>
                <a:gd name="T45" fmla="*/ 34925 h 336"/>
                <a:gd name="T46" fmla="*/ 6327 w 279"/>
                <a:gd name="T47" fmla="*/ 40481 h 3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9"/>
                <a:gd name="T73" fmla="*/ 0 h 336"/>
                <a:gd name="T74" fmla="*/ 279 w 279"/>
                <a:gd name="T75" fmla="*/ 336 h 3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9" h="336">
                  <a:moveTo>
                    <a:pt x="35" y="207"/>
                  </a:moveTo>
                  <a:lnTo>
                    <a:pt x="35" y="207"/>
                  </a:lnTo>
                  <a:lnTo>
                    <a:pt x="0" y="240"/>
                  </a:lnTo>
                  <a:lnTo>
                    <a:pt x="0" y="321"/>
                  </a:lnTo>
                  <a:lnTo>
                    <a:pt x="18" y="336"/>
                  </a:lnTo>
                  <a:lnTo>
                    <a:pt x="69" y="288"/>
                  </a:lnTo>
                  <a:lnTo>
                    <a:pt x="141" y="240"/>
                  </a:lnTo>
                  <a:lnTo>
                    <a:pt x="192" y="192"/>
                  </a:lnTo>
                  <a:lnTo>
                    <a:pt x="227" y="159"/>
                  </a:lnTo>
                  <a:lnTo>
                    <a:pt x="279" y="33"/>
                  </a:lnTo>
                  <a:lnTo>
                    <a:pt x="279" y="0"/>
                  </a:lnTo>
                  <a:lnTo>
                    <a:pt x="261" y="0"/>
                  </a:lnTo>
                  <a:lnTo>
                    <a:pt x="227" y="15"/>
                  </a:lnTo>
                  <a:lnTo>
                    <a:pt x="104" y="48"/>
                  </a:lnTo>
                  <a:lnTo>
                    <a:pt x="87" y="33"/>
                  </a:lnTo>
                  <a:lnTo>
                    <a:pt x="69" y="15"/>
                  </a:lnTo>
                  <a:lnTo>
                    <a:pt x="52" y="33"/>
                  </a:lnTo>
                  <a:lnTo>
                    <a:pt x="52" y="48"/>
                  </a:lnTo>
                  <a:lnTo>
                    <a:pt x="87" y="81"/>
                  </a:lnTo>
                  <a:lnTo>
                    <a:pt x="175" y="96"/>
                  </a:lnTo>
                  <a:lnTo>
                    <a:pt x="192" y="96"/>
                  </a:lnTo>
                  <a:lnTo>
                    <a:pt x="121" y="177"/>
                  </a:lnTo>
                  <a:lnTo>
                    <a:pt x="69" y="177"/>
                  </a:lnTo>
                  <a:lnTo>
                    <a:pt x="35" y="20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55" name="Freeform 470">
              <a:extLst>
                <a:ext uri="{FF2B5EF4-FFF2-40B4-BE49-F238E27FC236}">
                  <a16:creationId xmlns:a16="http://schemas.microsoft.com/office/drawing/2014/main" id="{9BC8531D-C4FD-4A48-9B2B-1AD40E57082D}"/>
                </a:ext>
              </a:extLst>
            </p:cNvPr>
            <p:cNvSpPr>
              <a:spLocks/>
            </p:cNvSpPr>
            <p:nvPr>
              <p:custDataLst>
                <p:tags r:id="rId284"/>
              </p:custDataLst>
            </p:nvPr>
          </p:nvSpPr>
          <p:spPr bwMode="auto">
            <a:xfrm>
              <a:off x="7639635" y="4287414"/>
              <a:ext cx="320184" cy="182962"/>
            </a:xfrm>
            <a:custGeom>
              <a:avLst/>
              <a:gdLst>
                <a:gd name="T0" fmla="*/ 44572 w 363"/>
                <a:gd name="T1" fmla="*/ 0 h 210"/>
                <a:gd name="T2" fmla="*/ 44572 w 363"/>
                <a:gd name="T3" fmla="*/ 0 h 210"/>
                <a:gd name="T4" fmla="*/ 51736 w 363"/>
                <a:gd name="T5" fmla="*/ 6290 h 210"/>
                <a:gd name="T6" fmla="*/ 51736 w 363"/>
                <a:gd name="T7" fmla="*/ 12579 h 210"/>
                <a:gd name="T8" fmla="*/ 58899 w 363"/>
                <a:gd name="T9" fmla="*/ 15724 h 210"/>
                <a:gd name="T10" fmla="*/ 72430 w 363"/>
                <a:gd name="T11" fmla="*/ 31448 h 210"/>
                <a:gd name="T12" fmla="*/ 48552 w 363"/>
                <a:gd name="T13" fmla="*/ 31448 h 210"/>
                <a:gd name="T14" fmla="*/ 44572 w 363"/>
                <a:gd name="T15" fmla="*/ 34592 h 210"/>
                <a:gd name="T16" fmla="*/ 35021 w 363"/>
                <a:gd name="T17" fmla="*/ 34592 h 210"/>
                <a:gd name="T18" fmla="*/ 31042 w 363"/>
                <a:gd name="T19" fmla="*/ 31448 h 210"/>
                <a:gd name="T20" fmla="*/ 27858 w 363"/>
                <a:gd name="T21" fmla="*/ 31448 h 210"/>
                <a:gd name="T22" fmla="*/ 24674 w 363"/>
                <a:gd name="T23" fmla="*/ 36951 h 210"/>
                <a:gd name="T24" fmla="*/ 14327 w 363"/>
                <a:gd name="T25" fmla="*/ 40882 h 210"/>
                <a:gd name="T26" fmla="*/ 10347 w 363"/>
                <a:gd name="T27" fmla="*/ 40882 h 210"/>
                <a:gd name="T28" fmla="*/ 3980 w 363"/>
                <a:gd name="T29" fmla="*/ 31448 h 210"/>
                <a:gd name="T30" fmla="*/ 0 w 363"/>
                <a:gd name="T31" fmla="*/ 27517 h 210"/>
                <a:gd name="T32" fmla="*/ 7163 w 363"/>
                <a:gd name="T33" fmla="*/ 18869 h 210"/>
                <a:gd name="T34" fmla="*/ 24674 w 363"/>
                <a:gd name="T35" fmla="*/ 15724 h 210"/>
                <a:gd name="T36" fmla="*/ 27858 w 363"/>
                <a:gd name="T37" fmla="*/ 12579 h 210"/>
                <a:gd name="T38" fmla="*/ 24674 w 363"/>
                <a:gd name="T39" fmla="*/ 12579 h 210"/>
                <a:gd name="T40" fmla="*/ 35021 w 363"/>
                <a:gd name="T41" fmla="*/ 9434 h 210"/>
                <a:gd name="T42" fmla="*/ 41389 w 363"/>
                <a:gd name="T43" fmla="*/ 3145 h 210"/>
                <a:gd name="T44" fmla="*/ 44572 w 363"/>
                <a:gd name="T45" fmla="*/ 0 h 21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63"/>
                <a:gd name="T70" fmla="*/ 0 h 210"/>
                <a:gd name="T71" fmla="*/ 363 w 363"/>
                <a:gd name="T72" fmla="*/ 210 h 21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63" h="210">
                  <a:moveTo>
                    <a:pt x="224" y="0"/>
                  </a:moveTo>
                  <a:lnTo>
                    <a:pt x="224" y="0"/>
                  </a:lnTo>
                  <a:lnTo>
                    <a:pt x="259" y="33"/>
                  </a:lnTo>
                  <a:lnTo>
                    <a:pt x="259" y="66"/>
                  </a:lnTo>
                  <a:lnTo>
                    <a:pt x="294" y="81"/>
                  </a:lnTo>
                  <a:lnTo>
                    <a:pt x="363" y="162"/>
                  </a:lnTo>
                  <a:lnTo>
                    <a:pt x="242" y="162"/>
                  </a:lnTo>
                  <a:lnTo>
                    <a:pt x="224" y="177"/>
                  </a:lnTo>
                  <a:lnTo>
                    <a:pt x="173" y="177"/>
                  </a:lnTo>
                  <a:lnTo>
                    <a:pt x="155" y="162"/>
                  </a:lnTo>
                  <a:lnTo>
                    <a:pt x="138" y="162"/>
                  </a:lnTo>
                  <a:lnTo>
                    <a:pt x="121" y="192"/>
                  </a:lnTo>
                  <a:lnTo>
                    <a:pt x="69" y="210"/>
                  </a:lnTo>
                  <a:lnTo>
                    <a:pt x="52" y="210"/>
                  </a:lnTo>
                  <a:lnTo>
                    <a:pt x="17" y="162"/>
                  </a:lnTo>
                  <a:lnTo>
                    <a:pt x="0" y="144"/>
                  </a:lnTo>
                  <a:lnTo>
                    <a:pt x="34" y="96"/>
                  </a:lnTo>
                  <a:lnTo>
                    <a:pt x="121" y="81"/>
                  </a:lnTo>
                  <a:lnTo>
                    <a:pt x="138" y="66"/>
                  </a:lnTo>
                  <a:lnTo>
                    <a:pt x="121" y="66"/>
                  </a:lnTo>
                  <a:lnTo>
                    <a:pt x="173" y="48"/>
                  </a:lnTo>
                  <a:lnTo>
                    <a:pt x="207" y="18"/>
                  </a:lnTo>
                  <a:lnTo>
                    <a:pt x="224"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6" name="Freeform 471">
              <a:extLst>
                <a:ext uri="{FF2B5EF4-FFF2-40B4-BE49-F238E27FC236}">
                  <a16:creationId xmlns:a16="http://schemas.microsoft.com/office/drawing/2014/main" id="{8174B29B-6542-455D-81A6-96147A0193BC}"/>
                </a:ext>
              </a:extLst>
            </p:cNvPr>
            <p:cNvSpPr>
              <a:spLocks/>
            </p:cNvSpPr>
            <p:nvPr>
              <p:custDataLst>
                <p:tags r:id="rId285"/>
              </p:custDataLst>
            </p:nvPr>
          </p:nvSpPr>
          <p:spPr bwMode="auto">
            <a:xfrm>
              <a:off x="7627319" y="4005933"/>
              <a:ext cx="241018" cy="365924"/>
            </a:xfrm>
            <a:custGeom>
              <a:avLst/>
              <a:gdLst>
                <a:gd name="T0" fmla="*/ 6327 w 275"/>
                <a:gd name="T1" fmla="*/ 3190 h 414"/>
                <a:gd name="T2" fmla="*/ 6327 w 275"/>
                <a:gd name="T3" fmla="*/ 3190 h 414"/>
                <a:gd name="T4" fmla="*/ 6327 w 275"/>
                <a:gd name="T5" fmla="*/ 9571 h 414"/>
                <a:gd name="T6" fmla="*/ 13445 w 275"/>
                <a:gd name="T7" fmla="*/ 15952 h 414"/>
                <a:gd name="T8" fmla="*/ 10281 w 275"/>
                <a:gd name="T9" fmla="*/ 35094 h 414"/>
                <a:gd name="T10" fmla="*/ 0 w 275"/>
                <a:gd name="T11" fmla="*/ 48653 h 414"/>
                <a:gd name="T12" fmla="*/ 0 w 275"/>
                <a:gd name="T13" fmla="*/ 51045 h 414"/>
                <a:gd name="T14" fmla="*/ 3163 w 275"/>
                <a:gd name="T15" fmla="*/ 54236 h 414"/>
                <a:gd name="T16" fmla="*/ 3163 w 275"/>
                <a:gd name="T17" fmla="*/ 58224 h 414"/>
                <a:gd name="T18" fmla="*/ 10281 w 275"/>
                <a:gd name="T19" fmla="*/ 70187 h 414"/>
                <a:gd name="T20" fmla="*/ 3163 w 275"/>
                <a:gd name="T21" fmla="*/ 70187 h 414"/>
                <a:gd name="T22" fmla="*/ 3163 w 275"/>
                <a:gd name="T23" fmla="*/ 73378 h 414"/>
                <a:gd name="T24" fmla="*/ 6327 w 275"/>
                <a:gd name="T25" fmla="*/ 77366 h 414"/>
                <a:gd name="T26" fmla="*/ 10281 w 275"/>
                <a:gd name="T27" fmla="*/ 83746 h 414"/>
                <a:gd name="T28" fmla="*/ 26889 w 275"/>
                <a:gd name="T29" fmla="*/ 79758 h 414"/>
                <a:gd name="T30" fmla="*/ 30053 w 275"/>
                <a:gd name="T31" fmla="*/ 77366 h 414"/>
                <a:gd name="T32" fmla="*/ 26889 w 275"/>
                <a:gd name="T33" fmla="*/ 77366 h 414"/>
                <a:gd name="T34" fmla="*/ 37171 w 275"/>
                <a:gd name="T35" fmla="*/ 73378 h 414"/>
                <a:gd name="T36" fmla="*/ 43498 w 275"/>
                <a:gd name="T37" fmla="*/ 67795 h 414"/>
                <a:gd name="T38" fmla="*/ 47452 w 275"/>
                <a:gd name="T39" fmla="*/ 63807 h 414"/>
                <a:gd name="T40" fmla="*/ 50615 w 275"/>
                <a:gd name="T41" fmla="*/ 63807 h 414"/>
                <a:gd name="T42" fmla="*/ 43498 w 275"/>
                <a:gd name="T43" fmla="*/ 54236 h 414"/>
                <a:gd name="T44" fmla="*/ 50615 w 275"/>
                <a:gd name="T45" fmla="*/ 41474 h 414"/>
                <a:gd name="T46" fmla="*/ 53779 w 275"/>
                <a:gd name="T47" fmla="*/ 41474 h 414"/>
                <a:gd name="T48" fmla="*/ 53779 w 275"/>
                <a:gd name="T49" fmla="*/ 38284 h 414"/>
                <a:gd name="T50" fmla="*/ 53779 w 275"/>
                <a:gd name="T51" fmla="*/ 22332 h 414"/>
                <a:gd name="T52" fmla="*/ 13445 w 275"/>
                <a:gd name="T53" fmla="*/ 0 h 414"/>
                <a:gd name="T54" fmla="*/ 6327 w 275"/>
                <a:gd name="T55" fmla="*/ 3190 h 41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75"/>
                <a:gd name="T85" fmla="*/ 0 h 414"/>
                <a:gd name="T86" fmla="*/ 275 w 275"/>
                <a:gd name="T87" fmla="*/ 414 h 41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75" h="414">
                  <a:moveTo>
                    <a:pt x="35" y="15"/>
                  </a:moveTo>
                  <a:lnTo>
                    <a:pt x="35" y="15"/>
                  </a:lnTo>
                  <a:lnTo>
                    <a:pt x="35" y="48"/>
                  </a:lnTo>
                  <a:lnTo>
                    <a:pt x="70" y="79"/>
                  </a:lnTo>
                  <a:lnTo>
                    <a:pt x="52" y="175"/>
                  </a:lnTo>
                  <a:lnTo>
                    <a:pt x="0" y="240"/>
                  </a:lnTo>
                  <a:lnTo>
                    <a:pt x="0" y="255"/>
                  </a:lnTo>
                  <a:lnTo>
                    <a:pt x="18" y="270"/>
                  </a:lnTo>
                  <a:lnTo>
                    <a:pt x="18" y="288"/>
                  </a:lnTo>
                  <a:lnTo>
                    <a:pt x="52" y="351"/>
                  </a:lnTo>
                  <a:lnTo>
                    <a:pt x="18" y="351"/>
                  </a:lnTo>
                  <a:lnTo>
                    <a:pt x="18" y="366"/>
                  </a:lnTo>
                  <a:lnTo>
                    <a:pt x="35" y="384"/>
                  </a:lnTo>
                  <a:lnTo>
                    <a:pt x="52" y="414"/>
                  </a:lnTo>
                  <a:lnTo>
                    <a:pt x="137" y="399"/>
                  </a:lnTo>
                  <a:lnTo>
                    <a:pt x="154" y="384"/>
                  </a:lnTo>
                  <a:lnTo>
                    <a:pt x="137" y="384"/>
                  </a:lnTo>
                  <a:lnTo>
                    <a:pt x="189" y="366"/>
                  </a:lnTo>
                  <a:lnTo>
                    <a:pt x="223" y="336"/>
                  </a:lnTo>
                  <a:lnTo>
                    <a:pt x="240" y="318"/>
                  </a:lnTo>
                  <a:lnTo>
                    <a:pt x="258" y="318"/>
                  </a:lnTo>
                  <a:lnTo>
                    <a:pt x="223" y="270"/>
                  </a:lnTo>
                  <a:lnTo>
                    <a:pt x="258" y="207"/>
                  </a:lnTo>
                  <a:lnTo>
                    <a:pt x="275" y="207"/>
                  </a:lnTo>
                  <a:lnTo>
                    <a:pt x="275" y="192"/>
                  </a:lnTo>
                  <a:lnTo>
                    <a:pt x="275" y="111"/>
                  </a:lnTo>
                  <a:lnTo>
                    <a:pt x="70" y="0"/>
                  </a:lnTo>
                  <a:lnTo>
                    <a:pt x="35" y="1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7" name="Freeform 472">
              <a:extLst>
                <a:ext uri="{FF2B5EF4-FFF2-40B4-BE49-F238E27FC236}">
                  <a16:creationId xmlns:a16="http://schemas.microsoft.com/office/drawing/2014/main" id="{D32DC5D0-386F-469E-8832-AD337F101774}"/>
                </a:ext>
              </a:extLst>
            </p:cNvPr>
            <p:cNvSpPr>
              <a:spLocks/>
            </p:cNvSpPr>
            <p:nvPr>
              <p:custDataLst>
                <p:tags r:id="rId286"/>
              </p:custDataLst>
            </p:nvPr>
          </p:nvSpPr>
          <p:spPr bwMode="auto">
            <a:xfrm>
              <a:off x="8176206" y="4132600"/>
              <a:ext cx="149537" cy="126666"/>
            </a:xfrm>
            <a:custGeom>
              <a:avLst/>
              <a:gdLst>
                <a:gd name="T0" fmla="*/ 29986 w 171"/>
                <a:gd name="T1" fmla="*/ 28575 h 144"/>
                <a:gd name="T2" fmla="*/ 29986 w 171"/>
                <a:gd name="T3" fmla="*/ 28575 h 144"/>
                <a:gd name="T4" fmla="*/ 33143 w 171"/>
                <a:gd name="T5" fmla="*/ 28575 h 144"/>
                <a:gd name="T6" fmla="*/ 22884 w 171"/>
                <a:gd name="T7" fmla="*/ 19050 h 144"/>
                <a:gd name="T8" fmla="*/ 16571 w 171"/>
                <a:gd name="T9" fmla="*/ 11906 h 144"/>
                <a:gd name="T10" fmla="*/ 10258 w 171"/>
                <a:gd name="T11" fmla="*/ 0 h 144"/>
                <a:gd name="T12" fmla="*/ 10258 w 171"/>
                <a:gd name="T13" fmla="*/ 2381 h 144"/>
                <a:gd name="T14" fmla="*/ 3156 w 171"/>
                <a:gd name="T15" fmla="*/ 5556 h 144"/>
                <a:gd name="T16" fmla="*/ 0 w 171"/>
                <a:gd name="T17" fmla="*/ 19050 h 144"/>
                <a:gd name="T18" fmla="*/ 3156 w 171"/>
                <a:gd name="T19" fmla="*/ 19050 h 144"/>
                <a:gd name="T20" fmla="*/ 6313 w 171"/>
                <a:gd name="T21" fmla="*/ 21431 h 144"/>
                <a:gd name="T22" fmla="*/ 6313 w 171"/>
                <a:gd name="T23" fmla="*/ 15081 h 144"/>
                <a:gd name="T24" fmla="*/ 10258 w 171"/>
                <a:gd name="T25" fmla="*/ 19050 h 144"/>
                <a:gd name="T26" fmla="*/ 19728 w 171"/>
                <a:gd name="T27" fmla="*/ 19050 h 144"/>
                <a:gd name="T28" fmla="*/ 29986 w 171"/>
                <a:gd name="T29" fmla="*/ 28575 h 1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1"/>
                <a:gd name="T46" fmla="*/ 0 h 144"/>
                <a:gd name="T47" fmla="*/ 171 w 171"/>
                <a:gd name="T48" fmla="*/ 144 h 1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1" h="144">
                  <a:moveTo>
                    <a:pt x="154" y="144"/>
                  </a:moveTo>
                  <a:lnTo>
                    <a:pt x="154" y="144"/>
                  </a:lnTo>
                  <a:lnTo>
                    <a:pt x="171" y="144"/>
                  </a:lnTo>
                  <a:lnTo>
                    <a:pt x="119" y="96"/>
                  </a:lnTo>
                  <a:lnTo>
                    <a:pt x="85" y="63"/>
                  </a:lnTo>
                  <a:lnTo>
                    <a:pt x="52" y="0"/>
                  </a:lnTo>
                  <a:lnTo>
                    <a:pt x="52" y="15"/>
                  </a:lnTo>
                  <a:lnTo>
                    <a:pt x="18" y="31"/>
                  </a:lnTo>
                  <a:lnTo>
                    <a:pt x="0" y="96"/>
                  </a:lnTo>
                  <a:lnTo>
                    <a:pt x="18" y="96"/>
                  </a:lnTo>
                  <a:lnTo>
                    <a:pt x="35" y="111"/>
                  </a:lnTo>
                  <a:lnTo>
                    <a:pt x="35" y="78"/>
                  </a:lnTo>
                  <a:lnTo>
                    <a:pt x="52" y="96"/>
                  </a:lnTo>
                  <a:lnTo>
                    <a:pt x="102" y="96"/>
                  </a:lnTo>
                  <a:lnTo>
                    <a:pt x="154" y="14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8" name="Freeform 287b">
              <a:extLst>
                <a:ext uri="{FF2B5EF4-FFF2-40B4-BE49-F238E27FC236}">
                  <a16:creationId xmlns:a16="http://schemas.microsoft.com/office/drawing/2014/main" id="{1184FE34-4B40-422E-BF71-90A595F1FA0D}"/>
                </a:ext>
              </a:extLst>
            </p:cNvPr>
            <p:cNvSpPr>
              <a:spLocks/>
            </p:cNvSpPr>
            <p:nvPr/>
          </p:nvSpPr>
          <p:spPr bwMode="auto">
            <a:xfrm>
              <a:off x="7869448" y="4265078"/>
              <a:ext cx="292262" cy="191223"/>
            </a:xfrm>
            <a:custGeom>
              <a:avLst/>
              <a:gdLst/>
              <a:ahLst/>
              <a:cxnLst>
                <a:cxn ang="0">
                  <a:pos x="248" y="137"/>
                </a:cxn>
                <a:cxn ang="0">
                  <a:pos x="220" y="99"/>
                </a:cxn>
                <a:cxn ang="0">
                  <a:pos x="205" y="85"/>
                </a:cxn>
                <a:cxn ang="0">
                  <a:pos x="217" y="75"/>
                </a:cxn>
                <a:cxn ang="0">
                  <a:pos x="220" y="73"/>
                </a:cxn>
                <a:cxn ang="0">
                  <a:pos x="231" y="40"/>
                </a:cxn>
                <a:cxn ang="0">
                  <a:pos x="213" y="28"/>
                </a:cxn>
                <a:cxn ang="0">
                  <a:pos x="213" y="0"/>
                </a:cxn>
                <a:cxn ang="0">
                  <a:pos x="187" y="4"/>
                </a:cxn>
                <a:cxn ang="0">
                  <a:pos x="189" y="35"/>
                </a:cxn>
                <a:cxn ang="0">
                  <a:pos x="170" y="56"/>
                </a:cxn>
                <a:cxn ang="0">
                  <a:pos x="139" y="44"/>
                </a:cxn>
                <a:cxn ang="0">
                  <a:pos x="99" y="61"/>
                </a:cxn>
                <a:cxn ang="0">
                  <a:pos x="73" y="59"/>
                </a:cxn>
                <a:cxn ang="0">
                  <a:pos x="52" y="37"/>
                </a:cxn>
                <a:cxn ang="0">
                  <a:pos x="38" y="40"/>
                </a:cxn>
                <a:cxn ang="0">
                  <a:pos x="28" y="54"/>
                </a:cxn>
                <a:cxn ang="0">
                  <a:pos x="12" y="73"/>
                </a:cxn>
                <a:cxn ang="0">
                  <a:pos x="0" y="73"/>
                </a:cxn>
                <a:cxn ang="0">
                  <a:pos x="5" y="75"/>
                </a:cxn>
                <a:cxn ang="0">
                  <a:pos x="28" y="85"/>
                </a:cxn>
                <a:cxn ang="0">
                  <a:pos x="83" y="151"/>
                </a:cxn>
                <a:cxn ang="0">
                  <a:pos x="97" y="163"/>
                </a:cxn>
                <a:cxn ang="0">
                  <a:pos x="137" y="163"/>
                </a:cxn>
                <a:cxn ang="0">
                  <a:pos x="151" y="174"/>
                </a:cxn>
                <a:cxn ang="0">
                  <a:pos x="179" y="174"/>
                </a:cxn>
                <a:cxn ang="0">
                  <a:pos x="220" y="163"/>
                </a:cxn>
                <a:cxn ang="0">
                  <a:pos x="234" y="163"/>
                </a:cxn>
                <a:cxn ang="0">
                  <a:pos x="262" y="163"/>
                </a:cxn>
                <a:cxn ang="0">
                  <a:pos x="262" y="137"/>
                </a:cxn>
                <a:cxn ang="0">
                  <a:pos x="248" y="137"/>
                </a:cxn>
              </a:cxnLst>
              <a:rect l="0" t="0" r="r" b="b"/>
              <a:pathLst>
                <a:path w="262" h="174">
                  <a:moveTo>
                    <a:pt x="248" y="137"/>
                  </a:moveTo>
                  <a:lnTo>
                    <a:pt x="220" y="99"/>
                  </a:lnTo>
                  <a:lnTo>
                    <a:pt x="205" y="85"/>
                  </a:lnTo>
                  <a:lnTo>
                    <a:pt x="217" y="75"/>
                  </a:lnTo>
                  <a:lnTo>
                    <a:pt x="220" y="73"/>
                  </a:lnTo>
                  <a:lnTo>
                    <a:pt x="231" y="40"/>
                  </a:lnTo>
                  <a:lnTo>
                    <a:pt x="213" y="28"/>
                  </a:lnTo>
                  <a:lnTo>
                    <a:pt x="213" y="0"/>
                  </a:lnTo>
                  <a:lnTo>
                    <a:pt x="187" y="4"/>
                  </a:lnTo>
                  <a:lnTo>
                    <a:pt x="189" y="35"/>
                  </a:lnTo>
                  <a:lnTo>
                    <a:pt x="170" y="56"/>
                  </a:lnTo>
                  <a:lnTo>
                    <a:pt x="139" y="44"/>
                  </a:lnTo>
                  <a:lnTo>
                    <a:pt x="99" y="61"/>
                  </a:lnTo>
                  <a:lnTo>
                    <a:pt x="73" y="59"/>
                  </a:lnTo>
                  <a:lnTo>
                    <a:pt x="52" y="37"/>
                  </a:lnTo>
                  <a:lnTo>
                    <a:pt x="38" y="40"/>
                  </a:lnTo>
                  <a:lnTo>
                    <a:pt x="28" y="54"/>
                  </a:lnTo>
                  <a:lnTo>
                    <a:pt x="12" y="73"/>
                  </a:lnTo>
                  <a:lnTo>
                    <a:pt x="0" y="73"/>
                  </a:lnTo>
                  <a:lnTo>
                    <a:pt x="5" y="75"/>
                  </a:lnTo>
                  <a:lnTo>
                    <a:pt x="28" y="85"/>
                  </a:lnTo>
                  <a:lnTo>
                    <a:pt x="83" y="151"/>
                  </a:lnTo>
                  <a:lnTo>
                    <a:pt x="97" y="163"/>
                  </a:lnTo>
                  <a:lnTo>
                    <a:pt x="137" y="163"/>
                  </a:lnTo>
                  <a:lnTo>
                    <a:pt x="151" y="174"/>
                  </a:lnTo>
                  <a:lnTo>
                    <a:pt x="179" y="174"/>
                  </a:lnTo>
                  <a:lnTo>
                    <a:pt x="220" y="163"/>
                  </a:lnTo>
                  <a:lnTo>
                    <a:pt x="234" y="163"/>
                  </a:lnTo>
                  <a:lnTo>
                    <a:pt x="262" y="163"/>
                  </a:lnTo>
                  <a:lnTo>
                    <a:pt x="262" y="137"/>
                  </a:lnTo>
                  <a:lnTo>
                    <a:pt x="248" y="13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59" name="Freeform 287a">
              <a:extLst>
                <a:ext uri="{FF2B5EF4-FFF2-40B4-BE49-F238E27FC236}">
                  <a16:creationId xmlns:a16="http://schemas.microsoft.com/office/drawing/2014/main" id="{79A5E78D-FCAB-4BA0-AD0A-7F0833AC6DF7}"/>
                </a:ext>
              </a:extLst>
            </p:cNvPr>
            <p:cNvSpPr>
              <a:spLocks/>
            </p:cNvSpPr>
            <p:nvPr/>
          </p:nvSpPr>
          <p:spPr bwMode="auto">
            <a:xfrm>
              <a:off x="7822597" y="4020006"/>
              <a:ext cx="399351" cy="325298"/>
            </a:xfrm>
            <a:custGeom>
              <a:avLst/>
              <a:gdLst/>
              <a:ahLst/>
              <a:cxnLst>
                <a:cxn ang="0">
                  <a:pos x="347" y="90"/>
                </a:cxn>
                <a:cxn ang="0">
                  <a:pos x="332" y="15"/>
                </a:cxn>
                <a:cxn ang="0">
                  <a:pos x="304" y="0"/>
                </a:cxn>
                <a:cxn ang="0">
                  <a:pos x="262" y="26"/>
                </a:cxn>
                <a:cxn ang="0">
                  <a:pos x="247" y="15"/>
                </a:cxn>
                <a:cxn ang="0">
                  <a:pos x="70" y="15"/>
                </a:cxn>
                <a:cxn ang="0">
                  <a:pos x="70" y="52"/>
                </a:cxn>
                <a:cxn ang="0">
                  <a:pos x="56" y="67"/>
                </a:cxn>
                <a:cxn ang="0">
                  <a:pos x="42" y="78"/>
                </a:cxn>
                <a:cxn ang="0">
                  <a:pos x="42" y="142"/>
                </a:cxn>
                <a:cxn ang="0">
                  <a:pos x="42" y="154"/>
                </a:cxn>
                <a:cxn ang="0">
                  <a:pos x="28" y="154"/>
                </a:cxn>
                <a:cxn ang="0">
                  <a:pos x="0" y="206"/>
                </a:cxn>
                <a:cxn ang="0">
                  <a:pos x="28" y="244"/>
                </a:cxn>
                <a:cxn ang="0">
                  <a:pos x="14" y="244"/>
                </a:cxn>
                <a:cxn ang="0">
                  <a:pos x="42" y="270"/>
                </a:cxn>
                <a:cxn ang="0">
                  <a:pos x="42" y="296"/>
                </a:cxn>
                <a:cxn ang="0">
                  <a:pos x="42" y="296"/>
                </a:cxn>
                <a:cxn ang="0">
                  <a:pos x="54" y="296"/>
                </a:cxn>
                <a:cxn ang="0">
                  <a:pos x="70" y="277"/>
                </a:cxn>
                <a:cxn ang="0">
                  <a:pos x="80" y="263"/>
                </a:cxn>
                <a:cxn ang="0">
                  <a:pos x="94" y="260"/>
                </a:cxn>
                <a:cxn ang="0">
                  <a:pos x="115" y="282"/>
                </a:cxn>
                <a:cxn ang="0">
                  <a:pos x="141" y="284"/>
                </a:cxn>
                <a:cxn ang="0">
                  <a:pos x="181" y="267"/>
                </a:cxn>
                <a:cxn ang="0">
                  <a:pos x="212" y="279"/>
                </a:cxn>
                <a:cxn ang="0">
                  <a:pos x="231" y="258"/>
                </a:cxn>
                <a:cxn ang="0">
                  <a:pos x="229" y="227"/>
                </a:cxn>
                <a:cxn ang="0">
                  <a:pos x="255" y="223"/>
                </a:cxn>
                <a:cxn ang="0">
                  <a:pos x="255" y="251"/>
                </a:cxn>
                <a:cxn ang="0">
                  <a:pos x="273" y="263"/>
                </a:cxn>
                <a:cxn ang="0">
                  <a:pos x="276" y="258"/>
                </a:cxn>
                <a:cxn ang="0">
                  <a:pos x="318" y="206"/>
                </a:cxn>
                <a:cxn ang="0">
                  <a:pos x="318" y="182"/>
                </a:cxn>
                <a:cxn ang="0">
                  <a:pos x="332" y="130"/>
                </a:cxn>
                <a:cxn ang="0">
                  <a:pos x="358" y="116"/>
                </a:cxn>
                <a:cxn ang="0">
                  <a:pos x="358" y="104"/>
                </a:cxn>
                <a:cxn ang="0">
                  <a:pos x="347" y="90"/>
                </a:cxn>
              </a:cxnLst>
              <a:rect l="0" t="0" r="r" b="b"/>
              <a:pathLst>
                <a:path w="358" h="296">
                  <a:moveTo>
                    <a:pt x="347" y="90"/>
                  </a:moveTo>
                  <a:lnTo>
                    <a:pt x="332" y="15"/>
                  </a:lnTo>
                  <a:lnTo>
                    <a:pt x="304" y="0"/>
                  </a:lnTo>
                  <a:lnTo>
                    <a:pt x="262" y="26"/>
                  </a:lnTo>
                  <a:lnTo>
                    <a:pt x="247" y="15"/>
                  </a:lnTo>
                  <a:lnTo>
                    <a:pt x="70" y="15"/>
                  </a:lnTo>
                  <a:lnTo>
                    <a:pt x="70" y="52"/>
                  </a:lnTo>
                  <a:lnTo>
                    <a:pt x="56" y="67"/>
                  </a:lnTo>
                  <a:lnTo>
                    <a:pt x="42" y="78"/>
                  </a:lnTo>
                  <a:lnTo>
                    <a:pt x="42" y="142"/>
                  </a:lnTo>
                  <a:lnTo>
                    <a:pt x="42" y="154"/>
                  </a:lnTo>
                  <a:lnTo>
                    <a:pt x="28" y="154"/>
                  </a:lnTo>
                  <a:lnTo>
                    <a:pt x="0" y="206"/>
                  </a:lnTo>
                  <a:lnTo>
                    <a:pt x="28" y="244"/>
                  </a:lnTo>
                  <a:lnTo>
                    <a:pt x="14" y="244"/>
                  </a:lnTo>
                  <a:lnTo>
                    <a:pt x="42" y="270"/>
                  </a:lnTo>
                  <a:lnTo>
                    <a:pt x="42" y="296"/>
                  </a:lnTo>
                  <a:lnTo>
                    <a:pt x="42" y="296"/>
                  </a:lnTo>
                  <a:lnTo>
                    <a:pt x="54" y="296"/>
                  </a:lnTo>
                  <a:lnTo>
                    <a:pt x="70" y="277"/>
                  </a:lnTo>
                  <a:lnTo>
                    <a:pt x="80" y="263"/>
                  </a:lnTo>
                  <a:lnTo>
                    <a:pt x="94" y="260"/>
                  </a:lnTo>
                  <a:lnTo>
                    <a:pt x="115" y="282"/>
                  </a:lnTo>
                  <a:lnTo>
                    <a:pt x="141" y="284"/>
                  </a:lnTo>
                  <a:lnTo>
                    <a:pt x="181" y="267"/>
                  </a:lnTo>
                  <a:lnTo>
                    <a:pt x="212" y="279"/>
                  </a:lnTo>
                  <a:lnTo>
                    <a:pt x="231" y="258"/>
                  </a:lnTo>
                  <a:lnTo>
                    <a:pt x="229" y="227"/>
                  </a:lnTo>
                  <a:lnTo>
                    <a:pt x="255" y="223"/>
                  </a:lnTo>
                  <a:lnTo>
                    <a:pt x="255" y="251"/>
                  </a:lnTo>
                  <a:lnTo>
                    <a:pt x="273" y="263"/>
                  </a:lnTo>
                  <a:lnTo>
                    <a:pt x="276" y="258"/>
                  </a:lnTo>
                  <a:lnTo>
                    <a:pt x="318" y="206"/>
                  </a:lnTo>
                  <a:lnTo>
                    <a:pt x="318" y="182"/>
                  </a:lnTo>
                  <a:lnTo>
                    <a:pt x="332" y="130"/>
                  </a:lnTo>
                  <a:lnTo>
                    <a:pt x="358" y="116"/>
                  </a:lnTo>
                  <a:lnTo>
                    <a:pt x="358" y="104"/>
                  </a:lnTo>
                  <a:lnTo>
                    <a:pt x="347" y="9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60" name="Freeform 288">
              <a:extLst>
                <a:ext uri="{FF2B5EF4-FFF2-40B4-BE49-F238E27FC236}">
                  <a16:creationId xmlns:a16="http://schemas.microsoft.com/office/drawing/2014/main" id="{9F9AFE4D-C6BD-4F13-BCC6-BE09B91A8277}"/>
                </a:ext>
              </a:extLst>
            </p:cNvPr>
            <p:cNvSpPr>
              <a:spLocks/>
            </p:cNvSpPr>
            <p:nvPr>
              <p:custDataLst>
                <p:tags r:id="rId287"/>
              </p:custDataLst>
            </p:nvPr>
          </p:nvSpPr>
          <p:spPr bwMode="auto">
            <a:xfrm>
              <a:off x="7502414" y="4245192"/>
              <a:ext cx="184722" cy="253332"/>
            </a:xfrm>
            <a:custGeom>
              <a:avLst/>
              <a:gdLst>
                <a:gd name="T0" fmla="*/ 0 w 212"/>
                <a:gd name="T1" fmla="*/ 41275 h 288"/>
                <a:gd name="T2" fmla="*/ 0 w 212"/>
                <a:gd name="T3" fmla="*/ 41275 h 288"/>
                <a:gd name="T4" fmla="*/ 6290 w 212"/>
                <a:gd name="T5" fmla="*/ 31750 h 288"/>
                <a:gd name="T6" fmla="*/ 10221 w 212"/>
                <a:gd name="T7" fmla="*/ 31750 h 288"/>
                <a:gd name="T8" fmla="*/ 13366 w 212"/>
                <a:gd name="T9" fmla="*/ 34925 h 288"/>
                <a:gd name="T10" fmla="*/ 17298 w 212"/>
                <a:gd name="T11" fmla="*/ 31750 h 288"/>
                <a:gd name="T12" fmla="*/ 23588 w 212"/>
                <a:gd name="T13" fmla="*/ 22225 h 288"/>
                <a:gd name="T14" fmla="*/ 27519 w 212"/>
                <a:gd name="T15" fmla="*/ 13494 h 288"/>
                <a:gd name="T16" fmla="*/ 30664 w 212"/>
                <a:gd name="T17" fmla="*/ 7144 h 288"/>
                <a:gd name="T18" fmla="*/ 30664 w 212"/>
                <a:gd name="T19" fmla="*/ 3969 h 288"/>
                <a:gd name="T20" fmla="*/ 30664 w 212"/>
                <a:gd name="T21" fmla="*/ 0 h 288"/>
                <a:gd name="T22" fmla="*/ 30664 w 212"/>
                <a:gd name="T23" fmla="*/ 3969 h 288"/>
                <a:gd name="T24" fmla="*/ 37741 w 212"/>
                <a:gd name="T25" fmla="*/ 15875 h 288"/>
                <a:gd name="T26" fmla="*/ 30664 w 212"/>
                <a:gd name="T27" fmla="*/ 15875 h 288"/>
                <a:gd name="T28" fmla="*/ 30664 w 212"/>
                <a:gd name="T29" fmla="*/ 19050 h 288"/>
                <a:gd name="T30" fmla="*/ 34596 w 212"/>
                <a:gd name="T31" fmla="*/ 22225 h 288"/>
                <a:gd name="T32" fmla="*/ 37741 w 212"/>
                <a:gd name="T33" fmla="*/ 28575 h 288"/>
                <a:gd name="T34" fmla="*/ 30664 w 212"/>
                <a:gd name="T35" fmla="*/ 38100 h 288"/>
                <a:gd name="T36" fmla="*/ 34596 w 212"/>
                <a:gd name="T37" fmla="*/ 41275 h 288"/>
                <a:gd name="T38" fmla="*/ 40886 w 212"/>
                <a:gd name="T39" fmla="*/ 51594 h 288"/>
                <a:gd name="T40" fmla="*/ 40886 w 212"/>
                <a:gd name="T41" fmla="*/ 57150 h 288"/>
                <a:gd name="T42" fmla="*/ 23588 w 212"/>
                <a:gd name="T43" fmla="*/ 54769 h 288"/>
                <a:gd name="T44" fmla="*/ 13366 w 212"/>
                <a:gd name="T45" fmla="*/ 54769 h 288"/>
                <a:gd name="T46" fmla="*/ 6290 w 212"/>
                <a:gd name="T47" fmla="*/ 54769 h 288"/>
                <a:gd name="T48" fmla="*/ 6290 w 212"/>
                <a:gd name="T49" fmla="*/ 51594 h 288"/>
                <a:gd name="T50" fmla="*/ 3145 w 212"/>
                <a:gd name="T51" fmla="*/ 47625 h 288"/>
                <a:gd name="T52" fmla="*/ 0 w 212"/>
                <a:gd name="T53" fmla="*/ 44450 h 288"/>
                <a:gd name="T54" fmla="*/ 0 w 212"/>
                <a:gd name="T55" fmla="*/ 41275 h 28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12"/>
                <a:gd name="T85" fmla="*/ 0 h 288"/>
                <a:gd name="T86" fmla="*/ 212 w 212"/>
                <a:gd name="T87" fmla="*/ 288 h 28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12" h="288">
                  <a:moveTo>
                    <a:pt x="0" y="210"/>
                  </a:moveTo>
                  <a:lnTo>
                    <a:pt x="0" y="210"/>
                  </a:lnTo>
                  <a:lnTo>
                    <a:pt x="35" y="162"/>
                  </a:lnTo>
                  <a:lnTo>
                    <a:pt x="52" y="162"/>
                  </a:lnTo>
                  <a:lnTo>
                    <a:pt x="69" y="177"/>
                  </a:lnTo>
                  <a:lnTo>
                    <a:pt x="89" y="162"/>
                  </a:lnTo>
                  <a:lnTo>
                    <a:pt x="123" y="114"/>
                  </a:lnTo>
                  <a:lnTo>
                    <a:pt x="141" y="66"/>
                  </a:lnTo>
                  <a:lnTo>
                    <a:pt x="158" y="33"/>
                  </a:lnTo>
                  <a:lnTo>
                    <a:pt x="158" y="18"/>
                  </a:lnTo>
                  <a:lnTo>
                    <a:pt x="158" y="0"/>
                  </a:lnTo>
                  <a:lnTo>
                    <a:pt x="158" y="18"/>
                  </a:lnTo>
                  <a:lnTo>
                    <a:pt x="194" y="81"/>
                  </a:lnTo>
                  <a:lnTo>
                    <a:pt x="158" y="81"/>
                  </a:lnTo>
                  <a:lnTo>
                    <a:pt x="158" y="96"/>
                  </a:lnTo>
                  <a:lnTo>
                    <a:pt x="177" y="114"/>
                  </a:lnTo>
                  <a:lnTo>
                    <a:pt x="194" y="144"/>
                  </a:lnTo>
                  <a:lnTo>
                    <a:pt x="158" y="192"/>
                  </a:lnTo>
                  <a:lnTo>
                    <a:pt x="177" y="210"/>
                  </a:lnTo>
                  <a:lnTo>
                    <a:pt x="212" y="258"/>
                  </a:lnTo>
                  <a:lnTo>
                    <a:pt x="212" y="288"/>
                  </a:lnTo>
                  <a:lnTo>
                    <a:pt x="123" y="273"/>
                  </a:lnTo>
                  <a:lnTo>
                    <a:pt x="69" y="273"/>
                  </a:lnTo>
                  <a:lnTo>
                    <a:pt x="35" y="273"/>
                  </a:lnTo>
                  <a:lnTo>
                    <a:pt x="35" y="258"/>
                  </a:lnTo>
                  <a:lnTo>
                    <a:pt x="18" y="240"/>
                  </a:lnTo>
                  <a:lnTo>
                    <a:pt x="0" y="225"/>
                  </a:lnTo>
                  <a:lnTo>
                    <a:pt x="0" y="21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61" name="Freeform 289">
              <a:extLst>
                <a:ext uri="{FF2B5EF4-FFF2-40B4-BE49-F238E27FC236}">
                  <a16:creationId xmlns:a16="http://schemas.microsoft.com/office/drawing/2014/main" id="{DAA4CAD9-5370-4A31-96BA-A87845E8065F}"/>
                </a:ext>
              </a:extLst>
            </p:cNvPr>
            <p:cNvSpPr>
              <a:spLocks/>
            </p:cNvSpPr>
            <p:nvPr>
              <p:custDataLst>
                <p:tags r:id="rId288"/>
              </p:custDataLst>
            </p:nvPr>
          </p:nvSpPr>
          <p:spPr bwMode="auto">
            <a:xfrm>
              <a:off x="7516488" y="4484450"/>
              <a:ext cx="47500" cy="28148"/>
            </a:xfrm>
            <a:custGeom>
              <a:avLst/>
              <a:gdLst>
                <a:gd name="T0" fmla="*/ 11322 w 53"/>
                <a:gd name="T1" fmla="*/ 0 h 33"/>
                <a:gd name="T2" fmla="*/ 11322 w 53"/>
                <a:gd name="T3" fmla="*/ 0 h 33"/>
                <a:gd name="T4" fmla="*/ 11322 w 53"/>
                <a:gd name="T5" fmla="*/ 6158 h 33"/>
                <a:gd name="T6" fmla="*/ 4044 w 53"/>
                <a:gd name="T7" fmla="*/ 6158 h 33"/>
                <a:gd name="T8" fmla="*/ 0 w 53"/>
                <a:gd name="T9" fmla="*/ 6158 h 33"/>
                <a:gd name="T10" fmla="*/ 4044 w 53"/>
                <a:gd name="T11" fmla="*/ 0 h 33"/>
                <a:gd name="T12" fmla="*/ 11322 w 53"/>
                <a:gd name="T13" fmla="*/ 0 h 33"/>
                <a:gd name="T14" fmla="*/ 0 60000 65536"/>
                <a:gd name="T15" fmla="*/ 0 60000 65536"/>
                <a:gd name="T16" fmla="*/ 0 60000 65536"/>
                <a:gd name="T17" fmla="*/ 0 60000 65536"/>
                <a:gd name="T18" fmla="*/ 0 60000 65536"/>
                <a:gd name="T19" fmla="*/ 0 60000 65536"/>
                <a:gd name="T20" fmla="*/ 0 60000 65536"/>
                <a:gd name="T21" fmla="*/ 0 w 53"/>
                <a:gd name="T22" fmla="*/ 0 h 33"/>
                <a:gd name="T23" fmla="*/ 53 w 53"/>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33">
                  <a:moveTo>
                    <a:pt x="53" y="0"/>
                  </a:moveTo>
                  <a:lnTo>
                    <a:pt x="53" y="0"/>
                  </a:lnTo>
                  <a:lnTo>
                    <a:pt x="53" y="33"/>
                  </a:lnTo>
                  <a:lnTo>
                    <a:pt x="17" y="33"/>
                  </a:lnTo>
                  <a:lnTo>
                    <a:pt x="0" y="33"/>
                  </a:lnTo>
                  <a:lnTo>
                    <a:pt x="17" y="0"/>
                  </a:lnTo>
                  <a:lnTo>
                    <a:pt x="53"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62" name="Freeform 290">
              <a:extLst>
                <a:ext uri="{FF2B5EF4-FFF2-40B4-BE49-F238E27FC236}">
                  <a16:creationId xmlns:a16="http://schemas.microsoft.com/office/drawing/2014/main" id="{5D2E5ED9-B2BC-40B4-950B-E5BA15820FD4}"/>
                </a:ext>
              </a:extLst>
            </p:cNvPr>
            <p:cNvSpPr>
              <a:spLocks/>
            </p:cNvSpPr>
            <p:nvPr>
              <p:custDataLst>
                <p:tags r:id="rId289"/>
              </p:custDataLst>
            </p:nvPr>
          </p:nvSpPr>
          <p:spPr bwMode="auto">
            <a:xfrm>
              <a:off x="8098799" y="4202970"/>
              <a:ext cx="350092" cy="253332"/>
            </a:xfrm>
            <a:custGeom>
              <a:avLst/>
              <a:gdLst>
                <a:gd name="T0" fmla="*/ 48297 w 399"/>
                <a:gd name="T1" fmla="*/ 13494 h 288"/>
                <a:gd name="T2" fmla="*/ 48297 w 399"/>
                <a:gd name="T3" fmla="*/ 13494 h 288"/>
                <a:gd name="T4" fmla="*/ 48297 w 399"/>
                <a:gd name="T5" fmla="*/ 19050 h 288"/>
                <a:gd name="T6" fmla="*/ 48297 w 399"/>
                <a:gd name="T7" fmla="*/ 22225 h 288"/>
                <a:gd name="T8" fmla="*/ 51465 w 399"/>
                <a:gd name="T9" fmla="*/ 22225 h 288"/>
                <a:gd name="T10" fmla="*/ 51465 w 399"/>
                <a:gd name="T11" fmla="*/ 26194 h 288"/>
                <a:gd name="T12" fmla="*/ 58590 w 399"/>
                <a:gd name="T13" fmla="*/ 31750 h 288"/>
                <a:gd name="T14" fmla="*/ 75217 w 399"/>
                <a:gd name="T15" fmla="*/ 34925 h 288"/>
                <a:gd name="T16" fmla="*/ 78384 w 399"/>
                <a:gd name="T17" fmla="*/ 34925 h 288"/>
                <a:gd name="T18" fmla="*/ 64924 w 399"/>
                <a:gd name="T19" fmla="*/ 51594 h 288"/>
                <a:gd name="T20" fmla="*/ 54632 w 399"/>
                <a:gd name="T21" fmla="*/ 51594 h 288"/>
                <a:gd name="T22" fmla="*/ 48297 w 399"/>
                <a:gd name="T23" fmla="*/ 57150 h 288"/>
                <a:gd name="T24" fmla="*/ 40380 w 399"/>
                <a:gd name="T25" fmla="*/ 54769 h 288"/>
                <a:gd name="T26" fmla="*/ 30879 w 399"/>
                <a:gd name="T27" fmla="*/ 57150 h 288"/>
                <a:gd name="T28" fmla="*/ 13460 w 399"/>
                <a:gd name="T29" fmla="*/ 54769 h 288"/>
                <a:gd name="T30" fmla="*/ 13460 w 399"/>
                <a:gd name="T31" fmla="*/ 47625 h 288"/>
                <a:gd name="T32" fmla="*/ 10293 w 399"/>
                <a:gd name="T33" fmla="*/ 47625 h 288"/>
                <a:gd name="T34" fmla="*/ 3167 w 399"/>
                <a:gd name="T35" fmla="*/ 38100 h 288"/>
                <a:gd name="T36" fmla="*/ 0 w 399"/>
                <a:gd name="T37" fmla="*/ 34925 h 288"/>
                <a:gd name="T38" fmla="*/ 3167 w 399"/>
                <a:gd name="T39" fmla="*/ 31750 h 288"/>
                <a:gd name="T40" fmla="*/ 6334 w 399"/>
                <a:gd name="T41" fmla="*/ 22225 h 288"/>
                <a:gd name="T42" fmla="*/ 16627 w 399"/>
                <a:gd name="T43" fmla="*/ 9525 h 288"/>
                <a:gd name="T44" fmla="*/ 16627 w 399"/>
                <a:gd name="T45" fmla="*/ 3969 h 288"/>
                <a:gd name="T46" fmla="*/ 20586 w 399"/>
                <a:gd name="T47" fmla="*/ 3969 h 288"/>
                <a:gd name="T48" fmla="*/ 23753 w 399"/>
                <a:gd name="T49" fmla="*/ 7144 h 288"/>
                <a:gd name="T50" fmla="*/ 23753 w 399"/>
                <a:gd name="T51" fmla="*/ 0 h 288"/>
                <a:gd name="T52" fmla="*/ 26920 w 399"/>
                <a:gd name="T53" fmla="*/ 3969 h 288"/>
                <a:gd name="T54" fmla="*/ 37213 w 399"/>
                <a:gd name="T55" fmla="*/ 3969 h 288"/>
                <a:gd name="T56" fmla="*/ 48297 w 399"/>
                <a:gd name="T57" fmla="*/ 13494 h 28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99"/>
                <a:gd name="T88" fmla="*/ 0 h 288"/>
                <a:gd name="T89" fmla="*/ 399 w 399"/>
                <a:gd name="T90" fmla="*/ 288 h 28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99" h="288">
                  <a:moveTo>
                    <a:pt x="244" y="66"/>
                  </a:moveTo>
                  <a:lnTo>
                    <a:pt x="244" y="66"/>
                  </a:lnTo>
                  <a:lnTo>
                    <a:pt x="244" y="96"/>
                  </a:lnTo>
                  <a:lnTo>
                    <a:pt x="244" y="114"/>
                  </a:lnTo>
                  <a:lnTo>
                    <a:pt x="261" y="114"/>
                  </a:lnTo>
                  <a:lnTo>
                    <a:pt x="261" y="129"/>
                  </a:lnTo>
                  <a:lnTo>
                    <a:pt x="296" y="162"/>
                  </a:lnTo>
                  <a:lnTo>
                    <a:pt x="382" y="177"/>
                  </a:lnTo>
                  <a:lnTo>
                    <a:pt x="399" y="177"/>
                  </a:lnTo>
                  <a:lnTo>
                    <a:pt x="330" y="258"/>
                  </a:lnTo>
                  <a:lnTo>
                    <a:pt x="278" y="258"/>
                  </a:lnTo>
                  <a:lnTo>
                    <a:pt x="244" y="288"/>
                  </a:lnTo>
                  <a:lnTo>
                    <a:pt x="207" y="273"/>
                  </a:lnTo>
                  <a:lnTo>
                    <a:pt x="156" y="288"/>
                  </a:lnTo>
                  <a:lnTo>
                    <a:pt x="69" y="273"/>
                  </a:lnTo>
                  <a:lnTo>
                    <a:pt x="69" y="240"/>
                  </a:lnTo>
                  <a:lnTo>
                    <a:pt x="52" y="240"/>
                  </a:lnTo>
                  <a:lnTo>
                    <a:pt x="17" y="192"/>
                  </a:lnTo>
                  <a:lnTo>
                    <a:pt x="0" y="177"/>
                  </a:lnTo>
                  <a:lnTo>
                    <a:pt x="17" y="162"/>
                  </a:lnTo>
                  <a:lnTo>
                    <a:pt x="35" y="114"/>
                  </a:lnTo>
                  <a:lnTo>
                    <a:pt x="86" y="48"/>
                  </a:lnTo>
                  <a:lnTo>
                    <a:pt x="86" y="18"/>
                  </a:lnTo>
                  <a:lnTo>
                    <a:pt x="104" y="18"/>
                  </a:lnTo>
                  <a:lnTo>
                    <a:pt x="121" y="33"/>
                  </a:lnTo>
                  <a:lnTo>
                    <a:pt x="121" y="0"/>
                  </a:lnTo>
                  <a:lnTo>
                    <a:pt x="138" y="18"/>
                  </a:lnTo>
                  <a:lnTo>
                    <a:pt x="190" y="18"/>
                  </a:lnTo>
                  <a:lnTo>
                    <a:pt x="244" y="6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63" name="Freeform 291">
              <a:extLst>
                <a:ext uri="{FF2B5EF4-FFF2-40B4-BE49-F238E27FC236}">
                  <a16:creationId xmlns:a16="http://schemas.microsoft.com/office/drawing/2014/main" id="{2EC4CAC8-1BB3-4507-BEC4-609AF55C7D8B}"/>
                </a:ext>
              </a:extLst>
            </p:cNvPr>
            <p:cNvSpPr>
              <a:spLocks/>
            </p:cNvSpPr>
            <p:nvPr>
              <p:custDataLst>
                <p:tags r:id="rId290"/>
              </p:custDataLst>
            </p:nvPr>
          </p:nvSpPr>
          <p:spPr bwMode="auto">
            <a:xfrm>
              <a:off x="8311669" y="4259266"/>
              <a:ext cx="31667" cy="42222"/>
            </a:xfrm>
            <a:custGeom>
              <a:avLst/>
              <a:gdLst>
                <a:gd name="T0" fmla="*/ 4202 w 34"/>
                <a:gd name="T1" fmla="*/ 9525 h 48"/>
                <a:gd name="T2" fmla="*/ 4202 w 34"/>
                <a:gd name="T3" fmla="*/ 9525 h 48"/>
                <a:gd name="T4" fmla="*/ 0 w 34"/>
                <a:gd name="T5" fmla="*/ 9525 h 48"/>
                <a:gd name="T6" fmla="*/ 0 w 34"/>
                <a:gd name="T7" fmla="*/ 5556 h 48"/>
                <a:gd name="T8" fmla="*/ 0 w 34"/>
                <a:gd name="T9" fmla="*/ 0 h 48"/>
                <a:gd name="T10" fmla="*/ 4202 w 34"/>
                <a:gd name="T11" fmla="*/ 0 h 48"/>
                <a:gd name="T12" fmla="*/ 8404 w 34"/>
                <a:gd name="T13" fmla="*/ 0 h 48"/>
                <a:gd name="T14" fmla="*/ 8404 w 34"/>
                <a:gd name="T15" fmla="*/ 2381 h 48"/>
                <a:gd name="T16" fmla="*/ 4202 w 34"/>
                <a:gd name="T17" fmla="*/ 2381 h 48"/>
                <a:gd name="T18" fmla="*/ 8404 w 34"/>
                <a:gd name="T19" fmla="*/ 5556 h 48"/>
                <a:gd name="T20" fmla="*/ 4202 w 34"/>
                <a:gd name="T21" fmla="*/ 952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48"/>
                <a:gd name="T35" fmla="*/ 34 w 34"/>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48">
                  <a:moveTo>
                    <a:pt x="17" y="48"/>
                  </a:moveTo>
                  <a:lnTo>
                    <a:pt x="17" y="48"/>
                  </a:lnTo>
                  <a:lnTo>
                    <a:pt x="0" y="48"/>
                  </a:lnTo>
                  <a:lnTo>
                    <a:pt x="0" y="30"/>
                  </a:lnTo>
                  <a:lnTo>
                    <a:pt x="0" y="0"/>
                  </a:lnTo>
                  <a:lnTo>
                    <a:pt x="17" y="0"/>
                  </a:lnTo>
                  <a:lnTo>
                    <a:pt x="34" y="0"/>
                  </a:lnTo>
                  <a:lnTo>
                    <a:pt x="34" y="15"/>
                  </a:lnTo>
                  <a:lnTo>
                    <a:pt x="17" y="15"/>
                  </a:lnTo>
                  <a:lnTo>
                    <a:pt x="34" y="30"/>
                  </a:lnTo>
                  <a:lnTo>
                    <a:pt x="17"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64" name="Freeform 292">
              <a:extLst>
                <a:ext uri="{FF2B5EF4-FFF2-40B4-BE49-F238E27FC236}">
                  <a16:creationId xmlns:a16="http://schemas.microsoft.com/office/drawing/2014/main" id="{C0A11742-E018-4F6F-B62C-8B6C4836F1CA}"/>
                </a:ext>
              </a:extLst>
            </p:cNvPr>
            <p:cNvSpPr>
              <a:spLocks/>
            </p:cNvSpPr>
            <p:nvPr>
              <p:custDataLst>
                <p:tags r:id="rId291"/>
              </p:custDataLst>
            </p:nvPr>
          </p:nvSpPr>
          <p:spPr bwMode="auto">
            <a:xfrm>
              <a:off x="8112873" y="4442228"/>
              <a:ext cx="198796" cy="197036"/>
            </a:xfrm>
            <a:custGeom>
              <a:avLst/>
              <a:gdLst>
                <a:gd name="T0" fmla="*/ 44254 w 227"/>
                <a:gd name="T1" fmla="*/ 3175 h 224"/>
                <a:gd name="T2" fmla="*/ 44254 w 227"/>
                <a:gd name="T3" fmla="*/ 3175 h 224"/>
                <a:gd name="T4" fmla="*/ 37932 w 227"/>
                <a:gd name="T5" fmla="*/ 0 h 224"/>
                <a:gd name="T6" fmla="*/ 27659 w 227"/>
                <a:gd name="T7" fmla="*/ 3175 h 224"/>
                <a:gd name="T8" fmla="*/ 10273 w 227"/>
                <a:gd name="T9" fmla="*/ 0 h 224"/>
                <a:gd name="T10" fmla="*/ 3161 w 227"/>
                <a:gd name="T11" fmla="*/ 0 h 224"/>
                <a:gd name="T12" fmla="*/ 0 w 227"/>
                <a:gd name="T13" fmla="*/ 0 h 224"/>
                <a:gd name="T14" fmla="*/ 3161 w 227"/>
                <a:gd name="T15" fmla="*/ 3175 h 224"/>
                <a:gd name="T16" fmla="*/ 6322 w 227"/>
                <a:gd name="T17" fmla="*/ 11906 h 224"/>
                <a:gd name="T18" fmla="*/ 0 w 227"/>
                <a:gd name="T19" fmla="*/ 22225 h 224"/>
                <a:gd name="T20" fmla="*/ 0 w 227"/>
                <a:gd name="T21" fmla="*/ 26194 h 224"/>
                <a:gd name="T22" fmla="*/ 3161 w 227"/>
                <a:gd name="T23" fmla="*/ 26194 h 224"/>
                <a:gd name="T24" fmla="*/ 20547 w 227"/>
                <a:gd name="T25" fmla="*/ 34925 h 224"/>
                <a:gd name="T26" fmla="*/ 20547 w 227"/>
                <a:gd name="T27" fmla="*/ 41275 h 224"/>
                <a:gd name="T28" fmla="*/ 30820 w 227"/>
                <a:gd name="T29" fmla="*/ 44450 h 224"/>
                <a:gd name="T30" fmla="*/ 33981 w 227"/>
                <a:gd name="T31" fmla="*/ 34925 h 224"/>
                <a:gd name="T32" fmla="*/ 37932 w 227"/>
                <a:gd name="T33" fmla="*/ 34925 h 224"/>
                <a:gd name="T34" fmla="*/ 41093 w 227"/>
                <a:gd name="T35" fmla="*/ 28575 h 224"/>
                <a:gd name="T36" fmla="*/ 37932 w 227"/>
                <a:gd name="T37" fmla="*/ 26194 h 224"/>
                <a:gd name="T38" fmla="*/ 37932 w 227"/>
                <a:gd name="T39" fmla="*/ 9525 h 224"/>
                <a:gd name="T40" fmla="*/ 44254 w 227"/>
                <a:gd name="T41" fmla="*/ 3175 h 22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27"/>
                <a:gd name="T64" fmla="*/ 0 h 224"/>
                <a:gd name="T65" fmla="*/ 227 w 227"/>
                <a:gd name="T66" fmla="*/ 224 h 22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27" h="224">
                  <a:moveTo>
                    <a:pt x="227" y="15"/>
                  </a:moveTo>
                  <a:lnTo>
                    <a:pt x="227" y="15"/>
                  </a:lnTo>
                  <a:lnTo>
                    <a:pt x="192" y="0"/>
                  </a:lnTo>
                  <a:lnTo>
                    <a:pt x="140" y="15"/>
                  </a:lnTo>
                  <a:lnTo>
                    <a:pt x="52" y="0"/>
                  </a:lnTo>
                  <a:lnTo>
                    <a:pt x="18" y="0"/>
                  </a:lnTo>
                  <a:lnTo>
                    <a:pt x="0" y="0"/>
                  </a:lnTo>
                  <a:lnTo>
                    <a:pt x="18" y="15"/>
                  </a:lnTo>
                  <a:lnTo>
                    <a:pt x="35" y="63"/>
                  </a:lnTo>
                  <a:lnTo>
                    <a:pt x="0" y="111"/>
                  </a:lnTo>
                  <a:lnTo>
                    <a:pt x="0" y="129"/>
                  </a:lnTo>
                  <a:lnTo>
                    <a:pt x="18" y="129"/>
                  </a:lnTo>
                  <a:lnTo>
                    <a:pt x="104" y="176"/>
                  </a:lnTo>
                  <a:lnTo>
                    <a:pt x="104" y="207"/>
                  </a:lnTo>
                  <a:lnTo>
                    <a:pt x="158" y="224"/>
                  </a:lnTo>
                  <a:lnTo>
                    <a:pt x="175" y="176"/>
                  </a:lnTo>
                  <a:lnTo>
                    <a:pt x="192" y="176"/>
                  </a:lnTo>
                  <a:lnTo>
                    <a:pt x="210" y="144"/>
                  </a:lnTo>
                  <a:lnTo>
                    <a:pt x="192" y="129"/>
                  </a:lnTo>
                  <a:lnTo>
                    <a:pt x="192" y="48"/>
                  </a:lnTo>
                  <a:lnTo>
                    <a:pt x="227" y="1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65" name="Freeform 293">
              <a:extLst>
                <a:ext uri="{FF2B5EF4-FFF2-40B4-BE49-F238E27FC236}">
                  <a16:creationId xmlns:a16="http://schemas.microsoft.com/office/drawing/2014/main" id="{6F5E77B4-5816-4F61-A470-031270AB3D38}"/>
                </a:ext>
              </a:extLst>
            </p:cNvPr>
            <p:cNvSpPr>
              <a:spLocks/>
            </p:cNvSpPr>
            <p:nvPr>
              <p:custDataLst>
                <p:tags r:id="rId292"/>
              </p:custDataLst>
            </p:nvPr>
          </p:nvSpPr>
          <p:spPr bwMode="auto">
            <a:xfrm>
              <a:off x="8007318" y="4442228"/>
              <a:ext cx="135463" cy="126666"/>
            </a:xfrm>
            <a:custGeom>
              <a:avLst/>
              <a:gdLst>
                <a:gd name="T0" fmla="*/ 23507 w 156"/>
                <a:gd name="T1" fmla="*/ 0 h 144"/>
                <a:gd name="T2" fmla="*/ 23507 w 156"/>
                <a:gd name="T3" fmla="*/ 0 h 144"/>
                <a:gd name="T4" fmla="*/ 26642 w 156"/>
                <a:gd name="T5" fmla="*/ 2381 h 144"/>
                <a:gd name="T6" fmla="*/ 29776 w 156"/>
                <a:gd name="T7" fmla="*/ 11906 h 144"/>
                <a:gd name="T8" fmla="*/ 23507 w 156"/>
                <a:gd name="T9" fmla="*/ 21431 h 144"/>
                <a:gd name="T10" fmla="*/ 23507 w 156"/>
                <a:gd name="T11" fmla="*/ 26194 h 144"/>
                <a:gd name="T12" fmla="*/ 13321 w 156"/>
                <a:gd name="T13" fmla="*/ 26194 h 144"/>
                <a:gd name="T14" fmla="*/ 6269 w 156"/>
                <a:gd name="T15" fmla="*/ 26194 h 144"/>
                <a:gd name="T16" fmla="*/ 0 w 156"/>
                <a:gd name="T17" fmla="*/ 28575 h 144"/>
                <a:gd name="T18" fmla="*/ 3134 w 156"/>
                <a:gd name="T19" fmla="*/ 19050 h 144"/>
                <a:gd name="T20" fmla="*/ 6269 w 156"/>
                <a:gd name="T21" fmla="*/ 15875 h 144"/>
                <a:gd name="T22" fmla="*/ 10186 w 156"/>
                <a:gd name="T23" fmla="*/ 9525 h 144"/>
                <a:gd name="T24" fmla="*/ 6269 w 156"/>
                <a:gd name="T25" fmla="*/ 9525 h 144"/>
                <a:gd name="T26" fmla="*/ 6269 w 156"/>
                <a:gd name="T27" fmla="*/ 2381 h 144"/>
                <a:gd name="T28" fmla="*/ 13321 w 156"/>
                <a:gd name="T29" fmla="*/ 2381 h 144"/>
                <a:gd name="T30" fmla="*/ 23507 w 156"/>
                <a:gd name="T31" fmla="*/ 0 h 14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6"/>
                <a:gd name="T49" fmla="*/ 0 h 144"/>
                <a:gd name="T50" fmla="*/ 156 w 156"/>
                <a:gd name="T51" fmla="*/ 144 h 14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6" h="144">
                  <a:moveTo>
                    <a:pt x="121" y="0"/>
                  </a:moveTo>
                  <a:lnTo>
                    <a:pt x="121" y="0"/>
                  </a:lnTo>
                  <a:lnTo>
                    <a:pt x="139" y="15"/>
                  </a:lnTo>
                  <a:lnTo>
                    <a:pt x="156" y="63"/>
                  </a:lnTo>
                  <a:lnTo>
                    <a:pt x="121" y="111"/>
                  </a:lnTo>
                  <a:lnTo>
                    <a:pt x="121" y="129"/>
                  </a:lnTo>
                  <a:lnTo>
                    <a:pt x="69" y="129"/>
                  </a:lnTo>
                  <a:lnTo>
                    <a:pt x="35" y="129"/>
                  </a:lnTo>
                  <a:lnTo>
                    <a:pt x="0" y="144"/>
                  </a:lnTo>
                  <a:lnTo>
                    <a:pt x="18" y="96"/>
                  </a:lnTo>
                  <a:lnTo>
                    <a:pt x="35" y="81"/>
                  </a:lnTo>
                  <a:lnTo>
                    <a:pt x="52" y="48"/>
                  </a:lnTo>
                  <a:lnTo>
                    <a:pt x="35" y="48"/>
                  </a:lnTo>
                  <a:lnTo>
                    <a:pt x="35" y="15"/>
                  </a:lnTo>
                  <a:lnTo>
                    <a:pt x="69" y="15"/>
                  </a:lnTo>
                  <a:lnTo>
                    <a:pt x="121"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66" name="Freeform 294">
              <a:extLst>
                <a:ext uri="{FF2B5EF4-FFF2-40B4-BE49-F238E27FC236}">
                  <a16:creationId xmlns:a16="http://schemas.microsoft.com/office/drawing/2014/main" id="{2BE8B34F-F0A0-4761-AF2F-63ED8939484C}"/>
                </a:ext>
              </a:extLst>
            </p:cNvPr>
            <p:cNvSpPr>
              <a:spLocks/>
            </p:cNvSpPr>
            <p:nvPr>
              <p:custDataLst>
                <p:tags r:id="rId293"/>
              </p:custDataLst>
            </p:nvPr>
          </p:nvSpPr>
          <p:spPr bwMode="auto">
            <a:xfrm>
              <a:off x="7991485" y="4554820"/>
              <a:ext cx="45741" cy="42222"/>
            </a:xfrm>
            <a:custGeom>
              <a:avLst/>
              <a:gdLst>
                <a:gd name="T0" fmla="*/ 10319 w 52"/>
                <a:gd name="T1" fmla="*/ 9728 h 47"/>
                <a:gd name="T2" fmla="*/ 10319 w 52"/>
                <a:gd name="T3" fmla="*/ 9728 h 47"/>
                <a:gd name="T4" fmla="*/ 3969 w 52"/>
                <a:gd name="T5" fmla="*/ 9728 h 47"/>
                <a:gd name="T6" fmla="*/ 0 w 52"/>
                <a:gd name="T7" fmla="*/ 9728 h 47"/>
                <a:gd name="T8" fmla="*/ 3969 w 52"/>
                <a:gd name="T9" fmla="*/ 3243 h 47"/>
                <a:gd name="T10" fmla="*/ 10319 w 52"/>
                <a:gd name="T11" fmla="*/ 0 h 47"/>
                <a:gd name="T12" fmla="*/ 10319 w 52"/>
                <a:gd name="T13" fmla="*/ 6485 h 47"/>
                <a:gd name="T14" fmla="*/ 10319 w 52"/>
                <a:gd name="T15" fmla="*/ 9728 h 47"/>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47"/>
                <a:gd name="T26" fmla="*/ 52 w 52"/>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47">
                  <a:moveTo>
                    <a:pt x="52" y="47"/>
                  </a:moveTo>
                  <a:lnTo>
                    <a:pt x="52" y="47"/>
                  </a:lnTo>
                  <a:lnTo>
                    <a:pt x="17" y="47"/>
                  </a:lnTo>
                  <a:lnTo>
                    <a:pt x="0" y="47"/>
                  </a:lnTo>
                  <a:lnTo>
                    <a:pt x="17" y="15"/>
                  </a:lnTo>
                  <a:lnTo>
                    <a:pt x="52" y="0"/>
                  </a:lnTo>
                  <a:lnTo>
                    <a:pt x="52" y="30"/>
                  </a:lnTo>
                  <a:lnTo>
                    <a:pt x="52" y="4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67" name="Freeform 295">
              <a:extLst>
                <a:ext uri="{FF2B5EF4-FFF2-40B4-BE49-F238E27FC236}">
                  <a16:creationId xmlns:a16="http://schemas.microsoft.com/office/drawing/2014/main" id="{71C08F4A-6370-42E0-A3B0-A28C42DF8F1C}"/>
                </a:ext>
              </a:extLst>
            </p:cNvPr>
            <p:cNvSpPr>
              <a:spLocks/>
            </p:cNvSpPr>
            <p:nvPr>
              <p:custDataLst>
                <p:tags r:id="rId294"/>
              </p:custDataLst>
            </p:nvPr>
          </p:nvSpPr>
          <p:spPr bwMode="auto">
            <a:xfrm>
              <a:off x="8007318" y="4597042"/>
              <a:ext cx="29908" cy="42222"/>
            </a:xfrm>
            <a:custGeom>
              <a:avLst/>
              <a:gdLst>
                <a:gd name="T0" fmla="*/ 6169 w 35"/>
                <a:gd name="T1" fmla="*/ 0 h 48"/>
                <a:gd name="T2" fmla="*/ 6169 w 35"/>
                <a:gd name="T3" fmla="*/ 0 h 48"/>
                <a:gd name="T4" fmla="*/ 6169 w 35"/>
                <a:gd name="T5" fmla="*/ 3175 h 48"/>
                <a:gd name="T6" fmla="*/ 0 w 35"/>
                <a:gd name="T7" fmla="*/ 9525 h 48"/>
                <a:gd name="T8" fmla="*/ 0 w 35"/>
                <a:gd name="T9" fmla="*/ 3175 h 48"/>
                <a:gd name="T10" fmla="*/ 0 w 35"/>
                <a:gd name="T11" fmla="*/ 0 h 48"/>
                <a:gd name="T12" fmla="*/ 6169 w 35"/>
                <a:gd name="T13" fmla="*/ 0 h 48"/>
                <a:gd name="T14" fmla="*/ 0 60000 65536"/>
                <a:gd name="T15" fmla="*/ 0 60000 65536"/>
                <a:gd name="T16" fmla="*/ 0 60000 65536"/>
                <a:gd name="T17" fmla="*/ 0 60000 65536"/>
                <a:gd name="T18" fmla="*/ 0 60000 65536"/>
                <a:gd name="T19" fmla="*/ 0 60000 65536"/>
                <a:gd name="T20" fmla="*/ 0 60000 65536"/>
                <a:gd name="T21" fmla="*/ 0 w 35"/>
                <a:gd name="T22" fmla="*/ 0 h 48"/>
                <a:gd name="T23" fmla="*/ 35 w 35"/>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48">
                  <a:moveTo>
                    <a:pt x="35" y="0"/>
                  </a:moveTo>
                  <a:lnTo>
                    <a:pt x="35" y="0"/>
                  </a:lnTo>
                  <a:lnTo>
                    <a:pt x="35" y="16"/>
                  </a:lnTo>
                  <a:lnTo>
                    <a:pt x="0" y="48"/>
                  </a:lnTo>
                  <a:lnTo>
                    <a:pt x="0" y="16"/>
                  </a:lnTo>
                  <a:lnTo>
                    <a:pt x="0" y="0"/>
                  </a:lnTo>
                  <a:lnTo>
                    <a:pt x="35"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68" name="Freeform 296">
              <a:extLst>
                <a:ext uri="{FF2B5EF4-FFF2-40B4-BE49-F238E27FC236}">
                  <a16:creationId xmlns:a16="http://schemas.microsoft.com/office/drawing/2014/main" id="{F209677A-22D3-444D-9541-651F09397DB1}"/>
                </a:ext>
              </a:extLst>
            </p:cNvPr>
            <p:cNvSpPr>
              <a:spLocks/>
            </p:cNvSpPr>
            <p:nvPr>
              <p:custDataLst>
                <p:tags r:id="rId295"/>
              </p:custDataLst>
            </p:nvPr>
          </p:nvSpPr>
          <p:spPr bwMode="auto">
            <a:xfrm>
              <a:off x="6983434" y="3698065"/>
              <a:ext cx="290277" cy="211110"/>
            </a:xfrm>
            <a:custGeom>
              <a:avLst/>
              <a:gdLst>
                <a:gd name="T0" fmla="*/ 58738 w 330"/>
                <a:gd name="T1" fmla="*/ 3969 h 240"/>
                <a:gd name="T2" fmla="*/ 58738 w 330"/>
                <a:gd name="T3" fmla="*/ 3969 h 240"/>
                <a:gd name="T4" fmla="*/ 62706 w 330"/>
                <a:gd name="T5" fmla="*/ 3969 h 240"/>
                <a:gd name="T6" fmla="*/ 65881 w 330"/>
                <a:gd name="T7" fmla="*/ 19050 h 240"/>
                <a:gd name="T8" fmla="*/ 52388 w 330"/>
                <a:gd name="T9" fmla="*/ 23019 h 240"/>
                <a:gd name="T10" fmla="*/ 52388 w 330"/>
                <a:gd name="T11" fmla="*/ 25400 h 240"/>
                <a:gd name="T12" fmla="*/ 41275 w 330"/>
                <a:gd name="T13" fmla="*/ 32544 h 240"/>
                <a:gd name="T14" fmla="*/ 27781 w 330"/>
                <a:gd name="T15" fmla="*/ 38100 h 240"/>
                <a:gd name="T16" fmla="*/ 23813 w 330"/>
                <a:gd name="T17" fmla="*/ 42069 h 240"/>
                <a:gd name="T18" fmla="*/ 23813 w 330"/>
                <a:gd name="T19" fmla="*/ 47625 h 240"/>
                <a:gd name="T20" fmla="*/ 0 w 330"/>
                <a:gd name="T21" fmla="*/ 44450 h 240"/>
                <a:gd name="T22" fmla="*/ 7144 w 330"/>
                <a:gd name="T23" fmla="*/ 44450 h 240"/>
                <a:gd name="T24" fmla="*/ 14288 w 330"/>
                <a:gd name="T25" fmla="*/ 38100 h 240"/>
                <a:gd name="T26" fmla="*/ 17463 w 330"/>
                <a:gd name="T27" fmla="*/ 32544 h 240"/>
                <a:gd name="T28" fmla="*/ 17463 w 330"/>
                <a:gd name="T29" fmla="*/ 25400 h 240"/>
                <a:gd name="T30" fmla="*/ 20638 w 330"/>
                <a:gd name="T31" fmla="*/ 19050 h 240"/>
                <a:gd name="T32" fmla="*/ 23813 w 330"/>
                <a:gd name="T33" fmla="*/ 13494 h 240"/>
                <a:gd name="T34" fmla="*/ 34131 w 330"/>
                <a:gd name="T35" fmla="*/ 9525 h 240"/>
                <a:gd name="T36" fmla="*/ 38100 w 330"/>
                <a:gd name="T37" fmla="*/ 0 h 240"/>
                <a:gd name="T38" fmla="*/ 41275 w 330"/>
                <a:gd name="T39" fmla="*/ 0 h 240"/>
                <a:gd name="T40" fmla="*/ 44450 w 330"/>
                <a:gd name="T41" fmla="*/ 3969 h 240"/>
                <a:gd name="T42" fmla="*/ 55563 w 330"/>
                <a:gd name="T43" fmla="*/ 3969 h 240"/>
                <a:gd name="T44" fmla="*/ 58738 w 330"/>
                <a:gd name="T45" fmla="*/ 3969 h 24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30"/>
                <a:gd name="T70" fmla="*/ 0 h 240"/>
                <a:gd name="T71" fmla="*/ 330 w 330"/>
                <a:gd name="T72" fmla="*/ 240 h 24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30" h="240">
                  <a:moveTo>
                    <a:pt x="296" y="17"/>
                  </a:moveTo>
                  <a:lnTo>
                    <a:pt x="296" y="17"/>
                  </a:lnTo>
                  <a:lnTo>
                    <a:pt x="313" y="17"/>
                  </a:lnTo>
                  <a:lnTo>
                    <a:pt x="330" y="96"/>
                  </a:lnTo>
                  <a:lnTo>
                    <a:pt x="261" y="113"/>
                  </a:lnTo>
                  <a:lnTo>
                    <a:pt x="261" y="128"/>
                  </a:lnTo>
                  <a:lnTo>
                    <a:pt x="209" y="161"/>
                  </a:lnTo>
                  <a:lnTo>
                    <a:pt x="140" y="192"/>
                  </a:lnTo>
                  <a:lnTo>
                    <a:pt x="123" y="209"/>
                  </a:lnTo>
                  <a:lnTo>
                    <a:pt x="123" y="240"/>
                  </a:lnTo>
                  <a:lnTo>
                    <a:pt x="0" y="224"/>
                  </a:lnTo>
                  <a:lnTo>
                    <a:pt x="36" y="224"/>
                  </a:lnTo>
                  <a:lnTo>
                    <a:pt x="71" y="192"/>
                  </a:lnTo>
                  <a:lnTo>
                    <a:pt x="88" y="161"/>
                  </a:lnTo>
                  <a:lnTo>
                    <a:pt x="88" y="128"/>
                  </a:lnTo>
                  <a:lnTo>
                    <a:pt x="106" y="96"/>
                  </a:lnTo>
                  <a:lnTo>
                    <a:pt x="123" y="65"/>
                  </a:lnTo>
                  <a:lnTo>
                    <a:pt x="175" y="48"/>
                  </a:lnTo>
                  <a:lnTo>
                    <a:pt x="192" y="0"/>
                  </a:lnTo>
                  <a:lnTo>
                    <a:pt x="209" y="0"/>
                  </a:lnTo>
                  <a:lnTo>
                    <a:pt x="227" y="17"/>
                  </a:lnTo>
                  <a:lnTo>
                    <a:pt x="278" y="17"/>
                  </a:lnTo>
                  <a:lnTo>
                    <a:pt x="296" y="17"/>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69" name="Freeform 297">
              <a:extLst>
                <a:ext uri="{FF2B5EF4-FFF2-40B4-BE49-F238E27FC236}">
                  <a16:creationId xmlns:a16="http://schemas.microsoft.com/office/drawing/2014/main" id="{AAA5A094-FB3D-4858-A3E3-D2AD1E1D1EFA}"/>
                </a:ext>
              </a:extLst>
            </p:cNvPr>
            <p:cNvSpPr>
              <a:spLocks/>
            </p:cNvSpPr>
            <p:nvPr>
              <p:custDataLst>
                <p:tags r:id="rId296"/>
              </p:custDataLst>
            </p:nvPr>
          </p:nvSpPr>
          <p:spPr bwMode="auto">
            <a:xfrm>
              <a:off x="7090749" y="3655843"/>
              <a:ext cx="489072" cy="450369"/>
            </a:xfrm>
            <a:custGeom>
              <a:avLst/>
              <a:gdLst>
                <a:gd name="T0" fmla="*/ 34988 w 555"/>
                <a:gd name="T1" fmla="*/ 12700 h 512"/>
                <a:gd name="T2" fmla="*/ 34988 w 555"/>
                <a:gd name="T3" fmla="*/ 12700 h 512"/>
                <a:gd name="T4" fmla="*/ 38169 w 555"/>
                <a:gd name="T5" fmla="*/ 12700 h 512"/>
                <a:gd name="T6" fmla="*/ 42145 w 555"/>
                <a:gd name="T7" fmla="*/ 28575 h 512"/>
                <a:gd name="T8" fmla="*/ 27831 w 555"/>
                <a:gd name="T9" fmla="*/ 31750 h 512"/>
                <a:gd name="T10" fmla="*/ 27831 w 555"/>
                <a:gd name="T11" fmla="*/ 34925 h 512"/>
                <a:gd name="T12" fmla="*/ 17494 w 555"/>
                <a:gd name="T13" fmla="*/ 41275 h 512"/>
                <a:gd name="T14" fmla="*/ 3976 w 555"/>
                <a:gd name="T15" fmla="*/ 47625 h 512"/>
                <a:gd name="T16" fmla="*/ 0 w 555"/>
                <a:gd name="T17" fmla="*/ 50800 h 512"/>
                <a:gd name="T18" fmla="*/ 0 w 555"/>
                <a:gd name="T19" fmla="*/ 57150 h 512"/>
                <a:gd name="T20" fmla="*/ 20675 w 555"/>
                <a:gd name="T21" fmla="*/ 69850 h 512"/>
                <a:gd name="T22" fmla="*/ 52482 w 555"/>
                <a:gd name="T23" fmla="*/ 92075 h 512"/>
                <a:gd name="T24" fmla="*/ 55663 w 555"/>
                <a:gd name="T25" fmla="*/ 95250 h 512"/>
                <a:gd name="T26" fmla="*/ 62819 w 555"/>
                <a:gd name="T27" fmla="*/ 98425 h 512"/>
                <a:gd name="T28" fmla="*/ 66000 w 555"/>
                <a:gd name="T29" fmla="*/ 101600 h 512"/>
                <a:gd name="T30" fmla="*/ 69181 w 555"/>
                <a:gd name="T31" fmla="*/ 101600 h 512"/>
                <a:gd name="T32" fmla="*/ 76337 w 555"/>
                <a:gd name="T33" fmla="*/ 101600 h 512"/>
                <a:gd name="T34" fmla="*/ 110530 w 555"/>
                <a:gd name="T35" fmla="*/ 79375 h 512"/>
                <a:gd name="T36" fmla="*/ 107349 w 555"/>
                <a:gd name="T37" fmla="*/ 73025 h 512"/>
                <a:gd name="T38" fmla="*/ 103373 w 555"/>
                <a:gd name="T39" fmla="*/ 73025 h 512"/>
                <a:gd name="T40" fmla="*/ 97012 w 555"/>
                <a:gd name="T41" fmla="*/ 63500 h 512"/>
                <a:gd name="T42" fmla="*/ 100193 w 555"/>
                <a:gd name="T43" fmla="*/ 60325 h 512"/>
                <a:gd name="T44" fmla="*/ 100193 w 555"/>
                <a:gd name="T45" fmla="*/ 53975 h 512"/>
                <a:gd name="T46" fmla="*/ 100193 w 555"/>
                <a:gd name="T47" fmla="*/ 47625 h 512"/>
                <a:gd name="T48" fmla="*/ 97012 w 555"/>
                <a:gd name="T49" fmla="*/ 44450 h 512"/>
                <a:gd name="T50" fmla="*/ 97012 w 555"/>
                <a:gd name="T51" fmla="*/ 41275 h 512"/>
                <a:gd name="T52" fmla="*/ 97012 w 555"/>
                <a:gd name="T53" fmla="*/ 31750 h 512"/>
                <a:gd name="T54" fmla="*/ 89855 w 555"/>
                <a:gd name="T55" fmla="*/ 28575 h 512"/>
                <a:gd name="T56" fmla="*/ 86675 w 555"/>
                <a:gd name="T57" fmla="*/ 22225 h 512"/>
                <a:gd name="T58" fmla="*/ 93036 w 555"/>
                <a:gd name="T59" fmla="*/ 15875 h 512"/>
                <a:gd name="T60" fmla="*/ 89855 w 555"/>
                <a:gd name="T61" fmla="*/ 3175 h 512"/>
                <a:gd name="T62" fmla="*/ 93036 w 555"/>
                <a:gd name="T63" fmla="*/ 0 h 512"/>
                <a:gd name="T64" fmla="*/ 89855 w 555"/>
                <a:gd name="T65" fmla="*/ 3175 h 512"/>
                <a:gd name="T66" fmla="*/ 79518 w 555"/>
                <a:gd name="T67" fmla="*/ 0 h 512"/>
                <a:gd name="T68" fmla="*/ 76337 w 555"/>
                <a:gd name="T69" fmla="*/ 3175 h 512"/>
                <a:gd name="T70" fmla="*/ 69181 w 555"/>
                <a:gd name="T71" fmla="*/ 0 h 512"/>
                <a:gd name="T72" fmla="*/ 62819 w 555"/>
                <a:gd name="T73" fmla="*/ 3175 h 512"/>
                <a:gd name="T74" fmla="*/ 52482 w 555"/>
                <a:gd name="T75" fmla="*/ 3175 h 512"/>
                <a:gd name="T76" fmla="*/ 34988 w 555"/>
                <a:gd name="T77" fmla="*/ 12700 h 51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55"/>
                <a:gd name="T118" fmla="*/ 0 h 512"/>
                <a:gd name="T119" fmla="*/ 555 w 555"/>
                <a:gd name="T120" fmla="*/ 512 h 512"/>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55" h="512">
                  <a:moveTo>
                    <a:pt x="173" y="65"/>
                  </a:moveTo>
                  <a:lnTo>
                    <a:pt x="173" y="65"/>
                  </a:lnTo>
                  <a:lnTo>
                    <a:pt x="192" y="65"/>
                  </a:lnTo>
                  <a:lnTo>
                    <a:pt x="209" y="144"/>
                  </a:lnTo>
                  <a:lnTo>
                    <a:pt x="138" y="161"/>
                  </a:lnTo>
                  <a:lnTo>
                    <a:pt x="138" y="176"/>
                  </a:lnTo>
                  <a:lnTo>
                    <a:pt x="86" y="209"/>
                  </a:lnTo>
                  <a:lnTo>
                    <a:pt x="17" y="240"/>
                  </a:lnTo>
                  <a:lnTo>
                    <a:pt x="0" y="257"/>
                  </a:lnTo>
                  <a:lnTo>
                    <a:pt x="0" y="288"/>
                  </a:lnTo>
                  <a:lnTo>
                    <a:pt x="104" y="353"/>
                  </a:lnTo>
                  <a:lnTo>
                    <a:pt x="261" y="464"/>
                  </a:lnTo>
                  <a:lnTo>
                    <a:pt x="278" y="480"/>
                  </a:lnTo>
                  <a:lnTo>
                    <a:pt x="313" y="497"/>
                  </a:lnTo>
                  <a:lnTo>
                    <a:pt x="330" y="512"/>
                  </a:lnTo>
                  <a:lnTo>
                    <a:pt x="347" y="512"/>
                  </a:lnTo>
                  <a:lnTo>
                    <a:pt x="382" y="512"/>
                  </a:lnTo>
                  <a:lnTo>
                    <a:pt x="555" y="401"/>
                  </a:lnTo>
                  <a:lnTo>
                    <a:pt x="537" y="368"/>
                  </a:lnTo>
                  <a:lnTo>
                    <a:pt x="520" y="368"/>
                  </a:lnTo>
                  <a:lnTo>
                    <a:pt x="486" y="320"/>
                  </a:lnTo>
                  <a:lnTo>
                    <a:pt x="503" y="305"/>
                  </a:lnTo>
                  <a:lnTo>
                    <a:pt x="503" y="272"/>
                  </a:lnTo>
                  <a:lnTo>
                    <a:pt x="503" y="240"/>
                  </a:lnTo>
                  <a:lnTo>
                    <a:pt x="486" y="224"/>
                  </a:lnTo>
                  <a:lnTo>
                    <a:pt x="486" y="209"/>
                  </a:lnTo>
                  <a:lnTo>
                    <a:pt x="486" y="161"/>
                  </a:lnTo>
                  <a:lnTo>
                    <a:pt x="451" y="144"/>
                  </a:lnTo>
                  <a:lnTo>
                    <a:pt x="434" y="113"/>
                  </a:lnTo>
                  <a:lnTo>
                    <a:pt x="468" y="80"/>
                  </a:lnTo>
                  <a:lnTo>
                    <a:pt x="451" y="17"/>
                  </a:lnTo>
                  <a:lnTo>
                    <a:pt x="468" y="0"/>
                  </a:lnTo>
                  <a:lnTo>
                    <a:pt x="451" y="17"/>
                  </a:lnTo>
                  <a:lnTo>
                    <a:pt x="399" y="0"/>
                  </a:lnTo>
                  <a:lnTo>
                    <a:pt x="382" y="17"/>
                  </a:lnTo>
                  <a:lnTo>
                    <a:pt x="347" y="0"/>
                  </a:lnTo>
                  <a:lnTo>
                    <a:pt x="313" y="17"/>
                  </a:lnTo>
                  <a:lnTo>
                    <a:pt x="261" y="17"/>
                  </a:lnTo>
                  <a:lnTo>
                    <a:pt x="173" y="6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70" name="Freeform 298">
              <a:extLst>
                <a:ext uri="{FF2B5EF4-FFF2-40B4-BE49-F238E27FC236}">
                  <a16:creationId xmlns:a16="http://schemas.microsoft.com/office/drawing/2014/main" id="{DB4FB2AB-2969-44EE-B462-42FE1ACFCABC}"/>
                </a:ext>
              </a:extLst>
            </p:cNvPr>
            <p:cNvSpPr>
              <a:spLocks/>
            </p:cNvSpPr>
            <p:nvPr>
              <p:custDataLst>
                <p:tags r:id="rId297"/>
              </p:custDataLst>
            </p:nvPr>
          </p:nvSpPr>
          <p:spPr bwMode="auto">
            <a:xfrm>
              <a:off x="7470748" y="3655843"/>
              <a:ext cx="93241" cy="184722"/>
            </a:xfrm>
            <a:custGeom>
              <a:avLst/>
              <a:gdLst>
                <a:gd name="T0" fmla="*/ 21635 w 105"/>
                <a:gd name="T1" fmla="*/ 25522 h 209"/>
                <a:gd name="T2" fmla="*/ 21635 w 105"/>
                <a:gd name="T3" fmla="*/ 25522 h 209"/>
                <a:gd name="T4" fmla="*/ 21635 w 105"/>
                <a:gd name="T5" fmla="*/ 28712 h 209"/>
                <a:gd name="T6" fmla="*/ 14424 w 105"/>
                <a:gd name="T7" fmla="*/ 35092 h 209"/>
                <a:gd name="T8" fmla="*/ 14424 w 105"/>
                <a:gd name="T9" fmla="*/ 38282 h 209"/>
                <a:gd name="T10" fmla="*/ 11218 w 105"/>
                <a:gd name="T11" fmla="*/ 42270 h 209"/>
                <a:gd name="T12" fmla="*/ 11218 w 105"/>
                <a:gd name="T13" fmla="*/ 32700 h 209"/>
                <a:gd name="T14" fmla="*/ 4007 w 105"/>
                <a:gd name="T15" fmla="*/ 28712 h 209"/>
                <a:gd name="T16" fmla="*/ 0 w 105"/>
                <a:gd name="T17" fmla="*/ 23129 h 209"/>
                <a:gd name="T18" fmla="*/ 7212 w 105"/>
                <a:gd name="T19" fmla="*/ 15951 h 209"/>
                <a:gd name="T20" fmla="*/ 4007 w 105"/>
                <a:gd name="T21" fmla="*/ 3988 h 209"/>
                <a:gd name="T22" fmla="*/ 7212 w 105"/>
                <a:gd name="T23" fmla="*/ 0 h 209"/>
                <a:gd name="T24" fmla="*/ 14424 w 105"/>
                <a:gd name="T25" fmla="*/ 0 h 209"/>
                <a:gd name="T26" fmla="*/ 17629 w 105"/>
                <a:gd name="T27" fmla="*/ 3988 h 209"/>
                <a:gd name="T28" fmla="*/ 21635 w 105"/>
                <a:gd name="T29" fmla="*/ 0 h 209"/>
                <a:gd name="T30" fmla="*/ 17629 w 105"/>
                <a:gd name="T31" fmla="*/ 6380 h 209"/>
                <a:gd name="T32" fmla="*/ 21635 w 105"/>
                <a:gd name="T33" fmla="*/ 13558 h 209"/>
                <a:gd name="T34" fmla="*/ 14424 w 105"/>
                <a:gd name="T35" fmla="*/ 19141 h 209"/>
                <a:gd name="T36" fmla="*/ 14424 w 105"/>
                <a:gd name="T37" fmla="*/ 23129 h 209"/>
                <a:gd name="T38" fmla="*/ 21635 w 105"/>
                <a:gd name="T39" fmla="*/ 23129 h 209"/>
                <a:gd name="T40" fmla="*/ 21635 w 105"/>
                <a:gd name="T41" fmla="*/ 25522 h 20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5"/>
                <a:gd name="T64" fmla="*/ 0 h 209"/>
                <a:gd name="T65" fmla="*/ 105 w 105"/>
                <a:gd name="T66" fmla="*/ 209 h 20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5" h="209">
                  <a:moveTo>
                    <a:pt x="105" y="128"/>
                  </a:moveTo>
                  <a:lnTo>
                    <a:pt x="105" y="128"/>
                  </a:lnTo>
                  <a:lnTo>
                    <a:pt x="105" y="144"/>
                  </a:lnTo>
                  <a:lnTo>
                    <a:pt x="71" y="176"/>
                  </a:lnTo>
                  <a:lnTo>
                    <a:pt x="71" y="192"/>
                  </a:lnTo>
                  <a:lnTo>
                    <a:pt x="54" y="209"/>
                  </a:lnTo>
                  <a:lnTo>
                    <a:pt x="54" y="161"/>
                  </a:lnTo>
                  <a:lnTo>
                    <a:pt x="17" y="144"/>
                  </a:lnTo>
                  <a:lnTo>
                    <a:pt x="0" y="113"/>
                  </a:lnTo>
                  <a:lnTo>
                    <a:pt x="34" y="80"/>
                  </a:lnTo>
                  <a:lnTo>
                    <a:pt x="17" y="17"/>
                  </a:lnTo>
                  <a:lnTo>
                    <a:pt x="34" y="0"/>
                  </a:lnTo>
                  <a:lnTo>
                    <a:pt x="71" y="0"/>
                  </a:lnTo>
                  <a:lnTo>
                    <a:pt x="88" y="17"/>
                  </a:lnTo>
                  <a:lnTo>
                    <a:pt x="105" y="0"/>
                  </a:lnTo>
                  <a:lnTo>
                    <a:pt x="88" y="32"/>
                  </a:lnTo>
                  <a:lnTo>
                    <a:pt x="105" y="65"/>
                  </a:lnTo>
                  <a:lnTo>
                    <a:pt x="71" y="96"/>
                  </a:lnTo>
                  <a:lnTo>
                    <a:pt x="71" y="113"/>
                  </a:lnTo>
                  <a:lnTo>
                    <a:pt x="105" y="113"/>
                  </a:lnTo>
                  <a:lnTo>
                    <a:pt x="105" y="12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71" name="Freeform 299">
              <a:extLst>
                <a:ext uri="{FF2B5EF4-FFF2-40B4-BE49-F238E27FC236}">
                  <a16:creationId xmlns:a16="http://schemas.microsoft.com/office/drawing/2014/main" id="{07F7FFB0-1620-4CFF-9C71-F60EB3BBE902}"/>
                </a:ext>
              </a:extLst>
            </p:cNvPr>
            <p:cNvSpPr>
              <a:spLocks/>
            </p:cNvSpPr>
            <p:nvPr>
              <p:custDataLst>
                <p:tags r:id="rId298"/>
              </p:custDataLst>
            </p:nvPr>
          </p:nvSpPr>
          <p:spPr bwMode="auto">
            <a:xfrm>
              <a:off x="7001027" y="3963711"/>
              <a:ext cx="394073" cy="351850"/>
            </a:xfrm>
            <a:custGeom>
              <a:avLst/>
              <a:gdLst>
                <a:gd name="T0" fmla="*/ 41183 w 449"/>
                <a:gd name="T1" fmla="*/ 0 h 399"/>
                <a:gd name="T2" fmla="*/ 41183 w 449"/>
                <a:gd name="T3" fmla="*/ 0 h 399"/>
                <a:gd name="T4" fmla="*/ 71278 w 449"/>
                <a:gd name="T5" fmla="*/ 22281 h 399"/>
                <a:gd name="T6" fmla="*/ 75238 w 449"/>
                <a:gd name="T7" fmla="*/ 25464 h 399"/>
                <a:gd name="T8" fmla="*/ 81574 w 449"/>
                <a:gd name="T9" fmla="*/ 28647 h 399"/>
                <a:gd name="T10" fmla="*/ 85534 w 449"/>
                <a:gd name="T11" fmla="*/ 31830 h 399"/>
                <a:gd name="T12" fmla="*/ 88702 w 449"/>
                <a:gd name="T13" fmla="*/ 31830 h 399"/>
                <a:gd name="T14" fmla="*/ 88702 w 449"/>
                <a:gd name="T15" fmla="*/ 47744 h 399"/>
                <a:gd name="T16" fmla="*/ 85534 w 449"/>
                <a:gd name="T17" fmla="*/ 50927 h 399"/>
                <a:gd name="T18" fmla="*/ 68110 w 449"/>
                <a:gd name="T19" fmla="*/ 54110 h 399"/>
                <a:gd name="T20" fmla="*/ 60983 w 449"/>
                <a:gd name="T21" fmla="*/ 54110 h 399"/>
                <a:gd name="T22" fmla="*/ 54647 w 449"/>
                <a:gd name="T23" fmla="*/ 60476 h 399"/>
                <a:gd name="T24" fmla="*/ 47519 w 449"/>
                <a:gd name="T25" fmla="*/ 63659 h 399"/>
                <a:gd name="T26" fmla="*/ 41183 w 449"/>
                <a:gd name="T27" fmla="*/ 73208 h 399"/>
                <a:gd name="T28" fmla="*/ 37223 w 449"/>
                <a:gd name="T29" fmla="*/ 76391 h 399"/>
                <a:gd name="T30" fmla="*/ 34055 w 449"/>
                <a:gd name="T31" fmla="*/ 79574 h 399"/>
                <a:gd name="T32" fmla="*/ 30887 w 449"/>
                <a:gd name="T33" fmla="*/ 76391 h 399"/>
                <a:gd name="T34" fmla="*/ 26927 w 449"/>
                <a:gd name="T35" fmla="*/ 79574 h 399"/>
                <a:gd name="T36" fmla="*/ 23759 w 449"/>
                <a:gd name="T37" fmla="*/ 79574 h 399"/>
                <a:gd name="T38" fmla="*/ 16632 w 449"/>
                <a:gd name="T39" fmla="*/ 66842 h 399"/>
                <a:gd name="T40" fmla="*/ 10296 w 449"/>
                <a:gd name="T41" fmla="*/ 70025 h 399"/>
                <a:gd name="T42" fmla="*/ 3168 w 449"/>
                <a:gd name="T43" fmla="*/ 70025 h 399"/>
                <a:gd name="T44" fmla="*/ 6336 w 449"/>
                <a:gd name="T45" fmla="*/ 66842 h 399"/>
                <a:gd name="T46" fmla="*/ 0 w 449"/>
                <a:gd name="T47" fmla="*/ 54110 h 399"/>
                <a:gd name="T48" fmla="*/ 6336 w 449"/>
                <a:gd name="T49" fmla="*/ 50927 h 399"/>
                <a:gd name="T50" fmla="*/ 10296 w 449"/>
                <a:gd name="T51" fmla="*/ 54110 h 399"/>
                <a:gd name="T52" fmla="*/ 13464 w 449"/>
                <a:gd name="T53" fmla="*/ 50927 h 399"/>
                <a:gd name="T54" fmla="*/ 37223 w 449"/>
                <a:gd name="T55" fmla="*/ 50927 h 399"/>
                <a:gd name="T56" fmla="*/ 30887 w 449"/>
                <a:gd name="T57" fmla="*/ 0 h 399"/>
                <a:gd name="T58" fmla="*/ 41183 w 449"/>
                <a:gd name="T59" fmla="*/ 0 h 39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49"/>
                <a:gd name="T91" fmla="*/ 0 h 399"/>
                <a:gd name="T92" fmla="*/ 449 w 449"/>
                <a:gd name="T93" fmla="*/ 399 h 39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49" h="399">
                  <a:moveTo>
                    <a:pt x="208" y="0"/>
                  </a:moveTo>
                  <a:lnTo>
                    <a:pt x="208" y="0"/>
                  </a:lnTo>
                  <a:lnTo>
                    <a:pt x="363" y="111"/>
                  </a:lnTo>
                  <a:lnTo>
                    <a:pt x="380" y="127"/>
                  </a:lnTo>
                  <a:lnTo>
                    <a:pt x="415" y="144"/>
                  </a:lnTo>
                  <a:lnTo>
                    <a:pt x="432" y="159"/>
                  </a:lnTo>
                  <a:lnTo>
                    <a:pt x="449" y="159"/>
                  </a:lnTo>
                  <a:lnTo>
                    <a:pt x="449" y="240"/>
                  </a:lnTo>
                  <a:lnTo>
                    <a:pt x="432" y="255"/>
                  </a:lnTo>
                  <a:lnTo>
                    <a:pt x="346" y="270"/>
                  </a:lnTo>
                  <a:lnTo>
                    <a:pt x="311" y="270"/>
                  </a:lnTo>
                  <a:lnTo>
                    <a:pt x="277" y="303"/>
                  </a:lnTo>
                  <a:lnTo>
                    <a:pt x="242" y="318"/>
                  </a:lnTo>
                  <a:lnTo>
                    <a:pt x="208" y="366"/>
                  </a:lnTo>
                  <a:lnTo>
                    <a:pt x="190" y="384"/>
                  </a:lnTo>
                  <a:lnTo>
                    <a:pt x="173" y="399"/>
                  </a:lnTo>
                  <a:lnTo>
                    <a:pt x="156" y="384"/>
                  </a:lnTo>
                  <a:lnTo>
                    <a:pt x="138" y="399"/>
                  </a:lnTo>
                  <a:lnTo>
                    <a:pt x="121" y="399"/>
                  </a:lnTo>
                  <a:lnTo>
                    <a:pt x="87" y="336"/>
                  </a:lnTo>
                  <a:lnTo>
                    <a:pt x="52" y="351"/>
                  </a:lnTo>
                  <a:lnTo>
                    <a:pt x="17" y="351"/>
                  </a:lnTo>
                  <a:lnTo>
                    <a:pt x="35" y="336"/>
                  </a:lnTo>
                  <a:lnTo>
                    <a:pt x="0" y="270"/>
                  </a:lnTo>
                  <a:lnTo>
                    <a:pt x="35" y="255"/>
                  </a:lnTo>
                  <a:lnTo>
                    <a:pt x="52" y="270"/>
                  </a:lnTo>
                  <a:lnTo>
                    <a:pt x="69" y="255"/>
                  </a:lnTo>
                  <a:lnTo>
                    <a:pt x="190" y="255"/>
                  </a:lnTo>
                  <a:lnTo>
                    <a:pt x="156" y="0"/>
                  </a:lnTo>
                  <a:lnTo>
                    <a:pt x="208" y="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72" name="Freeform 300">
              <a:extLst>
                <a:ext uri="{FF2B5EF4-FFF2-40B4-BE49-F238E27FC236}">
                  <a16:creationId xmlns:a16="http://schemas.microsoft.com/office/drawing/2014/main" id="{2AEC24A4-9CD4-4A9B-AE7C-951F092F1B87}"/>
                </a:ext>
              </a:extLst>
            </p:cNvPr>
            <p:cNvSpPr>
              <a:spLocks/>
            </p:cNvSpPr>
            <p:nvPr>
              <p:custDataLst>
                <p:tags r:id="rId299"/>
              </p:custDataLst>
            </p:nvPr>
          </p:nvSpPr>
          <p:spPr bwMode="auto">
            <a:xfrm>
              <a:off x="6891953" y="3909175"/>
              <a:ext cx="290277" cy="295554"/>
            </a:xfrm>
            <a:custGeom>
              <a:avLst/>
              <a:gdLst>
                <a:gd name="T0" fmla="*/ 0 w 331"/>
                <a:gd name="T1" fmla="*/ 35029 h 335"/>
                <a:gd name="T2" fmla="*/ 0 w 331"/>
                <a:gd name="T3" fmla="*/ 35029 h 335"/>
                <a:gd name="T4" fmla="*/ 3165 w 331"/>
                <a:gd name="T5" fmla="*/ 32641 h 335"/>
                <a:gd name="T6" fmla="*/ 20575 w 331"/>
                <a:gd name="T7" fmla="*/ 32641 h 335"/>
                <a:gd name="T8" fmla="*/ 20575 w 331"/>
                <a:gd name="T9" fmla="*/ 25476 h 335"/>
                <a:gd name="T10" fmla="*/ 27697 w 331"/>
                <a:gd name="T11" fmla="*/ 23087 h 335"/>
                <a:gd name="T12" fmla="*/ 27697 w 331"/>
                <a:gd name="T13" fmla="*/ 6369 h 335"/>
                <a:gd name="T14" fmla="*/ 44316 w 331"/>
                <a:gd name="T15" fmla="*/ 6369 h 335"/>
                <a:gd name="T16" fmla="*/ 44316 w 331"/>
                <a:gd name="T17" fmla="*/ 0 h 335"/>
                <a:gd name="T18" fmla="*/ 64891 w 331"/>
                <a:gd name="T19" fmla="*/ 13534 h 335"/>
                <a:gd name="T20" fmla="*/ 54603 w 331"/>
                <a:gd name="T21" fmla="*/ 13534 h 335"/>
                <a:gd name="T22" fmla="*/ 61726 w 331"/>
                <a:gd name="T23" fmla="*/ 63690 h 335"/>
                <a:gd name="T24" fmla="*/ 37985 w 331"/>
                <a:gd name="T25" fmla="*/ 63690 h 335"/>
                <a:gd name="T26" fmla="*/ 34028 w 331"/>
                <a:gd name="T27" fmla="*/ 66874 h 335"/>
                <a:gd name="T28" fmla="*/ 30863 w 331"/>
                <a:gd name="T29" fmla="*/ 63690 h 335"/>
                <a:gd name="T30" fmla="*/ 23741 w 331"/>
                <a:gd name="T31" fmla="*/ 66874 h 335"/>
                <a:gd name="T32" fmla="*/ 20575 w 331"/>
                <a:gd name="T33" fmla="*/ 61301 h 335"/>
                <a:gd name="T34" fmla="*/ 10288 w 331"/>
                <a:gd name="T35" fmla="*/ 57321 h 335"/>
                <a:gd name="T36" fmla="*/ 3165 w 331"/>
                <a:gd name="T37" fmla="*/ 57321 h 335"/>
                <a:gd name="T38" fmla="*/ 0 w 331"/>
                <a:gd name="T39" fmla="*/ 61301 h 335"/>
                <a:gd name="T40" fmla="*/ 3165 w 331"/>
                <a:gd name="T41" fmla="*/ 47767 h 335"/>
                <a:gd name="T42" fmla="*/ 0 w 331"/>
                <a:gd name="T43" fmla="*/ 44583 h 335"/>
                <a:gd name="T44" fmla="*/ 3165 w 331"/>
                <a:gd name="T45" fmla="*/ 38214 h 335"/>
                <a:gd name="T46" fmla="*/ 0 w 331"/>
                <a:gd name="T47" fmla="*/ 35029 h 33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31"/>
                <a:gd name="T73" fmla="*/ 0 h 335"/>
                <a:gd name="T74" fmla="*/ 331 w 331"/>
                <a:gd name="T75" fmla="*/ 335 h 33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31" h="335">
                  <a:moveTo>
                    <a:pt x="0" y="176"/>
                  </a:moveTo>
                  <a:lnTo>
                    <a:pt x="0" y="176"/>
                  </a:lnTo>
                  <a:lnTo>
                    <a:pt x="18" y="161"/>
                  </a:lnTo>
                  <a:lnTo>
                    <a:pt x="106" y="161"/>
                  </a:lnTo>
                  <a:lnTo>
                    <a:pt x="106" y="128"/>
                  </a:lnTo>
                  <a:lnTo>
                    <a:pt x="140" y="113"/>
                  </a:lnTo>
                  <a:lnTo>
                    <a:pt x="140" y="32"/>
                  </a:lnTo>
                  <a:lnTo>
                    <a:pt x="227" y="32"/>
                  </a:lnTo>
                  <a:lnTo>
                    <a:pt x="227" y="0"/>
                  </a:lnTo>
                  <a:lnTo>
                    <a:pt x="331" y="65"/>
                  </a:lnTo>
                  <a:lnTo>
                    <a:pt x="279" y="65"/>
                  </a:lnTo>
                  <a:lnTo>
                    <a:pt x="313" y="320"/>
                  </a:lnTo>
                  <a:lnTo>
                    <a:pt x="192" y="320"/>
                  </a:lnTo>
                  <a:lnTo>
                    <a:pt x="175" y="335"/>
                  </a:lnTo>
                  <a:lnTo>
                    <a:pt x="158" y="320"/>
                  </a:lnTo>
                  <a:lnTo>
                    <a:pt x="123" y="335"/>
                  </a:lnTo>
                  <a:lnTo>
                    <a:pt x="106" y="305"/>
                  </a:lnTo>
                  <a:lnTo>
                    <a:pt x="52" y="288"/>
                  </a:lnTo>
                  <a:lnTo>
                    <a:pt x="18" y="288"/>
                  </a:lnTo>
                  <a:lnTo>
                    <a:pt x="0" y="305"/>
                  </a:lnTo>
                  <a:lnTo>
                    <a:pt x="18" y="240"/>
                  </a:lnTo>
                  <a:lnTo>
                    <a:pt x="0" y="224"/>
                  </a:lnTo>
                  <a:lnTo>
                    <a:pt x="18" y="192"/>
                  </a:lnTo>
                  <a:lnTo>
                    <a:pt x="0" y="17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73" name="Freeform 301">
              <a:extLst>
                <a:ext uri="{FF2B5EF4-FFF2-40B4-BE49-F238E27FC236}">
                  <a16:creationId xmlns:a16="http://schemas.microsoft.com/office/drawing/2014/main" id="{C9F45532-F6F5-4ACC-93EB-B7323306BB68}"/>
                </a:ext>
              </a:extLst>
            </p:cNvPr>
            <p:cNvSpPr>
              <a:spLocks/>
            </p:cNvSpPr>
            <p:nvPr>
              <p:custDataLst>
                <p:tags r:id="rId300"/>
              </p:custDataLst>
            </p:nvPr>
          </p:nvSpPr>
          <p:spPr bwMode="auto">
            <a:xfrm>
              <a:off x="6891953" y="3895101"/>
              <a:ext cx="198796" cy="168888"/>
            </a:xfrm>
            <a:custGeom>
              <a:avLst/>
              <a:gdLst>
                <a:gd name="T0" fmla="*/ 0 w 227"/>
                <a:gd name="T1" fmla="*/ 38100 h 192"/>
                <a:gd name="T2" fmla="*/ 0 w 227"/>
                <a:gd name="T3" fmla="*/ 38100 h 192"/>
                <a:gd name="T4" fmla="*/ 3161 w 227"/>
                <a:gd name="T5" fmla="*/ 35719 h 192"/>
                <a:gd name="T6" fmla="*/ 20547 w 227"/>
                <a:gd name="T7" fmla="*/ 35719 h 192"/>
                <a:gd name="T8" fmla="*/ 20547 w 227"/>
                <a:gd name="T9" fmla="*/ 28575 h 192"/>
                <a:gd name="T10" fmla="*/ 27659 w 227"/>
                <a:gd name="T11" fmla="*/ 26194 h 192"/>
                <a:gd name="T12" fmla="*/ 27659 w 227"/>
                <a:gd name="T13" fmla="*/ 9525 h 192"/>
                <a:gd name="T14" fmla="*/ 44254 w 227"/>
                <a:gd name="T15" fmla="*/ 9525 h 192"/>
                <a:gd name="T16" fmla="*/ 44254 w 227"/>
                <a:gd name="T17" fmla="*/ 3175 h 192"/>
                <a:gd name="T18" fmla="*/ 20547 w 227"/>
                <a:gd name="T19" fmla="*/ 0 h 192"/>
                <a:gd name="T20" fmla="*/ 17386 w 227"/>
                <a:gd name="T21" fmla="*/ 7144 h 192"/>
                <a:gd name="T22" fmla="*/ 13434 w 227"/>
                <a:gd name="T23" fmla="*/ 9525 h 192"/>
                <a:gd name="T24" fmla="*/ 10273 w 227"/>
                <a:gd name="T25" fmla="*/ 19050 h 192"/>
                <a:gd name="T26" fmla="*/ 0 w 227"/>
                <a:gd name="T27" fmla="*/ 31750 h 192"/>
                <a:gd name="T28" fmla="*/ 0 w 227"/>
                <a:gd name="T29" fmla="*/ 38100 h 19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27"/>
                <a:gd name="T46" fmla="*/ 0 h 192"/>
                <a:gd name="T47" fmla="*/ 227 w 227"/>
                <a:gd name="T48" fmla="*/ 192 h 19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27" h="192">
                  <a:moveTo>
                    <a:pt x="0" y="192"/>
                  </a:moveTo>
                  <a:lnTo>
                    <a:pt x="0" y="192"/>
                  </a:lnTo>
                  <a:lnTo>
                    <a:pt x="18" y="177"/>
                  </a:lnTo>
                  <a:lnTo>
                    <a:pt x="106" y="177"/>
                  </a:lnTo>
                  <a:lnTo>
                    <a:pt x="106" y="144"/>
                  </a:lnTo>
                  <a:lnTo>
                    <a:pt x="140" y="129"/>
                  </a:lnTo>
                  <a:lnTo>
                    <a:pt x="140" y="48"/>
                  </a:lnTo>
                  <a:lnTo>
                    <a:pt x="227" y="48"/>
                  </a:lnTo>
                  <a:lnTo>
                    <a:pt x="227" y="16"/>
                  </a:lnTo>
                  <a:lnTo>
                    <a:pt x="106" y="0"/>
                  </a:lnTo>
                  <a:lnTo>
                    <a:pt x="89" y="33"/>
                  </a:lnTo>
                  <a:lnTo>
                    <a:pt x="69" y="48"/>
                  </a:lnTo>
                  <a:lnTo>
                    <a:pt x="52" y="96"/>
                  </a:lnTo>
                  <a:lnTo>
                    <a:pt x="0" y="160"/>
                  </a:lnTo>
                  <a:lnTo>
                    <a:pt x="0" y="192"/>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74" name="Freeform 302">
              <a:extLst>
                <a:ext uri="{FF2B5EF4-FFF2-40B4-BE49-F238E27FC236}">
                  <a16:creationId xmlns:a16="http://schemas.microsoft.com/office/drawing/2014/main" id="{EA6FEF2A-6385-4E2E-8230-AAE1F387BCD1}"/>
                </a:ext>
              </a:extLst>
            </p:cNvPr>
            <p:cNvSpPr>
              <a:spLocks/>
            </p:cNvSpPr>
            <p:nvPr>
              <p:custDataLst>
                <p:tags r:id="rId301"/>
              </p:custDataLst>
            </p:nvPr>
          </p:nvSpPr>
          <p:spPr bwMode="auto">
            <a:xfrm>
              <a:off x="6890194" y="4231118"/>
              <a:ext cx="75648" cy="14074"/>
            </a:xfrm>
            <a:custGeom>
              <a:avLst/>
              <a:gdLst>
                <a:gd name="T0" fmla="*/ 0 w 87"/>
                <a:gd name="T1" fmla="*/ 3387 h 15"/>
                <a:gd name="T2" fmla="*/ 0 w 87"/>
                <a:gd name="T3" fmla="*/ 3387 h 15"/>
                <a:gd name="T4" fmla="*/ 3139 w 87"/>
                <a:gd name="T5" fmla="*/ 3387 h 15"/>
                <a:gd name="T6" fmla="*/ 10200 w 87"/>
                <a:gd name="T7" fmla="*/ 0 h 15"/>
                <a:gd name="T8" fmla="*/ 13339 w 87"/>
                <a:gd name="T9" fmla="*/ 3387 h 15"/>
                <a:gd name="T10" fmla="*/ 16477 w 87"/>
                <a:gd name="T11" fmla="*/ 0 h 15"/>
                <a:gd name="T12" fmla="*/ 10200 w 87"/>
                <a:gd name="T13" fmla="*/ 0 h 15"/>
                <a:gd name="T14" fmla="*/ 0 w 87"/>
                <a:gd name="T15" fmla="*/ 0 h 15"/>
                <a:gd name="T16" fmla="*/ 0 w 87"/>
                <a:gd name="T17" fmla="*/ 3387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7"/>
                <a:gd name="T28" fmla="*/ 0 h 15"/>
                <a:gd name="T29" fmla="*/ 87 w 87"/>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7" h="15">
                  <a:moveTo>
                    <a:pt x="0" y="15"/>
                  </a:moveTo>
                  <a:lnTo>
                    <a:pt x="0" y="15"/>
                  </a:lnTo>
                  <a:lnTo>
                    <a:pt x="18" y="15"/>
                  </a:lnTo>
                  <a:lnTo>
                    <a:pt x="52" y="0"/>
                  </a:lnTo>
                  <a:lnTo>
                    <a:pt x="69" y="15"/>
                  </a:lnTo>
                  <a:lnTo>
                    <a:pt x="87" y="0"/>
                  </a:lnTo>
                  <a:lnTo>
                    <a:pt x="52" y="0"/>
                  </a:lnTo>
                  <a:lnTo>
                    <a:pt x="0" y="0"/>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75" name="Freeform 303">
              <a:extLst>
                <a:ext uri="{FF2B5EF4-FFF2-40B4-BE49-F238E27FC236}">
                  <a16:creationId xmlns:a16="http://schemas.microsoft.com/office/drawing/2014/main" id="{1AC84913-9DE8-4405-AC30-CF1891B64EFF}"/>
                </a:ext>
              </a:extLst>
            </p:cNvPr>
            <p:cNvSpPr>
              <a:spLocks/>
            </p:cNvSpPr>
            <p:nvPr>
              <p:custDataLst>
                <p:tags r:id="rId302"/>
              </p:custDataLst>
            </p:nvPr>
          </p:nvSpPr>
          <p:spPr bwMode="auto">
            <a:xfrm>
              <a:off x="6890194" y="4259266"/>
              <a:ext cx="75648" cy="42222"/>
            </a:xfrm>
            <a:custGeom>
              <a:avLst/>
              <a:gdLst>
                <a:gd name="T0" fmla="*/ 10200 w 87"/>
                <a:gd name="T1" fmla="*/ 9525 h 48"/>
                <a:gd name="T2" fmla="*/ 10200 w 87"/>
                <a:gd name="T3" fmla="*/ 9525 h 48"/>
                <a:gd name="T4" fmla="*/ 16477 w 87"/>
                <a:gd name="T5" fmla="*/ 2381 h 48"/>
                <a:gd name="T6" fmla="*/ 16477 w 87"/>
                <a:gd name="T7" fmla="*/ 0 h 48"/>
                <a:gd name="T8" fmla="*/ 0 w 87"/>
                <a:gd name="T9" fmla="*/ 0 h 48"/>
                <a:gd name="T10" fmla="*/ 6277 w 87"/>
                <a:gd name="T11" fmla="*/ 2381 h 48"/>
                <a:gd name="T12" fmla="*/ 6277 w 87"/>
                <a:gd name="T13" fmla="*/ 5556 h 48"/>
                <a:gd name="T14" fmla="*/ 10200 w 87"/>
                <a:gd name="T15" fmla="*/ 9525 h 48"/>
                <a:gd name="T16" fmla="*/ 0 60000 65536"/>
                <a:gd name="T17" fmla="*/ 0 60000 65536"/>
                <a:gd name="T18" fmla="*/ 0 60000 65536"/>
                <a:gd name="T19" fmla="*/ 0 60000 65536"/>
                <a:gd name="T20" fmla="*/ 0 60000 65536"/>
                <a:gd name="T21" fmla="*/ 0 60000 65536"/>
                <a:gd name="T22" fmla="*/ 0 60000 65536"/>
                <a:gd name="T23" fmla="*/ 0 60000 65536"/>
                <a:gd name="T24" fmla="*/ 0 w 87"/>
                <a:gd name="T25" fmla="*/ 0 h 48"/>
                <a:gd name="T26" fmla="*/ 87 w 87"/>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7" h="48">
                  <a:moveTo>
                    <a:pt x="52" y="48"/>
                  </a:moveTo>
                  <a:lnTo>
                    <a:pt x="52" y="48"/>
                  </a:lnTo>
                  <a:lnTo>
                    <a:pt x="87" y="15"/>
                  </a:lnTo>
                  <a:lnTo>
                    <a:pt x="87" y="0"/>
                  </a:lnTo>
                  <a:lnTo>
                    <a:pt x="0" y="0"/>
                  </a:lnTo>
                  <a:lnTo>
                    <a:pt x="35" y="15"/>
                  </a:lnTo>
                  <a:lnTo>
                    <a:pt x="35" y="30"/>
                  </a:lnTo>
                  <a:lnTo>
                    <a:pt x="52" y="48"/>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76" name="Freeform 304">
              <a:extLst>
                <a:ext uri="{FF2B5EF4-FFF2-40B4-BE49-F238E27FC236}">
                  <a16:creationId xmlns:a16="http://schemas.microsoft.com/office/drawing/2014/main" id="{EB404C5C-6076-4742-8D40-4BCBAB301DB2}"/>
                </a:ext>
              </a:extLst>
            </p:cNvPr>
            <p:cNvSpPr>
              <a:spLocks/>
            </p:cNvSpPr>
            <p:nvPr>
              <p:custDataLst>
                <p:tags r:id="rId303"/>
              </p:custDataLst>
            </p:nvPr>
          </p:nvSpPr>
          <p:spPr bwMode="auto">
            <a:xfrm>
              <a:off x="6981675" y="4315562"/>
              <a:ext cx="63333" cy="70370"/>
            </a:xfrm>
            <a:custGeom>
              <a:avLst/>
              <a:gdLst>
                <a:gd name="T0" fmla="*/ 0 w 71"/>
                <a:gd name="T1" fmla="*/ 2352 h 81"/>
                <a:gd name="T2" fmla="*/ 0 w 71"/>
                <a:gd name="T3" fmla="*/ 2352 h 81"/>
                <a:gd name="T4" fmla="*/ 4025 w 71"/>
                <a:gd name="T5" fmla="*/ 0 h 81"/>
                <a:gd name="T6" fmla="*/ 7244 w 71"/>
                <a:gd name="T7" fmla="*/ 0 h 81"/>
                <a:gd name="T8" fmla="*/ 14489 w 71"/>
                <a:gd name="T9" fmla="*/ 6272 h 81"/>
                <a:gd name="T10" fmla="*/ 14489 w 71"/>
                <a:gd name="T11" fmla="*/ 9407 h 81"/>
                <a:gd name="T12" fmla="*/ 7244 w 71"/>
                <a:gd name="T13" fmla="*/ 15679 h 81"/>
                <a:gd name="T14" fmla="*/ 4025 w 71"/>
                <a:gd name="T15" fmla="*/ 11759 h 81"/>
                <a:gd name="T16" fmla="*/ 0 w 71"/>
                <a:gd name="T17" fmla="*/ 11759 h 81"/>
                <a:gd name="T18" fmla="*/ 0 w 71"/>
                <a:gd name="T19" fmla="*/ 2352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1"/>
                <a:gd name="T31" fmla="*/ 0 h 81"/>
                <a:gd name="T32" fmla="*/ 71 w 71"/>
                <a:gd name="T33" fmla="*/ 81 h 8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1" h="81">
                  <a:moveTo>
                    <a:pt x="0" y="15"/>
                  </a:moveTo>
                  <a:lnTo>
                    <a:pt x="0" y="15"/>
                  </a:lnTo>
                  <a:lnTo>
                    <a:pt x="19" y="0"/>
                  </a:lnTo>
                  <a:lnTo>
                    <a:pt x="36" y="0"/>
                  </a:lnTo>
                  <a:lnTo>
                    <a:pt x="71" y="33"/>
                  </a:lnTo>
                  <a:lnTo>
                    <a:pt x="71" y="48"/>
                  </a:lnTo>
                  <a:lnTo>
                    <a:pt x="36" y="81"/>
                  </a:lnTo>
                  <a:lnTo>
                    <a:pt x="19" y="63"/>
                  </a:lnTo>
                  <a:lnTo>
                    <a:pt x="0" y="63"/>
                  </a:lnTo>
                  <a:lnTo>
                    <a:pt x="0"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77" name="Freeform 305">
              <a:extLst>
                <a:ext uri="{FF2B5EF4-FFF2-40B4-BE49-F238E27FC236}">
                  <a16:creationId xmlns:a16="http://schemas.microsoft.com/office/drawing/2014/main" id="{1A1A67B6-EC69-406B-99F7-AEFECBB7FD33}"/>
                </a:ext>
              </a:extLst>
            </p:cNvPr>
            <p:cNvSpPr>
              <a:spLocks/>
            </p:cNvSpPr>
            <p:nvPr>
              <p:custDataLst>
                <p:tags r:id="rId304"/>
              </p:custDataLst>
            </p:nvPr>
          </p:nvSpPr>
          <p:spPr bwMode="auto">
            <a:xfrm>
              <a:off x="7011582" y="4343710"/>
              <a:ext cx="109074" cy="98518"/>
            </a:xfrm>
            <a:custGeom>
              <a:avLst/>
              <a:gdLst>
                <a:gd name="T0" fmla="*/ 25816 w 122"/>
                <a:gd name="T1" fmla="*/ 22425 h 111"/>
                <a:gd name="T2" fmla="*/ 25816 w 122"/>
                <a:gd name="T3" fmla="*/ 22425 h 111"/>
                <a:gd name="T4" fmla="*/ 25816 w 122"/>
                <a:gd name="T5" fmla="*/ 16018 h 111"/>
                <a:gd name="T6" fmla="*/ 17749 w 122"/>
                <a:gd name="T7" fmla="*/ 12814 h 111"/>
                <a:gd name="T8" fmla="*/ 17749 w 122"/>
                <a:gd name="T9" fmla="*/ 6407 h 111"/>
                <a:gd name="T10" fmla="*/ 14522 w 122"/>
                <a:gd name="T11" fmla="*/ 6407 h 111"/>
                <a:gd name="T12" fmla="*/ 10488 w 122"/>
                <a:gd name="T13" fmla="*/ 0 h 111"/>
                <a:gd name="T14" fmla="*/ 7261 w 122"/>
                <a:gd name="T15" fmla="*/ 3204 h 111"/>
                <a:gd name="T16" fmla="*/ 0 w 122"/>
                <a:gd name="T17" fmla="*/ 9611 h 111"/>
                <a:gd name="T18" fmla="*/ 17749 w 122"/>
                <a:gd name="T19" fmla="*/ 22425 h 111"/>
                <a:gd name="T20" fmla="*/ 25816 w 122"/>
                <a:gd name="T21" fmla="*/ 22425 h 1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2"/>
                <a:gd name="T34" fmla="*/ 0 h 111"/>
                <a:gd name="T35" fmla="*/ 122 w 122"/>
                <a:gd name="T36" fmla="*/ 111 h 1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2" h="111">
                  <a:moveTo>
                    <a:pt x="122" y="111"/>
                  </a:moveTo>
                  <a:lnTo>
                    <a:pt x="122" y="111"/>
                  </a:lnTo>
                  <a:lnTo>
                    <a:pt x="122" y="78"/>
                  </a:lnTo>
                  <a:lnTo>
                    <a:pt x="86" y="63"/>
                  </a:lnTo>
                  <a:lnTo>
                    <a:pt x="86" y="30"/>
                  </a:lnTo>
                  <a:lnTo>
                    <a:pt x="69" y="30"/>
                  </a:lnTo>
                  <a:lnTo>
                    <a:pt x="51" y="0"/>
                  </a:lnTo>
                  <a:lnTo>
                    <a:pt x="34" y="15"/>
                  </a:lnTo>
                  <a:lnTo>
                    <a:pt x="0" y="48"/>
                  </a:lnTo>
                  <a:lnTo>
                    <a:pt x="86" y="111"/>
                  </a:lnTo>
                  <a:lnTo>
                    <a:pt x="122" y="111"/>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78" name="Freeform 306">
              <a:extLst>
                <a:ext uri="{FF2B5EF4-FFF2-40B4-BE49-F238E27FC236}">
                  <a16:creationId xmlns:a16="http://schemas.microsoft.com/office/drawing/2014/main" id="{69EE6A75-16C4-41DF-A1A7-85156588731B}"/>
                </a:ext>
              </a:extLst>
            </p:cNvPr>
            <p:cNvSpPr>
              <a:spLocks/>
            </p:cNvSpPr>
            <p:nvPr>
              <p:custDataLst>
                <p:tags r:id="rId305"/>
              </p:custDataLst>
            </p:nvPr>
          </p:nvSpPr>
          <p:spPr bwMode="auto">
            <a:xfrm>
              <a:off x="7088989" y="4301488"/>
              <a:ext cx="153056" cy="140740"/>
            </a:xfrm>
            <a:custGeom>
              <a:avLst/>
              <a:gdLst>
                <a:gd name="T0" fmla="*/ 31135 w 173"/>
                <a:gd name="T1" fmla="*/ 28755 h 159"/>
                <a:gd name="T2" fmla="*/ 31135 w 173"/>
                <a:gd name="T3" fmla="*/ 28755 h 159"/>
                <a:gd name="T4" fmla="*/ 31135 w 173"/>
                <a:gd name="T5" fmla="*/ 19170 h 159"/>
                <a:gd name="T6" fmla="*/ 35127 w 173"/>
                <a:gd name="T7" fmla="*/ 12780 h 159"/>
                <a:gd name="T8" fmla="*/ 31135 w 173"/>
                <a:gd name="T9" fmla="*/ 6390 h 159"/>
                <a:gd name="T10" fmla="*/ 27942 w 173"/>
                <a:gd name="T11" fmla="*/ 3195 h 159"/>
                <a:gd name="T12" fmla="*/ 20757 w 173"/>
                <a:gd name="T13" fmla="*/ 3195 h 159"/>
                <a:gd name="T14" fmla="*/ 17564 w 173"/>
                <a:gd name="T15" fmla="*/ 0 h 159"/>
                <a:gd name="T16" fmla="*/ 14370 w 173"/>
                <a:gd name="T17" fmla="*/ 3195 h 159"/>
                <a:gd name="T18" fmla="*/ 10378 w 173"/>
                <a:gd name="T19" fmla="*/ 0 h 159"/>
                <a:gd name="T20" fmla="*/ 7185 w 173"/>
                <a:gd name="T21" fmla="*/ 3195 h 159"/>
                <a:gd name="T22" fmla="*/ 3992 w 173"/>
                <a:gd name="T23" fmla="*/ 3195 h 159"/>
                <a:gd name="T24" fmla="*/ 3992 w 173"/>
                <a:gd name="T25" fmla="*/ 6390 h 159"/>
                <a:gd name="T26" fmla="*/ 3992 w 173"/>
                <a:gd name="T27" fmla="*/ 9585 h 159"/>
                <a:gd name="T28" fmla="*/ 3992 w 173"/>
                <a:gd name="T29" fmla="*/ 12780 h 159"/>
                <a:gd name="T30" fmla="*/ 3992 w 173"/>
                <a:gd name="T31" fmla="*/ 15975 h 159"/>
                <a:gd name="T32" fmla="*/ 0 w 173"/>
                <a:gd name="T33" fmla="*/ 15975 h 159"/>
                <a:gd name="T34" fmla="*/ 0 w 173"/>
                <a:gd name="T35" fmla="*/ 22365 h 159"/>
                <a:gd name="T36" fmla="*/ 7185 w 173"/>
                <a:gd name="T37" fmla="*/ 25560 h 159"/>
                <a:gd name="T38" fmla="*/ 7185 w 173"/>
                <a:gd name="T39" fmla="*/ 31950 h 159"/>
                <a:gd name="T40" fmla="*/ 14370 w 173"/>
                <a:gd name="T41" fmla="*/ 28755 h 159"/>
                <a:gd name="T42" fmla="*/ 24749 w 173"/>
                <a:gd name="T43" fmla="*/ 28755 h 159"/>
                <a:gd name="T44" fmla="*/ 31135 w 173"/>
                <a:gd name="T45" fmla="*/ 28755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3"/>
                <a:gd name="T70" fmla="*/ 0 h 159"/>
                <a:gd name="T71" fmla="*/ 173 w 173"/>
                <a:gd name="T72" fmla="*/ 159 h 15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3" h="159">
                  <a:moveTo>
                    <a:pt x="155" y="144"/>
                  </a:moveTo>
                  <a:lnTo>
                    <a:pt x="155" y="144"/>
                  </a:lnTo>
                  <a:lnTo>
                    <a:pt x="155" y="96"/>
                  </a:lnTo>
                  <a:lnTo>
                    <a:pt x="173" y="63"/>
                  </a:lnTo>
                  <a:lnTo>
                    <a:pt x="155" y="30"/>
                  </a:lnTo>
                  <a:lnTo>
                    <a:pt x="138" y="15"/>
                  </a:lnTo>
                  <a:lnTo>
                    <a:pt x="104" y="15"/>
                  </a:lnTo>
                  <a:lnTo>
                    <a:pt x="86" y="0"/>
                  </a:lnTo>
                  <a:lnTo>
                    <a:pt x="69" y="15"/>
                  </a:lnTo>
                  <a:lnTo>
                    <a:pt x="52" y="0"/>
                  </a:lnTo>
                  <a:lnTo>
                    <a:pt x="34" y="15"/>
                  </a:lnTo>
                  <a:lnTo>
                    <a:pt x="17" y="15"/>
                  </a:lnTo>
                  <a:lnTo>
                    <a:pt x="17" y="30"/>
                  </a:lnTo>
                  <a:lnTo>
                    <a:pt x="17" y="48"/>
                  </a:lnTo>
                  <a:lnTo>
                    <a:pt x="17" y="63"/>
                  </a:lnTo>
                  <a:lnTo>
                    <a:pt x="17" y="78"/>
                  </a:lnTo>
                  <a:lnTo>
                    <a:pt x="0" y="78"/>
                  </a:lnTo>
                  <a:lnTo>
                    <a:pt x="0" y="111"/>
                  </a:lnTo>
                  <a:lnTo>
                    <a:pt x="34" y="126"/>
                  </a:lnTo>
                  <a:lnTo>
                    <a:pt x="34" y="159"/>
                  </a:lnTo>
                  <a:lnTo>
                    <a:pt x="69" y="144"/>
                  </a:lnTo>
                  <a:lnTo>
                    <a:pt x="121" y="144"/>
                  </a:lnTo>
                  <a:lnTo>
                    <a:pt x="155" y="14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79" name="Freeform 307">
              <a:extLst>
                <a:ext uri="{FF2B5EF4-FFF2-40B4-BE49-F238E27FC236}">
                  <a16:creationId xmlns:a16="http://schemas.microsoft.com/office/drawing/2014/main" id="{69D0240B-736D-4201-8929-D155BAF112FD}"/>
                </a:ext>
              </a:extLst>
            </p:cNvPr>
            <p:cNvSpPr>
              <a:spLocks/>
            </p:cNvSpPr>
            <p:nvPr>
              <p:custDataLst>
                <p:tags r:id="rId306"/>
              </p:custDataLst>
            </p:nvPr>
          </p:nvSpPr>
          <p:spPr bwMode="auto">
            <a:xfrm>
              <a:off x="7166396" y="4202970"/>
              <a:ext cx="181204" cy="126666"/>
            </a:xfrm>
            <a:custGeom>
              <a:avLst/>
              <a:gdLst>
                <a:gd name="T0" fmla="*/ 0 w 208"/>
                <a:gd name="T1" fmla="*/ 22225 h 144"/>
                <a:gd name="T2" fmla="*/ 0 w 208"/>
                <a:gd name="T3" fmla="*/ 22225 h 144"/>
                <a:gd name="T4" fmla="*/ 3144 w 208"/>
                <a:gd name="T5" fmla="*/ 19050 h 144"/>
                <a:gd name="T6" fmla="*/ 10220 w 208"/>
                <a:gd name="T7" fmla="*/ 9525 h 144"/>
                <a:gd name="T8" fmla="*/ 16509 w 208"/>
                <a:gd name="T9" fmla="*/ 7144 h 144"/>
                <a:gd name="T10" fmla="*/ 23584 w 208"/>
                <a:gd name="T11" fmla="*/ 0 h 144"/>
                <a:gd name="T12" fmla="*/ 29873 w 208"/>
                <a:gd name="T13" fmla="*/ 0 h 144"/>
                <a:gd name="T14" fmla="*/ 29873 w 208"/>
                <a:gd name="T15" fmla="*/ 7144 h 144"/>
                <a:gd name="T16" fmla="*/ 36948 w 208"/>
                <a:gd name="T17" fmla="*/ 13494 h 144"/>
                <a:gd name="T18" fmla="*/ 40092 w 208"/>
                <a:gd name="T19" fmla="*/ 13494 h 144"/>
                <a:gd name="T20" fmla="*/ 40092 w 208"/>
                <a:gd name="T21" fmla="*/ 15875 h 144"/>
                <a:gd name="T22" fmla="*/ 33803 w 208"/>
                <a:gd name="T23" fmla="*/ 19050 h 144"/>
                <a:gd name="T24" fmla="*/ 26728 w 208"/>
                <a:gd name="T25" fmla="*/ 19050 h 144"/>
                <a:gd name="T26" fmla="*/ 13364 w 208"/>
                <a:gd name="T27" fmla="*/ 19050 h 144"/>
                <a:gd name="T28" fmla="*/ 13364 w 208"/>
                <a:gd name="T29" fmla="*/ 22225 h 144"/>
                <a:gd name="T30" fmla="*/ 13364 w 208"/>
                <a:gd name="T31" fmla="*/ 28575 h 144"/>
                <a:gd name="T32" fmla="*/ 10220 w 208"/>
                <a:gd name="T33" fmla="*/ 26194 h 144"/>
                <a:gd name="T34" fmla="*/ 3144 w 208"/>
                <a:gd name="T35" fmla="*/ 26194 h 144"/>
                <a:gd name="T36" fmla="*/ 0 w 208"/>
                <a:gd name="T37" fmla="*/ 22225 h 1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08"/>
                <a:gd name="T58" fmla="*/ 0 h 144"/>
                <a:gd name="T59" fmla="*/ 208 w 208"/>
                <a:gd name="T60" fmla="*/ 144 h 1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08" h="144">
                  <a:moveTo>
                    <a:pt x="0" y="114"/>
                  </a:moveTo>
                  <a:lnTo>
                    <a:pt x="0" y="114"/>
                  </a:lnTo>
                  <a:lnTo>
                    <a:pt x="18" y="96"/>
                  </a:lnTo>
                  <a:lnTo>
                    <a:pt x="52" y="48"/>
                  </a:lnTo>
                  <a:lnTo>
                    <a:pt x="87" y="33"/>
                  </a:lnTo>
                  <a:lnTo>
                    <a:pt x="121" y="0"/>
                  </a:lnTo>
                  <a:lnTo>
                    <a:pt x="156" y="0"/>
                  </a:lnTo>
                  <a:lnTo>
                    <a:pt x="156" y="33"/>
                  </a:lnTo>
                  <a:lnTo>
                    <a:pt x="190" y="66"/>
                  </a:lnTo>
                  <a:lnTo>
                    <a:pt x="208" y="66"/>
                  </a:lnTo>
                  <a:lnTo>
                    <a:pt x="208" y="81"/>
                  </a:lnTo>
                  <a:lnTo>
                    <a:pt x="173" y="96"/>
                  </a:lnTo>
                  <a:lnTo>
                    <a:pt x="138" y="96"/>
                  </a:lnTo>
                  <a:lnTo>
                    <a:pt x="69" y="96"/>
                  </a:lnTo>
                  <a:lnTo>
                    <a:pt x="69" y="114"/>
                  </a:lnTo>
                  <a:lnTo>
                    <a:pt x="69" y="144"/>
                  </a:lnTo>
                  <a:lnTo>
                    <a:pt x="52" y="129"/>
                  </a:lnTo>
                  <a:lnTo>
                    <a:pt x="18" y="129"/>
                  </a:lnTo>
                  <a:lnTo>
                    <a:pt x="0" y="114"/>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80" name="Freeform 308">
              <a:extLst>
                <a:ext uri="{FF2B5EF4-FFF2-40B4-BE49-F238E27FC236}">
                  <a16:creationId xmlns:a16="http://schemas.microsoft.com/office/drawing/2014/main" id="{3B09BD97-8CA6-4001-A677-33D62EB3333B}"/>
                </a:ext>
              </a:extLst>
            </p:cNvPr>
            <p:cNvSpPr>
              <a:spLocks/>
            </p:cNvSpPr>
            <p:nvPr>
              <p:custDataLst>
                <p:tags r:id="rId307"/>
              </p:custDataLst>
            </p:nvPr>
          </p:nvSpPr>
          <p:spPr bwMode="auto">
            <a:xfrm>
              <a:off x="7287785" y="4287414"/>
              <a:ext cx="45741" cy="112592"/>
            </a:xfrm>
            <a:custGeom>
              <a:avLst/>
              <a:gdLst>
                <a:gd name="T0" fmla="*/ 7144 w 52"/>
                <a:gd name="T1" fmla="*/ 0 h 129"/>
                <a:gd name="T2" fmla="*/ 7144 w 52"/>
                <a:gd name="T3" fmla="*/ 0 h 129"/>
                <a:gd name="T4" fmla="*/ 0 w 52"/>
                <a:gd name="T5" fmla="*/ 0 h 129"/>
                <a:gd name="T6" fmla="*/ 3969 w 52"/>
                <a:gd name="T7" fmla="*/ 12602 h 129"/>
                <a:gd name="T8" fmla="*/ 7144 w 52"/>
                <a:gd name="T9" fmla="*/ 22053 h 129"/>
                <a:gd name="T10" fmla="*/ 7144 w 52"/>
                <a:gd name="T11" fmla="*/ 25203 h 129"/>
                <a:gd name="T12" fmla="*/ 10319 w 52"/>
                <a:gd name="T13" fmla="*/ 25203 h 129"/>
                <a:gd name="T14" fmla="*/ 10319 w 52"/>
                <a:gd name="T15" fmla="*/ 12602 h 129"/>
                <a:gd name="T16" fmla="*/ 10319 w 52"/>
                <a:gd name="T17" fmla="*/ 6301 h 129"/>
                <a:gd name="T18" fmla="*/ 7144 w 52"/>
                <a:gd name="T19" fmla="*/ 3150 h 129"/>
                <a:gd name="T20" fmla="*/ 7144 w 52"/>
                <a:gd name="T21" fmla="*/ 0 h 1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129"/>
                <a:gd name="T35" fmla="*/ 52 w 52"/>
                <a:gd name="T36" fmla="*/ 129 h 1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129">
                  <a:moveTo>
                    <a:pt x="35" y="0"/>
                  </a:moveTo>
                  <a:lnTo>
                    <a:pt x="35" y="0"/>
                  </a:lnTo>
                  <a:lnTo>
                    <a:pt x="0" y="0"/>
                  </a:lnTo>
                  <a:lnTo>
                    <a:pt x="18" y="66"/>
                  </a:lnTo>
                  <a:lnTo>
                    <a:pt x="35" y="114"/>
                  </a:lnTo>
                  <a:lnTo>
                    <a:pt x="35" y="129"/>
                  </a:lnTo>
                  <a:lnTo>
                    <a:pt x="52" y="129"/>
                  </a:lnTo>
                  <a:lnTo>
                    <a:pt x="52" y="66"/>
                  </a:lnTo>
                  <a:lnTo>
                    <a:pt x="52" y="33"/>
                  </a:lnTo>
                  <a:lnTo>
                    <a:pt x="35" y="18"/>
                  </a:lnTo>
                  <a:lnTo>
                    <a:pt x="35" y="0"/>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81" name="Freeform 309">
              <a:extLst>
                <a:ext uri="{FF2B5EF4-FFF2-40B4-BE49-F238E27FC236}">
                  <a16:creationId xmlns:a16="http://schemas.microsoft.com/office/drawing/2014/main" id="{125A80BF-E11E-4C3A-8C0C-10C063A63982}"/>
                </a:ext>
              </a:extLst>
            </p:cNvPr>
            <p:cNvSpPr>
              <a:spLocks/>
            </p:cNvSpPr>
            <p:nvPr>
              <p:custDataLst>
                <p:tags r:id="rId308"/>
              </p:custDataLst>
            </p:nvPr>
          </p:nvSpPr>
          <p:spPr bwMode="auto">
            <a:xfrm>
              <a:off x="7303618" y="4005933"/>
              <a:ext cx="383517" cy="267406"/>
            </a:xfrm>
            <a:custGeom>
              <a:avLst/>
              <a:gdLst>
                <a:gd name="T0" fmla="*/ 73025 w 436"/>
                <a:gd name="T1" fmla="*/ 50968 h 303"/>
                <a:gd name="T2" fmla="*/ 73025 w 436"/>
                <a:gd name="T3" fmla="*/ 50968 h 303"/>
                <a:gd name="T4" fmla="*/ 73025 w 436"/>
                <a:gd name="T5" fmla="*/ 47782 h 303"/>
                <a:gd name="T6" fmla="*/ 83344 w 436"/>
                <a:gd name="T7" fmla="*/ 35040 h 303"/>
                <a:gd name="T8" fmla="*/ 86519 w 436"/>
                <a:gd name="T9" fmla="*/ 15927 h 303"/>
                <a:gd name="T10" fmla="*/ 80169 w 436"/>
                <a:gd name="T11" fmla="*/ 9556 h 303"/>
                <a:gd name="T12" fmla="*/ 80169 w 436"/>
                <a:gd name="T13" fmla="*/ 3185 h 303"/>
                <a:gd name="T14" fmla="*/ 76200 w 436"/>
                <a:gd name="T15" fmla="*/ 0 h 303"/>
                <a:gd name="T16" fmla="*/ 62706 w 436"/>
                <a:gd name="T17" fmla="*/ 0 h 303"/>
                <a:gd name="T18" fmla="*/ 27781 w 436"/>
                <a:gd name="T19" fmla="*/ 22298 h 303"/>
                <a:gd name="T20" fmla="*/ 21431 w 436"/>
                <a:gd name="T21" fmla="*/ 22298 h 303"/>
                <a:gd name="T22" fmla="*/ 21431 w 436"/>
                <a:gd name="T23" fmla="*/ 38226 h 303"/>
                <a:gd name="T24" fmla="*/ 17463 w 436"/>
                <a:gd name="T25" fmla="*/ 41411 h 303"/>
                <a:gd name="T26" fmla="*/ 0 w 436"/>
                <a:gd name="T27" fmla="*/ 44597 h 303"/>
                <a:gd name="T28" fmla="*/ 0 w 436"/>
                <a:gd name="T29" fmla="*/ 50968 h 303"/>
                <a:gd name="T30" fmla="*/ 7144 w 436"/>
                <a:gd name="T31" fmla="*/ 57339 h 303"/>
                <a:gd name="T32" fmla="*/ 10319 w 436"/>
                <a:gd name="T33" fmla="*/ 57339 h 303"/>
                <a:gd name="T34" fmla="*/ 10319 w 436"/>
                <a:gd name="T35" fmla="*/ 60524 h 303"/>
                <a:gd name="T36" fmla="*/ 10319 w 436"/>
                <a:gd name="T37" fmla="*/ 57339 h 303"/>
                <a:gd name="T38" fmla="*/ 14288 w 436"/>
                <a:gd name="T39" fmla="*/ 57339 h 303"/>
                <a:gd name="T40" fmla="*/ 17463 w 436"/>
                <a:gd name="T41" fmla="*/ 60524 h 303"/>
                <a:gd name="T42" fmla="*/ 17463 w 436"/>
                <a:gd name="T43" fmla="*/ 57339 h 303"/>
                <a:gd name="T44" fmla="*/ 23812 w 436"/>
                <a:gd name="T45" fmla="*/ 50968 h 303"/>
                <a:gd name="T46" fmla="*/ 27781 w 436"/>
                <a:gd name="T47" fmla="*/ 50968 h 303"/>
                <a:gd name="T48" fmla="*/ 38100 w 436"/>
                <a:gd name="T49" fmla="*/ 54153 h 303"/>
                <a:gd name="T50" fmla="*/ 42069 w 436"/>
                <a:gd name="T51" fmla="*/ 54153 h 303"/>
                <a:gd name="T52" fmla="*/ 48419 w 436"/>
                <a:gd name="T53" fmla="*/ 57339 h 303"/>
                <a:gd name="T54" fmla="*/ 55563 w 436"/>
                <a:gd name="T55" fmla="*/ 54153 h 303"/>
                <a:gd name="T56" fmla="*/ 65881 w 436"/>
                <a:gd name="T57" fmla="*/ 54153 h 303"/>
                <a:gd name="T58" fmla="*/ 69850 w 436"/>
                <a:gd name="T59" fmla="*/ 50968 h 303"/>
                <a:gd name="T60" fmla="*/ 73025 w 436"/>
                <a:gd name="T61" fmla="*/ 50968 h 30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36"/>
                <a:gd name="T94" fmla="*/ 0 h 303"/>
                <a:gd name="T95" fmla="*/ 436 w 436"/>
                <a:gd name="T96" fmla="*/ 303 h 303"/>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36" h="303">
                  <a:moveTo>
                    <a:pt x="366" y="255"/>
                  </a:moveTo>
                  <a:lnTo>
                    <a:pt x="366" y="255"/>
                  </a:lnTo>
                  <a:lnTo>
                    <a:pt x="366" y="240"/>
                  </a:lnTo>
                  <a:lnTo>
                    <a:pt x="418" y="175"/>
                  </a:lnTo>
                  <a:lnTo>
                    <a:pt x="436" y="79"/>
                  </a:lnTo>
                  <a:lnTo>
                    <a:pt x="401" y="48"/>
                  </a:lnTo>
                  <a:lnTo>
                    <a:pt x="401" y="15"/>
                  </a:lnTo>
                  <a:lnTo>
                    <a:pt x="384" y="0"/>
                  </a:lnTo>
                  <a:lnTo>
                    <a:pt x="313" y="0"/>
                  </a:lnTo>
                  <a:lnTo>
                    <a:pt x="140" y="111"/>
                  </a:lnTo>
                  <a:lnTo>
                    <a:pt x="105" y="111"/>
                  </a:lnTo>
                  <a:lnTo>
                    <a:pt x="105" y="192"/>
                  </a:lnTo>
                  <a:lnTo>
                    <a:pt x="86" y="207"/>
                  </a:lnTo>
                  <a:lnTo>
                    <a:pt x="0" y="222"/>
                  </a:lnTo>
                  <a:lnTo>
                    <a:pt x="0" y="255"/>
                  </a:lnTo>
                  <a:lnTo>
                    <a:pt x="34" y="288"/>
                  </a:lnTo>
                  <a:lnTo>
                    <a:pt x="52" y="288"/>
                  </a:lnTo>
                  <a:lnTo>
                    <a:pt x="52" y="303"/>
                  </a:lnTo>
                  <a:lnTo>
                    <a:pt x="52" y="288"/>
                  </a:lnTo>
                  <a:lnTo>
                    <a:pt x="69" y="288"/>
                  </a:lnTo>
                  <a:lnTo>
                    <a:pt x="86" y="303"/>
                  </a:lnTo>
                  <a:lnTo>
                    <a:pt x="86" y="288"/>
                  </a:lnTo>
                  <a:lnTo>
                    <a:pt x="123" y="255"/>
                  </a:lnTo>
                  <a:lnTo>
                    <a:pt x="140" y="255"/>
                  </a:lnTo>
                  <a:lnTo>
                    <a:pt x="192" y="270"/>
                  </a:lnTo>
                  <a:lnTo>
                    <a:pt x="209" y="270"/>
                  </a:lnTo>
                  <a:lnTo>
                    <a:pt x="244" y="288"/>
                  </a:lnTo>
                  <a:lnTo>
                    <a:pt x="278" y="270"/>
                  </a:lnTo>
                  <a:lnTo>
                    <a:pt x="332" y="270"/>
                  </a:lnTo>
                  <a:lnTo>
                    <a:pt x="349" y="255"/>
                  </a:lnTo>
                  <a:lnTo>
                    <a:pt x="366" y="25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82" name="Freeform 310">
              <a:extLst>
                <a:ext uri="{FF2B5EF4-FFF2-40B4-BE49-F238E27FC236}">
                  <a16:creationId xmlns:a16="http://schemas.microsoft.com/office/drawing/2014/main" id="{4B05D660-228E-4599-8D77-E37DC35FC88B}"/>
                </a:ext>
              </a:extLst>
            </p:cNvPr>
            <p:cNvSpPr>
              <a:spLocks/>
            </p:cNvSpPr>
            <p:nvPr>
              <p:custDataLst>
                <p:tags r:id="rId309"/>
              </p:custDataLst>
            </p:nvPr>
          </p:nvSpPr>
          <p:spPr bwMode="auto">
            <a:xfrm>
              <a:off x="6877879" y="4160748"/>
              <a:ext cx="151296" cy="98518"/>
            </a:xfrm>
            <a:custGeom>
              <a:avLst/>
              <a:gdLst>
                <a:gd name="T0" fmla="*/ 3157 w 173"/>
                <a:gd name="T1" fmla="*/ 18095 h 113"/>
                <a:gd name="T2" fmla="*/ 3157 w 173"/>
                <a:gd name="T3" fmla="*/ 18095 h 113"/>
                <a:gd name="T4" fmla="*/ 6313 w 173"/>
                <a:gd name="T5" fmla="*/ 18095 h 113"/>
                <a:gd name="T6" fmla="*/ 13416 w 173"/>
                <a:gd name="T7" fmla="*/ 15735 h 113"/>
                <a:gd name="T8" fmla="*/ 16572 w 173"/>
                <a:gd name="T9" fmla="*/ 18095 h 113"/>
                <a:gd name="T10" fmla="*/ 20518 w 173"/>
                <a:gd name="T11" fmla="*/ 15735 h 113"/>
                <a:gd name="T12" fmla="*/ 13416 w 173"/>
                <a:gd name="T13" fmla="*/ 15735 h 113"/>
                <a:gd name="T14" fmla="*/ 3157 w 173"/>
                <a:gd name="T15" fmla="*/ 15735 h 113"/>
                <a:gd name="T16" fmla="*/ 0 w 173"/>
                <a:gd name="T17" fmla="*/ 8654 h 113"/>
                <a:gd name="T18" fmla="*/ 3157 w 173"/>
                <a:gd name="T19" fmla="*/ 3147 h 113"/>
                <a:gd name="T20" fmla="*/ 6313 w 173"/>
                <a:gd name="T21" fmla="*/ 0 h 113"/>
                <a:gd name="T22" fmla="*/ 13416 w 173"/>
                <a:gd name="T23" fmla="*/ 0 h 113"/>
                <a:gd name="T24" fmla="*/ 23675 w 173"/>
                <a:gd name="T25" fmla="*/ 3147 h 113"/>
                <a:gd name="T26" fmla="*/ 26832 w 173"/>
                <a:gd name="T27" fmla="*/ 8654 h 113"/>
                <a:gd name="T28" fmla="*/ 33934 w 173"/>
                <a:gd name="T29" fmla="*/ 22028 h 113"/>
                <a:gd name="T30" fmla="*/ 20518 w 173"/>
                <a:gd name="T31" fmla="*/ 22028 h 113"/>
                <a:gd name="T32" fmla="*/ 3157 w 173"/>
                <a:gd name="T33" fmla="*/ 22028 h 113"/>
                <a:gd name="T34" fmla="*/ 3157 w 173"/>
                <a:gd name="T35" fmla="*/ 18095 h 11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3"/>
                <a:gd name="T55" fmla="*/ 0 h 113"/>
                <a:gd name="T56" fmla="*/ 173 w 173"/>
                <a:gd name="T57" fmla="*/ 113 h 11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3" h="113">
                  <a:moveTo>
                    <a:pt x="17" y="95"/>
                  </a:moveTo>
                  <a:lnTo>
                    <a:pt x="17" y="95"/>
                  </a:lnTo>
                  <a:lnTo>
                    <a:pt x="35" y="95"/>
                  </a:lnTo>
                  <a:lnTo>
                    <a:pt x="69" y="80"/>
                  </a:lnTo>
                  <a:lnTo>
                    <a:pt x="86" y="95"/>
                  </a:lnTo>
                  <a:lnTo>
                    <a:pt x="104" y="80"/>
                  </a:lnTo>
                  <a:lnTo>
                    <a:pt x="69" y="80"/>
                  </a:lnTo>
                  <a:lnTo>
                    <a:pt x="17" y="80"/>
                  </a:lnTo>
                  <a:lnTo>
                    <a:pt x="0" y="47"/>
                  </a:lnTo>
                  <a:lnTo>
                    <a:pt x="17" y="17"/>
                  </a:lnTo>
                  <a:lnTo>
                    <a:pt x="35" y="0"/>
                  </a:lnTo>
                  <a:lnTo>
                    <a:pt x="69" y="0"/>
                  </a:lnTo>
                  <a:lnTo>
                    <a:pt x="121" y="17"/>
                  </a:lnTo>
                  <a:lnTo>
                    <a:pt x="138" y="47"/>
                  </a:lnTo>
                  <a:lnTo>
                    <a:pt x="173" y="113"/>
                  </a:lnTo>
                  <a:lnTo>
                    <a:pt x="104" y="113"/>
                  </a:lnTo>
                  <a:lnTo>
                    <a:pt x="17" y="113"/>
                  </a:lnTo>
                  <a:lnTo>
                    <a:pt x="17" y="9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83" name="Freeform 311">
              <a:extLst>
                <a:ext uri="{FF2B5EF4-FFF2-40B4-BE49-F238E27FC236}">
                  <a16:creationId xmlns:a16="http://schemas.microsoft.com/office/drawing/2014/main" id="{BE812521-F7D9-4187-91E1-67FF4B781E57}"/>
                </a:ext>
              </a:extLst>
            </p:cNvPr>
            <p:cNvSpPr>
              <a:spLocks/>
            </p:cNvSpPr>
            <p:nvPr>
              <p:custDataLst>
                <p:tags r:id="rId310"/>
              </p:custDataLst>
            </p:nvPr>
          </p:nvSpPr>
          <p:spPr bwMode="auto">
            <a:xfrm>
              <a:off x="7227971" y="4287414"/>
              <a:ext cx="91481" cy="140740"/>
            </a:xfrm>
            <a:custGeom>
              <a:avLst/>
              <a:gdLst>
                <a:gd name="T0" fmla="*/ 0 w 104"/>
                <a:gd name="T1" fmla="*/ 9407 h 162"/>
                <a:gd name="T2" fmla="*/ 0 w 104"/>
                <a:gd name="T3" fmla="*/ 9407 h 162"/>
                <a:gd name="T4" fmla="*/ 0 w 104"/>
                <a:gd name="T5" fmla="*/ 3136 h 162"/>
                <a:gd name="T6" fmla="*/ 0 w 104"/>
                <a:gd name="T7" fmla="*/ 0 h 162"/>
                <a:gd name="T8" fmla="*/ 14288 w 104"/>
                <a:gd name="T9" fmla="*/ 0 h 162"/>
                <a:gd name="T10" fmla="*/ 17463 w 104"/>
                <a:gd name="T11" fmla="*/ 12543 h 162"/>
                <a:gd name="T12" fmla="*/ 20638 w 104"/>
                <a:gd name="T13" fmla="*/ 21951 h 162"/>
                <a:gd name="T14" fmla="*/ 20638 w 104"/>
                <a:gd name="T15" fmla="*/ 25086 h 162"/>
                <a:gd name="T16" fmla="*/ 3969 w 104"/>
                <a:gd name="T17" fmla="*/ 31358 h 162"/>
                <a:gd name="T18" fmla="*/ 0 w 104"/>
                <a:gd name="T19" fmla="*/ 31358 h 162"/>
                <a:gd name="T20" fmla="*/ 0 w 104"/>
                <a:gd name="T21" fmla="*/ 21951 h 162"/>
                <a:gd name="T22" fmla="*/ 3969 w 104"/>
                <a:gd name="T23" fmla="*/ 15679 h 162"/>
                <a:gd name="T24" fmla="*/ 0 w 104"/>
                <a:gd name="T25" fmla="*/ 9407 h 1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62"/>
                <a:gd name="T41" fmla="*/ 104 w 104"/>
                <a:gd name="T42" fmla="*/ 162 h 1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62">
                  <a:moveTo>
                    <a:pt x="0" y="48"/>
                  </a:moveTo>
                  <a:lnTo>
                    <a:pt x="0" y="48"/>
                  </a:lnTo>
                  <a:lnTo>
                    <a:pt x="0" y="18"/>
                  </a:lnTo>
                  <a:lnTo>
                    <a:pt x="0" y="0"/>
                  </a:lnTo>
                  <a:lnTo>
                    <a:pt x="69" y="0"/>
                  </a:lnTo>
                  <a:lnTo>
                    <a:pt x="87" y="66"/>
                  </a:lnTo>
                  <a:lnTo>
                    <a:pt x="104" y="114"/>
                  </a:lnTo>
                  <a:lnTo>
                    <a:pt x="104" y="129"/>
                  </a:lnTo>
                  <a:lnTo>
                    <a:pt x="18" y="162"/>
                  </a:lnTo>
                  <a:lnTo>
                    <a:pt x="0" y="162"/>
                  </a:lnTo>
                  <a:lnTo>
                    <a:pt x="0" y="114"/>
                  </a:lnTo>
                  <a:lnTo>
                    <a:pt x="18" y="81"/>
                  </a:lnTo>
                  <a:lnTo>
                    <a:pt x="0" y="48"/>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84" name="Freeform 312">
              <a:extLst>
                <a:ext uri="{FF2B5EF4-FFF2-40B4-BE49-F238E27FC236}">
                  <a16:creationId xmlns:a16="http://schemas.microsoft.com/office/drawing/2014/main" id="{BD7D4735-82A3-4267-947B-4AF2EC041238}"/>
                </a:ext>
              </a:extLst>
            </p:cNvPr>
            <p:cNvSpPr>
              <a:spLocks/>
            </p:cNvSpPr>
            <p:nvPr>
              <p:custDataLst>
                <p:tags r:id="rId311"/>
              </p:custDataLst>
            </p:nvPr>
          </p:nvSpPr>
          <p:spPr bwMode="auto">
            <a:xfrm>
              <a:off x="7363433" y="4231118"/>
              <a:ext cx="277962" cy="211110"/>
            </a:xfrm>
            <a:custGeom>
              <a:avLst/>
              <a:gdLst>
                <a:gd name="T0" fmla="*/ 30859 w 317"/>
                <a:gd name="T1" fmla="*/ 45244 h 240"/>
                <a:gd name="T2" fmla="*/ 30859 w 317"/>
                <a:gd name="T3" fmla="*/ 45244 h 240"/>
                <a:gd name="T4" fmla="*/ 37980 w 317"/>
                <a:gd name="T5" fmla="*/ 35719 h 240"/>
                <a:gd name="T6" fmla="*/ 41145 w 317"/>
                <a:gd name="T7" fmla="*/ 35719 h 240"/>
                <a:gd name="T8" fmla="*/ 45101 w 317"/>
                <a:gd name="T9" fmla="*/ 38100 h 240"/>
                <a:gd name="T10" fmla="*/ 48266 w 317"/>
                <a:gd name="T11" fmla="*/ 35719 h 240"/>
                <a:gd name="T12" fmla="*/ 55387 w 317"/>
                <a:gd name="T13" fmla="*/ 26194 h 240"/>
                <a:gd name="T14" fmla="*/ 58552 w 317"/>
                <a:gd name="T15" fmla="*/ 16669 h 240"/>
                <a:gd name="T16" fmla="*/ 62508 w 317"/>
                <a:gd name="T17" fmla="*/ 9525 h 240"/>
                <a:gd name="T18" fmla="*/ 62508 w 317"/>
                <a:gd name="T19" fmla="*/ 7144 h 240"/>
                <a:gd name="T20" fmla="*/ 62508 w 317"/>
                <a:gd name="T21" fmla="*/ 3175 h 240"/>
                <a:gd name="T22" fmla="*/ 58552 w 317"/>
                <a:gd name="T23" fmla="*/ 0 h 240"/>
                <a:gd name="T24" fmla="*/ 55387 w 317"/>
                <a:gd name="T25" fmla="*/ 0 h 240"/>
                <a:gd name="T26" fmla="*/ 52222 w 317"/>
                <a:gd name="T27" fmla="*/ 3175 h 240"/>
                <a:gd name="T28" fmla="*/ 41145 w 317"/>
                <a:gd name="T29" fmla="*/ 3175 h 240"/>
                <a:gd name="T30" fmla="*/ 34815 w 317"/>
                <a:gd name="T31" fmla="*/ 7144 h 240"/>
                <a:gd name="T32" fmla="*/ 27694 w 317"/>
                <a:gd name="T33" fmla="*/ 3175 h 240"/>
                <a:gd name="T34" fmla="*/ 23737 w 317"/>
                <a:gd name="T35" fmla="*/ 3175 h 240"/>
                <a:gd name="T36" fmla="*/ 13451 w 317"/>
                <a:gd name="T37" fmla="*/ 0 h 240"/>
                <a:gd name="T38" fmla="*/ 10286 w 317"/>
                <a:gd name="T39" fmla="*/ 0 h 240"/>
                <a:gd name="T40" fmla="*/ 3165 w 317"/>
                <a:gd name="T41" fmla="*/ 7144 h 240"/>
                <a:gd name="T42" fmla="*/ 3165 w 317"/>
                <a:gd name="T43" fmla="*/ 9525 h 240"/>
                <a:gd name="T44" fmla="*/ 3165 w 317"/>
                <a:gd name="T45" fmla="*/ 16669 h 240"/>
                <a:gd name="T46" fmla="*/ 0 w 317"/>
                <a:gd name="T47" fmla="*/ 28575 h 240"/>
                <a:gd name="T48" fmla="*/ 0 w 317"/>
                <a:gd name="T49" fmla="*/ 38100 h 240"/>
                <a:gd name="T50" fmla="*/ 10286 w 317"/>
                <a:gd name="T51" fmla="*/ 38100 h 240"/>
                <a:gd name="T52" fmla="*/ 10286 w 317"/>
                <a:gd name="T53" fmla="*/ 41275 h 240"/>
                <a:gd name="T54" fmla="*/ 13451 w 317"/>
                <a:gd name="T55" fmla="*/ 47625 h 240"/>
                <a:gd name="T56" fmla="*/ 17407 w 317"/>
                <a:gd name="T57" fmla="*/ 47625 h 240"/>
                <a:gd name="T58" fmla="*/ 30859 w 317"/>
                <a:gd name="T59" fmla="*/ 47625 h 240"/>
                <a:gd name="T60" fmla="*/ 30859 w 317"/>
                <a:gd name="T61" fmla="*/ 45244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17"/>
                <a:gd name="T94" fmla="*/ 0 h 240"/>
                <a:gd name="T95" fmla="*/ 317 w 317"/>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17" h="240">
                  <a:moveTo>
                    <a:pt x="159" y="225"/>
                  </a:moveTo>
                  <a:lnTo>
                    <a:pt x="159" y="225"/>
                  </a:lnTo>
                  <a:lnTo>
                    <a:pt x="194" y="177"/>
                  </a:lnTo>
                  <a:lnTo>
                    <a:pt x="211" y="177"/>
                  </a:lnTo>
                  <a:lnTo>
                    <a:pt x="228" y="192"/>
                  </a:lnTo>
                  <a:lnTo>
                    <a:pt x="246" y="177"/>
                  </a:lnTo>
                  <a:lnTo>
                    <a:pt x="282" y="129"/>
                  </a:lnTo>
                  <a:lnTo>
                    <a:pt x="299" y="81"/>
                  </a:lnTo>
                  <a:lnTo>
                    <a:pt x="317" y="48"/>
                  </a:lnTo>
                  <a:lnTo>
                    <a:pt x="317" y="33"/>
                  </a:lnTo>
                  <a:lnTo>
                    <a:pt x="317" y="15"/>
                  </a:lnTo>
                  <a:lnTo>
                    <a:pt x="299" y="0"/>
                  </a:lnTo>
                  <a:lnTo>
                    <a:pt x="282" y="0"/>
                  </a:lnTo>
                  <a:lnTo>
                    <a:pt x="265" y="15"/>
                  </a:lnTo>
                  <a:lnTo>
                    <a:pt x="211" y="15"/>
                  </a:lnTo>
                  <a:lnTo>
                    <a:pt x="177" y="33"/>
                  </a:lnTo>
                  <a:lnTo>
                    <a:pt x="142" y="15"/>
                  </a:lnTo>
                  <a:lnTo>
                    <a:pt x="123" y="15"/>
                  </a:lnTo>
                  <a:lnTo>
                    <a:pt x="71" y="0"/>
                  </a:lnTo>
                  <a:lnTo>
                    <a:pt x="54" y="0"/>
                  </a:lnTo>
                  <a:lnTo>
                    <a:pt x="19" y="33"/>
                  </a:lnTo>
                  <a:lnTo>
                    <a:pt x="19" y="48"/>
                  </a:lnTo>
                  <a:lnTo>
                    <a:pt x="19" y="81"/>
                  </a:lnTo>
                  <a:lnTo>
                    <a:pt x="0" y="144"/>
                  </a:lnTo>
                  <a:lnTo>
                    <a:pt x="0" y="192"/>
                  </a:lnTo>
                  <a:lnTo>
                    <a:pt x="54" y="192"/>
                  </a:lnTo>
                  <a:lnTo>
                    <a:pt x="54" y="207"/>
                  </a:lnTo>
                  <a:lnTo>
                    <a:pt x="71" y="240"/>
                  </a:lnTo>
                  <a:lnTo>
                    <a:pt x="88" y="240"/>
                  </a:lnTo>
                  <a:lnTo>
                    <a:pt x="159" y="240"/>
                  </a:lnTo>
                  <a:lnTo>
                    <a:pt x="159" y="225"/>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85" name="Freeform 313">
              <a:extLst>
                <a:ext uri="{FF2B5EF4-FFF2-40B4-BE49-F238E27FC236}">
                  <a16:creationId xmlns:a16="http://schemas.microsoft.com/office/drawing/2014/main" id="{AAFF4FD4-76A2-4EC4-8FDE-3EC045F14BBB}"/>
                </a:ext>
              </a:extLst>
            </p:cNvPr>
            <p:cNvSpPr>
              <a:spLocks/>
            </p:cNvSpPr>
            <p:nvPr>
              <p:custDataLst>
                <p:tags r:id="rId312"/>
              </p:custDataLst>
            </p:nvPr>
          </p:nvSpPr>
          <p:spPr bwMode="auto">
            <a:xfrm>
              <a:off x="7319452" y="4259266"/>
              <a:ext cx="61574" cy="140740"/>
            </a:xfrm>
            <a:custGeom>
              <a:avLst/>
              <a:gdLst>
                <a:gd name="T0" fmla="*/ 7247 w 69"/>
                <a:gd name="T1" fmla="*/ 3195 h 159"/>
                <a:gd name="T2" fmla="*/ 7247 w 69"/>
                <a:gd name="T3" fmla="*/ 3195 h 159"/>
                <a:gd name="T4" fmla="*/ 0 w 69"/>
                <a:gd name="T5" fmla="*/ 6390 h 159"/>
                <a:gd name="T6" fmla="*/ 0 w 69"/>
                <a:gd name="T7" fmla="*/ 9585 h 159"/>
                <a:gd name="T8" fmla="*/ 4026 w 69"/>
                <a:gd name="T9" fmla="*/ 12780 h 159"/>
                <a:gd name="T10" fmla="*/ 4026 w 69"/>
                <a:gd name="T11" fmla="*/ 19170 h 159"/>
                <a:gd name="T12" fmla="*/ 4026 w 69"/>
                <a:gd name="T13" fmla="*/ 31950 h 159"/>
                <a:gd name="T14" fmla="*/ 10468 w 69"/>
                <a:gd name="T15" fmla="*/ 31950 h 159"/>
                <a:gd name="T16" fmla="*/ 10468 w 69"/>
                <a:gd name="T17" fmla="*/ 22365 h 159"/>
                <a:gd name="T18" fmla="*/ 14495 w 69"/>
                <a:gd name="T19" fmla="*/ 9585 h 159"/>
                <a:gd name="T20" fmla="*/ 14495 w 69"/>
                <a:gd name="T21" fmla="*/ 3195 h 159"/>
                <a:gd name="T22" fmla="*/ 10468 w 69"/>
                <a:gd name="T23" fmla="*/ 0 h 159"/>
                <a:gd name="T24" fmla="*/ 7247 w 69"/>
                <a:gd name="T25" fmla="*/ 0 h 159"/>
                <a:gd name="T26" fmla="*/ 7247 w 69"/>
                <a:gd name="T27" fmla="*/ 3195 h 1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9"/>
                <a:gd name="T43" fmla="*/ 0 h 159"/>
                <a:gd name="T44" fmla="*/ 69 w 69"/>
                <a:gd name="T45" fmla="*/ 159 h 1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9" h="159">
                  <a:moveTo>
                    <a:pt x="35" y="15"/>
                  </a:moveTo>
                  <a:lnTo>
                    <a:pt x="35" y="15"/>
                  </a:lnTo>
                  <a:lnTo>
                    <a:pt x="0" y="30"/>
                  </a:lnTo>
                  <a:lnTo>
                    <a:pt x="0" y="48"/>
                  </a:lnTo>
                  <a:lnTo>
                    <a:pt x="17" y="63"/>
                  </a:lnTo>
                  <a:lnTo>
                    <a:pt x="17" y="96"/>
                  </a:lnTo>
                  <a:lnTo>
                    <a:pt x="17" y="159"/>
                  </a:lnTo>
                  <a:lnTo>
                    <a:pt x="52" y="159"/>
                  </a:lnTo>
                  <a:lnTo>
                    <a:pt x="52" y="111"/>
                  </a:lnTo>
                  <a:lnTo>
                    <a:pt x="69" y="48"/>
                  </a:lnTo>
                  <a:lnTo>
                    <a:pt x="69" y="15"/>
                  </a:lnTo>
                  <a:lnTo>
                    <a:pt x="52" y="0"/>
                  </a:lnTo>
                  <a:lnTo>
                    <a:pt x="35" y="0"/>
                  </a:lnTo>
                  <a:lnTo>
                    <a:pt x="35" y="15"/>
                  </a:lnTo>
                </a:path>
              </a:pathLst>
            </a:custGeom>
            <a:grpFill/>
            <a:ln w="0">
              <a:solidFill>
                <a:schemeClr val="tx2">
                  <a:lumMod val="20000"/>
                  <a:lumOff val="80000"/>
                  <a:alpha val="9000"/>
                </a:schemeClr>
              </a:solidFill>
              <a:prstDash val="solid"/>
              <a:round/>
              <a:headEnd/>
              <a:tailEnd/>
            </a:ln>
          </p:spPr>
          <p:txBody>
            <a:bodyPr rtlCol="0"/>
            <a:lstStyle/>
            <a:p>
              <a:pPr rtl="0"/>
              <a:endParaRPr lang="ru-RU" dirty="0"/>
            </a:p>
          </p:txBody>
        </p:sp>
        <p:sp>
          <p:nvSpPr>
            <p:cNvPr id="386" name="Freeform 314">
              <a:extLst>
                <a:ext uri="{FF2B5EF4-FFF2-40B4-BE49-F238E27FC236}">
                  <a16:creationId xmlns:a16="http://schemas.microsoft.com/office/drawing/2014/main" id="{EE0D6B48-A4DB-4CFE-827E-F3D62A0D732F}"/>
                </a:ext>
              </a:extLst>
            </p:cNvPr>
            <p:cNvSpPr>
              <a:spLocks/>
            </p:cNvSpPr>
            <p:nvPr>
              <p:custDataLst>
                <p:tags r:id="rId313"/>
              </p:custDataLst>
            </p:nvPr>
          </p:nvSpPr>
          <p:spPr bwMode="auto">
            <a:xfrm>
              <a:off x="6937694" y="4259266"/>
              <a:ext cx="167130" cy="112592"/>
            </a:xfrm>
            <a:custGeom>
              <a:avLst/>
              <a:gdLst>
                <a:gd name="T0" fmla="*/ 34925 w 190"/>
                <a:gd name="T1" fmla="*/ 26610 h 126"/>
                <a:gd name="T2" fmla="*/ 34925 w 190"/>
                <a:gd name="T3" fmla="*/ 26610 h 126"/>
                <a:gd name="T4" fmla="*/ 38100 w 190"/>
                <a:gd name="T5" fmla="*/ 26610 h 126"/>
                <a:gd name="T6" fmla="*/ 38100 w 190"/>
                <a:gd name="T7" fmla="*/ 22578 h 126"/>
                <a:gd name="T8" fmla="*/ 38100 w 190"/>
                <a:gd name="T9" fmla="*/ 20159 h 126"/>
                <a:gd name="T10" fmla="*/ 38100 w 190"/>
                <a:gd name="T11" fmla="*/ 16127 h 126"/>
                <a:gd name="T12" fmla="*/ 38100 w 190"/>
                <a:gd name="T13" fmla="*/ 12902 h 126"/>
                <a:gd name="T14" fmla="*/ 30956 w 190"/>
                <a:gd name="T15" fmla="*/ 0 h 126"/>
                <a:gd name="T16" fmla="*/ 23813 w 190"/>
                <a:gd name="T17" fmla="*/ 3225 h 126"/>
                <a:gd name="T18" fmla="*/ 17463 w 190"/>
                <a:gd name="T19" fmla="*/ 3225 h 126"/>
                <a:gd name="T20" fmla="*/ 20638 w 190"/>
                <a:gd name="T21" fmla="*/ 0 h 126"/>
                <a:gd name="T22" fmla="*/ 7144 w 190"/>
                <a:gd name="T23" fmla="*/ 0 h 126"/>
                <a:gd name="T24" fmla="*/ 7144 w 190"/>
                <a:gd name="T25" fmla="*/ 3225 h 126"/>
                <a:gd name="T26" fmla="*/ 0 w 190"/>
                <a:gd name="T27" fmla="*/ 9676 h 126"/>
                <a:gd name="T28" fmla="*/ 10319 w 190"/>
                <a:gd name="T29" fmla="*/ 16127 h 126"/>
                <a:gd name="T30" fmla="*/ 14288 w 190"/>
                <a:gd name="T31" fmla="*/ 12902 h 126"/>
                <a:gd name="T32" fmla="*/ 17463 w 190"/>
                <a:gd name="T33" fmla="*/ 12902 h 126"/>
                <a:gd name="T34" fmla="*/ 23813 w 190"/>
                <a:gd name="T35" fmla="*/ 20159 h 126"/>
                <a:gd name="T36" fmla="*/ 23813 w 190"/>
                <a:gd name="T37" fmla="*/ 22578 h 126"/>
                <a:gd name="T38" fmla="*/ 27781 w 190"/>
                <a:gd name="T39" fmla="*/ 20159 h 126"/>
                <a:gd name="T40" fmla="*/ 30956 w 190"/>
                <a:gd name="T41" fmla="*/ 26610 h 126"/>
                <a:gd name="T42" fmla="*/ 34925 w 190"/>
                <a:gd name="T43" fmla="*/ 26610 h 12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90"/>
                <a:gd name="T67" fmla="*/ 0 h 126"/>
                <a:gd name="T68" fmla="*/ 190 w 190"/>
                <a:gd name="T69" fmla="*/ 126 h 12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90" h="126">
                  <a:moveTo>
                    <a:pt x="173" y="126"/>
                  </a:moveTo>
                  <a:lnTo>
                    <a:pt x="173" y="126"/>
                  </a:lnTo>
                  <a:lnTo>
                    <a:pt x="190" y="126"/>
                  </a:lnTo>
                  <a:lnTo>
                    <a:pt x="190" y="111"/>
                  </a:lnTo>
                  <a:lnTo>
                    <a:pt x="190" y="96"/>
                  </a:lnTo>
                  <a:lnTo>
                    <a:pt x="190" y="78"/>
                  </a:lnTo>
                  <a:lnTo>
                    <a:pt x="190" y="63"/>
                  </a:lnTo>
                  <a:lnTo>
                    <a:pt x="156" y="0"/>
                  </a:lnTo>
                  <a:lnTo>
                    <a:pt x="121" y="15"/>
                  </a:lnTo>
                  <a:lnTo>
                    <a:pt x="87" y="15"/>
                  </a:lnTo>
                  <a:lnTo>
                    <a:pt x="104" y="0"/>
                  </a:lnTo>
                  <a:lnTo>
                    <a:pt x="35" y="0"/>
                  </a:lnTo>
                  <a:lnTo>
                    <a:pt x="35" y="15"/>
                  </a:lnTo>
                  <a:lnTo>
                    <a:pt x="0" y="48"/>
                  </a:lnTo>
                  <a:lnTo>
                    <a:pt x="52" y="78"/>
                  </a:lnTo>
                  <a:lnTo>
                    <a:pt x="69" y="63"/>
                  </a:lnTo>
                  <a:lnTo>
                    <a:pt x="87" y="63"/>
                  </a:lnTo>
                  <a:lnTo>
                    <a:pt x="121" y="96"/>
                  </a:lnTo>
                  <a:lnTo>
                    <a:pt x="121" y="111"/>
                  </a:lnTo>
                  <a:lnTo>
                    <a:pt x="138" y="96"/>
                  </a:lnTo>
                  <a:lnTo>
                    <a:pt x="156" y="126"/>
                  </a:lnTo>
                  <a:lnTo>
                    <a:pt x="173" y="126"/>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87" name="Freeform 315">
              <a:extLst>
                <a:ext uri="{FF2B5EF4-FFF2-40B4-BE49-F238E27FC236}">
                  <a16:creationId xmlns:a16="http://schemas.microsoft.com/office/drawing/2014/main" id="{FCC08F02-A028-49FB-B58D-86C5EE6815CA}"/>
                </a:ext>
              </a:extLst>
            </p:cNvPr>
            <p:cNvSpPr>
              <a:spLocks/>
            </p:cNvSpPr>
            <p:nvPr>
              <p:custDataLst>
                <p:tags r:id="rId314"/>
              </p:custDataLst>
            </p:nvPr>
          </p:nvSpPr>
          <p:spPr bwMode="auto">
            <a:xfrm>
              <a:off x="8937963" y="3641764"/>
              <a:ext cx="698424" cy="716018"/>
            </a:xfrm>
            <a:custGeom>
              <a:avLst/>
              <a:gdLst>
                <a:gd name="connsiteX0" fmla="*/ 9144 w 10000"/>
                <a:gd name="connsiteY0" fmla="*/ 3307 h 10599"/>
                <a:gd name="connsiteX1" fmla="*/ 9144 w 10000"/>
                <a:gd name="connsiteY1" fmla="*/ 3307 h 10599"/>
                <a:gd name="connsiteX2" fmla="*/ 9572 w 10000"/>
                <a:gd name="connsiteY2" fmla="*/ 3307 h 10599"/>
                <a:gd name="connsiteX3" fmla="*/ 10000 w 10000"/>
                <a:gd name="connsiteY3" fmla="*/ 3724 h 10599"/>
                <a:gd name="connsiteX4" fmla="*/ 10000 w 10000"/>
                <a:gd name="connsiteY4" fmla="*/ 4167 h 10599"/>
                <a:gd name="connsiteX5" fmla="*/ 9572 w 10000"/>
                <a:gd name="connsiteY5" fmla="*/ 4167 h 10599"/>
                <a:gd name="connsiteX6" fmla="*/ 9345 w 10000"/>
                <a:gd name="connsiteY6" fmla="*/ 4349 h 10599"/>
                <a:gd name="connsiteX7" fmla="*/ 8917 w 10000"/>
                <a:gd name="connsiteY7" fmla="*/ 5182 h 10599"/>
                <a:gd name="connsiteX8" fmla="*/ 8690 w 10000"/>
                <a:gd name="connsiteY8" fmla="*/ 5417 h 10599"/>
                <a:gd name="connsiteX9" fmla="*/ 8489 w 10000"/>
                <a:gd name="connsiteY9" fmla="*/ 5807 h 10599"/>
                <a:gd name="connsiteX10" fmla="*/ 8489 w 10000"/>
                <a:gd name="connsiteY10" fmla="*/ 6042 h 10599"/>
                <a:gd name="connsiteX11" fmla="*/ 8262 w 10000"/>
                <a:gd name="connsiteY11" fmla="*/ 5417 h 10599"/>
                <a:gd name="connsiteX12" fmla="*/ 8262 w 10000"/>
                <a:gd name="connsiteY12" fmla="*/ 5182 h 10599"/>
                <a:gd name="connsiteX13" fmla="*/ 8035 w 10000"/>
                <a:gd name="connsiteY13" fmla="*/ 5417 h 10599"/>
                <a:gd name="connsiteX14" fmla="*/ 7834 w 10000"/>
                <a:gd name="connsiteY14" fmla="*/ 5417 h 10599"/>
                <a:gd name="connsiteX15" fmla="*/ 7834 w 10000"/>
                <a:gd name="connsiteY15" fmla="*/ 5182 h 10599"/>
                <a:gd name="connsiteX16" fmla="*/ 8262 w 10000"/>
                <a:gd name="connsiteY16" fmla="*/ 4792 h 10599"/>
                <a:gd name="connsiteX17" fmla="*/ 7406 w 10000"/>
                <a:gd name="connsiteY17" fmla="*/ 4792 h 10599"/>
                <a:gd name="connsiteX18" fmla="*/ 7406 w 10000"/>
                <a:gd name="connsiteY18" fmla="*/ 4349 h 10599"/>
                <a:gd name="connsiteX19" fmla="*/ 7179 w 10000"/>
                <a:gd name="connsiteY19" fmla="*/ 4349 h 10599"/>
                <a:gd name="connsiteX20" fmla="*/ 6952 w 10000"/>
                <a:gd name="connsiteY20" fmla="*/ 4349 h 10599"/>
                <a:gd name="connsiteX21" fmla="*/ 6952 w 10000"/>
                <a:gd name="connsiteY21" fmla="*/ 4557 h 10599"/>
                <a:gd name="connsiteX22" fmla="*/ 6751 w 10000"/>
                <a:gd name="connsiteY22" fmla="*/ 4974 h 10599"/>
                <a:gd name="connsiteX23" fmla="*/ 6952 w 10000"/>
                <a:gd name="connsiteY23" fmla="*/ 4974 h 10599"/>
                <a:gd name="connsiteX24" fmla="*/ 7179 w 10000"/>
                <a:gd name="connsiteY24" fmla="*/ 6042 h 10599"/>
                <a:gd name="connsiteX25" fmla="*/ 6952 w 10000"/>
                <a:gd name="connsiteY25" fmla="*/ 6042 h 10599"/>
                <a:gd name="connsiteX26" fmla="*/ 6952 w 10000"/>
                <a:gd name="connsiteY26" fmla="*/ 5807 h 10599"/>
                <a:gd name="connsiteX27" fmla="*/ 6524 w 10000"/>
                <a:gd name="connsiteY27" fmla="*/ 6042 h 10599"/>
                <a:gd name="connsiteX28" fmla="*/ 6297 w 10000"/>
                <a:gd name="connsiteY28" fmla="*/ 6667 h 10599"/>
                <a:gd name="connsiteX29" fmla="*/ 5869 w 10000"/>
                <a:gd name="connsiteY29" fmla="*/ 6849 h 10599"/>
                <a:gd name="connsiteX30" fmla="*/ 4786 w 10000"/>
                <a:gd name="connsiteY30" fmla="*/ 7682 h 10599"/>
                <a:gd name="connsiteX31" fmla="*/ 4786 w 10000"/>
                <a:gd name="connsiteY31" fmla="*/ 7917 h 10599"/>
                <a:gd name="connsiteX32" fmla="*/ 4559 w 10000"/>
                <a:gd name="connsiteY32" fmla="*/ 7917 h 10599"/>
                <a:gd name="connsiteX33" fmla="*/ 4358 w 10000"/>
                <a:gd name="connsiteY33" fmla="*/ 8099 h 10599"/>
                <a:gd name="connsiteX34" fmla="*/ 4131 w 10000"/>
                <a:gd name="connsiteY34" fmla="*/ 8099 h 10599"/>
                <a:gd name="connsiteX35" fmla="*/ 4131 w 10000"/>
                <a:gd name="connsiteY35" fmla="*/ 8307 h 10599"/>
                <a:gd name="connsiteX36" fmla="*/ 4131 w 10000"/>
                <a:gd name="connsiteY36" fmla="*/ 8932 h 10599"/>
                <a:gd name="connsiteX37" fmla="*/ 3904 w 10000"/>
                <a:gd name="connsiteY37" fmla="*/ 9349 h 10599"/>
                <a:gd name="connsiteX38" fmla="*/ 3904 w 10000"/>
                <a:gd name="connsiteY38" fmla="*/ 9974 h 10599"/>
                <a:gd name="connsiteX39" fmla="*/ 3703 w 10000"/>
                <a:gd name="connsiteY39" fmla="*/ 10182 h 10599"/>
                <a:gd name="connsiteX40" fmla="*/ 3476 w 10000"/>
                <a:gd name="connsiteY40" fmla="*/ 10417 h 10599"/>
                <a:gd name="connsiteX41" fmla="*/ 3249 w 10000"/>
                <a:gd name="connsiteY41" fmla="*/ 10599 h 10599"/>
                <a:gd name="connsiteX42" fmla="*/ 2821 w 10000"/>
                <a:gd name="connsiteY42" fmla="*/ 10417 h 10599"/>
                <a:gd name="connsiteX43" fmla="*/ 2166 w 10000"/>
                <a:gd name="connsiteY43" fmla="*/ 8542 h 10599"/>
                <a:gd name="connsiteX44" fmla="*/ 1738 w 10000"/>
                <a:gd name="connsiteY44" fmla="*/ 7917 h 10599"/>
                <a:gd name="connsiteX45" fmla="*/ 1511 w 10000"/>
                <a:gd name="connsiteY45" fmla="*/ 6667 h 10599"/>
                <a:gd name="connsiteX46" fmla="*/ 1511 w 10000"/>
                <a:gd name="connsiteY46" fmla="*/ 5807 h 10599"/>
                <a:gd name="connsiteX47" fmla="*/ 1310 w 10000"/>
                <a:gd name="connsiteY47" fmla="*/ 6224 h 10599"/>
                <a:gd name="connsiteX48" fmla="*/ 856 w 10000"/>
                <a:gd name="connsiteY48" fmla="*/ 6432 h 10599"/>
                <a:gd name="connsiteX49" fmla="*/ 202 w 10000"/>
                <a:gd name="connsiteY49" fmla="*/ 5807 h 10599"/>
                <a:gd name="connsiteX50" fmla="*/ 655 w 10000"/>
                <a:gd name="connsiteY50" fmla="*/ 5807 h 10599"/>
                <a:gd name="connsiteX51" fmla="*/ 655 w 10000"/>
                <a:gd name="connsiteY51" fmla="*/ 5599 h 10599"/>
                <a:gd name="connsiteX52" fmla="*/ 428 w 10000"/>
                <a:gd name="connsiteY52" fmla="*/ 5599 h 10599"/>
                <a:gd name="connsiteX53" fmla="*/ 0 w 10000"/>
                <a:gd name="connsiteY53" fmla="*/ 5417 h 10599"/>
                <a:gd name="connsiteX54" fmla="*/ 202 w 10000"/>
                <a:gd name="connsiteY54" fmla="*/ 5182 h 10599"/>
                <a:gd name="connsiteX55" fmla="*/ 856 w 10000"/>
                <a:gd name="connsiteY55" fmla="*/ 5182 h 10599"/>
                <a:gd name="connsiteX56" fmla="*/ 856 w 10000"/>
                <a:gd name="connsiteY56" fmla="*/ 4974 h 10599"/>
                <a:gd name="connsiteX57" fmla="*/ 856 w 10000"/>
                <a:gd name="connsiteY57" fmla="*/ 4557 h 10599"/>
                <a:gd name="connsiteX58" fmla="*/ 655 w 10000"/>
                <a:gd name="connsiteY58" fmla="*/ 4557 h 10599"/>
                <a:gd name="connsiteX59" fmla="*/ 655 w 10000"/>
                <a:gd name="connsiteY59" fmla="*/ 4349 h 10599"/>
                <a:gd name="connsiteX60" fmla="*/ 428 w 10000"/>
                <a:gd name="connsiteY60" fmla="*/ 4349 h 10599"/>
                <a:gd name="connsiteX61" fmla="*/ 428 w 10000"/>
                <a:gd name="connsiteY61" fmla="*/ 3932 h 10599"/>
                <a:gd name="connsiteX62" fmla="*/ 655 w 10000"/>
                <a:gd name="connsiteY62" fmla="*/ 3724 h 10599"/>
                <a:gd name="connsiteX63" fmla="*/ 856 w 10000"/>
                <a:gd name="connsiteY63" fmla="*/ 3932 h 10599"/>
                <a:gd name="connsiteX64" fmla="*/ 1310 w 10000"/>
                <a:gd name="connsiteY64" fmla="*/ 3724 h 10599"/>
                <a:gd name="connsiteX65" fmla="*/ 2393 w 10000"/>
                <a:gd name="connsiteY65" fmla="*/ 2474 h 10599"/>
                <a:gd name="connsiteX66" fmla="*/ 2166 w 10000"/>
                <a:gd name="connsiteY66" fmla="*/ 2292 h 10599"/>
                <a:gd name="connsiteX67" fmla="*/ 2393 w 10000"/>
                <a:gd name="connsiteY67" fmla="*/ 2292 h 10599"/>
                <a:gd name="connsiteX68" fmla="*/ 2393 w 10000"/>
                <a:gd name="connsiteY68" fmla="*/ 2057 h 10599"/>
                <a:gd name="connsiteX69" fmla="*/ 1965 w 10000"/>
                <a:gd name="connsiteY69" fmla="*/ 1849 h 10599"/>
                <a:gd name="connsiteX70" fmla="*/ 2166 w 10000"/>
                <a:gd name="connsiteY70" fmla="*/ 1432 h 10599"/>
                <a:gd name="connsiteX71" fmla="*/ 1965 w 10000"/>
                <a:gd name="connsiteY71" fmla="*/ 1224 h 10599"/>
                <a:gd name="connsiteX72" fmla="*/ 1940 w 10000"/>
                <a:gd name="connsiteY72" fmla="*/ 417 h 10599"/>
                <a:gd name="connsiteX73" fmla="*/ 2596 w 10000"/>
                <a:gd name="connsiteY73" fmla="*/ 0 h 10599"/>
                <a:gd name="connsiteX74" fmla="*/ 3249 w 10000"/>
                <a:gd name="connsiteY74" fmla="*/ 807 h 10599"/>
                <a:gd name="connsiteX75" fmla="*/ 3904 w 10000"/>
                <a:gd name="connsiteY75" fmla="*/ 599 h 10599"/>
                <a:gd name="connsiteX76" fmla="*/ 4131 w 10000"/>
                <a:gd name="connsiteY76" fmla="*/ 807 h 10599"/>
                <a:gd name="connsiteX77" fmla="*/ 4131 w 10000"/>
                <a:gd name="connsiteY77" fmla="*/ 1224 h 10599"/>
                <a:gd name="connsiteX78" fmla="*/ 3703 w 10000"/>
                <a:gd name="connsiteY78" fmla="*/ 1667 h 10599"/>
                <a:gd name="connsiteX79" fmla="*/ 3904 w 10000"/>
                <a:gd name="connsiteY79" fmla="*/ 2057 h 10599"/>
                <a:gd name="connsiteX80" fmla="*/ 3476 w 10000"/>
                <a:gd name="connsiteY80" fmla="*/ 2057 h 10599"/>
                <a:gd name="connsiteX81" fmla="*/ 3703 w 10000"/>
                <a:gd name="connsiteY81" fmla="*/ 2682 h 10599"/>
                <a:gd name="connsiteX82" fmla="*/ 4358 w 10000"/>
                <a:gd name="connsiteY82" fmla="*/ 2917 h 10599"/>
                <a:gd name="connsiteX83" fmla="*/ 4131 w 10000"/>
                <a:gd name="connsiteY83" fmla="*/ 3542 h 10599"/>
                <a:gd name="connsiteX84" fmla="*/ 4559 w 10000"/>
                <a:gd name="connsiteY84" fmla="*/ 3724 h 10599"/>
                <a:gd name="connsiteX85" fmla="*/ 6524 w 10000"/>
                <a:gd name="connsiteY85" fmla="*/ 4349 h 10599"/>
                <a:gd name="connsiteX86" fmla="*/ 6751 w 10000"/>
                <a:gd name="connsiteY86" fmla="*/ 4349 h 10599"/>
                <a:gd name="connsiteX87" fmla="*/ 6751 w 10000"/>
                <a:gd name="connsiteY87" fmla="*/ 4167 h 10599"/>
                <a:gd name="connsiteX88" fmla="*/ 6751 w 10000"/>
                <a:gd name="connsiteY88" fmla="*/ 3724 h 10599"/>
                <a:gd name="connsiteX89" fmla="*/ 6952 w 10000"/>
                <a:gd name="connsiteY89" fmla="*/ 3724 h 10599"/>
                <a:gd name="connsiteX90" fmla="*/ 7179 w 10000"/>
                <a:gd name="connsiteY90" fmla="*/ 3932 h 10599"/>
                <a:gd name="connsiteX91" fmla="*/ 7179 w 10000"/>
                <a:gd name="connsiteY91" fmla="*/ 4167 h 10599"/>
                <a:gd name="connsiteX92" fmla="*/ 8035 w 10000"/>
                <a:gd name="connsiteY92" fmla="*/ 4167 h 10599"/>
                <a:gd name="connsiteX93" fmla="*/ 8262 w 10000"/>
                <a:gd name="connsiteY93" fmla="*/ 4167 h 10599"/>
                <a:gd name="connsiteX94" fmla="*/ 8035 w 10000"/>
                <a:gd name="connsiteY94" fmla="*/ 3724 h 10599"/>
                <a:gd name="connsiteX95" fmla="*/ 9144 w 10000"/>
                <a:gd name="connsiteY95" fmla="*/ 3307 h 10599"/>
                <a:gd name="connsiteX0" fmla="*/ 9144 w 10000"/>
                <a:gd name="connsiteY0" fmla="*/ 3307 h 10599"/>
                <a:gd name="connsiteX1" fmla="*/ 9144 w 10000"/>
                <a:gd name="connsiteY1" fmla="*/ 3307 h 10599"/>
                <a:gd name="connsiteX2" fmla="*/ 9572 w 10000"/>
                <a:gd name="connsiteY2" fmla="*/ 3307 h 10599"/>
                <a:gd name="connsiteX3" fmla="*/ 10000 w 10000"/>
                <a:gd name="connsiteY3" fmla="*/ 3724 h 10599"/>
                <a:gd name="connsiteX4" fmla="*/ 10000 w 10000"/>
                <a:gd name="connsiteY4" fmla="*/ 4167 h 10599"/>
                <a:gd name="connsiteX5" fmla="*/ 9572 w 10000"/>
                <a:gd name="connsiteY5" fmla="*/ 4167 h 10599"/>
                <a:gd name="connsiteX6" fmla="*/ 9345 w 10000"/>
                <a:gd name="connsiteY6" fmla="*/ 4349 h 10599"/>
                <a:gd name="connsiteX7" fmla="*/ 8917 w 10000"/>
                <a:gd name="connsiteY7" fmla="*/ 5182 h 10599"/>
                <a:gd name="connsiteX8" fmla="*/ 8690 w 10000"/>
                <a:gd name="connsiteY8" fmla="*/ 5417 h 10599"/>
                <a:gd name="connsiteX9" fmla="*/ 8489 w 10000"/>
                <a:gd name="connsiteY9" fmla="*/ 5807 h 10599"/>
                <a:gd name="connsiteX10" fmla="*/ 8489 w 10000"/>
                <a:gd name="connsiteY10" fmla="*/ 6042 h 10599"/>
                <a:gd name="connsiteX11" fmla="*/ 8262 w 10000"/>
                <a:gd name="connsiteY11" fmla="*/ 5417 h 10599"/>
                <a:gd name="connsiteX12" fmla="*/ 8262 w 10000"/>
                <a:gd name="connsiteY12" fmla="*/ 5182 h 10599"/>
                <a:gd name="connsiteX13" fmla="*/ 8035 w 10000"/>
                <a:gd name="connsiteY13" fmla="*/ 5417 h 10599"/>
                <a:gd name="connsiteX14" fmla="*/ 7834 w 10000"/>
                <a:gd name="connsiteY14" fmla="*/ 5417 h 10599"/>
                <a:gd name="connsiteX15" fmla="*/ 7834 w 10000"/>
                <a:gd name="connsiteY15" fmla="*/ 5182 h 10599"/>
                <a:gd name="connsiteX16" fmla="*/ 8262 w 10000"/>
                <a:gd name="connsiteY16" fmla="*/ 4792 h 10599"/>
                <a:gd name="connsiteX17" fmla="*/ 7406 w 10000"/>
                <a:gd name="connsiteY17" fmla="*/ 4792 h 10599"/>
                <a:gd name="connsiteX18" fmla="*/ 7406 w 10000"/>
                <a:gd name="connsiteY18" fmla="*/ 4349 h 10599"/>
                <a:gd name="connsiteX19" fmla="*/ 7179 w 10000"/>
                <a:gd name="connsiteY19" fmla="*/ 4349 h 10599"/>
                <a:gd name="connsiteX20" fmla="*/ 6952 w 10000"/>
                <a:gd name="connsiteY20" fmla="*/ 4349 h 10599"/>
                <a:gd name="connsiteX21" fmla="*/ 6952 w 10000"/>
                <a:gd name="connsiteY21" fmla="*/ 4557 h 10599"/>
                <a:gd name="connsiteX22" fmla="*/ 6751 w 10000"/>
                <a:gd name="connsiteY22" fmla="*/ 4974 h 10599"/>
                <a:gd name="connsiteX23" fmla="*/ 6952 w 10000"/>
                <a:gd name="connsiteY23" fmla="*/ 4974 h 10599"/>
                <a:gd name="connsiteX24" fmla="*/ 7179 w 10000"/>
                <a:gd name="connsiteY24" fmla="*/ 6042 h 10599"/>
                <a:gd name="connsiteX25" fmla="*/ 6952 w 10000"/>
                <a:gd name="connsiteY25" fmla="*/ 6042 h 10599"/>
                <a:gd name="connsiteX26" fmla="*/ 6952 w 10000"/>
                <a:gd name="connsiteY26" fmla="*/ 5807 h 10599"/>
                <a:gd name="connsiteX27" fmla="*/ 6524 w 10000"/>
                <a:gd name="connsiteY27" fmla="*/ 6042 h 10599"/>
                <a:gd name="connsiteX28" fmla="*/ 6297 w 10000"/>
                <a:gd name="connsiteY28" fmla="*/ 6667 h 10599"/>
                <a:gd name="connsiteX29" fmla="*/ 5869 w 10000"/>
                <a:gd name="connsiteY29" fmla="*/ 6849 h 10599"/>
                <a:gd name="connsiteX30" fmla="*/ 4786 w 10000"/>
                <a:gd name="connsiteY30" fmla="*/ 7682 h 10599"/>
                <a:gd name="connsiteX31" fmla="*/ 4786 w 10000"/>
                <a:gd name="connsiteY31" fmla="*/ 7917 h 10599"/>
                <a:gd name="connsiteX32" fmla="*/ 4559 w 10000"/>
                <a:gd name="connsiteY32" fmla="*/ 7917 h 10599"/>
                <a:gd name="connsiteX33" fmla="*/ 4358 w 10000"/>
                <a:gd name="connsiteY33" fmla="*/ 8099 h 10599"/>
                <a:gd name="connsiteX34" fmla="*/ 4131 w 10000"/>
                <a:gd name="connsiteY34" fmla="*/ 8099 h 10599"/>
                <a:gd name="connsiteX35" fmla="*/ 4131 w 10000"/>
                <a:gd name="connsiteY35" fmla="*/ 8307 h 10599"/>
                <a:gd name="connsiteX36" fmla="*/ 4131 w 10000"/>
                <a:gd name="connsiteY36" fmla="*/ 8932 h 10599"/>
                <a:gd name="connsiteX37" fmla="*/ 3904 w 10000"/>
                <a:gd name="connsiteY37" fmla="*/ 9349 h 10599"/>
                <a:gd name="connsiteX38" fmla="*/ 3904 w 10000"/>
                <a:gd name="connsiteY38" fmla="*/ 9974 h 10599"/>
                <a:gd name="connsiteX39" fmla="*/ 3703 w 10000"/>
                <a:gd name="connsiteY39" fmla="*/ 10182 h 10599"/>
                <a:gd name="connsiteX40" fmla="*/ 3476 w 10000"/>
                <a:gd name="connsiteY40" fmla="*/ 10417 h 10599"/>
                <a:gd name="connsiteX41" fmla="*/ 3249 w 10000"/>
                <a:gd name="connsiteY41" fmla="*/ 10599 h 10599"/>
                <a:gd name="connsiteX42" fmla="*/ 2821 w 10000"/>
                <a:gd name="connsiteY42" fmla="*/ 10417 h 10599"/>
                <a:gd name="connsiteX43" fmla="*/ 2166 w 10000"/>
                <a:gd name="connsiteY43" fmla="*/ 8542 h 10599"/>
                <a:gd name="connsiteX44" fmla="*/ 1738 w 10000"/>
                <a:gd name="connsiteY44" fmla="*/ 7917 h 10599"/>
                <a:gd name="connsiteX45" fmla="*/ 1511 w 10000"/>
                <a:gd name="connsiteY45" fmla="*/ 6667 h 10599"/>
                <a:gd name="connsiteX46" fmla="*/ 1511 w 10000"/>
                <a:gd name="connsiteY46" fmla="*/ 5807 h 10599"/>
                <a:gd name="connsiteX47" fmla="*/ 1310 w 10000"/>
                <a:gd name="connsiteY47" fmla="*/ 6224 h 10599"/>
                <a:gd name="connsiteX48" fmla="*/ 856 w 10000"/>
                <a:gd name="connsiteY48" fmla="*/ 6432 h 10599"/>
                <a:gd name="connsiteX49" fmla="*/ 202 w 10000"/>
                <a:gd name="connsiteY49" fmla="*/ 5807 h 10599"/>
                <a:gd name="connsiteX50" fmla="*/ 655 w 10000"/>
                <a:gd name="connsiteY50" fmla="*/ 5807 h 10599"/>
                <a:gd name="connsiteX51" fmla="*/ 655 w 10000"/>
                <a:gd name="connsiteY51" fmla="*/ 5599 h 10599"/>
                <a:gd name="connsiteX52" fmla="*/ 428 w 10000"/>
                <a:gd name="connsiteY52" fmla="*/ 5599 h 10599"/>
                <a:gd name="connsiteX53" fmla="*/ 0 w 10000"/>
                <a:gd name="connsiteY53" fmla="*/ 5417 h 10599"/>
                <a:gd name="connsiteX54" fmla="*/ 202 w 10000"/>
                <a:gd name="connsiteY54" fmla="*/ 5182 h 10599"/>
                <a:gd name="connsiteX55" fmla="*/ 856 w 10000"/>
                <a:gd name="connsiteY55" fmla="*/ 5182 h 10599"/>
                <a:gd name="connsiteX56" fmla="*/ 856 w 10000"/>
                <a:gd name="connsiteY56" fmla="*/ 4974 h 10599"/>
                <a:gd name="connsiteX57" fmla="*/ 856 w 10000"/>
                <a:gd name="connsiteY57" fmla="*/ 4557 h 10599"/>
                <a:gd name="connsiteX58" fmla="*/ 655 w 10000"/>
                <a:gd name="connsiteY58" fmla="*/ 4557 h 10599"/>
                <a:gd name="connsiteX59" fmla="*/ 655 w 10000"/>
                <a:gd name="connsiteY59" fmla="*/ 4349 h 10599"/>
                <a:gd name="connsiteX60" fmla="*/ 428 w 10000"/>
                <a:gd name="connsiteY60" fmla="*/ 4349 h 10599"/>
                <a:gd name="connsiteX61" fmla="*/ 428 w 10000"/>
                <a:gd name="connsiteY61" fmla="*/ 3932 h 10599"/>
                <a:gd name="connsiteX62" fmla="*/ 655 w 10000"/>
                <a:gd name="connsiteY62" fmla="*/ 3724 h 10599"/>
                <a:gd name="connsiteX63" fmla="*/ 856 w 10000"/>
                <a:gd name="connsiteY63" fmla="*/ 3932 h 10599"/>
                <a:gd name="connsiteX64" fmla="*/ 1310 w 10000"/>
                <a:gd name="connsiteY64" fmla="*/ 3724 h 10599"/>
                <a:gd name="connsiteX65" fmla="*/ 2393 w 10000"/>
                <a:gd name="connsiteY65" fmla="*/ 2474 h 10599"/>
                <a:gd name="connsiteX66" fmla="*/ 2166 w 10000"/>
                <a:gd name="connsiteY66" fmla="*/ 2292 h 10599"/>
                <a:gd name="connsiteX67" fmla="*/ 2393 w 10000"/>
                <a:gd name="connsiteY67" fmla="*/ 2292 h 10599"/>
                <a:gd name="connsiteX68" fmla="*/ 2393 w 10000"/>
                <a:gd name="connsiteY68" fmla="*/ 2057 h 10599"/>
                <a:gd name="connsiteX69" fmla="*/ 1965 w 10000"/>
                <a:gd name="connsiteY69" fmla="*/ 1849 h 10599"/>
                <a:gd name="connsiteX70" fmla="*/ 2166 w 10000"/>
                <a:gd name="connsiteY70" fmla="*/ 1432 h 10599"/>
                <a:gd name="connsiteX71" fmla="*/ 1965 w 10000"/>
                <a:gd name="connsiteY71" fmla="*/ 1224 h 10599"/>
                <a:gd name="connsiteX72" fmla="*/ 1940 w 10000"/>
                <a:gd name="connsiteY72" fmla="*/ 417 h 10599"/>
                <a:gd name="connsiteX73" fmla="*/ 2596 w 10000"/>
                <a:gd name="connsiteY73" fmla="*/ 0 h 10599"/>
                <a:gd name="connsiteX74" fmla="*/ 3382 w 10000"/>
                <a:gd name="connsiteY74" fmla="*/ 599 h 10599"/>
                <a:gd name="connsiteX75" fmla="*/ 3904 w 10000"/>
                <a:gd name="connsiteY75" fmla="*/ 599 h 10599"/>
                <a:gd name="connsiteX76" fmla="*/ 4131 w 10000"/>
                <a:gd name="connsiteY76" fmla="*/ 807 h 10599"/>
                <a:gd name="connsiteX77" fmla="*/ 4131 w 10000"/>
                <a:gd name="connsiteY77" fmla="*/ 1224 h 10599"/>
                <a:gd name="connsiteX78" fmla="*/ 3703 w 10000"/>
                <a:gd name="connsiteY78" fmla="*/ 1667 h 10599"/>
                <a:gd name="connsiteX79" fmla="*/ 3904 w 10000"/>
                <a:gd name="connsiteY79" fmla="*/ 2057 h 10599"/>
                <a:gd name="connsiteX80" fmla="*/ 3476 w 10000"/>
                <a:gd name="connsiteY80" fmla="*/ 2057 h 10599"/>
                <a:gd name="connsiteX81" fmla="*/ 3703 w 10000"/>
                <a:gd name="connsiteY81" fmla="*/ 2682 h 10599"/>
                <a:gd name="connsiteX82" fmla="*/ 4358 w 10000"/>
                <a:gd name="connsiteY82" fmla="*/ 2917 h 10599"/>
                <a:gd name="connsiteX83" fmla="*/ 4131 w 10000"/>
                <a:gd name="connsiteY83" fmla="*/ 3542 h 10599"/>
                <a:gd name="connsiteX84" fmla="*/ 4559 w 10000"/>
                <a:gd name="connsiteY84" fmla="*/ 3724 h 10599"/>
                <a:gd name="connsiteX85" fmla="*/ 6524 w 10000"/>
                <a:gd name="connsiteY85" fmla="*/ 4349 h 10599"/>
                <a:gd name="connsiteX86" fmla="*/ 6751 w 10000"/>
                <a:gd name="connsiteY86" fmla="*/ 4349 h 10599"/>
                <a:gd name="connsiteX87" fmla="*/ 6751 w 10000"/>
                <a:gd name="connsiteY87" fmla="*/ 4167 h 10599"/>
                <a:gd name="connsiteX88" fmla="*/ 6751 w 10000"/>
                <a:gd name="connsiteY88" fmla="*/ 3724 h 10599"/>
                <a:gd name="connsiteX89" fmla="*/ 6952 w 10000"/>
                <a:gd name="connsiteY89" fmla="*/ 3724 h 10599"/>
                <a:gd name="connsiteX90" fmla="*/ 7179 w 10000"/>
                <a:gd name="connsiteY90" fmla="*/ 3932 h 10599"/>
                <a:gd name="connsiteX91" fmla="*/ 7179 w 10000"/>
                <a:gd name="connsiteY91" fmla="*/ 4167 h 10599"/>
                <a:gd name="connsiteX92" fmla="*/ 8035 w 10000"/>
                <a:gd name="connsiteY92" fmla="*/ 4167 h 10599"/>
                <a:gd name="connsiteX93" fmla="*/ 8262 w 10000"/>
                <a:gd name="connsiteY93" fmla="*/ 4167 h 10599"/>
                <a:gd name="connsiteX94" fmla="*/ 8035 w 10000"/>
                <a:gd name="connsiteY94" fmla="*/ 3724 h 10599"/>
                <a:gd name="connsiteX95" fmla="*/ 9144 w 10000"/>
                <a:gd name="connsiteY95" fmla="*/ 3307 h 10599"/>
                <a:gd name="connsiteX0" fmla="*/ 9144 w 10000"/>
                <a:gd name="connsiteY0" fmla="*/ 3307 h 10599"/>
                <a:gd name="connsiteX1" fmla="*/ 9144 w 10000"/>
                <a:gd name="connsiteY1" fmla="*/ 3307 h 10599"/>
                <a:gd name="connsiteX2" fmla="*/ 9572 w 10000"/>
                <a:gd name="connsiteY2" fmla="*/ 3307 h 10599"/>
                <a:gd name="connsiteX3" fmla="*/ 10000 w 10000"/>
                <a:gd name="connsiteY3" fmla="*/ 3724 h 10599"/>
                <a:gd name="connsiteX4" fmla="*/ 10000 w 10000"/>
                <a:gd name="connsiteY4" fmla="*/ 4167 h 10599"/>
                <a:gd name="connsiteX5" fmla="*/ 9572 w 10000"/>
                <a:gd name="connsiteY5" fmla="*/ 4167 h 10599"/>
                <a:gd name="connsiteX6" fmla="*/ 9345 w 10000"/>
                <a:gd name="connsiteY6" fmla="*/ 4349 h 10599"/>
                <a:gd name="connsiteX7" fmla="*/ 8917 w 10000"/>
                <a:gd name="connsiteY7" fmla="*/ 5182 h 10599"/>
                <a:gd name="connsiteX8" fmla="*/ 8690 w 10000"/>
                <a:gd name="connsiteY8" fmla="*/ 5417 h 10599"/>
                <a:gd name="connsiteX9" fmla="*/ 8489 w 10000"/>
                <a:gd name="connsiteY9" fmla="*/ 5807 h 10599"/>
                <a:gd name="connsiteX10" fmla="*/ 8489 w 10000"/>
                <a:gd name="connsiteY10" fmla="*/ 6042 h 10599"/>
                <a:gd name="connsiteX11" fmla="*/ 8262 w 10000"/>
                <a:gd name="connsiteY11" fmla="*/ 5417 h 10599"/>
                <a:gd name="connsiteX12" fmla="*/ 8262 w 10000"/>
                <a:gd name="connsiteY12" fmla="*/ 5182 h 10599"/>
                <a:gd name="connsiteX13" fmla="*/ 8035 w 10000"/>
                <a:gd name="connsiteY13" fmla="*/ 5417 h 10599"/>
                <a:gd name="connsiteX14" fmla="*/ 7834 w 10000"/>
                <a:gd name="connsiteY14" fmla="*/ 5417 h 10599"/>
                <a:gd name="connsiteX15" fmla="*/ 7834 w 10000"/>
                <a:gd name="connsiteY15" fmla="*/ 5182 h 10599"/>
                <a:gd name="connsiteX16" fmla="*/ 8262 w 10000"/>
                <a:gd name="connsiteY16" fmla="*/ 4792 h 10599"/>
                <a:gd name="connsiteX17" fmla="*/ 7406 w 10000"/>
                <a:gd name="connsiteY17" fmla="*/ 4792 h 10599"/>
                <a:gd name="connsiteX18" fmla="*/ 7406 w 10000"/>
                <a:gd name="connsiteY18" fmla="*/ 4349 h 10599"/>
                <a:gd name="connsiteX19" fmla="*/ 7179 w 10000"/>
                <a:gd name="connsiteY19" fmla="*/ 4349 h 10599"/>
                <a:gd name="connsiteX20" fmla="*/ 6952 w 10000"/>
                <a:gd name="connsiteY20" fmla="*/ 4349 h 10599"/>
                <a:gd name="connsiteX21" fmla="*/ 6952 w 10000"/>
                <a:gd name="connsiteY21" fmla="*/ 4557 h 10599"/>
                <a:gd name="connsiteX22" fmla="*/ 6751 w 10000"/>
                <a:gd name="connsiteY22" fmla="*/ 4974 h 10599"/>
                <a:gd name="connsiteX23" fmla="*/ 6952 w 10000"/>
                <a:gd name="connsiteY23" fmla="*/ 4974 h 10599"/>
                <a:gd name="connsiteX24" fmla="*/ 7179 w 10000"/>
                <a:gd name="connsiteY24" fmla="*/ 6042 h 10599"/>
                <a:gd name="connsiteX25" fmla="*/ 6952 w 10000"/>
                <a:gd name="connsiteY25" fmla="*/ 6042 h 10599"/>
                <a:gd name="connsiteX26" fmla="*/ 6952 w 10000"/>
                <a:gd name="connsiteY26" fmla="*/ 5807 h 10599"/>
                <a:gd name="connsiteX27" fmla="*/ 6524 w 10000"/>
                <a:gd name="connsiteY27" fmla="*/ 6042 h 10599"/>
                <a:gd name="connsiteX28" fmla="*/ 6297 w 10000"/>
                <a:gd name="connsiteY28" fmla="*/ 6667 h 10599"/>
                <a:gd name="connsiteX29" fmla="*/ 5869 w 10000"/>
                <a:gd name="connsiteY29" fmla="*/ 6849 h 10599"/>
                <a:gd name="connsiteX30" fmla="*/ 4786 w 10000"/>
                <a:gd name="connsiteY30" fmla="*/ 7682 h 10599"/>
                <a:gd name="connsiteX31" fmla="*/ 4786 w 10000"/>
                <a:gd name="connsiteY31" fmla="*/ 7917 h 10599"/>
                <a:gd name="connsiteX32" fmla="*/ 4559 w 10000"/>
                <a:gd name="connsiteY32" fmla="*/ 7917 h 10599"/>
                <a:gd name="connsiteX33" fmla="*/ 4358 w 10000"/>
                <a:gd name="connsiteY33" fmla="*/ 8099 h 10599"/>
                <a:gd name="connsiteX34" fmla="*/ 4131 w 10000"/>
                <a:gd name="connsiteY34" fmla="*/ 8099 h 10599"/>
                <a:gd name="connsiteX35" fmla="*/ 4131 w 10000"/>
                <a:gd name="connsiteY35" fmla="*/ 8307 h 10599"/>
                <a:gd name="connsiteX36" fmla="*/ 4131 w 10000"/>
                <a:gd name="connsiteY36" fmla="*/ 8932 h 10599"/>
                <a:gd name="connsiteX37" fmla="*/ 3904 w 10000"/>
                <a:gd name="connsiteY37" fmla="*/ 9349 h 10599"/>
                <a:gd name="connsiteX38" fmla="*/ 3904 w 10000"/>
                <a:gd name="connsiteY38" fmla="*/ 9974 h 10599"/>
                <a:gd name="connsiteX39" fmla="*/ 3703 w 10000"/>
                <a:gd name="connsiteY39" fmla="*/ 10182 h 10599"/>
                <a:gd name="connsiteX40" fmla="*/ 3476 w 10000"/>
                <a:gd name="connsiteY40" fmla="*/ 10417 h 10599"/>
                <a:gd name="connsiteX41" fmla="*/ 3249 w 10000"/>
                <a:gd name="connsiteY41" fmla="*/ 10599 h 10599"/>
                <a:gd name="connsiteX42" fmla="*/ 2821 w 10000"/>
                <a:gd name="connsiteY42" fmla="*/ 10417 h 10599"/>
                <a:gd name="connsiteX43" fmla="*/ 2166 w 10000"/>
                <a:gd name="connsiteY43" fmla="*/ 8542 h 10599"/>
                <a:gd name="connsiteX44" fmla="*/ 1738 w 10000"/>
                <a:gd name="connsiteY44" fmla="*/ 7917 h 10599"/>
                <a:gd name="connsiteX45" fmla="*/ 1511 w 10000"/>
                <a:gd name="connsiteY45" fmla="*/ 6667 h 10599"/>
                <a:gd name="connsiteX46" fmla="*/ 1511 w 10000"/>
                <a:gd name="connsiteY46" fmla="*/ 5807 h 10599"/>
                <a:gd name="connsiteX47" fmla="*/ 1310 w 10000"/>
                <a:gd name="connsiteY47" fmla="*/ 6224 h 10599"/>
                <a:gd name="connsiteX48" fmla="*/ 856 w 10000"/>
                <a:gd name="connsiteY48" fmla="*/ 6432 h 10599"/>
                <a:gd name="connsiteX49" fmla="*/ 202 w 10000"/>
                <a:gd name="connsiteY49" fmla="*/ 5807 h 10599"/>
                <a:gd name="connsiteX50" fmla="*/ 655 w 10000"/>
                <a:gd name="connsiteY50" fmla="*/ 5807 h 10599"/>
                <a:gd name="connsiteX51" fmla="*/ 655 w 10000"/>
                <a:gd name="connsiteY51" fmla="*/ 5599 h 10599"/>
                <a:gd name="connsiteX52" fmla="*/ 428 w 10000"/>
                <a:gd name="connsiteY52" fmla="*/ 5599 h 10599"/>
                <a:gd name="connsiteX53" fmla="*/ 0 w 10000"/>
                <a:gd name="connsiteY53" fmla="*/ 5417 h 10599"/>
                <a:gd name="connsiteX54" fmla="*/ 202 w 10000"/>
                <a:gd name="connsiteY54" fmla="*/ 5182 h 10599"/>
                <a:gd name="connsiteX55" fmla="*/ 856 w 10000"/>
                <a:gd name="connsiteY55" fmla="*/ 5182 h 10599"/>
                <a:gd name="connsiteX56" fmla="*/ 856 w 10000"/>
                <a:gd name="connsiteY56" fmla="*/ 4974 h 10599"/>
                <a:gd name="connsiteX57" fmla="*/ 856 w 10000"/>
                <a:gd name="connsiteY57" fmla="*/ 4557 h 10599"/>
                <a:gd name="connsiteX58" fmla="*/ 655 w 10000"/>
                <a:gd name="connsiteY58" fmla="*/ 4557 h 10599"/>
                <a:gd name="connsiteX59" fmla="*/ 655 w 10000"/>
                <a:gd name="connsiteY59" fmla="*/ 4349 h 10599"/>
                <a:gd name="connsiteX60" fmla="*/ 428 w 10000"/>
                <a:gd name="connsiteY60" fmla="*/ 4349 h 10599"/>
                <a:gd name="connsiteX61" fmla="*/ 428 w 10000"/>
                <a:gd name="connsiteY61" fmla="*/ 3932 h 10599"/>
                <a:gd name="connsiteX62" fmla="*/ 655 w 10000"/>
                <a:gd name="connsiteY62" fmla="*/ 3724 h 10599"/>
                <a:gd name="connsiteX63" fmla="*/ 856 w 10000"/>
                <a:gd name="connsiteY63" fmla="*/ 3932 h 10599"/>
                <a:gd name="connsiteX64" fmla="*/ 1310 w 10000"/>
                <a:gd name="connsiteY64" fmla="*/ 3724 h 10599"/>
                <a:gd name="connsiteX65" fmla="*/ 2393 w 10000"/>
                <a:gd name="connsiteY65" fmla="*/ 2474 h 10599"/>
                <a:gd name="connsiteX66" fmla="*/ 2166 w 10000"/>
                <a:gd name="connsiteY66" fmla="*/ 2292 h 10599"/>
                <a:gd name="connsiteX67" fmla="*/ 2393 w 10000"/>
                <a:gd name="connsiteY67" fmla="*/ 2292 h 10599"/>
                <a:gd name="connsiteX68" fmla="*/ 2393 w 10000"/>
                <a:gd name="connsiteY68" fmla="*/ 2057 h 10599"/>
                <a:gd name="connsiteX69" fmla="*/ 1965 w 10000"/>
                <a:gd name="connsiteY69" fmla="*/ 1849 h 10599"/>
                <a:gd name="connsiteX70" fmla="*/ 2166 w 10000"/>
                <a:gd name="connsiteY70" fmla="*/ 1432 h 10599"/>
                <a:gd name="connsiteX71" fmla="*/ 1965 w 10000"/>
                <a:gd name="connsiteY71" fmla="*/ 1224 h 10599"/>
                <a:gd name="connsiteX72" fmla="*/ 1940 w 10000"/>
                <a:gd name="connsiteY72" fmla="*/ 417 h 10599"/>
                <a:gd name="connsiteX73" fmla="*/ 2596 w 10000"/>
                <a:gd name="connsiteY73" fmla="*/ 0 h 10599"/>
                <a:gd name="connsiteX74" fmla="*/ 3382 w 10000"/>
                <a:gd name="connsiteY74" fmla="*/ 599 h 10599"/>
                <a:gd name="connsiteX75" fmla="*/ 4131 w 10000"/>
                <a:gd name="connsiteY75" fmla="*/ 495 h 10599"/>
                <a:gd name="connsiteX76" fmla="*/ 4131 w 10000"/>
                <a:gd name="connsiteY76" fmla="*/ 807 h 10599"/>
                <a:gd name="connsiteX77" fmla="*/ 4131 w 10000"/>
                <a:gd name="connsiteY77" fmla="*/ 1224 h 10599"/>
                <a:gd name="connsiteX78" fmla="*/ 3703 w 10000"/>
                <a:gd name="connsiteY78" fmla="*/ 1667 h 10599"/>
                <a:gd name="connsiteX79" fmla="*/ 3904 w 10000"/>
                <a:gd name="connsiteY79" fmla="*/ 2057 h 10599"/>
                <a:gd name="connsiteX80" fmla="*/ 3476 w 10000"/>
                <a:gd name="connsiteY80" fmla="*/ 2057 h 10599"/>
                <a:gd name="connsiteX81" fmla="*/ 3703 w 10000"/>
                <a:gd name="connsiteY81" fmla="*/ 2682 h 10599"/>
                <a:gd name="connsiteX82" fmla="*/ 4358 w 10000"/>
                <a:gd name="connsiteY82" fmla="*/ 2917 h 10599"/>
                <a:gd name="connsiteX83" fmla="*/ 4131 w 10000"/>
                <a:gd name="connsiteY83" fmla="*/ 3542 h 10599"/>
                <a:gd name="connsiteX84" fmla="*/ 4559 w 10000"/>
                <a:gd name="connsiteY84" fmla="*/ 3724 h 10599"/>
                <a:gd name="connsiteX85" fmla="*/ 6524 w 10000"/>
                <a:gd name="connsiteY85" fmla="*/ 4349 h 10599"/>
                <a:gd name="connsiteX86" fmla="*/ 6751 w 10000"/>
                <a:gd name="connsiteY86" fmla="*/ 4349 h 10599"/>
                <a:gd name="connsiteX87" fmla="*/ 6751 w 10000"/>
                <a:gd name="connsiteY87" fmla="*/ 4167 h 10599"/>
                <a:gd name="connsiteX88" fmla="*/ 6751 w 10000"/>
                <a:gd name="connsiteY88" fmla="*/ 3724 h 10599"/>
                <a:gd name="connsiteX89" fmla="*/ 6952 w 10000"/>
                <a:gd name="connsiteY89" fmla="*/ 3724 h 10599"/>
                <a:gd name="connsiteX90" fmla="*/ 7179 w 10000"/>
                <a:gd name="connsiteY90" fmla="*/ 3932 h 10599"/>
                <a:gd name="connsiteX91" fmla="*/ 7179 w 10000"/>
                <a:gd name="connsiteY91" fmla="*/ 4167 h 10599"/>
                <a:gd name="connsiteX92" fmla="*/ 8035 w 10000"/>
                <a:gd name="connsiteY92" fmla="*/ 4167 h 10599"/>
                <a:gd name="connsiteX93" fmla="*/ 8262 w 10000"/>
                <a:gd name="connsiteY93" fmla="*/ 4167 h 10599"/>
                <a:gd name="connsiteX94" fmla="*/ 8035 w 10000"/>
                <a:gd name="connsiteY94" fmla="*/ 3724 h 10599"/>
                <a:gd name="connsiteX95" fmla="*/ 9144 w 10000"/>
                <a:gd name="connsiteY95" fmla="*/ 3307 h 10599"/>
                <a:gd name="connsiteX0" fmla="*/ 9144 w 10000"/>
                <a:gd name="connsiteY0" fmla="*/ 3307 h 10599"/>
                <a:gd name="connsiteX1" fmla="*/ 9144 w 10000"/>
                <a:gd name="connsiteY1" fmla="*/ 3307 h 10599"/>
                <a:gd name="connsiteX2" fmla="*/ 9572 w 10000"/>
                <a:gd name="connsiteY2" fmla="*/ 3307 h 10599"/>
                <a:gd name="connsiteX3" fmla="*/ 10000 w 10000"/>
                <a:gd name="connsiteY3" fmla="*/ 3724 h 10599"/>
                <a:gd name="connsiteX4" fmla="*/ 10000 w 10000"/>
                <a:gd name="connsiteY4" fmla="*/ 4167 h 10599"/>
                <a:gd name="connsiteX5" fmla="*/ 9572 w 10000"/>
                <a:gd name="connsiteY5" fmla="*/ 4167 h 10599"/>
                <a:gd name="connsiteX6" fmla="*/ 9345 w 10000"/>
                <a:gd name="connsiteY6" fmla="*/ 4349 h 10599"/>
                <a:gd name="connsiteX7" fmla="*/ 8917 w 10000"/>
                <a:gd name="connsiteY7" fmla="*/ 5182 h 10599"/>
                <a:gd name="connsiteX8" fmla="*/ 8690 w 10000"/>
                <a:gd name="connsiteY8" fmla="*/ 5417 h 10599"/>
                <a:gd name="connsiteX9" fmla="*/ 8489 w 10000"/>
                <a:gd name="connsiteY9" fmla="*/ 5807 h 10599"/>
                <a:gd name="connsiteX10" fmla="*/ 8489 w 10000"/>
                <a:gd name="connsiteY10" fmla="*/ 6042 h 10599"/>
                <a:gd name="connsiteX11" fmla="*/ 8262 w 10000"/>
                <a:gd name="connsiteY11" fmla="*/ 5417 h 10599"/>
                <a:gd name="connsiteX12" fmla="*/ 8262 w 10000"/>
                <a:gd name="connsiteY12" fmla="*/ 5182 h 10599"/>
                <a:gd name="connsiteX13" fmla="*/ 8035 w 10000"/>
                <a:gd name="connsiteY13" fmla="*/ 5417 h 10599"/>
                <a:gd name="connsiteX14" fmla="*/ 7834 w 10000"/>
                <a:gd name="connsiteY14" fmla="*/ 5417 h 10599"/>
                <a:gd name="connsiteX15" fmla="*/ 7834 w 10000"/>
                <a:gd name="connsiteY15" fmla="*/ 5182 h 10599"/>
                <a:gd name="connsiteX16" fmla="*/ 8262 w 10000"/>
                <a:gd name="connsiteY16" fmla="*/ 4792 h 10599"/>
                <a:gd name="connsiteX17" fmla="*/ 7406 w 10000"/>
                <a:gd name="connsiteY17" fmla="*/ 4792 h 10599"/>
                <a:gd name="connsiteX18" fmla="*/ 7406 w 10000"/>
                <a:gd name="connsiteY18" fmla="*/ 4349 h 10599"/>
                <a:gd name="connsiteX19" fmla="*/ 7179 w 10000"/>
                <a:gd name="connsiteY19" fmla="*/ 4349 h 10599"/>
                <a:gd name="connsiteX20" fmla="*/ 6952 w 10000"/>
                <a:gd name="connsiteY20" fmla="*/ 4349 h 10599"/>
                <a:gd name="connsiteX21" fmla="*/ 6952 w 10000"/>
                <a:gd name="connsiteY21" fmla="*/ 4557 h 10599"/>
                <a:gd name="connsiteX22" fmla="*/ 6751 w 10000"/>
                <a:gd name="connsiteY22" fmla="*/ 4974 h 10599"/>
                <a:gd name="connsiteX23" fmla="*/ 6952 w 10000"/>
                <a:gd name="connsiteY23" fmla="*/ 4974 h 10599"/>
                <a:gd name="connsiteX24" fmla="*/ 7179 w 10000"/>
                <a:gd name="connsiteY24" fmla="*/ 6042 h 10599"/>
                <a:gd name="connsiteX25" fmla="*/ 6952 w 10000"/>
                <a:gd name="connsiteY25" fmla="*/ 6042 h 10599"/>
                <a:gd name="connsiteX26" fmla="*/ 6952 w 10000"/>
                <a:gd name="connsiteY26" fmla="*/ 5807 h 10599"/>
                <a:gd name="connsiteX27" fmla="*/ 6524 w 10000"/>
                <a:gd name="connsiteY27" fmla="*/ 6042 h 10599"/>
                <a:gd name="connsiteX28" fmla="*/ 6297 w 10000"/>
                <a:gd name="connsiteY28" fmla="*/ 6667 h 10599"/>
                <a:gd name="connsiteX29" fmla="*/ 5869 w 10000"/>
                <a:gd name="connsiteY29" fmla="*/ 6849 h 10599"/>
                <a:gd name="connsiteX30" fmla="*/ 4786 w 10000"/>
                <a:gd name="connsiteY30" fmla="*/ 7682 h 10599"/>
                <a:gd name="connsiteX31" fmla="*/ 4786 w 10000"/>
                <a:gd name="connsiteY31" fmla="*/ 7917 h 10599"/>
                <a:gd name="connsiteX32" fmla="*/ 4559 w 10000"/>
                <a:gd name="connsiteY32" fmla="*/ 7917 h 10599"/>
                <a:gd name="connsiteX33" fmla="*/ 4358 w 10000"/>
                <a:gd name="connsiteY33" fmla="*/ 8099 h 10599"/>
                <a:gd name="connsiteX34" fmla="*/ 4131 w 10000"/>
                <a:gd name="connsiteY34" fmla="*/ 8099 h 10599"/>
                <a:gd name="connsiteX35" fmla="*/ 4131 w 10000"/>
                <a:gd name="connsiteY35" fmla="*/ 8307 h 10599"/>
                <a:gd name="connsiteX36" fmla="*/ 4131 w 10000"/>
                <a:gd name="connsiteY36" fmla="*/ 8932 h 10599"/>
                <a:gd name="connsiteX37" fmla="*/ 3904 w 10000"/>
                <a:gd name="connsiteY37" fmla="*/ 9349 h 10599"/>
                <a:gd name="connsiteX38" fmla="*/ 3904 w 10000"/>
                <a:gd name="connsiteY38" fmla="*/ 9974 h 10599"/>
                <a:gd name="connsiteX39" fmla="*/ 3703 w 10000"/>
                <a:gd name="connsiteY39" fmla="*/ 10182 h 10599"/>
                <a:gd name="connsiteX40" fmla="*/ 3476 w 10000"/>
                <a:gd name="connsiteY40" fmla="*/ 10417 h 10599"/>
                <a:gd name="connsiteX41" fmla="*/ 3249 w 10000"/>
                <a:gd name="connsiteY41" fmla="*/ 10599 h 10599"/>
                <a:gd name="connsiteX42" fmla="*/ 2821 w 10000"/>
                <a:gd name="connsiteY42" fmla="*/ 10417 h 10599"/>
                <a:gd name="connsiteX43" fmla="*/ 2166 w 10000"/>
                <a:gd name="connsiteY43" fmla="*/ 8542 h 10599"/>
                <a:gd name="connsiteX44" fmla="*/ 1738 w 10000"/>
                <a:gd name="connsiteY44" fmla="*/ 7917 h 10599"/>
                <a:gd name="connsiteX45" fmla="*/ 1511 w 10000"/>
                <a:gd name="connsiteY45" fmla="*/ 6667 h 10599"/>
                <a:gd name="connsiteX46" fmla="*/ 1511 w 10000"/>
                <a:gd name="connsiteY46" fmla="*/ 5807 h 10599"/>
                <a:gd name="connsiteX47" fmla="*/ 1310 w 10000"/>
                <a:gd name="connsiteY47" fmla="*/ 6224 h 10599"/>
                <a:gd name="connsiteX48" fmla="*/ 856 w 10000"/>
                <a:gd name="connsiteY48" fmla="*/ 6432 h 10599"/>
                <a:gd name="connsiteX49" fmla="*/ 202 w 10000"/>
                <a:gd name="connsiteY49" fmla="*/ 5807 h 10599"/>
                <a:gd name="connsiteX50" fmla="*/ 655 w 10000"/>
                <a:gd name="connsiteY50" fmla="*/ 5807 h 10599"/>
                <a:gd name="connsiteX51" fmla="*/ 655 w 10000"/>
                <a:gd name="connsiteY51" fmla="*/ 5599 h 10599"/>
                <a:gd name="connsiteX52" fmla="*/ 428 w 10000"/>
                <a:gd name="connsiteY52" fmla="*/ 5599 h 10599"/>
                <a:gd name="connsiteX53" fmla="*/ 0 w 10000"/>
                <a:gd name="connsiteY53" fmla="*/ 5417 h 10599"/>
                <a:gd name="connsiteX54" fmla="*/ 202 w 10000"/>
                <a:gd name="connsiteY54" fmla="*/ 5182 h 10599"/>
                <a:gd name="connsiteX55" fmla="*/ 856 w 10000"/>
                <a:gd name="connsiteY55" fmla="*/ 5182 h 10599"/>
                <a:gd name="connsiteX56" fmla="*/ 856 w 10000"/>
                <a:gd name="connsiteY56" fmla="*/ 4974 h 10599"/>
                <a:gd name="connsiteX57" fmla="*/ 856 w 10000"/>
                <a:gd name="connsiteY57" fmla="*/ 4557 h 10599"/>
                <a:gd name="connsiteX58" fmla="*/ 655 w 10000"/>
                <a:gd name="connsiteY58" fmla="*/ 4557 h 10599"/>
                <a:gd name="connsiteX59" fmla="*/ 655 w 10000"/>
                <a:gd name="connsiteY59" fmla="*/ 4349 h 10599"/>
                <a:gd name="connsiteX60" fmla="*/ 428 w 10000"/>
                <a:gd name="connsiteY60" fmla="*/ 4349 h 10599"/>
                <a:gd name="connsiteX61" fmla="*/ 428 w 10000"/>
                <a:gd name="connsiteY61" fmla="*/ 3932 h 10599"/>
                <a:gd name="connsiteX62" fmla="*/ 655 w 10000"/>
                <a:gd name="connsiteY62" fmla="*/ 3724 h 10599"/>
                <a:gd name="connsiteX63" fmla="*/ 856 w 10000"/>
                <a:gd name="connsiteY63" fmla="*/ 3932 h 10599"/>
                <a:gd name="connsiteX64" fmla="*/ 1310 w 10000"/>
                <a:gd name="connsiteY64" fmla="*/ 3724 h 10599"/>
                <a:gd name="connsiteX65" fmla="*/ 2393 w 10000"/>
                <a:gd name="connsiteY65" fmla="*/ 2474 h 10599"/>
                <a:gd name="connsiteX66" fmla="*/ 2166 w 10000"/>
                <a:gd name="connsiteY66" fmla="*/ 2292 h 10599"/>
                <a:gd name="connsiteX67" fmla="*/ 2393 w 10000"/>
                <a:gd name="connsiteY67" fmla="*/ 2292 h 10599"/>
                <a:gd name="connsiteX68" fmla="*/ 2393 w 10000"/>
                <a:gd name="connsiteY68" fmla="*/ 2057 h 10599"/>
                <a:gd name="connsiteX69" fmla="*/ 1965 w 10000"/>
                <a:gd name="connsiteY69" fmla="*/ 1849 h 10599"/>
                <a:gd name="connsiteX70" fmla="*/ 2166 w 10000"/>
                <a:gd name="connsiteY70" fmla="*/ 1432 h 10599"/>
                <a:gd name="connsiteX71" fmla="*/ 1965 w 10000"/>
                <a:gd name="connsiteY71" fmla="*/ 1224 h 10599"/>
                <a:gd name="connsiteX72" fmla="*/ 2189 w 10000"/>
                <a:gd name="connsiteY72" fmla="*/ 807 h 10599"/>
                <a:gd name="connsiteX73" fmla="*/ 1940 w 10000"/>
                <a:gd name="connsiteY73" fmla="*/ 417 h 10599"/>
                <a:gd name="connsiteX74" fmla="*/ 2596 w 10000"/>
                <a:gd name="connsiteY74" fmla="*/ 0 h 10599"/>
                <a:gd name="connsiteX75" fmla="*/ 3382 w 10000"/>
                <a:gd name="connsiteY75" fmla="*/ 599 h 10599"/>
                <a:gd name="connsiteX76" fmla="*/ 4131 w 10000"/>
                <a:gd name="connsiteY76" fmla="*/ 495 h 10599"/>
                <a:gd name="connsiteX77" fmla="*/ 4131 w 10000"/>
                <a:gd name="connsiteY77" fmla="*/ 807 h 10599"/>
                <a:gd name="connsiteX78" fmla="*/ 4131 w 10000"/>
                <a:gd name="connsiteY78" fmla="*/ 1224 h 10599"/>
                <a:gd name="connsiteX79" fmla="*/ 3703 w 10000"/>
                <a:gd name="connsiteY79" fmla="*/ 1667 h 10599"/>
                <a:gd name="connsiteX80" fmla="*/ 3904 w 10000"/>
                <a:gd name="connsiteY80" fmla="*/ 2057 h 10599"/>
                <a:gd name="connsiteX81" fmla="*/ 3476 w 10000"/>
                <a:gd name="connsiteY81" fmla="*/ 2057 h 10599"/>
                <a:gd name="connsiteX82" fmla="*/ 3703 w 10000"/>
                <a:gd name="connsiteY82" fmla="*/ 2682 h 10599"/>
                <a:gd name="connsiteX83" fmla="*/ 4358 w 10000"/>
                <a:gd name="connsiteY83" fmla="*/ 2917 h 10599"/>
                <a:gd name="connsiteX84" fmla="*/ 4131 w 10000"/>
                <a:gd name="connsiteY84" fmla="*/ 3542 h 10599"/>
                <a:gd name="connsiteX85" fmla="*/ 4559 w 10000"/>
                <a:gd name="connsiteY85" fmla="*/ 3724 h 10599"/>
                <a:gd name="connsiteX86" fmla="*/ 6524 w 10000"/>
                <a:gd name="connsiteY86" fmla="*/ 4349 h 10599"/>
                <a:gd name="connsiteX87" fmla="*/ 6751 w 10000"/>
                <a:gd name="connsiteY87" fmla="*/ 4349 h 10599"/>
                <a:gd name="connsiteX88" fmla="*/ 6751 w 10000"/>
                <a:gd name="connsiteY88" fmla="*/ 4167 h 10599"/>
                <a:gd name="connsiteX89" fmla="*/ 6751 w 10000"/>
                <a:gd name="connsiteY89" fmla="*/ 3724 h 10599"/>
                <a:gd name="connsiteX90" fmla="*/ 6952 w 10000"/>
                <a:gd name="connsiteY90" fmla="*/ 3724 h 10599"/>
                <a:gd name="connsiteX91" fmla="*/ 7179 w 10000"/>
                <a:gd name="connsiteY91" fmla="*/ 3932 h 10599"/>
                <a:gd name="connsiteX92" fmla="*/ 7179 w 10000"/>
                <a:gd name="connsiteY92" fmla="*/ 4167 h 10599"/>
                <a:gd name="connsiteX93" fmla="*/ 8035 w 10000"/>
                <a:gd name="connsiteY93" fmla="*/ 4167 h 10599"/>
                <a:gd name="connsiteX94" fmla="*/ 8262 w 10000"/>
                <a:gd name="connsiteY94" fmla="*/ 4167 h 10599"/>
                <a:gd name="connsiteX95" fmla="*/ 8035 w 10000"/>
                <a:gd name="connsiteY95" fmla="*/ 3724 h 10599"/>
                <a:gd name="connsiteX96" fmla="*/ 9144 w 10000"/>
                <a:gd name="connsiteY96" fmla="*/ 3307 h 10599"/>
                <a:gd name="connsiteX0" fmla="*/ 9144 w 10000"/>
                <a:gd name="connsiteY0" fmla="*/ 3307 h 10599"/>
                <a:gd name="connsiteX1" fmla="*/ 9144 w 10000"/>
                <a:gd name="connsiteY1" fmla="*/ 3307 h 10599"/>
                <a:gd name="connsiteX2" fmla="*/ 9572 w 10000"/>
                <a:gd name="connsiteY2" fmla="*/ 3307 h 10599"/>
                <a:gd name="connsiteX3" fmla="*/ 10000 w 10000"/>
                <a:gd name="connsiteY3" fmla="*/ 3724 h 10599"/>
                <a:gd name="connsiteX4" fmla="*/ 10000 w 10000"/>
                <a:gd name="connsiteY4" fmla="*/ 4167 h 10599"/>
                <a:gd name="connsiteX5" fmla="*/ 9572 w 10000"/>
                <a:gd name="connsiteY5" fmla="*/ 4167 h 10599"/>
                <a:gd name="connsiteX6" fmla="*/ 9345 w 10000"/>
                <a:gd name="connsiteY6" fmla="*/ 4349 h 10599"/>
                <a:gd name="connsiteX7" fmla="*/ 8917 w 10000"/>
                <a:gd name="connsiteY7" fmla="*/ 5182 h 10599"/>
                <a:gd name="connsiteX8" fmla="*/ 8690 w 10000"/>
                <a:gd name="connsiteY8" fmla="*/ 5417 h 10599"/>
                <a:gd name="connsiteX9" fmla="*/ 8489 w 10000"/>
                <a:gd name="connsiteY9" fmla="*/ 5807 h 10599"/>
                <a:gd name="connsiteX10" fmla="*/ 8489 w 10000"/>
                <a:gd name="connsiteY10" fmla="*/ 6042 h 10599"/>
                <a:gd name="connsiteX11" fmla="*/ 8262 w 10000"/>
                <a:gd name="connsiteY11" fmla="*/ 5417 h 10599"/>
                <a:gd name="connsiteX12" fmla="*/ 8262 w 10000"/>
                <a:gd name="connsiteY12" fmla="*/ 5182 h 10599"/>
                <a:gd name="connsiteX13" fmla="*/ 8035 w 10000"/>
                <a:gd name="connsiteY13" fmla="*/ 5417 h 10599"/>
                <a:gd name="connsiteX14" fmla="*/ 7834 w 10000"/>
                <a:gd name="connsiteY14" fmla="*/ 5417 h 10599"/>
                <a:gd name="connsiteX15" fmla="*/ 7834 w 10000"/>
                <a:gd name="connsiteY15" fmla="*/ 5182 h 10599"/>
                <a:gd name="connsiteX16" fmla="*/ 8262 w 10000"/>
                <a:gd name="connsiteY16" fmla="*/ 4792 h 10599"/>
                <a:gd name="connsiteX17" fmla="*/ 7406 w 10000"/>
                <a:gd name="connsiteY17" fmla="*/ 4792 h 10599"/>
                <a:gd name="connsiteX18" fmla="*/ 7406 w 10000"/>
                <a:gd name="connsiteY18" fmla="*/ 4349 h 10599"/>
                <a:gd name="connsiteX19" fmla="*/ 7179 w 10000"/>
                <a:gd name="connsiteY19" fmla="*/ 4349 h 10599"/>
                <a:gd name="connsiteX20" fmla="*/ 6952 w 10000"/>
                <a:gd name="connsiteY20" fmla="*/ 4349 h 10599"/>
                <a:gd name="connsiteX21" fmla="*/ 6952 w 10000"/>
                <a:gd name="connsiteY21" fmla="*/ 4557 h 10599"/>
                <a:gd name="connsiteX22" fmla="*/ 6751 w 10000"/>
                <a:gd name="connsiteY22" fmla="*/ 4974 h 10599"/>
                <a:gd name="connsiteX23" fmla="*/ 6952 w 10000"/>
                <a:gd name="connsiteY23" fmla="*/ 4974 h 10599"/>
                <a:gd name="connsiteX24" fmla="*/ 7179 w 10000"/>
                <a:gd name="connsiteY24" fmla="*/ 6042 h 10599"/>
                <a:gd name="connsiteX25" fmla="*/ 6952 w 10000"/>
                <a:gd name="connsiteY25" fmla="*/ 6042 h 10599"/>
                <a:gd name="connsiteX26" fmla="*/ 6952 w 10000"/>
                <a:gd name="connsiteY26" fmla="*/ 5807 h 10599"/>
                <a:gd name="connsiteX27" fmla="*/ 6524 w 10000"/>
                <a:gd name="connsiteY27" fmla="*/ 6042 h 10599"/>
                <a:gd name="connsiteX28" fmla="*/ 6297 w 10000"/>
                <a:gd name="connsiteY28" fmla="*/ 6667 h 10599"/>
                <a:gd name="connsiteX29" fmla="*/ 5869 w 10000"/>
                <a:gd name="connsiteY29" fmla="*/ 6849 h 10599"/>
                <a:gd name="connsiteX30" fmla="*/ 4786 w 10000"/>
                <a:gd name="connsiteY30" fmla="*/ 7682 h 10599"/>
                <a:gd name="connsiteX31" fmla="*/ 4786 w 10000"/>
                <a:gd name="connsiteY31" fmla="*/ 7917 h 10599"/>
                <a:gd name="connsiteX32" fmla="*/ 4559 w 10000"/>
                <a:gd name="connsiteY32" fmla="*/ 7917 h 10599"/>
                <a:gd name="connsiteX33" fmla="*/ 4358 w 10000"/>
                <a:gd name="connsiteY33" fmla="*/ 8099 h 10599"/>
                <a:gd name="connsiteX34" fmla="*/ 4131 w 10000"/>
                <a:gd name="connsiteY34" fmla="*/ 8099 h 10599"/>
                <a:gd name="connsiteX35" fmla="*/ 4131 w 10000"/>
                <a:gd name="connsiteY35" fmla="*/ 8307 h 10599"/>
                <a:gd name="connsiteX36" fmla="*/ 4131 w 10000"/>
                <a:gd name="connsiteY36" fmla="*/ 8932 h 10599"/>
                <a:gd name="connsiteX37" fmla="*/ 3904 w 10000"/>
                <a:gd name="connsiteY37" fmla="*/ 9349 h 10599"/>
                <a:gd name="connsiteX38" fmla="*/ 3904 w 10000"/>
                <a:gd name="connsiteY38" fmla="*/ 9974 h 10599"/>
                <a:gd name="connsiteX39" fmla="*/ 3703 w 10000"/>
                <a:gd name="connsiteY39" fmla="*/ 10182 h 10599"/>
                <a:gd name="connsiteX40" fmla="*/ 3476 w 10000"/>
                <a:gd name="connsiteY40" fmla="*/ 10417 h 10599"/>
                <a:gd name="connsiteX41" fmla="*/ 3249 w 10000"/>
                <a:gd name="connsiteY41" fmla="*/ 10599 h 10599"/>
                <a:gd name="connsiteX42" fmla="*/ 2821 w 10000"/>
                <a:gd name="connsiteY42" fmla="*/ 10417 h 10599"/>
                <a:gd name="connsiteX43" fmla="*/ 2166 w 10000"/>
                <a:gd name="connsiteY43" fmla="*/ 8542 h 10599"/>
                <a:gd name="connsiteX44" fmla="*/ 1738 w 10000"/>
                <a:gd name="connsiteY44" fmla="*/ 7917 h 10599"/>
                <a:gd name="connsiteX45" fmla="*/ 1511 w 10000"/>
                <a:gd name="connsiteY45" fmla="*/ 6667 h 10599"/>
                <a:gd name="connsiteX46" fmla="*/ 1511 w 10000"/>
                <a:gd name="connsiteY46" fmla="*/ 5807 h 10599"/>
                <a:gd name="connsiteX47" fmla="*/ 1310 w 10000"/>
                <a:gd name="connsiteY47" fmla="*/ 6224 h 10599"/>
                <a:gd name="connsiteX48" fmla="*/ 856 w 10000"/>
                <a:gd name="connsiteY48" fmla="*/ 6432 h 10599"/>
                <a:gd name="connsiteX49" fmla="*/ 202 w 10000"/>
                <a:gd name="connsiteY49" fmla="*/ 5807 h 10599"/>
                <a:gd name="connsiteX50" fmla="*/ 655 w 10000"/>
                <a:gd name="connsiteY50" fmla="*/ 5807 h 10599"/>
                <a:gd name="connsiteX51" fmla="*/ 655 w 10000"/>
                <a:gd name="connsiteY51" fmla="*/ 5599 h 10599"/>
                <a:gd name="connsiteX52" fmla="*/ 428 w 10000"/>
                <a:gd name="connsiteY52" fmla="*/ 5599 h 10599"/>
                <a:gd name="connsiteX53" fmla="*/ 0 w 10000"/>
                <a:gd name="connsiteY53" fmla="*/ 5417 h 10599"/>
                <a:gd name="connsiteX54" fmla="*/ 202 w 10000"/>
                <a:gd name="connsiteY54" fmla="*/ 5182 h 10599"/>
                <a:gd name="connsiteX55" fmla="*/ 856 w 10000"/>
                <a:gd name="connsiteY55" fmla="*/ 5182 h 10599"/>
                <a:gd name="connsiteX56" fmla="*/ 856 w 10000"/>
                <a:gd name="connsiteY56" fmla="*/ 4974 h 10599"/>
                <a:gd name="connsiteX57" fmla="*/ 856 w 10000"/>
                <a:gd name="connsiteY57" fmla="*/ 4557 h 10599"/>
                <a:gd name="connsiteX58" fmla="*/ 655 w 10000"/>
                <a:gd name="connsiteY58" fmla="*/ 4557 h 10599"/>
                <a:gd name="connsiteX59" fmla="*/ 655 w 10000"/>
                <a:gd name="connsiteY59" fmla="*/ 4349 h 10599"/>
                <a:gd name="connsiteX60" fmla="*/ 428 w 10000"/>
                <a:gd name="connsiteY60" fmla="*/ 4349 h 10599"/>
                <a:gd name="connsiteX61" fmla="*/ 428 w 10000"/>
                <a:gd name="connsiteY61" fmla="*/ 3932 h 10599"/>
                <a:gd name="connsiteX62" fmla="*/ 655 w 10000"/>
                <a:gd name="connsiteY62" fmla="*/ 3724 h 10599"/>
                <a:gd name="connsiteX63" fmla="*/ 856 w 10000"/>
                <a:gd name="connsiteY63" fmla="*/ 3932 h 10599"/>
                <a:gd name="connsiteX64" fmla="*/ 1310 w 10000"/>
                <a:gd name="connsiteY64" fmla="*/ 3724 h 10599"/>
                <a:gd name="connsiteX65" fmla="*/ 2393 w 10000"/>
                <a:gd name="connsiteY65" fmla="*/ 2474 h 10599"/>
                <a:gd name="connsiteX66" fmla="*/ 2166 w 10000"/>
                <a:gd name="connsiteY66" fmla="*/ 2292 h 10599"/>
                <a:gd name="connsiteX67" fmla="*/ 2393 w 10000"/>
                <a:gd name="connsiteY67" fmla="*/ 2292 h 10599"/>
                <a:gd name="connsiteX68" fmla="*/ 2393 w 10000"/>
                <a:gd name="connsiteY68" fmla="*/ 2057 h 10599"/>
                <a:gd name="connsiteX69" fmla="*/ 2596 w 10000"/>
                <a:gd name="connsiteY69" fmla="*/ 1849 h 10599"/>
                <a:gd name="connsiteX70" fmla="*/ 2166 w 10000"/>
                <a:gd name="connsiteY70" fmla="*/ 1432 h 10599"/>
                <a:gd name="connsiteX71" fmla="*/ 1965 w 10000"/>
                <a:gd name="connsiteY71" fmla="*/ 1224 h 10599"/>
                <a:gd name="connsiteX72" fmla="*/ 2189 w 10000"/>
                <a:gd name="connsiteY72" fmla="*/ 807 h 10599"/>
                <a:gd name="connsiteX73" fmla="*/ 1940 w 10000"/>
                <a:gd name="connsiteY73" fmla="*/ 417 h 10599"/>
                <a:gd name="connsiteX74" fmla="*/ 2596 w 10000"/>
                <a:gd name="connsiteY74" fmla="*/ 0 h 10599"/>
                <a:gd name="connsiteX75" fmla="*/ 3382 w 10000"/>
                <a:gd name="connsiteY75" fmla="*/ 599 h 10599"/>
                <a:gd name="connsiteX76" fmla="*/ 4131 w 10000"/>
                <a:gd name="connsiteY76" fmla="*/ 495 h 10599"/>
                <a:gd name="connsiteX77" fmla="*/ 4131 w 10000"/>
                <a:gd name="connsiteY77" fmla="*/ 807 h 10599"/>
                <a:gd name="connsiteX78" fmla="*/ 4131 w 10000"/>
                <a:gd name="connsiteY78" fmla="*/ 1224 h 10599"/>
                <a:gd name="connsiteX79" fmla="*/ 3703 w 10000"/>
                <a:gd name="connsiteY79" fmla="*/ 1667 h 10599"/>
                <a:gd name="connsiteX80" fmla="*/ 3904 w 10000"/>
                <a:gd name="connsiteY80" fmla="*/ 2057 h 10599"/>
                <a:gd name="connsiteX81" fmla="*/ 3476 w 10000"/>
                <a:gd name="connsiteY81" fmla="*/ 2057 h 10599"/>
                <a:gd name="connsiteX82" fmla="*/ 3703 w 10000"/>
                <a:gd name="connsiteY82" fmla="*/ 2682 h 10599"/>
                <a:gd name="connsiteX83" fmla="*/ 4358 w 10000"/>
                <a:gd name="connsiteY83" fmla="*/ 2917 h 10599"/>
                <a:gd name="connsiteX84" fmla="*/ 4131 w 10000"/>
                <a:gd name="connsiteY84" fmla="*/ 3542 h 10599"/>
                <a:gd name="connsiteX85" fmla="*/ 4559 w 10000"/>
                <a:gd name="connsiteY85" fmla="*/ 3724 h 10599"/>
                <a:gd name="connsiteX86" fmla="*/ 6524 w 10000"/>
                <a:gd name="connsiteY86" fmla="*/ 4349 h 10599"/>
                <a:gd name="connsiteX87" fmla="*/ 6751 w 10000"/>
                <a:gd name="connsiteY87" fmla="*/ 4349 h 10599"/>
                <a:gd name="connsiteX88" fmla="*/ 6751 w 10000"/>
                <a:gd name="connsiteY88" fmla="*/ 4167 h 10599"/>
                <a:gd name="connsiteX89" fmla="*/ 6751 w 10000"/>
                <a:gd name="connsiteY89" fmla="*/ 3724 h 10599"/>
                <a:gd name="connsiteX90" fmla="*/ 6952 w 10000"/>
                <a:gd name="connsiteY90" fmla="*/ 3724 h 10599"/>
                <a:gd name="connsiteX91" fmla="*/ 7179 w 10000"/>
                <a:gd name="connsiteY91" fmla="*/ 3932 h 10599"/>
                <a:gd name="connsiteX92" fmla="*/ 7179 w 10000"/>
                <a:gd name="connsiteY92" fmla="*/ 4167 h 10599"/>
                <a:gd name="connsiteX93" fmla="*/ 8035 w 10000"/>
                <a:gd name="connsiteY93" fmla="*/ 4167 h 10599"/>
                <a:gd name="connsiteX94" fmla="*/ 8262 w 10000"/>
                <a:gd name="connsiteY94" fmla="*/ 4167 h 10599"/>
                <a:gd name="connsiteX95" fmla="*/ 8035 w 10000"/>
                <a:gd name="connsiteY95" fmla="*/ 3724 h 10599"/>
                <a:gd name="connsiteX96" fmla="*/ 9144 w 10000"/>
                <a:gd name="connsiteY96" fmla="*/ 3307 h 1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000" h="10599">
                  <a:moveTo>
                    <a:pt x="9144" y="3307"/>
                  </a:moveTo>
                  <a:lnTo>
                    <a:pt x="9144" y="3307"/>
                  </a:lnTo>
                  <a:lnTo>
                    <a:pt x="9572" y="3307"/>
                  </a:lnTo>
                  <a:lnTo>
                    <a:pt x="10000" y="3724"/>
                  </a:lnTo>
                  <a:lnTo>
                    <a:pt x="10000" y="4167"/>
                  </a:lnTo>
                  <a:lnTo>
                    <a:pt x="9572" y="4167"/>
                  </a:lnTo>
                  <a:lnTo>
                    <a:pt x="9345" y="4349"/>
                  </a:lnTo>
                  <a:lnTo>
                    <a:pt x="8917" y="5182"/>
                  </a:lnTo>
                  <a:lnTo>
                    <a:pt x="8690" y="5417"/>
                  </a:lnTo>
                  <a:lnTo>
                    <a:pt x="8489" y="5807"/>
                  </a:lnTo>
                  <a:lnTo>
                    <a:pt x="8489" y="6042"/>
                  </a:lnTo>
                  <a:cubicBezTo>
                    <a:pt x="8413" y="5834"/>
                    <a:pt x="8338" y="5625"/>
                    <a:pt x="8262" y="5417"/>
                  </a:cubicBezTo>
                  <a:lnTo>
                    <a:pt x="8262" y="5182"/>
                  </a:lnTo>
                  <a:lnTo>
                    <a:pt x="8035" y="5417"/>
                  </a:lnTo>
                  <a:lnTo>
                    <a:pt x="7834" y="5417"/>
                  </a:lnTo>
                  <a:lnTo>
                    <a:pt x="7834" y="5182"/>
                  </a:lnTo>
                  <a:lnTo>
                    <a:pt x="8262" y="4792"/>
                  </a:lnTo>
                  <a:lnTo>
                    <a:pt x="7406" y="4792"/>
                  </a:lnTo>
                  <a:lnTo>
                    <a:pt x="7406" y="4349"/>
                  </a:lnTo>
                  <a:lnTo>
                    <a:pt x="7179" y="4349"/>
                  </a:lnTo>
                  <a:lnTo>
                    <a:pt x="6952" y="4349"/>
                  </a:lnTo>
                  <a:lnTo>
                    <a:pt x="6952" y="4557"/>
                  </a:lnTo>
                  <a:lnTo>
                    <a:pt x="6751" y="4974"/>
                  </a:lnTo>
                  <a:lnTo>
                    <a:pt x="6952" y="4974"/>
                  </a:lnTo>
                  <a:cubicBezTo>
                    <a:pt x="7028" y="5330"/>
                    <a:pt x="7103" y="5686"/>
                    <a:pt x="7179" y="6042"/>
                  </a:cubicBezTo>
                  <a:lnTo>
                    <a:pt x="6952" y="6042"/>
                  </a:lnTo>
                  <a:lnTo>
                    <a:pt x="6952" y="5807"/>
                  </a:lnTo>
                  <a:lnTo>
                    <a:pt x="6524" y="6042"/>
                  </a:lnTo>
                  <a:cubicBezTo>
                    <a:pt x="6448" y="6250"/>
                    <a:pt x="6373" y="6459"/>
                    <a:pt x="6297" y="6667"/>
                  </a:cubicBezTo>
                  <a:lnTo>
                    <a:pt x="5869" y="6849"/>
                  </a:lnTo>
                  <a:lnTo>
                    <a:pt x="4786" y="7682"/>
                  </a:lnTo>
                  <a:lnTo>
                    <a:pt x="4786" y="7917"/>
                  </a:lnTo>
                  <a:lnTo>
                    <a:pt x="4559" y="7917"/>
                  </a:lnTo>
                  <a:lnTo>
                    <a:pt x="4358" y="8099"/>
                  </a:lnTo>
                  <a:lnTo>
                    <a:pt x="4131" y="8099"/>
                  </a:lnTo>
                  <a:lnTo>
                    <a:pt x="4131" y="8307"/>
                  </a:lnTo>
                  <a:lnTo>
                    <a:pt x="4131" y="8932"/>
                  </a:lnTo>
                  <a:lnTo>
                    <a:pt x="3904" y="9349"/>
                  </a:lnTo>
                  <a:lnTo>
                    <a:pt x="3904" y="9974"/>
                  </a:lnTo>
                  <a:lnTo>
                    <a:pt x="3703" y="10182"/>
                  </a:lnTo>
                  <a:lnTo>
                    <a:pt x="3476" y="10417"/>
                  </a:lnTo>
                  <a:lnTo>
                    <a:pt x="3249" y="10599"/>
                  </a:lnTo>
                  <a:lnTo>
                    <a:pt x="2821" y="10417"/>
                  </a:lnTo>
                  <a:lnTo>
                    <a:pt x="2166" y="8542"/>
                  </a:lnTo>
                  <a:lnTo>
                    <a:pt x="1738" y="7917"/>
                  </a:lnTo>
                  <a:cubicBezTo>
                    <a:pt x="1662" y="7500"/>
                    <a:pt x="1587" y="7084"/>
                    <a:pt x="1511" y="6667"/>
                  </a:cubicBezTo>
                  <a:lnTo>
                    <a:pt x="1511" y="5807"/>
                  </a:lnTo>
                  <a:lnTo>
                    <a:pt x="1310" y="6224"/>
                  </a:lnTo>
                  <a:lnTo>
                    <a:pt x="856" y="6432"/>
                  </a:lnTo>
                  <a:lnTo>
                    <a:pt x="202" y="5807"/>
                  </a:lnTo>
                  <a:lnTo>
                    <a:pt x="655" y="5807"/>
                  </a:lnTo>
                  <a:lnTo>
                    <a:pt x="655" y="5599"/>
                  </a:lnTo>
                  <a:lnTo>
                    <a:pt x="428" y="5599"/>
                  </a:lnTo>
                  <a:lnTo>
                    <a:pt x="0" y="5417"/>
                  </a:lnTo>
                  <a:lnTo>
                    <a:pt x="202" y="5182"/>
                  </a:lnTo>
                  <a:lnTo>
                    <a:pt x="856" y="5182"/>
                  </a:lnTo>
                  <a:lnTo>
                    <a:pt x="856" y="4974"/>
                  </a:lnTo>
                  <a:lnTo>
                    <a:pt x="856" y="4557"/>
                  </a:lnTo>
                  <a:lnTo>
                    <a:pt x="655" y="4557"/>
                  </a:lnTo>
                  <a:lnTo>
                    <a:pt x="655" y="4349"/>
                  </a:lnTo>
                  <a:lnTo>
                    <a:pt x="428" y="4349"/>
                  </a:lnTo>
                  <a:lnTo>
                    <a:pt x="428" y="3932"/>
                  </a:lnTo>
                  <a:lnTo>
                    <a:pt x="655" y="3724"/>
                  </a:lnTo>
                  <a:lnTo>
                    <a:pt x="856" y="3932"/>
                  </a:lnTo>
                  <a:lnTo>
                    <a:pt x="1310" y="3724"/>
                  </a:lnTo>
                  <a:lnTo>
                    <a:pt x="2393" y="2474"/>
                  </a:lnTo>
                  <a:lnTo>
                    <a:pt x="2166" y="2292"/>
                  </a:lnTo>
                  <a:lnTo>
                    <a:pt x="2393" y="2292"/>
                  </a:lnTo>
                  <a:lnTo>
                    <a:pt x="2393" y="2057"/>
                  </a:lnTo>
                  <a:lnTo>
                    <a:pt x="2596" y="1849"/>
                  </a:lnTo>
                  <a:lnTo>
                    <a:pt x="2166" y="1432"/>
                  </a:lnTo>
                  <a:lnTo>
                    <a:pt x="1965" y="1224"/>
                  </a:lnTo>
                  <a:cubicBezTo>
                    <a:pt x="1925" y="1133"/>
                    <a:pt x="2193" y="941"/>
                    <a:pt x="2189" y="807"/>
                  </a:cubicBezTo>
                  <a:cubicBezTo>
                    <a:pt x="2185" y="673"/>
                    <a:pt x="1829" y="565"/>
                    <a:pt x="1940" y="417"/>
                  </a:cubicBezTo>
                  <a:lnTo>
                    <a:pt x="2596" y="0"/>
                  </a:lnTo>
                  <a:lnTo>
                    <a:pt x="3382" y="599"/>
                  </a:lnTo>
                  <a:lnTo>
                    <a:pt x="4131" y="495"/>
                  </a:lnTo>
                  <a:lnTo>
                    <a:pt x="4131" y="807"/>
                  </a:lnTo>
                  <a:lnTo>
                    <a:pt x="4131" y="1224"/>
                  </a:lnTo>
                  <a:lnTo>
                    <a:pt x="3703" y="1667"/>
                  </a:lnTo>
                  <a:lnTo>
                    <a:pt x="3904" y="2057"/>
                  </a:lnTo>
                  <a:lnTo>
                    <a:pt x="3476" y="2057"/>
                  </a:lnTo>
                  <a:cubicBezTo>
                    <a:pt x="3552" y="2265"/>
                    <a:pt x="3627" y="2474"/>
                    <a:pt x="3703" y="2682"/>
                  </a:cubicBezTo>
                  <a:lnTo>
                    <a:pt x="4358" y="2917"/>
                  </a:lnTo>
                  <a:cubicBezTo>
                    <a:pt x="4282" y="3125"/>
                    <a:pt x="4207" y="3334"/>
                    <a:pt x="4131" y="3542"/>
                  </a:cubicBezTo>
                  <a:lnTo>
                    <a:pt x="4559" y="3724"/>
                  </a:lnTo>
                  <a:lnTo>
                    <a:pt x="6524" y="4349"/>
                  </a:lnTo>
                  <a:lnTo>
                    <a:pt x="6751" y="4349"/>
                  </a:lnTo>
                  <a:lnTo>
                    <a:pt x="6751" y="4167"/>
                  </a:lnTo>
                  <a:lnTo>
                    <a:pt x="6751" y="3724"/>
                  </a:lnTo>
                  <a:lnTo>
                    <a:pt x="6952" y="3724"/>
                  </a:lnTo>
                  <a:lnTo>
                    <a:pt x="7179" y="3932"/>
                  </a:lnTo>
                  <a:lnTo>
                    <a:pt x="7179" y="4167"/>
                  </a:lnTo>
                  <a:lnTo>
                    <a:pt x="8035" y="4167"/>
                  </a:lnTo>
                  <a:lnTo>
                    <a:pt x="8262" y="4167"/>
                  </a:lnTo>
                  <a:lnTo>
                    <a:pt x="8035" y="3724"/>
                  </a:lnTo>
                  <a:lnTo>
                    <a:pt x="9144" y="3307"/>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88" name="Freeform 222">
              <a:extLst>
                <a:ext uri="{FF2B5EF4-FFF2-40B4-BE49-F238E27FC236}">
                  <a16:creationId xmlns:a16="http://schemas.microsoft.com/office/drawing/2014/main" id="{774BF1CF-4E1C-4170-B985-D421F06A7244}"/>
                </a:ext>
              </a:extLst>
            </p:cNvPr>
            <p:cNvSpPr>
              <a:spLocks/>
            </p:cNvSpPr>
            <p:nvPr>
              <p:custDataLst>
                <p:tags r:id="rId315"/>
              </p:custDataLst>
            </p:nvPr>
          </p:nvSpPr>
          <p:spPr bwMode="auto">
            <a:xfrm>
              <a:off x="7819076" y="3175566"/>
              <a:ext cx="448611" cy="242922"/>
            </a:xfrm>
            <a:custGeom>
              <a:avLst/>
              <a:gdLst>
                <a:gd name="T0" fmla="*/ 42152 w 503"/>
                <a:gd name="T1" fmla="*/ 54153 h 303"/>
                <a:gd name="T2" fmla="*/ 42152 w 503"/>
                <a:gd name="T3" fmla="*/ 54153 h 303"/>
                <a:gd name="T4" fmla="*/ 34994 w 503"/>
                <a:gd name="T5" fmla="*/ 54153 h 303"/>
                <a:gd name="T6" fmla="*/ 34994 w 503"/>
                <a:gd name="T7" fmla="*/ 50968 h 303"/>
                <a:gd name="T8" fmla="*/ 38176 w 503"/>
                <a:gd name="T9" fmla="*/ 44597 h 303"/>
                <a:gd name="T10" fmla="*/ 45334 w 503"/>
                <a:gd name="T11" fmla="*/ 44597 h 303"/>
                <a:gd name="T12" fmla="*/ 45334 w 503"/>
                <a:gd name="T13" fmla="*/ 41411 h 303"/>
                <a:gd name="T14" fmla="*/ 42152 w 503"/>
                <a:gd name="T15" fmla="*/ 35040 h 303"/>
                <a:gd name="T16" fmla="*/ 42152 w 503"/>
                <a:gd name="T17" fmla="*/ 31855 h 303"/>
                <a:gd name="T18" fmla="*/ 31018 w 503"/>
                <a:gd name="T19" fmla="*/ 28669 h 303"/>
                <a:gd name="T20" fmla="*/ 24655 w 503"/>
                <a:gd name="T21" fmla="*/ 31855 h 303"/>
                <a:gd name="T22" fmla="*/ 17497 w 503"/>
                <a:gd name="T23" fmla="*/ 35040 h 303"/>
                <a:gd name="T24" fmla="*/ 14316 w 503"/>
                <a:gd name="T25" fmla="*/ 35040 h 303"/>
                <a:gd name="T26" fmla="*/ 3977 w 503"/>
                <a:gd name="T27" fmla="*/ 35040 h 303"/>
                <a:gd name="T28" fmla="*/ 0 w 503"/>
                <a:gd name="T29" fmla="*/ 31855 h 303"/>
                <a:gd name="T30" fmla="*/ 3977 w 503"/>
                <a:gd name="T31" fmla="*/ 25484 h 303"/>
                <a:gd name="T32" fmla="*/ 7158 w 503"/>
                <a:gd name="T33" fmla="*/ 19113 h 303"/>
                <a:gd name="T34" fmla="*/ 10339 w 503"/>
                <a:gd name="T35" fmla="*/ 15927 h 303"/>
                <a:gd name="T36" fmla="*/ 7158 w 503"/>
                <a:gd name="T37" fmla="*/ 6371 h 303"/>
                <a:gd name="T38" fmla="*/ 14316 w 503"/>
                <a:gd name="T39" fmla="*/ 3185 h 303"/>
                <a:gd name="T40" fmla="*/ 20679 w 503"/>
                <a:gd name="T41" fmla="*/ 3185 h 303"/>
                <a:gd name="T42" fmla="*/ 31018 w 503"/>
                <a:gd name="T43" fmla="*/ 6371 h 303"/>
                <a:gd name="T44" fmla="*/ 34994 w 503"/>
                <a:gd name="T45" fmla="*/ 6371 h 303"/>
                <a:gd name="T46" fmla="*/ 38176 w 503"/>
                <a:gd name="T47" fmla="*/ 6371 h 303"/>
                <a:gd name="T48" fmla="*/ 42152 w 503"/>
                <a:gd name="T49" fmla="*/ 6371 h 303"/>
                <a:gd name="T50" fmla="*/ 48515 w 503"/>
                <a:gd name="T51" fmla="*/ 6371 h 303"/>
                <a:gd name="T52" fmla="*/ 52492 w 503"/>
                <a:gd name="T53" fmla="*/ 0 h 303"/>
                <a:gd name="T54" fmla="*/ 55673 w 503"/>
                <a:gd name="T55" fmla="*/ 0 h 303"/>
                <a:gd name="T56" fmla="*/ 66012 w 503"/>
                <a:gd name="T57" fmla="*/ 0 h 303"/>
                <a:gd name="T58" fmla="*/ 69194 w 503"/>
                <a:gd name="T59" fmla="*/ 3185 h 303"/>
                <a:gd name="T60" fmla="*/ 66012 w 503"/>
                <a:gd name="T61" fmla="*/ 3185 h 303"/>
                <a:gd name="T62" fmla="*/ 69194 w 503"/>
                <a:gd name="T63" fmla="*/ 6371 h 303"/>
                <a:gd name="T64" fmla="*/ 73170 w 503"/>
                <a:gd name="T65" fmla="*/ 6371 h 303"/>
                <a:gd name="T66" fmla="*/ 76351 w 503"/>
                <a:gd name="T67" fmla="*/ 12742 h 303"/>
                <a:gd name="T68" fmla="*/ 79533 w 503"/>
                <a:gd name="T69" fmla="*/ 15927 h 303"/>
                <a:gd name="T70" fmla="*/ 83509 w 503"/>
                <a:gd name="T71" fmla="*/ 12742 h 303"/>
                <a:gd name="T72" fmla="*/ 100211 w 503"/>
                <a:gd name="T73" fmla="*/ 22298 h 303"/>
                <a:gd name="T74" fmla="*/ 97030 w 503"/>
                <a:gd name="T75" fmla="*/ 35040 h 303"/>
                <a:gd name="T76" fmla="*/ 93053 w 503"/>
                <a:gd name="T77" fmla="*/ 31855 h 303"/>
                <a:gd name="T78" fmla="*/ 89872 w 503"/>
                <a:gd name="T79" fmla="*/ 35040 h 303"/>
                <a:gd name="T80" fmla="*/ 89872 w 503"/>
                <a:gd name="T81" fmla="*/ 41411 h 303"/>
                <a:gd name="T82" fmla="*/ 86691 w 503"/>
                <a:gd name="T83" fmla="*/ 41411 h 303"/>
                <a:gd name="T84" fmla="*/ 69194 w 503"/>
                <a:gd name="T85" fmla="*/ 50968 h 303"/>
                <a:gd name="T86" fmla="*/ 76351 w 503"/>
                <a:gd name="T87" fmla="*/ 54153 h 303"/>
                <a:gd name="T88" fmla="*/ 79533 w 503"/>
                <a:gd name="T89" fmla="*/ 54153 h 303"/>
                <a:gd name="T90" fmla="*/ 76351 w 503"/>
                <a:gd name="T91" fmla="*/ 54153 h 303"/>
                <a:gd name="T92" fmla="*/ 66012 w 503"/>
                <a:gd name="T93" fmla="*/ 60524 h 303"/>
                <a:gd name="T94" fmla="*/ 62831 w 503"/>
                <a:gd name="T95" fmla="*/ 60524 h 303"/>
                <a:gd name="T96" fmla="*/ 62831 w 503"/>
                <a:gd name="T97" fmla="*/ 57339 h 303"/>
                <a:gd name="T98" fmla="*/ 58854 w 503"/>
                <a:gd name="T99" fmla="*/ 54153 h 303"/>
                <a:gd name="T100" fmla="*/ 66012 w 503"/>
                <a:gd name="T101" fmla="*/ 50968 h 303"/>
                <a:gd name="T102" fmla="*/ 55673 w 503"/>
                <a:gd name="T103" fmla="*/ 47782 h 303"/>
                <a:gd name="T104" fmla="*/ 55673 w 503"/>
                <a:gd name="T105" fmla="*/ 44597 h 303"/>
                <a:gd name="T106" fmla="*/ 48515 w 503"/>
                <a:gd name="T107" fmla="*/ 44597 h 303"/>
                <a:gd name="T108" fmla="*/ 45334 w 503"/>
                <a:gd name="T109" fmla="*/ 50968 h 303"/>
                <a:gd name="T110" fmla="*/ 42152 w 503"/>
                <a:gd name="T111" fmla="*/ 50968 h 303"/>
                <a:gd name="T112" fmla="*/ 42152 w 503"/>
                <a:gd name="T113" fmla="*/ 54153 h 3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03"/>
                <a:gd name="T172" fmla="*/ 0 h 303"/>
                <a:gd name="T173" fmla="*/ 503 w 503"/>
                <a:gd name="T174" fmla="*/ 303 h 303"/>
                <a:gd name="connsiteX0" fmla="*/ 4155 w 10000"/>
                <a:gd name="connsiteY0" fmla="*/ 8977 h 10000"/>
                <a:gd name="connsiteX1" fmla="*/ 4155 w 10000"/>
                <a:gd name="connsiteY1" fmla="*/ 8977 h 10000"/>
                <a:gd name="connsiteX2" fmla="*/ 3439 w 10000"/>
                <a:gd name="connsiteY2" fmla="*/ 8977 h 10000"/>
                <a:gd name="connsiteX3" fmla="*/ 3439 w 10000"/>
                <a:gd name="connsiteY3" fmla="*/ 8416 h 10000"/>
                <a:gd name="connsiteX4" fmla="*/ 3817 w 10000"/>
                <a:gd name="connsiteY4" fmla="*/ 7393 h 10000"/>
                <a:gd name="connsiteX5" fmla="*/ 4513 w 10000"/>
                <a:gd name="connsiteY5" fmla="*/ 7393 h 10000"/>
                <a:gd name="connsiteX6" fmla="*/ 4513 w 10000"/>
                <a:gd name="connsiteY6" fmla="*/ 6832 h 10000"/>
                <a:gd name="connsiteX7" fmla="*/ 4155 w 10000"/>
                <a:gd name="connsiteY7" fmla="*/ 5809 h 10000"/>
                <a:gd name="connsiteX8" fmla="*/ 4155 w 10000"/>
                <a:gd name="connsiteY8" fmla="*/ 5248 h 10000"/>
                <a:gd name="connsiteX9" fmla="*/ 3101 w 10000"/>
                <a:gd name="connsiteY9" fmla="*/ 4752 h 10000"/>
                <a:gd name="connsiteX10" fmla="*/ 2406 w 10000"/>
                <a:gd name="connsiteY10" fmla="*/ 5248 h 10000"/>
                <a:gd name="connsiteX11" fmla="*/ 1710 w 10000"/>
                <a:gd name="connsiteY11" fmla="*/ 5809 h 10000"/>
                <a:gd name="connsiteX12" fmla="*/ 1372 w 10000"/>
                <a:gd name="connsiteY12" fmla="*/ 5809 h 10000"/>
                <a:gd name="connsiteX13" fmla="*/ 338 w 10000"/>
                <a:gd name="connsiteY13" fmla="*/ 5809 h 10000"/>
                <a:gd name="connsiteX14" fmla="*/ 0 w 10000"/>
                <a:gd name="connsiteY14" fmla="*/ 5248 h 10000"/>
                <a:gd name="connsiteX15" fmla="*/ 338 w 10000"/>
                <a:gd name="connsiteY15" fmla="*/ 4224 h 10000"/>
                <a:gd name="connsiteX16" fmla="*/ 696 w 10000"/>
                <a:gd name="connsiteY16" fmla="*/ 3168 h 10000"/>
                <a:gd name="connsiteX17" fmla="*/ 1034 w 10000"/>
                <a:gd name="connsiteY17" fmla="*/ 2640 h 10000"/>
                <a:gd name="connsiteX18" fmla="*/ 696 w 10000"/>
                <a:gd name="connsiteY18" fmla="*/ 1056 h 10000"/>
                <a:gd name="connsiteX19" fmla="*/ 1372 w 10000"/>
                <a:gd name="connsiteY19" fmla="*/ 495 h 10000"/>
                <a:gd name="connsiteX20" fmla="*/ 2068 w 10000"/>
                <a:gd name="connsiteY20" fmla="*/ 495 h 10000"/>
                <a:gd name="connsiteX21" fmla="*/ 3101 w 10000"/>
                <a:gd name="connsiteY21" fmla="*/ 1056 h 10000"/>
                <a:gd name="connsiteX22" fmla="*/ 3439 w 10000"/>
                <a:gd name="connsiteY22" fmla="*/ 1056 h 10000"/>
                <a:gd name="connsiteX23" fmla="*/ 3817 w 10000"/>
                <a:gd name="connsiteY23" fmla="*/ 1056 h 10000"/>
                <a:gd name="connsiteX24" fmla="*/ 4155 w 10000"/>
                <a:gd name="connsiteY24" fmla="*/ 1056 h 10000"/>
                <a:gd name="connsiteX25" fmla="*/ 4851 w 10000"/>
                <a:gd name="connsiteY25" fmla="*/ 1056 h 10000"/>
                <a:gd name="connsiteX26" fmla="*/ 5189 w 10000"/>
                <a:gd name="connsiteY26" fmla="*/ 0 h 10000"/>
                <a:gd name="connsiteX27" fmla="*/ 5527 w 10000"/>
                <a:gd name="connsiteY27" fmla="*/ 0 h 10000"/>
                <a:gd name="connsiteX28" fmla="*/ 6561 w 10000"/>
                <a:gd name="connsiteY28" fmla="*/ 0 h 10000"/>
                <a:gd name="connsiteX29" fmla="*/ 6918 w 10000"/>
                <a:gd name="connsiteY29" fmla="*/ 495 h 10000"/>
                <a:gd name="connsiteX30" fmla="*/ 6561 w 10000"/>
                <a:gd name="connsiteY30" fmla="*/ 495 h 10000"/>
                <a:gd name="connsiteX31" fmla="*/ 6918 w 10000"/>
                <a:gd name="connsiteY31" fmla="*/ 1056 h 10000"/>
                <a:gd name="connsiteX32" fmla="*/ 7256 w 10000"/>
                <a:gd name="connsiteY32" fmla="*/ 1056 h 10000"/>
                <a:gd name="connsiteX33" fmla="*/ 7594 w 10000"/>
                <a:gd name="connsiteY33" fmla="*/ 2079 h 10000"/>
                <a:gd name="connsiteX34" fmla="*/ 7932 w 10000"/>
                <a:gd name="connsiteY34" fmla="*/ 2640 h 10000"/>
                <a:gd name="connsiteX35" fmla="*/ 8290 w 10000"/>
                <a:gd name="connsiteY35" fmla="*/ 2079 h 10000"/>
                <a:gd name="connsiteX36" fmla="*/ 10000 w 10000"/>
                <a:gd name="connsiteY36" fmla="*/ 3663 h 10000"/>
                <a:gd name="connsiteX37" fmla="*/ 9662 w 10000"/>
                <a:gd name="connsiteY37" fmla="*/ 5809 h 10000"/>
                <a:gd name="connsiteX38" fmla="*/ 9304 w 10000"/>
                <a:gd name="connsiteY38" fmla="*/ 5248 h 10000"/>
                <a:gd name="connsiteX39" fmla="*/ 8966 w 10000"/>
                <a:gd name="connsiteY39" fmla="*/ 5809 h 10000"/>
                <a:gd name="connsiteX40" fmla="*/ 8966 w 10000"/>
                <a:gd name="connsiteY40" fmla="*/ 6832 h 10000"/>
                <a:gd name="connsiteX41" fmla="*/ 8628 w 10000"/>
                <a:gd name="connsiteY41" fmla="*/ 6832 h 10000"/>
                <a:gd name="connsiteX42" fmla="*/ 6918 w 10000"/>
                <a:gd name="connsiteY42" fmla="*/ 8416 h 10000"/>
                <a:gd name="connsiteX43" fmla="*/ 7594 w 10000"/>
                <a:gd name="connsiteY43" fmla="*/ 8977 h 10000"/>
                <a:gd name="connsiteX44" fmla="*/ 7932 w 10000"/>
                <a:gd name="connsiteY44" fmla="*/ 8977 h 10000"/>
                <a:gd name="connsiteX45" fmla="*/ 7594 w 10000"/>
                <a:gd name="connsiteY45" fmla="*/ 8977 h 10000"/>
                <a:gd name="connsiteX46" fmla="*/ 6223 w 10000"/>
                <a:gd name="connsiteY46" fmla="*/ 10000 h 10000"/>
                <a:gd name="connsiteX47" fmla="*/ 6223 w 10000"/>
                <a:gd name="connsiteY47" fmla="*/ 9505 h 10000"/>
                <a:gd name="connsiteX48" fmla="*/ 5885 w 10000"/>
                <a:gd name="connsiteY48" fmla="*/ 8977 h 10000"/>
                <a:gd name="connsiteX49" fmla="*/ 6561 w 10000"/>
                <a:gd name="connsiteY49" fmla="*/ 8416 h 10000"/>
                <a:gd name="connsiteX50" fmla="*/ 5527 w 10000"/>
                <a:gd name="connsiteY50" fmla="*/ 7921 h 10000"/>
                <a:gd name="connsiteX51" fmla="*/ 5527 w 10000"/>
                <a:gd name="connsiteY51" fmla="*/ 7393 h 10000"/>
                <a:gd name="connsiteX52" fmla="*/ 4851 w 10000"/>
                <a:gd name="connsiteY52" fmla="*/ 7393 h 10000"/>
                <a:gd name="connsiteX53" fmla="*/ 4513 w 10000"/>
                <a:gd name="connsiteY53" fmla="*/ 8416 h 10000"/>
                <a:gd name="connsiteX54" fmla="*/ 4155 w 10000"/>
                <a:gd name="connsiteY54" fmla="*/ 8416 h 10000"/>
                <a:gd name="connsiteX55" fmla="*/ 4155 w 10000"/>
                <a:gd name="connsiteY55" fmla="*/ 8977 h 10000"/>
                <a:gd name="connsiteX0" fmla="*/ 4155 w 10000"/>
                <a:gd name="connsiteY0" fmla="*/ 8977 h 9505"/>
                <a:gd name="connsiteX1" fmla="*/ 4155 w 10000"/>
                <a:gd name="connsiteY1" fmla="*/ 8977 h 9505"/>
                <a:gd name="connsiteX2" fmla="*/ 3439 w 10000"/>
                <a:gd name="connsiteY2" fmla="*/ 8977 h 9505"/>
                <a:gd name="connsiteX3" fmla="*/ 3439 w 10000"/>
                <a:gd name="connsiteY3" fmla="*/ 8416 h 9505"/>
                <a:gd name="connsiteX4" fmla="*/ 3817 w 10000"/>
                <a:gd name="connsiteY4" fmla="*/ 7393 h 9505"/>
                <a:gd name="connsiteX5" fmla="*/ 4513 w 10000"/>
                <a:gd name="connsiteY5" fmla="*/ 7393 h 9505"/>
                <a:gd name="connsiteX6" fmla="*/ 4513 w 10000"/>
                <a:gd name="connsiteY6" fmla="*/ 6832 h 9505"/>
                <a:gd name="connsiteX7" fmla="*/ 4155 w 10000"/>
                <a:gd name="connsiteY7" fmla="*/ 5809 h 9505"/>
                <a:gd name="connsiteX8" fmla="*/ 4155 w 10000"/>
                <a:gd name="connsiteY8" fmla="*/ 5248 h 9505"/>
                <a:gd name="connsiteX9" fmla="*/ 3101 w 10000"/>
                <a:gd name="connsiteY9" fmla="*/ 4752 h 9505"/>
                <a:gd name="connsiteX10" fmla="*/ 2406 w 10000"/>
                <a:gd name="connsiteY10" fmla="*/ 5248 h 9505"/>
                <a:gd name="connsiteX11" fmla="*/ 1710 w 10000"/>
                <a:gd name="connsiteY11" fmla="*/ 5809 h 9505"/>
                <a:gd name="connsiteX12" fmla="*/ 1372 w 10000"/>
                <a:gd name="connsiteY12" fmla="*/ 5809 h 9505"/>
                <a:gd name="connsiteX13" fmla="*/ 338 w 10000"/>
                <a:gd name="connsiteY13" fmla="*/ 5809 h 9505"/>
                <a:gd name="connsiteX14" fmla="*/ 0 w 10000"/>
                <a:gd name="connsiteY14" fmla="*/ 5248 h 9505"/>
                <a:gd name="connsiteX15" fmla="*/ 338 w 10000"/>
                <a:gd name="connsiteY15" fmla="*/ 4224 h 9505"/>
                <a:gd name="connsiteX16" fmla="*/ 696 w 10000"/>
                <a:gd name="connsiteY16" fmla="*/ 3168 h 9505"/>
                <a:gd name="connsiteX17" fmla="*/ 1034 w 10000"/>
                <a:gd name="connsiteY17" fmla="*/ 2640 h 9505"/>
                <a:gd name="connsiteX18" fmla="*/ 696 w 10000"/>
                <a:gd name="connsiteY18" fmla="*/ 1056 h 9505"/>
                <a:gd name="connsiteX19" fmla="*/ 1372 w 10000"/>
                <a:gd name="connsiteY19" fmla="*/ 495 h 9505"/>
                <a:gd name="connsiteX20" fmla="*/ 2068 w 10000"/>
                <a:gd name="connsiteY20" fmla="*/ 495 h 9505"/>
                <a:gd name="connsiteX21" fmla="*/ 3101 w 10000"/>
                <a:gd name="connsiteY21" fmla="*/ 1056 h 9505"/>
                <a:gd name="connsiteX22" fmla="*/ 3439 w 10000"/>
                <a:gd name="connsiteY22" fmla="*/ 1056 h 9505"/>
                <a:gd name="connsiteX23" fmla="*/ 3817 w 10000"/>
                <a:gd name="connsiteY23" fmla="*/ 1056 h 9505"/>
                <a:gd name="connsiteX24" fmla="*/ 4155 w 10000"/>
                <a:gd name="connsiteY24" fmla="*/ 1056 h 9505"/>
                <a:gd name="connsiteX25" fmla="*/ 4851 w 10000"/>
                <a:gd name="connsiteY25" fmla="*/ 1056 h 9505"/>
                <a:gd name="connsiteX26" fmla="*/ 5189 w 10000"/>
                <a:gd name="connsiteY26" fmla="*/ 0 h 9505"/>
                <a:gd name="connsiteX27" fmla="*/ 5527 w 10000"/>
                <a:gd name="connsiteY27" fmla="*/ 0 h 9505"/>
                <a:gd name="connsiteX28" fmla="*/ 6561 w 10000"/>
                <a:gd name="connsiteY28" fmla="*/ 0 h 9505"/>
                <a:gd name="connsiteX29" fmla="*/ 6918 w 10000"/>
                <a:gd name="connsiteY29" fmla="*/ 495 h 9505"/>
                <a:gd name="connsiteX30" fmla="*/ 6561 w 10000"/>
                <a:gd name="connsiteY30" fmla="*/ 495 h 9505"/>
                <a:gd name="connsiteX31" fmla="*/ 6918 w 10000"/>
                <a:gd name="connsiteY31" fmla="*/ 1056 h 9505"/>
                <a:gd name="connsiteX32" fmla="*/ 7256 w 10000"/>
                <a:gd name="connsiteY32" fmla="*/ 1056 h 9505"/>
                <a:gd name="connsiteX33" fmla="*/ 7594 w 10000"/>
                <a:gd name="connsiteY33" fmla="*/ 2079 h 9505"/>
                <a:gd name="connsiteX34" fmla="*/ 7932 w 10000"/>
                <a:gd name="connsiteY34" fmla="*/ 2640 h 9505"/>
                <a:gd name="connsiteX35" fmla="*/ 8290 w 10000"/>
                <a:gd name="connsiteY35" fmla="*/ 2079 h 9505"/>
                <a:gd name="connsiteX36" fmla="*/ 10000 w 10000"/>
                <a:gd name="connsiteY36" fmla="*/ 3663 h 9505"/>
                <a:gd name="connsiteX37" fmla="*/ 9662 w 10000"/>
                <a:gd name="connsiteY37" fmla="*/ 5809 h 9505"/>
                <a:gd name="connsiteX38" fmla="*/ 9304 w 10000"/>
                <a:gd name="connsiteY38" fmla="*/ 5248 h 9505"/>
                <a:gd name="connsiteX39" fmla="*/ 8966 w 10000"/>
                <a:gd name="connsiteY39" fmla="*/ 5809 h 9505"/>
                <a:gd name="connsiteX40" fmla="*/ 8966 w 10000"/>
                <a:gd name="connsiteY40" fmla="*/ 6832 h 9505"/>
                <a:gd name="connsiteX41" fmla="*/ 8628 w 10000"/>
                <a:gd name="connsiteY41" fmla="*/ 6832 h 9505"/>
                <a:gd name="connsiteX42" fmla="*/ 6918 w 10000"/>
                <a:gd name="connsiteY42" fmla="*/ 8416 h 9505"/>
                <a:gd name="connsiteX43" fmla="*/ 7594 w 10000"/>
                <a:gd name="connsiteY43" fmla="*/ 8977 h 9505"/>
                <a:gd name="connsiteX44" fmla="*/ 7932 w 10000"/>
                <a:gd name="connsiteY44" fmla="*/ 8977 h 9505"/>
                <a:gd name="connsiteX45" fmla="*/ 7594 w 10000"/>
                <a:gd name="connsiteY45" fmla="*/ 8977 h 9505"/>
                <a:gd name="connsiteX46" fmla="*/ 6223 w 10000"/>
                <a:gd name="connsiteY46" fmla="*/ 9505 h 9505"/>
                <a:gd name="connsiteX47" fmla="*/ 5885 w 10000"/>
                <a:gd name="connsiteY47" fmla="*/ 8977 h 9505"/>
                <a:gd name="connsiteX48" fmla="*/ 6561 w 10000"/>
                <a:gd name="connsiteY48" fmla="*/ 8416 h 9505"/>
                <a:gd name="connsiteX49" fmla="*/ 5527 w 10000"/>
                <a:gd name="connsiteY49" fmla="*/ 7921 h 9505"/>
                <a:gd name="connsiteX50" fmla="*/ 5527 w 10000"/>
                <a:gd name="connsiteY50" fmla="*/ 7393 h 9505"/>
                <a:gd name="connsiteX51" fmla="*/ 4851 w 10000"/>
                <a:gd name="connsiteY51" fmla="*/ 7393 h 9505"/>
                <a:gd name="connsiteX52" fmla="*/ 4513 w 10000"/>
                <a:gd name="connsiteY52" fmla="*/ 8416 h 9505"/>
                <a:gd name="connsiteX53" fmla="*/ 4155 w 10000"/>
                <a:gd name="connsiteY53" fmla="*/ 8416 h 9505"/>
                <a:gd name="connsiteX54" fmla="*/ 4155 w 10000"/>
                <a:gd name="connsiteY54" fmla="*/ 8977 h 9505"/>
                <a:gd name="connsiteX0" fmla="*/ 4155 w 10000"/>
                <a:gd name="connsiteY0" fmla="*/ 9445 h 9445"/>
                <a:gd name="connsiteX1" fmla="*/ 4155 w 10000"/>
                <a:gd name="connsiteY1" fmla="*/ 9445 h 9445"/>
                <a:gd name="connsiteX2" fmla="*/ 3439 w 10000"/>
                <a:gd name="connsiteY2" fmla="*/ 9445 h 9445"/>
                <a:gd name="connsiteX3" fmla="*/ 3439 w 10000"/>
                <a:gd name="connsiteY3" fmla="*/ 8854 h 9445"/>
                <a:gd name="connsiteX4" fmla="*/ 3817 w 10000"/>
                <a:gd name="connsiteY4" fmla="*/ 7778 h 9445"/>
                <a:gd name="connsiteX5" fmla="*/ 4513 w 10000"/>
                <a:gd name="connsiteY5" fmla="*/ 7778 h 9445"/>
                <a:gd name="connsiteX6" fmla="*/ 4513 w 10000"/>
                <a:gd name="connsiteY6" fmla="*/ 7188 h 9445"/>
                <a:gd name="connsiteX7" fmla="*/ 4155 w 10000"/>
                <a:gd name="connsiteY7" fmla="*/ 6112 h 9445"/>
                <a:gd name="connsiteX8" fmla="*/ 4155 w 10000"/>
                <a:gd name="connsiteY8" fmla="*/ 5521 h 9445"/>
                <a:gd name="connsiteX9" fmla="*/ 3101 w 10000"/>
                <a:gd name="connsiteY9" fmla="*/ 4999 h 9445"/>
                <a:gd name="connsiteX10" fmla="*/ 2406 w 10000"/>
                <a:gd name="connsiteY10" fmla="*/ 5521 h 9445"/>
                <a:gd name="connsiteX11" fmla="*/ 1710 w 10000"/>
                <a:gd name="connsiteY11" fmla="*/ 6112 h 9445"/>
                <a:gd name="connsiteX12" fmla="*/ 1372 w 10000"/>
                <a:gd name="connsiteY12" fmla="*/ 6112 h 9445"/>
                <a:gd name="connsiteX13" fmla="*/ 338 w 10000"/>
                <a:gd name="connsiteY13" fmla="*/ 6112 h 9445"/>
                <a:gd name="connsiteX14" fmla="*/ 0 w 10000"/>
                <a:gd name="connsiteY14" fmla="*/ 5521 h 9445"/>
                <a:gd name="connsiteX15" fmla="*/ 338 w 10000"/>
                <a:gd name="connsiteY15" fmla="*/ 4444 h 9445"/>
                <a:gd name="connsiteX16" fmla="*/ 696 w 10000"/>
                <a:gd name="connsiteY16" fmla="*/ 3333 h 9445"/>
                <a:gd name="connsiteX17" fmla="*/ 1034 w 10000"/>
                <a:gd name="connsiteY17" fmla="*/ 2777 h 9445"/>
                <a:gd name="connsiteX18" fmla="*/ 696 w 10000"/>
                <a:gd name="connsiteY18" fmla="*/ 1111 h 9445"/>
                <a:gd name="connsiteX19" fmla="*/ 1372 w 10000"/>
                <a:gd name="connsiteY19" fmla="*/ 521 h 9445"/>
                <a:gd name="connsiteX20" fmla="*/ 2068 w 10000"/>
                <a:gd name="connsiteY20" fmla="*/ 521 h 9445"/>
                <a:gd name="connsiteX21" fmla="*/ 3101 w 10000"/>
                <a:gd name="connsiteY21" fmla="*/ 1111 h 9445"/>
                <a:gd name="connsiteX22" fmla="*/ 3439 w 10000"/>
                <a:gd name="connsiteY22" fmla="*/ 1111 h 9445"/>
                <a:gd name="connsiteX23" fmla="*/ 3817 w 10000"/>
                <a:gd name="connsiteY23" fmla="*/ 1111 h 9445"/>
                <a:gd name="connsiteX24" fmla="*/ 4155 w 10000"/>
                <a:gd name="connsiteY24" fmla="*/ 1111 h 9445"/>
                <a:gd name="connsiteX25" fmla="*/ 4851 w 10000"/>
                <a:gd name="connsiteY25" fmla="*/ 1111 h 9445"/>
                <a:gd name="connsiteX26" fmla="*/ 5189 w 10000"/>
                <a:gd name="connsiteY26" fmla="*/ 0 h 9445"/>
                <a:gd name="connsiteX27" fmla="*/ 5527 w 10000"/>
                <a:gd name="connsiteY27" fmla="*/ 0 h 9445"/>
                <a:gd name="connsiteX28" fmla="*/ 6561 w 10000"/>
                <a:gd name="connsiteY28" fmla="*/ 0 h 9445"/>
                <a:gd name="connsiteX29" fmla="*/ 6918 w 10000"/>
                <a:gd name="connsiteY29" fmla="*/ 521 h 9445"/>
                <a:gd name="connsiteX30" fmla="*/ 6561 w 10000"/>
                <a:gd name="connsiteY30" fmla="*/ 521 h 9445"/>
                <a:gd name="connsiteX31" fmla="*/ 6918 w 10000"/>
                <a:gd name="connsiteY31" fmla="*/ 1111 h 9445"/>
                <a:gd name="connsiteX32" fmla="*/ 7256 w 10000"/>
                <a:gd name="connsiteY32" fmla="*/ 1111 h 9445"/>
                <a:gd name="connsiteX33" fmla="*/ 7594 w 10000"/>
                <a:gd name="connsiteY33" fmla="*/ 2187 h 9445"/>
                <a:gd name="connsiteX34" fmla="*/ 7932 w 10000"/>
                <a:gd name="connsiteY34" fmla="*/ 2777 h 9445"/>
                <a:gd name="connsiteX35" fmla="*/ 8290 w 10000"/>
                <a:gd name="connsiteY35" fmla="*/ 2187 h 9445"/>
                <a:gd name="connsiteX36" fmla="*/ 10000 w 10000"/>
                <a:gd name="connsiteY36" fmla="*/ 3854 h 9445"/>
                <a:gd name="connsiteX37" fmla="*/ 9662 w 10000"/>
                <a:gd name="connsiteY37" fmla="*/ 6112 h 9445"/>
                <a:gd name="connsiteX38" fmla="*/ 9304 w 10000"/>
                <a:gd name="connsiteY38" fmla="*/ 5521 h 9445"/>
                <a:gd name="connsiteX39" fmla="*/ 8966 w 10000"/>
                <a:gd name="connsiteY39" fmla="*/ 6112 h 9445"/>
                <a:gd name="connsiteX40" fmla="*/ 8966 w 10000"/>
                <a:gd name="connsiteY40" fmla="*/ 7188 h 9445"/>
                <a:gd name="connsiteX41" fmla="*/ 8628 w 10000"/>
                <a:gd name="connsiteY41" fmla="*/ 7188 h 9445"/>
                <a:gd name="connsiteX42" fmla="*/ 6918 w 10000"/>
                <a:gd name="connsiteY42" fmla="*/ 8854 h 9445"/>
                <a:gd name="connsiteX43" fmla="*/ 7594 w 10000"/>
                <a:gd name="connsiteY43" fmla="*/ 9445 h 9445"/>
                <a:gd name="connsiteX44" fmla="*/ 7932 w 10000"/>
                <a:gd name="connsiteY44" fmla="*/ 9445 h 9445"/>
                <a:gd name="connsiteX45" fmla="*/ 7594 w 10000"/>
                <a:gd name="connsiteY45" fmla="*/ 9445 h 9445"/>
                <a:gd name="connsiteX46" fmla="*/ 5885 w 10000"/>
                <a:gd name="connsiteY46" fmla="*/ 9445 h 9445"/>
                <a:gd name="connsiteX47" fmla="*/ 6561 w 10000"/>
                <a:gd name="connsiteY47" fmla="*/ 8854 h 9445"/>
                <a:gd name="connsiteX48" fmla="*/ 5527 w 10000"/>
                <a:gd name="connsiteY48" fmla="*/ 8334 h 9445"/>
                <a:gd name="connsiteX49" fmla="*/ 5527 w 10000"/>
                <a:gd name="connsiteY49" fmla="*/ 7778 h 9445"/>
                <a:gd name="connsiteX50" fmla="*/ 4851 w 10000"/>
                <a:gd name="connsiteY50" fmla="*/ 7778 h 9445"/>
                <a:gd name="connsiteX51" fmla="*/ 4513 w 10000"/>
                <a:gd name="connsiteY51" fmla="*/ 8854 h 9445"/>
                <a:gd name="connsiteX52" fmla="*/ 4155 w 10000"/>
                <a:gd name="connsiteY52" fmla="*/ 8854 h 9445"/>
                <a:gd name="connsiteX53" fmla="*/ 4155 w 10000"/>
                <a:gd name="connsiteY53" fmla="*/ 9445 h 9445"/>
                <a:gd name="connsiteX0" fmla="*/ 4155 w 10000"/>
                <a:gd name="connsiteY0" fmla="*/ 10000 h 10000"/>
                <a:gd name="connsiteX1" fmla="*/ 4155 w 10000"/>
                <a:gd name="connsiteY1" fmla="*/ 10000 h 10000"/>
                <a:gd name="connsiteX2" fmla="*/ 3439 w 10000"/>
                <a:gd name="connsiteY2" fmla="*/ 10000 h 10000"/>
                <a:gd name="connsiteX3" fmla="*/ 3439 w 10000"/>
                <a:gd name="connsiteY3" fmla="*/ 9374 h 10000"/>
                <a:gd name="connsiteX4" fmla="*/ 3817 w 10000"/>
                <a:gd name="connsiteY4" fmla="*/ 8235 h 10000"/>
                <a:gd name="connsiteX5" fmla="*/ 4513 w 10000"/>
                <a:gd name="connsiteY5" fmla="*/ 8235 h 10000"/>
                <a:gd name="connsiteX6" fmla="*/ 4513 w 10000"/>
                <a:gd name="connsiteY6" fmla="*/ 7610 h 10000"/>
                <a:gd name="connsiteX7" fmla="*/ 4155 w 10000"/>
                <a:gd name="connsiteY7" fmla="*/ 6471 h 10000"/>
                <a:gd name="connsiteX8" fmla="*/ 4155 w 10000"/>
                <a:gd name="connsiteY8" fmla="*/ 5845 h 10000"/>
                <a:gd name="connsiteX9" fmla="*/ 3101 w 10000"/>
                <a:gd name="connsiteY9" fmla="*/ 5293 h 10000"/>
                <a:gd name="connsiteX10" fmla="*/ 2406 w 10000"/>
                <a:gd name="connsiteY10" fmla="*/ 5845 h 10000"/>
                <a:gd name="connsiteX11" fmla="*/ 1710 w 10000"/>
                <a:gd name="connsiteY11" fmla="*/ 6471 h 10000"/>
                <a:gd name="connsiteX12" fmla="*/ 1372 w 10000"/>
                <a:gd name="connsiteY12" fmla="*/ 6471 h 10000"/>
                <a:gd name="connsiteX13" fmla="*/ 338 w 10000"/>
                <a:gd name="connsiteY13" fmla="*/ 6471 h 10000"/>
                <a:gd name="connsiteX14" fmla="*/ 0 w 10000"/>
                <a:gd name="connsiteY14" fmla="*/ 5845 h 10000"/>
                <a:gd name="connsiteX15" fmla="*/ 338 w 10000"/>
                <a:gd name="connsiteY15" fmla="*/ 4705 h 10000"/>
                <a:gd name="connsiteX16" fmla="*/ 696 w 10000"/>
                <a:gd name="connsiteY16" fmla="*/ 3529 h 10000"/>
                <a:gd name="connsiteX17" fmla="*/ 1034 w 10000"/>
                <a:gd name="connsiteY17" fmla="*/ 2940 h 10000"/>
                <a:gd name="connsiteX18" fmla="*/ 696 w 10000"/>
                <a:gd name="connsiteY18" fmla="*/ 1176 h 10000"/>
                <a:gd name="connsiteX19" fmla="*/ 1372 w 10000"/>
                <a:gd name="connsiteY19" fmla="*/ 552 h 10000"/>
                <a:gd name="connsiteX20" fmla="*/ 2068 w 10000"/>
                <a:gd name="connsiteY20" fmla="*/ 552 h 10000"/>
                <a:gd name="connsiteX21" fmla="*/ 3101 w 10000"/>
                <a:gd name="connsiteY21" fmla="*/ 1176 h 10000"/>
                <a:gd name="connsiteX22" fmla="*/ 3439 w 10000"/>
                <a:gd name="connsiteY22" fmla="*/ 1176 h 10000"/>
                <a:gd name="connsiteX23" fmla="*/ 3817 w 10000"/>
                <a:gd name="connsiteY23" fmla="*/ 1176 h 10000"/>
                <a:gd name="connsiteX24" fmla="*/ 4155 w 10000"/>
                <a:gd name="connsiteY24" fmla="*/ 1176 h 10000"/>
                <a:gd name="connsiteX25" fmla="*/ 4851 w 10000"/>
                <a:gd name="connsiteY25" fmla="*/ 1176 h 10000"/>
                <a:gd name="connsiteX26" fmla="*/ 5189 w 10000"/>
                <a:gd name="connsiteY26" fmla="*/ 0 h 10000"/>
                <a:gd name="connsiteX27" fmla="*/ 5527 w 10000"/>
                <a:gd name="connsiteY27" fmla="*/ 0 h 10000"/>
                <a:gd name="connsiteX28" fmla="*/ 6561 w 10000"/>
                <a:gd name="connsiteY28" fmla="*/ 0 h 10000"/>
                <a:gd name="connsiteX29" fmla="*/ 6918 w 10000"/>
                <a:gd name="connsiteY29" fmla="*/ 552 h 10000"/>
                <a:gd name="connsiteX30" fmla="*/ 6561 w 10000"/>
                <a:gd name="connsiteY30" fmla="*/ 552 h 10000"/>
                <a:gd name="connsiteX31" fmla="*/ 6918 w 10000"/>
                <a:gd name="connsiteY31" fmla="*/ 1176 h 10000"/>
                <a:gd name="connsiteX32" fmla="*/ 7256 w 10000"/>
                <a:gd name="connsiteY32" fmla="*/ 1176 h 10000"/>
                <a:gd name="connsiteX33" fmla="*/ 7594 w 10000"/>
                <a:gd name="connsiteY33" fmla="*/ 2316 h 10000"/>
                <a:gd name="connsiteX34" fmla="*/ 7932 w 10000"/>
                <a:gd name="connsiteY34" fmla="*/ 2940 h 10000"/>
                <a:gd name="connsiteX35" fmla="*/ 8290 w 10000"/>
                <a:gd name="connsiteY35" fmla="*/ 2316 h 10000"/>
                <a:gd name="connsiteX36" fmla="*/ 10000 w 10000"/>
                <a:gd name="connsiteY36" fmla="*/ 4080 h 10000"/>
                <a:gd name="connsiteX37" fmla="*/ 9662 w 10000"/>
                <a:gd name="connsiteY37" fmla="*/ 6471 h 10000"/>
                <a:gd name="connsiteX38" fmla="*/ 9304 w 10000"/>
                <a:gd name="connsiteY38" fmla="*/ 5845 h 10000"/>
                <a:gd name="connsiteX39" fmla="*/ 8966 w 10000"/>
                <a:gd name="connsiteY39" fmla="*/ 6471 h 10000"/>
                <a:gd name="connsiteX40" fmla="*/ 8966 w 10000"/>
                <a:gd name="connsiteY40" fmla="*/ 7610 h 10000"/>
                <a:gd name="connsiteX41" fmla="*/ 8628 w 10000"/>
                <a:gd name="connsiteY41" fmla="*/ 7610 h 10000"/>
                <a:gd name="connsiteX42" fmla="*/ 6918 w 10000"/>
                <a:gd name="connsiteY42" fmla="*/ 9374 h 10000"/>
                <a:gd name="connsiteX43" fmla="*/ 7594 w 10000"/>
                <a:gd name="connsiteY43" fmla="*/ 10000 h 10000"/>
                <a:gd name="connsiteX44" fmla="*/ 7932 w 10000"/>
                <a:gd name="connsiteY44" fmla="*/ 10000 h 10000"/>
                <a:gd name="connsiteX45" fmla="*/ 7594 w 10000"/>
                <a:gd name="connsiteY45" fmla="*/ 10000 h 10000"/>
                <a:gd name="connsiteX46" fmla="*/ 6561 w 10000"/>
                <a:gd name="connsiteY46" fmla="*/ 9374 h 10000"/>
                <a:gd name="connsiteX47" fmla="*/ 5527 w 10000"/>
                <a:gd name="connsiteY47" fmla="*/ 8824 h 10000"/>
                <a:gd name="connsiteX48" fmla="*/ 5527 w 10000"/>
                <a:gd name="connsiteY48" fmla="*/ 8235 h 10000"/>
                <a:gd name="connsiteX49" fmla="*/ 4851 w 10000"/>
                <a:gd name="connsiteY49" fmla="*/ 8235 h 10000"/>
                <a:gd name="connsiteX50" fmla="*/ 4513 w 10000"/>
                <a:gd name="connsiteY50" fmla="*/ 9374 h 10000"/>
                <a:gd name="connsiteX51" fmla="*/ 4155 w 10000"/>
                <a:gd name="connsiteY51" fmla="*/ 9374 h 10000"/>
                <a:gd name="connsiteX52" fmla="*/ 4155 w 10000"/>
                <a:gd name="connsiteY52" fmla="*/ 10000 h 10000"/>
                <a:gd name="connsiteX0" fmla="*/ 4155 w 10000"/>
                <a:gd name="connsiteY0" fmla="*/ 10000 h 10000"/>
                <a:gd name="connsiteX1" fmla="*/ 4155 w 10000"/>
                <a:gd name="connsiteY1" fmla="*/ 10000 h 10000"/>
                <a:gd name="connsiteX2" fmla="*/ 3439 w 10000"/>
                <a:gd name="connsiteY2" fmla="*/ 10000 h 10000"/>
                <a:gd name="connsiteX3" fmla="*/ 3439 w 10000"/>
                <a:gd name="connsiteY3" fmla="*/ 9374 h 10000"/>
                <a:gd name="connsiteX4" fmla="*/ 3817 w 10000"/>
                <a:gd name="connsiteY4" fmla="*/ 8235 h 10000"/>
                <a:gd name="connsiteX5" fmla="*/ 4513 w 10000"/>
                <a:gd name="connsiteY5" fmla="*/ 8235 h 10000"/>
                <a:gd name="connsiteX6" fmla="*/ 4513 w 10000"/>
                <a:gd name="connsiteY6" fmla="*/ 7610 h 10000"/>
                <a:gd name="connsiteX7" fmla="*/ 4155 w 10000"/>
                <a:gd name="connsiteY7" fmla="*/ 6471 h 10000"/>
                <a:gd name="connsiteX8" fmla="*/ 4155 w 10000"/>
                <a:gd name="connsiteY8" fmla="*/ 5845 h 10000"/>
                <a:gd name="connsiteX9" fmla="*/ 3101 w 10000"/>
                <a:gd name="connsiteY9" fmla="*/ 5293 h 10000"/>
                <a:gd name="connsiteX10" fmla="*/ 2406 w 10000"/>
                <a:gd name="connsiteY10" fmla="*/ 5845 h 10000"/>
                <a:gd name="connsiteX11" fmla="*/ 1710 w 10000"/>
                <a:gd name="connsiteY11" fmla="*/ 6471 h 10000"/>
                <a:gd name="connsiteX12" fmla="*/ 1372 w 10000"/>
                <a:gd name="connsiteY12" fmla="*/ 6471 h 10000"/>
                <a:gd name="connsiteX13" fmla="*/ 338 w 10000"/>
                <a:gd name="connsiteY13" fmla="*/ 6471 h 10000"/>
                <a:gd name="connsiteX14" fmla="*/ 0 w 10000"/>
                <a:gd name="connsiteY14" fmla="*/ 5845 h 10000"/>
                <a:gd name="connsiteX15" fmla="*/ 338 w 10000"/>
                <a:gd name="connsiteY15" fmla="*/ 4705 h 10000"/>
                <a:gd name="connsiteX16" fmla="*/ 696 w 10000"/>
                <a:gd name="connsiteY16" fmla="*/ 3529 h 10000"/>
                <a:gd name="connsiteX17" fmla="*/ 1034 w 10000"/>
                <a:gd name="connsiteY17" fmla="*/ 2940 h 10000"/>
                <a:gd name="connsiteX18" fmla="*/ 696 w 10000"/>
                <a:gd name="connsiteY18" fmla="*/ 1176 h 10000"/>
                <a:gd name="connsiteX19" fmla="*/ 1372 w 10000"/>
                <a:gd name="connsiteY19" fmla="*/ 552 h 10000"/>
                <a:gd name="connsiteX20" fmla="*/ 2068 w 10000"/>
                <a:gd name="connsiteY20" fmla="*/ 552 h 10000"/>
                <a:gd name="connsiteX21" fmla="*/ 3101 w 10000"/>
                <a:gd name="connsiteY21" fmla="*/ 1176 h 10000"/>
                <a:gd name="connsiteX22" fmla="*/ 3439 w 10000"/>
                <a:gd name="connsiteY22" fmla="*/ 1176 h 10000"/>
                <a:gd name="connsiteX23" fmla="*/ 3817 w 10000"/>
                <a:gd name="connsiteY23" fmla="*/ 1176 h 10000"/>
                <a:gd name="connsiteX24" fmla="*/ 4155 w 10000"/>
                <a:gd name="connsiteY24" fmla="*/ 1176 h 10000"/>
                <a:gd name="connsiteX25" fmla="*/ 4851 w 10000"/>
                <a:gd name="connsiteY25" fmla="*/ 1176 h 10000"/>
                <a:gd name="connsiteX26" fmla="*/ 5189 w 10000"/>
                <a:gd name="connsiteY26" fmla="*/ 0 h 10000"/>
                <a:gd name="connsiteX27" fmla="*/ 5527 w 10000"/>
                <a:gd name="connsiteY27" fmla="*/ 0 h 10000"/>
                <a:gd name="connsiteX28" fmla="*/ 6561 w 10000"/>
                <a:gd name="connsiteY28" fmla="*/ 0 h 10000"/>
                <a:gd name="connsiteX29" fmla="*/ 6918 w 10000"/>
                <a:gd name="connsiteY29" fmla="*/ 552 h 10000"/>
                <a:gd name="connsiteX30" fmla="*/ 6561 w 10000"/>
                <a:gd name="connsiteY30" fmla="*/ 552 h 10000"/>
                <a:gd name="connsiteX31" fmla="*/ 6918 w 10000"/>
                <a:gd name="connsiteY31" fmla="*/ 1176 h 10000"/>
                <a:gd name="connsiteX32" fmla="*/ 7256 w 10000"/>
                <a:gd name="connsiteY32" fmla="*/ 1176 h 10000"/>
                <a:gd name="connsiteX33" fmla="*/ 7594 w 10000"/>
                <a:gd name="connsiteY33" fmla="*/ 2316 h 10000"/>
                <a:gd name="connsiteX34" fmla="*/ 7932 w 10000"/>
                <a:gd name="connsiteY34" fmla="*/ 2940 h 10000"/>
                <a:gd name="connsiteX35" fmla="*/ 8290 w 10000"/>
                <a:gd name="connsiteY35" fmla="*/ 2316 h 10000"/>
                <a:gd name="connsiteX36" fmla="*/ 10000 w 10000"/>
                <a:gd name="connsiteY36" fmla="*/ 4080 h 10000"/>
                <a:gd name="connsiteX37" fmla="*/ 9662 w 10000"/>
                <a:gd name="connsiteY37" fmla="*/ 6471 h 10000"/>
                <a:gd name="connsiteX38" fmla="*/ 9304 w 10000"/>
                <a:gd name="connsiteY38" fmla="*/ 5845 h 10000"/>
                <a:gd name="connsiteX39" fmla="*/ 8966 w 10000"/>
                <a:gd name="connsiteY39" fmla="*/ 6471 h 10000"/>
                <a:gd name="connsiteX40" fmla="*/ 8966 w 10000"/>
                <a:gd name="connsiteY40" fmla="*/ 7610 h 10000"/>
                <a:gd name="connsiteX41" fmla="*/ 8628 w 10000"/>
                <a:gd name="connsiteY41" fmla="*/ 7610 h 10000"/>
                <a:gd name="connsiteX42" fmla="*/ 6918 w 10000"/>
                <a:gd name="connsiteY42" fmla="*/ 9374 h 10000"/>
                <a:gd name="connsiteX43" fmla="*/ 7594 w 10000"/>
                <a:gd name="connsiteY43" fmla="*/ 10000 h 10000"/>
                <a:gd name="connsiteX44" fmla="*/ 7594 w 10000"/>
                <a:gd name="connsiteY44" fmla="*/ 10000 h 10000"/>
                <a:gd name="connsiteX45" fmla="*/ 6561 w 10000"/>
                <a:gd name="connsiteY45" fmla="*/ 9374 h 10000"/>
                <a:gd name="connsiteX46" fmla="*/ 5527 w 10000"/>
                <a:gd name="connsiteY46" fmla="*/ 8824 h 10000"/>
                <a:gd name="connsiteX47" fmla="*/ 5527 w 10000"/>
                <a:gd name="connsiteY47" fmla="*/ 8235 h 10000"/>
                <a:gd name="connsiteX48" fmla="*/ 4851 w 10000"/>
                <a:gd name="connsiteY48" fmla="*/ 8235 h 10000"/>
                <a:gd name="connsiteX49" fmla="*/ 4513 w 10000"/>
                <a:gd name="connsiteY49" fmla="*/ 9374 h 10000"/>
                <a:gd name="connsiteX50" fmla="*/ 4155 w 10000"/>
                <a:gd name="connsiteY50" fmla="*/ 9374 h 10000"/>
                <a:gd name="connsiteX51" fmla="*/ 4155 w 10000"/>
                <a:gd name="connsiteY51" fmla="*/ 10000 h 10000"/>
                <a:gd name="connsiteX0" fmla="*/ 4155 w 10000"/>
                <a:gd name="connsiteY0" fmla="*/ 10000 h 10000"/>
                <a:gd name="connsiteX1" fmla="*/ 4155 w 10000"/>
                <a:gd name="connsiteY1" fmla="*/ 10000 h 10000"/>
                <a:gd name="connsiteX2" fmla="*/ 3439 w 10000"/>
                <a:gd name="connsiteY2" fmla="*/ 10000 h 10000"/>
                <a:gd name="connsiteX3" fmla="*/ 3439 w 10000"/>
                <a:gd name="connsiteY3" fmla="*/ 9374 h 10000"/>
                <a:gd name="connsiteX4" fmla="*/ 3817 w 10000"/>
                <a:gd name="connsiteY4" fmla="*/ 8235 h 10000"/>
                <a:gd name="connsiteX5" fmla="*/ 4513 w 10000"/>
                <a:gd name="connsiteY5" fmla="*/ 8235 h 10000"/>
                <a:gd name="connsiteX6" fmla="*/ 4513 w 10000"/>
                <a:gd name="connsiteY6" fmla="*/ 7610 h 10000"/>
                <a:gd name="connsiteX7" fmla="*/ 4155 w 10000"/>
                <a:gd name="connsiteY7" fmla="*/ 6471 h 10000"/>
                <a:gd name="connsiteX8" fmla="*/ 4155 w 10000"/>
                <a:gd name="connsiteY8" fmla="*/ 5845 h 10000"/>
                <a:gd name="connsiteX9" fmla="*/ 3101 w 10000"/>
                <a:gd name="connsiteY9" fmla="*/ 5293 h 10000"/>
                <a:gd name="connsiteX10" fmla="*/ 2406 w 10000"/>
                <a:gd name="connsiteY10" fmla="*/ 5845 h 10000"/>
                <a:gd name="connsiteX11" fmla="*/ 1710 w 10000"/>
                <a:gd name="connsiteY11" fmla="*/ 6471 h 10000"/>
                <a:gd name="connsiteX12" fmla="*/ 1372 w 10000"/>
                <a:gd name="connsiteY12" fmla="*/ 6471 h 10000"/>
                <a:gd name="connsiteX13" fmla="*/ 338 w 10000"/>
                <a:gd name="connsiteY13" fmla="*/ 6471 h 10000"/>
                <a:gd name="connsiteX14" fmla="*/ 0 w 10000"/>
                <a:gd name="connsiteY14" fmla="*/ 5845 h 10000"/>
                <a:gd name="connsiteX15" fmla="*/ 338 w 10000"/>
                <a:gd name="connsiteY15" fmla="*/ 4705 h 10000"/>
                <a:gd name="connsiteX16" fmla="*/ 696 w 10000"/>
                <a:gd name="connsiteY16" fmla="*/ 3529 h 10000"/>
                <a:gd name="connsiteX17" fmla="*/ 1034 w 10000"/>
                <a:gd name="connsiteY17" fmla="*/ 2940 h 10000"/>
                <a:gd name="connsiteX18" fmla="*/ 696 w 10000"/>
                <a:gd name="connsiteY18" fmla="*/ 1176 h 10000"/>
                <a:gd name="connsiteX19" fmla="*/ 1372 w 10000"/>
                <a:gd name="connsiteY19" fmla="*/ 552 h 10000"/>
                <a:gd name="connsiteX20" fmla="*/ 2068 w 10000"/>
                <a:gd name="connsiteY20" fmla="*/ 552 h 10000"/>
                <a:gd name="connsiteX21" fmla="*/ 3101 w 10000"/>
                <a:gd name="connsiteY21" fmla="*/ 1176 h 10000"/>
                <a:gd name="connsiteX22" fmla="*/ 3439 w 10000"/>
                <a:gd name="connsiteY22" fmla="*/ 1176 h 10000"/>
                <a:gd name="connsiteX23" fmla="*/ 3817 w 10000"/>
                <a:gd name="connsiteY23" fmla="*/ 1176 h 10000"/>
                <a:gd name="connsiteX24" fmla="*/ 4155 w 10000"/>
                <a:gd name="connsiteY24" fmla="*/ 1176 h 10000"/>
                <a:gd name="connsiteX25" fmla="*/ 4851 w 10000"/>
                <a:gd name="connsiteY25" fmla="*/ 1176 h 10000"/>
                <a:gd name="connsiteX26" fmla="*/ 5189 w 10000"/>
                <a:gd name="connsiteY26" fmla="*/ 0 h 10000"/>
                <a:gd name="connsiteX27" fmla="*/ 5527 w 10000"/>
                <a:gd name="connsiteY27" fmla="*/ 0 h 10000"/>
                <a:gd name="connsiteX28" fmla="*/ 6561 w 10000"/>
                <a:gd name="connsiteY28" fmla="*/ 0 h 10000"/>
                <a:gd name="connsiteX29" fmla="*/ 6918 w 10000"/>
                <a:gd name="connsiteY29" fmla="*/ 552 h 10000"/>
                <a:gd name="connsiteX30" fmla="*/ 6561 w 10000"/>
                <a:gd name="connsiteY30" fmla="*/ 552 h 10000"/>
                <a:gd name="connsiteX31" fmla="*/ 6918 w 10000"/>
                <a:gd name="connsiteY31" fmla="*/ 1176 h 10000"/>
                <a:gd name="connsiteX32" fmla="*/ 7256 w 10000"/>
                <a:gd name="connsiteY32" fmla="*/ 1176 h 10000"/>
                <a:gd name="connsiteX33" fmla="*/ 7594 w 10000"/>
                <a:gd name="connsiteY33" fmla="*/ 2316 h 10000"/>
                <a:gd name="connsiteX34" fmla="*/ 7932 w 10000"/>
                <a:gd name="connsiteY34" fmla="*/ 2940 h 10000"/>
                <a:gd name="connsiteX35" fmla="*/ 8290 w 10000"/>
                <a:gd name="connsiteY35" fmla="*/ 2316 h 10000"/>
                <a:gd name="connsiteX36" fmla="*/ 10000 w 10000"/>
                <a:gd name="connsiteY36" fmla="*/ 4080 h 10000"/>
                <a:gd name="connsiteX37" fmla="*/ 9662 w 10000"/>
                <a:gd name="connsiteY37" fmla="*/ 6471 h 10000"/>
                <a:gd name="connsiteX38" fmla="*/ 9304 w 10000"/>
                <a:gd name="connsiteY38" fmla="*/ 5845 h 10000"/>
                <a:gd name="connsiteX39" fmla="*/ 8966 w 10000"/>
                <a:gd name="connsiteY39" fmla="*/ 6471 h 10000"/>
                <a:gd name="connsiteX40" fmla="*/ 8966 w 10000"/>
                <a:gd name="connsiteY40" fmla="*/ 7610 h 10000"/>
                <a:gd name="connsiteX41" fmla="*/ 8628 w 10000"/>
                <a:gd name="connsiteY41" fmla="*/ 7610 h 10000"/>
                <a:gd name="connsiteX42" fmla="*/ 6918 w 10000"/>
                <a:gd name="connsiteY42" fmla="*/ 9374 h 10000"/>
                <a:gd name="connsiteX43" fmla="*/ 7594 w 10000"/>
                <a:gd name="connsiteY43" fmla="*/ 10000 h 10000"/>
                <a:gd name="connsiteX44" fmla="*/ 6561 w 10000"/>
                <a:gd name="connsiteY44" fmla="*/ 9374 h 10000"/>
                <a:gd name="connsiteX45" fmla="*/ 5527 w 10000"/>
                <a:gd name="connsiteY45" fmla="*/ 8824 h 10000"/>
                <a:gd name="connsiteX46" fmla="*/ 5527 w 10000"/>
                <a:gd name="connsiteY46" fmla="*/ 8235 h 10000"/>
                <a:gd name="connsiteX47" fmla="*/ 4851 w 10000"/>
                <a:gd name="connsiteY47" fmla="*/ 8235 h 10000"/>
                <a:gd name="connsiteX48" fmla="*/ 4513 w 10000"/>
                <a:gd name="connsiteY48" fmla="*/ 9374 h 10000"/>
                <a:gd name="connsiteX49" fmla="*/ 4155 w 10000"/>
                <a:gd name="connsiteY49" fmla="*/ 9374 h 10000"/>
                <a:gd name="connsiteX50" fmla="*/ 4155 w 10000"/>
                <a:gd name="connsiteY50" fmla="*/ 10000 h 10000"/>
                <a:gd name="connsiteX0" fmla="*/ 4155 w 10000"/>
                <a:gd name="connsiteY0" fmla="*/ 10000 h 10000"/>
                <a:gd name="connsiteX1" fmla="*/ 4155 w 10000"/>
                <a:gd name="connsiteY1" fmla="*/ 10000 h 10000"/>
                <a:gd name="connsiteX2" fmla="*/ 3439 w 10000"/>
                <a:gd name="connsiteY2" fmla="*/ 10000 h 10000"/>
                <a:gd name="connsiteX3" fmla="*/ 3439 w 10000"/>
                <a:gd name="connsiteY3" fmla="*/ 9374 h 10000"/>
                <a:gd name="connsiteX4" fmla="*/ 3817 w 10000"/>
                <a:gd name="connsiteY4" fmla="*/ 8235 h 10000"/>
                <a:gd name="connsiteX5" fmla="*/ 4513 w 10000"/>
                <a:gd name="connsiteY5" fmla="*/ 8235 h 10000"/>
                <a:gd name="connsiteX6" fmla="*/ 4513 w 10000"/>
                <a:gd name="connsiteY6" fmla="*/ 7610 h 10000"/>
                <a:gd name="connsiteX7" fmla="*/ 4155 w 10000"/>
                <a:gd name="connsiteY7" fmla="*/ 6471 h 10000"/>
                <a:gd name="connsiteX8" fmla="*/ 4155 w 10000"/>
                <a:gd name="connsiteY8" fmla="*/ 5845 h 10000"/>
                <a:gd name="connsiteX9" fmla="*/ 3101 w 10000"/>
                <a:gd name="connsiteY9" fmla="*/ 5293 h 10000"/>
                <a:gd name="connsiteX10" fmla="*/ 2406 w 10000"/>
                <a:gd name="connsiteY10" fmla="*/ 5845 h 10000"/>
                <a:gd name="connsiteX11" fmla="*/ 1710 w 10000"/>
                <a:gd name="connsiteY11" fmla="*/ 6471 h 10000"/>
                <a:gd name="connsiteX12" fmla="*/ 1372 w 10000"/>
                <a:gd name="connsiteY12" fmla="*/ 6471 h 10000"/>
                <a:gd name="connsiteX13" fmla="*/ 338 w 10000"/>
                <a:gd name="connsiteY13" fmla="*/ 6471 h 10000"/>
                <a:gd name="connsiteX14" fmla="*/ 0 w 10000"/>
                <a:gd name="connsiteY14" fmla="*/ 5845 h 10000"/>
                <a:gd name="connsiteX15" fmla="*/ 338 w 10000"/>
                <a:gd name="connsiteY15" fmla="*/ 4705 h 10000"/>
                <a:gd name="connsiteX16" fmla="*/ 696 w 10000"/>
                <a:gd name="connsiteY16" fmla="*/ 3529 h 10000"/>
                <a:gd name="connsiteX17" fmla="*/ 1034 w 10000"/>
                <a:gd name="connsiteY17" fmla="*/ 2940 h 10000"/>
                <a:gd name="connsiteX18" fmla="*/ 696 w 10000"/>
                <a:gd name="connsiteY18" fmla="*/ 1176 h 10000"/>
                <a:gd name="connsiteX19" fmla="*/ 1372 w 10000"/>
                <a:gd name="connsiteY19" fmla="*/ 552 h 10000"/>
                <a:gd name="connsiteX20" fmla="*/ 2068 w 10000"/>
                <a:gd name="connsiteY20" fmla="*/ 552 h 10000"/>
                <a:gd name="connsiteX21" fmla="*/ 3101 w 10000"/>
                <a:gd name="connsiteY21" fmla="*/ 1176 h 10000"/>
                <a:gd name="connsiteX22" fmla="*/ 3439 w 10000"/>
                <a:gd name="connsiteY22" fmla="*/ 1176 h 10000"/>
                <a:gd name="connsiteX23" fmla="*/ 3817 w 10000"/>
                <a:gd name="connsiteY23" fmla="*/ 1176 h 10000"/>
                <a:gd name="connsiteX24" fmla="*/ 4155 w 10000"/>
                <a:gd name="connsiteY24" fmla="*/ 1176 h 10000"/>
                <a:gd name="connsiteX25" fmla="*/ 4851 w 10000"/>
                <a:gd name="connsiteY25" fmla="*/ 1176 h 10000"/>
                <a:gd name="connsiteX26" fmla="*/ 5189 w 10000"/>
                <a:gd name="connsiteY26" fmla="*/ 0 h 10000"/>
                <a:gd name="connsiteX27" fmla="*/ 5527 w 10000"/>
                <a:gd name="connsiteY27" fmla="*/ 0 h 10000"/>
                <a:gd name="connsiteX28" fmla="*/ 6561 w 10000"/>
                <a:gd name="connsiteY28" fmla="*/ 0 h 10000"/>
                <a:gd name="connsiteX29" fmla="*/ 6918 w 10000"/>
                <a:gd name="connsiteY29" fmla="*/ 552 h 10000"/>
                <a:gd name="connsiteX30" fmla="*/ 6561 w 10000"/>
                <a:gd name="connsiteY30" fmla="*/ 552 h 10000"/>
                <a:gd name="connsiteX31" fmla="*/ 6918 w 10000"/>
                <a:gd name="connsiteY31" fmla="*/ 1176 h 10000"/>
                <a:gd name="connsiteX32" fmla="*/ 7256 w 10000"/>
                <a:gd name="connsiteY32" fmla="*/ 1176 h 10000"/>
                <a:gd name="connsiteX33" fmla="*/ 7594 w 10000"/>
                <a:gd name="connsiteY33" fmla="*/ 2316 h 10000"/>
                <a:gd name="connsiteX34" fmla="*/ 7932 w 10000"/>
                <a:gd name="connsiteY34" fmla="*/ 2940 h 10000"/>
                <a:gd name="connsiteX35" fmla="*/ 8290 w 10000"/>
                <a:gd name="connsiteY35" fmla="*/ 2316 h 10000"/>
                <a:gd name="connsiteX36" fmla="*/ 10000 w 10000"/>
                <a:gd name="connsiteY36" fmla="*/ 4080 h 10000"/>
                <a:gd name="connsiteX37" fmla="*/ 9662 w 10000"/>
                <a:gd name="connsiteY37" fmla="*/ 6471 h 10000"/>
                <a:gd name="connsiteX38" fmla="*/ 9304 w 10000"/>
                <a:gd name="connsiteY38" fmla="*/ 5845 h 10000"/>
                <a:gd name="connsiteX39" fmla="*/ 8966 w 10000"/>
                <a:gd name="connsiteY39" fmla="*/ 6471 h 10000"/>
                <a:gd name="connsiteX40" fmla="*/ 8966 w 10000"/>
                <a:gd name="connsiteY40" fmla="*/ 7610 h 10000"/>
                <a:gd name="connsiteX41" fmla="*/ 8628 w 10000"/>
                <a:gd name="connsiteY41" fmla="*/ 7610 h 10000"/>
                <a:gd name="connsiteX42" fmla="*/ 6918 w 10000"/>
                <a:gd name="connsiteY42" fmla="*/ 9374 h 10000"/>
                <a:gd name="connsiteX43" fmla="*/ 6561 w 10000"/>
                <a:gd name="connsiteY43" fmla="*/ 9374 h 10000"/>
                <a:gd name="connsiteX44" fmla="*/ 5527 w 10000"/>
                <a:gd name="connsiteY44" fmla="*/ 8824 h 10000"/>
                <a:gd name="connsiteX45" fmla="*/ 5527 w 10000"/>
                <a:gd name="connsiteY45" fmla="*/ 8235 h 10000"/>
                <a:gd name="connsiteX46" fmla="*/ 4851 w 10000"/>
                <a:gd name="connsiteY46" fmla="*/ 8235 h 10000"/>
                <a:gd name="connsiteX47" fmla="*/ 4513 w 10000"/>
                <a:gd name="connsiteY47" fmla="*/ 9374 h 10000"/>
                <a:gd name="connsiteX48" fmla="*/ 4155 w 10000"/>
                <a:gd name="connsiteY48" fmla="*/ 9374 h 10000"/>
                <a:gd name="connsiteX49" fmla="*/ 4155 w 10000"/>
                <a:gd name="connsiteY49"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000" h="10000">
                  <a:moveTo>
                    <a:pt x="4155" y="10000"/>
                  </a:moveTo>
                  <a:lnTo>
                    <a:pt x="4155" y="10000"/>
                  </a:lnTo>
                  <a:lnTo>
                    <a:pt x="3439" y="10000"/>
                  </a:lnTo>
                  <a:lnTo>
                    <a:pt x="3439" y="9374"/>
                  </a:lnTo>
                  <a:lnTo>
                    <a:pt x="3817" y="8235"/>
                  </a:lnTo>
                  <a:lnTo>
                    <a:pt x="4513" y="8235"/>
                  </a:lnTo>
                  <a:lnTo>
                    <a:pt x="4513" y="7610"/>
                  </a:lnTo>
                  <a:cubicBezTo>
                    <a:pt x="4394" y="7230"/>
                    <a:pt x="4274" y="6851"/>
                    <a:pt x="4155" y="6471"/>
                  </a:cubicBezTo>
                  <a:lnTo>
                    <a:pt x="4155" y="5845"/>
                  </a:lnTo>
                  <a:lnTo>
                    <a:pt x="3101" y="5293"/>
                  </a:lnTo>
                  <a:lnTo>
                    <a:pt x="2406" y="5845"/>
                  </a:lnTo>
                  <a:lnTo>
                    <a:pt x="1710" y="6471"/>
                  </a:lnTo>
                  <a:lnTo>
                    <a:pt x="1372" y="6471"/>
                  </a:lnTo>
                  <a:lnTo>
                    <a:pt x="338" y="6471"/>
                  </a:lnTo>
                  <a:lnTo>
                    <a:pt x="0" y="5845"/>
                  </a:lnTo>
                  <a:cubicBezTo>
                    <a:pt x="113" y="5466"/>
                    <a:pt x="225" y="5085"/>
                    <a:pt x="338" y="4705"/>
                  </a:cubicBezTo>
                  <a:lnTo>
                    <a:pt x="696" y="3529"/>
                  </a:lnTo>
                  <a:lnTo>
                    <a:pt x="1034" y="2940"/>
                  </a:lnTo>
                  <a:cubicBezTo>
                    <a:pt x="921" y="2353"/>
                    <a:pt x="809" y="1764"/>
                    <a:pt x="696" y="1176"/>
                  </a:cubicBezTo>
                  <a:lnTo>
                    <a:pt x="1372" y="552"/>
                  </a:lnTo>
                  <a:lnTo>
                    <a:pt x="2068" y="552"/>
                  </a:lnTo>
                  <a:lnTo>
                    <a:pt x="3101" y="1176"/>
                  </a:lnTo>
                  <a:lnTo>
                    <a:pt x="3439" y="1176"/>
                  </a:lnTo>
                  <a:lnTo>
                    <a:pt x="3817" y="1176"/>
                  </a:lnTo>
                  <a:lnTo>
                    <a:pt x="4155" y="1176"/>
                  </a:lnTo>
                  <a:lnTo>
                    <a:pt x="4851" y="1176"/>
                  </a:lnTo>
                  <a:cubicBezTo>
                    <a:pt x="4964" y="785"/>
                    <a:pt x="5076" y="392"/>
                    <a:pt x="5189" y="0"/>
                  </a:cubicBezTo>
                  <a:lnTo>
                    <a:pt x="5527" y="0"/>
                  </a:lnTo>
                  <a:lnTo>
                    <a:pt x="6561" y="0"/>
                  </a:lnTo>
                  <a:lnTo>
                    <a:pt x="6918" y="552"/>
                  </a:lnTo>
                  <a:lnTo>
                    <a:pt x="6561" y="552"/>
                  </a:lnTo>
                  <a:lnTo>
                    <a:pt x="6918" y="1176"/>
                  </a:lnTo>
                  <a:lnTo>
                    <a:pt x="7256" y="1176"/>
                  </a:lnTo>
                  <a:lnTo>
                    <a:pt x="7594" y="2316"/>
                  </a:lnTo>
                  <a:lnTo>
                    <a:pt x="7932" y="2940"/>
                  </a:lnTo>
                  <a:lnTo>
                    <a:pt x="8290" y="2316"/>
                  </a:lnTo>
                  <a:lnTo>
                    <a:pt x="10000" y="4080"/>
                  </a:lnTo>
                  <a:cubicBezTo>
                    <a:pt x="9887" y="4877"/>
                    <a:pt x="9775" y="5674"/>
                    <a:pt x="9662" y="6471"/>
                  </a:cubicBezTo>
                  <a:lnTo>
                    <a:pt x="9304" y="5845"/>
                  </a:lnTo>
                  <a:lnTo>
                    <a:pt x="8966" y="6471"/>
                  </a:lnTo>
                  <a:lnTo>
                    <a:pt x="8966" y="7610"/>
                  </a:lnTo>
                  <a:lnTo>
                    <a:pt x="8628" y="7610"/>
                  </a:lnTo>
                  <a:lnTo>
                    <a:pt x="6918" y="9374"/>
                  </a:lnTo>
                  <a:lnTo>
                    <a:pt x="6561" y="9374"/>
                  </a:lnTo>
                  <a:lnTo>
                    <a:pt x="5527" y="8824"/>
                  </a:lnTo>
                  <a:lnTo>
                    <a:pt x="5527" y="8235"/>
                  </a:lnTo>
                  <a:lnTo>
                    <a:pt x="4851" y="8235"/>
                  </a:lnTo>
                  <a:lnTo>
                    <a:pt x="4513" y="9374"/>
                  </a:lnTo>
                  <a:lnTo>
                    <a:pt x="4155" y="9374"/>
                  </a:lnTo>
                  <a:lnTo>
                    <a:pt x="4155" y="10000"/>
                  </a:lnTo>
                  <a:close/>
                </a:path>
              </a:pathLst>
            </a:custGeom>
            <a:grpFill/>
            <a:ln w="0">
              <a:solidFill>
                <a:schemeClr val="tx2">
                  <a:lumMod val="20000"/>
                  <a:lumOff val="80000"/>
                  <a:alpha val="9000"/>
                </a:schemeClr>
              </a:solidFill>
              <a:round/>
              <a:headEnd/>
              <a:tailEnd/>
            </a:ln>
          </p:spPr>
          <p:txBody>
            <a:bodyPr rtlCol="0"/>
            <a:lstStyle/>
            <a:p>
              <a:pPr rtl="0"/>
              <a:endParaRPr lang="ru-RU" dirty="0"/>
            </a:p>
          </p:txBody>
        </p:sp>
        <p:sp>
          <p:nvSpPr>
            <p:cNvPr id="389" name="Freeform 504">
              <a:extLst>
                <a:ext uri="{FF2B5EF4-FFF2-40B4-BE49-F238E27FC236}">
                  <a16:creationId xmlns:a16="http://schemas.microsoft.com/office/drawing/2014/main" id="{9B3C3717-4E2F-4822-9D42-72FB458E3A9E}"/>
                </a:ext>
              </a:extLst>
            </p:cNvPr>
            <p:cNvSpPr/>
            <p:nvPr/>
          </p:nvSpPr>
          <p:spPr bwMode="auto">
            <a:xfrm>
              <a:off x="8077686" y="3397411"/>
              <a:ext cx="92370" cy="50666"/>
            </a:xfrm>
            <a:custGeom>
              <a:avLst/>
              <a:gdLst>
                <a:gd name="connsiteX0" fmla="*/ 111919 w 188119"/>
                <a:gd name="connsiteY0" fmla="*/ 0 h 109537"/>
                <a:gd name="connsiteX1" fmla="*/ 188119 w 188119"/>
                <a:gd name="connsiteY1" fmla="*/ 40481 h 109537"/>
                <a:gd name="connsiteX2" fmla="*/ 78582 w 188119"/>
                <a:gd name="connsiteY2" fmla="*/ 104775 h 109537"/>
                <a:gd name="connsiteX3" fmla="*/ 42863 w 188119"/>
                <a:gd name="connsiteY3" fmla="*/ 109537 h 109537"/>
                <a:gd name="connsiteX4" fmla="*/ 45244 w 188119"/>
                <a:gd name="connsiteY4" fmla="*/ 73818 h 109537"/>
                <a:gd name="connsiteX5" fmla="*/ 0 w 188119"/>
                <a:gd name="connsiteY5" fmla="*/ 42862 h 109537"/>
                <a:gd name="connsiteX6" fmla="*/ 111919 w 188119"/>
                <a:gd name="connsiteY6" fmla="*/ 0 h 109537"/>
                <a:gd name="connsiteX0" fmla="*/ 54769 w 188119"/>
                <a:gd name="connsiteY0" fmla="*/ 0 h 103186"/>
                <a:gd name="connsiteX1" fmla="*/ 188119 w 188119"/>
                <a:gd name="connsiteY1" fmla="*/ 34130 h 103186"/>
                <a:gd name="connsiteX2" fmla="*/ 78582 w 188119"/>
                <a:gd name="connsiteY2" fmla="*/ 98424 h 103186"/>
                <a:gd name="connsiteX3" fmla="*/ 42863 w 188119"/>
                <a:gd name="connsiteY3" fmla="*/ 103186 h 103186"/>
                <a:gd name="connsiteX4" fmla="*/ 45244 w 188119"/>
                <a:gd name="connsiteY4" fmla="*/ 67467 h 103186"/>
                <a:gd name="connsiteX5" fmla="*/ 0 w 188119"/>
                <a:gd name="connsiteY5" fmla="*/ 36511 h 103186"/>
                <a:gd name="connsiteX6" fmla="*/ 54769 w 188119"/>
                <a:gd name="connsiteY6" fmla="*/ 0 h 103186"/>
                <a:gd name="connsiteX0" fmla="*/ 61913 w 188119"/>
                <a:gd name="connsiteY0" fmla="*/ 0 h 103186"/>
                <a:gd name="connsiteX1" fmla="*/ 188119 w 188119"/>
                <a:gd name="connsiteY1" fmla="*/ 34130 h 103186"/>
                <a:gd name="connsiteX2" fmla="*/ 78582 w 188119"/>
                <a:gd name="connsiteY2" fmla="*/ 98424 h 103186"/>
                <a:gd name="connsiteX3" fmla="*/ 42863 w 188119"/>
                <a:gd name="connsiteY3" fmla="*/ 103186 h 103186"/>
                <a:gd name="connsiteX4" fmla="*/ 45244 w 188119"/>
                <a:gd name="connsiteY4" fmla="*/ 67467 h 103186"/>
                <a:gd name="connsiteX5" fmla="*/ 0 w 188119"/>
                <a:gd name="connsiteY5" fmla="*/ 36511 h 103186"/>
                <a:gd name="connsiteX6" fmla="*/ 61913 w 188119"/>
                <a:gd name="connsiteY6" fmla="*/ 0 h 103186"/>
                <a:gd name="connsiteX0" fmla="*/ 61913 w 188119"/>
                <a:gd name="connsiteY0" fmla="*/ 0 h 103186"/>
                <a:gd name="connsiteX1" fmla="*/ 116682 w 188119"/>
                <a:gd name="connsiteY1" fmla="*/ 3173 h 103186"/>
                <a:gd name="connsiteX2" fmla="*/ 188119 w 188119"/>
                <a:gd name="connsiteY2" fmla="*/ 34130 h 103186"/>
                <a:gd name="connsiteX3" fmla="*/ 78582 w 188119"/>
                <a:gd name="connsiteY3" fmla="*/ 98424 h 103186"/>
                <a:gd name="connsiteX4" fmla="*/ 42863 w 188119"/>
                <a:gd name="connsiteY4" fmla="*/ 103186 h 103186"/>
                <a:gd name="connsiteX5" fmla="*/ 45244 w 188119"/>
                <a:gd name="connsiteY5" fmla="*/ 67467 h 103186"/>
                <a:gd name="connsiteX6" fmla="*/ 0 w 188119"/>
                <a:gd name="connsiteY6" fmla="*/ 36511 h 103186"/>
                <a:gd name="connsiteX7" fmla="*/ 61913 w 188119"/>
                <a:gd name="connsiteY7" fmla="*/ 0 h 10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119" h="103186">
                  <a:moveTo>
                    <a:pt x="61913" y="0"/>
                  </a:moveTo>
                  <a:lnTo>
                    <a:pt x="116682" y="3173"/>
                  </a:lnTo>
                  <a:lnTo>
                    <a:pt x="188119" y="34130"/>
                  </a:lnTo>
                  <a:lnTo>
                    <a:pt x="78582" y="98424"/>
                  </a:lnTo>
                  <a:lnTo>
                    <a:pt x="42863" y="103186"/>
                  </a:lnTo>
                  <a:lnTo>
                    <a:pt x="45244" y="67467"/>
                  </a:lnTo>
                  <a:lnTo>
                    <a:pt x="0" y="36511"/>
                  </a:lnTo>
                  <a:lnTo>
                    <a:pt x="61913" y="0"/>
                  </a:lnTo>
                  <a:close/>
                </a:path>
              </a:pathLst>
            </a:custGeom>
            <a:grpFill/>
            <a:ln w="0">
              <a:solidFill>
                <a:schemeClr val="tx2">
                  <a:lumMod val="20000"/>
                  <a:lumOff val="80000"/>
                  <a:alpha val="9000"/>
                </a:schemeClr>
              </a:solidFill>
              <a:round/>
              <a:headEnd/>
              <a:tailEnd/>
            </a:ln>
          </p:spPr>
          <p:txBody>
            <a:bodyPr rtlCol="0"/>
            <a:lstStyle/>
            <a:p>
              <a:pPr marR="0" indent="0" rtl="0" fontAlgn="base"/>
              <a:endParaRPr lang="ru-RU" dirty="0"/>
            </a:p>
          </p:txBody>
        </p:sp>
      </p:grpSp>
      <p:sp>
        <p:nvSpPr>
          <p:cNvPr id="7" name="Rectangle 6" hidden="1"/>
          <p:cNvSpPr/>
          <p:nvPr userDrawn="1">
            <p:custDataLst>
              <p:tags r:id="rId3"/>
            </p:custDataLst>
          </p:nvPr>
        </p:nvSpPr>
        <p:spPr>
          <a:xfrm>
            <a:off x="0" y="0"/>
            <a:ext cx="158750" cy="15875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eaLnBrk="1"/>
            <a:endParaRPr lang="en-US" sz="1800" b="0" i="0" baseline="0" dirty="0">
              <a:solidFill>
                <a:schemeClr val="tx1"/>
              </a:solidFill>
              <a:latin typeface="Arial" panose="020B0604020202020204" pitchFamily="34" charset="0"/>
              <a:ea typeface="+mj-ea"/>
              <a:cs typeface="+mj-cs"/>
              <a:sym typeface="Arial" panose="020B0604020202020204" pitchFamily="34" charset="0"/>
            </a:endParaRPr>
          </a:p>
        </p:txBody>
      </p:sp>
      <p:sp>
        <p:nvSpPr>
          <p:cNvPr id="6" name="Text Placeholder 5"/>
          <p:cNvSpPr>
            <a:spLocks noGrp="1"/>
          </p:cNvSpPr>
          <p:nvPr userDrawn="1">
            <p:ph type="body" sz="quarter" idx="13" hasCustomPrompt="1"/>
          </p:nvPr>
        </p:nvSpPr>
        <p:spPr>
          <a:xfrm>
            <a:off x="323035" y="6324599"/>
            <a:ext cx="4728390" cy="278753"/>
          </a:xfrm>
          <a:prstGeom prst="rect">
            <a:avLst/>
          </a:prstGeom>
        </p:spPr>
        <p:txBody>
          <a:bodyPr lIns="0" tIns="0" rIns="0" bIns="0" rtlCol="0" anchor="b" anchorCtr="0"/>
          <a:lstStyle>
            <a:lvl1pPr marL="0" marR="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sz="2400">
                <a:solidFill>
                  <a:schemeClr val="tx2"/>
                </a:solidFill>
                <a:latin typeface="+mn-lt"/>
              </a:defRPr>
            </a:lvl1pPr>
            <a:lvl2pPr marL="291586" indent="0">
              <a:buNone/>
              <a:defRPr>
                <a:solidFill>
                  <a:schemeClr val="bg1"/>
                </a:solidFill>
              </a:defRPr>
            </a:lvl2pPr>
            <a:lvl3pPr marL="583171" indent="0">
              <a:buNone/>
              <a:defRPr>
                <a:solidFill>
                  <a:schemeClr val="bg1"/>
                </a:solidFill>
              </a:defRPr>
            </a:lvl3pPr>
            <a:lvl4pPr marL="874756" indent="0">
              <a:buNone/>
              <a:defRPr>
                <a:solidFill>
                  <a:schemeClr val="bg1"/>
                </a:solidFill>
              </a:defRPr>
            </a:lvl4pPr>
            <a:lvl5pPr marL="1166341" indent="0">
              <a:buNone/>
              <a:defRPr>
                <a:solidFill>
                  <a:schemeClr val="bg1"/>
                </a:solidFill>
              </a:defRPr>
            </a:lvl5pPr>
          </a:lstStyle>
          <a:p>
            <a:pPr lvl="0" rtl="0"/>
            <a:r>
              <a:rPr lang="ru"/>
              <a:t>Date</a:t>
            </a:r>
          </a:p>
        </p:txBody>
      </p:sp>
      <p:sp>
        <p:nvSpPr>
          <p:cNvPr id="4" name="Text Placeholder 3"/>
          <p:cNvSpPr>
            <a:spLocks noGrp="1"/>
          </p:cNvSpPr>
          <p:nvPr userDrawn="1">
            <p:ph type="body" sz="quarter" idx="12" hasCustomPrompt="1"/>
          </p:nvPr>
        </p:nvSpPr>
        <p:spPr>
          <a:xfrm>
            <a:off x="317499" y="4341159"/>
            <a:ext cx="4733925" cy="842115"/>
          </a:xfrm>
          <a:prstGeom prst="rect">
            <a:avLst/>
          </a:prstGeom>
        </p:spPr>
        <p:txBody>
          <a:bodyPr lIns="0" tIns="0" rIns="0" bIns="0" rtlCol="0"/>
          <a:lstStyle>
            <a:lvl1pPr marL="0" marR="0" indent="0" algn="l" defTabSz="583170" rtl="0" eaLnBrk="1" fontAlgn="auto" latinLnBrk="0" hangingPunct="1">
              <a:lnSpc>
                <a:spcPct val="90000"/>
              </a:lnSpc>
              <a:spcBef>
                <a:spcPts val="0"/>
              </a:spcBef>
              <a:spcAft>
                <a:spcPts val="0"/>
              </a:spcAft>
              <a:buClrTx/>
              <a:buSzTx/>
              <a:buFont typeface="Arial" panose="020B0604020202020204" pitchFamily="34" charset="0"/>
              <a:buNone/>
              <a:tabLst/>
              <a:defRPr sz="3200" b="0" baseline="0">
                <a:solidFill>
                  <a:schemeClr val="accent1"/>
                </a:solidFill>
                <a:latin typeface="+mn-lt"/>
              </a:defRPr>
            </a:lvl1pPr>
            <a:lvl2pPr marL="291586" indent="0">
              <a:buNone/>
              <a:defRPr>
                <a:solidFill>
                  <a:schemeClr val="bg1"/>
                </a:solidFill>
              </a:defRPr>
            </a:lvl2pPr>
            <a:lvl3pPr marL="583171" indent="0">
              <a:buNone/>
              <a:defRPr>
                <a:solidFill>
                  <a:schemeClr val="bg1"/>
                </a:solidFill>
              </a:defRPr>
            </a:lvl3pPr>
            <a:lvl4pPr marL="874756" indent="0">
              <a:buNone/>
              <a:defRPr>
                <a:solidFill>
                  <a:schemeClr val="bg1"/>
                </a:solidFill>
              </a:defRPr>
            </a:lvl4pPr>
            <a:lvl5pPr marL="1166341" indent="0">
              <a:buNone/>
              <a:defRPr>
                <a:solidFill>
                  <a:schemeClr val="bg1"/>
                </a:solidFill>
              </a:defRPr>
            </a:lvl5pPr>
          </a:lstStyle>
          <a:p>
            <a:pPr lvl="0" rtl="0"/>
            <a:r>
              <a:rPr lang="ru"/>
              <a:t>Title</a:t>
            </a:r>
          </a:p>
        </p:txBody>
      </p:sp>
      <p:pic>
        <p:nvPicPr>
          <p:cNvPr id="180" name="Picture 179">
            <a:extLst>
              <a:ext uri="{FF2B5EF4-FFF2-40B4-BE49-F238E27FC236}">
                <a16:creationId xmlns:a16="http://schemas.microsoft.com/office/drawing/2014/main" id="{ABB88A78-2EF7-46E4-B0B7-C524DB12DE28}"/>
              </a:ext>
            </a:extLst>
          </p:cNvPr>
          <p:cNvPicPr>
            <a:picLocks noChangeAspect="1"/>
          </p:cNvPicPr>
          <p:nvPr userDrawn="1"/>
        </p:nvPicPr>
        <p:blipFill>
          <a:blip r:embed="rId319" cstate="email">
            <a:extLst>
              <a:ext uri="{28A0092B-C50C-407E-A947-70E740481C1C}">
                <a14:useLocalDpi xmlns:a14="http://schemas.microsoft.com/office/drawing/2010/main"/>
              </a:ext>
            </a:extLst>
          </a:blip>
          <a:stretch>
            <a:fillRect/>
          </a:stretch>
        </p:blipFill>
        <p:spPr>
          <a:xfrm>
            <a:off x="10529958" y="342489"/>
            <a:ext cx="1395342" cy="986311"/>
          </a:xfrm>
          <a:prstGeom prst="rect">
            <a:avLst/>
          </a:prstGeom>
        </p:spPr>
      </p:pic>
      <p:grpSp>
        <p:nvGrpSpPr>
          <p:cNvPr id="35" name="Group 34">
            <a:extLst>
              <a:ext uri="{FF2B5EF4-FFF2-40B4-BE49-F238E27FC236}">
                <a16:creationId xmlns:a16="http://schemas.microsoft.com/office/drawing/2014/main" id="{18B5BC3E-8356-40DB-925C-DB2C6F4B3F51}"/>
              </a:ext>
            </a:extLst>
          </p:cNvPr>
          <p:cNvGrpSpPr/>
          <p:nvPr userDrawn="1"/>
        </p:nvGrpSpPr>
        <p:grpSpPr>
          <a:xfrm>
            <a:off x="317501" y="342488"/>
            <a:ext cx="4952301" cy="1931318"/>
            <a:chOff x="314326" y="209071"/>
            <a:chExt cx="3168670" cy="1235731"/>
          </a:xfrm>
          <a:solidFill>
            <a:schemeClr val="tx1">
              <a:alpha val="60000"/>
            </a:schemeClr>
          </a:solidFill>
        </p:grpSpPr>
        <p:grpSp>
          <p:nvGrpSpPr>
            <p:cNvPr id="36" name="Group 35">
              <a:extLst>
                <a:ext uri="{FF2B5EF4-FFF2-40B4-BE49-F238E27FC236}">
                  <a16:creationId xmlns:a16="http://schemas.microsoft.com/office/drawing/2014/main" id="{5E39BE08-6D9E-479E-A911-F86FBC1DFA03}"/>
                </a:ext>
              </a:extLst>
            </p:cNvPr>
            <p:cNvGrpSpPr/>
            <p:nvPr userDrawn="1"/>
          </p:nvGrpSpPr>
          <p:grpSpPr>
            <a:xfrm>
              <a:off x="314326" y="641439"/>
              <a:ext cx="3168670" cy="370998"/>
              <a:chOff x="2124054" y="767433"/>
              <a:chExt cx="4269265" cy="499859"/>
            </a:xfrm>
            <a:grpFill/>
          </p:grpSpPr>
          <p:sp>
            <p:nvSpPr>
              <p:cNvPr id="52" name="Freeform 18">
                <a:extLst>
                  <a:ext uri="{FF2B5EF4-FFF2-40B4-BE49-F238E27FC236}">
                    <a16:creationId xmlns:a16="http://schemas.microsoft.com/office/drawing/2014/main" id="{17B43AC9-D7DC-46AF-8C96-AAD7FEB7AFE7}"/>
                  </a:ext>
                </a:extLst>
              </p:cNvPr>
              <p:cNvSpPr>
                <a:spLocks noEditPoints="1"/>
              </p:cNvSpPr>
              <p:nvPr userDrawn="1"/>
            </p:nvSpPr>
            <p:spPr bwMode="auto">
              <a:xfrm>
                <a:off x="2124054" y="776181"/>
                <a:ext cx="427381" cy="481114"/>
              </a:xfrm>
              <a:custGeom>
                <a:avLst/>
                <a:gdLst>
                  <a:gd name="T0" fmla="*/ 142 w 142"/>
                  <a:gd name="T1" fmla="*/ 160 h 160"/>
                  <a:gd name="T2" fmla="*/ 98 w 142"/>
                  <a:gd name="T3" fmla="*/ 160 h 160"/>
                  <a:gd name="T4" fmla="*/ 56 w 142"/>
                  <a:gd name="T5" fmla="*/ 97 h 160"/>
                  <a:gd name="T6" fmla="*/ 38 w 142"/>
                  <a:gd name="T7" fmla="*/ 97 h 160"/>
                  <a:gd name="T8" fmla="*/ 38 w 142"/>
                  <a:gd name="T9" fmla="*/ 160 h 160"/>
                  <a:gd name="T10" fmla="*/ 0 w 142"/>
                  <a:gd name="T11" fmla="*/ 160 h 160"/>
                  <a:gd name="T12" fmla="*/ 0 w 142"/>
                  <a:gd name="T13" fmla="*/ 0 h 160"/>
                  <a:gd name="T14" fmla="*/ 72 w 142"/>
                  <a:gd name="T15" fmla="*/ 0 h 160"/>
                  <a:gd name="T16" fmla="*/ 118 w 142"/>
                  <a:gd name="T17" fmla="*/ 7 h 160"/>
                  <a:gd name="T18" fmla="*/ 133 w 142"/>
                  <a:gd name="T19" fmla="*/ 34 h 160"/>
                  <a:gd name="T20" fmla="*/ 133 w 142"/>
                  <a:gd name="T21" fmla="*/ 62 h 160"/>
                  <a:gd name="T22" fmla="*/ 122 w 142"/>
                  <a:gd name="T23" fmla="*/ 84 h 160"/>
                  <a:gd name="T24" fmla="*/ 96 w 142"/>
                  <a:gd name="T25" fmla="*/ 94 h 160"/>
                  <a:gd name="T26" fmla="*/ 142 w 142"/>
                  <a:gd name="T27" fmla="*/ 160 h 160"/>
                  <a:gd name="T28" fmla="*/ 95 w 142"/>
                  <a:gd name="T29" fmla="*/ 54 h 160"/>
                  <a:gd name="T30" fmla="*/ 95 w 142"/>
                  <a:gd name="T31" fmla="*/ 43 h 160"/>
                  <a:gd name="T32" fmla="*/ 89 w 142"/>
                  <a:gd name="T33" fmla="*/ 31 h 160"/>
                  <a:gd name="T34" fmla="*/ 71 w 142"/>
                  <a:gd name="T35" fmla="*/ 27 h 160"/>
                  <a:gd name="T36" fmla="*/ 38 w 142"/>
                  <a:gd name="T37" fmla="*/ 27 h 160"/>
                  <a:gd name="T38" fmla="*/ 38 w 142"/>
                  <a:gd name="T39" fmla="*/ 72 h 160"/>
                  <a:gd name="T40" fmla="*/ 71 w 142"/>
                  <a:gd name="T41" fmla="*/ 72 h 160"/>
                  <a:gd name="T42" fmla="*/ 90 w 142"/>
                  <a:gd name="T43" fmla="*/ 68 h 160"/>
                  <a:gd name="T44" fmla="*/ 95 w 142"/>
                  <a:gd name="T45" fmla="*/ 5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2" h="160">
                    <a:moveTo>
                      <a:pt x="142" y="160"/>
                    </a:moveTo>
                    <a:cubicBezTo>
                      <a:pt x="98" y="160"/>
                      <a:pt x="98" y="160"/>
                      <a:pt x="98" y="160"/>
                    </a:cubicBezTo>
                    <a:cubicBezTo>
                      <a:pt x="56" y="97"/>
                      <a:pt x="56" y="97"/>
                      <a:pt x="56" y="97"/>
                    </a:cubicBezTo>
                    <a:cubicBezTo>
                      <a:pt x="38" y="97"/>
                      <a:pt x="38" y="97"/>
                      <a:pt x="38" y="97"/>
                    </a:cubicBezTo>
                    <a:cubicBezTo>
                      <a:pt x="38" y="160"/>
                      <a:pt x="38" y="160"/>
                      <a:pt x="38" y="160"/>
                    </a:cubicBezTo>
                    <a:cubicBezTo>
                      <a:pt x="0" y="160"/>
                      <a:pt x="0" y="160"/>
                      <a:pt x="0" y="160"/>
                    </a:cubicBezTo>
                    <a:cubicBezTo>
                      <a:pt x="0" y="0"/>
                      <a:pt x="0" y="0"/>
                      <a:pt x="0" y="0"/>
                    </a:cubicBezTo>
                    <a:cubicBezTo>
                      <a:pt x="72" y="0"/>
                      <a:pt x="72" y="0"/>
                      <a:pt x="72" y="0"/>
                    </a:cubicBezTo>
                    <a:cubicBezTo>
                      <a:pt x="93" y="0"/>
                      <a:pt x="108" y="2"/>
                      <a:pt x="118" y="7"/>
                    </a:cubicBezTo>
                    <a:cubicBezTo>
                      <a:pt x="128" y="13"/>
                      <a:pt x="133" y="21"/>
                      <a:pt x="133" y="34"/>
                    </a:cubicBezTo>
                    <a:cubicBezTo>
                      <a:pt x="133" y="62"/>
                      <a:pt x="133" y="62"/>
                      <a:pt x="133" y="62"/>
                    </a:cubicBezTo>
                    <a:cubicBezTo>
                      <a:pt x="133" y="72"/>
                      <a:pt x="129" y="79"/>
                      <a:pt x="122" y="84"/>
                    </a:cubicBezTo>
                    <a:cubicBezTo>
                      <a:pt x="115" y="90"/>
                      <a:pt x="106" y="93"/>
                      <a:pt x="96" y="94"/>
                    </a:cubicBezTo>
                    <a:lnTo>
                      <a:pt x="142" y="160"/>
                    </a:lnTo>
                    <a:close/>
                    <a:moveTo>
                      <a:pt x="95" y="54"/>
                    </a:moveTo>
                    <a:cubicBezTo>
                      <a:pt x="95" y="43"/>
                      <a:pt x="95" y="43"/>
                      <a:pt x="95" y="43"/>
                    </a:cubicBezTo>
                    <a:cubicBezTo>
                      <a:pt x="95" y="37"/>
                      <a:pt x="93" y="33"/>
                      <a:pt x="89" y="31"/>
                    </a:cubicBezTo>
                    <a:cubicBezTo>
                      <a:pt x="86" y="28"/>
                      <a:pt x="80" y="27"/>
                      <a:pt x="71" y="27"/>
                    </a:cubicBezTo>
                    <a:cubicBezTo>
                      <a:pt x="38" y="27"/>
                      <a:pt x="38" y="27"/>
                      <a:pt x="38" y="27"/>
                    </a:cubicBezTo>
                    <a:cubicBezTo>
                      <a:pt x="38" y="72"/>
                      <a:pt x="38" y="72"/>
                      <a:pt x="38" y="72"/>
                    </a:cubicBezTo>
                    <a:cubicBezTo>
                      <a:pt x="71" y="72"/>
                      <a:pt x="71" y="72"/>
                      <a:pt x="71" y="72"/>
                    </a:cubicBezTo>
                    <a:cubicBezTo>
                      <a:pt x="80" y="72"/>
                      <a:pt x="86" y="70"/>
                      <a:pt x="90" y="68"/>
                    </a:cubicBezTo>
                    <a:cubicBezTo>
                      <a:pt x="93" y="66"/>
                      <a:pt x="95" y="61"/>
                      <a:pt x="95" y="54"/>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3" name="Freeform 19">
                <a:extLst>
                  <a:ext uri="{FF2B5EF4-FFF2-40B4-BE49-F238E27FC236}">
                    <a16:creationId xmlns:a16="http://schemas.microsoft.com/office/drawing/2014/main" id="{0C51FD64-FE63-4CA1-AB23-6D5FEE2F0481}"/>
                  </a:ext>
                </a:extLst>
              </p:cNvPr>
              <p:cNvSpPr>
                <a:spLocks/>
              </p:cNvSpPr>
              <p:nvPr userDrawn="1"/>
            </p:nvSpPr>
            <p:spPr bwMode="auto">
              <a:xfrm>
                <a:off x="2622907" y="776181"/>
                <a:ext cx="372396" cy="481114"/>
              </a:xfrm>
              <a:custGeom>
                <a:avLst/>
                <a:gdLst>
                  <a:gd name="T0" fmla="*/ 298 w 298"/>
                  <a:gd name="T1" fmla="*/ 385 h 385"/>
                  <a:gd name="T2" fmla="*/ 0 w 298"/>
                  <a:gd name="T3" fmla="*/ 385 h 385"/>
                  <a:gd name="T4" fmla="*/ 0 w 298"/>
                  <a:gd name="T5" fmla="*/ 0 h 385"/>
                  <a:gd name="T6" fmla="*/ 294 w 298"/>
                  <a:gd name="T7" fmla="*/ 0 h 385"/>
                  <a:gd name="T8" fmla="*/ 294 w 298"/>
                  <a:gd name="T9" fmla="*/ 65 h 385"/>
                  <a:gd name="T10" fmla="*/ 91 w 298"/>
                  <a:gd name="T11" fmla="*/ 65 h 385"/>
                  <a:gd name="T12" fmla="*/ 91 w 298"/>
                  <a:gd name="T13" fmla="*/ 154 h 385"/>
                  <a:gd name="T14" fmla="*/ 274 w 298"/>
                  <a:gd name="T15" fmla="*/ 154 h 385"/>
                  <a:gd name="T16" fmla="*/ 274 w 298"/>
                  <a:gd name="T17" fmla="*/ 219 h 385"/>
                  <a:gd name="T18" fmla="*/ 91 w 298"/>
                  <a:gd name="T19" fmla="*/ 219 h 385"/>
                  <a:gd name="T20" fmla="*/ 91 w 298"/>
                  <a:gd name="T21" fmla="*/ 320 h 385"/>
                  <a:gd name="T22" fmla="*/ 298 w 298"/>
                  <a:gd name="T23" fmla="*/ 320 h 385"/>
                  <a:gd name="T24" fmla="*/ 298 w 298"/>
                  <a:gd name="T25"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8" h="385">
                    <a:moveTo>
                      <a:pt x="298" y="385"/>
                    </a:moveTo>
                    <a:lnTo>
                      <a:pt x="0" y="385"/>
                    </a:lnTo>
                    <a:lnTo>
                      <a:pt x="0" y="0"/>
                    </a:lnTo>
                    <a:lnTo>
                      <a:pt x="294" y="0"/>
                    </a:lnTo>
                    <a:lnTo>
                      <a:pt x="294" y="65"/>
                    </a:lnTo>
                    <a:lnTo>
                      <a:pt x="91" y="65"/>
                    </a:lnTo>
                    <a:lnTo>
                      <a:pt x="91" y="154"/>
                    </a:lnTo>
                    <a:lnTo>
                      <a:pt x="274" y="154"/>
                    </a:lnTo>
                    <a:lnTo>
                      <a:pt x="274" y="219"/>
                    </a:lnTo>
                    <a:lnTo>
                      <a:pt x="91" y="219"/>
                    </a:lnTo>
                    <a:lnTo>
                      <a:pt x="91" y="320"/>
                    </a:lnTo>
                    <a:lnTo>
                      <a:pt x="298" y="320"/>
                    </a:lnTo>
                    <a:lnTo>
                      <a:pt x="298" y="38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4" name="Freeform 20">
                <a:extLst>
                  <a:ext uri="{FF2B5EF4-FFF2-40B4-BE49-F238E27FC236}">
                    <a16:creationId xmlns:a16="http://schemas.microsoft.com/office/drawing/2014/main" id="{8C497035-D6E6-480A-A366-86E3CA9AE513}"/>
                  </a:ext>
                </a:extLst>
              </p:cNvPr>
              <p:cNvSpPr>
                <a:spLocks/>
              </p:cNvSpPr>
              <p:nvPr userDrawn="1"/>
            </p:nvSpPr>
            <p:spPr bwMode="auto">
              <a:xfrm>
                <a:off x="3076292" y="767433"/>
                <a:ext cx="394888" cy="499859"/>
              </a:xfrm>
              <a:custGeom>
                <a:avLst/>
                <a:gdLst>
                  <a:gd name="T0" fmla="*/ 131 w 131"/>
                  <a:gd name="T1" fmla="*/ 107 h 166"/>
                  <a:gd name="T2" fmla="*/ 131 w 131"/>
                  <a:gd name="T3" fmla="*/ 117 h 166"/>
                  <a:gd name="T4" fmla="*/ 126 w 131"/>
                  <a:gd name="T5" fmla="*/ 141 h 166"/>
                  <a:gd name="T6" fmla="*/ 111 w 131"/>
                  <a:gd name="T7" fmla="*/ 156 h 166"/>
                  <a:gd name="T8" fmla="*/ 89 w 131"/>
                  <a:gd name="T9" fmla="*/ 163 h 166"/>
                  <a:gd name="T10" fmla="*/ 60 w 131"/>
                  <a:gd name="T11" fmla="*/ 166 h 166"/>
                  <a:gd name="T12" fmla="*/ 3 w 131"/>
                  <a:gd name="T13" fmla="*/ 161 h 166"/>
                  <a:gd name="T14" fmla="*/ 3 w 131"/>
                  <a:gd name="T15" fmla="*/ 132 h 166"/>
                  <a:gd name="T16" fmla="*/ 61 w 131"/>
                  <a:gd name="T17" fmla="*/ 138 h 166"/>
                  <a:gd name="T18" fmla="*/ 93 w 131"/>
                  <a:gd name="T19" fmla="*/ 122 h 166"/>
                  <a:gd name="T20" fmla="*/ 93 w 131"/>
                  <a:gd name="T21" fmla="*/ 111 h 166"/>
                  <a:gd name="T22" fmla="*/ 89 w 131"/>
                  <a:gd name="T23" fmla="*/ 100 h 166"/>
                  <a:gd name="T24" fmla="*/ 72 w 131"/>
                  <a:gd name="T25" fmla="*/ 95 h 166"/>
                  <a:gd name="T26" fmla="*/ 53 w 131"/>
                  <a:gd name="T27" fmla="*/ 95 h 166"/>
                  <a:gd name="T28" fmla="*/ 0 w 131"/>
                  <a:gd name="T29" fmla="*/ 53 h 166"/>
                  <a:gd name="T30" fmla="*/ 0 w 131"/>
                  <a:gd name="T31" fmla="*/ 41 h 166"/>
                  <a:gd name="T32" fmla="*/ 18 w 131"/>
                  <a:gd name="T33" fmla="*/ 10 h 166"/>
                  <a:gd name="T34" fmla="*/ 73 w 131"/>
                  <a:gd name="T35" fmla="*/ 0 h 166"/>
                  <a:gd name="T36" fmla="*/ 123 w 131"/>
                  <a:gd name="T37" fmla="*/ 4 h 166"/>
                  <a:gd name="T38" fmla="*/ 123 w 131"/>
                  <a:gd name="T39" fmla="*/ 32 h 166"/>
                  <a:gd name="T40" fmla="*/ 72 w 131"/>
                  <a:gd name="T41" fmla="*/ 28 h 166"/>
                  <a:gd name="T42" fmla="*/ 46 w 131"/>
                  <a:gd name="T43" fmla="*/ 31 h 166"/>
                  <a:gd name="T44" fmla="*/ 39 w 131"/>
                  <a:gd name="T45" fmla="*/ 42 h 166"/>
                  <a:gd name="T46" fmla="*/ 39 w 131"/>
                  <a:gd name="T47" fmla="*/ 53 h 166"/>
                  <a:gd name="T48" fmla="*/ 60 w 131"/>
                  <a:gd name="T49" fmla="*/ 66 h 166"/>
                  <a:gd name="T50" fmla="*/ 79 w 131"/>
                  <a:gd name="T51" fmla="*/ 66 h 166"/>
                  <a:gd name="T52" fmla="*/ 119 w 131"/>
                  <a:gd name="T53" fmla="*/ 76 h 166"/>
                  <a:gd name="T54" fmla="*/ 131 w 131"/>
                  <a:gd name="T5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6">
                    <a:moveTo>
                      <a:pt x="131" y="107"/>
                    </a:moveTo>
                    <a:cubicBezTo>
                      <a:pt x="131" y="117"/>
                      <a:pt x="131" y="117"/>
                      <a:pt x="131" y="117"/>
                    </a:cubicBezTo>
                    <a:cubicBezTo>
                      <a:pt x="131" y="127"/>
                      <a:pt x="130" y="135"/>
                      <a:pt x="126" y="141"/>
                    </a:cubicBezTo>
                    <a:cubicBezTo>
                      <a:pt x="123" y="148"/>
                      <a:pt x="118" y="153"/>
                      <a:pt x="111" y="156"/>
                    </a:cubicBezTo>
                    <a:cubicBezTo>
                      <a:pt x="104" y="160"/>
                      <a:pt x="97" y="162"/>
                      <a:pt x="89" y="163"/>
                    </a:cubicBezTo>
                    <a:cubicBezTo>
                      <a:pt x="81" y="165"/>
                      <a:pt x="71" y="166"/>
                      <a:pt x="60" y="166"/>
                    </a:cubicBezTo>
                    <a:cubicBezTo>
                      <a:pt x="45" y="166"/>
                      <a:pt x="26" y="164"/>
                      <a:pt x="3" y="161"/>
                    </a:cubicBezTo>
                    <a:cubicBezTo>
                      <a:pt x="3" y="132"/>
                      <a:pt x="3" y="132"/>
                      <a:pt x="3" y="132"/>
                    </a:cubicBezTo>
                    <a:cubicBezTo>
                      <a:pt x="31" y="136"/>
                      <a:pt x="50" y="138"/>
                      <a:pt x="61" y="138"/>
                    </a:cubicBezTo>
                    <a:cubicBezTo>
                      <a:pt x="82" y="138"/>
                      <a:pt x="93" y="133"/>
                      <a:pt x="93" y="122"/>
                    </a:cubicBezTo>
                    <a:cubicBezTo>
                      <a:pt x="93" y="111"/>
                      <a:pt x="93" y="111"/>
                      <a:pt x="93" y="111"/>
                    </a:cubicBezTo>
                    <a:cubicBezTo>
                      <a:pt x="93" y="106"/>
                      <a:pt x="91" y="103"/>
                      <a:pt x="89" y="100"/>
                    </a:cubicBezTo>
                    <a:cubicBezTo>
                      <a:pt x="86" y="96"/>
                      <a:pt x="80" y="95"/>
                      <a:pt x="72" y="95"/>
                    </a:cubicBezTo>
                    <a:cubicBezTo>
                      <a:pt x="53" y="95"/>
                      <a:pt x="53" y="95"/>
                      <a:pt x="53" y="95"/>
                    </a:cubicBezTo>
                    <a:cubicBezTo>
                      <a:pt x="18" y="95"/>
                      <a:pt x="0" y="81"/>
                      <a:pt x="0" y="53"/>
                    </a:cubicBezTo>
                    <a:cubicBezTo>
                      <a:pt x="0" y="41"/>
                      <a:pt x="0" y="41"/>
                      <a:pt x="0" y="41"/>
                    </a:cubicBezTo>
                    <a:cubicBezTo>
                      <a:pt x="0" y="27"/>
                      <a:pt x="6" y="17"/>
                      <a:pt x="18" y="10"/>
                    </a:cubicBezTo>
                    <a:cubicBezTo>
                      <a:pt x="29" y="4"/>
                      <a:pt x="48" y="0"/>
                      <a:pt x="73" y="0"/>
                    </a:cubicBezTo>
                    <a:cubicBezTo>
                      <a:pt x="86" y="0"/>
                      <a:pt x="102" y="1"/>
                      <a:pt x="123" y="4"/>
                    </a:cubicBezTo>
                    <a:cubicBezTo>
                      <a:pt x="123" y="32"/>
                      <a:pt x="123" y="32"/>
                      <a:pt x="123" y="32"/>
                    </a:cubicBezTo>
                    <a:cubicBezTo>
                      <a:pt x="98" y="29"/>
                      <a:pt x="81" y="28"/>
                      <a:pt x="72" y="28"/>
                    </a:cubicBezTo>
                    <a:cubicBezTo>
                      <a:pt x="59" y="28"/>
                      <a:pt x="51" y="29"/>
                      <a:pt x="46" y="31"/>
                    </a:cubicBezTo>
                    <a:cubicBezTo>
                      <a:pt x="41" y="33"/>
                      <a:pt x="39" y="37"/>
                      <a:pt x="39" y="42"/>
                    </a:cubicBezTo>
                    <a:cubicBezTo>
                      <a:pt x="39" y="53"/>
                      <a:pt x="39" y="53"/>
                      <a:pt x="39" y="53"/>
                    </a:cubicBezTo>
                    <a:cubicBezTo>
                      <a:pt x="39" y="62"/>
                      <a:pt x="46" y="66"/>
                      <a:pt x="60" y="66"/>
                    </a:cubicBezTo>
                    <a:cubicBezTo>
                      <a:pt x="79" y="66"/>
                      <a:pt x="79" y="66"/>
                      <a:pt x="79" y="66"/>
                    </a:cubicBezTo>
                    <a:cubicBezTo>
                      <a:pt x="98" y="66"/>
                      <a:pt x="111" y="69"/>
                      <a:pt x="119" y="76"/>
                    </a:cubicBezTo>
                    <a:cubicBezTo>
                      <a:pt x="127" y="83"/>
                      <a:pt x="131" y="93"/>
                      <a:pt x="131" y="107"/>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5" name="Freeform 21">
                <a:extLst>
                  <a:ext uri="{FF2B5EF4-FFF2-40B4-BE49-F238E27FC236}">
                    <a16:creationId xmlns:a16="http://schemas.microsoft.com/office/drawing/2014/main" id="{E05CAF49-A230-4711-BAEA-8AD0246D576D}"/>
                  </a:ext>
                </a:extLst>
              </p:cNvPr>
              <p:cNvSpPr>
                <a:spLocks noEditPoints="1"/>
              </p:cNvSpPr>
              <p:nvPr userDrawn="1"/>
            </p:nvSpPr>
            <p:spPr bwMode="auto">
              <a:xfrm>
                <a:off x="3549399" y="767433"/>
                <a:ext cx="458622" cy="499859"/>
              </a:xfrm>
              <a:custGeom>
                <a:avLst/>
                <a:gdLst>
                  <a:gd name="T0" fmla="*/ 152 w 152"/>
                  <a:gd name="T1" fmla="*/ 49 h 166"/>
                  <a:gd name="T2" fmla="*/ 152 w 152"/>
                  <a:gd name="T3" fmla="*/ 119 h 166"/>
                  <a:gd name="T4" fmla="*/ 145 w 152"/>
                  <a:gd name="T5" fmla="*/ 142 h 166"/>
                  <a:gd name="T6" fmla="*/ 125 w 152"/>
                  <a:gd name="T7" fmla="*/ 157 h 166"/>
                  <a:gd name="T8" fmla="*/ 101 w 152"/>
                  <a:gd name="T9" fmla="*/ 164 h 166"/>
                  <a:gd name="T10" fmla="*/ 75 w 152"/>
                  <a:gd name="T11" fmla="*/ 166 h 166"/>
                  <a:gd name="T12" fmla="*/ 51 w 152"/>
                  <a:gd name="T13" fmla="*/ 164 h 166"/>
                  <a:gd name="T14" fmla="*/ 27 w 152"/>
                  <a:gd name="T15" fmla="*/ 158 h 166"/>
                  <a:gd name="T16" fmla="*/ 7 w 152"/>
                  <a:gd name="T17" fmla="*/ 144 h 166"/>
                  <a:gd name="T18" fmla="*/ 0 w 152"/>
                  <a:gd name="T19" fmla="*/ 119 h 166"/>
                  <a:gd name="T20" fmla="*/ 0 w 152"/>
                  <a:gd name="T21" fmla="*/ 49 h 166"/>
                  <a:gd name="T22" fmla="*/ 5 w 152"/>
                  <a:gd name="T23" fmla="*/ 27 h 166"/>
                  <a:gd name="T24" fmla="*/ 18 w 152"/>
                  <a:gd name="T25" fmla="*/ 13 h 166"/>
                  <a:gd name="T26" fmla="*/ 37 w 152"/>
                  <a:gd name="T27" fmla="*/ 5 h 166"/>
                  <a:gd name="T28" fmla="*/ 57 w 152"/>
                  <a:gd name="T29" fmla="*/ 1 h 166"/>
                  <a:gd name="T30" fmla="*/ 75 w 152"/>
                  <a:gd name="T31" fmla="*/ 0 h 166"/>
                  <a:gd name="T32" fmla="*/ 94 w 152"/>
                  <a:gd name="T33" fmla="*/ 1 h 166"/>
                  <a:gd name="T34" fmla="*/ 114 w 152"/>
                  <a:gd name="T35" fmla="*/ 5 h 166"/>
                  <a:gd name="T36" fmla="*/ 133 w 152"/>
                  <a:gd name="T37" fmla="*/ 13 h 166"/>
                  <a:gd name="T38" fmla="*/ 146 w 152"/>
                  <a:gd name="T39" fmla="*/ 27 h 166"/>
                  <a:gd name="T40" fmla="*/ 152 w 152"/>
                  <a:gd name="T41" fmla="*/ 49 h 166"/>
                  <a:gd name="T42" fmla="*/ 113 w 152"/>
                  <a:gd name="T43" fmla="*/ 119 h 166"/>
                  <a:gd name="T44" fmla="*/ 113 w 152"/>
                  <a:gd name="T45" fmla="*/ 49 h 166"/>
                  <a:gd name="T46" fmla="*/ 104 w 152"/>
                  <a:gd name="T47" fmla="*/ 32 h 166"/>
                  <a:gd name="T48" fmla="*/ 76 w 152"/>
                  <a:gd name="T49" fmla="*/ 28 h 166"/>
                  <a:gd name="T50" fmla="*/ 47 w 152"/>
                  <a:gd name="T51" fmla="*/ 32 h 166"/>
                  <a:gd name="T52" fmla="*/ 38 w 152"/>
                  <a:gd name="T53" fmla="*/ 49 h 166"/>
                  <a:gd name="T54" fmla="*/ 38 w 152"/>
                  <a:gd name="T55" fmla="*/ 119 h 166"/>
                  <a:gd name="T56" fmla="*/ 41 w 152"/>
                  <a:gd name="T57" fmla="*/ 129 h 166"/>
                  <a:gd name="T58" fmla="*/ 51 w 152"/>
                  <a:gd name="T59" fmla="*/ 135 h 166"/>
                  <a:gd name="T60" fmla="*/ 62 w 152"/>
                  <a:gd name="T61" fmla="*/ 138 h 166"/>
                  <a:gd name="T62" fmla="*/ 76 w 152"/>
                  <a:gd name="T63" fmla="*/ 138 h 166"/>
                  <a:gd name="T64" fmla="*/ 90 w 152"/>
                  <a:gd name="T65" fmla="*/ 138 h 166"/>
                  <a:gd name="T66" fmla="*/ 101 w 152"/>
                  <a:gd name="T67" fmla="*/ 135 h 166"/>
                  <a:gd name="T68" fmla="*/ 110 w 152"/>
                  <a:gd name="T69" fmla="*/ 129 h 166"/>
                  <a:gd name="T70" fmla="*/ 113 w 152"/>
                  <a:gd name="T71" fmla="*/ 119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2" h="166">
                    <a:moveTo>
                      <a:pt x="152" y="49"/>
                    </a:moveTo>
                    <a:cubicBezTo>
                      <a:pt x="152" y="119"/>
                      <a:pt x="152" y="119"/>
                      <a:pt x="152" y="119"/>
                    </a:cubicBezTo>
                    <a:cubicBezTo>
                      <a:pt x="152" y="128"/>
                      <a:pt x="149" y="136"/>
                      <a:pt x="145" y="142"/>
                    </a:cubicBezTo>
                    <a:cubicBezTo>
                      <a:pt x="140" y="149"/>
                      <a:pt x="133" y="154"/>
                      <a:pt x="125" y="157"/>
                    </a:cubicBezTo>
                    <a:cubicBezTo>
                      <a:pt x="117" y="160"/>
                      <a:pt x="109" y="162"/>
                      <a:pt x="101" y="164"/>
                    </a:cubicBezTo>
                    <a:cubicBezTo>
                      <a:pt x="93" y="165"/>
                      <a:pt x="84" y="166"/>
                      <a:pt x="75" y="166"/>
                    </a:cubicBezTo>
                    <a:cubicBezTo>
                      <a:pt x="67" y="166"/>
                      <a:pt x="59" y="165"/>
                      <a:pt x="51" y="164"/>
                    </a:cubicBezTo>
                    <a:cubicBezTo>
                      <a:pt x="44" y="163"/>
                      <a:pt x="36" y="161"/>
                      <a:pt x="27" y="158"/>
                    </a:cubicBezTo>
                    <a:cubicBezTo>
                      <a:pt x="19" y="155"/>
                      <a:pt x="12" y="150"/>
                      <a:pt x="7" y="144"/>
                    </a:cubicBezTo>
                    <a:cubicBezTo>
                      <a:pt x="2" y="137"/>
                      <a:pt x="0" y="129"/>
                      <a:pt x="0" y="119"/>
                    </a:cubicBezTo>
                    <a:cubicBezTo>
                      <a:pt x="0" y="49"/>
                      <a:pt x="0" y="49"/>
                      <a:pt x="0" y="49"/>
                    </a:cubicBezTo>
                    <a:cubicBezTo>
                      <a:pt x="0" y="41"/>
                      <a:pt x="1" y="34"/>
                      <a:pt x="5" y="27"/>
                    </a:cubicBezTo>
                    <a:cubicBezTo>
                      <a:pt x="9" y="21"/>
                      <a:pt x="13" y="16"/>
                      <a:pt x="18" y="13"/>
                    </a:cubicBezTo>
                    <a:cubicBezTo>
                      <a:pt x="24" y="10"/>
                      <a:pt x="30" y="7"/>
                      <a:pt x="37" y="5"/>
                    </a:cubicBezTo>
                    <a:cubicBezTo>
                      <a:pt x="45" y="3"/>
                      <a:pt x="51" y="2"/>
                      <a:pt x="57" y="1"/>
                    </a:cubicBezTo>
                    <a:cubicBezTo>
                      <a:pt x="63" y="1"/>
                      <a:pt x="69" y="0"/>
                      <a:pt x="75" y="0"/>
                    </a:cubicBezTo>
                    <a:cubicBezTo>
                      <a:pt x="82" y="0"/>
                      <a:pt x="88" y="1"/>
                      <a:pt x="94" y="1"/>
                    </a:cubicBezTo>
                    <a:cubicBezTo>
                      <a:pt x="100" y="2"/>
                      <a:pt x="107" y="3"/>
                      <a:pt x="114" y="5"/>
                    </a:cubicBezTo>
                    <a:cubicBezTo>
                      <a:pt x="121" y="7"/>
                      <a:pt x="128" y="10"/>
                      <a:pt x="133" y="13"/>
                    </a:cubicBezTo>
                    <a:cubicBezTo>
                      <a:pt x="138" y="16"/>
                      <a:pt x="143" y="21"/>
                      <a:pt x="146" y="27"/>
                    </a:cubicBezTo>
                    <a:cubicBezTo>
                      <a:pt x="150" y="33"/>
                      <a:pt x="152" y="41"/>
                      <a:pt x="152" y="49"/>
                    </a:cubicBezTo>
                    <a:close/>
                    <a:moveTo>
                      <a:pt x="113" y="119"/>
                    </a:moveTo>
                    <a:cubicBezTo>
                      <a:pt x="113" y="49"/>
                      <a:pt x="113" y="49"/>
                      <a:pt x="113" y="49"/>
                    </a:cubicBezTo>
                    <a:cubicBezTo>
                      <a:pt x="113" y="41"/>
                      <a:pt x="110" y="36"/>
                      <a:pt x="104" y="32"/>
                    </a:cubicBezTo>
                    <a:cubicBezTo>
                      <a:pt x="97" y="29"/>
                      <a:pt x="88" y="28"/>
                      <a:pt x="76" y="28"/>
                    </a:cubicBezTo>
                    <a:cubicBezTo>
                      <a:pt x="63" y="28"/>
                      <a:pt x="54" y="29"/>
                      <a:pt x="47" y="32"/>
                    </a:cubicBezTo>
                    <a:cubicBezTo>
                      <a:pt x="41" y="35"/>
                      <a:pt x="38" y="41"/>
                      <a:pt x="38" y="49"/>
                    </a:cubicBezTo>
                    <a:cubicBezTo>
                      <a:pt x="38" y="119"/>
                      <a:pt x="38" y="119"/>
                      <a:pt x="38" y="119"/>
                    </a:cubicBezTo>
                    <a:cubicBezTo>
                      <a:pt x="38" y="123"/>
                      <a:pt x="39" y="127"/>
                      <a:pt x="41" y="129"/>
                    </a:cubicBezTo>
                    <a:cubicBezTo>
                      <a:pt x="43" y="132"/>
                      <a:pt x="47" y="134"/>
                      <a:pt x="51" y="135"/>
                    </a:cubicBezTo>
                    <a:cubicBezTo>
                      <a:pt x="55" y="136"/>
                      <a:pt x="58" y="137"/>
                      <a:pt x="62" y="138"/>
                    </a:cubicBezTo>
                    <a:cubicBezTo>
                      <a:pt x="66" y="138"/>
                      <a:pt x="70" y="138"/>
                      <a:pt x="76" y="138"/>
                    </a:cubicBezTo>
                    <a:cubicBezTo>
                      <a:pt x="81" y="138"/>
                      <a:pt x="86" y="138"/>
                      <a:pt x="90" y="138"/>
                    </a:cubicBezTo>
                    <a:cubicBezTo>
                      <a:pt x="93" y="137"/>
                      <a:pt x="97" y="136"/>
                      <a:pt x="101" y="135"/>
                    </a:cubicBezTo>
                    <a:cubicBezTo>
                      <a:pt x="105" y="134"/>
                      <a:pt x="108" y="132"/>
                      <a:pt x="110" y="129"/>
                    </a:cubicBezTo>
                    <a:cubicBezTo>
                      <a:pt x="112" y="127"/>
                      <a:pt x="113" y="123"/>
                      <a:pt x="113" y="119"/>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6" name="Freeform 22">
                <a:extLst>
                  <a:ext uri="{FF2B5EF4-FFF2-40B4-BE49-F238E27FC236}">
                    <a16:creationId xmlns:a16="http://schemas.microsoft.com/office/drawing/2014/main" id="{BFCD6537-5940-4553-92B0-E36F091AEAA2}"/>
                  </a:ext>
                </a:extLst>
              </p:cNvPr>
              <p:cNvSpPr>
                <a:spLocks/>
              </p:cNvSpPr>
              <p:nvPr userDrawn="1"/>
            </p:nvSpPr>
            <p:spPr bwMode="auto">
              <a:xfrm>
                <a:off x="4095456" y="776181"/>
                <a:ext cx="418634" cy="491111"/>
              </a:xfrm>
              <a:custGeom>
                <a:avLst/>
                <a:gdLst>
                  <a:gd name="T0" fmla="*/ 139 w 139"/>
                  <a:gd name="T1" fmla="*/ 0 h 163"/>
                  <a:gd name="T2" fmla="*/ 139 w 139"/>
                  <a:gd name="T3" fmla="*/ 116 h 163"/>
                  <a:gd name="T4" fmla="*/ 70 w 139"/>
                  <a:gd name="T5" fmla="*/ 163 h 163"/>
                  <a:gd name="T6" fmla="*/ 0 w 139"/>
                  <a:gd name="T7" fmla="*/ 116 h 163"/>
                  <a:gd name="T8" fmla="*/ 0 w 139"/>
                  <a:gd name="T9" fmla="*/ 0 h 163"/>
                  <a:gd name="T10" fmla="*/ 39 w 139"/>
                  <a:gd name="T11" fmla="*/ 0 h 163"/>
                  <a:gd name="T12" fmla="*/ 39 w 139"/>
                  <a:gd name="T13" fmla="*/ 116 h 163"/>
                  <a:gd name="T14" fmla="*/ 46 w 139"/>
                  <a:gd name="T15" fmla="*/ 131 h 163"/>
                  <a:gd name="T16" fmla="*/ 70 w 139"/>
                  <a:gd name="T17" fmla="*/ 135 h 163"/>
                  <a:gd name="T18" fmla="*/ 94 w 139"/>
                  <a:gd name="T19" fmla="*/ 131 h 163"/>
                  <a:gd name="T20" fmla="*/ 101 w 139"/>
                  <a:gd name="T21" fmla="*/ 116 h 163"/>
                  <a:gd name="T22" fmla="*/ 101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6"/>
                      <a:pt x="139" y="116"/>
                      <a:pt x="139" y="116"/>
                    </a:cubicBezTo>
                    <a:cubicBezTo>
                      <a:pt x="139" y="147"/>
                      <a:pt x="116" y="163"/>
                      <a:pt x="70" y="163"/>
                    </a:cubicBezTo>
                    <a:cubicBezTo>
                      <a:pt x="23" y="163"/>
                      <a:pt x="0" y="147"/>
                      <a:pt x="0" y="116"/>
                    </a:cubicBezTo>
                    <a:cubicBezTo>
                      <a:pt x="0" y="0"/>
                      <a:pt x="0" y="0"/>
                      <a:pt x="0" y="0"/>
                    </a:cubicBezTo>
                    <a:cubicBezTo>
                      <a:pt x="39" y="0"/>
                      <a:pt x="39" y="0"/>
                      <a:pt x="39" y="0"/>
                    </a:cubicBezTo>
                    <a:cubicBezTo>
                      <a:pt x="39" y="116"/>
                      <a:pt x="39" y="116"/>
                      <a:pt x="39" y="116"/>
                    </a:cubicBezTo>
                    <a:cubicBezTo>
                      <a:pt x="39" y="123"/>
                      <a:pt x="41" y="128"/>
                      <a:pt x="46" y="131"/>
                    </a:cubicBezTo>
                    <a:cubicBezTo>
                      <a:pt x="51" y="134"/>
                      <a:pt x="59" y="135"/>
                      <a:pt x="70" y="135"/>
                    </a:cubicBezTo>
                    <a:cubicBezTo>
                      <a:pt x="81" y="135"/>
                      <a:pt x="89" y="134"/>
                      <a:pt x="94" y="131"/>
                    </a:cubicBezTo>
                    <a:cubicBezTo>
                      <a:pt x="99" y="128"/>
                      <a:pt x="101" y="123"/>
                      <a:pt x="101" y="116"/>
                    </a:cubicBezTo>
                    <a:cubicBezTo>
                      <a:pt x="101" y="0"/>
                      <a:pt x="101" y="0"/>
                      <a:pt x="101"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7" name="Freeform 23">
                <a:extLst>
                  <a:ext uri="{FF2B5EF4-FFF2-40B4-BE49-F238E27FC236}">
                    <a16:creationId xmlns:a16="http://schemas.microsoft.com/office/drawing/2014/main" id="{A67E9324-0CA4-4495-99D8-EEB2646B31FD}"/>
                  </a:ext>
                </a:extLst>
              </p:cNvPr>
              <p:cNvSpPr>
                <a:spLocks noEditPoints="1"/>
              </p:cNvSpPr>
              <p:nvPr userDrawn="1"/>
            </p:nvSpPr>
            <p:spPr bwMode="auto">
              <a:xfrm>
                <a:off x="4609545" y="776181"/>
                <a:ext cx="428631" cy="481114"/>
              </a:xfrm>
              <a:custGeom>
                <a:avLst/>
                <a:gdLst>
                  <a:gd name="T0" fmla="*/ 142 w 142"/>
                  <a:gd name="T1" fmla="*/ 160 h 160"/>
                  <a:gd name="T2" fmla="*/ 98 w 142"/>
                  <a:gd name="T3" fmla="*/ 160 h 160"/>
                  <a:gd name="T4" fmla="*/ 56 w 142"/>
                  <a:gd name="T5" fmla="*/ 97 h 160"/>
                  <a:gd name="T6" fmla="*/ 38 w 142"/>
                  <a:gd name="T7" fmla="*/ 97 h 160"/>
                  <a:gd name="T8" fmla="*/ 38 w 142"/>
                  <a:gd name="T9" fmla="*/ 160 h 160"/>
                  <a:gd name="T10" fmla="*/ 0 w 142"/>
                  <a:gd name="T11" fmla="*/ 160 h 160"/>
                  <a:gd name="T12" fmla="*/ 0 w 142"/>
                  <a:gd name="T13" fmla="*/ 0 h 160"/>
                  <a:gd name="T14" fmla="*/ 72 w 142"/>
                  <a:gd name="T15" fmla="*/ 0 h 160"/>
                  <a:gd name="T16" fmla="*/ 118 w 142"/>
                  <a:gd name="T17" fmla="*/ 7 h 160"/>
                  <a:gd name="T18" fmla="*/ 132 w 142"/>
                  <a:gd name="T19" fmla="*/ 34 h 160"/>
                  <a:gd name="T20" fmla="*/ 132 w 142"/>
                  <a:gd name="T21" fmla="*/ 62 h 160"/>
                  <a:gd name="T22" fmla="*/ 122 w 142"/>
                  <a:gd name="T23" fmla="*/ 84 h 160"/>
                  <a:gd name="T24" fmla="*/ 96 w 142"/>
                  <a:gd name="T25" fmla="*/ 94 h 160"/>
                  <a:gd name="T26" fmla="*/ 142 w 142"/>
                  <a:gd name="T27" fmla="*/ 160 h 160"/>
                  <a:gd name="T28" fmla="*/ 95 w 142"/>
                  <a:gd name="T29" fmla="*/ 54 h 160"/>
                  <a:gd name="T30" fmla="*/ 95 w 142"/>
                  <a:gd name="T31" fmla="*/ 43 h 160"/>
                  <a:gd name="T32" fmla="*/ 89 w 142"/>
                  <a:gd name="T33" fmla="*/ 31 h 160"/>
                  <a:gd name="T34" fmla="*/ 71 w 142"/>
                  <a:gd name="T35" fmla="*/ 27 h 160"/>
                  <a:gd name="T36" fmla="*/ 38 w 142"/>
                  <a:gd name="T37" fmla="*/ 27 h 160"/>
                  <a:gd name="T38" fmla="*/ 38 w 142"/>
                  <a:gd name="T39" fmla="*/ 72 h 160"/>
                  <a:gd name="T40" fmla="*/ 71 w 142"/>
                  <a:gd name="T41" fmla="*/ 72 h 160"/>
                  <a:gd name="T42" fmla="*/ 90 w 142"/>
                  <a:gd name="T43" fmla="*/ 68 h 160"/>
                  <a:gd name="T44" fmla="*/ 95 w 142"/>
                  <a:gd name="T45" fmla="*/ 5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2" h="160">
                    <a:moveTo>
                      <a:pt x="142" y="160"/>
                    </a:moveTo>
                    <a:cubicBezTo>
                      <a:pt x="98" y="160"/>
                      <a:pt x="98" y="160"/>
                      <a:pt x="98" y="160"/>
                    </a:cubicBezTo>
                    <a:cubicBezTo>
                      <a:pt x="56" y="97"/>
                      <a:pt x="56" y="97"/>
                      <a:pt x="56" y="97"/>
                    </a:cubicBezTo>
                    <a:cubicBezTo>
                      <a:pt x="38" y="97"/>
                      <a:pt x="38" y="97"/>
                      <a:pt x="38" y="97"/>
                    </a:cubicBezTo>
                    <a:cubicBezTo>
                      <a:pt x="38" y="160"/>
                      <a:pt x="38" y="160"/>
                      <a:pt x="38" y="160"/>
                    </a:cubicBezTo>
                    <a:cubicBezTo>
                      <a:pt x="0" y="160"/>
                      <a:pt x="0" y="160"/>
                      <a:pt x="0" y="160"/>
                    </a:cubicBezTo>
                    <a:cubicBezTo>
                      <a:pt x="0" y="0"/>
                      <a:pt x="0" y="0"/>
                      <a:pt x="0" y="0"/>
                    </a:cubicBezTo>
                    <a:cubicBezTo>
                      <a:pt x="72" y="0"/>
                      <a:pt x="72" y="0"/>
                      <a:pt x="72" y="0"/>
                    </a:cubicBezTo>
                    <a:cubicBezTo>
                      <a:pt x="93" y="0"/>
                      <a:pt x="108" y="2"/>
                      <a:pt x="118" y="7"/>
                    </a:cubicBezTo>
                    <a:cubicBezTo>
                      <a:pt x="128" y="13"/>
                      <a:pt x="132" y="21"/>
                      <a:pt x="132" y="34"/>
                    </a:cubicBezTo>
                    <a:cubicBezTo>
                      <a:pt x="132" y="62"/>
                      <a:pt x="132" y="62"/>
                      <a:pt x="132" y="62"/>
                    </a:cubicBezTo>
                    <a:cubicBezTo>
                      <a:pt x="132" y="72"/>
                      <a:pt x="129" y="79"/>
                      <a:pt x="122" y="84"/>
                    </a:cubicBezTo>
                    <a:cubicBezTo>
                      <a:pt x="115" y="90"/>
                      <a:pt x="106" y="93"/>
                      <a:pt x="96" y="94"/>
                    </a:cubicBezTo>
                    <a:lnTo>
                      <a:pt x="142" y="160"/>
                    </a:lnTo>
                    <a:close/>
                    <a:moveTo>
                      <a:pt x="95" y="54"/>
                    </a:moveTo>
                    <a:cubicBezTo>
                      <a:pt x="95" y="43"/>
                      <a:pt x="95" y="43"/>
                      <a:pt x="95" y="43"/>
                    </a:cubicBezTo>
                    <a:cubicBezTo>
                      <a:pt x="95" y="37"/>
                      <a:pt x="93" y="33"/>
                      <a:pt x="89" y="31"/>
                    </a:cubicBezTo>
                    <a:cubicBezTo>
                      <a:pt x="86" y="28"/>
                      <a:pt x="80" y="27"/>
                      <a:pt x="71" y="27"/>
                    </a:cubicBezTo>
                    <a:cubicBezTo>
                      <a:pt x="38" y="27"/>
                      <a:pt x="38" y="27"/>
                      <a:pt x="38" y="27"/>
                    </a:cubicBezTo>
                    <a:cubicBezTo>
                      <a:pt x="38" y="72"/>
                      <a:pt x="38" y="72"/>
                      <a:pt x="38" y="72"/>
                    </a:cubicBezTo>
                    <a:cubicBezTo>
                      <a:pt x="71" y="72"/>
                      <a:pt x="71" y="72"/>
                      <a:pt x="71" y="72"/>
                    </a:cubicBezTo>
                    <a:cubicBezTo>
                      <a:pt x="80" y="72"/>
                      <a:pt x="86" y="70"/>
                      <a:pt x="90" y="68"/>
                    </a:cubicBezTo>
                    <a:cubicBezTo>
                      <a:pt x="93" y="66"/>
                      <a:pt x="95" y="61"/>
                      <a:pt x="95" y="54"/>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8" name="Freeform 24">
                <a:extLst>
                  <a:ext uri="{FF2B5EF4-FFF2-40B4-BE49-F238E27FC236}">
                    <a16:creationId xmlns:a16="http://schemas.microsoft.com/office/drawing/2014/main" id="{135DFCC3-886B-4C65-BB72-21BF8AEEB345}"/>
                  </a:ext>
                </a:extLst>
              </p:cNvPr>
              <p:cNvSpPr>
                <a:spLocks/>
              </p:cNvSpPr>
              <p:nvPr userDrawn="1"/>
            </p:nvSpPr>
            <p:spPr bwMode="auto">
              <a:xfrm>
                <a:off x="5076396" y="767433"/>
                <a:ext cx="379894" cy="499859"/>
              </a:xfrm>
              <a:custGeom>
                <a:avLst/>
                <a:gdLst>
                  <a:gd name="T0" fmla="*/ 126 w 126"/>
                  <a:gd name="T1" fmla="*/ 160 h 166"/>
                  <a:gd name="T2" fmla="*/ 74 w 126"/>
                  <a:gd name="T3" fmla="*/ 166 h 166"/>
                  <a:gd name="T4" fmla="*/ 56 w 126"/>
                  <a:gd name="T5" fmla="*/ 165 h 166"/>
                  <a:gd name="T6" fmla="*/ 36 w 126"/>
                  <a:gd name="T7" fmla="*/ 161 h 166"/>
                  <a:gd name="T8" fmla="*/ 18 w 126"/>
                  <a:gd name="T9" fmla="*/ 153 h 166"/>
                  <a:gd name="T10" fmla="*/ 5 w 126"/>
                  <a:gd name="T11" fmla="*/ 140 h 166"/>
                  <a:gd name="T12" fmla="*/ 0 w 126"/>
                  <a:gd name="T13" fmla="*/ 119 h 166"/>
                  <a:gd name="T14" fmla="*/ 0 w 126"/>
                  <a:gd name="T15" fmla="*/ 49 h 166"/>
                  <a:gd name="T16" fmla="*/ 74 w 126"/>
                  <a:gd name="T17" fmla="*/ 0 h 166"/>
                  <a:gd name="T18" fmla="*/ 125 w 126"/>
                  <a:gd name="T19" fmla="*/ 6 h 166"/>
                  <a:gd name="T20" fmla="*/ 125 w 126"/>
                  <a:gd name="T21" fmla="*/ 35 h 166"/>
                  <a:gd name="T22" fmla="*/ 75 w 126"/>
                  <a:gd name="T23" fmla="*/ 28 h 166"/>
                  <a:gd name="T24" fmla="*/ 61 w 126"/>
                  <a:gd name="T25" fmla="*/ 28 h 166"/>
                  <a:gd name="T26" fmla="*/ 50 w 126"/>
                  <a:gd name="T27" fmla="*/ 31 h 166"/>
                  <a:gd name="T28" fmla="*/ 41 w 126"/>
                  <a:gd name="T29" fmla="*/ 37 h 166"/>
                  <a:gd name="T30" fmla="*/ 39 w 126"/>
                  <a:gd name="T31" fmla="*/ 48 h 166"/>
                  <a:gd name="T32" fmla="*/ 39 w 126"/>
                  <a:gd name="T33" fmla="*/ 116 h 166"/>
                  <a:gd name="T34" fmla="*/ 78 w 126"/>
                  <a:gd name="T35" fmla="*/ 138 h 166"/>
                  <a:gd name="T36" fmla="*/ 126 w 126"/>
                  <a:gd name="T37" fmla="*/ 131 h 166"/>
                  <a:gd name="T38" fmla="*/ 126 w 126"/>
                  <a:gd name="T39" fmla="*/ 16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6" h="166">
                    <a:moveTo>
                      <a:pt x="126" y="160"/>
                    </a:moveTo>
                    <a:cubicBezTo>
                      <a:pt x="108" y="164"/>
                      <a:pt x="91" y="166"/>
                      <a:pt x="74" y="166"/>
                    </a:cubicBezTo>
                    <a:cubicBezTo>
                      <a:pt x="68" y="166"/>
                      <a:pt x="62" y="165"/>
                      <a:pt x="56" y="165"/>
                    </a:cubicBezTo>
                    <a:cubicBezTo>
                      <a:pt x="50" y="164"/>
                      <a:pt x="43" y="163"/>
                      <a:pt x="36" y="161"/>
                    </a:cubicBezTo>
                    <a:cubicBezTo>
                      <a:pt x="29" y="159"/>
                      <a:pt x="23" y="157"/>
                      <a:pt x="18" y="153"/>
                    </a:cubicBezTo>
                    <a:cubicBezTo>
                      <a:pt x="13" y="150"/>
                      <a:pt x="9" y="146"/>
                      <a:pt x="5" y="140"/>
                    </a:cubicBezTo>
                    <a:cubicBezTo>
                      <a:pt x="2" y="134"/>
                      <a:pt x="0" y="127"/>
                      <a:pt x="0" y="119"/>
                    </a:cubicBezTo>
                    <a:cubicBezTo>
                      <a:pt x="0" y="49"/>
                      <a:pt x="0" y="49"/>
                      <a:pt x="0" y="49"/>
                    </a:cubicBezTo>
                    <a:cubicBezTo>
                      <a:pt x="0" y="16"/>
                      <a:pt x="25" y="0"/>
                      <a:pt x="74" y="0"/>
                    </a:cubicBezTo>
                    <a:cubicBezTo>
                      <a:pt x="87" y="0"/>
                      <a:pt x="104" y="2"/>
                      <a:pt x="125" y="6"/>
                    </a:cubicBezTo>
                    <a:cubicBezTo>
                      <a:pt x="125" y="35"/>
                      <a:pt x="125" y="35"/>
                      <a:pt x="125" y="35"/>
                    </a:cubicBezTo>
                    <a:cubicBezTo>
                      <a:pt x="106" y="30"/>
                      <a:pt x="89" y="28"/>
                      <a:pt x="75" y="28"/>
                    </a:cubicBezTo>
                    <a:cubicBezTo>
                      <a:pt x="69" y="28"/>
                      <a:pt x="65" y="28"/>
                      <a:pt x="61" y="28"/>
                    </a:cubicBezTo>
                    <a:cubicBezTo>
                      <a:pt x="58" y="29"/>
                      <a:pt x="54" y="29"/>
                      <a:pt x="50" y="31"/>
                    </a:cubicBezTo>
                    <a:cubicBezTo>
                      <a:pt x="46" y="32"/>
                      <a:pt x="43" y="34"/>
                      <a:pt x="41" y="37"/>
                    </a:cubicBezTo>
                    <a:cubicBezTo>
                      <a:pt x="40" y="40"/>
                      <a:pt x="39" y="44"/>
                      <a:pt x="39" y="48"/>
                    </a:cubicBezTo>
                    <a:cubicBezTo>
                      <a:pt x="39" y="116"/>
                      <a:pt x="39" y="116"/>
                      <a:pt x="39" y="116"/>
                    </a:cubicBezTo>
                    <a:cubicBezTo>
                      <a:pt x="39" y="131"/>
                      <a:pt x="52" y="138"/>
                      <a:pt x="78" y="138"/>
                    </a:cubicBezTo>
                    <a:cubicBezTo>
                      <a:pt x="90" y="138"/>
                      <a:pt x="106" y="136"/>
                      <a:pt x="126" y="131"/>
                    </a:cubicBezTo>
                    <a:lnTo>
                      <a:pt x="126" y="16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9" name="Freeform 25">
                <a:extLst>
                  <a:ext uri="{FF2B5EF4-FFF2-40B4-BE49-F238E27FC236}">
                    <a16:creationId xmlns:a16="http://schemas.microsoft.com/office/drawing/2014/main" id="{83F80DAB-9B4A-4A80-8638-8EFD2A735B84}"/>
                  </a:ext>
                </a:extLst>
              </p:cNvPr>
              <p:cNvSpPr>
                <a:spLocks/>
              </p:cNvSpPr>
              <p:nvPr userDrawn="1"/>
            </p:nvSpPr>
            <p:spPr bwMode="auto">
              <a:xfrm>
                <a:off x="5547605" y="776181"/>
                <a:ext cx="377394" cy="481114"/>
              </a:xfrm>
              <a:custGeom>
                <a:avLst/>
                <a:gdLst>
                  <a:gd name="T0" fmla="*/ 302 w 302"/>
                  <a:gd name="T1" fmla="*/ 385 h 385"/>
                  <a:gd name="T2" fmla="*/ 0 w 302"/>
                  <a:gd name="T3" fmla="*/ 385 h 385"/>
                  <a:gd name="T4" fmla="*/ 0 w 302"/>
                  <a:gd name="T5" fmla="*/ 0 h 385"/>
                  <a:gd name="T6" fmla="*/ 294 w 302"/>
                  <a:gd name="T7" fmla="*/ 0 h 385"/>
                  <a:gd name="T8" fmla="*/ 294 w 302"/>
                  <a:gd name="T9" fmla="*/ 65 h 385"/>
                  <a:gd name="T10" fmla="*/ 94 w 302"/>
                  <a:gd name="T11" fmla="*/ 65 h 385"/>
                  <a:gd name="T12" fmla="*/ 94 w 302"/>
                  <a:gd name="T13" fmla="*/ 154 h 385"/>
                  <a:gd name="T14" fmla="*/ 275 w 302"/>
                  <a:gd name="T15" fmla="*/ 154 h 385"/>
                  <a:gd name="T16" fmla="*/ 275 w 302"/>
                  <a:gd name="T17" fmla="*/ 219 h 385"/>
                  <a:gd name="T18" fmla="*/ 94 w 302"/>
                  <a:gd name="T19" fmla="*/ 219 h 385"/>
                  <a:gd name="T20" fmla="*/ 94 w 302"/>
                  <a:gd name="T21" fmla="*/ 320 h 385"/>
                  <a:gd name="T22" fmla="*/ 302 w 302"/>
                  <a:gd name="T23" fmla="*/ 320 h 385"/>
                  <a:gd name="T24" fmla="*/ 302 w 302"/>
                  <a:gd name="T25"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2" h="385">
                    <a:moveTo>
                      <a:pt x="302" y="385"/>
                    </a:moveTo>
                    <a:lnTo>
                      <a:pt x="0" y="385"/>
                    </a:lnTo>
                    <a:lnTo>
                      <a:pt x="0" y="0"/>
                    </a:lnTo>
                    <a:lnTo>
                      <a:pt x="294" y="0"/>
                    </a:lnTo>
                    <a:lnTo>
                      <a:pt x="294" y="65"/>
                    </a:lnTo>
                    <a:lnTo>
                      <a:pt x="94" y="65"/>
                    </a:lnTo>
                    <a:lnTo>
                      <a:pt x="94" y="154"/>
                    </a:lnTo>
                    <a:lnTo>
                      <a:pt x="275" y="154"/>
                    </a:lnTo>
                    <a:lnTo>
                      <a:pt x="275" y="219"/>
                    </a:lnTo>
                    <a:lnTo>
                      <a:pt x="94" y="219"/>
                    </a:lnTo>
                    <a:lnTo>
                      <a:pt x="94" y="320"/>
                    </a:lnTo>
                    <a:lnTo>
                      <a:pt x="302" y="320"/>
                    </a:lnTo>
                    <a:lnTo>
                      <a:pt x="302" y="38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60" name="Freeform 26">
                <a:extLst>
                  <a:ext uri="{FF2B5EF4-FFF2-40B4-BE49-F238E27FC236}">
                    <a16:creationId xmlns:a16="http://schemas.microsoft.com/office/drawing/2014/main" id="{483AAD7C-F18C-44C9-B622-FF235CE5E8C8}"/>
                  </a:ext>
                </a:extLst>
              </p:cNvPr>
              <p:cNvSpPr>
                <a:spLocks/>
              </p:cNvSpPr>
              <p:nvPr userDrawn="1"/>
            </p:nvSpPr>
            <p:spPr bwMode="auto">
              <a:xfrm>
                <a:off x="5998431" y="767433"/>
                <a:ext cx="394888" cy="499859"/>
              </a:xfrm>
              <a:custGeom>
                <a:avLst/>
                <a:gdLst>
                  <a:gd name="T0" fmla="*/ 131 w 131"/>
                  <a:gd name="T1" fmla="*/ 107 h 166"/>
                  <a:gd name="T2" fmla="*/ 131 w 131"/>
                  <a:gd name="T3" fmla="*/ 117 h 166"/>
                  <a:gd name="T4" fmla="*/ 126 w 131"/>
                  <a:gd name="T5" fmla="*/ 141 h 166"/>
                  <a:gd name="T6" fmla="*/ 110 w 131"/>
                  <a:gd name="T7" fmla="*/ 156 h 166"/>
                  <a:gd name="T8" fmla="*/ 88 w 131"/>
                  <a:gd name="T9" fmla="*/ 163 h 166"/>
                  <a:gd name="T10" fmla="*/ 60 w 131"/>
                  <a:gd name="T11" fmla="*/ 166 h 166"/>
                  <a:gd name="T12" fmla="*/ 3 w 131"/>
                  <a:gd name="T13" fmla="*/ 161 h 166"/>
                  <a:gd name="T14" fmla="*/ 3 w 131"/>
                  <a:gd name="T15" fmla="*/ 132 h 166"/>
                  <a:gd name="T16" fmla="*/ 60 w 131"/>
                  <a:gd name="T17" fmla="*/ 138 h 166"/>
                  <a:gd name="T18" fmla="*/ 92 w 131"/>
                  <a:gd name="T19" fmla="*/ 122 h 166"/>
                  <a:gd name="T20" fmla="*/ 92 w 131"/>
                  <a:gd name="T21" fmla="*/ 111 h 166"/>
                  <a:gd name="T22" fmla="*/ 88 w 131"/>
                  <a:gd name="T23" fmla="*/ 100 h 166"/>
                  <a:gd name="T24" fmla="*/ 71 w 131"/>
                  <a:gd name="T25" fmla="*/ 95 h 166"/>
                  <a:gd name="T26" fmla="*/ 52 w 131"/>
                  <a:gd name="T27" fmla="*/ 95 h 166"/>
                  <a:gd name="T28" fmla="*/ 0 w 131"/>
                  <a:gd name="T29" fmla="*/ 53 h 166"/>
                  <a:gd name="T30" fmla="*/ 0 w 131"/>
                  <a:gd name="T31" fmla="*/ 41 h 166"/>
                  <a:gd name="T32" fmla="*/ 17 w 131"/>
                  <a:gd name="T33" fmla="*/ 10 h 166"/>
                  <a:gd name="T34" fmla="*/ 73 w 131"/>
                  <a:gd name="T35" fmla="*/ 0 h 166"/>
                  <a:gd name="T36" fmla="*/ 123 w 131"/>
                  <a:gd name="T37" fmla="*/ 4 h 166"/>
                  <a:gd name="T38" fmla="*/ 123 w 131"/>
                  <a:gd name="T39" fmla="*/ 32 h 166"/>
                  <a:gd name="T40" fmla="*/ 71 w 131"/>
                  <a:gd name="T41" fmla="*/ 28 h 166"/>
                  <a:gd name="T42" fmla="*/ 45 w 131"/>
                  <a:gd name="T43" fmla="*/ 31 h 166"/>
                  <a:gd name="T44" fmla="*/ 38 w 131"/>
                  <a:gd name="T45" fmla="*/ 42 h 166"/>
                  <a:gd name="T46" fmla="*/ 38 w 131"/>
                  <a:gd name="T47" fmla="*/ 53 h 166"/>
                  <a:gd name="T48" fmla="*/ 59 w 131"/>
                  <a:gd name="T49" fmla="*/ 66 h 166"/>
                  <a:gd name="T50" fmla="*/ 79 w 131"/>
                  <a:gd name="T51" fmla="*/ 66 h 166"/>
                  <a:gd name="T52" fmla="*/ 119 w 131"/>
                  <a:gd name="T53" fmla="*/ 76 h 166"/>
                  <a:gd name="T54" fmla="*/ 131 w 131"/>
                  <a:gd name="T5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6">
                    <a:moveTo>
                      <a:pt x="131" y="107"/>
                    </a:moveTo>
                    <a:cubicBezTo>
                      <a:pt x="131" y="117"/>
                      <a:pt x="131" y="117"/>
                      <a:pt x="131" y="117"/>
                    </a:cubicBezTo>
                    <a:cubicBezTo>
                      <a:pt x="131" y="127"/>
                      <a:pt x="129" y="135"/>
                      <a:pt x="126" y="141"/>
                    </a:cubicBezTo>
                    <a:cubicBezTo>
                      <a:pt x="122" y="148"/>
                      <a:pt x="117" y="153"/>
                      <a:pt x="110" y="156"/>
                    </a:cubicBezTo>
                    <a:cubicBezTo>
                      <a:pt x="103" y="160"/>
                      <a:pt x="96" y="162"/>
                      <a:pt x="88" y="163"/>
                    </a:cubicBezTo>
                    <a:cubicBezTo>
                      <a:pt x="80" y="165"/>
                      <a:pt x="71" y="166"/>
                      <a:pt x="60" y="166"/>
                    </a:cubicBezTo>
                    <a:cubicBezTo>
                      <a:pt x="44" y="166"/>
                      <a:pt x="25" y="164"/>
                      <a:pt x="3" y="161"/>
                    </a:cubicBezTo>
                    <a:cubicBezTo>
                      <a:pt x="3" y="132"/>
                      <a:pt x="3" y="132"/>
                      <a:pt x="3" y="132"/>
                    </a:cubicBezTo>
                    <a:cubicBezTo>
                      <a:pt x="30" y="136"/>
                      <a:pt x="49" y="138"/>
                      <a:pt x="60" y="138"/>
                    </a:cubicBezTo>
                    <a:cubicBezTo>
                      <a:pt x="81" y="138"/>
                      <a:pt x="92" y="133"/>
                      <a:pt x="92" y="122"/>
                    </a:cubicBezTo>
                    <a:cubicBezTo>
                      <a:pt x="92" y="111"/>
                      <a:pt x="92" y="111"/>
                      <a:pt x="92" y="111"/>
                    </a:cubicBezTo>
                    <a:cubicBezTo>
                      <a:pt x="92" y="106"/>
                      <a:pt x="91" y="103"/>
                      <a:pt x="88" y="100"/>
                    </a:cubicBezTo>
                    <a:cubicBezTo>
                      <a:pt x="85" y="96"/>
                      <a:pt x="80" y="95"/>
                      <a:pt x="71" y="95"/>
                    </a:cubicBezTo>
                    <a:cubicBezTo>
                      <a:pt x="52" y="95"/>
                      <a:pt x="52" y="95"/>
                      <a:pt x="52" y="95"/>
                    </a:cubicBezTo>
                    <a:cubicBezTo>
                      <a:pt x="17" y="95"/>
                      <a:pt x="0" y="81"/>
                      <a:pt x="0" y="53"/>
                    </a:cubicBezTo>
                    <a:cubicBezTo>
                      <a:pt x="0" y="41"/>
                      <a:pt x="0" y="41"/>
                      <a:pt x="0" y="41"/>
                    </a:cubicBezTo>
                    <a:cubicBezTo>
                      <a:pt x="0" y="27"/>
                      <a:pt x="5" y="17"/>
                      <a:pt x="17" y="10"/>
                    </a:cubicBezTo>
                    <a:cubicBezTo>
                      <a:pt x="29" y="4"/>
                      <a:pt x="47" y="0"/>
                      <a:pt x="73" y="0"/>
                    </a:cubicBezTo>
                    <a:cubicBezTo>
                      <a:pt x="85" y="0"/>
                      <a:pt x="102" y="1"/>
                      <a:pt x="123" y="4"/>
                    </a:cubicBezTo>
                    <a:cubicBezTo>
                      <a:pt x="123" y="32"/>
                      <a:pt x="123" y="32"/>
                      <a:pt x="123" y="32"/>
                    </a:cubicBezTo>
                    <a:cubicBezTo>
                      <a:pt x="98" y="29"/>
                      <a:pt x="81" y="28"/>
                      <a:pt x="71" y="28"/>
                    </a:cubicBezTo>
                    <a:cubicBezTo>
                      <a:pt x="59" y="28"/>
                      <a:pt x="50" y="29"/>
                      <a:pt x="45" y="31"/>
                    </a:cubicBezTo>
                    <a:cubicBezTo>
                      <a:pt x="40" y="33"/>
                      <a:pt x="38" y="37"/>
                      <a:pt x="38" y="42"/>
                    </a:cubicBezTo>
                    <a:cubicBezTo>
                      <a:pt x="38" y="53"/>
                      <a:pt x="38" y="53"/>
                      <a:pt x="38" y="53"/>
                    </a:cubicBezTo>
                    <a:cubicBezTo>
                      <a:pt x="38" y="62"/>
                      <a:pt x="45" y="66"/>
                      <a:pt x="59" y="66"/>
                    </a:cubicBezTo>
                    <a:cubicBezTo>
                      <a:pt x="79" y="66"/>
                      <a:pt x="79" y="66"/>
                      <a:pt x="79" y="66"/>
                    </a:cubicBezTo>
                    <a:cubicBezTo>
                      <a:pt x="97" y="66"/>
                      <a:pt x="111" y="69"/>
                      <a:pt x="119" y="76"/>
                    </a:cubicBezTo>
                    <a:cubicBezTo>
                      <a:pt x="127" y="83"/>
                      <a:pt x="131" y="93"/>
                      <a:pt x="131" y="107"/>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grpSp>
        <p:grpSp>
          <p:nvGrpSpPr>
            <p:cNvPr id="37" name="Group 36">
              <a:extLst>
                <a:ext uri="{FF2B5EF4-FFF2-40B4-BE49-F238E27FC236}">
                  <a16:creationId xmlns:a16="http://schemas.microsoft.com/office/drawing/2014/main" id="{994CFA3B-E96C-4B49-9666-2905BC5C02D0}"/>
                </a:ext>
              </a:extLst>
            </p:cNvPr>
            <p:cNvGrpSpPr/>
            <p:nvPr userDrawn="1"/>
          </p:nvGrpSpPr>
          <p:grpSpPr>
            <a:xfrm>
              <a:off x="314326" y="1075659"/>
              <a:ext cx="1843867" cy="369143"/>
              <a:chOff x="1146212" y="1396551"/>
              <a:chExt cx="2484309" cy="497360"/>
            </a:xfrm>
            <a:grpFill/>
          </p:grpSpPr>
          <p:sp>
            <p:nvSpPr>
              <p:cNvPr id="47" name="Freeform 27">
                <a:extLst>
                  <a:ext uri="{FF2B5EF4-FFF2-40B4-BE49-F238E27FC236}">
                    <a16:creationId xmlns:a16="http://schemas.microsoft.com/office/drawing/2014/main" id="{AD78499C-F433-4C48-9BF7-9A4E775735E0}"/>
                  </a:ext>
                </a:extLst>
              </p:cNvPr>
              <p:cNvSpPr>
                <a:spLocks/>
              </p:cNvSpPr>
              <p:nvPr userDrawn="1"/>
            </p:nvSpPr>
            <p:spPr bwMode="auto">
              <a:xfrm>
                <a:off x="1146212" y="1396551"/>
                <a:ext cx="443627" cy="497359"/>
              </a:xfrm>
              <a:custGeom>
                <a:avLst/>
                <a:gdLst>
                  <a:gd name="T0" fmla="*/ 147 w 147"/>
                  <a:gd name="T1" fmla="*/ 155 h 165"/>
                  <a:gd name="T2" fmla="*/ 115 w 147"/>
                  <a:gd name="T3" fmla="*/ 162 h 165"/>
                  <a:gd name="T4" fmla="*/ 80 w 147"/>
                  <a:gd name="T5" fmla="*/ 165 h 165"/>
                  <a:gd name="T6" fmla="*/ 56 w 147"/>
                  <a:gd name="T7" fmla="*/ 164 h 165"/>
                  <a:gd name="T8" fmla="*/ 34 w 147"/>
                  <a:gd name="T9" fmla="*/ 160 h 165"/>
                  <a:gd name="T10" fmla="*/ 16 w 147"/>
                  <a:gd name="T11" fmla="*/ 152 h 165"/>
                  <a:gd name="T12" fmla="*/ 5 w 147"/>
                  <a:gd name="T13" fmla="*/ 138 h 165"/>
                  <a:gd name="T14" fmla="*/ 0 w 147"/>
                  <a:gd name="T15" fmla="*/ 119 h 165"/>
                  <a:gd name="T16" fmla="*/ 0 w 147"/>
                  <a:gd name="T17" fmla="*/ 52 h 165"/>
                  <a:gd name="T18" fmla="*/ 5 w 147"/>
                  <a:gd name="T19" fmla="*/ 30 h 165"/>
                  <a:gd name="T20" fmla="*/ 18 w 147"/>
                  <a:gd name="T21" fmla="*/ 15 h 165"/>
                  <a:gd name="T22" fmla="*/ 37 w 147"/>
                  <a:gd name="T23" fmla="*/ 6 h 165"/>
                  <a:gd name="T24" fmla="*/ 59 w 147"/>
                  <a:gd name="T25" fmla="*/ 1 h 165"/>
                  <a:gd name="T26" fmla="*/ 80 w 147"/>
                  <a:gd name="T27" fmla="*/ 0 h 165"/>
                  <a:gd name="T28" fmla="*/ 146 w 147"/>
                  <a:gd name="T29" fmla="*/ 5 h 165"/>
                  <a:gd name="T30" fmla="*/ 146 w 147"/>
                  <a:gd name="T31" fmla="*/ 34 h 165"/>
                  <a:gd name="T32" fmla="*/ 80 w 147"/>
                  <a:gd name="T33" fmla="*/ 27 h 165"/>
                  <a:gd name="T34" fmla="*/ 39 w 147"/>
                  <a:gd name="T35" fmla="*/ 51 h 165"/>
                  <a:gd name="T36" fmla="*/ 39 w 147"/>
                  <a:gd name="T37" fmla="*/ 116 h 165"/>
                  <a:gd name="T38" fmla="*/ 50 w 147"/>
                  <a:gd name="T39" fmla="*/ 133 h 165"/>
                  <a:gd name="T40" fmla="*/ 84 w 147"/>
                  <a:gd name="T41" fmla="*/ 138 h 165"/>
                  <a:gd name="T42" fmla="*/ 110 w 147"/>
                  <a:gd name="T43" fmla="*/ 134 h 165"/>
                  <a:gd name="T44" fmla="*/ 110 w 147"/>
                  <a:gd name="T45" fmla="*/ 97 h 165"/>
                  <a:gd name="T46" fmla="*/ 84 w 147"/>
                  <a:gd name="T47" fmla="*/ 97 h 165"/>
                  <a:gd name="T48" fmla="*/ 84 w 147"/>
                  <a:gd name="T49" fmla="*/ 71 h 165"/>
                  <a:gd name="T50" fmla="*/ 147 w 147"/>
                  <a:gd name="T51" fmla="*/ 71 h 165"/>
                  <a:gd name="T52" fmla="*/ 147 w 147"/>
                  <a:gd name="T53" fmla="*/ 155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7" h="165">
                    <a:moveTo>
                      <a:pt x="147" y="155"/>
                    </a:moveTo>
                    <a:cubicBezTo>
                      <a:pt x="138" y="158"/>
                      <a:pt x="128" y="160"/>
                      <a:pt x="115" y="162"/>
                    </a:cubicBezTo>
                    <a:cubicBezTo>
                      <a:pt x="102" y="164"/>
                      <a:pt x="91" y="165"/>
                      <a:pt x="80" y="165"/>
                    </a:cubicBezTo>
                    <a:cubicBezTo>
                      <a:pt x="71" y="165"/>
                      <a:pt x="63" y="165"/>
                      <a:pt x="56" y="164"/>
                    </a:cubicBezTo>
                    <a:cubicBezTo>
                      <a:pt x="49" y="163"/>
                      <a:pt x="42" y="162"/>
                      <a:pt x="34" y="160"/>
                    </a:cubicBezTo>
                    <a:cubicBezTo>
                      <a:pt x="27" y="158"/>
                      <a:pt x="21" y="155"/>
                      <a:pt x="16" y="152"/>
                    </a:cubicBezTo>
                    <a:cubicBezTo>
                      <a:pt x="11" y="148"/>
                      <a:pt x="8" y="144"/>
                      <a:pt x="5" y="138"/>
                    </a:cubicBezTo>
                    <a:cubicBezTo>
                      <a:pt x="2" y="133"/>
                      <a:pt x="0" y="126"/>
                      <a:pt x="0" y="119"/>
                    </a:cubicBezTo>
                    <a:cubicBezTo>
                      <a:pt x="0" y="52"/>
                      <a:pt x="0" y="52"/>
                      <a:pt x="0" y="52"/>
                    </a:cubicBezTo>
                    <a:cubicBezTo>
                      <a:pt x="0" y="43"/>
                      <a:pt x="2" y="36"/>
                      <a:pt x="5" y="30"/>
                    </a:cubicBezTo>
                    <a:cubicBezTo>
                      <a:pt x="9" y="23"/>
                      <a:pt x="13" y="18"/>
                      <a:pt x="18" y="15"/>
                    </a:cubicBezTo>
                    <a:cubicBezTo>
                      <a:pt x="24" y="11"/>
                      <a:pt x="30" y="8"/>
                      <a:pt x="37" y="6"/>
                    </a:cubicBezTo>
                    <a:cubicBezTo>
                      <a:pt x="45" y="3"/>
                      <a:pt x="52" y="2"/>
                      <a:pt x="59" y="1"/>
                    </a:cubicBezTo>
                    <a:cubicBezTo>
                      <a:pt x="66" y="0"/>
                      <a:pt x="73" y="0"/>
                      <a:pt x="80" y="0"/>
                    </a:cubicBezTo>
                    <a:cubicBezTo>
                      <a:pt x="103" y="0"/>
                      <a:pt x="125" y="1"/>
                      <a:pt x="146" y="5"/>
                    </a:cubicBezTo>
                    <a:cubicBezTo>
                      <a:pt x="146" y="34"/>
                      <a:pt x="146" y="34"/>
                      <a:pt x="146" y="34"/>
                    </a:cubicBezTo>
                    <a:cubicBezTo>
                      <a:pt x="126" y="29"/>
                      <a:pt x="104" y="27"/>
                      <a:pt x="80" y="27"/>
                    </a:cubicBezTo>
                    <a:cubicBezTo>
                      <a:pt x="53" y="27"/>
                      <a:pt x="39" y="35"/>
                      <a:pt x="39" y="51"/>
                    </a:cubicBezTo>
                    <a:cubicBezTo>
                      <a:pt x="39" y="116"/>
                      <a:pt x="39" y="116"/>
                      <a:pt x="39" y="116"/>
                    </a:cubicBezTo>
                    <a:cubicBezTo>
                      <a:pt x="39" y="124"/>
                      <a:pt x="43" y="130"/>
                      <a:pt x="50" y="133"/>
                    </a:cubicBezTo>
                    <a:cubicBezTo>
                      <a:pt x="58" y="136"/>
                      <a:pt x="69" y="138"/>
                      <a:pt x="84" y="138"/>
                    </a:cubicBezTo>
                    <a:cubicBezTo>
                      <a:pt x="92" y="138"/>
                      <a:pt x="101" y="136"/>
                      <a:pt x="110" y="134"/>
                    </a:cubicBezTo>
                    <a:cubicBezTo>
                      <a:pt x="110" y="97"/>
                      <a:pt x="110" y="97"/>
                      <a:pt x="110" y="97"/>
                    </a:cubicBezTo>
                    <a:cubicBezTo>
                      <a:pt x="84" y="97"/>
                      <a:pt x="84" y="97"/>
                      <a:pt x="84" y="97"/>
                    </a:cubicBezTo>
                    <a:cubicBezTo>
                      <a:pt x="84" y="71"/>
                      <a:pt x="84" y="71"/>
                      <a:pt x="84" y="71"/>
                    </a:cubicBezTo>
                    <a:cubicBezTo>
                      <a:pt x="147" y="71"/>
                      <a:pt x="147" y="71"/>
                      <a:pt x="147" y="71"/>
                    </a:cubicBezTo>
                    <a:lnTo>
                      <a:pt x="147" y="155"/>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48" name="Freeform 28">
                <a:extLst>
                  <a:ext uri="{FF2B5EF4-FFF2-40B4-BE49-F238E27FC236}">
                    <a16:creationId xmlns:a16="http://schemas.microsoft.com/office/drawing/2014/main" id="{F360F3A3-43AE-4EEA-8CBF-36DF77332D28}"/>
                  </a:ext>
                </a:extLst>
              </p:cNvPr>
              <p:cNvSpPr>
                <a:spLocks noEditPoints="1"/>
              </p:cNvSpPr>
              <p:nvPr userDrawn="1"/>
            </p:nvSpPr>
            <p:spPr bwMode="auto">
              <a:xfrm>
                <a:off x="1697852" y="1402799"/>
                <a:ext cx="431129" cy="484862"/>
              </a:xfrm>
              <a:custGeom>
                <a:avLst/>
                <a:gdLst>
                  <a:gd name="T0" fmla="*/ 143 w 143"/>
                  <a:gd name="T1" fmla="*/ 161 h 161"/>
                  <a:gd name="T2" fmla="*/ 98 w 143"/>
                  <a:gd name="T3" fmla="*/ 161 h 161"/>
                  <a:gd name="T4" fmla="*/ 56 w 143"/>
                  <a:gd name="T5" fmla="*/ 98 h 161"/>
                  <a:gd name="T6" fmla="*/ 38 w 143"/>
                  <a:gd name="T7" fmla="*/ 98 h 161"/>
                  <a:gd name="T8" fmla="*/ 38 w 143"/>
                  <a:gd name="T9" fmla="*/ 161 h 161"/>
                  <a:gd name="T10" fmla="*/ 0 w 143"/>
                  <a:gd name="T11" fmla="*/ 161 h 161"/>
                  <a:gd name="T12" fmla="*/ 0 w 143"/>
                  <a:gd name="T13" fmla="*/ 0 h 161"/>
                  <a:gd name="T14" fmla="*/ 72 w 143"/>
                  <a:gd name="T15" fmla="*/ 0 h 161"/>
                  <a:gd name="T16" fmla="*/ 118 w 143"/>
                  <a:gd name="T17" fmla="*/ 8 h 161"/>
                  <a:gd name="T18" fmla="*/ 133 w 143"/>
                  <a:gd name="T19" fmla="*/ 34 h 161"/>
                  <a:gd name="T20" fmla="*/ 133 w 143"/>
                  <a:gd name="T21" fmla="*/ 62 h 161"/>
                  <a:gd name="T22" fmla="*/ 122 w 143"/>
                  <a:gd name="T23" fmla="*/ 85 h 161"/>
                  <a:gd name="T24" fmla="*/ 96 w 143"/>
                  <a:gd name="T25" fmla="*/ 95 h 161"/>
                  <a:gd name="T26" fmla="*/ 143 w 143"/>
                  <a:gd name="T27" fmla="*/ 161 h 161"/>
                  <a:gd name="T28" fmla="*/ 95 w 143"/>
                  <a:gd name="T29" fmla="*/ 55 h 161"/>
                  <a:gd name="T30" fmla="*/ 95 w 143"/>
                  <a:gd name="T31" fmla="*/ 43 h 161"/>
                  <a:gd name="T32" fmla="*/ 90 w 143"/>
                  <a:gd name="T33" fmla="*/ 31 h 161"/>
                  <a:gd name="T34" fmla="*/ 71 w 143"/>
                  <a:gd name="T35" fmla="*/ 28 h 161"/>
                  <a:gd name="T36" fmla="*/ 38 w 143"/>
                  <a:gd name="T37" fmla="*/ 28 h 161"/>
                  <a:gd name="T38" fmla="*/ 38 w 143"/>
                  <a:gd name="T39" fmla="*/ 72 h 161"/>
                  <a:gd name="T40" fmla="*/ 71 w 143"/>
                  <a:gd name="T41" fmla="*/ 72 h 161"/>
                  <a:gd name="T42" fmla="*/ 90 w 143"/>
                  <a:gd name="T43" fmla="*/ 69 h 161"/>
                  <a:gd name="T44" fmla="*/ 95 w 143"/>
                  <a:gd name="T45" fmla="*/ 5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3" h="161">
                    <a:moveTo>
                      <a:pt x="143" y="161"/>
                    </a:moveTo>
                    <a:cubicBezTo>
                      <a:pt x="98" y="161"/>
                      <a:pt x="98" y="161"/>
                      <a:pt x="98" y="161"/>
                    </a:cubicBezTo>
                    <a:cubicBezTo>
                      <a:pt x="56" y="98"/>
                      <a:pt x="56" y="98"/>
                      <a:pt x="56" y="98"/>
                    </a:cubicBezTo>
                    <a:cubicBezTo>
                      <a:pt x="38" y="98"/>
                      <a:pt x="38" y="98"/>
                      <a:pt x="38" y="98"/>
                    </a:cubicBezTo>
                    <a:cubicBezTo>
                      <a:pt x="38" y="161"/>
                      <a:pt x="38" y="161"/>
                      <a:pt x="38" y="161"/>
                    </a:cubicBezTo>
                    <a:cubicBezTo>
                      <a:pt x="0" y="161"/>
                      <a:pt x="0" y="161"/>
                      <a:pt x="0" y="161"/>
                    </a:cubicBezTo>
                    <a:cubicBezTo>
                      <a:pt x="0" y="0"/>
                      <a:pt x="0" y="0"/>
                      <a:pt x="0" y="0"/>
                    </a:cubicBezTo>
                    <a:cubicBezTo>
                      <a:pt x="72" y="0"/>
                      <a:pt x="72" y="0"/>
                      <a:pt x="72" y="0"/>
                    </a:cubicBezTo>
                    <a:cubicBezTo>
                      <a:pt x="93" y="0"/>
                      <a:pt x="108" y="3"/>
                      <a:pt x="118" y="8"/>
                    </a:cubicBezTo>
                    <a:cubicBezTo>
                      <a:pt x="128" y="13"/>
                      <a:pt x="133" y="22"/>
                      <a:pt x="133" y="34"/>
                    </a:cubicBezTo>
                    <a:cubicBezTo>
                      <a:pt x="133" y="62"/>
                      <a:pt x="133" y="62"/>
                      <a:pt x="133" y="62"/>
                    </a:cubicBezTo>
                    <a:cubicBezTo>
                      <a:pt x="133" y="72"/>
                      <a:pt x="129" y="79"/>
                      <a:pt x="122" y="85"/>
                    </a:cubicBezTo>
                    <a:cubicBezTo>
                      <a:pt x="115" y="90"/>
                      <a:pt x="106" y="93"/>
                      <a:pt x="96" y="95"/>
                    </a:cubicBezTo>
                    <a:lnTo>
                      <a:pt x="143" y="161"/>
                    </a:lnTo>
                    <a:close/>
                    <a:moveTo>
                      <a:pt x="95" y="55"/>
                    </a:moveTo>
                    <a:cubicBezTo>
                      <a:pt x="95" y="43"/>
                      <a:pt x="95" y="43"/>
                      <a:pt x="95" y="43"/>
                    </a:cubicBezTo>
                    <a:cubicBezTo>
                      <a:pt x="95" y="37"/>
                      <a:pt x="93" y="33"/>
                      <a:pt x="90" y="31"/>
                    </a:cubicBezTo>
                    <a:cubicBezTo>
                      <a:pt x="86" y="29"/>
                      <a:pt x="80" y="28"/>
                      <a:pt x="71" y="28"/>
                    </a:cubicBezTo>
                    <a:cubicBezTo>
                      <a:pt x="38" y="28"/>
                      <a:pt x="38" y="28"/>
                      <a:pt x="38" y="28"/>
                    </a:cubicBezTo>
                    <a:cubicBezTo>
                      <a:pt x="38" y="72"/>
                      <a:pt x="38" y="72"/>
                      <a:pt x="38" y="72"/>
                    </a:cubicBezTo>
                    <a:cubicBezTo>
                      <a:pt x="71" y="72"/>
                      <a:pt x="71" y="72"/>
                      <a:pt x="71" y="72"/>
                    </a:cubicBezTo>
                    <a:cubicBezTo>
                      <a:pt x="80" y="72"/>
                      <a:pt x="87" y="71"/>
                      <a:pt x="90" y="69"/>
                    </a:cubicBezTo>
                    <a:cubicBezTo>
                      <a:pt x="93" y="66"/>
                      <a:pt x="95" y="61"/>
                      <a:pt x="95" y="55"/>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49" name="Freeform 29">
                <a:extLst>
                  <a:ext uri="{FF2B5EF4-FFF2-40B4-BE49-F238E27FC236}">
                    <a16:creationId xmlns:a16="http://schemas.microsoft.com/office/drawing/2014/main" id="{6A4E3746-D831-4D9A-8D39-A057E117C781}"/>
                  </a:ext>
                </a:extLst>
              </p:cNvPr>
              <p:cNvSpPr>
                <a:spLocks noEditPoints="1"/>
              </p:cNvSpPr>
              <p:nvPr userDrawn="1"/>
            </p:nvSpPr>
            <p:spPr bwMode="auto">
              <a:xfrm>
                <a:off x="2188536" y="1396552"/>
                <a:ext cx="458622" cy="497359"/>
              </a:xfrm>
              <a:custGeom>
                <a:avLst/>
                <a:gdLst>
                  <a:gd name="T0" fmla="*/ 152 w 152"/>
                  <a:gd name="T1" fmla="*/ 48 h 165"/>
                  <a:gd name="T2" fmla="*/ 152 w 152"/>
                  <a:gd name="T3" fmla="*/ 119 h 165"/>
                  <a:gd name="T4" fmla="*/ 145 w 152"/>
                  <a:gd name="T5" fmla="*/ 142 h 165"/>
                  <a:gd name="T6" fmla="*/ 126 w 152"/>
                  <a:gd name="T7" fmla="*/ 156 h 165"/>
                  <a:gd name="T8" fmla="*/ 102 w 152"/>
                  <a:gd name="T9" fmla="*/ 163 h 165"/>
                  <a:gd name="T10" fmla="*/ 76 w 152"/>
                  <a:gd name="T11" fmla="*/ 165 h 165"/>
                  <a:gd name="T12" fmla="*/ 52 w 152"/>
                  <a:gd name="T13" fmla="*/ 163 h 165"/>
                  <a:gd name="T14" fmla="*/ 28 w 152"/>
                  <a:gd name="T15" fmla="*/ 157 h 165"/>
                  <a:gd name="T16" fmla="*/ 8 w 152"/>
                  <a:gd name="T17" fmla="*/ 143 h 165"/>
                  <a:gd name="T18" fmla="*/ 0 w 152"/>
                  <a:gd name="T19" fmla="*/ 119 h 165"/>
                  <a:gd name="T20" fmla="*/ 0 w 152"/>
                  <a:gd name="T21" fmla="*/ 48 h 165"/>
                  <a:gd name="T22" fmla="*/ 6 w 152"/>
                  <a:gd name="T23" fmla="*/ 27 h 165"/>
                  <a:gd name="T24" fmla="*/ 19 w 152"/>
                  <a:gd name="T25" fmla="*/ 12 h 165"/>
                  <a:gd name="T26" fmla="*/ 38 w 152"/>
                  <a:gd name="T27" fmla="*/ 4 h 165"/>
                  <a:gd name="T28" fmla="*/ 58 w 152"/>
                  <a:gd name="T29" fmla="*/ 0 h 165"/>
                  <a:gd name="T30" fmla="*/ 76 w 152"/>
                  <a:gd name="T31" fmla="*/ 0 h 165"/>
                  <a:gd name="T32" fmla="*/ 95 w 152"/>
                  <a:gd name="T33" fmla="*/ 0 h 165"/>
                  <a:gd name="T34" fmla="*/ 115 w 152"/>
                  <a:gd name="T35" fmla="*/ 4 h 165"/>
                  <a:gd name="T36" fmla="*/ 134 w 152"/>
                  <a:gd name="T37" fmla="*/ 12 h 165"/>
                  <a:gd name="T38" fmla="*/ 147 w 152"/>
                  <a:gd name="T39" fmla="*/ 27 h 165"/>
                  <a:gd name="T40" fmla="*/ 152 w 152"/>
                  <a:gd name="T41" fmla="*/ 48 h 165"/>
                  <a:gd name="T42" fmla="*/ 114 w 152"/>
                  <a:gd name="T43" fmla="*/ 119 h 165"/>
                  <a:gd name="T44" fmla="*/ 114 w 152"/>
                  <a:gd name="T45" fmla="*/ 48 h 165"/>
                  <a:gd name="T46" fmla="*/ 104 w 152"/>
                  <a:gd name="T47" fmla="*/ 32 h 165"/>
                  <a:gd name="T48" fmla="*/ 76 w 152"/>
                  <a:gd name="T49" fmla="*/ 27 h 165"/>
                  <a:gd name="T50" fmla="*/ 48 w 152"/>
                  <a:gd name="T51" fmla="*/ 32 h 165"/>
                  <a:gd name="T52" fmla="*/ 39 w 152"/>
                  <a:gd name="T53" fmla="*/ 48 h 165"/>
                  <a:gd name="T54" fmla="*/ 39 w 152"/>
                  <a:gd name="T55" fmla="*/ 119 h 165"/>
                  <a:gd name="T56" fmla="*/ 42 w 152"/>
                  <a:gd name="T57" fmla="*/ 129 h 165"/>
                  <a:gd name="T58" fmla="*/ 51 w 152"/>
                  <a:gd name="T59" fmla="*/ 135 h 165"/>
                  <a:gd name="T60" fmla="*/ 63 w 152"/>
                  <a:gd name="T61" fmla="*/ 137 h 165"/>
                  <a:gd name="T62" fmla="*/ 77 w 152"/>
                  <a:gd name="T63" fmla="*/ 138 h 165"/>
                  <a:gd name="T64" fmla="*/ 90 w 152"/>
                  <a:gd name="T65" fmla="*/ 137 h 165"/>
                  <a:gd name="T66" fmla="*/ 102 w 152"/>
                  <a:gd name="T67" fmla="*/ 135 h 165"/>
                  <a:gd name="T68" fmla="*/ 111 w 152"/>
                  <a:gd name="T69" fmla="*/ 129 h 165"/>
                  <a:gd name="T70" fmla="*/ 114 w 152"/>
                  <a:gd name="T71" fmla="*/ 119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2" h="165">
                    <a:moveTo>
                      <a:pt x="152" y="48"/>
                    </a:moveTo>
                    <a:cubicBezTo>
                      <a:pt x="152" y="119"/>
                      <a:pt x="152" y="119"/>
                      <a:pt x="152" y="119"/>
                    </a:cubicBezTo>
                    <a:cubicBezTo>
                      <a:pt x="152" y="128"/>
                      <a:pt x="150" y="135"/>
                      <a:pt x="145" y="142"/>
                    </a:cubicBezTo>
                    <a:cubicBezTo>
                      <a:pt x="141" y="148"/>
                      <a:pt x="134" y="153"/>
                      <a:pt x="126" y="156"/>
                    </a:cubicBezTo>
                    <a:cubicBezTo>
                      <a:pt x="118" y="159"/>
                      <a:pt x="110" y="162"/>
                      <a:pt x="102" y="163"/>
                    </a:cubicBezTo>
                    <a:cubicBezTo>
                      <a:pt x="94" y="164"/>
                      <a:pt x="85" y="165"/>
                      <a:pt x="76" y="165"/>
                    </a:cubicBezTo>
                    <a:cubicBezTo>
                      <a:pt x="68" y="165"/>
                      <a:pt x="60" y="164"/>
                      <a:pt x="52" y="163"/>
                    </a:cubicBezTo>
                    <a:cubicBezTo>
                      <a:pt x="45" y="162"/>
                      <a:pt x="37" y="160"/>
                      <a:pt x="28" y="157"/>
                    </a:cubicBezTo>
                    <a:cubicBezTo>
                      <a:pt x="20" y="154"/>
                      <a:pt x="13" y="150"/>
                      <a:pt x="8" y="143"/>
                    </a:cubicBezTo>
                    <a:cubicBezTo>
                      <a:pt x="3" y="136"/>
                      <a:pt x="0" y="128"/>
                      <a:pt x="0" y="119"/>
                    </a:cubicBezTo>
                    <a:cubicBezTo>
                      <a:pt x="0" y="48"/>
                      <a:pt x="0" y="48"/>
                      <a:pt x="0" y="48"/>
                    </a:cubicBezTo>
                    <a:cubicBezTo>
                      <a:pt x="0" y="40"/>
                      <a:pt x="2" y="33"/>
                      <a:pt x="6" y="27"/>
                    </a:cubicBezTo>
                    <a:cubicBezTo>
                      <a:pt x="10" y="20"/>
                      <a:pt x="14" y="16"/>
                      <a:pt x="19" y="12"/>
                    </a:cubicBezTo>
                    <a:cubicBezTo>
                      <a:pt x="24" y="9"/>
                      <a:pt x="31" y="6"/>
                      <a:pt x="38" y="4"/>
                    </a:cubicBezTo>
                    <a:cubicBezTo>
                      <a:pt x="46" y="2"/>
                      <a:pt x="52" y="1"/>
                      <a:pt x="58" y="0"/>
                    </a:cubicBezTo>
                    <a:cubicBezTo>
                      <a:pt x="64" y="0"/>
                      <a:pt x="70" y="0"/>
                      <a:pt x="76" y="0"/>
                    </a:cubicBezTo>
                    <a:cubicBezTo>
                      <a:pt x="83" y="0"/>
                      <a:pt x="89" y="0"/>
                      <a:pt x="95" y="0"/>
                    </a:cubicBezTo>
                    <a:cubicBezTo>
                      <a:pt x="101" y="1"/>
                      <a:pt x="107" y="2"/>
                      <a:pt x="115" y="4"/>
                    </a:cubicBezTo>
                    <a:cubicBezTo>
                      <a:pt x="122" y="6"/>
                      <a:pt x="128" y="9"/>
                      <a:pt x="134" y="12"/>
                    </a:cubicBezTo>
                    <a:cubicBezTo>
                      <a:pt x="139" y="16"/>
                      <a:pt x="143" y="20"/>
                      <a:pt x="147" y="27"/>
                    </a:cubicBezTo>
                    <a:cubicBezTo>
                      <a:pt x="151" y="33"/>
                      <a:pt x="152" y="40"/>
                      <a:pt x="152" y="48"/>
                    </a:cubicBezTo>
                    <a:close/>
                    <a:moveTo>
                      <a:pt x="114" y="119"/>
                    </a:moveTo>
                    <a:cubicBezTo>
                      <a:pt x="114" y="48"/>
                      <a:pt x="114" y="48"/>
                      <a:pt x="114" y="48"/>
                    </a:cubicBezTo>
                    <a:cubicBezTo>
                      <a:pt x="114" y="40"/>
                      <a:pt x="111" y="35"/>
                      <a:pt x="104" y="32"/>
                    </a:cubicBezTo>
                    <a:cubicBezTo>
                      <a:pt x="98" y="29"/>
                      <a:pt x="89" y="27"/>
                      <a:pt x="76" y="27"/>
                    </a:cubicBezTo>
                    <a:cubicBezTo>
                      <a:pt x="64" y="27"/>
                      <a:pt x="54" y="29"/>
                      <a:pt x="48" y="32"/>
                    </a:cubicBezTo>
                    <a:cubicBezTo>
                      <a:pt x="42" y="35"/>
                      <a:pt x="39" y="40"/>
                      <a:pt x="39" y="48"/>
                    </a:cubicBezTo>
                    <a:cubicBezTo>
                      <a:pt x="39" y="119"/>
                      <a:pt x="39" y="119"/>
                      <a:pt x="39" y="119"/>
                    </a:cubicBezTo>
                    <a:cubicBezTo>
                      <a:pt x="39" y="123"/>
                      <a:pt x="40" y="126"/>
                      <a:pt x="42" y="129"/>
                    </a:cubicBezTo>
                    <a:cubicBezTo>
                      <a:pt x="44" y="132"/>
                      <a:pt x="47" y="133"/>
                      <a:pt x="51" y="135"/>
                    </a:cubicBezTo>
                    <a:cubicBezTo>
                      <a:pt x="55" y="136"/>
                      <a:pt x="59" y="137"/>
                      <a:pt x="63" y="137"/>
                    </a:cubicBezTo>
                    <a:cubicBezTo>
                      <a:pt x="67" y="137"/>
                      <a:pt x="71" y="138"/>
                      <a:pt x="77" y="138"/>
                    </a:cubicBezTo>
                    <a:cubicBezTo>
                      <a:pt x="82" y="138"/>
                      <a:pt x="87" y="137"/>
                      <a:pt x="90" y="137"/>
                    </a:cubicBezTo>
                    <a:cubicBezTo>
                      <a:pt x="94" y="137"/>
                      <a:pt x="98" y="136"/>
                      <a:pt x="102" y="135"/>
                    </a:cubicBezTo>
                    <a:cubicBezTo>
                      <a:pt x="106" y="133"/>
                      <a:pt x="109" y="132"/>
                      <a:pt x="111" y="129"/>
                    </a:cubicBezTo>
                    <a:cubicBezTo>
                      <a:pt x="113" y="126"/>
                      <a:pt x="114" y="123"/>
                      <a:pt x="114" y="119"/>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0" name="Freeform 30">
                <a:extLst>
                  <a:ext uri="{FF2B5EF4-FFF2-40B4-BE49-F238E27FC236}">
                    <a16:creationId xmlns:a16="http://schemas.microsoft.com/office/drawing/2014/main" id="{A76C6219-1094-4696-9BFA-3478BE4E3168}"/>
                  </a:ext>
                </a:extLst>
              </p:cNvPr>
              <p:cNvSpPr>
                <a:spLocks/>
              </p:cNvSpPr>
              <p:nvPr userDrawn="1"/>
            </p:nvSpPr>
            <p:spPr bwMode="auto">
              <a:xfrm>
                <a:off x="2736993" y="1402799"/>
                <a:ext cx="418634" cy="491111"/>
              </a:xfrm>
              <a:custGeom>
                <a:avLst/>
                <a:gdLst>
                  <a:gd name="T0" fmla="*/ 139 w 139"/>
                  <a:gd name="T1" fmla="*/ 0 h 163"/>
                  <a:gd name="T2" fmla="*/ 139 w 139"/>
                  <a:gd name="T3" fmla="*/ 117 h 163"/>
                  <a:gd name="T4" fmla="*/ 70 w 139"/>
                  <a:gd name="T5" fmla="*/ 163 h 163"/>
                  <a:gd name="T6" fmla="*/ 0 w 139"/>
                  <a:gd name="T7" fmla="*/ 117 h 163"/>
                  <a:gd name="T8" fmla="*/ 0 w 139"/>
                  <a:gd name="T9" fmla="*/ 0 h 163"/>
                  <a:gd name="T10" fmla="*/ 39 w 139"/>
                  <a:gd name="T11" fmla="*/ 0 h 163"/>
                  <a:gd name="T12" fmla="*/ 39 w 139"/>
                  <a:gd name="T13" fmla="*/ 117 h 163"/>
                  <a:gd name="T14" fmla="*/ 46 w 139"/>
                  <a:gd name="T15" fmla="*/ 132 h 163"/>
                  <a:gd name="T16" fmla="*/ 70 w 139"/>
                  <a:gd name="T17" fmla="*/ 136 h 163"/>
                  <a:gd name="T18" fmla="*/ 94 w 139"/>
                  <a:gd name="T19" fmla="*/ 132 h 163"/>
                  <a:gd name="T20" fmla="*/ 101 w 139"/>
                  <a:gd name="T21" fmla="*/ 117 h 163"/>
                  <a:gd name="T22" fmla="*/ 101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7"/>
                      <a:pt x="139" y="117"/>
                      <a:pt x="139" y="117"/>
                    </a:cubicBezTo>
                    <a:cubicBezTo>
                      <a:pt x="139" y="148"/>
                      <a:pt x="116" y="163"/>
                      <a:pt x="70" y="163"/>
                    </a:cubicBezTo>
                    <a:cubicBezTo>
                      <a:pt x="23" y="163"/>
                      <a:pt x="0" y="148"/>
                      <a:pt x="0" y="117"/>
                    </a:cubicBezTo>
                    <a:cubicBezTo>
                      <a:pt x="0" y="0"/>
                      <a:pt x="0" y="0"/>
                      <a:pt x="0" y="0"/>
                    </a:cubicBezTo>
                    <a:cubicBezTo>
                      <a:pt x="39" y="0"/>
                      <a:pt x="39" y="0"/>
                      <a:pt x="39" y="0"/>
                    </a:cubicBezTo>
                    <a:cubicBezTo>
                      <a:pt x="39" y="117"/>
                      <a:pt x="39" y="117"/>
                      <a:pt x="39" y="117"/>
                    </a:cubicBezTo>
                    <a:cubicBezTo>
                      <a:pt x="39" y="124"/>
                      <a:pt x="41" y="129"/>
                      <a:pt x="46" y="132"/>
                    </a:cubicBezTo>
                    <a:cubicBezTo>
                      <a:pt x="51" y="134"/>
                      <a:pt x="59" y="136"/>
                      <a:pt x="70" y="136"/>
                    </a:cubicBezTo>
                    <a:cubicBezTo>
                      <a:pt x="81" y="136"/>
                      <a:pt x="89" y="134"/>
                      <a:pt x="94" y="132"/>
                    </a:cubicBezTo>
                    <a:cubicBezTo>
                      <a:pt x="98" y="129"/>
                      <a:pt x="101" y="124"/>
                      <a:pt x="101" y="117"/>
                    </a:cubicBezTo>
                    <a:cubicBezTo>
                      <a:pt x="101" y="0"/>
                      <a:pt x="101" y="0"/>
                      <a:pt x="101"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sp>
            <p:nvSpPr>
              <p:cNvPr id="51" name="Freeform 31">
                <a:extLst>
                  <a:ext uri="{FF2B5EF4-FFF2-40B4-BE49-F238E27FC236}">
                    <a16:creationId xmlns:a16="http://schemas.microsoft.com/office/drawing/2014/main" id="{09A9C02D-5753-4EDA-9F8C-8B8897D415C8}"/>
                  </a:ext>
                </a:extLst>
              </p:cNvPr>
              <p:cNvSpPr>
                <a:spLocks noEditPoints="1"/>
              </p:cNvSpPr>
              <p:nvPr userDrawn="1"/>
            </p:nvSpPr>
            <p:spPr bwMode="auto">
              <a:xfrm>
                <a:off x="3244380" y="1402797"/>
                <a:ext cx="386141" cy="484862"/>
              </a:xfrm>
              <a:custGeom>
                <a:avLst/>
                <a:gdLst>
                  <a:gd name="T0" fmla="*/ 128 w 128"/>
                  <a:gd name="T1" fmla="*/ 37 h 161"/>
                  <a:gd name="T2" fmla="*/ 128 w 128"/>
                  <a:gd name="T3" fmla="*/ 67 h 161"/>
                  <a:gd name="T4" fmla="*/ 112 w 128"/>
                  <a:gd name="T5" fmla="*/ 100 h 161"/>
                  <a:gd name="T6" fmla="*/ 60 w 128"/>
                  <a:gd name="T7" fmla="*/ 108 h 161"/>
                  <a:gd name="T8" fmla="*/ 39 w 128"/>
                  <a:gd name="T9" fmla="*/ 108 h 161"/>
                  <a:gd name="T10" fmla="*/ 39 w 128"/>
                  <a:gd name="T11" fmla="*/ 161 h 161"/>
                  <a:gd name="T12" fmla="*/ 0 w 128"/>
                  <a:gd name="T13" fmla="*/ 161 h 161"/>
                  <a:gd name="T14" fmla="*/ 0 w 128"/>
                  <a:gd name="T15" fmla="*/ 0 h 161"/>
                  <a:gd name="T16" fmla="*/ 65 w 128"/>
                  <a:gd name="T17" fmla="*/ 0 h 161"/>
                  <a:gd name="T18" fmla="*/ 113 w 128"/>
                  <a:gd name="T19" fmla="*/ 8 h 161"/>
                  <a:gd name="T20" fmla="*/ 128 w 128"/>
                  <a:gd name="T21" fmla="*/ 37 h 161"/>
                  <a:gd name="T22" fmla="*/ 91 w 128"/>
                  <a:gd name="T23" fmla="*/ 66 h 161"/>
                  <a:gd name="T24" fmla="*/ 91 w 128"/>
                  <a:gd name="T25" fmla="*/ 40 h 161"/>
                  <a:gd name="T26" fmla="*/ 85 w 128"/>
                  <a:gd name="T27" fmla="*/ 30 h 161"/>
                  <a:gd name="T28" fmla="*/ 63 w 128"/>
                  <a:gd name="T29" fmla="*/ 28 h 161"/>
                  <a:gd name="T30" fmla="*/ 39 w 128"/>
                  <a:gd name="T31" fmla="*/ 28 h 161"/>
                  <a:gd name="T32" fmla="*/ 39 w 128"/>
                  <a:gd name="T33" fmla="*/ 82 h 161"/>
                  <a:gd name="T34" fmla="*/ 63 w 128"/>
                  <a:gd name="T35" fmla="*/ 82 h 161"/>
                  <a:gd name="T36" fmla="*/ 85 w 128"/>
                  <a:gd name="T37" fmla="*/ 78 h 161"/>
                  <a:gd name="T38" fmla="*/ 91 w 128"/>
                  <a:gd name="T39" fmla="*/ 6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8" h="161">
                    <a:moveTo>
                      <a:pt x="128" y="37"/>
                    </a:moveTo>
                    <a:cubicBezTo>
                      <a:pt x="128" y="67"/>
                      <a:pt x="128" y="67"/>
                      <a:pt x="128" y="67"/>
                    </a:cubicBezTo>
                    <a:cubicBezTo>
                      <a:pt x="128" y="83"/>
                      <a:pt x="123" y="94"/>
                      <a:pt x="112" y="100"/>
                    </a:cubicBezTo>
                    <a:cubicBezTo>
                      <a:pt x="102" y="106"/>
                      <a:pt x="84" y="108"/>
                      <a:pt x="60" y="108"/>
                    </a:cubicBezTo>
                    <a:cubicBezTo>
                      <a:pt x="39" y="108"/>
                      <a:pt x="39" y="108"/>
                      <a:pt x="39" y="108"/>
                    </a:cubicBezTo>
                    <a:cubicBezTo>
                      <a:pt x="39" y="161"/>
                      <a:pt x="39" y="161"/>
                      <a:pt x="39" y="161"/>
                    </a:cubicBezTo>
                    <a:cubicBezTo>
                      <a:pt x="0" y="161"/>
                      <a:pt x="0" y="161"/>
                      <a:pt x="0" y="161"/>
                    </a:cubicBezTo>
                    <a:cubicBezTo>
                      <a:pt x="0" y="0"/>
                      <a:pt x="0" y="0"/>
                      <a:pt x="0" y="0"/>
                    </a:cubicBezTo>
                    <a:cubicBezTo>
                      <a:pt x="65" y="0"/>
                      <a:pt x="65" y="0"/>
                      <a:pt x="65" y="0"/>
                    </a:cubicBezTo>
                    <a:cubicBezTo>
                      <a:pt x="87" y="0"/>
                      <a:pt x="103" y="3"/>
                      <a:pt x="113" y="8"/>
                    </a:cubicBezTo>
                    <a:cubicBezTo>
                      <a:pt x="123" y="13"/>
                      <a:pt x="128" y="23"/>
                      <a:pt x="128" y="37"/>
                    </a:cubicBezTo>
                    <a:close/>
                    <a:moveTo>
                      <a:pt x="91" y="66"/>
                    </a:moveTo>
                    <a:cubicBezTo>
                      <a:pt x="91" y="40"/>
                      <a:pt x="91" y="40"/>
                      <a:pt x="91" y="40"/>
                    </a:cubicBezTo>
                    <a:cubicBezTo>
                      <a:pt x="91" y="35"/>
                      <a:pt x="89" y="32"/>
                      <a:pt x="85" y="30"/>
                    </a:cubicBezTo>
                    <a:cubicBezTo>
                      <a:pt x="81" y="29"/>
                      <a:pt x="73" y="28"/>
                      <a:pt x="63" y="28"/>
                    </a:cubicBezTo>
                    <a:cubicBezTo>
                      <a:pt x="39" y="28"/>
                      <a:pt x="39" y="28"/>
                      <a:pt x="39" y="28"/>
                    </a:cubicBezTo>
                    <a:cubicBezTo>
                      <a:pt x="39" y="82"/>
                      <a:pt x="39" y="82"/>
                      <a:pt x="39" y="82"/>
                    </a:cubicBezTo>
                    <a:cubicBezTo>
                      <a:pt x="63" y="82"/>
                      <a:pt x="63" y="82"/>
                      <a:pt x="63" y="82"/>
                    </a:cubicBezTo>
                    <a:cubicBezTo>
                      <a:pt x="73" y="82"/>
                      <a:pt x="80" y="81"/>
                      <a:pt x="85" y="78"/>
                    </a:cubicBezTo>
                    <a:cubicBezTo>
                      <a:pt x="89" y="76"/>
                      <a:pt x="91" y="72"/>
                      <a:pt x="91" y="66"/>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l" rtl="0"/>
                <a:endParaRPr lang="en-US" dirty="0">
                  <a:solidFill>
                    <a:schemeClr val="accent1"/>
                  </a:solidFill>
                  <a:latin typeface="Play" panose="020B0000000000000000" pitchFamily="34" charset="0"/>
                </a:endParaRPr>
              </a:p>
            </p:txBody>
          </p:sp>
        </p:grpSp>
        <p:grpSp>
          <p:nvGrpSpPr>
            <p:cNvPr id="38" name="Group 37">
              <a:extLst>
                <a:ext uri="{FF2B5EF4-FFF2-40B4-BE49-F238E27FC236}">
                  <a16:creationId xmlns:a16="http://schemas.microsoft.com/office/drawing/2014/main" id="{9F9EA2BC-3AD0-4B7E-A6D8-27ACE1397D1B}"/>
                </a:ext>
              </a:extLst>
            </p:cNvPr>
            <p:cNvGrpSpPr/>
            <p:nvPr userDrawn="1"/>
          </p:nvGrpSpPr>
          <p:grpSpPr>
            <a:xfrm>
              <a:off x="314326" y="209071"/>
              <a:ext cx="2791230" cy="369145"/>
              <a:chOff x="314326" y="326116"/>
              <a:chExt cx="3760726" cy="497363"/>
            </a:xfrm>
            <a:grpFill/>
          </p:grpSpPr>
          <p:sp>
            <p:nvSpPr>
              <p:cNvPr id="39" name="Freeform 10">
                <a:extLst>
                  <a:ext uri="{FF2B5EF4-FFF2-40B4-BE49-F238E27FC236}">
                    <a16:creationId xmlns:a16="http://schemas.microsoft.com/office/drawing/2014/main" id="{C28E8062-8BA6-47EB-BE11-33C7F25D55E4}"/>
                  </a:ext>
                </a:extLst>
              </p:cNvPr>
              <p:cNvSpPr>
                <a:spLocks/>
              </p:cNvSpPr>
              <p:nvPr userDrawn="1"/>
            </p:nvSpPr>
            <p:spPr bwMode="auto">
              <a:xfrm>
                <a:off x="314326" y="332366"/>
                <a:ext cx="373645" cy="484863"/>
              </a:xfrm>
              <a:custGeom>
                <a:avLst/>
                <a:gdLst>
                  <a:gd name="T0" fmla="*/ 299 w 299"/>
                  <a:gd name="T1" fmla="*/ 388 h 388"/>
                  <a:gd name="T2" fmla="*/ 0 w 299"/>
                  <a:gd name="T3" fmla="*/ 388 h 388"/>
                  <a:gd name="T4" fmla="*/ 0 w 299"/>
                  <a:gd name="T5" fmla="*/ 0 h 388"/>
                  <a:gd name="T6" fmla="*/ 294 w 299"/>
                  <a:gd name="T7" fmla="*/ 0 h 388"/>
                  <a:gd name="T8" fmla="*/ 294 w 299"/>
                  <a:gd name="T9" fmla="*/ 68 h 388"/>
                  <a:gd name="T10" fmla="*/ 92 w 299"/>
                  <a:gd name="T11" fmla="*/ 68 h 388"/>
                  <a:gd name="T12" fmla="*/ 92 w 299"/>
                  <a:gd name="T13" fmla="*/ 157 h 388"/>
                  <a:gd name="T14" fmla="*/ 275 w 299"/>
                  <a:gd name="T15" fmla="*/ 157 h 388"/>
                  <a:gd name="T16" fmla="*/ 275 w 299"/>
                  <a:gd name="T17" fmla="*/ 222 h 388"/>
                  <a:gd name="T18" fmla="*/ 92 w 299"/>
                  <a:gd name="T19" fmla="*/ 222 h 388"/>
                  <a:gd name="T20" fmla="*/ 92 w 299"/>
                  <a:gd name="T21" fmla="*/ 321 h 388"/>
                  <a:gd name="T22" fmla="*/ 299 w 299"/>
                  <a:gd name="T23" fmla="*/ 321 h 388"/>
                  <a:gd name="T24" fmla="*/ 299 w 299"/>
                  <a:gd name="T25" fmla="*/ 38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9" h="388">
                    <a:moveTo>
                      <a:pt x="299" y="388"/>
                    </a:moveTo>
                    <a:lnTo>
                      <a:pt x="0" y="388"/>
                    </a:lnTo>
                    <a:lnTo>
                      <a:pt x="0" y="0"/>
                    </a:lnTo>
                    <a:lnTo>
                      <a:pt x="294" y="0"/>
                    </a:lnTo>
                    <a:lnTo>
                      <a:pt x="294" y="68"/>
                    </a:lnTo>
                    <a:lnTo>
                      <a:pt x="92" y="68"/>
                    </a:lnTo>
                    <a:lnTo>
                      <a:pt x="92" y="157"/>
                    </a:lnTo>
                    <a:lnTo>
                      <a:pt x="275" y="157"/>
                    </a:lnTo>
                    <a:lnTo>
                      <a:pt x="275" y="222"/>
                    </a:lnTo>
                    <a:lnTo>
                      <a:pt x="92" y="222"/>
                    </a:lnTo>
                    <a:lnTo>
                      <a:pt x="92" y="321"/>
                    </a:lnTo>
                    <a:lnTo>
                      <a:pt x="299" y="321"/>
                    </a:lnTo>
                    <a:lnTo>
                      <a:pt x="299" y="388"/>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accent1"/>
                  </a:solidFill>
                  <a:latin typeface="Play" panose="020B0000000000000000" pitchFamily="34" charset="0"/>
                </a:endParaRPr>
              </a:p>
            </p:txBody>
          </p:sp>
          <p:sp>
            <p:nvSpPr>
              <p:cNvPr id="40" name="Freeform 11">
                <a:extLst>
                  <a:ext uri="{FF2B5EF4-FFF2-40B4-BE49-F238E27FC236}">
                    <a16:creationId xmlns:a16="http://schemas.microsoft.com/office/drawing/2014/main" id="{6CCB6B58-1C00-4B5B-9A55-E14C34B637B7}"/>
                  </a:ext>
                </a:extLst>
              </p:cNvPr>
              <p:cNvSpPr>
                <a:spLocks/>
              </p:cNvSpPr>
              <p:nvPr userDrawn="1"/>
            </p:nvSpPr>
            <p:spPr bwMode="auto">
              <a:xfrm>
                <a:off x="787838" y="332366"/>
                <a:ext cx="418634" cy="491113"/>
              </a:xfrm>
              <a:custGeom>
                <a:avLst/>
                <a:gdLst>
                  <a:gd name="T0" fmla="*/ 139 w 139"/>
                  <a:gd name="T1" fmla="*/ 0 h 163"/>
                  <a:gd name="T2" fmla="*/ 139 w 139"/>
                  <a:gd name="T3" fmla="*/ 117 h 163"/>
                  <a:gd name="T4" fmla="*/ 69 w 139"/>
                  <a:gd name="T5" fmla="*/ 163 h 163"/>
                  <a:gd name="T6" fmla="*/ 0 w 139"/>
                  <a:gd name="T7" fmla="*/ 117 h 163"/>
                  <a:gd name="T8" fmla="*/ 0 w 139"/>
                  <a:gd name="T9" fmla="*/ 0 h 163"/>
                  <a:gd name="T10" fmla="*/ 38 w 139"/>
                  <a:gd name="T11" fmla="*/ 0 h 163"/>
                  <a:gd name="T12" fmla="*/ 38 w 139"/>
                  <a:gd name="T13" fmla="*/ 117 h 163"/>
                  <a:gd name="T14" fmla="*/ 46 w 139"/>
                  <a:gd name="T15" fmla="*/ 132 h 163"/>
                  <a:gd name="T16" fmla="*/ 70 w 139"/>
                  <a:gd name="T17" fmla="*/ 136 h 163"/>
                  <a:gd name="T18" fmla="*/ 93 w 139"/>
                  <a:gd name="T19" fmla="*/ 132 h 163"/>
                  <a:gd name="T20" fmla="*/ 100 w 139"/>
                  <a:gd name="T21" fmla="*/ 117 h 163"/>
                  <a:gd name="T22" fmla="*/ 100 w 139"/>
                  <a:gd name="T23" fmla="*/ 0 h 163"/>
                  <a:gd name="T24" fmla="*/ 139 w 139"/>
                  <a:gd name="T25"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 h="163">
                    <a:moveTo>
                      <a:pt x="139" y="0"/>
                    </a:moveTo>
                    <a:cubicBezTo>
                      <a:pt x="139" y="117"/>
                      <a:pt x="139" y="117"/>
                      <a:pt x="139" y="117"/>
                    </a:cubicBezTo>
                    <a:cubicBezTo>
                      <a:pt x="139" y="148"/>
                      <a:pt x="116" y="163"/>
                      <a:pt x="69" y="163"/>
                    </a:cubicBezTo>
                    <a:cubicBezTo>
                      <a:pt x="23" y="163"/>
                      <a:pt x="0" y="148"/>
                      <a:pt x="0" y="117"/>
                    </a:cubicBezTo>
                    <a:cubicBezTo>
                      <a:pt x="0" y="0"/>
                      <a:pt x="0" y="0"/>
                      <a:pt x="0" y="0"/>
                    </a:cubicBezTo>
                    <a:cubicBezTo>
                      <a:pt x="38" y="0"/>
                      <a:pt x="38" y="0"/>
                      <a:pt x="38" y="0"/>
                    </a:cubicBezTo>
                    <a:cubicBezTo>
                      <a:pt x="38" y="117"/>
                      <a:pt x="38" y="117"/>
                      <a:pt x="38" y="117"/>
                    </a:cubicBezTo>
                    <a:cubicBezTo>
                      <a:pt x="38" y="124"/>
                      <a:pt x="41" y="129"/>
                      <a:pt x="46" y="132"/>
                    </a:cubicBezTo>
                    <a:cubicBezTo>
                      <a:pt x="50" y="134"/>
                      <a:pt x="58" y="136"/>
                      <a:pt x="70" y="136"/>
                    </a:cubicBezTo>
                    <a:cubicBezTo>
                      <a:pt x="81" y="136"/>
                      <a:pt x="89" y="134"/>
                      <a:pt x="93" y="132"/>
                    </a:cubicBezTo>
                    <a:cubicBezTo>
                      <a:pt x="98" y="129"/>
                      <a:pt x="100" y="124"/>
                      <a:pt x="100" y="117"/>
                    </a:cubicBezTo>
                    <a:cubicBezTo>
                      <a:pt x="100" y="0"/>
                      <a:pt x="100" y="0"/>
                      <a:pt x="100" y="0"/>
                    </a:cubicBezTo>
                    <a:lnTo>
                      <a:pt x="13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accent1"/>
                  </a:solidFill>
                  <a:latin typeface="Play" panose="020B0000000000000000" pitchFamily="34" charset="0"/>
                </a:endParaRPr>
              </a:p>
            </p:txBody>
          </p:sp>
          <p:sp>
            <p:nvSpPr>
              <p:cNvPr id="41" name="Freeform 12">
                <a:extLst>
                  <a:ext uri="{FF2B5EF4-FFF2-40B4-BE49-F238E27FC236}">
                    <a16:creationId xmlns:a16="http://schemas.microsoft.com/office/drawing/2014/main" id="{7364F315-5D26-4E75-B6E1-83F05026E4F9}"/>
                  </a:ext>
                </a:extLst>
              </p:cNvPr>
              <p:cNvSpPr>
                <a:spLocks noEditPoints="1"/>
              </p:cNvSpPr>
              <p:nvPr userDrawn="1"/>
            </p:nvSpPr>
            <p:spPr bwMode="auto">
              <a:xfrm>
                <a:off x="1311898" y="332366"/>
                <a:ext cx="431129" cy="484863"/>
              </a:xfrm>
              <a:custGeom>
                <a:avLst/>
                <a:gdLst>
                  <a:gd name="T0" fmla="*/ 143 w 143"/>
                  <a:gd name="T1" fmla="*/ 161 h 161"/>
                  <a:gd name="T2" fmla="*/ 98 w 143"/>
                  <a:gd name="T3" fmla="*/ 161 h 161"/>
                  <a:gd name="T4" fmla="*/ 56 w 143"/>
                  <a:gd name="T5" fmla="*/ 98 h 161"/>
                  <a:gd name="T6" fmla="*/ 38 w 143"/>
                  <a:gd name="T7" fmla="*/ 98 h 161"/>
                  <a:gd name="T8" fmla="*/ 38 w 143"/>
                  <a:gd name="T9" fmla="*/ 161 h 161"/>
                  <a:gd name="T10" fmla="*/ 0 w 143"/>
                  <a:gd name="T11" fmla="*/ 161 h 161"/>
                  <a:gd name="T12" fmla="*/ 0 w 143"/>
                  <a:gd name="T13" fmla="*/ 0 h 161"/>
                  <a:gd name="T14" fmla="*/ 72 w 143"/>
                  <a:gd name="T15" fmla="*/ 0 h 161"/>
                  <a:gd name="T16" fmla="*/ 118 w 143"/>
                  <a:gd name="T17" fmla="*/ 8 h 161"/>
                  <a:gd name="T18" fmla="*/ 133 w 143"/>
                  <a:gd name="T19" fmla="*/ 34 h 161"/>
                  <a:gd name="T20" fmla="*/ 133 w 143"/>
                  <a:gd name="T21" fmla="*/ 62 h 161"/>
                  <a:gd name="T22" fmla="*/ 122 w 143"/>
                  <a:gd name="T23" fmla="*/ 85 h 161"/>
                  <a:gd name="T24" fmla="*/ 96 w 143"/>
                  <a:gd name="T25" fmla="*/ 95 h 161"/>
                  <a:gd name="T26" fmla="*/ 143 w 143"/>
                  <a:gd name="T27" fmla="*/ 161 h 161"/>
                  <a:gd name="T28" fmla="*/ 95 w 143"/>
                  <a:gd name="T29" fmla="*/ 55 h 161"/>
                  <a:gd name="T30" fmla="*/ 95 w 143"/>
                  <a:gd name="T31" fmla="*/ 43 h 161"/>
                  <a:gd name="T32" fmla="*/ 90 w 143"/>
                  <a:gd name="T33" fmla="*/ 31 h 161"/>
                  <a:gd name="T34" fmla="*/ 72 w 143"/>
                  <a:gd name="T35" fmla="*/ 28 h 161"/>
                  <a:gd name="T36" fmla="*/ 38 w 143"/>
                  <a:gd name="T37" fmla="*/ 28 h 161"/>
                  <a:gd name="T38" fmla="*/ 38 w 143"/>
                  <a:gd name="T39" fmla="*/ 72 h 161"/>
                  <a:gd name="T40" fmla="*/ 72 w 143"/>
                  <a:gd name="T41" fmla="*/ 72 h 161"/>
                  <a:gd name="T42" fmla="*/ 90 w 143"/>
                  <a:gd name="T43" fmla="*/ 69 h 161"/>
                  <a:gd name="T44" fmla="*/ 95 w 143"/>
                  <a:gd name="T45" fmla="*/ 5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3" h="161">
                    <a:moveTo>
                      <a:pt x="143" y="161"/>
                    </a:moveTo>
                    <a:cubicBezTo>
                      <a:pt x="98" y="161"/>
                      <a:pt x="98" y="161"/>
                      <a:pt x="98" y="161"/>
                    </a:cubicBezTo>
                    <a:cubicBezTo>
                      <a:pt x="56" y="98"/>
                      <a:pt x="56" y="98"/>
                      <a:pt x="56" y="98"/>
                    </a:cubicBezTo>
                    <a:cubicBezTo>
                      <a:pt x="38" y="98"/>
                      <a:pt x="38" y="98"/>
                      <a:pt x="38" y="98"/>
                    </a:cubicBezTo>
                    <a:cubicBezTo>
                      <a:pt x="38" y="161"/>
                      <a:pt x="38" y="161"/>
                      <a:pt x="38" y="161"/>
                    </a:cubicBezTo>
                    <a:cubicBezTo>
                      <a:pt x="0" y="161"/>
                      <a:pt x="0" y="161"/>
                      <a:pt x="0" y="161"/>
                    </a:cubicBezTo>
                    <a:cubicBezTo>
                      <a:pt x="0" y="0"/>
                      <a:pt x="0" y="0"/>
                      <a:pt x="0" y="0"/>
                    </a:cubicBezTo>
                    <a:cubicBezTo>
                      <a:pt x="72" y="0"/>
                      <a:pt x="72" y="0"/>
                      <a:pt x="72" y="0"/>
                    </a:cubicBezTo>
                    <a:cubicBezTo>
                      <a:pt x="93" y="0"/>
                      <a:pt x="109" y="3"/>
                      <a:pt x="118" y="8"/>
                    </a:cubicBezTo>
                    <a:cubicBezTo>
                      <a:pt x="128" y="13"/>
                      <a:pt x="133" y="22"/>
                      <a:pt x="133" y="34"/>
                    </a:cubicBezTo>
                    <a:cubicBezTo>
                      <a:pt x="133" y="62"/>
                      <a:pt x="133" y="62"/>
                      <a:pt x="133" y="62"/>
                    </a:cubicBezTo>
                    <a:cubicBezTo>
                      <a:pt x="133" y="72"/>
                      <a:pt x="129" y="80"/>
                      <a:pt x="122" y="85"/>
                    </a:cubicBezTo>
                    <a:cubicBezTo>
                      <a:pt x="115" y="90"/>
                      <a:pt x="107" y="93"/>
                      <a:pt x="96" y="95"/>
                    </a:cubicBezTo>
                    <a:lnTo>
                      <a:pt x="143" y="161"/>
                    </a:lnTo>
                    <a:close/>
                    <a:moveTo>
                      <a:pt x="95" y="55"/>
                    </a:moveTo>
                    <a:cubicBezTo>
                      <a:pt x="95" y="43"/>
                      <a:pt x="95" y="43"/>
                      <a:pt x="95" y="43"/>
                    </a:cubicBezTo>
                    <a:cubicBezTo>
                      <a:pt x="95" y="37"/>
                      <a:pt x="93" y="33"/>
                      <a:pt x="90" y="31"/>
                    </a:cubicBezTo>
                    <a:cubicBezTo>
                      <a:pt x="86" y="29"/>
                      <a:pt x="80" y="28"/>
                      <a:pt x="72" y="28"/>
                    </a:cubicBezTo>
                    <a:cubicBezTo>
                      <a:pt x="38" y="28"/>
                      <a:pt x="38" y="28"/>
                      <a:pt x="38" y="28"/>
                    </a:cubicBezTo>
                    <a:cubicBezTo>
                      <a:pt x="38" y="72"/>
                      <a:pt x="38" y="72"/>
                      <a:pt x="38" y="72"/>
                    </a:cubicBezTo>
                    <a:cubicBezTo>
                      <a:pt x="72" y="72"/>
                      <a:pt x="72" y="72"/>
                      <a:pt x="72" y="72"/>
                    </a:cubicBezTo>
                    <a:cubicBezTo>
                      <a:pt x="81" y="72"/>
                      <a:pt x="87" y="71"/>
                      <a:pt x="90" y="69"/>
                    </a:cubicBezTo>
                    <a:cubicBezTo>
                      <a:pt x="93" y="66"/>
                      <a:pt x="95" y="62"/>
                      <a:pt x="95" y="55"/>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accent1"/>
                  </a:solidFill>
                  <a:latin typeface="Play" panose="020B0000000000000000" pitchFamily="34" charset="0"/>
                </a:endParaRPr>
              </a:p>
            </p:txBody>
          </p:sp>
          <p:sp>
            <p:nvSpPr>
              <p:cNvPr id="42" name="Freeform 13">
                <a:extLst>
                  <a:ext uri="{FF2B5EF4-FFF2-40B4-BE49-F238E27FC236}">
                    <a16:creationId xmlns:a16="http://schemas.microsoft.com/office/drawing/2014/main" id="{ECAA1680-5822-4C0F-878B-7C6E0E0C7783}"/>
                  </a:ext>
                </a:extLst>
              </p:cNvPr>
              <p:cNvSpPr>
                <a:spLocks noEditPoints="1"/>
              </p:cNvSpPr>
              <p:nvPr userDrawn="1"/>
            </p:nvSpPr>
            <p:spPr bwMode="auto">
              <a:xfrm>
                <a:off x="1800735" y="332366"/>
                <a:ext cx="493611" cy="484863"/>
              </a:xfrm>
              <a:custGeom>
                <a:avLst/>
                <a:gdLst>
                  <a:gd name="T0" fmla="*/ 395 w 395"/>
                  <a:gd name="T1" fmla="*/ 388 h 388"/>
                  <a:gd name="T2" fmla="*/ 301 w 395"/>
                  <a:gd name="T3" fmla="*/ 388 h 388"/>
                  <a:gd name="T4" fmla="*/ 268 w 395"/>
                  <a:gd name="T5" fmla="*/ 285 h 388"/>
                  <a:gd name="T6" fmla="*/ 125 w 395"/>
                  <a:gd name="T7" fmla="*/ 285 h 388"/>
                  <a:gd name="T8" fmla="*/ 92 w 395"/>
                  <a:gd name="T9" fmla="*/ 388 h 388"/>
                  <a:gd name="T10" fmla="*/ 0 w 395"/>
                  <a:gd name="T11" fmla="*/ 388 h 388"/>
                  <a:gd name="T12" fmla="*/ 142 w 395"/>
                  <a:gd name="T13" fmla="*/ 0 h 388"/>
                  <a:gd name="T14" fmla="*/ 256 w 395"/>
                  <a:gd name="T15" fmla="*/ 0 h 388"/>
                  <a:gd name="T16" fmla="*/ 395 w 395"/>
                  <a:gd name="T17" fmla="*/ 388 h 388"/>
                  <a:gd name="T18" fmla="*/ 246 w 395"/>
                  <a:gd name="T19" fmla="*/ 224 h 388"/>
                  <a:gd name="T20" fmla="*/ 198 w 395"/>
                  <a:gd name="T21" fmla="*/ 77 h 388"/>
                  <a:gd name="T22" fmla="*/ 195 w 395"/>
                  <a:gd name="T23" fmla="*/ 77 h 388"/>
                  <a:gd name="T24" fmla="*/ 147 w 395"/>
                  <a:gd name="T25" fmla="*/ 224 h 388"/>
                  <a:gd name="T26" fmla="*/ 246 w 395"/>
                  <a:gd name="T27" fmla="*/ 224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5" h="388">
                    <a:moveTo>
                      <a:pt x="395" y="388"/>
                    </a:moveTo>
                    <a:lnTo>
                      <a:pt x="301" y="388"/>
                    </a:lnTo>
                    <a:lnTo>
                      <a:pt x="268" y="285"/>
                    </a:lnTo>
                    <a:lnTo>
                      <a:pt x="125" y="285"/>
                    </a:lnTo>
                    <a:lnTo>
                      <a:pt x="92" y="388"/>
                    </a:lnTo>
                    <a:lnTo>
                      <a:pt x="0" y="388"/>
                    </a:lnTo>
                    <a:lnTo>
                      <a:pt x="142" y="0"/>
                    </a:lnTo>
                    <a:lnTo>
                      <a:pt x="256" y="0"/>
                    </a:lnTo>
                    <a:lnTo>
                      <a:pt x="395" y="388"/>
                    </a:lnTo>
                    <a:close/>
                    <a:moveTo>
                      <a:pt x="246" y="224"/>
                    </a:moveTo>
                    <a:lnTo>
                      <a:pt x="198" y="77"/>
                    </a:lnTo>
                    <a:lnTo>
                      <a:pt x="195" y="77"/>
                    </a:lnTo>
                    <a:lnTo>
                      <a:pt x="147" y="224"/>
                    </a:lnTo>
                    <a:lnTo>
                      <a:pt x="246" y="224"/>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accent1"/>
                  </a:solidFill>
                  <a:latin typeface="Play" panose="020B0000000000000000" pitchFamily="34" charset="0"/>
                </a:endParaRPr>
              </a:p>
            </p:txBody>
          </p:sp>
          <p:sp>
            <p:nvSpPr>
              <p:cNvPr id="43" name="Freeform 14">
                <a:extLst>
                  <a:ext uri="{FF2B5EF4-FFF2-40B4-BE49-F238E27FC236}">
                    <a16:creationId xmlns:a16="http://schemas.microsoft.com/office/drawing/2014/main" id="{5BFB347A-E8B3-488A-BFA8-0F9CF3E8EDB7}"/>
                  </a:ext>
                </a:extLst>
              </p:cNvPr>
              <p:cNvSpPr>
                <a:spLocks/>
              </p:cNvSpPr>
              <p:nvPr userDrawn="1"/>
            </p:nvSpPr>
            <p:spPr bwMode="auto">
              <a:xfrm>
                <a:off x="2349541" y="326116"/>
                <a:ext cx="394889" cy="497359"/>
              </a:xfrm>
              <a:custGeom>
                <a:avLst/>
                <a:gdLst>
                  <a:gd name="T0" fmla="*/ 131 w 131"/>
                  <a:gd name="T1" fmla="*/ 106 h 165"/>
                  <a:gd name="T2" fmla="*/ 131 w 131"/>
                  <a:gd name="T3" fmla="*/ 117 h 165"/>
                  <a:gd name="T4" fmla="*/ 126 w 131"/>
                  <a:gd name="T5" fmla="*/ 141 h 165"/>
                  <a:gd name="T6" fmla="*/ 111 w 131"/>
                  <a:gd name="T7" fmla="*/ 156 h 165"/>
                  <a:gd name="T8" fmla="*/ 88 w 131"/>
                  <a:gd name="T9" fmla="*/ 163 h 165"/>
                  <a:gd name="T10" fmla="*/ 60 w 131"/>
                  <a:gd name="T11" fmla="*/ 165 h 165"/>
                  <a:gd name="T12" fmla="*/ 3 w 131"/>
                  <a:gd name="T13" fmla="*/ 161 h 165"/>
                  <a:gd name="T14" fmla="*/ 3 w 131"/>
                  <a:gd name="T15" fmla="*/ 131 h 165"/>
                  <a:gd name="T16" fmla="*/ 60 w 131"/>
                  <a:gd name="T17" fmla="*/ 138 h 165"/>
                  <a:gd name="T18" fmla="*/ 92 w 131"/>
                  <a:gd name="T19" fmla="*/ 121 h 165"/>
                  <a:gd name="T20" fmla="*/ 92 w 131"/>
                  <a:gd name="T21" fmla="*/ 111 h 165"/>
                  <a:gd name="T22" fmla="*/ 88 w 131"/>
                  <a:gd name="T23" fmla="*/ 99 h 165"/>
                  <a:gd name="T24" fmla="*/ 71 w 131"/>
                  <a:gd name="T25" fmla="*/ 94 h 165"/>
                  <a:gd name="T26" fmla="*/ 53 w 131"/>
                  <a:gd name="T27" fmla="*/ 94 h 165"/>
                  <a:gd name="T28" fmla="*/ 0 w 131"/>
                  <a:gd name="T29" fmla="*/ 53 h 165"/>
                  <a:gd name="T30" fmla="*/ 0 w 131"/>
                  <a:gd name="T31" fmla="*/ 41 h 165"/>
                  <a:gd name="T32" fmla="*/ 17 w 131"/>
                  <a:gd name="T33" fmla="*/ 10 h 165"/>
                  <a:gd name="T34" fmla="*/ 73 w 131"/>
                  <a:gd name="T35" fmla="*/ 0 h 165"/>
                  <a:gd name="T36" fmla="*/ 123 w 131"/>
                  <a:gd name="T37" fmla="*/ 3 h 165"/>
                  <a:gd name="T38" fmla="*/ 123 w 131"/>
                  <a:gd name="T39" fmla="*/ 32 h 165"/>
                  <a:gd name="T40" fmla="*/ 72 w 131"/>
                  <a:gd name="T41" fmla="*/ 27 h 165"/>
                  <a:gd name="T42" fmla="*/ 46 w 131"/>
                  <a:gd name="T43" fmla="*/ 31 h 165"/>
                  <a:gd name="T44" fmla="*/ 38 w 131"/>
                  <a:gd name="T45" fmla="*/ 41 h 165"/>
                  <a:gd name="T46" fmla="*/ 38 w 131"/>
                  <a:gd name="T47" fmla="*/ 53 h 165"/>
                  <a:gd name="T48" fmla="*/ 60 w 131"/>
                  <a:gd name="T49" fmla="*/ 65 h 165"/>
                  <a:gd name="T50" fmla="*/ 79 w 131"/>
                  <a:gd name="T51" fmla="*/ 65 h 165"/>
                  <a:gd name="T52" fmla="*/ 119 w 131"/>
                  <a:gd name="T53" fmla="*/ 76 h 165"/>
                  <a:gd name="T54" fmla="*/ 131 w 131"/>
                  <a:gd name="T55" fmla="*/ 106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1" h="165">
                    <a:moveTo>
                      <a:pt x="131" y="106"/>
                    </a:moveTo>
                    <a:cubicBezTo>
                      <a:pt x="131" y="117"/>
                      <a:pt x="131" y="117"/>
                      <a:pt x="131" y="117"/>
                    </a:cubicBezTo>
                    <a:cubicBezTo>
                      <a:pt x="131" y="127"/>
                      <a:pt x="129" y="135"/>
                      <a:pt x="126" y="141"/>
                    </a:cubicBezTo>
                    <a:cubicBezTo>
                      <a:pt x="122" y="148"/>
                      <a:pt x="117" y="153"/>
                      <a:pt x="111" y="156"/>
                    </a:cubicBezTo>
                    <a:cubicBezTo>
                      <a:pt x="104" y="159"/>
                      <a:pt x="96" y="162"/>
                      <a:pt x="88" y="163"/>
                    </a:cubicBezTo>
                    <a:cubicBezTo>
                      <a:pt x="80" y="164"/>
                      <a:pt x="71" y="165"/>
                      <a:pt x="60" y="165"/>
                    </a:cubicBezTo>
                    <a:cubicBezTo>
                      <a:pt x="45" y="165"/>
                      <a:pt x="26" y="164"/>
                      <a:pt x="3" y="161"/>
                    </a:cubicBezTo>
                    <a:cubicBezTo>
                      <a:pt x="3" y="131"/>
                      <a:pt x="3" y="131"/>
                      <a:pt x="3" y="131"/>
                    </a:cubicBezTo>
                    <a:cubicBezTo>
                      <a:pt x="30" y="136"/>
                      <a:pt x="49" y="138"/>
                      <a:pt x="60" y="138"/>
                    </a:cubicBezTo>
                    <a:cubicBezTo>
                      <a:pt x="82" y="138"/>
                      <a:pt x="92" y="132"/>
                      <a:pt x="92" y="121"/>
                    </a:cubicBezTo>
                    <a:cubicBezTo>
                      <a:pt x="92" y="111"/>
                      <a:pt x="92" y="111"/>
                      <a:pt x="92" y="111"/>
                    </a:cubicBezTo>
                    <a:cubicBezTo>
                      <a:pt x="92" y="106"/>
                      <a:pt x="91" y="102"/>
                      <a:pt x="88" y="99"/>
                    </a:cubicBezTo>
                    <a:cubicBezTo>
                      <a:pt x="85" y="96"/>
                      <a:pt x="80" y="94"/>
                      <a:pt x="71" y="94"/>
                    </a:cubicBezTo>
                    <a:cubicBezTo>
                      <a:pt x="53" y="94"/>
                      <a:pt x="53" y="94"/>
                      <a:pt x="53" y="94"/>
                    </a:cubicBezTo>
                    <a:cubicBezTo>
                      <a:pt x="17" y="94"/>
                      <a:pt x="0" y="81"/>
                      <a:pt x="0" y="53"/>
                    </a:cubicBezTo>
                    <a:cubicBezTo>
                      <a:pt x="0" y="41"/>
                      <a:pt x="0" y="41"/>
                      <a:pt x="0" y="41"/>
                    </a:cubicBezTo>
                    <a:cubicBezTo>
                      <a:pt x="0" y="27"/>
                      <a:pt x="6" y="17"/>
                      <a:pt x="17" y="10"/>
                    </a:cubicBezTo>
                    <a:cubicBezTo>
                      <a:pt x="29" y="3"/>
                      <a:pt x="47" y="0"/>
                      <a:pt x="73" y="0"/>
                    </a:cubicBezTo>
                    <a:cubicBezTo>
                      <a:pt x="85" y="0"/>
                      <a:pt x="102" y="1"/>
                      <a:pt x="123" y="3"/>
                    </a:cubicBezTo>
                    <a:cubicBezTo>
                      <a:pt x="123" y="32"/>
                      <a:pt x="123" y="32"/>
                      <a:pt x="123" y="32"/>
                    </a:cubicBezTo>
                    <a:cubicBezTo>
                      <a:pt x="98" y="29"/>
                      <a:pt x="81" y="27"/>
                      <a:pt x="72" y="27"/>
                    </a:cubicBezTo>
                    <a:cubicBezTo>
                      <a:pt x="59" y="27"/>
                      <a:pt x="50" y="28"/>
                      <a:pt x="46" y="31"/>
                    </a:cubicBezTo>
                    <a:cubicBezTo>
                      <a:pt x="41" y="33"/>
                      <a:pt x="38" y="36"/>
                      <a:pt x="38" y="41"/>
                    </a:cubicBezTo>
                    <a:cubicBezTo>
                      <a:pt x="38" y="53"/>
                      <a:pt x="38" y="53"/>
                      <a:pt x="38" y="53"/>
                    </a:cubicBezTo>
                    <a:cubicBezTo>
                      <a:pt x="38" y="61"/>
                      <a:pt x="45" y="65"/>
                      <a:pt x="60" y="65"/>
                    </a:cubicBezTo>
                    <a:cubicBezTo>
                      <a:pt x="79" y="65"/>
                      <a:pt x="79" y="65"/>
                      <a:pt x="79" y="65"/>
                    </a:cubicBezTo>
                    <a:cubicBezTo>
                      <a:pt x="98" y="65"/>
                      <a:pt x="111" y="69"/>
                      <a:pt x="119" y="76"/>
                    </a:cubicBezTo>
                    <a:cubicBezTo>
                      <a:pt x="127" y="83"/>
                      <a:pt x="131" y="93"/>
                      <a:pt x="131" y="106"/>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accent1"/>
                  </a:solidFill>
                  <a:latin typeface="Play" panose="020B0000000000000000" pitchFamily="34" charset="0"/>
                </a:endParaRPr>
              </a:p>
            </p:txBody>
          </p:sp>
          <p:sp>
            <p:nvSpPr>
              <p:cNvPr id="44" name="Rectangle 15">
                <a:extLst>
                  <a:ext uri="{FF2B5EF4-FFF2-40B4-BE49-F238E27FC236}">
                    <a16:creationId xmlns:a16="http://schemas.microsoft.com/office/drawing/2014/main" id="{E243B6E3-5434-4604-AC7A-FDCCE8E8173F}"/>
                  </a:ext>
                </a:extLst>
              </p:cNvPr>
              <p:cNvSpPr>
                <a:spLocks noChangeArrowheads="1"/>
              </p:cNvSpPr>
              <p:nvPr userDrawn="1"/>
            </p:nvSpPr>
            <p:spPr bwMode="auto">
              <a:xfrm>
                <a:off x="2854100" y="332365"/>
                <a:ext cx="114968" cy="484863"/>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accent1"/>
                  </a:solidFill>
                  <a:latin typeface="Play" panose="020B0000000000000000" pitchFamily="34" charset="0"/>
                </a:endParaRPr>
              </a:p>
            </p:txBody>
          </p:sp>
          <p:sp>
            <p:nvSpPr>
              <p:cNvPr id="45" name="Freeform 16">
                <a:extLst>
                  <a:ext uri="{FF2B5EF4-FFF2-40B4-BE49-F238E27FC236}">
                    <a16:creationId xmlns:a16="http://schemas.microsoft.com/office/drawing/2014/main" id="{C1B25377-4927-4762-BEF2-C027A5123C5B}"/>
                  </a:ext>
                </a:extLst>
              </p:cNvPr>
              <p:cNvSpPr>
                <a:spLocks noEditPoints="1"/>
              </p:cNvSpPr>
              <p:nvPr userDrawn="1"/>
            </p:nvSpPr>
            <p:spPr bwMode="auto">
              <a:xfrm>
                <a:off x="3049957" y="332365"/>
                <a:ext cx="493611" cy="484863"/>
              </a:xfrm>
              <a:custGeom>
                <a:avLst/>
                <a:gdLst>
                  <a:gd name="T0" fmla="*/ 395 w 395"/>
                  <a:gd name="T1" fmla="*/ 388 h 388"/>
                  <a:gd name="T2" fmla="*/ 301 w 395"/>
                  <a:gd name="T3" fmla="*/ 388 h 388"/>
                  <a:gd name="T4" fmla="*/ 268 w 395"/>
                  <a:gd name="T5" fmla="*/ 285 h 388"/>
                  <a:gd name="T6" fmla="*/ 125 w 395"/>
                  <a:gd name="T7" fmla="*/ 285 h 388"/>
                  <a:gd name="T8" fmla="*/ 92 w 395"/>
                  <a:gd name="T9" fmla="*/ 388 h 388"/>
                  <a:gd name="T10" fmla="*/ 0 w 395"/>
                  <a:gd name="T11" fmla="*/ 388 h 388"/>
                  <a:gd name="T12" fmla="*/ 142 w 395"/>
                  <a:gd name="T13" fmla="*/ 0 h 388"/>
                  <a:gd name="T14" fmla="*/ 256 w 395"/>
                  <a:gd name="T15" fmla="*/ 0 h 388"/>
                  <a:gd name="T16" fmla="*/ 395 w 395"/>
                  <a:gd name="T17" fmla="*/ 388 h 388"/>
                  <a:gd name="T18" fmla="*/ 246 w 395"/>
                  <a:gd name="T19" fmla="*/ 224 h 388"/>
                  <a:gd name="T20" fmla="*/ 198 w 395"/>
                  <a:gd name="T21" fmla="*/ 77 h 388"/>
                  <a:gd name="T22" fmla="*/ 195 w 395"/>
                  <a:gd name="T23" fmla="*/ 77 h 388"/>
                  <a:gd name="T24" fmla="*/ 147 w 395"/>
                  <a:gd name="T25" fmla="*/ 224 h 388"/>
                  <a:gd name="T26" fmla="*/ 246 w 395"/>
                  <a:gd name="T27" fmla="*/ 224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5" h="388">
                    <a:moveTo>
                      <a:pt x="395" y="388"/>
                    </a:moveTo>
                    <a:lnTo>
                      <a:pt x="301" y="388"/>
                    </a:lnTo>
                    <a:lnTo>
                      <a:pt x="268" y="285"/>
                    </a:lnTo>
                    <a:lnTo>
                      <a:pt x="125" y="285"/>
                    </a:lnTo>
                    <a:lnTo>
                      <a:pt x="92" y="388"/>
                    </a:lnTo>
                    <a:lnTo>
                      <a:pt x="0" y="388"/>
                    </a:lnTo>
                    <a:lnTo>
                      <a:pt x="142" y="0"/>
                    </a:lnTo>
                    <a:lnTo>
                      <a:pt x="256" y="0"/>
                    </a:lnTo>
                    <a:lnTo>
                      <a:pt x="395" y="388"/>
                    </a:lnTo>
                    <a:close/>
                    <a:moveTo>
                      <a:pt x="246" y="224"/>
                    </a:moveTo>
                    <a:lnTo>
                      <a:pt x="198" y="77"/>
                    </a:lnTo>
                    <a:lnTo>
                      <a:pt x="195" y="77"/>
                    </a:lnTo>
                    <a:lnTo>
                      <a:pt x="147" y="224"/>
                    </a:lnTo>
                    <a:lnTo>
                      <a:pt x="246" y="224"/>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accent1"/>
                  </a:solidFill>
                  <a:latin typeface="Play" panose="020B0000000000000000" pitchFamily="34" charset="0"/>
                </a:endParaRPr>
              </a:p>
            </p:txBody>
          </p:sp>
          <p:sp>
            <p:nvSpPr>
              <p:cNvPr id="46" name="Freeform 17">
                <a:extLst>
                  <a:ext uri="{FF2B5EF4-FFF2-40B4-BE49-F238E27FC236}">
                    <a16:creationId xmlns:a16="http://schemas.microsoft.com/office/drawing/2014/main" id="{7F709083-AA89-407B-A5E1-3F9DCD0ABB94}"/>
                  </a:ext>
                </a:extLst>
              </p:cNvPr>
              <p:cNvSpPr>
                <a:spLocks/>
              </p:cNvSpPr>
              <p:nvPr userDrawn="1"/>
            </p:nvSpPr>
            <p:spPr bwMode="auto">
              <a:xfrm>
                <a:off x="3620180" y="332365"/>
                <a:ext cx="454872" cy="484863"/>
              </a:xfrm>
              <a:custGeom>
                <a:avLst/>
                <a:gdLst>
                  <a:gd name="T0" fmla="*/ 364 w 364"/>
                  <a:gd name="T1" fmla="*/ 388 h 388"/>
                  <a:gd name="T2" fmla="*/ 270 w 364"/>
                  <a:gd name="T3" fmla="*/ 388 h 388"/>
                  <a:gd name="T4" fmla="*/ 82 w 364"/>
                  <a:gd name="T5" fmla="*/ 121 h 388"/>
                  <a:gd name="T6" fmla="*/ 82 w 364"/>
                  <a:gd name="T7" fmla="*/ 388 h 388"/>
                  <a:gd name="T8" fmla="*/ 0 w 364"/>
                  <a:gd name="T9" fmla="*/ 388 h 388"/>
                  <a:gd name="T10" fmla="*/ 0 w 364"/>
                  <a:gd name="T11" fmla="*/ 0 h 388"/>
                  <a:gd name="T12" fmla="*/ 94 w 364"/>
                  <a:gd name="T13" fmla="*/ 0 h 388"/>
                  <a:gd name="T14" fmla="*/ 279 w 364"/>
                  <a:gd name="T15" fmla="*/ 265 h 388"/>
                  <a:gd name="T16" fmla="*/ 279 w 364"/>
                  <a:gd name="T17" fmla="*/ 0 h 388"/>
                  <a:gd name="T18" fmla="*/ 364 w 364"/>
                  <a:gd name="T19" fmla="*/ 0 h 388"/>
                  <a:gd name="T20" fmla="*/ 364 w 364"/>
                  <a:gd name="T21" fmla="*/ 38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388">
                    <a:moveTo>
                      <a:pt x="364" y="388"/>
                    </a:moveTo>
                    <a:lnTo>
                      <a:pt x="270" y="388"/>
                    </a:lnTo>
                    <a:lnTo>
                      <a:pt x="82" y="121"/>
                    </a:lnTo>
                    <a:lnTo>
                      <a:pt x="82" y="388"/>
                    </a:lnTo>
                    <a:lnTo>
                      <a:pt x="0" y="388"/>
                    </a:lnTo>
                    <a:lnTo>
                      <a:pt x="0" y="0"/>
                    </a:lnTo>
                    <a:lnTo>
                      <a:pt x="94" y="0"/>
                    </a:lnTo>
                    <a:lnTo>
                      <a:pt x="279" y="265"/>
                    </a:lnTo>
                    <a:lnTo>
                      <a:pt x="279" y="0"/>
                    </a:lnTo>
                    <a:lnTo>
                      <a:pt x="364" y="0"/>
                    </a:lnTo>
                    <a:lnTo>
                      <a:pt x="364" y="388"/>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accent1"/>
                  </a:solidFill>
                  <a:latin typeface="Play" panose="020B0000000000000000" pitchFamily="34" charset="0"/>
                </a:endParaRPr>
              </a:p>
            </p:txBody>
          </p:sp>
        </p:grpSp>
      </p:grpSp>
      <p:pic>
        <p:nvPicPr>
          <p:cNvPr id="71" name="Picture 70">
            <a:extLst>
              <a:ext uri="{FF2B5EF4-FFF2-40B4-BE49-F238E27FC236}">
                <a16:creationId xmlns:a16="http://schemas.microsoft.com/office/drawing/2014/main" id="{F0C014F0-5965-406A-A044-6995B756766A}"/>
              </a:ext>
            </a:extLst>
          </p:cNvPr>
          <p:cNvPicPr>
            <a:picLocks noChangeAspect="1"/>
          </p:cNvPicPr>
          <p:nvPr userDrawn="1"/>
        </p:nvPicPr>
        <p:blipFill rotWithShape="1">
          <a:blip r:embed="rId320" cstate="screen">
            <a:extLst>
              <a:ext uri="{28A0092B-C50C-407E-A947-70E740481C1C}">
                <a14:useLocalDpi xmlns:a14="http://schemas.microsoft.com/office/drawing/2010/main"/>
              </a:ext>
            </a:extLst>
          </a:blip>
          <a:srcRect l="9639" r="15411"/>
          <a:stretch/>
        </p:blipFill>
        <p:spPr>
          <a:xfrm>
            <a:off x="7350850" y="2071868"/>
            <a:ext cx="3648516" cy="3648514"/>
          </a:xfrm>
          <a:prstGeom prst="ellipse">
            <a:avLst/>
          </a:prstGeom>
          <a:ln w="19050">
            <a:noFill/>
          </a:ln>
        </p:spPr>
      </p:pic>
      <p:sp>
        <p:nvSpPr>
          <p:cNvPr id="61" name="Arc 60">
            <a:extLst>
              <a:ext uri="{FF2B5EF4-FFF2-40B4-BE49-F238E27FC236}">
                <a16:creationId xmlns:a16="http://schemas.microsoft.com/office/drawing/2014/main" id="{67CFADCD-77BA-4A28-99A5-BBBBA487FA7F}"/>
              </a:ext>
            </a:extLst>
          </p:cNvPr>
          <p:cNvSpPr/>
          <p:nvPr userDrawn="1"/>
        </p:nvSpPr>
        <p:spPr>
          <a:xfrm>
            <a:off x="6491029" y="1212048"/>
            <a:ext cx="5368158" cy="5368154"/>
          </a:xfrm>
          <a:prstGeom prst="arc">
            <a:avLst>
              <a:gd name="adj1" fmla="val 14288998"/>
              <a:gd name="adj2" fmla="val 10420879"/>
            </a:avLst>
          </a:prstGeom>
          <a:noFill/>
          <a:ln w="9525" cap="rnd">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dirty="0">
              <a:solidFill>
                <a:schemeClr val="tx1"/>
              </a:solidFill>
            </a:endParaRPr>
          </a:p>
        </p:txBody>
      </p:sp>
      <p:sp>
        <p:nvSpPr>
          <p:cNvPr id="63" name="Freeform 19">
            <a:extLst>
              <a:ext uri="{FF2B5EF4-FFF2-40B4-BE49-F238E27FC236}">
                <a16:creationId xmlns:a16="http://schemas.microsoft.com/office/drawing/2014/main" id="{AF7F26C8-E1DB-4E59-BD43-1307CBD82B64}"/>
              </a:ext>
            </a:extLst>
          </p:cNvPr>
          <p:cNvSpPr>
            <a:spLocks noEditPoints="1"/>
          </p:cNvSpPr>
          <p:nvPr userDrawn="1"/>
        </p:nvSpPr>
        <p:spPr bwMode="auto">
          <a:xfrm>
            <a:off x="10396148" y="1923836"/>
            <a:ext cx="382982" cy="503414"/>
          </a:xfrm>
          <a:custGeom>
            <a:avLst/>
            <a:gdLst>
              <a:gd name="T0" fmla="*/ 13 w 262"/>
              <a:gd name="T1" fmla="*/ 124 h 342"/>
              <a:gd name="T2" fmla="*/ 65 w 262"/>
              <a:gd name="T3" fmla="*/ 24 h 342"/>
              <a:gd name="T4" fmla="*/ 1 w 262"/>
              <a:gd name="T5" fmla="*/ 72 h 342"/>
              <a:gd name="T6" fmla="*/ 261 w 262"/>
              <a:gd name="T7" fmla="*/ 156 h 342"/>
              <a:gd name="T8" fmla="*/ 249 w 262"/>
              <a:gd name="T9" fmla="*/ 72 h 342"/>
              <a:gd name="T10" fmla="*/ 193 w 262"/>
              <a:gd name="T11" fmla="*/ 10 h 342"/>
              <a:gd name="T12" fmla="*/ 261 w 262"/>
              <a:gd name="T13" fmla="*/ 124 h 342"/>
              <a:gd name="T14" fmla="*/ 176 w 262"/>
              <a:gd name="T15" fmla="*/ 303 h 342"/>
              <a:gd name="T16" fmla="*/ 114 w 262"/>
              <a:gd name="T17" fmla="*/ 262 h 342"/>
              <a:gd name="T18" fmla="*/ 110 w 262"/>
              <a:gd name="T19" fmla="*/ 293 h 342"/>
              <a:gd name="T20" fmla="*/ 148 w 262"/>
              <a:gd name="T21" fmla="*/ 315 h 342"/>
              <a:gd name="T22" fmla="*/ 87 w 262"/>
              <a:gd name="T23" fmla="*/ 150 h 342"/>
              <a:gd name="T24" fmla="*/ 172 w 262"/>
              <a:gd name="T25" fmla="*/ 147 h 342"/>
              <a:gd name="T26" fmla="*/ 108 w 262"/>
              <a:gd name="T27" fmla="*/ 151 h 342"/>
              <a:gd name="T28" fmla="*/ 107 w 262"/>
              <a:gd name="T29" fmla="*/ 132 h 342"/>
              <a:gd name="T30" fmla="*/ 149 w 262"/>
              <a:gd name="T31" fmla="*/ 115 h 342"/>
              <a:gd name="T32" fmla="*/ 111 w 262"/>
              <a:gd name="T33" fmla="*/ 115 h 342"/>
              <a:gd name="T34" fmla="*/ 99 w 262"/>
              <a:gd name="T35" fmla="*/ 100 h 342"/>
              <a:gd name="T36" fmla="*/ 123 w 262"/>
              <a:gd name="T37" fmla="*/ 89 h 342"/>
              <a:gd name="T38" fmla="*/ 150 w 262"/>
              <a:gd name="T39" fmla="*/ 102 h 342"/>
              <a:gd name="T40" fmla="*/ 89 w 262"/>
              <a:gd name="T41" fmla="*/ 79 h 342"/>
              <a:gd name="T42" fmla="*/ 69 w 262"/>
              <a:gd name="T43" fmla="*/ 55 h 342"/>
              <a:gd name="T44" fmla="*/ 79 w 262"/>
              <a:gd name="T45" fmla="*/ 27 h 342"/>
              <a:gd name="T46" fmla="*/ 138 w 262"/>
              <a:gd name="T47" fmla="*/ 0 h 342"/>
              <a:gd name="T48" fmla="*/ 183 w 262"/>
              <a:gd name="T49" fmla="*/ 27 h 342"/>
              <a:gd name="T50" fmla="*/ 193 w 262"/>
              <a:gd name="T51" fmla="*/ 71 h 342"/>
              <a:gd name="T52" fmla="*/ 175 w 262"/>
              <a:gd name="T53" fmla="*/ 107 h 342"/>
              <a:gd name="T54" fmla="*/ 261 w 262"/>
              <a:gd name="T55" fmla="*/ 259 h 342"/>
              <a:gd name="T56" fmla="*/ 100 w 262"/>
              <a:gd name="T57" fmla="*/ 329 h 342"/>
              <a:gd name="T58" fmla="*/ 1 w 262"/>
              <a:gd name="T59" fmla="*/ 211 h 342"/>
              <a:gd name="T60" fmla="*/ 76 w 262"/>
              <a:gd name="T61" fmla="*/ 76 h 342"/>
              <a:gd name="T62" fmla="*/ 88 w 262"/>
              <a:gd name="T63" fmla="*/ 65 h 342"/>
              <a:gd name="T64" fmla="*/ 179 w 262"/>
              <a:gd name="T65" fmla="*/ 50 h 342"/>
              <a:gd name="T66" fmla="*/ 141 w 262"/>
              <a:gd name="T67" fmla="*/ 42 h 342"/>
              <a:gd name="T68" fmla="*/ 124 w 262"/>
              <a:gd name="T69" fmla="*/ 13 h 342"/>
              <a:gd name="T70" fmla="*/ 107 w 262"/>
              <a:gd name="T71" fmla="*/ 42 h 342"/>
              <a:gd name="T72" fmla="*/ 81 w 262"/>
              <a:gd name="T73" fmla="*/ 59 h 342"/>
              <a:gd name="T74" fmla="*/ 135 w 262"/>
              <a:gd name="T75" fmla="*/ 210 h 342"/>
              <a:gd name="T76" fmla="*/ 194 w 262"/>
              <a:gd name="T77" fmla="*/ 210 h 342"/>
              <a:gd name="T78" fmla="*/ 203 w 262"/>
              <a:gd name="T79" fmla="*/ 252 h 342"/>
              <a:gd name="T80" fmla="*/ 226 w 262"/>
              <a:gd name="T81" fmla="*/ 279 h 342"/>
              <a:gd name="T82" fmla="*/ 183 w 262"/>
              <a:gd name="T83" fmla="*/ 153 h 342"/>
              <a:gd name="T84" fmla="*/ 75 w 262"/>
              <a:gd name="T85" fmla="*/ 154 h 342"/>
              <a:gd name="T86" fmla="*/ 35 w 262"/>
              <a:gd name="T87" fmla="*/ 279 h 342"/>
              <a:gd name="T88" fmla="*/ 99 w 262"/>
              <a:gd name="T89" fmla="*/ 284 h 342"/>
              <a:gd name="T90" fmla="*/ 55 w 262"/>
              <a:gd name="T91" fmla="*/ 244 h 342"/>
              <a:gd name="T92" fmla="*/ 68 w 262"/>
              <a:gd name="T93" fmla="*/ 242 h 342"/>
              <a:gd name="T94" fmla="*/ 144 w 262"/>
              <a:gd name="T95" fmla="*/ 257 h 342"/>
              <a:gd name="T96" fmla="*/ 194 w 262"/>
              <a:gd name="T97" fmla="*/ 242 h 342"/>
              <a:gd name="T98" fmla="*/ 121 w 262"/>
              <a:gd name="T99" fmla="*/ 133 h 342"/>
              <a:gd name="T100" fmla="*/ 138 w 262"/>
              <a:gd name="T101" fmla="*/ 133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62" h="342">
                <a:moveTo>
                  <a:pt x="1" y="156"/>
                </a:moveTo>
                <a:cubicBezTo>
                  <a:pt x="0" y="160"/>
                  <a:pt x="13" y="157"/>
                  <a:pt x="13" y="152"/>
                </a:cubicBezTo>
                <a:cubicBezTo>
                  <a:pt x="13" y="124"/>
                  <a:pt x="13" y="124"/>
                  <a:pt x="13" y="124"/>
                </a:cubicBezTo>
                <a:cubicBezTo>
                  <a:pt x="13" y="100"/>
                  <a:pt x="13" y="83"/>
                  <a:pt x="13" y="72"/>
                </a:cubicBezTo>
                <a:cubicBezTo>
                  <a:pt x="13" y="60"/>
                  <a:pt x="18" y="50"/>
                  <a:pt x="27" y="42"/>
                </a:cubicBezTo>
                <a:cubicBezTo>
                  <a:pt x="36" y="34"/>
                  <a:pt x="50" y="28"/>
                  <a:pt x="65" y="24"/>
                </a:cubicBezTo>
                <a:cubicBezTo>
                  <a:pt x="71" y="23"/>
                  <a:pt x="73" y="9"/>
                  <a:pt x="68" y="10"/>
                </a:cubicBezTo>
                <a:cubicBezTo>
                  <a:pt x="48" y="15"/>
                  <a:pt x="31" y="22"/>
                  <a:pt x="18" y="33"/>
                </a:cubicBezTo>
                <a:cubicBezTo>
                  <a:pt x="7" y="43"/>
                  <a:pt x="0" y="56"/>
                  <a:pt x="1" y="72"/>
                </a:cubicBezTo>
                <a:cubicBezTo>
                  <a:pt x="1" y="83"/>
                  <a:pt x="1" y="100"/>
                  <a:pt x="1" y="124"/>
                </a:cubicBezTo>
                <a:lnTo>
                  <a:pt x="1" y="156"/>
                </a:lnTo>
                <a:close/>
                <a:moveTo>
                  <a:pt x="261" y="156"/>
                </a:moveTo>
                <a:cubicBezTo>
                  <a:pt x="262" y="160"/>
                  <a:pt x="249" y="157"/>
                  <a:pt x="249" y="152"/>
                </a:cubicBezTo>
                <a:cubicBezTo>
                  <a:pt x="249" y="124"/>
                  <a:pt x="249" y="124"/>
                  <a:pt x="249" y="124"/>
                </a:cubicBezTo>
                <a:cubicBezTo>
                  <a:pt x="248" y="100"/>
                  <a:pt x="248" y="83"/>
                  <a:pt x="249" y="72"/>
                </a:cubicBezTo>
                <a:cubicBezTo>
                  <a:pt x="249" y="60"/>
                  <a:pt x="244" y="50"/>
                  <a:pt x="235" y="42"/>
                </a:cubicBezTo>
                <a:cubicBezTo>
                  <a:pt x="226" y="34"/>
                  <a:pt x="212" y="28"/>
                  <a:pt x="197" y="24"/>
                </a:cubicBezTo>
                <a:cubicBezTo>
                  <a:pt x="191" y="23"/>
                  <a:pt x="188" y="9"/>
                  <a:pt x="193" y="10"/>
                </a:cubicBezTo>
                <a:cubicBezTo>
                  <a:pt x="214" y="15"/>
                  <a:pt x="231" y="22"/>
                  <a:pt x="243" y="33"/>
                </a:cubicBezTo>
                <a:cubicBezTo>
                  <a:pt x="255" y="43"/>
                  <a:pt x="261" y="56"/>
                  <a:pt x="261" y="72"/>
                </a:cubicBezTo>
                <a:cubicBezTo>
                  <a:pt x="261" y="83"/>
                  <a:pt x="261" y="100"/>
                  <a:pt x="261" y="124"/>
                </a:cubicBezTo>
                <a:lnTo>
                  <a:pt x="261" y="156"/>
                </a:lnTo>
                <a:close/>
                <a:moveTo>
                  <a:pt x="148" y="315"/>
                </a:moveTo>
                <a:cubicBezTo>
                  <a:pt x="157" y="311"/>
                  <a:pt x="166" y="307"/>
                  <a:pt x="176" y="303"/>
                </a:cubicBezTo>
                <a:cubicBezTo>
                  <a:pt x="159" y="264"/>
                  <a:pt x="159" y="264"/>
                  <a:pt x="159" y="264"/>
                </a:cubicBezTo>
                <a:cubicBezTo>
                  <a:pt x="155" y="266"/>
                  <a:pt x="151" y="268"/>
                  <a:pt x="148" y="269"/>
                </a:cubicBezTo>
                <a:cubicBezTo>
                  <a:pt x="137" y="272"/>
                  <a:pt x="122" y="271"/>
                  <a:pt x="114" y="262"/>
                </a:cubicBezTo>
                <a:cubicBezTo>
                  <a:pt x="111" y="260"/>
                  <a:pt x="104" y="264"/>
                  <a:pt x="107" y="270"/>
                </a:cubicBezTo>
                <a:cubicBezTo>
                  <a:pt x="109" y="275"/>
                  <a:pt x="111" y="280"/>
                  <a:pt x="113" y="285"/>
                </a:cubicBezTo>
                <a:cubicBezTo>
                  <a:pt x="115" y="288"/>
                  <a:pt x="113" y="292"/>
                  <a:pt x="110" y="293"/>
                </a:cubicBezTo>
                <a:cubicBezTo>
                  <a:pt x="93" y="300"/>
                  <a:pt x="93" y="300"/>
                  <a:pt x="93" y="300"/>
                </a:cubicBezTo>
                <a:cubicBezTo>
                  <a:pt x="96" y="311"/>
                  <a:pt x="101" y="315"/>
                  <a:pt x="109" y="320"/>
                </a:cubicBezTo>
                <a:cubicBezTo>
                  <a:pt x="124" y="327"/>
                  <a:pt x="134" y="322"/>
                  <a:pt x="148" y="315"/>
                </a:cubicBezTo>
                <a:close/>
                <a:moveTo>
                  <a:pt x="97" y="139"/>
                </a:moveTo>
                <a:cubicBezTo>
                  <a:pt x="96" y="139"/>
                  <a:pt x="96" y="139"/>
                  <a:pt x="96" y="139"/>
                </a:cubicBezTo>
                <a:cubicBezTo>
                  <a:pt x="94" y="143"/>
                  <a:pt x="91" y="147"/>
                  <a:pt x="87" y="150"/>
                </a:cubicBezTo>
                <a:cubicBezTo>
                  <a:pt x="103" y="173"/>
                  <a:pt x="105" y="173"/>
                  <a:pt x="121" y="172"/>
                </a:cubicBezTo>
                <a:cubicBezTo>
                  <a:pt x="126" y="172"/>
                  <a:pt x="131" y="172"/>
                  <a:pt x="136" y="172"/>
                </a:cubicBezTo>
                <a:cubicBezTo>
                  <a:pt x="153" y="173"/>
                  <a:pt x="154" y="173"/>
                  <a:pt x="172" y="147"/>
                </a:cubicBezTo>
                <a:cubicBezTo>
                  <a:pt x="169" y="144"/>
                  <a:pt x="166" y="141"/>
                  <a:pt x="164" y="137"/>
                </a:cubicBezTo>
                <a:cubicBezTo>
                  <a:pt x="161" y="143"/>
                  <a:pt x="157" y="149"/>
                  <a:pt x="152" y="152"/>
                </a:cubicBezTo>
                <a:cubicBezTo>
                  <a:pt x="141" y="158"/>
                  <a:pt x="115" y="157"/>
                  <a:pt x="108" y="151"/>
                </a:cubicBezTo>
                <a:cubicBezTo>
                  <a:pt x="103" y="148"/>
                  <a:pt x="100" y="144"/>
                  <a:pt x="97" y="139"/>
                </a:cubicBezTo>
                <a:close/>
                <a:moveTo>
                  <a:pt x="101" y="114"/>
                </a:moveTo>
                <a:cubicBezTo>
                  <a:pt x="102" y="120"/>
                  <a:pt x="105" y="126"/>
                  <a:pt x="107" y="132"/>
                </a:cubicBezTo>
                <a:cubicBezTo>
                  <a:pt x="114" y="113"/>
                  <a:pt x="146" y="114"/>
                  <a:pt x="153" y="132"/>
                </a:cubicBezTo>
                <a:cubicBezTo>
                  <a:pt x="156" y="127"/>
                  <a:pt x="158" y="120"/>
                  <a:pt x="160" y="114"/>
                </a:cubicBezTo>
                <a:cubicBezTo>
                  <a:pt x="156" y="114"/>
                  <a:pt x="153" y="115"/>
                  <a:pt x="149" y="115"/>
                </a:cubicBezTo>
                <a:cubicBezTo>
                  <a:pt x="142" y="114"/>
                  <a:pt x="136" y="111"/>
                  <a:pt x="133" y="102"/>
                </a:cubicBezTo>
                <a:cubicBezTo>
                  <a:pt x="132" y="100"/>
                  <a:pt x="128" y="100"/>
                  <a:pt x="127" y="102"/>
                </a:cubicBezTo>
                <a:cubicBezTo>
                  <a:pt x="124" y="111"/>
                  <a:pt x="118" y="114"/>
                  <a:pt x="111" y="115"/>
                </a:cubicBezTo>
                <a:cubicBezTo>
                  <a:pt x="107" y="115"/>
                  <a:pt x="104" y="115"/>
                  <a:pt x="101" y="114"/>
                </a:cubicBezTo>
                <a:close/>
                <a:moveTo>
                  <a:pt x="89" y="79"/>
                </a:moveTo>
                <a:cubicBezTo>
                  <a:pt x="89" y="91"/>
                  <a:pt x="89" y="96"/>
                  <a:pt x="99" y="100"/>
                </a:cubicBezTo>
                <a:cubicBezTo>
                  <a:pt x="102" y="101"/>
                  <a:pt x="107" y="102"/>
                  <a:pt x="110" y="102"/>
                </a:cubicBezTo>
                <a:cubicBezTo>
                  <a:pt x="112" y="102"/>
                  <a:pt x="114" y="101"/>
                  <a:pt x="115" y="98"/>
                </a:cubicBezTo>
                <a:cubicBezTo>
                  <a:pt x="117" y="93"/>
                  <a:pt x="120" y="90"/>
                  <a:pt x="123" y="89"/>
                </a:cubicBezTo>
                <a:cubicBezTo>
                  <a:pt x="126" y="88"/>
                  <a:pt x="135" y="88"/>
                  <a:pt x="139" y="89"/>
                </a:cubicBezTo>
                <a:cubicBezTo>
                  <a:pt x="141" y="91"/>
                  <a:pt x="144" y="93"/>
                  <a:pt x="145" y="98"/>
                </a:cubicBezTo>
                <a:cubicBezTo>
                  <a:pt x="146" y="101"/>
                  <a:pt x="148" y="102"/>
                  <a:pt x="150" y="102"/>
                </a:cubicBezTo>
                <a:cubicBezTo>
                  <a:pt x="154" y="102"/>
                  <a:pt x="158" y="101"/>
                  <a:pt x="161" y="100"/>
                </a:cubicBezTo>
                <a:cubicBezTo>
                  <a:pt x="171" y="96"/>
                  <a:pt x="171" y="91"/>
                  <a:pt x="172" y="79"/>
                </a:cubicBezTo>
                <a:cubicBezTo>
                  <a:pt x="147" y="87"/>
                  <a:pt x="113" y="87"/>
                  <a:pt x="89" y="79"/>
                </a:cubicBezTo>
                <a:close/>
                <a:moveTo>
                  <a:pt x="76" y="74"/>
                </a:moveTo>
                <a:cubicBezTo>
                  <a:pt x="73" y="73"/>
                  <a:pt x="71" y="72"/>
                  <a:pt x="69" y="71"/>
                </a:cubicBezTo>
                <a:cubicBezTo>
                  <a:pt x="64" y="68"/>
                  <a:pt x="63" y="56"/>
                  <a:pt x="69" y="55"/>
                </a:cubicBezTo>
                <a:cubicBezTo>
                  <a:pt x="70" y="52"/>
                  <a:pt x="70" y="50"/>
                  <a:pt x="71" y="47"/>
                </a:cubicBezTo>
                <a:cubicBezTo>
                  <a:pt x="72" y="39"/>
                  <a:pt x="75" y="32"/>
                  <a:pt x="79" y="27"/>
                </a:cubicBezTo>
                <a:cubicBezTo>
                  <a:pt x="79" y="27"/>
                  <a:pt x="79" y="27"/>
                  <a:pt x="79" y="27"/>
                </a:cubicBezTo>
                <a:cubicBezTo>
                  <a:pt x="86" y="18"/>
                  <a:pt x="97" y="13"/>
                  <a:pt x="107" y="9"/>
                </a:cubicBezTo>
                <a:cubicBezTo>
                  <a:pt x="109" y="4"/>
                  <a:pt x="115" y="2"/>
                  <a:pt x="122" y="0"/>
                </a:cubicBezTo>
                <a:cubicBezTo>
                  <a:pt x="127" y="0"/>
                  <a:pt x="133" y="0"/>
                  <a:pt x="138" y="0"/>
                </a:cubicBezTo>
                <a:cubicBezTo>
                  <a:pt x="145" y="1"/>
                  <a:pt x="151" y="4"/>
                  <a:pt x="153" y="9"/>
                </a:cubicBezTo>
                <a:cubicBezTo>
                  <a:pt x="163" y="11"/>
                  <a:pt x="176" y="19"/>
                  <a:pt x="183" y="27"/>
                </a:cubicBezTo>
                <a:cubicBezTo>
                  <a:pt x="183" y="27"/>
                  <a:pt x="183" y="27"/>
                  <a:pt x="183" y="27"/>
                </a:cubicBezTo>
                <a:cubicBezTo>
                  <a:pt x="187" y="31"/>
                  <a:pt x="189" y="39"/>
                  <a:pt x="191" y="47"/>
                </a:cubicBezTo>
                <a:cubicBezTo>
                  <a:pt x="192" y="49"/>
                  <a:pt x="192" y="52"/>
                  <a:pt x="193" y="54"/>
                </a:cubicBezTo>
                <a:cubicBezTo>
                  <a:pt x="199" y="56"/>
                  <a:pt x="198" y="68"/>
                  <a:pt x="193" y="71"/>
                </a:cubicBezTo>
                <a:cubicBezTo>
                  <a:pt x="191" y="72"/>
                  <a:pt x="187" y="74"/>
                  <a:pt x="184" y="75"/>
                </a:cubicBezTo>
                <a:cubicBezTo>
                  <a:pt x="184" y="76"/>
                  <a:pt x="184" y="76"/>
                  <a:pt x="184" y="76"/>
                </a:cubicBezTo>
                <a:cubicBezTo>
                  <a:pt x="184" y="92"/>
                  <a:pt x="184" y="101"/>
                  <a:pt x="175" y="107"/>
                </a:cubicBezTo>
                <a:cubicBezTo>
                  <a:pt x="170" y="118"/>
                  <a:pt x="174" y="137"/>
                  <a:pt x="187" y="141"/>
                </a:cubicBezTo>
                <a:cubicBezTo>
                  <a:pt x="223" y="152"/>
                  <a:pt x="261" y="167"/>
                  <a:pt x="261" y="211"/>
                </a:cubicBezTo>
                <a:cubicBezTo>
                  <a:pt x="261" y="229"/>
                  <a:pt x="262" y="242"/>
                  <a:pt x="261" y="259"/>
                </a:cubicBezTo>
                <a:cubicBezTo>
                  <a:pt x="260" y="274"/>
                  <a:pt x="243" y="285"/>
                  <a:pt x="233" y="290"/>
                </a:cubicBezTo>
                <a:cubicBezTo>
                  <a:pt x="153" y="327"/>
                  <a:pt x="153" y="327"/>
                  <a:pt x="153" y="327"/>
                </a:cubicBezTo>
                <a:cubicBezTo>
                  <a:pt x="134" y="335"/>
                  <a:pt x="119" y="342"/>
                  <a:pt x="100" y="329"/>
                </a:cubicBezTo>
                <a:cubicBezTo>
                  <a:pt x="29" y="290"/>
                  <a:pt x="29" y="290"/>
                  <a:pt x="29" y="290"/>
                </a:cubicBezTo>
                <a:cubicBezTo>
                  <a:pt x="18" y="283"/>
                  <a:pt x="1" y="274"/>
                  <a:pt x="1" y="259"/>
                </a:cubicBezTo>
                <a:cubicBezTo>
                  <a:pt x="0" y="242"/>
                  <a:pt x="1" y="229"/>
                  <a:pt x="1" y="211"/>
                </a:cubicBezTo>
                <a:cubicBezTo>
                  <a:pt x="1" y="167"/>
                  <a:pt x="38" y="152"/>
                  <a:pt x="75" y="141"/>
                </a:cubicBezTo>
                <a:cubicBezTo>
                  <a:pt x="91" y="135"/>
                  <a:pt x="90" y="122"/>
                  <a:pt x="86" y="107"/>
                </a:cubicBezTo>
                <a:cubicBezTo>
                  <a:pt x="76" y="101"/>
                  <a:pt x="76" y="93"/>
                  <a:pt x="76" y="76"/>
                </a:cubicBezTo>
                <a:lnTo>
                  <a:pt x="76" y="74"/>
                </a:lnTo>
                <a:close/>
                <a:moveTo>
                  <a:pt x="81" y="59"/>
                </a:moveTo>
                <a:cubicBezTo>
                  <a:pt x="81" y="62"/>
                  <a:pt x="85" y="63"/>
                  <a:pt x="88" y="65"/>
                </a:cubicBezTo>
                <a:cubicBezTo>
                  <a:pt x="112" y="75"/>
                  <a:pt x="152" y="75"/>
                  <a:pt x="176" y="64"/>
                </a:cubicBezTo>
                <a:cubicBezTo>
                  <a:pt x="181" y="62"/>
                  <a:pt x="181" y="60"/>
                  <a:pt x="180" y="57"/>
                </a:cubicBezTo>
                <a:cubicBezTo>
                  <a:pt x="180" y="55"/>
                  <a:pt x="179" y="52"/>
                  <a:pt x="179" y="50"/>
                </a:cubicBezTo>
                <a:cubicBezTo>
                  <a:pt x="175" y="35"/>
                  <a:pt x="169" y="27"/>
                  <a:pt x="154" y="22"/>
                </a:cubicBezTo>
                <a:cubicBezTo>
                  <a:pt x="154" y="29"/>
                  <a:pt x="154" y="36"/>
                  <a:pt x="154" y="42"/>
                </a:cubicBezTo>
                <a:cubicBezTo>
                  <a:pt x="154" y="47"/>
                  <a:pt x="141" y="46"/>
                  <a:pt x="141" y="42"/>
                </a:cubicBezTo>
                <a:cubicBezTo>
                  <a:pt x="141" y="33"/>
                  <a:pt x="141" y="24"/>
                  <a:pt x="141" y="15"/>
                </a:cubicBezTo>
                <a:cubicBezTo>
                  <a:pt x="141" y="15"/>
                  <a:pt x="139" y="13"/>
                  <a:pt x="136" y="13"/>
                </a:cubicBezTo>
                <a:cubicBezTo>
                  <a:pt x="132" y="12"/>
                  <a:pt x="128" y="12"/>
                  <a:pt x="124" y="13"/>
                </a:cubicBezTo>
                <a:cubicBezTo>
                  <a:pt x="121" y="13"/>
                  <a:pt x="119" y="15"/>
                  <a:pt x="119" y="15"/>
                </a:cubicBezTo>
                <a:cubicBezTo>
                  <a:pt x="119" y="42"/>
                  <a:pt x="119" y="42"/>
                  <a:pt x="119" y="42"/>
                </a:cubicBezTo>
                <a:cubicBezTo>
                  <a:pt x="119" y="47"/>
                  <a:pt x="107" y="46"/>
                  <a:pt x="107" y="42"/>
                </a:cubicBezTo>
                <a:cubicBezTo>
                  <a:pt x="107" y="23"/>
                  <a:pt x="107" y="23"/>
                  <a:pt x="107" y="23"/>
                </a:cubicBezTo>
                <a:cubicBezTo>
                  <a:pt x="92" y="28"/>
                  <a:pt x="86" y="35"/>
                  <a:pt x="83" y="50"/>
                </a:cubicBezTo>
                <a:cubicBezTo>
                  <a:pt x="82" y="53"/>
                  <a:pt x="82" y="56"/>
                  <a:pt x="81" y="59"/>
                </a:cubicBezTo>
                <a:close/>
                <a:moveTo>
                  <a:pt x="122" y="234"/>
                </a:moveTo>
                <a:cubicBezTo>
                  <a:pt x="122" y="238"/>
                  <a:pt x="135" y="238"/>
                  <a:pt x="135" y="234"/>
                </a:cubicBezTo>
                <a:cubicBezTo>
                  <a:pt x="135" y="221"/>
                  <a:pt x="135" y="223"/>
                  <a:pt x="135" y="210"/>
                </a:cubicBezTo>
                <a:cubicBezTo>
                  <a:pt x="135" y="205"/>
                  <a:pt x="122" y="205"/>
                  <a:pt x="122" y="210"/>
                </a:cubicBezTo>
                <a:cubicBezTo>
                  <a:pt x="122" y="223"/>
                  <a:pt x="122" y="221"/>
                  <a:pt x="122" y="234"/>
                </a:cubicBezTo>
                <a:close/>
                <a:moveTo>
                  <a:pt x="194" y="210"/>
                </a:moveTo>
                <a:cubicBezTo>
                  <a:pt x="194" y="205"/>
                  <a:pt x="207" y="205"/>
                  <a:pt x="207" y="210"/>
                </a:cubicBezTo>
                <a:cubicBezTo>
                  <a:pt x="207" y="225"/>
                  <a:pt x="207" y="229"/>
                  <a:pt x="206" y="244"/>
                </a:cubicBezTo>
                <a:cubicBezTo>
                  <a:pt x="206" y="247"/>
                  <a:pt x="206" y="250"/>
                  <a:pt x="203" y="252"/>
                </a:cubicBezTo>
                <a:cubicBezTo>
                  <a:pt x="172" y="264"/>
                  <a:pt x="172" y="264"/>
                  <a:pt x="172" y="264"/>
                </a:cubicBezTo>
                <a:cubicBezTo>
                  <a:pt x="187" y="297"/>
                  <a:pt x="187" y="297"/>
                  <a:pt x="187" y="297"/>
                </a:cubicBezTo>
                <a:cubicBezTo>
                  <a:pt x="226" y="279"/>
                  <a:pt x="226" y="279"/>
                  <a:pt x="226" y="279"/>
                </a:cubicBezTo>
                <a:cubicBezTo>
                  <a:pt x="236" y="274"/>
                  <a:pt x="248" y="266"/>
                  <a:pt x="248" y="258"/>
                </a:cubicBezTo>
                <a:cubicBezTo>
                  <a:pt x="248" y="211"/>
                  <a:pt x="248" y="211"/>
                  <a:pt x="248" y="211"/>
                </a:cubicBezTo>
                <a:cubicBezTo>
                  <a:pt x="248" y="174"/>
                  <a:pt x="214" y="163"/>
                  <a:pt x="183" y="153"/>
                </a:cubicBezTo>
                <a:cubicBezTo>
                  <a:pt x="160" y="186"/>
                  <a:pt x="160" y="186"/>
                  <a:pt x="136" y="185"/>
                </a:cubicBezTo>
                <a:cubicBezTo>
                  <a:pt x="131" y="185"/>
                  <a:pt x="126" y="185"/>
                  <a:pt x="121" y="185"/>
                </a:cubicBezTo>
                <a:cubicBezTo>
                  <a:pt x="98" y="186"/>
                  <a:pt x="97" y="186"/>
                  <a:pt x="75" y="154"/>
                </a:cubicBezTo>
                <a:cubicBezTo>
                  <a:pt x="45" y="164"/>
                  <a:pt x="14" y="175"/>
                  <a:pt x="14" y="211"/>
                </a:cubicBezTo>
                <a:cubicBezTo>
                  <a:pt x="14" y="258"/>
                  <a:pt x="14" y="258"/>
                  <a:pt x="14" y="258"/>
                </a:cubicBezTo>
                <a:cubicBezTo>
                  <a:pt x="14" y="266"/>
                  <a:pt x="26" y="274"/>
                  <a:pt x="35" y="279"/>
                </a:cubicBezTo>
                <a:cubicBezTo>
                  <a:pt x="50" y="288"/>
                  <a:pt x="65" y="296"/>
                  <a:pt x="81" y="304"/>
                </a:cubicBezTo>
                <a:cubicBezTo>
                  <a:pt x="79" y="299"/>
                  <a:pt x="77" y="293"/>
                  <a:pt x="83" y="290"/>
                </a:cubicBezTo>
                <a:cubicBezTo>
                  <a:pt x="99" y="284"/>
                  <a:pt x="99" y="284"/>
                  <a:pt x="99" y="284"/>
                </a:cubicBezTo>
                <a:cubicBezTo>
                  <a:pt x="97" y="279"/>
                  <a:pt x="94" y="274"/>
                  <a:pt x="93" y="269"/>
                </a:cubicBezTo>
                <a:cubicBezTo>
                  <a:pt x="59" y="251"/>
                  <a:pt x="59" y="251"/>
                  <a:pt x="59" y="251"/>
                </a:cubicBezTo>
                <a:cubicBezTo>
                  <a:pt x="55" y="250"/>
                  <a:pt x="55" y="247"/>
                  <a:pt x="55" y="244"/>
                </a:cubicBezTo>
                <a:cubicBezTo>
                  <a:pt x="55" y="229"/>
                  <a:pt x="55" y="225"/>
                  <a:pt x="55" y="210"/>
                </a:cubicBezTo>
                <a:cubicBezTo>
                  <a:pt x="55" y="205"/>
                  <a:pt x="68" y="205"/>
                  <a:pt x="68" y="210"/>
                </a:cubicBezTo>
                <a:cubicBezTo>
                  <a:pt x="68" y="224"/>
                  <a:pt x="68" y="228"/>
                  <a:pt x="68" y="242"/>
                </a:cubicBezTo>
                <a:cubicBezTo>
                  <a:pt x="97" y="257"/>
                  <a:pt x="97" y="257"/>
                  <a:pt x="97" y="257"/>
                </a:cubicBezTo>
                <a:cubicBezTo>
                  <a:pt x="103" y="249"/>
                  <a:pt x="115" y="246"/>
                  <a:pt x="122" y="253"/>
                </a:cubicBezTo>
                <a:cubicBezTo>
                  <a:pt x="128" y="258"/>
                  <a:pt x="137" y="259"/>
                  <a:pt x="144" y="257"/>
                </a:cubicBezTo>
                <a:cubicBezTo>
                  <a:pt x="149" y="255"/>
                  <a:pt x="154" y="252"/>
                  <a:pt x="159" y="250"/>
                </a:cubicBezTo>
                <a:cubicBezTo>
                  <a:pt x="163" y="249"/>
                  <a:pt x="166" y="250"/>
                  <a:pt x="168" y="252"/>
                </a:cubicBezTo>
                <a:cubicBezTo>
                  <a:pt x="194" y="242"/>
                  <a:pt x="194" y="242"/>
                  <a:pt x="194" y="242"/>
                </a:cubicBezTo>
                <a:cubicBezTo>
                  <a:pt x="194" y="227"/>
                  <a:pt x="194" y="224"/>
                  <a:pt x="194" y="210"/>
                </a:cubicBezTo>
                <a:close/>
                <a:moveTo>
                  <a:pt x="138" y="133"/>
                </a:moveTo>
                <a:cubicBezTo>
                  <a:pt x="134" y="130"/>
                  <a:pt x="126" y="130"/>
                  <a:pt x="121" y="133"/>
                </a:cubicBezTo>
                <a:cubicBezTo>
                  <a:pt x="118" y="136"/>
                  <a:pt x="118" y="139"/>
                  <a:pt x="121" y="141"/>
                </a:cubicBezTo>
                <a:cubicBezTo>
                  <a:pt x="126" y="145"/>
                  <a:pt x="134" y="145"/>
                  <a:pt x="138" y="141"/>
                </a:cubicBezTo>
                <a:cubicBezTo>
                  <a:pt x="142" y="139"/>
                  <a:pt x="142" y="136"/>
                  <a:pt x="138" y="133"/>
                </a:cubicBezTo>
                <a:close/>
              </a:path>
            </a:pathLst>
          </a:custGeom>
          <a:gradFill flip="none" rotWithShape="1">
            <a:gsLst>
              <a:gs pos="15000">
                <a:schemeClr val="accent1"/>
              </a:gs>
              <a:gs pos="100000">
                <a:schemeClr val="accent2"/>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bg1"/>
              </a:solidFill>
            </a:endParaRPr>
          </a:p>
        </p:txBody>
      </p:sp>
      <p:sp>
        <p:nvSpPr>
          <p:cNvPr id="64" name="Freeform 21">
            <a:extLst>
              <a:ext uri="{FF2B5EF4-FFF2-40B4-BE49-F238E27FC236}">
                <a16:creationId xmlns:a16="http://schemas.microsoft.com/office/drawing/2014/main" id="{2795AEE3-1C35-4AAC-BD7F-41A1EBAA86A1}"/>
              </a:ext>
            </a:extLst>
          </p:cNvPr>
          <p:cNvSpPr>
            <a:spLocks noEditPoints="1"/>
          </p:cNvSpPr>
          <p:nvPr userDrawn="1"/>
        </p:nvSpPr>
        <p:spPr bwMode="auto">
          <a:xfrm>
            <a:off x="10944571" y="2684190"/>
            <a:ext cx="461610" cy="472718"/>
          </a:xfrm>
          <a:custGeom>
            <a:avLst/>
            <a:gdLst>
              <a:gd name="T0" fmla="*/ 292 w 308"/>
              <a:gd name="T1" fmla="*/ 66 h 314"/>
              <a:gd name="T2" fmla="*/ 303 w 308"/>
              <a:gd name="T3" fmla="*/ 97 h 314"/>
              <a:gd name="T4" fmla="*/ 306 w 308"/>
              <a:gd name="T5" fmla="*/ 166 h 314"/>
              <a:gd name="T6" fmla="*/ 269 w 308"/>
              <a:gd name="T7" fmla="*/ 240 h 314"/>
              <a:gd name="T8" fmla="*/ 231 w 308"/>
              <a:gd name="T9" fmla="*/ 282 h 314"/>
              <a:gd name="T10" fmla="*/ 118 w 308"/>
              <a:gd name="T11" fmla="*/ 310 h 314"/>
              <a:gd name="T12" fmla="*/ 16 w 308"/>
              <a:gd name="T13" fmla="*/ 214 h 314"/>
              <a:gd name="T14" fmla="*/ 31 w 308"/>
              <a:gd name="T15" fmla="*/ 53 h 314"/>
              <a:gd name="T16" fmla="*/ 49 w 308"/>
              <a:gd name="T17" fmla="*/ 26 h 314"/>
              <a:gd name="T18" fmla="*/ 121 w 308"/>
              <a:gd name="T19" fmla="*/ 2 h 314"/>
              <a:gd name="T20" fmla="*/ 254 w 308"/>
              <a:gd name="T21" fmla="*/ 18 h 314"/>
              <a:gd name="T22" fmla="*/ 252 w 308"/>
              <a:gd name="T23" fmla="*/ 71 h 314"/>
              <a:gd name="T24" fmla="*/ 278 w 308"/>
              <a:gd name="T25" fmla="*/ 81 h 314"/>
              <a:gd name="T26" fmla="*/ 246 w 308"/>
              <a:gd name="T27" fmla="*/ 27 h 314"/>
              <a:gd name="T28" fmla="*/ 220 w 308"/>
              <a:gd name="T29" fmla="*/ 131 h 314"/>
              <a:gd name="T30" fmla="*/ 137 w 308"/>
              <a:gd name="T31" fmla="*/ 135 h 314"/>
              <a:gd name="T32" fmla="*/ 113 w 308"/>
              <a:gd name="T33" fmla="*/ 166 h 314"/>
              <a:gd name="T34" fmla="*/ 175 w 308"/>
              <a:gd name="T35" fmla="*/ 161 h 314"/>
              <a:gd name="T36" fmla="*/ 252 w 308"/>
              <a:gd name="T37" fmla="*/ 149 h 314"/>
              <a:gd name="T38" fmla="*/ 294 w 308"/>
              <a:gd name="T39" fmla="*/ 165 h 314"/>
              <a:gd name="T40" fmla="*/ 292 w 308"/>
              <a:gd name="T41" fmla="*/ 102 h 314"/>
              <a:gd name="T42" fmla="*/ 252 w 308"/>
              <a:gd name="T43" fmla="*/ 96 h 314"/>
              <a:gd name="T44" fmla="*/ 220 w 308"/>
              <a:gd name="T45" fmla="*/ 131 h 314"/>
              <a:gd name="T46" fmla="*/ 36 w 308"/>
              <a:gd name="T47" fmla="*/ 72 h 314"/>
              <a:gd name="T48" fmla="*/ 12 w 308"/>
              <a:gd name="T49" fmla="*/ 128 h 314"/>
              <a:gd name="T50" fmla="*/ 96 w 308"/>
              <a:gd name="T51" fmla="*/ 286 h 314"/>
              <a:gd name="T52" fmla="*/ 160 w 308"/>
              <a:gd name="T53" fmla="*/ 301 h 314"/>
              <a:gd name="T54" fmla="*/ 117 w 308"/>
              <a:gd name="T55" fmla="*/ 252 h 314"/>
              <a:gd name="T56" fmla="*/ 184 w 308"/>
              <a:gd name="T57" fmla="*/ 292 h 314"/>
              <a:gd name="T58" fmla="*/ 216 w 308"/>
              <a:gd name="T59" fmla="*/ 281 h 314"/>
              <a:gd name="T60" fmla="*/ 173 w 308"/>
              <a:gd name="T61" fmla="*/ 230 h 314"/>
              <a:gd name="T62" fmla="*/ 227 w 308"/>
              <a:gd name="T63" fmla="*/ 260 h 314"/>
              <a:gd name="T64" fmla="*/ 256 w 308"/>
              <a:gd name="T65" fmla="*/ 243 h 314"/>
              <a:gd name="T66" fmla="*/ 206 w 308"/>
              <a:gd name="T67" fmla="*/ 191 h 314"/>
              <a:gd name="T68" fmla="*/ 261 w 308"/>
              <a:gd name="T69" fmla="*/ 221 h 314"/>
              <a:gd name="T70" fmla="*/ 286 w 308"/>
              <a:gd name="T71" fmla="*/ 200 h 314"/>
              <a:gd name="T72" fmla="*/ 246 w 308"/>
              <a:gd name="T73" fmla="*/ 159 h 314"/>
              <a:gd name="T74" fmla="*/ 182 w 308"/>
              <a:gd name="T75" fmla="*/ 171 h 314"/>
              <a:gd name="T76" fmla="*/ 104 w 308"/>
              <a:gd name="T77" fmla="*/ 174 h 314"/>
              <a:gd name="T78" fmla="*/ 120 w 308"/>
              <a:gd name="T79" fmla="*/ 135 h 314"/>
              <a:gd name="T80" fmla="*/ 69 w 308"/>
              <a:gd name="T81" fmla="*/ 124 h 314"/>
              <a:gd name="T82" fmla="*/ 138 w 308"/>
              <a:gd name="T83" fmla="*/ 38 h 314"/>
              <a:gd name="T84" fmla="*/ 150 w 308"/>
              <a:gd name="T85" fmla="*/ 114 h 314"/>
              <a:gd name="T86" fmla="*/ 181 w 308"/>
              <a:gd name="T87" fmla="*/ 122 h 314"/>
              <a:gd name="T88" fmla="*/ 186 w 308"/>
              <a:gd name="T89" fmla="*/ 41 h 314"/>
              <a:gd name="T90" fmla="*/ 201 w 308"/>
              <a:gd name="T91" fmla="*/ 112 h 314"/>
              <a:gd name="T92" fmla="*/ 234 w 308"/>
              <a:gd name="T93" fmla="*/ 114 h 314"/>
              <a:gd name="T94" fmla="*/ 233 w 308"/>
              <a:gd name="T95" fmla="*/ 38 h 314"/>
              <a:gd name="T96" fmla="*/ 213 w 308"/>
              <a:gd name="T97" fmla="*/ 13 h 314"/>
              <a:gd name="T98" fmla="*/ 120 w 308"/>
              <a:gd name="T99" fmla="*/ 13 h 314"/>
              <a:gd name="T100" fmla="*/ 59 w 308"/>
              <a:gd name="T101" fmla="*/ 32 h 314"/>
              <a:gd name="T102" fmla="*/ 47 w 308"/>
              <a:gd name="T103" fmla="*/ 97 h 314"/>
              <a:gd name="T104" fmla="*/ 79 w 308"/>
              <a:gd name="T105" fmla="*/ 112 h 314"/>
              <a:gd name="T106" fmla="*/ 88 w 308"/>
              <a:gd name="T107" fmla="*/ 42 h 314"/>
              <a:gd name="T108" fmla="*/ 99 w 308"/>
              <a:gd name="T109" fmla="*/ 107 h 314"/>
              <a:gd name="T110" fmla="*/ 130 w 308"/>
              <a:gd name="T111" fmla="*/ 119 h 314"/>
              <a:gd name="T112" fmla="*/ 138 w 308"/>
              <a:gd name="T113" fmla="*/ 38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8" h="314">
                <a:moveTo>
                  <a:pt x="254" y="18"/>
                </a:moveTo>
                <a:cubicBezTo>
                  <a:pt x="266" y="29"/>
                  <a:pt x="282" y="51"/>
                  <a:pt x="292" y="66"/>
                </a:cubicBezTo>
                <a:cubicBezTo>
                  <a:pt x="296" y="72"/>
                  <a:pt x="296" y="80"/>
                  <a:pt x="293" y="86"/>
                </a:cubicBezTo>
                <a:cubicBezTo>
                  <a:pt x="297" y="89"/>
                  <a:pt x="300" y="93"/>
                  <a:pt x="303" y="97"/>
                </a:cubicBezTo>
                <a:cubicBezTo>
                  <a:pt x="307" y="105"/>
                  <a:pt x="308" y="115"/>
                  <a:pt x="308" y="128"/>
                </a:cubicBezTo>
                <a:cubicBezTo>
                  <a:pt x="308" y="141"/>
                  <a:pt x="308" y="154"/>
                  <a:pt x="306" y="166"/>
                </a:cubicBezTo>
                <a:cubicBezTo>
                  <a:pt x="304" y="189"/>
                  <a:pt x="295" y="220"/>
                  <a:pt x="274" y="234"/>
                </a:cubicBezTo>
                <a:cubicBezTo>
                  <a:pt x="271" y="236"/>
                  <a:pt x="271" y="235"/>
                  <a:pt x="269" y="240"/>
                </a:cubicBezTo>
                <a:cubicBezTo>
                  <a:pt x="266" y="253"/>
                  <a:pt x="255" y="266"/>
                  <a:pt x="243" y="272"/>
                </a:cubicBezTo>
                <a:cubicBezTo>
                  <a:pt x="234" y="276"/>
                  <a:pt x="235" y="274"/>
                  <a:pt x="231" y="282"/>
                </a:cubicBezTo>
                <a:cubicBezTo>
                  <a:pt x="222" y="296"/>
                  <a:pt x="205" y="306"/>
                  <a:pt x="190" y="310"/>
                </a:cubicBezTo>
                <a:cubicBezTo>
                  <a:pt x="174" y="314"/>
                  <a:pt x="134" y="314"/>
                  <a:pt x="118" y="310"/>
                </a:cubicBezTo>
                <a:cubicBezTo>
                  <a:pt x="109" y="307"/>
                  <a:pt x="100" y="303"/>
                  <a:pt x="90" y="296"/>
                </a:cubicBezTo>
                <a:cubicBezTo>
                  <a:pt x="66" y="280"/>
                  <a:pt x="28" y="239"/>
                  <a:pt x="16" y="214"/>
                </a:cubicBezTo>
                <a:cubicBezTo>
                  <a:pt x="2" y="186"/>
                  <a:pt x="0" y="159"/>
                  <a:pt x="0" y="128"/>
                </a:cubicBezTo>
                <a:cubicBezTo>
                  <a:pt x="1" y="106"/>
                  <a:pt x="6" y="63"/>
                  <a:pt x="31" y="53"/>
                </a:cubicBezTo>
                <a:cubicBezTo>
                  <a:pt x="33" y="53"/>
                  <a:pt x="36" y="52"/>
                  <a:pt x="38" y="52"/>
                </a:cubicBezTo>
                <a:cubicBezTo>
                  <a:pt x="40" y="43"/>
                  <a:pt x="44" y="34"/>
                  <a:pt x="49" y="26"/>
                </a:cubicBezTo>
                <a:cubicBezTo>
                  <a:pt x="59" y="12"/>
                  <a:pt x="72" y="5"/>
                  <a:pt x="89" y="2"/>
                </a:cubicBezTo>
                <a:cubicBezTo>
                  <a:pt x="99" y="0"/>
                  <a:pt x="109" y="1"/>
                  <a:pt x="121" y="2"/>
                </a:cubicBezTo>
                <a:cubicBezTo>
                  <a:pt x="143" y="3"/>
                  <a:pt x="165" y="3"/>
                  <a:pt x="187" y="2"/>
                </a:cubicBezTo>
                <a:cubicBezTo>
                  <a:pt x="213" y="0"/>
                  <a:pt x="233" y="0"/>
                  <a:pt x="254" y="18"/>
                </a:cubicBezTo>
                <a:moveTo>
                  <a:pt x="245" y="34"/>
                </a:moveTo>
                <a:cubicBezTo>
                  <a:pt x="248" y="45"/>
                  <a:pt x="251" y="58"/>
                  <a:pt x="252" y="71"/>
                </a:cubicBezTo>
                <a:cubicBezTo>
                  <a:pt x="253" y="76"/>
                  <a:pt x="253" y="77"/>
                  <a:pt x="259" y="78"/>
                </a:cubicBezTo>
                <a:cubicBezTo>
                  <a:pt x="265" y="79"/>
                  <a:pt x="272" y="79"/>
                  <a:pt x="278" y="81"/>
                </a:cubicBezTo>
                <a:cubicBezTo>
                  <a:pt x="284" y="82"/>
                  <a:pt x="284" y="77"/>
                  <a:pt x="282" y="73"/>
                </a:cubicBezTo>
                <a:cubicBezTo>
                  <a:pt x="272" y="59"/>
                  <a:pt x="258" y="37"/>
                  <a:pt x="246" y="27"/>
                </a:cubicBezTo>
                <a:cubicBezTo>
                  <a:pt x="241" y="22"/>
                  <a:pt x="243" y="29"/>
                  <a:pt x="245" y="34"/>
                </a:cubicBezTo>
                <a:close/>
                <a:moveTo>
                  <a:pt x="220" y="131"/>
                </a:moveTo>
                <a:cubicBezTo>
                  <a:pt x="199" y="133"/>
                  <a:pt x="174" y="133"/>
                  <a:pt x="142" y="131"/>
                </a:cubicBezTo>
                <a:cubicBezTo>
                  <a:pt x="141" y="132"/>
                  <a:pt x="139" y="133"/>
                  <a:pt x="137" y="135"/>
                </a:cubicBezTo>
                <a:cubicBezTo>
                  <a:pt x="113" y="158"/>
                  <a:pt x="113" y="158"/>
                  <a:pt x="113" y="158"/>
                </a:cubicBezTo>
                <a:cubicBezTo>
                  <a:pt x="111" y="160"/>
                  <a:pt x="109" y="163"/>
                  <a:pt x="113" y="166"/>
                </a:cubicBezTo>
                <a:cubicBezTo>
                  <a:pt x="120" y="173"/>
                  <a:pt x="126" y="177"/>
                  <a:pt x="136" y="177"/>
                </a:cubicBezTo>
                <a:cubicBezTo>
                  <a:pt x="151" y="177"/>
                  <a:pt x="164" y="169"/>
                  <a:pt x="175" y="161"/>
                </a:cubicBezTo>
                <a:cubicBezTo>
                  <a:pt x="187" y="153"/>
                  <a:pt x="199" y="144"/>
                  <a:pt x="212" y="142"/>
                </a:cubicBezTo>
                <a:cubicBezTo>
                  <a:pt x="227" y="140"/>
                  <a:pt x="238" y="141"/>
                  <a:pt x="252" y="149"/>
                </a:cubicBezTo>
                <a:cubicBezTo>
                  <a:pt x="262" y="154"/>
                  <a:pt x="271" y="163"/>
                  <a:pt x="280" y="170"/>
                </a:cubicBezTo>
                <a:cubicBezTo>
                  <a:pt x="292" y="180"/>
                  <a:pt x="292" y="182"/>
                  <a:pt x="294" y="165"/>
                </a:cubicBezTo>
                <a:cubicBezTo>
                  <a:pt x="296" y="153"/>
                  <a:pt x="296" y="141"/>
                  <a:pt x="296" y="128"/>
                </a:cubicBezTo>
                <a:cubicBezTo>
                  <a:pt x="296" y="117"/>
                  <a:pt x="296" y="108"/>
                  <a:pt x="292" y="102"/>
                </a:cubicBezTo>
                <a:cubicBezTo>
                  <a:pt x="287" y="92"/>
                  <a:pt x="269" y="91"/>
                  <a:pt x="259" y="90"/>
                </a:cubicBezTo>
                <a:cubicBezTo>
                  <a:pt x="252" y="89"/>
                  <a:pt x="252" y="92"/>
                  <a:pt x="252" y="96"/>
                </a:cubicBezTo>
                <a:cubicBezTo>
                  <a:pt x="252" y="109"/>
                  <a:pt x="252" y="109"/>
                  <a:pt x="252" y="109"/>
                </a:cubicBezTo>
                <a:cubicBezTo>
                  <a:pt x="252" y="122"/>
                  <a:pt x="231" y="130"/>
                  <a:pt x="220" y="131"/>
                </a:cubicBezTo>
                <a:close/>
                <a:moveTo>
                  <a:pt x="36" y="104"/>
                </a:moveTo>
                <a:cubicBezTo>
                  <a:pt x="36" y="72"/>
                  <a:pt x="36" y="72"/>
                  <a:pt x="36" y="72"/>
                </a:cubicBezTo>
                <a:cubicBezTo>
                  <a:pt x="36" y="68"/>
                  <a:pt x="30" y="67"/>
                  <a:pt x="28" y="70"/>
                </a:cubicBezTo>
                <a:cubicBezTo>
                  <a:pt x="15" y="88"/>
                  <a:pt x="12" y="106"/>
                  <a:pt x="12" y="128"/>
                </a:cubicBezTo>
                <a:cubicBezTo>
                  <a:pt x="12" y="157"/>
                  <a:pt x="13" y="182"/>
                  <a:pt x="26" y="209"/>
                </a:cubicBezTo>
                <a:cubicBezTo>
                  <a:pt x="38" y="232"/>
                  <a:pt x="75" y="272"/>
                  <a:pt x="96" y="286"/>
                </a:cubicBezTo>
                <a:cubicBezTo>
                  <a:pt x="105" y="293"/>
                  <a:pt x="113" y="296"/>
                  <a:pt x="121" y="298"/>
                </a:cubicBezTo>
                <a:cubicBezTo>
                  <a:pt x="135" y="302"/>
                  <a:pt x="146" y="301"/>
                  <a:pt x="160" y="301"/>
                </a:cubicBezTo>
                <a:cubicBezTo>
                  <a:pt x="176" y="301"/>
                  <a:pt x="171" y="297"/>
                  <a:pt x="165" y="292"/>
                </a:cubicBezTo>
                <a:cubicBezTo>
                  <a:pt x="149" y="279"/>
                  <a:pt x="133" y="264"/>
                  <a:pt x="117" y="252"/>
                </a:cubicBezTo>
                <a:cubicBezTo>
                  <a:pt x="114" y="249"/>
                  <a:pt x="120" y="240"/>
                  <a:pt x="124" y="242"/>
                </a:cubicBezTo>
                <a:cubicBezTo>
                  <a:pt x="144" y="258"/>
                  <a:pt x="163" y="276"/>
                  <a:pt x="184" y="292"/>
                </a:cubicBezTo>
                <a:cubicBezTo>
                  <a:pt x="188" y="295"/>
                  <a:pt x="188" y="296"/>
                  <a:pt x="195" y="295"/>
                </a:cubicBezTo>
                <a:cubicBezTo>
                  <a:pt x="204" y="293"/>
                  <a:pt x="210" y="288"/>
                  <a:pt x="216" y="281"/>
                </a:cubicBezTo>
                <a:cubicBezTo>
                  <a:pt x="223" y="274"/>
                  <a:pt x="222" y="271"/>
                  <a:pt x="219" y="268"/>
                </a:cubicBezTo>
                <a:cubicBezTo>
                  <a:pt x="204" y="256"/>
                  <a:pt x="188" y="242"/>
                  <a:pt x="173" y="230"/>
                </a:cubicBezTo>
                <a:cubicBezTo>
                  <a:pt x="169" y="227"/>
                  <a:pt x="176" y="218"/>
                  <a:pt x="180" y="221"/>
                </a:cubicBezTo>
                <a:cubicBezTo>
                  <a:pt x="196" y="233"/>
                  <a:pt x="211" y="247"/>
                  <a:pt x="227" y="260"/>
                </a:cubicBezTo>
                <a:cubicBezTo>
                  <a:pt x="233" y="264"/>
                  <a:pt x="233" y="264"/>
                  <a:pt x="237" y="262"/>
                </a:cubicBezTo>
                <a:cubicBezTo>
                  <a:pt x="245" y="258"/>
                  <a:pt x="252" y="251"/>
                  <a:pt x="256" y="243"/>
                </a:cubicBezTo>
                <a:cubicBezTo>
                  <a:pt x="260" y="235"/>
                  <a:pt x="257" y="233"/>
                  <a:pt x="254" y="231"/>
                </a:cubicBezTo>
                <a:cubicBezTo>
                  <a:pt x="206" y="191"/>
                  <a:pt x="206" y="191"/>
                  <a:pt x="206" y="191"/>
                </a:cubicBezTo>
                <a:cubicBezTo>
                  <a:pt x="203" y="189"/>
                  <a:pt x="210" y="179"/>
                  <a:pt x="214" y="182"/>
                </a:cubicBezTo>
                <a:cubicBezTo>
                  <a:pt x="230" y="195"/>
                  <a:pt x="245" y="208"/>
                  <a:pt x="261" y="221"/>
                </a:cubicBezTo>
                <a:cubicBezTo>
                  <a:pt x="265" y="224"/>
                  <a:pt x="266" y="226"/>
                  <a:pt x="273" y="219"/>
                </a:cubicBezTo>
                <a:cubicBezTo>
                  <a:pt x="278" y="214"/>
                  <a:pt x="283" y="207"/>
                  <a:pt x="286" y="200"/>
                </a:cubicBezTo>
                <a:cubicBezTo>
                  <a:pt x="289" y="191"/>
                  <a:pt x="288" y="192"/>
                  <a:pt x="281" y="186"/>
                </a:cubicBezTo>
                <a:cubicBezTo>
                  <a:pt x="269" y="177"/>
                  <a:pt x="258" y="166"/>
                  <a:pt x="246" y="159"/>
                </a:cubicBezTo>
                <a:cubicBezTo>
                  <a:pt x="235" y="152"/>
                  <a:pt x="226" y="152"/>
                  <a:pt x="214" y="154"/>
                </a:cubicBezTo>
                <a:cubicBezTo>
                  <a:pt x="204" y="155"/>
                  <a:pt x="192" y="163"/>
                  <a:pt x="182" y="171"/>
                </a:cubicBezTo>
                <a:cubicBezTo>
                  <a:pt x="168" y="180"/>
                  <a:pt x="154" y="189"/>
                  <a:pt x="136" y="189"/>
                </a:cubicBezTo>
                <a:cubicBezTo>
                  <a:pt x="125" y="188"/>
                  <a:pt x="114" y="184"/>
                  <a:pt x="104" y="174"/>
                </a:cubicBezTo>
                <a:cubicBezTo>
                  <a:pt x="97" y="167"/>
                  <a:pt x="95" y="159"/>
                  <a:pt x="103" y="151"/>
                </a:cubicBezTo>
                <a:cubicBezTo>
                  <a:pt x="109" y="146"/>
                  <a:pt x="114" y="140"/>
                  <a:pt x="120" y="135"/>
                </a:cubicBezTo>
                <a:cubicBezTo>
                  <a:pt x="123" y="133"/>
                  <a:pt x="121" y="130"/>
                  <a:pt x="119" y="130"/>
                </a:cubicBezTo>
                <a:cubicBezTo>
                  <a:pt x="104" y="128"/>
                  <a:pt x="87" y="127"/>
                  <a:pt x="69" y="124"/>
                </a:cubicBezTo>
                <a:cubicBezTo>
                  <a:pt x="59" y="123"/>
                  <a:pt x="36" y="117"/>
                  <a:pt x="36" y="104"/>
                </a:cubicBezTo>
                <a:close/>
                <a:moveTo>
                  <a:pt x="138" y="38"/>
                </a:moveTo>
                <a:cubicBezTo>
                  <a:pt x="138" y="34"/>
                  <a:pt x="150" y="35"/>
                  <a:pt x="150" y="38"/>
                </a:cubicBezTo>
                <a:cubicBezTo>
                  <a:pt x="150" y="63"/>
                  <a:pt x="150" y="88"/>
                  <a:pt x="150" y="114"/>
                </a:cubicBezTo>
                <a:cubicBezTo>
                  <a:pt x="150" y="118"/>
                  <a:pt x="149" y="121"/>
                  <a:pt x="158" y="122"/>
                </a:cubicBezTo>
                <a:cubicBezTo>
                  <a:pt x="165" y="124"/>
                  <a:pt x="174" y="124"/>
                  <a:pt x="181" y="122"/>
                </a:cubicBezTo>
                <a:cubicBezTo>
                  <a:pt x="191" y="120"/>
                  <a:pt x="190" y="117"/>
                  <a:pt x="189" y="114"/>
                </a:cubicBezTo>
                <a:cubicBezTo>
                  <a:pt x="189" y="89"/>
                  <a:pt x="190" y="66"/>
                  <a:pt x="186" y="41"/>
                </a:cubicBezTo>
                <a:cubicBezTo>
                  <a:pt x="186" y="36"/>
                  <a:pt x="198" y="35"/>
                  <a:pt x="198" y="39"/>
                </a:cubicBezTo>
                <a:cubicBezTo>
                  <a:pt x="202" y="64"/>
                  <a:pt x="201" y="87"/>
                  <a:pt x="201" y="112"/>
                </a:cubicBezTo>
                <a:cubicBezTo>
                  <a:pt x="201" y="115"/>
                  <a:pt x="200" y="118"/>
                  <a:pt x="208" y="119"/>
                </a:cubicBezTo>
                <a:cubicBezTo>
                  <a:pt x="217" y="120"/>
                  <a:pt x="227" y="119"/>
                  <a:pt x="234" y="114"/>
                </a:cubicBezTo>
                <a:cubicBezTo>
                  <a:pt x="241" y="110"/>
                  <a:pt x="241" y="108"/>
                  <a:pt x="241" y="104"/>
                </a:cubicBezTo>
                <a:cubicBezTo>
                  <a:pt x="241" y="80"/>
                  <a:pt x="241" y="61"/>
                  <a:pt x="233" y="38"/>
                </a:cubicBezTo>
                <a:cubicBezTo>
                  <a:pt x="231" y="29"/>
                  <a:pt x="228" y="22"/>
                  <a:pt x="225" y="18"/>
                </a:cubicBezTo>
                <a:cubicBezTo>
                  <a:pt x="222" y="14"/>
                  <a:pt x="218" y="14"/>
                  <a:pt x="213" y="13"/>
                </a:cubicBezTo>
                <a:cubicBezTo>
                  <a:pt x="206" y="12"/>
                  <a:pt x="198" y="13"/>
                  <a:pt x="188" y="13"/>
                </a:cubicBezTo>
                <a:cubicBezTo>
                  <a:pt x="165" y="15"/>
                  <a:pt x="143" y="15"/>
                  <a:pt x="120" y="13"/>
                </a:cubicBezTo>
                <a:cubicBezTo>
                  <a:pt x="109" y="13"/>
                  <a:pt x="100" y="12"/>
                  <a:pt x="91" y="14"/>
                </a:cubicBezTo>
                <a:cubicBezTo>
                  <a:pt x="78" y="16"/>
                  <a:pt x="65" y="23"/>
                  <a:pt x="59" y="32"/>
                </a:cubicBezTo>
                <a:cubicBezTo>
                  <a:pt x="51" y="45"/>
                  <a:pt x="47" y="61"/>
                  <a:pt x="47" y="76"/>
                </a:cubicBezTo>
                <a:cubicBezTo>
                  <a:pt x="47" y="82"/>
                  <a:pt x="47" y="91"/>
                  <a:pt x="47" y="97"/>
                </a:cubicBezTo>
                <a:cubicBezTo>
                  <a:pt x="47" y="105"/>
                  <a:pt x="47" y="105"/>
                  <a:pt x="53" y="108"/>
                </a:cubicBezTo>
                <a:cubicBezTo>
                  <a:pt x="60" y="112"/>
                  <a:pt x="70" y="113"/>
                  <a:pt x="79" y="112"/>
                </a:cubicBezTo>
                <a:cubicBezTo>
                  <a:pt x="88" y="111"/>
                  <a:pt x="87" y="109"/>
                  <a:pt x="87" y="105"/>
                </a:cubicBezTo>
                <a:cubicBezTo>
                  <a:pt x="87" y="84"/>
                  <a:pt x="86" y="63"/>
                  <a:pt x="88" y="42"/>
                </a:cubicBezTo>
                <a:cubicBezTo>
                  <a:pt x="89" y="38"/>
                  <a:pt x="101" y="40"/>
                  <a:pt x="100" y="44"/>
                </a:cubicBezTo>
                <a:cubicBezTo>
                  <a:pt x="98" y="64"/>
                  <a:pt x="99" y="86"/>
                  <a:pt x="99" y="107"/>
                </a:cubicBezTo>
                <a:cubicBezTo>
                  <a:pt x="99" y="114"/>
                  <a:pt x="99" y="115"/>
                  <a:pt x="109" y="117"/>
                </a:cubicBezTo>
                <a:cubicBezTo>
                  <a:pt x="115" y="119"/>
                  <a:pt x="123" y="120"/>
                  <a:pt x="130" y="119"/>
                </a:cubicBezTo>
                <a:cubicBezTo>
                  <a:pt x="137" y="118"/>
                  <a:pt x="138" y="115"/>
                  <a:pt x="138" y="111"/>
                </a:cubicBezTo>
                <a:lnTo>
                  <a:pt x="138" y="38"/>
                </a:lnTo>
                <a:close/>
              </a:path>
            </a:pathLst>
          </a:custGeom>
          <a:gradFill flip="none" rotWithShape="1">
            <a:gsLst>
              <a:gs pos="15000">
                <a:schemeClr val="accent1"/>
              </a:gs>
              <a:gs pos="100000">
                <a:schemeClr val="accent2"/>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bg1"/>
              </a:solidFill>
            </a:endParaRPr>
          </a:p>
        </p:txBody>
      </p:sp>
      <p:sp>
        <p:nvSpPr>
          <p:cNvPr id="65" name="Freeform 23">
            <a:extLst>
              <a:ext uri="{FF2B5EF4-FFF2-40B4-BE49-F238E27FC236}">
                <a16:creationId xmlns:a16="http://schemas.microsoft.com/office/drawing/2014/main" id="{C2B4C8B1-2C8F-484F-96CD-90B40F06D4B8}"/>
              </a:ext>
            </a:extLst>
          </p:cNvPr>
          <p:cNvSpPr>
            <a:spLocks noEditPoints="1"/>
          </p:cNvSpPr>
          <p:nvPr userDrawn="1"/>
        </p:nvSpPr>
        <p:spPr bwMode="auto">
          <a:xfrm>
            <a:off x="10342905" y="5434243"/>
            <a:ext cx="489468" cy="444146"/>
          </a:xfrm>
          <a:custGeom>
            <a:avLst/>
            <a:gdLst>
              <a:gd name="T0" fmla="*/ 66 w 356"/>
              <a:gd name="T1" fmla="*/ 119 h 321"/>
              <a:gd name="T2" fmla="*/ 155 w 356"/>
              <a:gd name="T3" fmla="*/ 14 h 321"/>
              <a:gd name="T4" fmla="*/ 179 w 356"/>
              <a:gd name="T5" fmla="*/ 28 h 321"/>
              <a:gd name="T6" fmla="*/ 278 w 356"/>
              <a:gd name="T7" fmla="*/ 28 h 321"/>
              <a:gd name="T8" fmla="*/ 247 w 356"/>
              <a:gd name="T9" fmla="*/ 188 h 321"/>
              <a:gd name="T10" fmla="*/ 302 w 356"/>
              <a:gd name="T11" fmla="*/ 132 h 321"/>
              <a:gd name="T12" fmla="*/ 350 w 356"/>
              <a:gd name="T13" fmla="*/ 127 h 321"/>
              <a:gd name="T14" fmla="*/ 315 w 356"/>
              <a:gd name="T15" fmla="*/ 250 h 321"/>
              <a:gd name="T16" fmla="*/ 212 w 356"/>
              <a:gd name="T17" fmla="*/ 311 h 321"/>
              <a:gd name="T18" fmla="*/ 23 w 356"/>
              <a:gd name="T19" fmla="*/ 257 h 321"/>
              <a:gd name="T20" fmla="*/ 8 w 356"/>
              <a:gd name="T21" fmla="*/ 176 h 321"/>
              <a:gd name="T22" fmla="*/ 81 w 356"/>
              <a:gd name="T23" fmla="*/ 149 h 321"/>
              <a:gd name="T24" fmla="*/ 186 w 356"/>
              <a:gd name="T25" fmla="*/ 63 h 321"/>
              <a:gd name="T26" fmla="*/ 207 w 356"/>
              <a:gd name="T27" fmla="*/ 145 h 321"/>
              <a:gd name="T28" fmla="*/ 235 w 356"/>
              <a:gd name="T29" fmla="*/ 174 h 321"/>
              <a:gd name="T30" fmla="*/ 275 w 356"/>
              <a:gd name="T31" fmla="*/ 122 h 321"/>
              <a:gd name="T32" fmla="*/ 206 w 356"/>
              <a:gd name="T33" fmla="*/ 25 h 321"/>
              <a:gd name="T34" fmla="*/ 173 w 356"/>
              <a:gd name="T35" fmla="*/ 43 h 321"/>
              <a:gd name="T36" fmla="*/ 87 w 356"/>
              <a:gd name="T37" fmla="*/ 37 h 321"/>
              <a:gd name="T38" fmla="*/ 95 w 356"/>
              <a:gd name="T39" fmla="*/ 146 h 321"/>
              <a:gd name="T40" fmla="*/ 148 w 356"/>
              <a:gd name="T41" fmla="*/ 145 h 321"/>
              <a:gd name="T42" fmla="*/ 170 w 356"/>
              <a:gd name="T43" fmla="*/ 63 h 321"/>
              <a:gd name="T44" fmla="*/ 164 w 356"/>
              <a:gd name="T45" fmla="*/ 75 h 321"/>
              <a:gd name="T46" fmla="*/ 157 w 356"/>
              <a:gd name="T47" fmla="*/ 135 h 321"/>
              <a:gd name="T48" fmla="*/ 183 w 356"/>
              <a:gd name="T49" fmla="*/ 148 h 321"/>
              <a:gd name="T50" fmla="*/ 214 w 356"/>
              <a:gd name="T51" fmla="*/ 79 h 321"/>
              <a:gd name="T52" fmla="*/ 182 w 356"/>
              <a:gd name="T53" fmla="*/ 82 h 321"/>
              <a:gd name="T54" fmla="*/ 228 w 356"/>
              <a:gd name="T55" fmla="*/ 185 h 321"/>
              <a:gd name="T56" fmla="*/ 69 w 356"/>
              <a:gd name="T57" fmla="*/ 165 h 321"/>
              <a:gd name="T58" fmla="*/ 17 w 356"/>
              <a:gd name="T59" fmla="*/ 188 h 321"/>
              <a:gd name="T60" fmla="*/ 124 w 356"/>
              <a:gd name="T61" fmla="*/ 295 h 321"/>
              <a:gd name="T62" fmla="*/ 273 w 356"/>
              <a:gd name="T63" fmla="*/ 268 h 321"/>
              <a:gd name="T64" fmla="*/ 342 w 356"/>
              <a:gd name="T65" fmla="*/ 140 h 321"/>
              <a:gd name="T66" fmla="*/ 325 w 356"/>
              <a:gd name="T67" fmla="*/ 132 h 321"/>
              <a:gd name="T68" fmla="*/ 251 w 356"/>
              <a:gd name="T69" fmla="*/ 211 h 321"/>
              <a:gd name="T70" fmla="*/ 177 w 356"/>
              <a:gd name="T71" fmla="*/ 238 h 321"/>
              <a:gd name="T72" fmla="*/ 100 w 356"/>
              <a:gd name="T73" fmla="*/ 226 h 321"/>
              <a:gd name="T74" fmla="*/ 231 w 356"/>
              <a:gd name="T75" fmla="*/ 217 h 321"/>
              <a:gd name="T76" fmla="*/ 228 w 356"/>
              <a:gd name="T77" fmla="*/ 185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56" h="321">
                <a:moveTo>
                  <a:pt x="81" y="149"/>
                </a:moveTo>
                <a:cubicBezTo>
                  <a:pt x="75" y="139"/>
                  <a:pt x="70" y="129"/>
                  <a:pt x="66" y="119"/>
                </a:cubicBezTo>
                <a:cubicBezTo>
                  <a:pt x="55" y="89"/>
                  <a:pt x="55" y="54"/>
                  <a:pt x="77" y="28"/>
                </a:cubicBezTo>
                <a:cubicBezTo>
                  <a:pt x="98" y="5"/>
                  <a:pt x="129" y="0"/>
                  <a:pt x="155" y="14"/>
                </a:cubicBezTo>
                <a:cubicBezTo>
                  <a:pt x="163" y="18"/>
                  <a:pt x="170" y="23"/>
                  <a:pt x="176" y="28"/>
                </a:cubicBezTo>
                <a:cubicBezTo>
                  <a:pt x="177" y="29"/>
                  <a:pt x="178" y="29"/>
                  <a:pt x="179" y="28"/>
                </a:cubicBezTo>
                <a:cubicBezTo>
                  <a:pt x="185" y="23"/>
                  <a:pt x="193" y="18"/>
                  <a:pt x="200" y="14"/>
                </a:cubicBezTo>
                <a:cubicBezTo>
                  <a:pt x="227" y="0"/>
                  <a:pt x="257" y="5"/>
                  <a:pt x="278" y="28"/>
                </a:cubicBezTo>
                <a:cubicBezTo>
                  <a:pt x="303" y="56"/>
                  <a:pt x="300" y="94"/>
                  <a:pt x="287" y="126"/>
                </a:cubicBezTo>
                <a:cubicBezTo>
                  <a:pt x="277" y="151"/>
                  <a:pt x="264" y="169"/>
                  <a:pt x="247" y="188"/>
                </a:cubicBezTo>
                <a:cubicBezTo>
                  <a:pt x="248" y="191"/>
                  <a:pt x="249" y="193"/>
                  <a:pt x="250" y="196"/>
                </a:cubicBezTo>
                <a:cubicBezTo>
                  <a:pt x="273" y="176"/>
                  <a:pt x="301" y="133"/>
                  <a:pt x="302" y="132"/>
                </a:cubicBezTo>
                <a:cubicBezTo>
                  <a:pt x="307" y="124"/>
                  <a:pt x="315" y="120"/>
                  <a:pt x="323" y="119"/>
                </a:cubicBezTo>
                <a:cubicBezTo>
                  <a:pt x="332" y="118"/>
                  <a:pt x="343" y="120"/>
                  <a:pt x="350" y="127"/>
                </a:cubicBezTo>
                <a:cubicBezTo>
                  <a:pt x="354" y="130"/>
                  <a:pt x="356" y="136"/>
                  <a:pt x="355" y="141"/>
                </a:cubicBezTo>
                <a:cubicBezTo>
                  <a:pt x="348" y="178"/>
                  <a:pt x="330" y="216"/>
                  <a:pt x="315" y="250"/>
                </a:cubicBezTo>
                <a:cubicBezTo>
                  <a:pt x="310" y="259"/>
                  <a:pt x="297" y="269"/>
                  <a:pt x="280" y="279"/>
                </a:cubicBezTo>
                <a:cubicBezTo>
                  <a:pt x="260" y="291"/>
                  <a:pt x="235" y="302"/>
                  <a:pt x="212" y="311"/>
                </a:cubicBezTo>
                <a:cubicBezTo>
                  <a:pt x="188" y="321"/>
                  <a:pt x="153" y="317"/>
                  <a:pt x="120" y="308"/>
                </a:cubicBezTo>
                <a:cubicBezTo>
                  <a:pt x="77" y="295"/>
                  <a:pt x="36" y="273"/>
                  <a:pt x="23" y="257"/>
                </a:cubicBezTo>
                <a:cubicBezTo>
                  <a:pt x="10" y="240"/>
                  <a:pt x="0" y="202"/>
                  <a:pt x="5" y="180"/>
                </a:cubicBezTo>
                <a:cubicBezTo>
                  <a:pt x="5" y="179"/>
                  <a:pt x="6" y="177"/>
                  <a:pt x="8" y="176"/>
                </a:cubicBezTo>
                <a:cubicBezTo>
                  <a:pt x="25" y="167"/>
                  <a:pt x="45" y="159"/>
                  <a:pt x="65" y="153"/>
                </a:cubicBezTo>
                <a:cubicBezTo>
                  <a:pt x="71" y="151"/>
                  <a:pt x="76" y="150"/>
                  <a:pt x="81" y="149"/>
                </a:cubicBezTo>
                <a:moveTo>
                  <a:pt x="170" y="63"/>
                </a:moveTo>
                <a:cubicBezTo>
                  <a:pt x="179" y="68"/>
                  <a:pt x="176" y="68"/>
                  <a:pt x="186" y="63"/>
                </a:cubicBezTo>
                <a:cubicBezTo>
                  <a:pt x="199" y="57"/>
                  <a:pt x="214" y="59"/>
                  <a:pt x="224" y="70"/>
                </a:cubicBezTo>
                <a:cubicBezTo>
                  <a:pt x="245" y="94"/>
                  <a:pt x="226" y="127"/>
                  <a:pt x="207" y="145"/>
                </a:cubicBezTo>
                <a:cubicBezTo>
                  <a:pt x="202" y="150"/>
                  <a:pt x="196" y="154"/>
                  <a:pt x="192" y="157"/>
                </a:cubicBezTo>
                <a:cubicBezTo>
                  <a:pt x="210" y="163"/>
                  <a:pt x="226" y="169"/>
                  <a:pt x="235" y="174"/>
                </a:cubicBezTo>
                <a:cubicBezTo>
                  <a:pt x="236" y="175"/>
                  <a:pt x="238" y="176"/>
                  <a:pt x="239" y="177"/>
                </a:cubicBezTo>
                <a:cubicBezTo>
                  <a:pt x="254" y="160"/>
                  <a:pt x="267" y="144"/>
                  <a:pt x="275" y="122"/>
                </a:cubicBezTo>
                <a:cubicBezTo>
                  <a:pt x="286" y="94"/>
                  <a:pt x="290" y="60"/>
                  <a:pt x="269" y="37"/>
                </a:cubicBezTo>
                <a:cubicBezTo>
                  <a:pt x="252" y="18"/>
                  <a:pt x="228" y="14"/>
                  <a:pt x="206" y="25"/>
                </a:cubicBezTo>
                <a:cubicBezTo>
                  <a:pt x="197" y="30"/>
                  <a:pt x="188" y="37"/>
                  <a:pt x="182" y="43"/>
                </a:cubicBezTo>
                <a:cubicBezTo>
                  <a:pt x="180" y="46"/>
                  <a:pt x="176" y="46"/>
                  <a:pt x="173" y="43"/>
                </a:cubicBezTo>
                <a:cubicBezTo>
                  <a:pt x="167" y="37"/>
                  <a:pt x="159" y="30"/>
                  <a:pt x="150" y="25"/>
                </a:cubicBezTo>
                <a:cubicBezTo>
                  <a:pt x="128" y="14"/>
                  <a:pt x="104" y="18"/>
                  <a:pt x="87" y="37"/>
                </a:cubicBezTo>
                <a:cubicBezTo>
                  <a:pt x="68" y="58"/>
                  <a:pt x="68" y="89"/>
                  <a:pt x="78" y="114"/>
                </a:cubicBezTo>
                <a:cubicBezTo>
                  <a:pt x="82" y="126"/>
                  <a:pt x="88" y="136"/>
                  <a:pt x="95" y="146"/>
                </a:cubicBezTo>
                <a:cubicBezTo>
                  <a:pt x="116" y="143"/>
                  <a:pt x="130" y="143"/>
                  <a:pt x="151" y="147"/>
                </a:cubicBezTo>
                <a:cubicBezTo>
                  <a:pt x="150" y="146"/>
                  <a:pt x="149" y="145"/>
                  <a:pt x="148" y="145"/>
                </a:cubicBezTo>
                <a:cubicBezTo>
                  <a:pt x="129" y="127"/>
                  <a:pt x="111" y="94"/>
                  <a:pt x="131" y="70"/>
                </a:cubicBezTo>
                <a:cubicBezTo>
                  <a:pt x="142" y="59"/>
                  <a:pt x="156" y="57"/>
                  <a:pt x="170" y="63"/>
                </a:cubicBezTo>
                <a:close/>
                <a:moveTo>
                  <a:pt x="173" y="82"/>
                </a:moveTo>
                <a:cubicBezTo>
                  <a:pt x="171" y="79"/>
                  <a:pt x="167" y="77"/>
                  <a:pt x="164" y="75"/>
                </a:cubicBezTo>
                <a:cubicBezTo>
                  <a:pt x="156" y="71"/>
                  <a:pt x="147" y="72"/>
                  <a:pt x="141" y="79"/>
                </a:cubicBezTo>
                <a:cubicBezTo>
                  <a:pt x="125" y="97"/>
                  <a:pt x="143" y="123"/>
                  <a:pt x="157" y="135"/>
                </a:cubicBezTo>
                <a:cubicBezTo>
                  <a:pt x="162" y="141"/>
                  <a:pt x="168" y="145"/>
                  <a:pt x="173" y="148"/>
                </a:cubicBezTo>
                <a:cubicBezTo>
                  <a:pt x="176" y="150"/>
                  <a:pt x="178" y="151"/>
                  <a:pt x="183" y="148"/>
                </a:cubicBezTo>
                <a:cubicBezTo>
                  <a:pt x="187" y="145"/>
                  <a:pt x="193" y="141"/>
                  <a:pt x="199" y="135"/>
                </a:cubicBezTo>
                <a:cubicBezTo>
                  <a:pt x="212" y="123"/>
                  <a:pt x="230" y="97"/>
                  <a:pt x="214" y="79"/>
                </a:cubicBezTo>
                <a:cubicBezTo>
                  <a:pt x="208" y="72"/>
                  <a:pt x="200" y="71"/>
                  <a:pt x="192" y="75"/>
                </a:cubicBezTo>
                <a:cubicBezTo>
                  <a:pt x="188" y="77"/>
                  <a:pt x="185" y="79"/>
                  <a:pt x="182" y="82"/>
                </a:cubicBezTo>
                <a:cubicBezTo>
                  <a:pt x="180" y="84"/>
                  <a:pt x="176" y="84"/>
                  <a:pt x="173" y="82"/>
                </a:cubicBezTo>
                <a:close/>
                <a:moveTo>
                  <a:pt x="228" y="185"/>
                </a:moveTo>
                <a:cubicBezTo>
                  <a:pt x="221" y="180"/>
                  <a:pt x="205" y="175"/>
                  <a:pt x="187" y="169"/>
                </a:cubicBezTo>
                <a:cubicBezTo>
                  <a:pt x="141" y="155"/>
                  <a:pt x="116" y="152"/>
                  <a:pt x="69" y="165"/>
                </a:cubicBezTo>
                <a:cubicBezTo>
                  <a:pt x="52" y="170"/>
                  <a:pt x="34" y="177"/>
                  <a:pt x="19" y="185"/>
                </a:cubicBezTo>
                <a:cubicBezTo>
                  <a:pt x="18" y="185"/>
                  <a:pt x="17" y="185"/>
                  <a:pt x="17" y="188"/>
                </a:cubicBezTo>
                <a:cubicBezTo>
                  <a:pt x="15" y="205"/>
                  <a:pt x="23" y="236"/>
                  <a:pt x="33" y="249"/>
                </a:cubicBezTo>
                <a:cubicBezTo>
                  <a:pt x="45" y="263"/>
                  <a:pt x="83" y="284"/>
                  <a:pt x="124" y="295"/>
                </a:cubicBezTo>
                <a:cubicBezTo>
                  <a:pt x="155" y="304"/>
                  <a:pt x="186" y="308"/>
                  <a:pt x="208" y="299"/>
                </a:cubicBezTo>
                <a:cubicBezTo>
                  <a:pt x="230" y="291"/>
                  <a:pt x="254" y="279"/>
                  <a:pt x="273" y="268"/>
                </a:cubicBezTo>
                <a:cubicBezTo>
                  <a:pt x="288" y="259"/>
                  <a:pt x="300" y="251"/>
                  <a:pt x="304" y="244"/>
                </a:cubicBezTo>
                <a:cubicBezTo>
                  <a:pt x="318" y="211"/>
                  <a:pt x="335" y="175"/>
                  <a:pt x="342" y="140"/>
                </a:cubicBezTo>
                <a:cubicBezTo>
                  <a:pt x="343" y="138"/>
                  <a:pt x="342" y="137"/>
                  <a:pt x="341" y="136"/>
                </a:cubicBezTo>
                <a:cubicBezTo>
                  <a:pt x="337" y="132"/>
                  <a:pt x="330" y="131"/>
                  <a:pt x="325" y="132"/>
                </a:cubicBezTo>
                <a:cubicBezTo>
                  <a:pt x="320" y="132"/>
                  <a:pt x="316" y="134"/>
                  <a:pt x="313" y="139"/>
                </a:cubicBezTo>
                <a:cubicBezTo>
                  <a:pt x="313" y="139"/>
                  <a:pt x="278" y="193"/>
                  <a:pt x="251" y="211"/>
                </a:cubicBezTo>
                <a:cubicBezTo>
                  <a:pt x="249" y="221"/>
                  <a:pt x="246" y="228"/>
                  <a:pt x="236" y="229"/>
                </a:cubicBezTo>
                <a:cubicBezTo>
                  <a:pt x="216" y="232"/>
                  <a:pt x="196" y="234"/>
                  <a:pt x="177" y="238"/>
                </a:cubicBezTo>
                <a:cubicBezTo>
                  <a:pt x="149" y="244"/>
                  <a:pt x="124" y="245"/>
                  <a:pt x="97" y="239"/>
                </a:cubicBezTo>
                <a:cubicBezTo>
                  <a:pt x="92" y="238"/>
                  <a:pt x="95" y="225"/>
                  <a:pt x="100" y="226"/>
                </a:cubicBezTo>
                <a:cubicBezTo>
                  <a:pt x="126" y="232"/>
                  <a:pt x="148" y="231"/>
                  <a:pt x="174" y="225"/>
                </a:cubicBezTo>
                <a:cubicBezTo>
                  <a:pt x="193" y="221"/>
                  <a:pt x="212" y="219"/>
                  <a:pt x="231" y="217"/>
                </a:cubicBezTo>
                <a:cubicBezTo>
                  <a:pt x="236" y="216"/>
                  <a:pt x="237" y="217"/>
                  <a:pt x="238" y="211"/>
                </a:cubicBezTo>
                <a:cubicBezTo>
                  <a:pt x="239" y="202"/>
                  <a:pt x="236" y="190"/>
                  <a:pt x="228" y="185"/>
                </a:cubicBezTo>
                <a:close/>
              </a:path>
            </a:pathLst>
          </a:custGeom>
          <a:gradFill flip="none" rotWithShape="1">
            <a:gsLst>
              <a:gs pos="15000">
                <a:schemeClr val="accent1"/>
              </a:gs>
              <a:gs pos="100000">
                <a:schemeClr val="accent2"/>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bg1"/>
              </a:solidFill>
            </a:endParaRPr>
          </a:p>
        </p:txBody>
      </p:sp>
      <p:sp>
        <p:nvSpPr>
          <p:cNvPr id="66" name="Freeform 25">
            <a:extLst>
              <a:ext uri="{FF2B5EF4-FFF2-40B4-BE49-F238E27FC236}">
                <a16:creationId xmlns:a16="http://schemas.microsoft.com/office/drawing/2014/main" id="{6DBD4B63-8DDD-438A-AA99-FAD52EDCB361}"/>
              </a:ext>
            </a:extLst>
          </p:cNvPr>
          <p:cNvSpPr>
            <a:spLocks noEditPoints="1"/>
          </p:cNvSpPr>
          <p:nvPr userDrawn="1"/>
        </p:nvSpPr>
        <p:spPr bwMode="auto">
          <a:xfrm>
            <a:off x="10965095" y="4672256"/>
            <a:ext cx="423420" cy="439178"/>
          </a:xfrm>
          <a:custGeom>
            <a:avLst/>
            <a:gdLst>
              <a:gd name="T0" fmla="*/ 238 w 332"/>
              <a:gd name="T1" fmla="*/ 123 h 342"/>
              <a:gd name="T2" fmla="*/ 255 w 332"/>
              <a:gd name="T3" fmla="*/ 327 h 342"/>
              <a:gd name="T4" fmla="*/ 230 w 332"/>
              <a:gd name="T5" fmla="*/ 108 h 342"/>
              <a:gd name="T6" fmla="*/ 270 w 332"/>
              <a:gd name="T7" fmla="*/ 116 h 342"/>
              <a:gd name="T8" fmla="*/ 262 w 332"/>
              <a:gd name="T9" fmla="*/ 342 h 342"/>
              <a:gd name="T10" fmla="*/ 223 w 332"/>
              <a:gd name="T11" fmla="*/ 334 h 342"/>
              <a:gd name="T12" fmla="*/ 230 w 332"/>
              <a:gd name="T13" fmla="*/ 108 h 342"/>
              <a:gd name="T14" fmla="*/ 176 w 332"/>
              <a:gd name="T15" fmla="*/ 195 h 342"/>
              <a:gd name="T16" fmla="*/ 193 w 332"/>
              <a:gd name="T17" fmla="*/ 327 h 342"/>
              <a:gd name="T18" fmla="*/ 168 w 332"/>
              <a:gd name="T19" fmla="*/ 180 h 342"/>
              <a:gd name="T20" fmla="*/ 208 w 332"/>
              <a:gd name="T21" fmla="*/ 187 h 342"/>
              <a:gd name="T22" fmla="*/ 201 w 332"/>
              <a:gd name="T23" fmla="*/ 342 h 342"/>
              <a:gd name="T24" fmla="*/ 161 w 332"/>
              <a:gd name="T25" fmla="*/ 334 h 342"/>
              <a:gd name="T26" fmla="*/ 168 w 332"/>
              <a:gd name="T27" fmla="*/ 180 h 342"/>
              <a:gd name="T28" fmla="*/ 299 w 332"/>
              <a:gd name="T29" fmla="*/ 16 h 342"/>
              <a:gd name="T30" fmla="*/ 317 w 332"/>
              <a:gd name="T31" fmla="*/ 327 h 342"/>
              <a:gd name="T32" fmla="*/ 292 w 332"/>
              <a:gd name="T33" fmla="*/ 2 h 342"/>
              <a:gd name="T34" fmla="*/ 332 w 332"/>
              <a:gd name="T35" fmla="*/ 9 h 342"/>
              <a:gd name="T36" fmla="*/ 324 w 332"/>
              <a:gd name="T37" fmla="*/ 342 h 342"/>
              <a:gd name="T38" fmla="*/ 284 w 332"/>
              <a:gd name="T39" fmla="*/ 334 h 342"/>
              <a:gd name="T40" fmla="*/ 292 w 332"/>
              <a:gd name="T41" fmla="*/ 2 h 342"/>
              <a:gd name="T42" fmla="*/ 56 w 332"/>
              <a:gd name="T43" fmla="*/ 55 h 342"/>
              <a:gd name="T44" fmla="*/ 20 w 332"/>
              <a:gd name="T45" fmla="*/ 90 h 342"/>
              <a:gd name="T46" fmla="*/ 77 w 332"/>
              <a:gd name="T47" fmla="*/ 65 h 342"/>
              <a:gd name="T48" fmla="*/ 150 w 332"/>
              <a:gd name="T49" fmla="*/ 40 h 342"/>
              <a:gd name="T50" fmla="*/ 195 w 332"/>
              <a:gd name="T51" fmla="*/ 2 h 342"/>
              <a:gd name="T52" fmla="*/ 153 w 332"/>
              <a:gd name="T53" fmla="*/ 129 h 342"/>
              <a:gd name="T54" fmla="*/ 133 w 332"/>
              <a:gd name="T55" fmla="*/ 212 h 342"/>
              <a:gd name="T56" fmla="*/ 142 w 332"/>
              <a:gd name="T57" fmla="*/ 280 h 342"/>
              <a:gd name="T58" fmla="*/ 107 w 332"/>
              <a:gd name="T59" fmla="*/ 339 h 342"/>
              <a:gd name="T60" fmla="*/ 0 w 332"/>
              <a:gd name="T61" fmla="*/ 296 h 342"/>
              <a:gd name="T62" fmla="*/ 16 w 332"/>
              <a:gd name="T63" fmla="*/ 188 h 342"/>
              <a:gd name="T64" fmla="*/ 30 w 332"/>
              <a:gd name="T65" fmla="*/ 139 h 342"/>
              <a:gd name="T66" fmla="*/ 12 w 332"/>
              <a:gd name="T67" fmla="*/ 144 h 342"/>
              <a:gd name="T68" fmla="*/ 39 w 332"/>
              <a:gd name="T69" fmla="*/ 44 h 342"/>
              <a:gd name="T70" fmla="*/ 85 w 332"/>
              <a:gd name="T71" fmla="*/ 51 h 342"/>
              <a:gd name="T72" fmla="*/ 103 w 332"/>
              <a:gd name="T73" fmla="*/ 58 h 342"/>
              <a:gd name="T74" fmla="*/ 99 w 332"/>
              <a:gd name="T75" fmla="*/ 95 h 342"/>
              <a:gd name="T76" fmla="*/ 55 w 332"/>
              <a:gd name="T77" fmla="*/ 145 h 342"/>
              <a:gd name="T78" fmla="*/ 88 w 332"/>
              <a:gd name="T79" fmla="*/ 137 h 342"/>
              <a:gd name="T80" fmla="*/ 44 w 332"/>
              <a:gd name="T81" fmla="*/ 123 h 342"/>
              <a:gd name="T82" fmla="*/ 28 w 332"/>
              <a:gd name="T83" fmla="*/ 197 h 342"/>
              <a:gd name="T84" fmla="*/ 15 w 332"/>
              <a:gd name="T85" fmla="*/ 296 h 342"/>
              <a:gd name="T86" fmla="*/ 107 w 332"/>
              <a:gd name="T87" fmla="*/ 324 h 342"/>
              <a:gd name="T88" fmla="*/ 63 w 332"/>
              <a:gd name="T89" fmla="*/ 294 h 342"/>
              <a:gd name="T90" fmla="*/ 56 w 332"/>
              <a:gd name="T91" fmla="*/ 230 h 342"/>
              <a:gd name="T92" fmla="*/ 71 w 332"/>
              <a:gd name="T93" fmla="*/ 279 h 342"/>
              <a:gd name="T94" fmla="*/ 119 w 332"/>
              <a:gd name="T95" fmla="*/ 204 h 342"/>
              <a:gd name="T96" fmla="*/ 192 w 332"/>
              <a:gd name="T97" fmla="*/ 62 h 342"/>
              <a:gd name="T98" fmla="*/ 161 w 332"/>
              <a:gd name="T99" fmla="*/ 50 h 342"/>
              <a:gd name="T100" fmla="*/ 102 w 332"/>
              <a:gd name="T101" fmla="*/ 142 h 342"/>
              <a:gd name="T102" fmla="*/ 28 w 332"/>
              <a:gd name="T103" fmla="*/ 19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2" h="342">
                <a:moveTo>
                  <a:pt x="255" y="123"/>
                </a:moveTo>
                <a:cubicBezTo>
                  <a:pt x="238" y="123"/>
                  <a:pt x="238" y="123"/>
                  <a:pt x="238" y="123"/>
                </a:cubicBezTo>
                <a:cubicBezTo>
                  <a:pt x="238" y="327"/>
                  <a:pt x="238" y="327"/>
                  <a:pt x="238" y="327"/>
                </a:cubicBezTo>
                <a:cubicBezTo>
                  <a:pt x="255" y="327"/>
                  <a:pt x="255" y="327"/>
                  <a:pt x="255" y="327"/>
                </a:cubicBezTo>
                <a:lnTo>
                  <a:pt x="255" y="123"/>
                </a:lnTo>
                <a:close/>
                <a:moveTo>
                  <a:pt x="230" y="108"/>
                </a:moveTo>
                <a:cubicBezTo>
                  <a:pt x="262" y="108"/>
                  <a:pt x="262" y="108"/>
                  <a:pt x="262" y="108"/>
                </a:cubicBezTo>
                <a:cubicBezTo>
                  <a:pt x="267" y="108"/>
                  <a:pt x="270" y="112"/>
                  <a:pt x="270" y="116"/>
                </a:cubicBezTo>
                <a:cubicBezTo>
                  <a:pt x="270" y="334"/>
                  <a:pt x="270" y="334"/>
                  <a:pt x="270" y="334"/>
                </a:cubicBezTo>
                <a:cubicBezTo>
                  <a:pt x="270" y="338"/>
                  <a:pt x="267" y="342"/>
                  <a:pt x="262" y="342"/>
                </a:cubicBezTo>
                <a:cubicBezTo>
                  <a:pt x="230" y="342"/>
                  <a:pt x="230" y="342"/>
                  <a:pt x="230" y="342"/>
                </a:cubicBezTo>
                <a:cubicBezTo>
                  <a:pt x="226" y="342"/>
                  <a:pt x="223" y="338"/>
                  <a:pt x="223" y="334"/>
                </a:cubicBezTo>
                <a:cubicBezTo>
                  <a:pt x="223" y="116"/>
                  <a:pt x="223" y="116"/>
                  <a:pt x="223" y="116"/>
                </a:cubicBezTo>
                <a:cubicBezTo>
                  <a:pt x="223" y="112"/>
                  <a:pt x="226" y="108"/>
                  <a:pt x="230" y="108"/>
                </a:cubicBezTo>
                <a:close/>
                <a:moveTo>
                  <a:pt x="193" y="195"/>
                </a:moveTo>
                <a:cubicBezTo>
                  <a:pt x="176" y="195"/>
                  <a:pt x="176" y="195"/>
                  <a:pt x="176" y="195"/>
                </a:cubicBezTo>
                <a:cubicBezTo>
                  <a:pt x="176" y="327"/>
                  <a:pt x="176" y="327"/>
                  <a:pt x="176" y="327"/>
                </a:cubicBezTo>
                <a:cubicBezTo>
                  <a:pt x="193" y="327"/>
                  <a:pt x="193" y="327"/>
                  <a:pt x="193" y="327"/>
                </a:cubicBezTo>
                <a:lnTo>
                  <a:pt x="193" y="195"/>
                </a:lnTo>
                <a:close/>
                <a:moveTo>
                  <a:pt x="168" y="180"/>
                </a:moveTo>
                <a:cubicBezTo>
                  <a:pt x="201" y="180"/>
                  <a:pt x="201" y="180"/>
                  <a:pt x="201" y="180"/>
                </a:cubicBezTo>
                <a:cubicBezTo>
                  <a:pt x="205" y="180"/>
                  <a:pt x="208" y="183"/>
                  <a:pt x="208" y="187"/>
                </a:cubicBezTo>
                <a:cubicBezTo>
                  <a:pt x="208" y="334"/>
                  <a:pt x="208" y="334"/>
                  <a:pt x="208" y="334"/>
                </a:cubicBezTo>
                <a:cubicBezTo>
                  <a:pt x="208" y="338"/>
                  <a:pt x="205" y="342"/>
                  <a:pt x="201" y="342"/>
                </a:cubicBezTo>
                <a:cubicBezTo>
                  <a:pt x="168" y="342"/>
                  <a:pt x="168" y="342"/>
                  <a:pt x="168" y="342"/>
                </a:cubicBezTo>
                <a:cubicBezTo>
                  <a:pt x="164" y="342"/>
                  <a:pt x="161" y="338"/>
                  <a:pt x="161" y="334"/>
                </a:cubicBezTo>
                <a:cubicBezTo>
                  <a:pt x="161" y="187"/>
                  <a:pt x="161" y="187"/>
                  <a:pt x="161" y="187"/>
                </a:cubicBezTo>
                <a:cubicBezTo>
                  <a:pt x="161" y="183"/>
                  <a:pt x="164" y="180"/>
                  <a:pt x="168" y="180"/>
                </a:cubicBezTo>
                <a:close/>
                <a:moveTo>
                  <a:pt x="317" y="16"/>
                </a:moveTo>
                <a:cubicBezTo>
                  <a:pt x="299" y="16"/>
                  <a:pt x="299" y="16"/>
                  <a:pt x="299" y="16"/>
                </a:cubicBezTo>
                <a:cubicBezTo>
                  <a:pt x="299" y="327"/>
                  <a:pt x="299" y="327"/>
                  <a:pt x="299" y="327"/>
                </a:cubicBezTo>
                <a:cubicBezTo>
                  <a:pt x="317" y="327"/>
                  <a:pt x="317" y="327"/>
                  <a:pt x="317" y="327"/>
                </a:cubicBezTo>
                <a:lnTo>
                  <a:pt x="317" y="16"/>
                </a:lnTo>
                <a:close/>
                <a:moveTo>
                  <a:pt x="292" y="2"/>
                </a:moveTo>
                <a:cubicBezTo>
                  <a:pt x="324" y="2"/>
                  <a:pt x="324" y="2"/>
                  <a:pt x="324" y="2"/>
                </a:cubicBezTo>
                <a:cubicBezTo>
                  <a:pt x="328" y="2"/>
                  <a:pt x="332" y="5"/>
                  <a:pt x="332" y="9"/>
                </a:cubicBezTo>
                <a:cubicBezTo>
                  <a:pt x="332" y="334"/>
                  <a:pt x="332" y="334"/>
                  <a:pt x="332" y="334"/>
                </a:cubicBezTo>
                <a:cubicBezTo>
                  <a:pt x="332" y="338"/>
                  <a:pt x="328" y="342"/>
                  <a:pt x="324" y="342"/>
                </a:cubicBezTo>
                <a:cubicBezTo>
                  <a:pt x="292" y="342"/>
                  <a:pt x="292" y="342"/>
                  <a:pt x="292" y="342"/>
                </a:cubicBezTo>
                <a:cubicBezTo>
                  <a:pt x="288" y="342"/>
                  <a:pt x="284" y="338"/>
                  <a:pt x="284" y="334"/>
                </a:cubicBezTo>
                <a:cubicBezTo>
                  <a:pt x="284" y="9"/>
                  <a:pt x="284" y="9"/>
                  <a:pt x="284" y="9"/>
                </a:cubicBezTo>
                <a:cubicBezTo>
                  <a:pt x="284" y="5"/>
                  <a:pt x="288" y="2"/>
                  <a:pt x="292" y="2"/>
                </a:cubicBezTo>
                <a:close/>
                <a:moveTo>
                  <a:pt x="77" y="65"/>
                </a:moveTo>
                <a:cubicBezTo>
                  <a:pt x="69" y="63"/>
                  <a:pt x="64" y="57"/>
                  <a:pt x="56" y="55"/>
                </a:cubicBezTo>
                <a:cubicBezTo>
                  <a:pt x="52" y="55"/>
                  <a:pt x="50" y="55"/>
                  <a:pt x="46" y="57"/>
                </a:cubicBezTo>
                <a:cubicBezTo>
                  <a:pt x="32" y="65"/>
                  <a:pt x="23" y="76"/>
                  <a:pt x="20" y="90"/>
                </a:cubicBezTo>
                <a:cubicBezTo>
                  <a:pt x="16" y="101"/>
                  <a:pt x="17" y="115"/>
                  <a:pt x="21" y="127"/>
                </a:cubicBezTo>
                <a:cubicBezTo>
                  <a:pt x="40" y="106"/>
                  <a:pt x="58" y="85"/>
                  <a:pt x="77" y="65"/>
                </a:cubicBezTo>
                <a:close/>
                <a:moveTo>
                  <a:pt x="99" y="95"/>
                </a:moveTo>
                <a:cubicBezTo>
                  <a:pt x="117" y="76"/>
                  <a:pt x="134" y="58"/>
                  <a:pt x="150" y="40"/>
                </a:cubicBezTo>
                <a:cubicBezTo>
                  <a:pt x="162" y="28"/>
                  <a:pt x="173" y="15"/>
                  <a:pt x="185" y="3"/>
                </a:cubicBezTo>
                <a:cubicBezTo>
                  <a:pt x="187" y="0"/>
                  <a:pt x="192" y="0"/>
                  <a:pt x="195" y="2"/>
                </a:cubicBezTo>
                <a:cubicBezTo>
                  <a:pt x="216" y="19"/>
                  <a:pt x="220" y="48"/>
                  <a:pt x="204" y="70"/>
                </a:cubicBezTo>
                <a:cubicBezTo>
                  <a:pt x="189" y="91"/>
                  <a:pt x="168" y="106"/>
                  <a:pt x="153" y="129"/>
                </a:cubicBezTo>
                <a:cubicBezTo>
                  <a:pt x="134" y="159"/>
                  <a:pt x="134" y="181"/>
                  <a:pt x="134" y="205"/>
                </a:cubicBezTo>
                <a:cubicBezTo>
                  <a:pt x="133" y="212"/>
                  <a:pt x="133" y="212"/>
                  <a:pt x="133" y="212"/>
                </a:cubicBezTo>
                <a:cubicBezTo>
                  <a:pt x="133" y="280"/>
                  <a:pt x="133" y="280"/>
                  <a:pt x="133" y="280"/>
                </a:cubicBezTo>
                <a:cubicBezTo>
                  <a:pt x="142" y="280"/>
                  <a:pt x="142" y="280"/>
                  <a:pt x="142" y="280"/>
                </a:cubicBezTo>
                <a:cubicBezTo>
                  <a:pt x="146" y="280"/>
                  <a:pt x="149" y="283"/>
                  <a:pt x="149" y="287"/>
                </a:cubicBezTo>
                <a:cubicBezTo>
                  <a:pt x="149" y="317"/>
                  <a:pt x="142" y="339"/>
                  <a:pt x="107" y="339"/>
                </a:cubicBezTo>
                <a:cubicBezTo>
                  <a:pt x="48" y="339"/>
                  <a:pt x="48" y="339"/>
                  <a:pt x="48" y="339"/>
                </a:cubicBezTo>
                <a:cubicBezTo>
                  <a:pt x="21" y="339"/>
                  <a:pt x="1" y="324"/>
                  <a:pt x="0" y="296"/>
                </a:cubicBezTo>
                <a:cubicBezTo>
                  <a:pt x="0" y="249"/>
                  <a:pt x="0" y="249"/>
                  <a:pt x="0" y="249"/>
                </a:cubicBezTo>
                <a:cubicBezTo>
                  <a:pt x="1" y="229"/>
                  <a:pt x="5" y="204"/>
                  <a:pt x="16" y="188"/>
                </a:cubicBezTo>
                <a:cubicBezTo>
                  <a:pt x="20" y="183"/>
                  <a:pt x="25" y="178"/>
                  <a:pt x="27" y="172"/>
                </a:cubicBezTo>
                <a:cubicBezTo>
                  <a:pt x="31" y="163"/>
                  <a:pt x="31" y="150"/>
                  <a:pt x="30" y="139"/>
                </a:cubicBezTo>
                <a:cubicBezTo>
                  <a:pt x="25" y="145"/>
                  <a:pt x="25" y="145"/>
                  <a:pt x="25" y="145"/>
                </a:cubicBezTo>
                <a:cubicBezTo>
                  <a:pt x="21" y="149"/>
                  <a:pt x="15" y="148"/>
                  <a:pt x="12" y="144"/>
                </a:cubicBezTo>
                <a:cubicBezTo>
                  <a:pt x="3" y="126"/>
                  <a:pt x="0" y="105"/>
                  <a:pt x="5" y="86"/>
                </a:cubicBezTo>
                <a:cubicBezTo>
                  <a:pt x="10" y="69"/>
                  <a:pt x="21" y="53"/>
                  <a:pt x="39" y="44"/>
                </a:cubicBezTo>
                <a:cubicBezTo>
                  <a:pt x="46" y="40"/>
                  <a:pt x="51" y="38"/>
                  <a:pt x="60" y="41"/>
                </a:cubicBezTo>
                <a:cubicBezTo>
                  <a:pt x="68" y="43"/>
                  <a:pt x="79" y="52"/>
                  <a:pt x="85" y="51"/>
                </a:cubicBezTo>
                <a:cubicBezTo>
                  <a:pt x="88" y="51"/>
                  <a:pt x="90" y="50"/>
                  <a:pt x="92" y="48"/>
                </a:cubicBezTo>
                <a:cubicBezTo>
                  <a:pt x="95" y="44"/>
                  <a:pt x="107" y="53"/>
                  <a:pt x="103" y="58"/>
                </a:cubicBezTo>
                <a:cubicBezTo>
                  <a:pt x="101" y="60"/>
                  <a:pt x="91" y="71"/>
                  <a:pt x="91" y="71"/>
                </a:cubicBezTo>
                <a:cubicBezTo>
                  <a:pt x="94" y="79"/>
                  <a:pt x="97" y="87"/>
                  <a:pt x="99" y="95"/>
                </a:cubicBezTo>
                <a:close/>
                <a:moveTo>
                  <a:pt x="45" y="156"/>
                </a:moveTo>
                <a:cubicBezTo>
                  <a:pt x="55" y="145"/>
                  <a:pt x="55" y="145"/>
                  <a:pt x="55" y="145"/>
                </a:cubicBezTo>
                <a:cubicBezTo>
                  <a:pt x="57" y="143"/>
                  <a:pt x="60" y="142"/>
                  <a:pt x="62" y="143"/>
                </a:cubicBezTo>
                <a:cubicBezTo>
                  <a:pt x="70" y="144"/>
                  <a:pt x="85" y="145"/>
                  <a:pt x="88" y="137"/>
                </a:cubicBezTo>
                <a:cubicBezTo>
                  <a:pt x="93" y="124"/>
                  <a:pt x="85" y="97"/>
                  <a:pt x="80" y="83"/>
                </a:cubicBezTo>
                <a:cubicBezTo>
                  <a:pt x="44" y="123"/>
                  <a:pt x="44" y="123"/>
                  <a:pt x="44" y="123"/>
                </a:cubicBezTo>
                <a:cubicBezTo>
                  <a:pt x="44" y="134"/>
                  <a:pt x="46" y="145"/>
                  <a:pt x="45" y="156"/>
                </a:cubicBezTo>
                <a:close/>
                <a:moveTo>
                  <a:pt x="28" y="197"/>
                </a:moveTo>
                <a:cubicBezTo>
                  <a:pt x="19" y="210"/>
                  <a:pt x="15" y="233"/>
                  <a:pt x="15" y="249"/>
                </a:cubicBezTo>
                <a:cubicBezTo>
                  <a:pt x="15" y="296"/>
                  <a:pt x="15" y="296"/>
                  <a:pt x="15" y="296"/>
                </a:cubicBezTo>
                <a:cubicBezTo>
                  <a:pt x="16" y="315"/>
                  <a:pt x="29" y="324"/>
                  <a:pt x="48" y="324"/>
                </a:cubicBezTo>
                <a:cubicBezTo>
                  <a:pt x="107" y="324"/>
                  <a:pt x="107" y="324"/>
                  <a:pt x="107" y="324"/>
                </a:cubicBezTo>
                <a:cubicBezTo>
                  <a:pt x="129" y="324"/>
                  <a:pt x="133" y="314"/>
                  <a:pt x="134" y="294"/>
                </a:cubicBezTo>
                <a:cubicBezTo>
                  <a:pt x="63" y="294"/>
                  <a:pt x="63" y="294"/>
                  <a:pt x="63" y="294"/>
                </a:cubicBezTo>
                <a:cubicBezTo>
                  <a:pt x="59" y="294"/>
                  <a:pt x="56" y="291"/>
                  <a:pt x="56" y="287"/>
                </a:cubicBezTo>
                <a:cubicBezTo>
                  <a:pt x="56" y="230"/>
                  <a:pt x="56" y="230"/>
                  <a:pt x="56" y="230"/>
                </a:cubicBezTo>
                <a:cubicBezTo>
                  <a:pt x="56" y="225"/>
                  <a:pt x="71" y="225"/>
                  <a:pt x="71" y="230"/>
                </a:cubicBezTo>
                <a:cubicBezTo>
                  <a:pt x="71" y="279"/>
                  <a:pt x="71" y="279"/>
                  <a:pt x="71" y="279"/>
                </a:cubicBezTo>
                <a:cubicBezTo>
                  <a:pt x="119" y="280"/>
                  <a:pt x="119" y="280"/>
                  <a:pt x="119" y="280"/>
                </a:cubicBezTo>
                <a:cubicBezTo>
                  <a:pt x="119" y="255"/>
                  <a:pt x="119" y="229"/>
                  <a:pt x="119" y="204"/>
                </a:cubicBezTo>
                <a:cubicBezTo>
                  <a:pt x="119" y="179"/>
                  <a:pt x="119" y="155"/>
                  <a:pt x="141" y="121"/>
                </a:cubicBezTo>
                <a:cubicBezTo>
                  <a:pt x="155" y="98"/>
                  <a:pt x="176" y="82"/>
                  <a:pt x="192" y="62"/>
                </a:cubicBezTo>
                <a:cubicBezTo>
                  <a:pt x="202" y="48"/>
                  <a:pt x="201" y="31"/>
                  <a:pt x="190" y="19"/>
                </a:cubicBezTo>
                <a:cubicBezTo>
                  <a:pt x="181" y="29"/>
                  <a:pt x="171" y="39"/>
                  <a:pt x="161" y="50"/>
                </a:cubicBezTo>
                <a:cubicBezTo>
                  <a:pt x="142" y="70"/>
                  <a:pt x="123" y="91"/>
                  <a:pt x="103" y="113"/>
                </a:cubicBezTo>
                <a:cubicBezTo>
                  <a:pt x="105" y="126"/>
                  <a:pt x="105" y="135"/>
                  <a:pt x="102" y="142"/>
                </a:cubicBezTo>
                <a:cubicBezTo>
                  <a:pt x="96" y="158"/>
                  <a:pt x="78" y="160"/>
                  <a:pt x="63" y="158"/>
                </a:cubicBezTo>
                <a:cubicBezTo>
                  <a:pt x="53" y="169"/>
                  <a:pt x="36" y="184"/>
                  <a:pt x="28" y="197"/>
                </a:cubicBezTo>
                <a:close/>
              </a:path>
            </a:pathLst>
          </a:custGeom>
          <a:gradFill flip="none" rotWithShape="1">
            <a:gsLst>
              <a:gs pos="15000">
                <a:schemeClr val="accent1"/>
              </a:gs>
              <a:gs pos="100000">
                <a:schemeClr val="accent2"/>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bg1"/>
              </a:solidFill>
            </a:endParaRPr>
          </a:p>
        </p:txBody>
      </p:sp>
      <p:sp>
        <p:nvSpPr>
          <p:cNvPr id="67" name="Freeform 27">
            <a:extLst>
              <a:ext uri="{FF2B5EF4-FFF2-40B4-BE49-F238E27FC236}">
                <a16:creationId xmlns:a16="http://schemas.microsoft.com/office/drawing/2014/main" id="{6B4491B9-9683-4A96-8078-564EB1395668}"/>
              </a:ext>
            </a:extLst>
          </p:cNvPr>
          <p:cNvSpPr>
            <a:spLocks noEditPoints="1"/>
          </p:cNvSpPr>
          <p:nvPr userDrawn="1"/>
        </p:nvSpPr>
        <p:spPr bwMode="auto">
          <a:xfrm>
            <a:off x="11249767" y="3621373"/>
            <a:ext cx="426194" cy="549504"/>
          </a:xfrm>
          <a:custGeom>
            <a:avLst/>
            <a:gdLst>
              <a:gd name="T0" fmla="*/ 216 w 293"/>
              <a:gd name="T1" fmla="*/ 96 h 376"/>
              <a:gd name="T2" fmla="*/ 234 w 293"/>
              <a:gd name="T3" fmla="*/ 117 h 376"/>
              <a:gd name="T4" fmla="*/ 289 w 293"/>
              <a:gd name="T5" fmla="*/ 243 h 376"/>
              <a:gd name="T6" fmla="*/ 184 w 293"/>
              <a:gd name="T7" fmla="*/ 331 h 376"/>
              <a:gd name="T8" fmla="*/ 149 w 293"/>
              <a:gd name="T9" fmla="*/ 374 h 376"/>
              <a:gd name="T10" fmla="*/ 65 w 293"/>
              <a:gd name="T11" fmla="*/ 223 h 376"/>
              <a:gd name="T12" fmla="*/ 74 w 293"/>
              <a:gd name="T13" fmla="*/ 129 h 376"/>
              <a:gd name="T14" fmla="*/ 86 w 293"/>
              <a:gd name="T15" fmla="*/ 10 h 376"/>
              <a:gd name="T16" fmla="*/ 141 w 293"/>
              <a:gd name="T17" fmla="*/ 105 h 376"/>
              <a:gd name="T18" fmla="*/ 246 w 293"/>
              <a:gd name="T19" fmla="*/ 106 h 376"/>
              <a:gd name="T20" fmla="*/ 272 w 293"/>
              <a:gd name="T21" fmla="*/ 151 h 376"/>
              <a:gd name="T22" fmla="*/ 282 w 293"/>
              <a:gd name="T23" fmla="*/ 196 h 376"/>
              <a:gd name="T24" fmla="*/ 280 w 293"/>
              <a:gd name="T25" fmla="*/ 227 h 376"/>
              <a:gd name="T26" fmla="*/ 211 w 293"/>
              <a:gd name="T27" fmla="*/ 240 h 376"/>
              <a:gd name="T28" fmla="*/ 275 w 293"/>
              <a:gd name="T29" fmla="*/ 237 h 376"/>
              <a:gd name="T30" fmla="*/ 272 w 293"/>
              <a:gd name="T31" fmla="*/ 189 h 376"/>
              <a:gd name="T32" fmla="*/ 187 w 293"/>
              <a:gd name="T33" fmla="*/ 209 h 376"/>
              <a:gd name="T34" fmla="*/ 215 w 293"/>
              <a:gd name="T35" fmla="*/ 269 h 376"/>
              <a:gd name="T36" fmla="*/ 190 w 293"/>
              <a:gd name="T37" fmla="*/ 292 h 376"/>
              <a:gd name="T38" fmla="*/ 140 w 293"/>
              <a:gd name="T39" fmla="*/ 293 h 376"/>
              <a:gd name="T40" fmla="*/ 115 w 293"/>
              <a:gd name="T41" fmla="*/ 274 h 376"/>
              <a:gd name="T42" fmla="*/ 100 w 293"/>
              <a:gd name="T43" fmla="*/ 230 h 376"/>
              <a:gd name="T44" fmla="*/ 110 w 293"/>
              <a:gd name="T45" fmla="*/ 201 h 376"/>
              <a:gd name="T46" fmla="*/ 150 w 293"/>
              <a:gd name="T47" fmla="*/ 173 h 376"/>
              <a:gd name="T48" fmla="*/ 154 w 293"/>
              <a:gd name="T49" fmla="*/ 144 h 376"/>
              <a:gd name="T50" fmla="*/ 134 w 293"/>
              <a:gd name="T51" fmla="*/ 83 h 376"/>
              <a:gd name="T52" fmla="*/ 95 w 293"/>
              <a:gd name="T53" fmla="*/ 28 h 376"/>
              <a:gd name="T54" fmla="*/ 78 w 293"/>
              <a:gd name="T55" fmla="*/ 193 h 376"/>
              <a:gd name="T56" fmla="*/ 98 w 293"/>
              <a:gd name="T57" fmla="*/ 269 h 376"/>
              <a:gd name="T58" fmla="*/ 19 w 293"/>
              <a:gd name="T59" fmla="*/ 315 h 376"/>
              <a:gd name="T60" fmla="*/ 147 w 293"/>
              <a:gd name="T61" fmla="*/ 360 h 376"/>
              <a:gd name="T62" fmla="*/ 148 w 293"/>
              <a:gd name="T63" fmla="*/ 307 h 376"/>
              <a:gd name="T64" fmla="*/ 242 w 293"/>
              <a:gd name="T65" fmla="*/ 281 h 376"/>
              <a:gd name="T66" fmla="*/ 215 w 293"/>
              <a:gd name="T67" fmla="*/ 269 h 376"/>
              <a:gd name="T68" fmla="*/ 175 w 293"/>
              <a:gd name="T69" fmla="*/ 209 h 376"/>
              <a:gd name="T70" fmla="*/ 125 w 293"/>
              <a:gd name="T71" fmla="*/ 211 h 376"/>
              <a:gd name="T72" fmla="*/ 118 w 293"/>
              <a:gd name="T73" fmla="*/ 231 h 376"/>
              <a:gd name="T74" fmla="*/ 127 w 293"/>
              <a:gd name="T75" fmla="*/ 277 h 376"/>
              <a:gd name="T76" fmla="*/ 165 w 293"/>
              <a:gd name="T77" fmla="*/ 269 h 376"/>
              <a:gd name="T78" fmla="*/ 204 w 293"/>
              <a:gd name="T79" fmla="*/ 276 h 376"/>
              <a:gd name="T80" fmla="*/ 166 w 293"/>
              <a:gd name="T81" fmla="*/ 172 h 376"/>
              <a:gd name="T82" fmla="*/ 261 w 293"/>
              <a:gd name="T83" fmla="*/ 145 h 376"/>
              <a:gd name="T84" fmla="*/ 166 w 293"/>
              <a:gd name="T85" fmla="*/ 172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3" h="376">
                <a:moveTo>
                  <a:pt x="235" y="113"/>
                </a:moveTo>
                <a:cubicBezTo>
                  <a:pt x="235" y="106"/>
                  <a:pt x="229" y="98"/>
                  <a:pt x="223" y="96"/>
                </a:cubicBezTo>
                <a:cubicBezTo>
                  <a:pt x="221" y="95"/>
                  <a:pt x="219" y="95"/>
                  <a:pt x="216" y="96"/>
                </a:cubicBezTo>
                <a:cubicBezTo>
                  <a:pt x="198" y="104"/>
                  <a:pt x="181" y="114"/>
                  <a:pt x="165" y="126"/>
                </a:cubicBezTo>
                <a:cubicBezTo>
                  <a:pt x="159" y="133"/>
                  <a:pt x="170" y="156"/>
                  <a:pt x="180" y="152"/>
                </a:cubicBezTo>
                <a:cubicBezTo>
                  <a:pt x="198" y="143"/>
                  <a:pt x="219" y="130"/>
                  <a:pt x="234" y="117"/>
                </a:cubicBezTo>
                <a:cubicBezTo>
                  <a:pt x="235" y="115"/>
                  <a:pt x="236" y="115"/>
                  <a:pt x="235" y="113"/>
                </a:cubicBezTo>
                <a:moveTo>
                  <a:pt x="292" y="236"/>
                </a:moveTo>
                <a:cubicBezTo>
                  <a:pt x="292" y="238"/>
                  <a:pt x="291" y="241"/>
                  <a:pt x="289" y="243"/>
                </a:cubicBezTo>
                <a:cubicBezTo>
                  <a:pt x="280" y="260"/>
                  <a:pt x="265" y="276"/>
                  <a:pt x="250" y="290"/>
                </a:cubicBezTo>
                <a:cubicBezTo>
                  <a:pt x="231" y="306"/>
                  <a:pt x="211" y="318"/>
                  <a:pt x="198" y="323"/>
                </a:cubicBezTo>
                <a:cubicBezTo>
                  <a:pt x="192" y="326"/>
                  <a:pt x="190" y="326"/>
                  <a:pt x="184" y="331"/>
                </a:cubicBezTo>
                <a:cubicBezTo>
                  <a:pt x="177" y="338"/>
                  <a:pt x="171" y="346"/>
                  <a:pt x="163" y="357"/>
                </a:cubicBezTo>
                <a:cubicBezTo>
                  <a:pt x="160" y="362"/>
                  <a:pt x="157" y="367"/>
                  <a:pt x="153" y="372"/>
                </a:cubicBezTo>
                <a:cubicBezTo>
                  <a:pt x="152" y="373"/>
                  <a:pt x="151" y="374"/>
                  <a:pt x="149" y="374"/>
                </a:cubicBezTo>
                <a:cubicBezTo>
                  <a:pt x="122" y="376"/>
                  <a:pt x="43" y="350"/>
                  <a:pt x="17" y="333"/>
                </a:cubicBezTo>
                <a:cubicBezTo>
                  <a:pt x="11" y="329"/>
                  <a:pt x="0" y="320"/>
                  <a:pt x="6" y="311"/>
                </a:cubicBezTo>
                <a:cubicBezTo>
                  <a:pt x="23" y="290"/>
                  <a:pt x="56" y="248"/>
                  <a:pt x="65" y="223"/>
                </a:cubicBezTo>
                <a:cubicBezTo>
                  <a:pt x="66" y="219"/>
                  <a:pt x="66" y="218"/>
                  <a:pt x="66" y="215"/>
                </a:cubicBezTo>
                <a:cubicBezTo>
                  <a:pt x="65" y="208"/>
                  <a:pt x="66" y="201"/>
                  <a:pt x="66" y="193"/>
                </a:cubicBezTo>
                <a:cubicBezTo>
                  <a:pt x="68" y="171"/>
                  <a:pt x="69" y="150"/>
                  <a:pt x="74" y="129"/>
                </a:cubicBezTo>
                <a:cubicBezTo>
                  <a:pt x="81" y="100"/>
                  <a:pt x="90" y="82"/>
                  <a:pt x="88" y="50"/>
                </a:cubicBezTo>
                <a:cubicBezTo>
                  <a:pt x="87" y="41"/>
                  <a:pt x="83" y="31"/>
                  <a:pt x="81" y="22"/>
                </a:cubicBezTo>
                <a:cubicBezTo>
                  <a:pt x="80" y="17"/>
                  <a:pt x="82" y="13"/>
                  <a:pt x="86" y="10"/>
                </a:cubicBezTo>
                <a:cubicBezTo>
                  <a:pt x="99" y="0"/>
                  <a:pt x="122" y="8"/>
                  <a:pt x="132" y="17"/>
                </a:cubicBezTo>
                <a:cubicBezTo>
                  <a:pt x="153" y="37"/>
                  <a:pt x="152" y="61"/>
                  <a:pt x="145" y="86"/>
                </a:cubicBezTo>
                <a:cubicBezTo>
                  <a:pt x="144" y="93"/>
                  <a:pt x="142" y="99"/>
                  <a:pt x="141" y="105"/>
                </a:cubicBezTo>
                <a:cubicBezTo>
                  <a:pt x="141" y="115"/>
                  <a:pt x="155" y="118"/>
                  <a:pt x="163" y="113"/>
                </a:cubicBezTo>
                <a:cubicBezTo>
                  <a:pt x="180" y="102"/>
                  <a:pt x="193" y="93"/>
                  <a:pt x="212" y="85"/>
                </a:cubicBezTo>
                <a:cubicBezTo>
                  <a:pt x="226" y="78"/>
                  <a:pt x="242" y="92"/>
                  <a:pt x="246" y="106"/>
                </a:cubicBezTo>
                <a:cubicBezTo>
                  <a:pt x="253" y="103"/>
                  <a:pt x="265" y="113"/>
                  <a:pt x="269" y="118"/>
                </a:cubicBezTo>
                <a:cubicBezTo>
                  <a:pt x="275" y="125"/>
                  <a:pt x="277" y="134"/>
                  <a:pt x="276" y="142"/>
                </a:cubicBezTo>
                <a:cubicBezTo>
                  <a:pt x="276" y="146"/>
                  <a:pt x="274" y="148"/>
                  <a:pt x="272" y="151"/>
                </a:cubicBezTo>
                <a:cubicBezTo>
                  <a:pt x="277" y="155"/>
                  <a:pt x="280" y="160"/>
                  <a:pt x="282" y="165"/>
                </a:cubicBezTo>
                <a:cubicBezTo>
                  <a:pt x="286" y="172"/>
                  <a:pt x="289" y="186"/>
                  <a:pt x="283" y="194"/>
                </a:cubicBezTo>
                <a:cubicBezTo>
                  <a:pt x="283" y="195"/>
                  <a:pt x="282" y="195"/>
                  <a:pt x="282" y="196"/>
                </a:cubicBezTo>
                <a:cubicBezTo>
                  <a:pt x="286" y="202"/>
                  <a:pt x="289" y="209"/>
                  <a:pt x="291" y="215"/>
                </a:cubicBezTo>
                <a:cubicBezTo>
                  <a:pt x="293" y="223"/>
                  <a:pt x="293" y="230"/>
                  <a:pt x="292" y="236"/>
                </a:cubicBezTo>
                <a:close/>
                <a:moveTo>
                  <a:pt x="280" y="227"/>
                </a:moveTo>
                <a:cubicBezTo>
                  <a:pt x="280" y="224"/>
                  <a:pt x="280" y="221"/>
                  <a:pt x="279" y="218"/>
                </a:cubicBezTo>
                <a:cubicBezTo>
                  <a:pt x="278" y="214"/>
                  <a:pt x="276" y="209"/>
                  <a:pt x="273" y="204"/>
                </a:cubicBezTo>
                <a:cubicBezTo>
                  <a:pt x="256" y="219"/>
                  <a:pt x="230" y="231"/>
                  <a:pt x="211" y="240"/>
                </a:cubicBezTo>
                <a:cubicBezTo>
                  <a:pt x="208" y="244"/>
                  <a:pt x="213" y="253"/>
                  <a:pt x="216" y="256"/>
                </a:cubicBezTo>
                <a:cubicBezTo>
                  <a:pt x="219" y="259"/>
                  <a:pt x="224" y="262"/>
                  <a:pt x="229" y="261"/>
                </a:cubicBezTo>
                <a:cubicBezTo>
                  <a:pt x="245" y="255"/>
                  <a:pt x="261" y="247"/>
                  <a:pt x="275" y="237"/>
                </a:cubicBezTo>
                <a:cubicBezTo>
                  <a:pt x="280" y="233"/>
                  <a:pt x="280" y="232"/>
                  <a:pt x="280" y="227"/>
                </a:cubicBezTo>
                <a:close/>
                <a:moveTo>
                  <a:pt x="205" y="229"/>
                </a:moveTo>
                <a:cubicBezTo>
                  <a:pt x="227" y="220"/>
                  <a:pt x="254" y="206"/>
                  <a:pt x="272" y="189"/>
                </a:cubicBezTo>
                <a:cubicBezTo>
                  <a:pt x="274" y="187"/>
                  <a:pt x="274" y="187"/>
                  <a:pt x="274" y="184"/>
                </a:cubicBezTo>
                <a:cubicBezTo>
                  <a:pt x="274" y="174"/>
                  <a:pt x="271" y="166"/>
                  <a:pt x="264" y="160"/>
                </a:cubicBezTo>
                <a:cubicBezTo>
                  <a:pt x="243" y="178"/>
                  <a:pt x="212" y="198"/>
                  <a:pt x="187" y="209"/>
                </a:cubicBezTo>
                <a:cubicBezTo>
                  <a:pt x="186" y="210"/>
                  <a:pt x="186" y="212"/>
                  <a:pt x="186" y="214"/>
                </a:cubicBezTo>
                <a:cubicBezTo>
                  <a:pt x="187" y="224"/>
                  <a:pt x="196" y="229"/>
                  <a:pt x="205" y="229"/>
                </a:cubicBezTo>
                <a:close/>
                <a:moveTo>
                  <a:pt x="215" y="269"/>
                </a:moveTo>
                <a:cubicBezTo>
                  <a:pt x="216" y="280"/>
                  <a:pt x="216" y="280"/>
                  <a:pt x="216" y="280"/>
                </a:cubicBezTo>
                <a:cubicBezTo>
                  <a:pt x="216" y="286"/>
                  <a:pt x="215" y="289"/>
                  <a:pt x="210" y="293"/>
                </a:cubicBezTo>
                <a:cubicBezTo>
                  <a:pt x="202" y="298"/>
                  <a:pt x="198" y="297"/>
                  <a:pt x="190" y="292"/>
                </a:cubicBezTo>
                <a:cubicBezTo>
                  <a:pt x="187" y="291"/>
                  <a:pt x="177" y="285"/>
                  <a:pt x="170" y="283"/>
                </a:cubicBezTo>
                <a:cubicBezTo>
                  <a:pt x="166" y="281"/>
                  <a:pt x="166" y="281"/>
                  <a:pt x="161" y="282"/>
                </a:cubicBezTo>
                <a:cubicBezTo>
                  <a:pt x="155" y="285"/>
                  <a:pt x="144" y="291"/>
                  <a:pt x="140" y="293"/>
                </a:cubicBezTo>
                <a:cubicBezTo>
                  <a:pt x="136" y="295"/>
                  <a:pt x="134" y="296"/>
                  <a:pt x="131" y="296"/>
                </a:cubicBezTo>
                <a:cubicBezTo>
                  <a:pt x="126" y="297"/>
                  <a:pt x="116" y="291"/>
                  <a:pt x="114" y="285"/>
                </a:cubicBezTo>
                <a:cubicBezTo>
                  <a:pt x="114" y="282"/>
                  <a:pt x="114" y="279"/>
                  <a:pt x="115" y="274"/>
                </a:cubicBezTo>
                <a:cubicBezTo>
                  <a:pt x="117" y="268"/>
                  <a:pt x="118" y="260"/>
                  <a:pt x="119" y="253"/>
                </a:cubicBezTo>
                <a:cubicBezTo>
                  <a:pt x="119" y="249"/>
                  <a:pt x="119" y="248"/>
                  <a:pt x="116" y="246"/>
                </a:cubicBezTo>
                <a:cubicBezTo>
                  <a:pt x="111" y="240"/>
                  <a:pt x="105" y="235"/>
                  <a:pt x="100" y="230"/>
                </a:cubicBezTo>
                <a:cubicBezTo>
                  <a:pt x="97" y="227"/>
                  <a:pt x="94" y="225"/>
                  <a:pt x="93" y="222"/>
                </a:cubicBezTo>
                <a:cubicBezTo>
                  <a:pt x="90" y="217"/>
                  <a:pt x="94" y="206"/>
                  <a:pt x="100" y="203"/>
                </a:cubicBezTo>
                <a:cubicBezTo>
                  <a:pt x="102" y="202"/>
                  <a:pt x="105" y="201"/>
                  <a:pt x="110" y="201"/>
                </a:cubicBezTo>
                <a:cubicBezTo>
                  <a:pt x="117" y="200"/>
                  <a:pt x="125" y="199"/>
                  <a:pt x="132" y="198"/>
                </a:cubicBezTo>
                <a:cubicBezTo>
                  <a:pt x="136" y="197"/>
                  <a:pt x="137" y="196"/>
                  <a:pt x="139" y="192"/>
                </a:cubicBezTo>
                <a:cubicBezTo>
                  <a:pt x="143" y="186"/>
                  <a:pt x="146" y="180"/>
                  <a:pt x="150" y="173"/>
                </a:cubicBezTo>
                <a:cubicBezTo>
                  <a:pt x="152" y="167"/>
                  <a:pt x="157" y="161"/>
                  <a:pt x="162" y="159"/>
                </a:cubicBezTo>
                <a:cubicBezTo>
                  <a:pt x="163" y="159"/>
                  <a:pt x="163" y="159"/>
                  <a:pt x="163" y="159"/>
                </a:cubicBezTo>
                <a:cubicBezTo>
                  <a:pt x="163" y="159"/>
                  <a:pt x="156" y="151"/>
                  <a:pt x="154" y="144"/>
                </a:cubicBezTo>
                <a:cubicBezTo>
                  <a:pt x="152" y="139"/>
                  <a:pt x="151" y="133"/>
                  <a:pt x="152" y="128"/>
                </a:cubicBezTo>
                <a:cubicBezTo>
                  <a:pt x="140" y="127"/>
                  <a:pt x="129" y="117"/>
                  <a:pt x="129" y="105"/>
                </a:cubicBezTo>
                <a:cubicBezTo>
                  <a:pt x="130" y="97"/>
                  <a:pt x="132" y="90"/>
                  <a:pt x="134" y="83"/>
                </a:cubicBezTo>
                <a:cubicBezTo>
                  <a:pt x="139" y="62"/>
                  <a:pt x="142" y="42"/>
                  <a:pt x="124" y="26"/>
                </a:cubicBezTo>
                <a:cubicBezTo>
                  <a:pt x="116" y="19"/>
                  <a:pt x="106" y="16"/>
                  <a:pt x="95" y="19"/>
                </a:cubicBezTo>
                <a:cubicBezTo>
                  <a:pt x="91" y="20"/>
                  <a:pt x="94" y="22"/>
                  <a:pt x="95" y="28"/>
                </a:cubicBezTo>
                <a:cubicBezTo>
                  <a:pt x="97" y="36"/>
                  <a:pt x="99" y="43"/>
                  <a:pt x="100" y="49"/>
                </a:cubicBezTo>
                <a:cubicBezTo>
                  <a:pt x="102" y="83"/>
                  <a:pt x="93" y="101"/>
                  <a:pt x="85" y="132"/>
                </a:cubicBezTo>
                <a:cubicBezTo>
                  <a:pt x="81" y="152"/>
                  <a:pt x="79" y="172"/>
                  <a:pt x="78" y="193"/>
                </a:cubicBezTo>
                <a:cubicBezTo>
                  <a:pt x="77" y="209"/>
                  <a:pt x="76" y="224"/>
                  <a:pt x="85" y="237"/>
                </a:cubicBezTo>
                <a:cubicBezTo>
                  <a:pt x="89" y="243"/>
                  <a:pt x="99" y="253"/>
                  <a:pt x="104" y="258"/>
                </a:cubicBezTo>
                <a:cubicBezTo>
                  <a:pt x="106" y="260"/>
                  <a:pt x="101" y="272"/>
                  <a:pt x="98" y="269"/>
                </a:cubicBezTo>
                <a:cubicBezTo>
                  <a:pt x="93" y="265"/>
                  <a:pt x="84" y="255"/>
                  <a:pt x="79" y="249"/>
                </a:cubicBezTo>
                <a:cubicBezTo>
                  <a:pt x="76" y="245"/>
                  <a:pt x="73" y="241"/>
                  <a:pt x="71" y="237"/>
                </a:cubicBezTo>
                <a:cubicBezTo>
                  <a:pt x="58" y="263"/>
                  <a:pt x="37" y="291"/>
                  <a:pt x="19" y="315"/>
                </a:cubicBezTo>
                <a:cubicBezTo>
                  <a:pt x="16" y="317"/>
                  <a:pt x="17" y="319"/>
                  <a:pt x="24" y="323"/>
                </a:cubicBezTo>
                <a:cubicBezTo>
                  <a:pt x="48" y="339"/>
                  <a:pt x="113" y="360"/>
                  <a:pt x="142" y="362"/>
                </a:cubicBezTo>
                <a:cubicBezTo>
                  <a:pt x="145" y="363"/>
                  <a:pt x="145" y="363"/>
                  <a:pt x="147" y="360"/>
                </a:cubicBezTo>
                <a:cubicBezTo>
                  <a:pt x="149" y="357"/>
                  <a:pt x="151" y="353"/>
                  <a:pt x="153" y="351"/>
                </a:cubicBezTo>
                <a:cubicBezTo>
                  <a:pt x="162" y="338"/>
                  <a:pt x="167" y="330"/>
                  <a:pt x="175" y="323"/>
                </a:cubicBezTo>
                <a:cubicBezTo>
                  <a:pt x="166" y="320"/>
                  <a:pt x="155" y="313"/>
                  <a:pt x="148" y="307"/>
                </a:cubicBezTo>
                <a:cubicBezTo>
                  <a:pt x="144" y="304"/>
                  <a:pt x="156" y="297"/>
                  <a:pt x="157" y="300"/>
                </a:cubicBezTo>
                <a:cubicBezTo>
                  <a:pt x="170" y="308"/>
                  <a:pt x="181" y="316"/>
                  <a:pt x="196" y="311"/>
                </a:cubicBezTo>
                <a:cubicBezTo>
                  <a:pt x="209" y="307"/>
                  <a:pt x="232" y="289"/>
                  <a:pt x="242" y="281"/>
                </a:cubicBezTo>
                <a:cubicBezTo>
                  <a:pt x="250" y="274"/>
                  <a:pt x="258" y="266"/>
                  <a:pt x="265" y="258"/>
                </a:cubicBezTo>
                <a:cubicBezTo>
                  <a:pt x="254" y="264"/>
                  <a:pt x="243" y="268"/>
                  <a:pt x="233" y="273"/>
                </a:cubicBezTo>
                <a:cubicBezTo>
                  <a:pt x="227" y="275"/>
                  <a:pt x="220" y="273"/>
                  <a:pt x="215" y="269"/>
                </a:cubicBezTo>
                <a:close/>
                <a:moveTo>
                  <a:pt x="198" y="240"/>
                </a:moveTo>
                <a:cubicBezTo>
                  <a:pt x="188" y="239"/>
                  <a:pt x="183" y="233"/>
                  <a:pt x="181" y="230"/>
                </a:cubicBezTo>
                <a:cubicBezTo>
                  <a:pt x="176" y="225"/>
                  <a:pt x="173" y="217"/>
                  <a:pt x="175" y="209"/>
                </a:cubicBezTo>
                <a:cubicBezTo>
                  <a:pt x="165" y="207"/>
                  <a:pt x="158" y="199"/>
                  <a:pt x="154" y="189"/>
                </a:cubicBezTo>
                <a:cubicBezTo>
                  <a:pt x="152" y="195"/>
                  <a:pt x="148" y="202"/>
                  <a:pt x="143" y="206"/>
                </a:cubicBezTo>
                <a:cubicBezTo>
                  <a:pt x="139" y="209"/>
                  <a:pt x="135" y="210"/>
                  <a:pt x="125" y="211"/>
                </a:cubicBezTo>
                <a:cubicBezTo>
                  <a:pt x="121" y="211"/>
                  <a:pt x="116" y="212"/>
                  <a:pt x="112" y="213"/>
                </a:cubicBezTo>
                <a:cubicBezTo>
                  <a:pt x="106" y="213"/>
                  <a:pt x="103" y="217"/>
                  <a:pt x="108" y="221"/>
                </a:cubicBezTo>
                <a:cubicBezTo>
                  <a:pt x="111" y="224"/>
                  <a:pt x="115" y="228"/>
                  <a:pt x="118" y="231"/>
                </a:cubicBezTo>
                <a:cubicBezTo>
                  <a:pt x="125" y="237"/>
                  <a:pt x="128" y="240"/>
                  <a:pt x="130" y="245"/>
                </a:cubicBezTo>
                <a:cubicBezTo>
                  <a:pt x="132" y="250"/>
                  <a:pt x="131" y="254"/>
                  <a:pt x="129" y="263"/>
                </a:cubicBezTo>
                <a:cubicBezTo>
                  <a:pt x="128" y="268"/>
                  <a:pt x="128" y="272"/>
                  <a:pt x="127" y="277"/>
                </a:cubicBezTo>
                <a:cubicBezTo>
                  <a:pt x="125" y="284"/>
                  <a:pt x="128" y="285"/>
                  <a:pt x="135" y="282"/>
                </a:cubicBezTo>
                <a:cubicBezTo>
                  <a:pt x="139" y="280"/>
                  <a:pt x="144" y="278"/>
                  <a:pt x="148" y="275"/>
                </a:cubicBezTo>
                <a:cubicBezTo>
                  <a:pt x="156" y="271"/>
                  <a:pt x="160" y="269"/>
                  <a:pt x="165" y="269"/>
                </a:cubicBezTo>
                <a:cubicBezTo>
                  <a:pt x="170" y="269"/>
                  <a:pt x="175" y="271"/>
                  <a:pt x="183" y="275"/>
                </a:cubicBezTo>
                <a:cubicBezTo>
                  <a:pt x="187" y="278"/>
                  <a:pt x="191" y="280"/>
                  <a:pt x="195" y="282"/>
                </a:cubicBezTo>
                <a:cubicBezTo>
                  <a:pt x="204" y="286"/>
                  <a:pt x="205" y="282"/>
                  <a:pt x="204" y="276"/>
                </a:cubicBezTo>
                <a:cubicBezTo>
                  <a:pt x="199" y="246"/>
                  <a:pt x="199" y="246"/>
                  <a:pt x="199" y="246"/>
                </a:cubicBezTo>
                <a:cubicBezTo>
                  <a:pt x="198" y="244"/>
                  <a:pt x="198" y="242"/>
                  <a:pt x="198" y="240"/>
                </a:cubicBezTo>
                <a:close/>
                <a:moveTo>
                  <a:pt x="166" y="172"/>
                </a:moveTo>
                <a:cubicBezTo>
                  <a:pt x="163" y="178"/>
                  <a:pt x="166" y="189"/>
                  <a:pt x="170" y="193"/>
                </a:cubicBezTo>
                <a:cubicBezTo>
                  <a:pt x="173" y="196"/>
                  <a:pt x="177" y="198"/>
                  <a:pt x="183" y="198"/>
                </a:cubicBezTo>
                <a:cubicBezTo>
                  <a:pt x="207" y="188"/>
                  <a:pt x="243" y="164"/>
                  <a:pt x="261" y="145"/>
                </a:cubicBezTo>
                <a:cubicBezTo>
                  <a:pt x="263" y="144"/>
                  <a:pt x="264" y="143"/>
                  <a:pt x="264" y="141"/>
                </a:cubicBezTo>
                <a:cubicBezTo>
                  <a:pt x="266" y="131"/>
                  <a:pt x="259" y="121"/>
                  <a:pt x="250" y="118"/>
                </a:cubicBezTo>
                <a:cubicBezTo>
                  <a:pt x="227" y="140"/>
                  <a:pt x="196" y="160"/>
                  <a:pt x="166" y="172"/>
                </a:cubicBezTo>
                <a:close/>
              </a:path>
            </a:pathLst>
          </a:custGeom>
          <a:gradFill flip="none" rotWithShape="1">
            <a:gsLst>
              <a:gs pos="15000">
                <a:schemeClr val="accent1"/>
              </a:gs>
              <a:gs pos="100000">
                <a:schemeClr val="accent2"/>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dirty="0">
              <a:solidFill>
                <a:schemeClr val="bg1"/>
              </a:solidFill>
            </a:endParaRPr>
          </a:p>
        </p:txBody>
      </p:sp>
      <p:sp>
        <p:nvSpPr>
          <p:cNvPr id="69" name="Arc 68">
            <a:extLst>
              <a:ext uri="{FF2B5EF4-FFF2-40B4-BE49-F238E27FC236}">
                <a16:creationId xmlns:a16="http://schemas.microsoft.com/office/drawing/2014/main" id="{3FA35D2B-8152-4760-9BF9-CCB323D885B7}"/>
              </a:ext>
            </a:extLst>
          </p:cNvPr>
          <p:cNvSpPr/>
          <p:nvPr userDrawn="1"/>
        </p:nvSpPr>
        <p:spPr>
          <a:xfrm>
            <a:off x="6892553" y="1613572"/>
            <a:ext cx="4565109" cy="4565105"/>
          </a:xfrm>
          <a:prstGeom prst="arc">
            <a:avLst>
              <a:gd name="adj1" fmla="val 15138212"/>
              <a:gd name="adj2" fmla="val 17627515"/>
            </a:avLst>
          </a:prstGeom>
          <a:noFill/>
          <a:ln w="9525" cap="rnd">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sz="1400" dirty="0">
              <a:solidFill>
                <a:schemeClr val="tx1"/>
              </a:solidFill>
            </a:endParaRPr>
          </a:p>
        </p:txBody>
      </p:sp>
      <p:sp>
        <p:nvSpPr>
          <p:cNvPr id="70" name="Arc 69">
            <a:extLst>
              <a:ext uri="{FF2B5EF4-FFF2-40B4-BE49-F238E27FC236}">
                <a16:creationId xmlns:a16="http://schemas.microsoft.com/office/drawing/2014/main" id="{8867B853-44CE-4EB5-AF32-88580997EF53}"/>
              </a:ext>
            </a:extLst>
          </p:cNvPr>
          <p:cNvSpPr/>
          <p:nvPr userDrawn="1"/>
        </p:nvSpPr>
        <p:spPr>
          <a:xfrm>
            <a:off x="6892553" y="1613572"/>
            <a:ext cx="4565109" cy="4565105"/>
          </a:xfrm>
          <a:prstGeom prst="arc">
            <a:avLst>
              <a:gd name="adj1" fmla="val 4064792"/>
              <a:gd name="adj2" fmla="val 8953698"/>
            </a:avLst>
          </a:prstGeom>
          <a:noFill/>
          <a:ln w="9525" cap="rnd">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n-US" sz="1400" dirty="0">
              <a:solidFill>
                <a:schemeClr val="tx1"/>
              </a:solidFill>
            </a:endParaRPr>
          </a:p>
        </p:txBody>
      </p:sp>
    </p:spTree>
    <p:extLst>
      <p:ext uri="{BB962C8B-B14F-4D97-AF65-F5344CB8AC3E}">
        <p14:creationId xmlns:p14="http://schemas.microsoft.com/office/powerpoint/2010/main" val="332933369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vmlDrawing" Target="../drawings/vmlDrawing1.vml"/><Relationship Id="rId3" Type="http://schemas.openxmlformats.org/officeDocument/2006/relationships/slideLayout" Target="../slideLayouts/slideLayout3.xml"/><Relationship Id="rId21"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9"/>
            </p:custDataLst>
            <p:extLst>
              <p:ext uri="{D42A27DB-BD31-4B8C-83A1-F6EECF244321}">
                <p14:modId xmlns:p14="http://schemas.microsoft.com/office/powerpoint/2010/main" val="8310616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449" name="think-cell Slide" r:id="rId21" imgW="594" imgH="595" progId="TCLayout.ActiveDocument.1">
                  <p:embed/>
                </p:oleObj>
              </mc:Choice>
              <mc:Fallback>
                <p:oleObj name="think-cell Slide" r:id="rId21" imgW="594" imgH="595" progId="TCLayout.ActiveDocument.1">
                  <p:embed/>
                  <p:pic>
                    <p:nvPicPr>
                      <p:cNvPr id="2" name="Object 1" hidden="1"/>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4096" name="Rectangle 4095" hidden="1"/>
          <p:cNvSpPr/>
          <p:nvPr userDrawn="1">
            <p:custDataLst>
              <p:tags r:id="rId2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endParaRPr lang="en-US" sz="1800" b="0" i="0" baseline="0" dirty="0">
              <a:latin typeface="Arial" panose="020B0604020202020204" pitchFamily="34" charset="0"/>
              <a:ea typeface="+mj-ea"/>
              <a:cs typeface="+mj-cs"/>
              <a:sym typeface="Arial" panose="020B0604020202020204" pitchFamily="34" charset="0"/>
            </a:endParaRPr>
          </a:p>
        </p:txBody>
      </p:sp>
      <p:sp>
        <p:nvSpPr>
          <p:cNvPr id="5" name="Заголовок 4">
            <a:extLst>
              <a:ext uri="{FF2B5EF4-FFF2-40B4-BE49-F238E27FC236}">
                <a16:creationId xmlns:a16="http://schemas.microsoft.com/office/drawing/2014/main" id="{36E636A3-9ECF-48A3-BE22-44F7F64B0EBD}"/>
              </a:ext>
            </a:extLst>
          </p:cNvPr>
          <p:cNvSpPr>
            <a:spLocks noGrp="1"/>
          </p:cNvSpPr>
          <p:nvPr userDrawn="1">
            <p:ph type="title"/>
          </p:nvPr>
        </p:nvSpPr>
        <p:spPr>
          <a:xfrm>
            <a:off x="317499" y="1"/>
            <a:ext cx="10584209" cy="706566"/>
          </a:xfrm>
          <a:prstGeom prst="rect">
            <a:avLst/>
          </a:prstGeom>
        </p:spPr>
        <p:txBody>
          <a:bodyPr vert="horz" lIns="0" tIns="0" rIns="0" bIns="0" rtlCol="0" anchor="ctr">
            <a:noAutofit/>
          </a:bodyPr>
          <a:lstStyle/>
          <a:p>
            <a:r>
              <a:rPr lang="en-US" dirty="0"/>
              <a:t>Click to add title</a:t>
            </a:r>
            <a:endParaRPr lang="ru-RU" dirty="0"/>
          </a:p>
        </p:txBody>
      </p:sp>
      <p:pic>
        <p:nvPicPr>
          <p:cNvPr id="8" name="Picture 7"/>
          <p:cNvPicPr>
            <a:picLocks noChangeAspect="1"/>
          </p:cNvPicPr>
          <p:nvPr userDrawn="1"/>
        </p:nvPicPr>
        <p:blipFill>
          <a:blip r:embed="rId23" cstate="email">
            <a:extLst>
              <a:ext uri="{28A0092B-C50C-407E-A947-70E740481C1C}">
                <a14:useLocalDpi xmlns:a14="http://schemas.microsoft.com/office/drawing/2010/main"/>
              </a:ext>
            </a:extLst>
          </a:blip>
          <a:stretch>
            <a:fillRect/>
          </a:stretch>
        </p:blipFill>
        <p:spPr>
          <a:xfrm>
            <a:off x="11120438" y="84287"/>
            <a:ext cx="757237" cy="537994"/>
          </a:xfrm>
          <a:prstGeom prst="rect">
            <a:avLst/>
          </a:prstGeom>
        </p:spPr>
      </p:pic>
      <p:sp>
        <p:nvSpPr>
          <p:cNvPr id="6" name="TextBox 5"/>
          <p:cNvSpPr txBox="1"/>
          <p:nvPr userDrawn="1"/>
        </p:nvSpPr>
        <p:spPr>
          <a:xfrm>
            <a:off x="11420943" y="6542300"/>
            <a:ext cx="456732" cy="226800"/>
          </a:xfrm>
          <a:prstGeom prst="rect">
            <a:avLst/>
          </a:prstGeom>
        </p:spPr>
        <p:txBody>
          <a:bodyPr vert="horz" lIns="0" tIns="0" rIns="0" bIns="0" rtlCol="0" anchor="ctr"/>
          <a:lstStyle>
            <a:defPPr>
              <a:defRPr lang="en-US"/>
            </a:defPPr>
            <a:lvl1pPr algn="r">
              <a:defRPr sz="1000">
                <a:solidFill>
                  <a:schemeClr val="accent3">
                    <a:lumMod val="60000"/>
                    <a:lumOff val="40000"/>
                  </a:schemeClr>
                </a:solidFill>
                <a:latin typeface="+mj-lt"/>
              </a:defRPr>
            </a:lvl1pPr>
          </a:lstStyle>
          <a:p>
            <a:pPr lvl="0"/>
            <a:fld id="{A629F11A-CAD2-4FD2-9793-0DC6E98D19B3}" type="slidenum">
              <a:rPr lang="ru-RU" sz="1200" smtClean="0">
                <a:solidFill>
                  <a:schemeClr val="tx1"/>
                </a:solidFill>
              </a:rPr>
              <a:pPr lvl="0"/>
              <a:t>‹#›</a:t>
            </a:fld>
            <a:endParaRPr lang="ru-RU" sz="1200" dirty="0">
              <a:solidFill>
                <a:schemeClr val="tx1"/>
              </a:solidFill>
            </a:endParaRPr>
          </a:p>
        </p:txBody>
      </p:sp>
      <p:cxnSp>
        <p:nvCxnSpPr>
          <p:cNvPr id="17" name="Прямая соединительная линия 2">
            <a:extLst>
              <a:ext uri="{FF2B5EF4-FFF2-40B4-BE49-F238E27FC236}">
                <a16:creationId xmlns:a16="http://schemas.microsoft.com/office/drawing/2014/main" id="{364E0CD2-B6EC-42D1-82F3-DF270FED9E67}"/>
              </a:ext>
            </a:extLst>
          </p:cNvPr>
          <p:cNvCxnSpPr>
            <a:cxnSpLocks/>
          </p:cNvCxnSpPr>
          <p:nvPr userDrawn="1"/>
        </p:nvCxnSpPr>
        <p:spPr>
          <a:xfrm>
            <a:off x="0" y="706567"/>
            <a:ext cx="12192000" cy="0"/>
          </a:xfrm>
          <a:prstGeom prst="line">
            <a:avLst/>
          </a:prstGeom>
          <a:ln w="9525">
            <a:solidFill>
              <a:schemeClr val="accent5">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7412118"/>
      </p:ext>
    </p:extLst>
  </p:cSld>
  <p:clrMap bg1="lt1" tx1="dk1" bg2="lt2" tx2="dk2" accent1="accent1" accent2="accent2" accent3="accent3" accent4="accent4" accent5="accent5" accent6="accent6" hlink="hlink" folHlink="folHlink"/>
  <p:sldLayoutIdLst>
    <p:sldLayoutId id="2147483779" r:id="rId1"/>
    <p:sldLayoutId id="2147483773" r:id="rId2"/>
    <p:sldLayoutId id="2147483804"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6" r:id="rId15"/>
    <p:sldLayoutId id="2147483805" r:id="rId16"/>
  </p:sldLayoutIdLst>
  <p:hf hdr="0" ftr="0" dt="0"/>
  <p:txStyles>
    <p:titleStyle>
      <a:lvl1pPr algn="l" defTabSz="583170" rtl="0" eaLnBrk="1" latinLnBrk="0" hangingPunct="1">
        <a:lnSpc>
          <a:spcPct val="100000"/>
        </a:lnSpc>
        <a:spcBef>
          <a:spcPct val="0"/>
        </a:spcBef>
        <a:buNone/>
        <a:defRPr lang="ru-RU" sz="1800" b="0" kern="1200" dirty="0">
          <a:solidFill>
            <a:schemeClr val="accent5">
              <a:lumMod val="75000"/>
              <a:lumOff val="25000"/>
            </a:schemeClr>
          </a:solidFill>
          <a:latin typeface="+mj-lt"/>
          <a:ea typeface="+mj-ea"/>
          <a:cs typeface="+mj-cs"/>
        </a:defRPr>
      </a:lvl1pPr>
    </p:titleStyle>
    <p:bodyStyle>
      <a:lvl1pPr marL="145792" indent="-145792" algn="l" defTabSz="583170" rtl="0" eaLnBrk="1" latinLnBrk="0" hangingPunct="1">
        <a:lnSpc>
          <a:spcPct val="90000"/>
        </a:lnSpc>
        <a:spcBef>
          <a:spcPts val="638"/>
        </a:spcBef>
        <a:buFont typeface="Arial" panose="020B0604020202020204" pitchFamily="34" charset="0"/>
        <a:buChar char="•"/>
        <a:defRPr sz="1785" kern="1200">
          <a:solidFill>
            <a:schemeClr val="tx1"/>
          </a:solidFill>
          <a:latin typeface="+mn-lt"/>
          <a:ea typeface="+mn-ea"/>
          <a:cs typeface="+mn-cs"/>
        </a:defRPr>
      </a:lvl1pPr>
      <a:lvl2pPr marL="437378" indent="-145792" algn="l" defTabSz="583170" rtl="0" eaLnBrk="1" latinLnBrk="0" hangingPunct="1">
        <a:lnSpc>
          <a:spcPct val="90000"/>
        </a:lnSpc>
        <a:spcBef>
          <a:spcPts val="319"/>
        </a:spcBef>
        <a:buFont typeface="Arial" panose="020B0604020202020204" pitchFamily="34" charset="0"/>
        <a:buChar char="•"/>
        <a:defRPr sz="1531" kern="1200">
          <a:solidFill>
            <a:schemeClr val="tx1"/>
          </a:solidFill>
          <a:latin typeface="+mn-lt"/>
          <a:ea typeface="+mn-ea"/>
          <a:cs typeface="+mn-cs"/>
        </a:defRPr>
      </a:lvl2pPr>
      <a:lvl3pPr marL="728963" indent="-145792" algn="l" defTabSz="583170" rtl="0" eaLnBrk="1" latinLnBrk="0" hangingPunct="1">
        <a:lnSpc>
          <a:spcPct val="90000"/>
        </a:lnSpc>
        <a:spcBef>
          <a:spcPts val="319"/>
        </a:spcBef>
        <a:buFont typeface="Arial" panose="020B0604020202020204" pitchFamily="34" charset="0"/>
        <a:buChar char="•"/>
        <a:defRPr sz="1275" kern="1200">
          <a:solidFill>
            <a:schemeClr val="tx1"/>
          </a:solidFill>
          <a:latin typeface="+mn-lt"/>
          <a:ea typeface="+mn-ea"/>
          <a:cs typeface="+mn-cs"/>
        </a:defRPr>
      </a:lvl3pPr>
      <a:lvl4pPr marL="102054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4pPr>
      <a:lvl5pPr marL="1312133"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5pPr>
      <a:lvl6pPr marL="160371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6pPr>
      <a:lvl7pPr marL="1895303"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7pPr>
      <a:lvl8pPr marL="218688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8pPr>
      <a:lvl9pPr marL="2478472"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9pPr>
    </p:bodyStyle>
    <p:otherStyle>
      <a:defPPr>
        <a:defRPr lang="ru-RU"/>
      </a:defPPr>
      <a:lvl1pPr marL="0" algn="l" defTabSz="583170" rtl="0" eaLnBrk="1" latinLnBrk="0" hangingPunct="1">
        <a:defRPr sz="1148" kern="1200">
          <a:solidFill>
            <a:schemeClr val="tx1"/>
          </a:solidFill>
          <a:latin typeface="+mn-lt"/>
          <a:ea typeface="+mn-ea"/>
          <a:cs typeface="+mn-cs"/>
        </a:defRPr>
      </a:lvl1pPr>
      <a:lvl2pPr marL="291585" algn="l" defTabSz="583170" rtl="0" eaLnBrk="1" latinLnBrk="0" hangingPunct="1">
        <a:defRPr sz="1148" kern="1200">
          <a:solidFill>
            <a:schemeClr val="tx1"/>
          </a:solidFill>
          <a:latin typeface="+mn-lt"/>
          <a:ea typeface="+mn-ea"/>
          <a:cs typeface="+mn-cs"/>
        </a:defRPr>
      </a:lvl2pPr>
      <a:lvl3pPr marL="583170" algn="l" defTabSz="583170" rtl="0" eaLnBrk="1" latinLnBrk="0" hangingPunct="1">
        <a:defRPr sz="1148" kern="1200">
          <a:solidFill>
            <a:schemeClr val="tx1"/>
          </a:solidFill>
          <a:latin typeface="+mn-lt"/>
          <a:ea typeface="+mn-ea"/>
          <a:cs typeface="+mn-cs"/>
        </a:defRPr>
      </a:lvl3pPr>
      <a:lvl4pPr marL="874755" algn="l" defTabSz="583170" rtl="0" eaLnBrk="1" latinLnBrk="0" hangingPunct="1">
        <a:defRPr sz="1148" kern="1200">
          <a:solidFill>
            <a:schemeClr val="tx1"/>
          </a:solidFill>
          <a:latin typeface="+mn-lt"/>
          <a:ea typeface="+mn-ea"/>
          <a:cs typeface="+mn-cs"/>
        </a:defRPr>
      </a:lvl4pPr>
      <a:lvl5pPr marL="1166340" algn="l" defTabSz="583170" rtl="0" eaLnBrk="1" latinLnBrk="0" hangingPunct="1">
        <a:defRPr sz="1148" kern="1200">
          <a:solidFill>
            <a:schemeClr val="tx1"/>
          </a:solidFill>
          <a:latin typeface="+mn-lt"/>
          <a:ea typeface="+mn-ea"/>
          <a:cs typeface="+mn-cs"/>
        </a:defRPr>
      </a:lvl5pPr>
      <a:lvl6pPr marL="1457924" algn="l" defTabSz="583170" rtl="0" eaLnBrk="1" latinLnBrk="0" hangingPunct="1">
        <a:defRPr sz="1148" kern="1200">
          <a:solidFill>
            <a:schemeClr val="tx1"/>
          </a:solidFill>
          <a:latin typeface="+mn-lt"/>
          <a:ea typeface="+mn-ea"/>
          <a:cs typeface="+mn-cs"/>
        </a:defRPr>
      </a:lvl6pPr>
      <a:lvl7pPr marL="1749510" algn="l" defTabSz="583170" rtl="0" eaLnBrk="1" latinLnBrk="0" hangingPunct="1">
        <a:defRPr sz="1148" kern="1200">
          <a:solidFill>
            <a:schemeClr val="tx1"/>
          </a:solidFill>
          <a:latin typeface="+mn-lt"/>
          <a:ea typeface="+mn-ea"/>
          <a:cs typeface="+mn-cs"/>
        </a:defRPr>
      </a:lvl7pPr>
      <a:lvl8pPr marL="2041095" algn="l" defTabSz="583170" rtl="0" eaLnBrk="1" latinLnBrk="0" hangingPunct="1">
        <a:defRPr sz="1148" kern="1200">
          <a:solidFill>
            <a:schemeClr val="tx1"/>
          </a:solidFill>
          <a:latin typeface="+mn-lt"/>
          <a:ea typeface="+mn-ea"/>
          <a:cs typeface="+mn-cs"/>
        </a:defRPr>
      </a:lvl8pPr>
      <a:lvl9pPr marL="2332680" algn="l" defTabSz="583170"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478">
          <p15:clr>
            <a:srgbClr val="A4A3A4"/>
          </p15:clr>
        </p15:guide>
        <p15:guide id="4" orient="horz" pos="3875">
          <p15:clr>
            <a:srgbClr val="A4A3A4"/>
          </p15:clr>
        </p15:guide>
        <p15:guide id="8" orient="horz" pos="2732">
          <p15:clr>
            <a:srgbClr val="A4A3A4"/>
          </p15:clr>
        </p15:guide>
        <p15:guide id="10" pos="815">
          <p15:clr>
            <a:srgbClr val="A4A3A4"/>
          </p15:clr>
        </p15:guide>
        <p15:guide id="11" pos="1338">
          <p15:clr>
            <a:srgbClr val="A4A3A4"/>
          </p15:clr>
        </p15:guide>
        <p15:guide id="12" pos="723">
          <p15:clr>
            <a:srgbClr val="A4A3A4"/>
          </p15:clr>
        </p15:guide>
        <p15:guide id="13" pos="200">
          <p15:clr>
            <a:srgbClr val="A4A3A4"/>
          </p15:clr>
        </p15:guide>
        <p15:guide id="14" pos="1430">
          <p15:clr>
            <a:srgbClr val="A4A3A4"/>
          </p15:clr>
        </p15:guide>
        <p15:guide id="15" pos="1949">
          <p15:clr>
            <a:srgbClr val="A4A3A4"/>
          </p15:clr>
        </p15:guide>
        <p15:guide id="16" pos="2043">
          <p15:clr>
            <a:srgbClr val="A4A3A4"/>
          </p15:clr>
        </p15:guide>
        <p15:guide id="17" pos="2565">
          <p15:clr>
            <a:srgbClr val="A4A3A4"/>
          </p15:clr>
        </p15:guide>
        <p15:guide id="18" pos="2657">
          <p15:clr>
            <a:srgbClr val="A4A3A4"/>
          </p15:clr>
        </p15:guide>
        <p15:guide id="19" pos="3182">
          <p15:clr>
            <a:srgbClr val="A4A3A4"/>
          </p15:clr>
        </p15:guide>
        <p15:guide id="20" pos="3272">
          <p15:clr>
            <a:srgbClr val="A4A3A4"/>
          </p15:clr>
        </p15:guide>
        <p15:guide id="21" pos="3795">
          <p15:clr>
            <a:srgbClr val="A4A3A4"/>
          </p15:clr>
        </p15:guide>
        <p15:guide id="22" pos="3885">
          <p15:clr>
            <a:srgbClr val="A4A3A4"/>
          </p15:clr>
        </p15:guide>
        <p15:guide id="23" pos="4409">
          <p15:clr>
            <a:srgbClr val="A4A3A4"/>
          </p15:clr>
        </p15:guide>
        <p15:guide id="24" pos="4502">
          <p15:clr>
            <a:srgbClr val="A4A3A4"/>
          </p15:clr>
        </p15:guide>
        <p15:guide id="25" pos="5024">
          <p15:clr>
            <a:srgbClr val="A4A3A4"/>
          </p15:clr>
        </p15:guide>
        <p15:guide id="26" pos="5114">
          <p15:clr>
            <a:srgbClr val="A4A3A4"/>
          </p15:clr>
        </p15:guide>
        <p15:guide id="27" pos="5637">
          <p15:clr>
            <a:srgbClr val="A4A3A4"/>
          </p15:clr>
        </p15:guide>
        <p15:guide id="28" pos="5726">
          <p15:clr>
            <a:srgbClr val="A4A3A4"/>
          </p15:clr>
        </p15:guide>
        <p15:guide id="29" pos="6251">
          <p15:clr>
            <a:srgbClr val="A4A3A4"/>
          </p15:clr>
        </p15:guide>
        <p15:guide id="30" pos="6341">
          <p15:clr>
            <a:srgbClr val="A4A3A4"/>
          </p15:clr>
        </p15:guide>
        <p15:guide id="31" pos="6866">
          <p15:clr>
            <a:srgbClr val="A4A3A4"/>
          </p15:clr>
        </p15:guide>
        <p15:guide id="32" pos="6956">
          <p15:clr>
            <a:srgbClr val="A4A3A4"/>
          </p15:clr>
        </p15:guide>
        <p15:guide id="33" orient="horz" pos="444">
          <p15:clr>
            <a:srgbClr val="A4A3A4"/>
          </p15:clr>
        </p15:guide>
        <p15:guide id="34" orient="horz" pos="1589">
          <p15:clr>
            <a:srgbClr val="A4A3A4"/>
          </p15:clr>
        </p15:guide>
        <p15:guide id="35" orient="horz" pos="2158">
          <p15:clr>
            <a:srgbClr val="A4A3A4"/>
          </p15:clr>
        </p15:guide>
        <p15:guide id="36" orient="horz" pos="3303">
          <p15:clr>
            <a:srgbClr val="A4A3A4"/>
          </p15:clr>
        </p15:guide>
        <p15:guide id="39" orient="horz" pos="1017">
          <p15:clr>
            <a:srgbClr val="A4A3A4"/>
          </p15:clr>
        </p15:guide>
        <p15:guide id="41" orient="horz" pos="936">
          <p15:clr>
            <a:srgbClr val="A4A3A4"/>
          </p15:clr>
        </p15:guide>
        <p15:guide id="44" orient="horz" pos="977">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tags" Target="../tags/tag348.xml"/><Relationship Id="rId2" Type="http://schemas.openxmlformats.org/officeDocument/2006/relationships/tags" Target="../tags/tag347.xml"/><Relationship Id="rId1" Type="http://schemas.openxmlformats.org/officeDocument/2006/relationships/tags" Target="../tags/tag346.xml"/><Relationship Id="rId6" Type="http://schemas.openxmlformats.org/officeDocument/2006/relationships/chart" Target="../charts/chart1.xml"/><Relationship Id="rId5" Type="http://schemas.openxmlformats.org/officeDocument/2006/relationships/notesSlide" Target="../notesSlides/notesSlide3.xml"/><Relationship Id="rId4"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tags" Target="../tags/tag355.xml"/><Relationship Id="rId13" Type="http://schemas.openxmlformats.org/officeDocument/2006/relationships/tags" Target="../tags/tag360.xml"/><Relationship Id="rId18" Type="http://schemas.openxmlformats.org/officeDocument/2006/relationships/tags" Target="../tags/tag365.xml"/><Relationship Id="rId26" Type="http://schemas.openxmlformats.org/officeDocument/2006/relationships/tags" Target="../tags/tag373.xml"/><Relationship Id="rId39" Type="http://schemas.openxmlformats.org/officeDocument/2006/relationships/notesSlide" Target="../notesSlides/notesSlide4.xml"/><Relationship Id="rId3" Type="http://schemas.openxmlformats.org/officeDocument/2006/relationships/tags" Target="../tags/tag350.xml"/><Relationship Id="rId21" Type="http://schemas.openxmlformats.org/officeDocument/2006/relationships/tags" Target="../tags/tag368.xml"/><Relationship Id="rId34" Type="http://schemas.openxmlformats.org/officeDocument/2006/relationships/tags" Target="../tags/tag381.xml"/><Relationship Id="rId42" Type="http://schemas.openxmlformats.org/officeDocument/2006/relationships/image" Target="../media/image10.emf"/><Relationship Id="rId7" Type="http://schemas.openxmlformats.org/officeDocument/2006/relationships/tags" Target="../tags/tag354.xml"/><Relationship Id="rId12" Type="http://schemas.openxmlformats.org/officeDocument/2006/relationships/tags" Target="../tags/tag359.xml"/><Relationship Id="rId17" Type="http://schemas.openxmlformats.org/officeDocument/2006/relationships/tags" Target="../tags/tag364.xml"/><Relationship Id="rId25" Type="http://schemas.openxmlformats.org/officeDocument/2006/relationships/tags" Target="../tags/tag372.xml"/><Relationship Id="rId33" Type="http://schemas.openxmlformats.org/officeDocument/2006/relationships/tags" Target="../tags/tag380.xml"/><Relationship Id="rId38" Type="http://schemas.openxmlformats.org/officeDocument/2006/relationships/slideLayout" Target="../slideLayouts/slideLayout4.xml"/><Relationship Id="rId2" Type="http://schemas.openxmlformats.org/officeDocument/2006/relationships/tags" Target="../tags/tag349.xml"/><Relationship Id="rId16" Type="http://schemas.openxmlformats.org/officeDocument/2006/relationships/tags" Target="../tags/tag363.xml"/><Relationship Id="rId20" Type="http://schemas.openxmlformats.org/officeDocument/2006/relationships/tags" Target="../tags/tag367.xml"/><Relationship Id="rId29" Type="http://schemas.openxmlformats.org/officeDocument/2006/relationships/tags" Target="../tags/tag376.xml"/><Relationship Id="rId41" Type="http://schemas.openxmlformats.org/officeDocument/2006/relationships/oleObject" Target="../embeddings/oleObject10.bin"/><Relationship Id="rId1" Type="http://schemas.openxmlformats.org/officeDocument/2006/relationships/vmlDrawing" Target="../drawings/vmlDrawing18.vml"/><Relationship Id="rId6" Type="http://schemas.openxmlformats.org/officeDocument/2006/relationships/tags" Target="../tags/tag353.xml"/><Relationship Id="rId11" Type="http://schemas.openxmlformats.org/officeDocument/2006/relationships/tags" Target="../tags/tag358.xml"/><Relationship Id="rId24" Type="http://schemas.openxmlformats.org/officeDocument/2006/relationships/tags" Target="../tags/tag371.xml"/><Relationship Id="rId32" Type="http://schemas.openxmlformats.org/officeDocument/2006/relationships/tags" Target="../tags/tag379.xml"/><Relationship Id="rId37" Type="http://schemas.openxmlformats.org/officeDocument/2006/relationships/tags" Target="../tags/tag384.xml"/><Relationship Id="rId40" Type="http://schemas.openxmlformats.org/officeDocument/2006/relationships/chart" Target="../charts/chart2.xml"/><Relationship Id="rId45" Type="http://schemas.openxmlformats.org/officeDocument/2006/relationships/chart" Target="../charts/chart5.xml"/><Relationship Id="rId5" Type="http://schemas.openxmlformats.org/officeDocument/2006/relationships/tags" Target="../tags/tag352.xml"/><Relationship Id="rId15" Type="http://schemas.openxmlformats.org/officeDocument/2006/relationships/tags" Target="../tags/tag362.xml"/><Relationship Id="rId23" Type="http://schemas.openxmlformats.org/officeDocument/2006/relationships/tags" Target="../tags/tag370.xml"/><Relationship Id="rId28" Type="http://schemas.openxmlformats.org/officeDocument/2006/relationships/tags" Target="../tags/tag375.xml"/><Relationship Id="rId36" Type="http://schemas.openxmlformats.org/officeDocument/2006/relationships/tags" Target="../tags/tag383.xml"/><Relationship Id="rId10" Type="http://schemas.openxmlformats.org/officeDocument/2006/relationships/tags" Target="../tags/tag357.xml"/><Relationship Id="rId19" Type="http://schemas.openxmlformats.org/officeDocument/2006/relationships/tags" Target="../tags/tag366.xml"/><Relationship Id="rId31" Type="http://schemas.openxmlformats.org/officeDocument/2006/relationships/tags" Target="../tags/tag378.xml"/><Relationship Id="rId44" Type="http://schemas.openxmlformats.org/officeDocument/2006/relationships/chart" Target="../charts/chart4.xml"/><Relationship Id="rId4" Type="http://schemas.openxmlformats.org/officeDocument/2006/relationships/tags" Target="../tags/tag351.xml"/><Relationship Id="rId9" Type="http://schemas.openxmlformats.org/officeDocument/2006/relationships/tags" Target="../tags/tag356.xml"/><Relationship Id="rId14" Type="http://schemas.openxmlformats.org/officeDocument/2006/relationships/tags" Target="../tags/tag361.xml"/><Relationship Id="rId22" Type="http://schemas.openxmlformats.org/officeDocument/2006/relationships/tags" Target="../tags/tag369.xml"/><Relationship Id="rId27" Type="http://schemas.openxmlformats.org/officeDocument/2006/relationships/tags" Target="../tags/tag374.xml"/><Relationship Id="rId30" Type="http://schemas.openxmlformats.org/officeDocument/2006/relationships/tags" Target="../tags/tag377.xml"/><Relationship Id="rId35" Type="http://schemas.openxmlformats.org/officeDocument/2006/relationships/tags" Target="../tags/tag382.xml"/><Relationship Id="rId43" Type="http://schemas.openxmlformats.org/officeDocument/2006/relationships/chart" Target="../charts/chart3.xml"/></Relationships>
</file>

<file path=ppt/slides/_rels/slide7.xml.rels><?xml version="1.0" encoding="UTF-8" standalone="yes"?>
<Relationships xmlns="http://schemas.openxmlformats.org/package/2006/relationships"><Relationship Id="rId8" Type="http://schemas.openxmlformats.org/officeDocument/2006/relationships/tags" Target="../tags/tag391.xml"/><Relationship Id="rId13" Type="http://schemas.openxmlformats.org/officeDocument/2006/relationships/chart" Target="../charts/chart6.xml"/><Relationship Id="rId3" Type="http://schemas.openxmlformats.org/officeDocument/2006/relationships/tags" Target="../tags/tag386.xml"/><Relationship Id="rId7" Type="http://schemas.openxmlformats.org/officeDocument/2006/relationships/tags" Target="../tags/tag390.xml"/><Relationship Id="rId12" Type="http://schemas.openxmlformats.org/officeDocument/2006/relationships/image" Target="../media/image10.emf"/><Relationship Id="rId2" Type="http://schemas.openxmlformats.org/officeDocument/2006/relationships/tags" Target="../tags/tag385.xml"/><Relationship Id="rId1" Type="http://schemas.openxmlformats.org/officeDocument/2006/relationships/vmlDrawing" Target="../drawings/vmlDrawing19.vml"/><Relationship Id="rId6" Type="http://schemas.openxmlformats.org/officeDocument/2006/relationships/tags" Target="../tags/tag389.xml"/><Relationship Id="rId11" Type="http://schemas.openxmlformats.org/officeDocument/2006/relationships/oleObject" Target="../embeddings/oleObject11.bin"/><Relationship Id="rId5" Type="http://schemas.openxmlformats.org/officeDocument/2006/relationships/tags" Target="../tags/tag388.xml"/><Relationship Id="rId15" Type="http://schemas.openxmlformats.org/officeDocument/2006/relationships/chart" Target="../charts/chart8.xml"/><Relationship Id="rId10" Type="http://schemas.openxmlformats.org/officeDocument/2006/relationships/notesSlide" Target="../notesSlides/notesSlide5.xml"/><Relationship Id="rId4" Type="http://schemas.openxmlformats.org/officeDocument/2006/relationships/tags" Target="../tags/tag387.xml"/><Relationship Id="rId9" Type="http://schemas.openxmlformats.org/officeDocument/2006/relationships/slideLayout" Target="../slideLayouts/slideLayout4.xml"/><Relationship Id="rId14" Type="http://schemas.openxmlformats.org/officeDocument/2006/relationships/chart" Target="../charts/chart7.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tags" Target="../tags/tag393.xml"/><Relationship Id="rId7" Type="http://schemas.openxmlformats.org/officeDocument/2006/relationships/notesSlide" Target="../notesSlides/notesSlide6.xml"/><Relationship Id="rId2" Type="http://schemas.openxmlformats.org/officeDocument/2006/relationships/tags" Target="../tags/tag392.xml"/><Relationship Id="rId1" Type="http://schemas.openxmlformats.org/officeDocument/2006/relationships/vmlDrawing" Target="../drawings/vmlDrawing20.vml"/><Relationship Id="rId6" Type="http://schemas.openxmlformats.org/officeDocument/2006/relationships/slideLayout" Target="../slideLayouts/slideLayout4.xml"/><Relationship Id="rId11" Type="http://schemas.openxmlformats.org/officeDocument/2006/relationships/chart" Target="../charts/chart10.xml"/><Relationship Id="rId5" Type="http://schemas.openxmlformats.org/officeDocument/2006/relationships/tags" Target="../tags/tag395.xml"/><Relationship Id="rId10" Type="http://schemas.openxmlformats.org/officeDocument/2006/relationships/chart" Target="../charts/chart9.xml"/><Relationship Id="rId4" Type="http://schemas.openxmlformats.org/officeDocument/2006/relationships/tags" Target="../tags/tag394.xml"/><Relationship Id="rId9" Type="http://schemas.openxmlformats.org/officeDocument/2006/relationships/image" Target="../media/image10.emf"/></Relationships>
</file>

<file path=ppt/slides/_rels/slide9.xml.rels><?xml version="1.0" encoding="UTF-8" standalone="yes"?>
<Relationships xmlns="http://schemas.openxmlformats.org/package/2006/relationships"><Relationship Id="rId8" Type="http://schemas.openxmlformats.org/officeDocument/2006/relationships/tags" Target="../tags/tag402.xml"/><Relationship Id="rId13" Type="http://schemas.openxmlformats.org/officeDocument/2006/relationships/tags" Target="../tags/tag407.xml"/><Relationship Id="rId18" Type="http://schemas.openxmlformats.org/officeDocument/2006/relationships/tags" Target="../tags/tag412.xml"/><Relationship Id="rId26" Type="http://schemas.openxmlformats.org/officeDocument/2006/relationships/chart" Target="../charts/chart11.xml"/><Relationship Id="rId3" Type="http://schemas.openxmlformats.org/officeDocument/2006/relationships/tags" Target="../tags/tag397.xml"/><Relationship Id="rId21" Type="http://schemas.openxmlformats.org/officeDocument/2006/relationships/tags" Target="../tags/tag415.xml"/><Relationship Id="rId7" Type="http://schemas.openxmlformats.org/officeDocument/2006/relationships/tags" Target="../tags/tag401.xml"/><Relationship Id="rId12" Type="http://schemas.openxmlformats.org/officeDocument/2006/relationships/tags" Target="../tags/tag406.xml"/><Relationship Id="rId17" Type="http://schemas.openxmlformats.org/officeDocument/2006/relationships/tags" Target="../tags/tag411.xml"/><Relationship Id="rId25" Type="http://schemas.openxmlformats.org/officeDocument/2006/relationships/image" Target="../media/image10.emf"/><Relationship Id="rId2" Type="http://schemas.openxmlformats.org/officeDocument/2006/relationships/tags" Target="../tags/tag396.xml"/><Relationship Id="rId16" Type="http://schemas.openxmlformats.org/officeDocument/2006/relationships/tags" Target="../tags/tag410.xml"/><Relationship Id="rId20" Type="http://schemas.openxmlformats.org/officeDocument/2006/relationships/tags" Target="../tags/tag414.xml"/><Relationship Id="rId29" Type="http://schemas.openxmlformats.org/officeDocument/2006/relationships/chart" Target="../charts/chart14.xml"/><Relationship Id="rId1" Type="http://schemas.openxmlformats.org/officeDocument/2006/relationships/vmlDrawing" Target="../drawings/vmlDrawing21.vml"/><Relationship Id="rId6" Type="http://schemas.openxmlformats.org/officeDocument/2006/relationships/tags" Target="../tags/tag400.xml"/><Relationship Id="rId11" Type="http://schemas.openxmlformats.org/officeDocument/2006/relationships/tags" Target="../tags/tag405.xml"/><Relationship Id="rId24" Type="http://schemas.openxmlformats.org/officeDocument/2006/relationships/oleObject" Target="../embeddings/oleObject13.bin"/><Relationship Id="rId5" Type="http://schemas.openxmlformats.org/officeDocument/2006/relationships/tags" Target="../tags/tag399.xml"/><Relationship Id="rId15" Type="http://schemas.openxmlformats.org/officeDocument/2006/relationships/tags" Target="../tags/tag409.xml"/><Relationship Id="rId23" Type="http://schemas.openxmlformats.org/officeDocument/2006/relationships/notesSlide" Target="../notesSlides/notesSlide7.xml"/><Relationship Id="rId28" Type="http://schemas.openxmlformats.org/officeDocument/2006/relationships/chart" Target="../charts/chart13.xml"/><Relationship Id="rId10" Type="http://schemas.openxmlformats.org/officeDocument/2006/relationships/tags" Target="../tags/tag404.xml"/><Relationship Id="rId19" Type="http://schemas.openxmlformats.org/officeDocument/2006/relationships/tags" Target="../tags/tag413.xml"/><Relationship Id="rId31" Type="http://schemas.openxmlformats.org/officeDocument/2006/relationships/chart" Target="../charts/chart16.xml"/><Relationship Id="rId4" Type="http://schemas.openxmlformats.org/officeDocument/2006/relationships/tags" Target="../tags/tag398.xml"/><Relationship Id="rId9" Type="http://schemas.openxmlformats.org/officeDocument/2006/relationships/tags" Target="../tags/tag403.xml"/><Relationship Id="rId14" Type="http://schemas.openxmlformats.org/officeDocument/2006/relationships/tags" Target="../tags/tag408.xml"/><Relationship Id="rId22" Type="http://schemas.openxmlformats.org/officeDocument/2006/relationships/slideLayout" Target="../slideLayouts/slideLayout4.xml"/><Relationship Id="rId27" Type="http://schemas.openxmlformats.org/officeDocument/2006/relationships/chart" Target="../charts/chart12.xml"/><Relationship Id="rId30" Type="http://schemas.openxmlformats.org/officeDocument/2006/relationships/chart" Target="../charts/chart1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16.xml"/><Relationship Id="rId1" Type="http://schemas.openxmlformats.org/officeDocument/2006/relationships/vmlDrawing" Target="../drawings/vmlDrawing22.vml"/><Relationship Id="rId6" Type="http://schemas.openxmlformats.org/officeDocument/2006/relationships/image" Target="../media/image10.emf"/><Relationship Id="rId5" Type="http://schemas.openxmlformats.org/officeDocument/2006/relationships/oleObject" Target="../embeddings/oleObject14.bin"/><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tags" Target="../tags/tag418.xml"/><Relationship Id="rId7" Type="http://schemas.openxmlformats.org/officeDocument/2006/relationships/oleObject" Target="../embeddings/oleObject15.bin"/><Relationship Id="rId2" Type="http://schemas.openxmlformats.org/officeDocument/2006/relationships/tags" Target="../tags/tag417.xml"/><Relationship Id="rId1" Type="http://schemas.openxmlformats.org/officeDocument/2006/relationships/vmlDrawing" Target="../drawings/vmlDrawing23.vml"/><Relationship Id="rId6" Type="http://schemas.openxmlformats.org/officeDocument/2006/relationships/notesSlide" Target="../notesSlides/notesSlide9.xml"/><Relationship Id="rId5" Type="http://schemas.openxmlformats.org/officeDocument/2006/relationships/slideLayout" Target="../slideLayouts/slideLayout4.xml"/><Relationship Id="rId4" Type="http://schemas.openxmlformats.org/officeDocument/2006/relationships/tags" Target="../tags/tag419.xml"/><Relationship Id="rId9" Type="http://schemas.openxmlformats.org/officeDocument/2006/relationships/chart" Target="../charts/chart17.xml"/></Relationships>
</file>

<file path=ppt/slides/_rels/slide12.xml.rels><?xml version="1.0" encoding="UTF-8" standalone="yes"?>
<Relationships xmlns="http://schemas.openxmlformats.org/package/2006/relationships"><Relationship Id="rId8" Type="http://schemas.openxmlformats.org/officeDocument/2006/relationships/chart" Target="../charts/chart19.xml"/><Relationship Id="rId3" Type="http://schemas.openxmlformats.org/officeDocument/2006/relationships/slideLayout" Target="../slideLayouts/slideLayout4.xml"/><Relationship Id="rId7" Type="http://schemas.openxmlformats.org/officeDocument/2006/relationships/chart" Target="../charts/chart18.xml"/><Relationship Id="rId2" Type="http://schemas.openxmlformats.org/officeDocument/2006/relationships/tags" Target="../tags/tag420.xml"/><Relationship Id="rId1" Type="http://schemas.openxmlformats.org/officeDocument/2006/relationships/vmlDrawing" Target="../drawings/vmlDrawing24.vml"/><Relationship Id="rId6" Type="http://schemas.openxmlformats.org/officeDocument/2006/relationships/image" Target="../media/image10.emf"/><Relationship Id="rId5" Type="http://schemas.openxmlformats.org/officeDocument/2006/relationships/oleObject" Target="../embeddings/oleObject16.bin"/><Relationship Id="rId4"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21.xml"/><Relationship Id="rId1" Type="http://schemas.openxmlformats.org/officeDocument/2006/relationships/vmlDrawing" Target="../drawings/vmlDrawing25.vml"/><Relationship Id="rId6" Type="http://schemas.openxmlformats.org/officeDocument/2006/relationships/image" Target="../media/image10.emf"/><Relationship Id="rId5" Type="http://schemas.openxmlformats.org/officeDocument/2006/relationships/oleObject" Target="../embeddings/oleObject17.bin"/><Relationship Id="rId4"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22.xml"/><Relationship Id="rId1" Type="http://schemas.openxmlformats.org/officeDocument/2006/relationships/vmlDrawing" Target="../drawings/vmlDrawing26.vml"/><Relationship Id="rId6" Type="http://schemas.openxmlformats.org/officeDocument/2006/relationships/image" Target="../media/image10.emf"/><Relationship Id="rId5" Type="http://schemas.openxmlformats.org/officeDocument/2006/relationships/oleObject" Target="../embeddings/oleObject17.bin"/><Relationship Id="rId4"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8" Type="http://schemas.openxmlformats.org/officeDocument/2006/relationships/chart" Target="../charts/chart21.xml"/><Relationship Id="rId3" Type="http://schemas.openxmlformats.org/officeDocument/2006/relationships/slideLayout" Target="../slideLayouts/slideLayout4.xml"/><Relationship Id="rId7" Type="http://schemas.openxmlformats.org/officeDocument/2006/relationships/chart" Target="../charts/chart20.xml"/><Relationship Id="rId2" Type="http://schemas.openxmlformats.org/officeDocument/2006/relationships/tags" Target="../tags/tag423.xml"/><Relationship Id="rId1" Type="http://schemas.openxmlformats.org/officeDocument/2006/relationships/vmlDrawing" Target="../drawings/vmlDrawing27.vml"/><Relationship Id="rId6" Type="http://schemas.openxmlformats.org/officeDocument/2006/relationships/image" Target="../media/image10.emf"/><Relationship Id="rId5" Type="http://schemas.openxmlformats.org/officeDocument/2006/relationships/oleObject" Target="../embeddings/oleObject18.bin"/><Relationship Id="rId4" Type="http://schemas.openxmlformats.org/officeDocument/2006/relationships/notesSlide" Target="../notesSlides/notesSlide14.xml"/><Relationship Id="rId9" Type="http://schemas.openxmlformats.org/officeDocument/2006/relationships/chart" Target="../charts/chart2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24.xml"/><Relationship Id="rId1" Type="http://schemas.openxmlformats.org/officeDocument/2006/relationships/vmlDrawing" Target="../drawings/vmlDrawing28.vml"/><Relationship Id="rId6" Type="http://schemas.openxmlformats.org/officeDocument/2006/relationships/image" Target="../media/image10.emf"/><Relationship Id="rId5" Type="http://schemas.openxmlformats.org/officeDocument/2006/relationships/oleObject" Target="../embeddings/oleObject19.bin"/><Relationship Id="rId4"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chart" Target="../charts/chart23.xml"/><Relationship Id="rId2" Type="http://schemas.openxmlformats.org/officeDocument/2006/relationships/tags" Target="../tags/tag425.xml"/><Relationship Id="rId1" Type="http://schemas.openxmlformats.org/officeDocument/2006/relationships/vmlDrawing" Target="../drawings/vmlDrawing29.vml"/><Relationship Id="rId6" Type="http://schemas.openxmlformats.org/officeDocument/2006/relationships/image" Target="../media/image10.emf"/><Relationship Id="rId5" Type="http://schemas.openxmlformats.org/officeDocument/2006/relationships/oleObject" Target="../embeddings/oleObject19.bin"/><Relationship Id="rId4"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chart" Target="../charts/chart25.xml"/><Relationship Id="rId1" Type="http://schemas.openxmlformats.org/officeDocument/2006/relationships/slideLayout" Target="../slideLayouts/slideLayout4.xml"/><Relationship Id="rId4" Type="http://schemas.openxmlformats.org/officeDocument/2006/relationships/chart" Target="../charts/char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26.xml"/><Relationship Id="rId1" Type="http://schemas.openxmlformats.org/officeDocument/2006/relationships/vmlDrawing" Target="../drawings/vmlDrawing30.vml"/><Relationship Id="rId6" Type="http://schemas.openxmlformats.org/officeDocument/2006/relationships/image" Target="../media/image10.emf"/><Relationship Id="rId5" Type="http://schemas.openxmlformats.org/officeDocument/2006/relationships/oleObject" Target="../embeddings/oleObject17.bin"/><Relationship Id="rId4"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27.xml"/><Relationship Id="rId1" Type="http://schemas.openxmlformats.org/officeDocument/2006/relationships/vmlDrawing" Target="../drawings/vmlDrawing31.vml"/><Relationship Id="rId6" Type="http://schemas.openxmlformats.org/officeDocument/2006/relationships/image" Target="../media/image10.emf"/><Relationship Id="rId5" Type="http://schemas.openxmlformats.org/officeDocument/2006/relationships/oleObject" Target="../embeddings/oleObject20.bin"/><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28.xml"/><Relationship Id="rId1" Type="http://schemas.openxmlformats.org/officeDocument/2006/relationships/vmlDrawing" Target="../drawings/vmlDrawing32.vml"/><Relationship Id="rId6" Type="http://schemas.openxmlformats.org/officeDocument/2006/relationships/image" Target="../media/image10.emf"/><Relationship Id="rId5" Type="http://schemas.openxmlformats.org/officeDocument/2006/relationships/oleObject" Target="../embeddings/oleObject21.bin"/><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8" Type="http://schemas.openxmlformats.org/officeDocument/2006/relationships/chart" Target="../charts/chart28.xml"/><Relationship Id="rId3" Type="http://schemas.openxmlformats.org/officeDocument/2006/relationships/tags" Target="../tags/tag430.xml"/><Relationship Id="rId7" Type="http://schemas.openxmlformats.org/officeDocument/2006/relationships/image" Target="../media/image10.emf"/><Relationship Id="rId2" Type="http://schemas.openxmlformats.org/officeDocument/2006/relationships/tags" Target="../tags/tag429.xml"/><Relationship Id="rId1" Type="http://schemas.openxmlformats.org/officeDocument/2006/relationships/vmlDrawing" Target="../drawings/vmlDrawing33.vml"/><Relationship Id="rId6" Type="http://schemas.openxmlformats.org/officeDocument/2006/relationships/oleObject" Target="../embeddings/oleObject21.bin"/><Relationship Id="rId11" Type="http://schemas.openxmlformats.org/officeDocument/2006/relationships/chart" Target="../charts/chart31.xml"/><Relationship Id="rId5" Type="http://schemas.openxmlformats.org/officeDocument/2006/relationships/notesSlide" Target="../notesSlides/notesSlide20.xml"/><Relationship Id="rId10" Type="http://schemas.openxmlformats.org/officeDocument/2006/relationships/chart" Target="../charts/chart30.xml"/><Relationship Id="rId4" Type="http://schemas.openxmlformats.org/officeDocument/2006/relationships/slideLayout" Target="../slideLayouts/slideLayout4.xml"/><Relationship Id="rId9" Type="http://schemas.openxmlformats.org/officeDocument/2006/relationships/chart" Target="../charts/chart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chart" Target="../charts/chart32.xml"/><Relationship Id="rId2" Type="http://schemas.openxmlformats.org/officeDocument/2006/relationships/tags" Target="../tags/tag431.xml"/><Relationship Id="rId1" Type="http://schemas.openxmlformats.org/officeDocument/2006/relationships/vmlDrawing" Target="../drawings/vmlDrawing34.vml"/><Relationship Id="rId6" Type="http://schemas.openxmlformats.org/officeDocument/2006/relationships/image" Target="../media/image10.emf"/><Relationship Id="rId5" Type="http://schemas.openxmlformats.org/officeDocument/2006/relationships/oleObject" Target="../embeddings/oleObject21.bin"/><Relationship Id="rId4"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32.xml"/><Relationship Id="rId1" Type="http://schemas.openxmlformats.org/officeDocument/2006/relationships/vmlDrawing" Target="../drawings/vmlDrawing35.vml"/><Relationship Id="rId6" Type="http://schemas.openxmlformats.org/officeDocument/2006/relationships/image" Target="../media/image1.emf"/><Relationship Id="rId5" Type="http://schemas.openxmlformats.org/officeDocument/2006/relationships/oleObject" Target="../embeddings/oleObject22.bin"/><Relationship Id="rId4"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8" Type="http://schemas.openxmlformats.org/officeDocument/2006/relationships/tags" Target="../tags/tag439.xml"/><Relationship Id="rId13" Type="http://schemas.openxmlformats.org/officeDocument/2006/relationships/tags" Target="../tags/tag444.xml"/><Relationship Id="rId18" Type="http://schemas.openxmlformats.org/officeDocument/2006/relationships/tags" Target="../tags/tag449.xml"/><Relationship Id="rId26" Type="http://schemas.openxmlformats.org/officeDocument/2006/relationships/tags" Target="../tags/tag457.xml"/><Relationship Id="rId39" Type="http://schemas.openxmlformats.org/officeDocument/2006/relationships/slideLayout" Target="../slideLayouts/slideLayout4.xml"/><Relationship Id="rId3" Type="http://schemas.openxmlformats.org/officeDocument/2006/relationships/tags" Target="../tags/tag434.xml"/><Relationship Id="rId21" Type="http://schemas.openxmlformats.org/officeDocument/2006/relationships/tags" Target="../tags/tag452.xml"/><Relationship Id="rId34" Type="http://schemas.openxmlformats.org/officeDocument/2006/relationships/tags" Target="../tags/tag465.xml"/><Relationship Id="rId42" Type="http://schemas.openxmlformats.org/officeDocument/2006/relationships/chart" Target="../charts/chart33.xml"/><Relationship Id="rId7" Type="http://schemas.openxmlformats.org/officeDocument/2006/relationships/tags" Target="../tags/tag438.xml"/><Relationship Id="rId12" Type="http://schemas.openxmlformats.org/officeDocument/2006/relationships/tags" Target="../tags/tag443.xml"/><Relationship Id="rId17" Type="http://schemas.openxmlformats.org/officeDocument/2006/relationships/tags" Target="../tags/tag448.xml"/><Relationship Id="rId25" Type="http://schemas.openxmlformats.org/officeDocument/2006/relationships/tags" Target="../tags/tag456.xml"/><Relationship Id="rId33" Type="http://schemas.openxmlformats.org/officeDocument/2006/relationships/tags" Target="../tags/tag464.xml"/><Relationship Id="rId38" Type="http://schemas.openxmlformats.org/officeDocument/2006/relationships/tags" Target="../tags/tag469.xml"/><Relationship Id="rId2" Type="http://schemas.openxmlformats.org/officeDocument/2006/relationships/tags" Target="../tags/tag433.xml"/><Relationship Id="rId16" Type="http://schemas.openxmlformats.org/officeDocument/2006/relationships/tags" Target="../tags/tag447.xml"/><Relationship Id="rId20" Type="http://schemas.openxmlformats.org/officeDocument/2006/relationships/tags" Target="../tags/tag451.xml"/><Relationship Id="rId29" Type="http://schemas.openxmlformats.org/officeDocument/2006/relationships/tags" Target="../tags/tag460.xml"/><Relationship Id="rId41" Type="http://schemas.openxmlformats.org/officeDocument/2006/relationships/image" Target="../media/image11.emf"/><Relationship Id="rId1" Type="http://schemas.openxmlformats.org/officeDocument/2006/relationships/vmlDrawing" Target="../drawings/vmlDrawing36.vml"/><Relationship Id="rId6" Type="http://schemas.openxmlformats.org/officeDocument/2006/relationships/tags" Target="../tags/tag437.xml"/><Relationship Id="rId11" Type="http://schemas.openxmlformats.org/officeDocument/2006/relationships/tags" Target="../tags/tag442.xml"/><Relationship Id="rId24" Type="http://schemas.openxmlformats.org/officeDocument/2006/relationships/tags" Target="../tags/tag455.xml"/><Relationship Id="rId32" Type="http://schemas.openxmlformats.org/officeDocument/2006/relationships/tags" Target="../tags/tag463.xml"/><Relationship Id="rId37" Type="http://schemas.openxmlformats.org/officeDocument/2006/relationships/tags" Target="../tags/tag468.xml"/><Relationship Id="rId40" Type="http://schemas.openxmlformats.org/officeDocument/2006/relationships/oleObject" Target="../embeddings/oleObject23.bin"/><Relationship Id="rId45" Type="http://schemas.openxmlformats.org/officeDocument/2006/relationships/chart" Target="../charts/chart36.xml"/><Relationship Id="rId5" Type="http://schemas.openxmlformats.org/officeDocument/2006/relationships/tags" Target="../tags/tag436.xml"/><Relationship Id="rId15" Type="http://schemas.openxmlformats.org/officeDocument/2006/relationships/tags" Target="../tags/tag446.xml"/><Relationship Id="rId23" Type="http://schemas.openxmlformats.org/officeDocument/2006/relationships/tags" Target="../tags/tag454.xml"/><Relationship Id="rId28" Type="http://schemas.openxmlformats.org/officeDocument/2006/relationships/tags" Target="../tags/tag459.xml"/><Relationship Id="rId36" Type="http://schemas.openxmlformats.org/officeDocument/2006/relationships/tags" Target="../tags/tag467.xml"/><Relationship Id="rId10" Type="http://schemas.openxmlformats.org/officeDocument/2006/relationships/tags" Target="../tags/tag441.xml"/><Relationship Id="rId19" Type="http://schemas.openxmlformats.org/officeDocument/2006/relationships/tags" Target="../tags/tag450.xml"/><Relationship Id="rId31" Type="http://schemas.openxmlformats.org/officeDocument/2006/relationships/tags" Target="../tags/tag462.xml"/><Relationship Id="rId44" Type="http://schemas.openxmlformats.org/officeDocument/2006/relationships/chart" Target="../charts/chart35.xml"/><Relationship Id="rId4" Type="http://schemas.openxmlformats.org/officeDocument/2006/relationships/tags" Target="../tags/tag435.xml"/><Relationship Id="rId9" Type="http://schemas.openxmlformats.org/officeDocument/2006/relationships/tags" Target="../tags/tag440.xml"/><Relationship Id="rId14" Type="http://schemas.openxmlformats.org/officeDocument/2006/relationships/tags" Target="../tags/tag445.xml"/><Relationship Id="rId22" Type="http://schemas.openxmlformats.org/officeDocument/2006/relationships/tags" Target="../tags/tag453.xml"/><Relationship Id="rId27" Type="http://schemas.openxmlformats.org/officeDocument/2006/relationships/tags" Target="../tags/tag458.xml"/><Relationship Id="rId30" Type="http://schemas.openxmlformats.org/officeDocument/2006/relationships/tags" Target="../tags/tag461.xml"/><Relationship Id="rId35" Type="http://schemas.openxmlformats.org/officeDocument/2006/relationships/tags" Target="../tags/tag466.xml"/><Relationship Id="rId43" Type="http://schemas.openxmlformats.org/officeDocument/2006/relationships/chart" Target="../charts/chart34.xml"/></Relationships>
</file>

<file path=ppt/slides/_rels/slide35.xml.rels><?xml version="1.0" encoding="UTF-8" standalone="yes"?>
<Relationships xmlns="http://schemas.openxmlformats.org/package/2006/relationships"><Relationship Id="rId8" Type="http://schemas.openxmlformats.org/officeDocument/2006/relationships/tags" Target="../tags/tag476.xml"/><Relationship Id="rId13" Type="http://schemas.openxmlformats.org/officeDocument/2006/relationships/slideLayout" Target="../slideLayouts/slideLayout4.xml"/><Relationship Id="rId18" Type="http://schemas.openxmlformats.org/officeDocument/2006/relationships/chart" Target="../charts/chart39.xml"/><Relationship Id="rId3" Type="http://schemas.openxmlformats.org/officeDocument/2006/relationships/tags" Target="../tags/tag471.xml"/><Relationship Id="rId7" Type="http://schemas.openxmlformats.org/officeDocument/2006/relationships/tags" Target="../tags/tag475.xml"/><Relationship Id="rId12" Type="http://schemas.openxmlformats.org/officeDocument/2006/relationships/tags" Target="../tags/tag480.xml"/><Relationship Id="rId17" Type="http://schemas.openxmlformats.org/officeDocument/2006/relationships/chart" Target="../charts/chart38.xml"/><Relationship Id="rId2" Type="http://schemas.openxmlformats.org/officeDocument/2006/relationships/tags" Target="../tags/tag470.xml"/><Relationship Id="rId16" Type="http://schemas.openxmlformats.org/officeDocument/2006/relationships/chart" Target="../charts/chart37.xml"/><Relationship Id="rId20" Type="http://schemas.openxmlformats.org/officeDocument/2006/relationships/chart" Target="../charts/chart41.xml"/><Relationship Id="rId1" Type="http://schemas.openxmlformats.org/officeDocument/2006/relationships/vmlDrawing" Target="../drawings/vmlDrawing37.vml"/><Relationship Id="rId6" Type="http://schemas.openxmlformats.org/officeDocument/2006/relationships/tags" Target="../tags/tag474.xml"/><Relationship Id="rId11" Type="http://schemas.openxmlformats.org/officeDocument/2006/relationships/tags" Target="../tags/tag479.xml"/><Relationship Id="rId5" Type="http://schemas.openxmlformats.org/officeDocument/2006/relationships/tags" Target="../tags/tag473.xml"/><Relationship Id="rId15" Type="http://schemas.openxmlformats.org/officeDocument/2006/relationships/image" Target="../media/image11.emf"/><Relationship Id="rId10" Type="http://schemas.openxmlformats.org/officeDocument/2006/relationships/tags" Target="../tags/tag478.xml"/><Relationship Id="rId19" Type="http://schemas.openxmlformats.org/officeDocument/2006/relationships/chart" Target="../charts/chart40.xml"/><Relationship Id="rId4" Type="http://schemas.openxmlformats.org/officeDocument/2006/relationships/tags" Target="../tags/tag472.xml"/><Relationship Id="rId9" Type="http://schemas.openxmlformats.org/officeDocument/2006/relationships/tags" Target="../tags/tag477.xml"/><Relationship Id="rId14" Type="http://schemas.openxmlformats.org/officeDocument/2006/relationships/oleObject" Target="../embeddings/oleObject23.bin"/></Relationships>
</file>

<file path=ppt/slides/_rels/slide36.xml.rels><?xml version="1.0" encoding="UTF-8" standalone="yes"?>
<Relationships xmlns="http://schemas.openxmlformats.org/package/2006/relationships"><Relationship Id="rId8" Type="http://schemas.openxmlformats.org/officeDocument/2006/relationships/tags" Target="../tags/tag487.xml"/><Relationship Id="rId13" Type="http://schemas.openxmlformats.org/officeDocument/2006/relationships/tags" Target="../tags/tag492.xml"/><Relationship Id="rId18" Type="http://schemas.openxmlformats.org/officeDocument/2006/relationships/tags" Target="../tags/tag497.xml"/><Relationship Id="rId26" Type="http://schemas.openxmlformats.org/officeDocument/2006/relationships/chart" Target="../charts/chart42.xml"/><Relationship Id="rId3" Type="http://schemas.openxmlformats.org/officeDocument/2006/relationships/tags" Target="../tags/tag482.xml"/><Relationship Id="rId21" Type="http://schemas.openxmlformats.org/officeDocument/2006/relationships/tags" Target="../tags/tag500.xml"/><Relationship Id="rId7" Type="http://schemas.openxmlformats.org/officeDocument/2006/relationships/tags" Target="../tags/tag486.xml"/><Relationship Id="rId12" Type="http://schemas.openxmlformats.org/officeDocument/2006/relationships/tags" Target="../tags/tag491.xml"/><Relationship Id="rId17" Type="http://schemas.openxmlformats.org/officeDocument/2006/relationships/tags" Target="../tags/tag496.xml"/><Relationship Id="rId25" Type="http://schemas.openxmlformats.org/officeDocument/2006/relationships/image" Target="../media/image11.emf"/><Relationship Id="rId2" Type="http://schemas.openxmlformats.org/officeDocument/2006/relationships/tags" Target="../tags/tag481.xml"/><Relationship Id="rId16" Type="http://schemas.openxmlformats.org/officeDocument/2006/relationships/tags" Target="../tags/tag495.xml"/><Relationship Id="rId20" Type="http://schemas.openxmlformats.org/officeDocument/2006/relationships/tags" Target="../tags/tag499.xml"/><Relationship Id="rId29" Type="http://schemas.openxmlformats.org/officeDocument/2006/relationships/chart" Target="../charts/chart45.xml"/><Relationship Id="rId1" Type="http://schemas.openxmlformats.org/officeDocument/2006/relationships/vmlDrawing" Target="../drawings/vmlDrawing38.vml"/><Relationship Id="rId6" Type="http://schemas.openxmlformats.org/officeDocument/2006/relationships/tags" Target="../tags/tag485.xml"/><Relationship Id="rId11" Type="http://schemas.openxmlformats.org/officeDocument/2006/relationships/tags" Target="../tags/tag490.xml"/><Relationship Id="rId24" Type="http://schemas.openxmlformats.org/officeDocument/2006/relationships/oleObject" Target="../embeddings/oleObject23.bin"/><Relationship Id="rId5" Type="http://schemas.openxmlformats.org/officeDocument/2006/relationships/tags" Target="../tags/tag484.xml"/><Relationship Id="rId15" Type="http://schemas.openxmlformats.org/officeDocument/2006/relationships/tags" Target="../tags/tag494.xml"/><Relationship Id="rId23" Type="http://schemas.openxmlformats.org/officeDocument/2006/relationships/slideLayout" Target="../slideLayouts/slideLayout4.xml"/><Relationship Id="rId28" Type="http://schemas.openxmlformats.org/officeDocument/2006/relationships/chart" Target="../charts/chart44.xml"/><Relationship Id="rId10" Type="http://schemas.openxmlformats.org/officeDocument/2006/relationships/tags" Target="../tags/tag489.xml"/><Relationship Id="rId19" Type="http://schemas.openxmlformats.org/officeDocument/2006/relationships/tags" Target="../tags/tag498.xml"/><Relationship Id="rId31" Type="http://schemas.openxmlformats.org/officeDocument/2006/relationships/chart" Target="../charts/chart47.xml"/><Relationship Id="rId4" Type="http://schemas.openxmlformats.org/officeDocument/2006/relationships/tags" Target="../tags/tag483.xml"/><Relationship Id="rId9" Type="http://schemas.openxmlformats.org/officeDocument/2006/relationships/tags" Target="../tags/tag488.xml"/><Relationship Id="rId14" Type="http://schemas.openxmlformats.org/officeDocument/2006/relationships/tags" Target="../tags/tag493.xml"/><Relationship Id="rId22" Type="http://schemas.openxmlformats.org/officeDocument/2006/relationships/tags" Target="../tags/tag501.xml"/><Relationship Id="rId27" Type="http://schemas.openxmlformats.org/officeDocument/2006/relationships/chart" Target="../charts/chart43.xml"/><Relationship Id="rId30" Type="http://schemas.openxmlformats.org/officeDocument/2006/relationships/chart" Target="../charts/chart46.xml"/></Relationships>
</file>

<file path=ppt/slides/_rels/slide37.xml.rels><?xml version="1.0" encoding="UTF-8" standalone="yes"?>
<Relationships xmlns="http://schemas.openxmlformats.org/package/2006/relationships"><Relationship Id="rId3" Type="http://schemas.openxmlformats.org/officeDocument/2006/relationships/tags" Target="../tags/tag503.xml"/><Relationship Id="rId2" Type="http://schemas.openxmlformats.org/officeDocument/2006/relationships/tags" Target="../tags/tag502.xml"/><Relationship Id="rId1" Type="http://schemas.openxmlformats.org/officeDocument/2006/relationships/vmlDrawing" Target="../drawings/vmlDrawing39.vml"/><Relationship Id="rId6" Type="http://schemas.openxmlformats.org/officeDocument/2006/relationships/image" Target="../media/image11.emf"/><Relationship Id="rId5" Type="http://schemas.openxmlformats.org/officeDocument/2006/relationships/oleObject" Target="../embeddings/oleObject23.bin"/><Relationship Id="rId4"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24.xml"/><Relationship Id="rId3" Type="http://schemas.openxmlformats.org/officeDocument/2006/relationships/tags" Target="../tags/tag505.xml"/><Relationship Id="rId7" Type="http://schemas.openxmlformats.org/officeDocument/2006/relationships/slideLayout" Target="../slideLayouts/slideLayout4.xml"/><Relationship Id="rId12" Type="http://schemas.openxmlformats.org/officeDocument/2006/relationships/chart" Target="../charts/chart49.xml"/><Relationship Id="rId2" Type="http://schemas.openxmlformats.org/officeDocument/2006/relationships/tags" Target="../tags/tag504.xml"/><Relationship Id="rId1" Type="http://schemas.openxmlformats.org/officeDocument/2006/relationships/vmlDrawing" Target="../drawings/vmlDrawing40.vml"/><Relationship Id="rId6" Type="http://schemas.openxmlformats.org/officeDocument/2006/relationships/tags" Target="../tags/tag508.xml"/><Relationship Id="rId11" Type="http://schemas.openxmlformats.org/officeDocument/2006/relationships/chart" Target="../charts/chart48.xml"/><Relationship Id="rId5" Type="http://schemas.openxmlformats.org/officeDocument/2006/relationships/tags" Target="../tags/tag507.xml"/><Relationship Id="rId10" Type="http://schemas.openxmlformats.org/officeDocument/2006/relationships/image" Target="../media/image11.emf"/><Relationship Id="rId4" Type="http://schemas.openxmlformats.org/officeDocument/2006/relationships/tags" Target="../tags/tag506.xml"/><Relationship Id="rId9" Type="http://schemas.openxmlformats.org/officeDocument/2006/relationships/oleObject" Target="../embeddings/oleObject23.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09.xml"/><Relationship Id="rId1" Type="http://schemas.openxmlformats.org/officeDocument/2006/relationships/vmlDrawing" Target="../drawings/vmlDrawing41.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0.xml"/><Relationship Id="rId1" Type="http://schemas.openxmlformats.org/officeDocument/2006/relationships/vmlDrawing" Target="../drawings/vmlDrawing42.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1.xml"/><Relationship Id="rId1" Type="http://schemas.openxmlformats.org/officeDocument/2006/relationships/vmlDrawing" Target="../drawings/vmlDrawing43.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2.xml"/><Relationship Id="rId1" Type="http://schemas.openxmlformats.org/officeDocument/2006/relationships/vmlDrawing" Target="../drawings/vmlDrawing44.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3.xml"/><Relationship Id="rId1" Type="http://schemas.openxmlformats.org/officeDocument/2006/relationships/vmlDrawing" Target="../drawings/vmlDrawing45.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29.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4.xml"/><Relationship Id="rId1" Type="http://schemas.openxmlformats.org/officeDocument/2006/relationships/vmlDrawing" Target="../drawings/vmlDrawing46.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5.xml"/><Relationship Id="rId1" Type="http://schemas.openxmlformats.org/officeDocument/2006/relationships/vmlDrawing" Target="../drawings/vmlDrawing47.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6.xml"/><Relationship Id="rId1" Type="http://schemas.openxmlformats.org/officeDocument/2006/relationships/vmlDrawing" Target="../drawings/vmlDrawing48.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7.xml"/><Relationship Id="rId1" Type="http://schemas.openxmlformats.org/officeDocument/2006/relationships/vmlDrawing" Target="../drawings/vmlDrawing49.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33.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8.xml"/><Relationship Id="rId1" Type="http://schemas.openxmlformats.org/officeDocument/2006/relationships/vmlDrawing" Target="../drawings/vmlDrawing50.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19.xml"/><Relationship Id="rId1" Type="http://schemas.openxmlformats.org/officeDocument/2006/relationships/vmlDrawing" Target="../drawings/vmlDrawing51.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0.xml"/><Relationship Id="rId1" Type="http://schemas.openxmlformats.org/officeDocument/2006/relationships/vmlDrawing" Target="../drawings/vmlDrawing52.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1.xml"/><Relationship Id="rId1" Type="http://schemas.openxmlformats.org/officeDocument/2006/relationships/vmlDrawing" Target="../drawings/vmlDrawing53.vml"/><Relationship Id="rId6" Type="http://schemas.openxmlformats.org/officeDocument/2006/relationships/image" Target="../media/image10.emf"/><Relationship Id="rId5" Type="http://schemas.openxmlformats.org/officeDocument/2006/relationships/oleObject" Target="../embeddings/oleObject24.bin"/><Relationship Id="rId4"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2.xml"/><Relationship Id="rId1" Type="http://schemas.openxmlformats.org/officeDocument/2006/relationships/vmlDrawing" Target="../drawings/vmlDrawing54.vml"/><Relationship Id="rId5" Type="http://schemas.openxmlformats.org/officeDocument/2006/relationships/image" Target="../media/image1.emf"/><Relationship Id="rId4" Type="http://schemas.openxmlformats.org/officeDocument/2006/relationships/oleObject" Target="../embeddings/oleObject25.bin"/></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3.xml"/><Relationship Id="rId1" Type="http://schemas.openxmlformats.org/officeDocument/2006/relationships/vmlDrawing" Target="../drawings/vmlDrawing55.vml"/><Relationship Id="rId5" Type="http://schemas.openxmlformats.org/officeDocument/2006/relationships/image" Target="../media/image1.emf"/><Relationship Id="rId4" Type="http://schemas.openxmlformats.org/officeDocument/2006/relationships/oleObject" Target="../embeddings/oleObject25.bin"/></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4.xml"/><Relationship Id="rId1" Type="http://schemas.openxmlformats.org/officeDocument/2006/relationships/vmlDrawing" Target="../drawings/vmlDrawing56.vml"/><Relationship Id="rId5" Type="http://schemas.openxmlformats.org/officeDocument/2006/relationships/image" Target="../media/image1.emf"/><Relationship Id="rId4" Type="http://schemas.openxmlformats.org/officeDocument/2006/relationships/oleObject" Target="../embeddings/oleObject25.bin"/></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5.xml"/><Relationship Id="rId1" Type="http://schemas.openxmlformats.org/officeDocument/2006/relationships/vmlDrawing" Target="../drawings/vmlDrawing57.vml"/><Relationship Id="rId5" Type="http://schemas.openxmlformats.org/officeDocument/2006/relationships/image" Target="../media/image1.emf"/><Relationship Id="rId4" Type="http://schemas.openxmlformats.org/officeDocument/2006/relationships/oleObject" Target="../embeddings/oleObject25.bin"/></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6.xml"/><Relationship Id="rId1" Type="http://schemas.openxmlformats.org/officeDocument/2006/relationships/vmlDrawing" Target="../drawings/vmlDrawing58.vml"/><Relationship Id="rId6" Type="http://schemas.openxmlformats.org/officeDocument/2006/relationships/image" Target="../media/image10.emf"/><Relationship Id="rId5" Type="http://schemas.openxmlformats.org/officeDocument/2006/relationships/oleObject" Target="../embeddings/oleObject26.bin"/><Relationship Id="rId4" Type="http://schemas.openxmlformats.org/officeDocument/2006/relationships/notesSlide" Target="../notesSlides/notesSlide38.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7.xml"/><Relationship Id="rId1" Type="http://schemas.openxmlformats.org/officeDocument/2006/relationships/vmlDrawing" Target="../drawings/vmlDrawing59.vml"/><Relationship Id="rId6" Type="http://schemas.openxmlformats.org/officeDocument/2006/relationships/image" Target="../media/image10.emf"/><Relationship Id="rId5" Type="http://schemas.openxmlformats.org/officeDocument/2006/relationships/oleObject" Target="../embeddings/oleObject26.bin"/><Relationship Id="rId4" Type="http://schemas.openxmlformats.org/officeDocument/2006/relationships/notesSlide" Target="../notesSlides/notesSlide39.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8.xml"/><Relationship Id="rId1" Type="http://schemas.openxmlformats.org/officeDocument/2006/relationships/vmlDrawing" Target="../drawings/vmlDrawing60.vml"/><Relationship Id="rId6" Type="http://schemas.openxmlformats.org/officeDocument/2006/relationships/image" Target="../media/image10.emf"/><Relationship Id="rId5" Type="http://schemas.openxmlformats.org/officeDocument/2006/relationships/oleObject" Target="../embeddings/oleObject26.bin"/><Relationship Id="rId4" Type="http://schemas.openxmlformats.org/officeDocument/2006/relationships/notesSlide" Target="../notesSlides/notesSlide40.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9.xml"/><Relationship Id="rId1" Type="http://schemas.openxmlformats.org/officeDocument/2006/relationships/vmlDrawing" Target="../drawings/vmlDrawing61.vml"/><Relationship Id="rId6" Type="http://schemas.openxmlformats.org/officeDocument/2006/relationships/image" Target="../media/image10.emf"/><Relationship Id="rId5" Type="http://schemas.openxmlformats.org/officeDocument/2006/relationships/oleObject" Target="../embeddings/oleObject27.bin"/><Relationship Id="rId4" Type="http://schemas.openxmlformats.org/officeDocument/2006/relationships/notesSlide" Target="../notesSlides/notesSlide41.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30.xml"/><Relationship Id="rId1" Type="http://schemas.openxmlformats.org/officeDocument/2006/relationships/vmlDrawing" Target="../drawings/vmlDrawing62.vml"/><Relationship Id="rId6" Type="http://schemas.openxmlformats.org/officeDocument/2006/relationships/image" Target="../media/image10.emf"/><Relationship Id="rId5" Type="http://schemas.openxmlformats.org/officeDocument/2006/relationships/oleObject" Target="../embeddings/oleObject27.bin"/><Relationship Id="rId4"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75A9551-6004-4F3C-A0CB-2476440EE6F0}"/>
              </a:ext>
            </a:extLst>
          </p:cNvPr>
          <p:cNvSpPr>
            <a:spLocks noGrp="1"/>
          </p:cNvSpPr>
          <p:nvPr>
            <p:ph type="body" sz="quarter" idx="13"/>
          </p:nvPr>
        </p:nvSpPr>
        <p:spPr/>
        <p:txBody>
          <a:bodyPr/>
          <a:lstStyle/>
          <a:p>
            <a:r>
              <a:rPr lang="ru-RU" dirty="0" smtClean="0"/>
              <a:t xml:space="preserve">Compliance Committee</a:t>
            </a:r>
            <a:endParaRPr lang="en-US" dirty="0"/>
          </a:p>
          <a:p>
            <a:r>
              <a:rPr lang="en-US" dirty="0">
                <a:solidFill>
                  <a:srgbClr val="FF0000"/>
                </a:solidFill>
              </a:rPr>
              <a:t xml:space="preserve">XX.XX.2026</a:t>
            </a:r>
          </a:p>
        </p:txBody>
      </p:sp>
      <p:sp>
        <p:nvSpPr>
          <p:cNvPr id="3" name="Text Placeholder 2">
            <a:extLst>
              <a:ext uri="{FF2B5EF4-FFF2-40B4-BE49-F238E27FC236}">
                <a16:creationId xmlns:a16="http://schemas.microsoft.com/office/drawing/2014/main" id="{658BE830-C362-4C3D-8769-84D95F4B70F1}"/>
              </a:ext>
            </a:extLst>
          </p:cNvPr>
          <p:cNvSpPr>
            <a:spLocks noGrp="1"/>
          </p:cNvSpPr>
          <p:nvPr>
            <p:ph type="body" sz="quarter" idx="12"/>
          </p:nvPr>
        </p:nvSpPr>
        <p:spPr/>
        <p:txBody>
          <a:bodyPr/>
          <a:lstStyle/>
          <a:p>
            <a:r>
              <a:rPr lang="en-US" dirty="0"/>
              <a:t>2026 </a:t>
            </a:r>
          </a:p>
          <a:p>
            <a:r>
              <a:rPr lang="ru-RU" dirty="0" smtClean="0"/>
              <a:t xml:space="preserve">Compliance Report #XX</a:t>
            </a:r>
            <a:r>
              <a:rPr lang="en-US" dirty="0" smtClean="0">
                <a:solidFill>
                  <a:srgbClr val="FF0000"/>
                </a:solidFill>
              </a:rPr>
              <a:t/>
            </a:r>
            <a:endParaRPr lang="en-US" dirty="0">
              <a:solidFill>
                <a:srgbClr val="FF0000"/>
              </a:solidFill>
            </a:endParaRPr>
          </a:p>
          <a:p>
            <a:endParaRPr lang="en-US" dirty="0"/>
          </a:p>
          <a:p>
            <a:r>
              <a:rPr lang="ru-RU" dirty="0" smtClean="0"/>
              <a:t xml:space="preserve">Regular report</a:t>
            </a:r>
            <a:endParaRPr lang="en-US" dirty="0"/>
          </a:p>
          <a:p>
            <a:endParaRPr lang="en-US" dirty="0"/>
          </a:p>
        </p:txBody>
      </p:sp>
    </p:spTree>
    <p:extLst>
      <p:ext uri="{BB962C8B-B14F-4D97-AF65-F5344CB8AC3E}">
        <p14:creationId xmlns:p14="http://schemas.microsoft.com/office/powerpoint/2010/main" val="1805906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41FF1-48FB-D5EC-D3D6-422B1C493BD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61ABD83-3D4A-598C-5C1B-BB633B47389F}"/>
              </a:ext>
            </a:extLst>
          </p:cNvPr>
          <p:cNvSpPr>
            <a:spLocks noGrp="1"/>
          </p:cNvSpPr>
          <p:nvPr>
            <p:ph type="body" sz="quarter" idx="12"/>
          </p:nvPr>
        </p:nvSpPr>
        <p:spPr>
          <a:xfrm>
            <a:off x="323032" y="2986268"/>
            <a:ext cx="6730113" cy="1189864"/>
          </a:xfrm>
        </p:spPr>
        <p:txBody>
          <a:bodyPr/>
          <a:lstStyle/>
          <a:p>
            <a:r>
              <a:rPr lang="ru-RU" dirty="0" smtClean="0"/>
              <a:t xml:space="preserve">Part I:</a:t>
            </a:r>
            <a:r>
              <a:rPr lang="en-US" dirty="0" smtClean="0"/>
              <a:t/>
            </a:r>
            <a:r>
              <a:rPr lang="en-US" dirty="0"/>
              <a:t/>
            </a:r>
          </a:p>
          <a:p>
            <a:r>
              <a:rPr lang="ru-RU" dirty="0" smtClean="0"/>
              <a:t xml:space="preserve">Dashboard Q4 2025: Perimeter Kazakhstan</a:t>
            </a:r>
            <a:r>
              <a:rPr lang="ru-RU" dirty="0" err="1" smtClean="0"/>
              <a:t/>
            </a:r>
            <a:r>
              <a:rPr lang="en-US" dirty="0" smtClean="0"/>
              <a:t/>
            </a:r>
            <a:r>
              <a:rPr lang="en-US" dirty="0"/>
              <a:t/>
            </a:r>
            <a:r>
              <a:rPr lang="ru-RU" dirty="0" smtClean="0"/>
              <a:t/>
            </a:r>
            <a:endParaRPr lang="en-US" dirty="0"/>
          </a:p>
          <a:p>
            <a:r>
              <a:rPr lang="ru-RU" b="0" dirty="0" smtClean="0"/>
              <a:t xml:space="preserve">Speaker: Annetta Natanzon</a:t>
            </a:r>
            <a:r>
              <a:rPr lang="en-US" b="0" dirty="0" smtClean="0"/>
              <a:t/>
            </a:r>
            <a:r>
              <a:rPr lang="ru-RU" b="0" dirty="0" smtClean="0"/>
              <a:t/>
            </a:r>
            <a:endParaRPr lang="en-US" b="0" dirty="0"/>
          </a:p>
        </p:txBody>
      </p:sp>
    </p:spTree>
    <p:extLst>
      <p:ext uri="{BB962C8B-B14F-4D97-AF65-F5344CB8AC3E}">
        <p14:creationId xmlns:p14="http://schemas.microsoft.com/office/powerpoint/2010/main" val="4028701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D57EEC49-B21E-D452-BFE2-67929C2FAA65}"/>
              </a:ext>
            </a:extLst>
          </p:cNvPr>
          <p:cNvSpPr/>
          <p:nvPr/>
        </p:nvSpPr>
        <p:spPr>
          <a:xfrm>
            <a:off x="317498" y="1506771"/>
            <a:ext cx="3754438" cy="2392416"/>
          </a:xfrm>
          <a:prstGeom prst="roundRect">
            <a:avLst>
              <a:gd name="adj" fmla="val 549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ru" sz="1200" b="1" noProof="0" dirty="0">
              <a:solidFill>
                <a:schemeClr val="accent1"/>
              </a:solidFill>
            </a:endParaRPr>
          </a:p>
        </p:txBody>
      </p:sp>
      <p:graphicFrame>
        <p:nvGraphicFramePr>
          <p:cNvPr id="3" name="Таблица 2"/>
          <p:cNvGraphicFramePr>
            <a:graphicFrameLocks noGrp="1"/>
          </p:cNvGraphicFramePr>
          <p:nvPr>
            <p:extLst>
              <p:ext uri="{D42A27DB-BD31-4B8C-83A1-F6EECF244321}">
                <p14:modId xmlns:p14="http://schemas.microsoft.com/office/powerpoint/2010/main" val="172854426"/>
              </p:ext>
            </p:extLst>
          </p:nvPr>
        </p:nvGraphicFramePr>
        <p:xfrm>
          <a:off x="317496" y="1625867"/>
          <a:ext cx="3734743" cy="2160000"/>
        </p:xfrm>
        <a:graphic>
          <a:graphicData uri="http://schemas.openxmlformats.org/drawingml/2006/table">
            <a:tbl>
              <a:tblPr firstRow="1" bandRow="1">
                <a:tableStyleId>{5C22544A-7EE6-4342-B048-85BDC9FD1C3A}</a:tableStyleId>
              </a:tblPr>
              <a:tblGrid>
                <a:gridCol w="178868">
                  <a:extLst>
                    <a:ext uri="{9D8B030D-6E8A-4147-A177-3AD203B41FA5}">
                      <a16:colId xmlns:a16="http://schemas.microsoft.com/office/drawing/2014/main" val="1207875736"/>
                    </a:ext>
                  </a:extLst>
                </a:gridCol>
                <a:gridCol w="2439875">
                  <a:extLst>
                    <a:ext uri="{9D8B030D-6E8A-4147-A177-3AD203B41FA5}">
                      <a16:colId xmlns:a16="http://schemas.microsoft.com/office/drawing/2014/main" val="1897865945"/>
                    </a:ext>
                  </a:extLst>
                </a:gridCol>
                <a:gridCol w="468000">
                  <a:extLst>
                    <a:ext uri="{9D8B030D-6E8A-4147-A177-3AD203B41FA5}">
                      <a16:colId xmlns:a16="http://schemas.microsoft.com/office/drawing/2014/main" val="4203262921"/>
                    </a:ext>
                  </a:extLst>
                </a:gridCol>
                <a:gridCol w="648000">
                  <a:extLst>
                    <a:ext uri="{9D8B030D-6E8A-4147-A177-3AD203B41FA5}">
                      <a16:colId xmlns:a16="http://schemas.microsoft.com/office/drawing/2014/main" val="2221159483"/>
                    </a:ext>
                  </a:extLst>
                </a:gridCol>
              </a:tblGrid>
              <a:tr h="360000">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1100" b="1" noProof="0" dirty="0" smtClean="0">
                          <a:solidFill>
                            <a:schemeClr val="accent1"/>
                          </a:solidFill>
                        </a:rPr>
                        <a:t xml:space="preserve">Compliance risks (Mining)</a:t>
                      </a:r>
                      <a:r>
                        <a:rPr lang="en-US" sz="1100" b="1" noProof="0" dirty="0" smtClean="0">
                          <a:solidFill>
                            <a:schemeClr val="accent1"/>
                          </a:solidFill>
                        </a:rPr>
                        <a:t/>
                      </a:r>
                      <a:r>
                        <a:rPr lang="ru" sz="1100" b="1" noProof="0" dirty="0" smtClean="0">
                          <a:solidFill>
                            <a:schemeClr val="accent1"/>
                          </a:solidFill>
                        </a:rPr>
                        <a:t/>
                      </a: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b="1" noProof="0" dirty="0" smtClean="0">
                          <a:solidFill>
                            <a:schemeClr val="tx1"/>
                          </a:solidFill>
                        </a:rPr>
                        <a:t xml:space="preserve">Trend</a:t>
                      </a: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solidFill>
                            <a:schemeClr val="tx1"/>
                          </a:solidFill>
                        </a:rPr>
                        <a:t xml:space="preserve">Exposure</a:t>
                      </a:r>
                      <a:endParaRPr lang="ru-RU" sz="800"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9241193"/>
                  </a:ext>
                </a:extLst>
              </a:tr>
              <a:tr h="360000">
                <a:tc>
                  <a:txBody>
                    <a:bodyPr/>
                    <a:lstStyle/>
                    <a:p>
                      <a:r>
                        <a:rPr lang="ru-RU" sz="800" dirty="0" smtClean="0">
                          <a:solidFill>
                            <a:schemeClr val="accent1"/>
                          </a:solidFill>
                        </a:rPr>
                        <a:t>1.</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 xml:space="preserve">Failure to comply with anti-bribery and corruption requirements</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 xml:space="preserve">Average</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7539416"/>
                  </a:ext>
                </a:extLst>
              </a:tr>
              <a:tr h="360000">
                <a:tc>
                  <a:txBody>
                    <a:bodyPr/>
                    <a:lstStyle/>
                    <a:p>
                      <a:r>
                        <a:rPr lang="ru-RU" sz="800" dirty="0" smtClean="0">
                          <a:solidFill>
                            <a:schemeClr val="accent1"/>
                          </a:solidFill>
                        </a:rPr>
                        <a:t>2.</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 xml:space="preserve">Non-compliance with sanctions regimes</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 xml:space="preserve">High</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1558007"/>
                  </a:ext>
                </a:extLst>
              </a:tr>
              <a:tr h="360000">
                <a:tc>
                  <a:txBody>
                    <a:bodyPr/>
                    <a:lstStyle/>
                    <a:p>
                      <a:r>
                        <a:rPr lang="ru-RU" sz="800" dirty="0" smtClean="0">
                          <a:solidFill>
                            <a:schemeClr val="accent1"/>
                          </a:solidFill>
                        </a:rPr>
                        <a:t>3.</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 xml:space="preserve">Failure to comply with personal data protection requirements</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 xml:space="preserve">Average</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2700212"/>
                  </a:ext>
                </a:extLst>
              </a:tr>
              <a:tr h="360000">
                <a:tc>
                  <a:txBody>
                    <a:bodyPr/>
                    <a:lstStyle/>
                    <a:p>
                      <a:r>
                        <a:rPr lang="ru-RU" sz="800" dirty="0" smtClean="0">
                          <a:solidFill>
                            <a:schemeClr val="accent1"/>
                          </a:solidFill>
                        </a:rPr>
                        <a:t>4.</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 xml:space="preserve">Human rights violation</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 xml:space="preserve">Low</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3446426"/>
                  </a:ext>
                </a:extLst>
              </a:tr>
              <a:tr h="360000">
                <a:tc>
                  <a:txBody>
                    <a:bodyPr/>
                    <a:lstStyle/>
                    <a:p>
                      <a:r>
                        <a:rPr lang="ru-RU" sz="800" dirty="0" smtClean="0">
                          <a:solidFill>
                            <a:schemeClr val="accent1"/>
                          </a:solidFill>
                        </a:rPr>
                        <a:t>5.</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 xml:space="preserve">Failure to comply with anti-money laundering requirements</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 xml:space="preserve">Average</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09051"/>
                  </a:ext>
                </a:extLst>
              </a:tr>
            </a:tbl>
          </a:graphicData>
        </a:graphic>
      </p:graphicFrame>
      <p:sp>
        <p:nvSpPr>
          <p:cNvPr id="101" name="Rectangle: Rounded Corners 14">
            <a:extLst>
              <a:ext uri="{FF2B5EF4-FFF2-40B4-BE49-F238E27FC236}">
                <a16:creationId xmlns:a16="http://schemas.microsoft.com/office/drawing/2014/main" id="{D57EEC49-B21E-D452-BFE2-67929C2FAA65}"/>
              </a:ext>
            </a:extLst>
          </p:cNvPr>
          <p:cNvSpPr/>
          <p:nvPr/>
        </p:nvSpPr>
        <p:spPr>
          <a:xfrm>
            <a:off x="317496" y="4158643"/>
            <a:ext cx="3754438" cy="2392416"/>
          </a:xfrm>
          <a:prstGeom prst="roundRect">
            <a:avLst>
              <a:gd name="adj" fmla="val 549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ru" sz="1200" b="1" noProof="0" dirty="0">
              <a:solidFill>
                <a:schemeClr val="accent1"/>
              </a:solidFill>
            </a:endParaRPr>
          </a:p>
        </p:txBody>
      </p:sp>
      <p:graphicFrame>
        <p:nvGraphicFramePr>
          <p:cNvPr id="131" name="Таблица 130"/>
          <p:cNvGraphicFramePr>
            <a:graphicFrameLocks noGrp="1"/>
          </p:cNvGraphicFramePr>
          <p:nvPr>
            <p:extLst>
              <p:ext uri="{D42A27DB-BD31-4B8C-83A1-F6EECF244321}">
                <p14:modId xmlns:p14="http://schemas.microsoft.com/office/powerpoint/2010/main" val="2045192527"/>
              </p:ext>
            </p:extLst>
          </p:nvPr>
        </p:nvGraphicFramePr>
        <p:xfrm>
          <a:off x="317494" y="4277739"/>
          <a:ext cx="3734743" cy="2160000"/>
        </p:xfrm>
        <a:graphic>
          <a:graphicData uri="http://schemas.openxmlformats.org/drawingml/2006/table">
            <a:tbl>
              <a:tblPr firstRow="1" bandRow="1">
                <a:tableStyleId>{5C22544A-7EE6-4342-B048-85BDC9FD1C3A}</a:tableStyleId>
              </a:tblPr>
              <a:tblGrid>
                <a:gridCol w="178868">
                  <a:extLst>
                    <a:ext uri="{9D8B030D-6E8A-4147-A177-3AD203B41FA5}">
                      <a16:colId xmlns:a16="http://schemas.microsoft.com/office/drawing/2014/main" val="1207875736"/>
                    </a:ext>
                  </a:extLst>
                </a:gridCol>
                <a:gridCol w="2439875">
                  <a:extLst>
                    <a:ext uri="{9D8B030D-6E8A-4147-A177-3AD203B41FA5}">
                      <a16:colId xmlns:a16="http://schemas.microsoft.com/office/drawing/2014/main" val="1897865945"/>
                    </a:ext>
                  </a:extLst>
                </a:gridCol>
                <a:gridCol w="468000">
                  <a:extLst>
                    <a:ext uri="{9D8B030D-6E8A-4147-A177-3AD203B41FA5}">
                      <a16:colId xmlns:a16="http://schemas.microsoft.com/office/drawing/2014/main" val="4203262921"/>
                    </a:ext>
                  </a:extLst>
                </a:gridCol>
                <a:gridCol w="648000">
                  <a:extLst>
                    <a:ext uri="{9D8B030D-6E8A-4147-A177-3AD203B41FA5}">
                      <a16:colId xmlns:a16="http://schemas.microsoft.com/office/drawing/2014/main" val="2221159483"/>
                    </a:ext>
                  </a:extLst>
                </a:gridCol>
              </a:tblGrid>
              <a:tr h="360000">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1100" b="1" noProof="0" dirty="0" smtClean="0">
                          <a:solidFill>
                            <a:schemeClr val="accent1"/>
                          </a:solidFill>
                        </a:rPr>
                        <a:t xml:space="preserve">Compliance Risks (Healthcare)</a:t>
                      </a:r>
                      <a:r>
                        <a:rPr lang="en-US" sz="1100" b="1" noProof="0" dirty="0" smtClean="0">
                          <a:solidFill>
                            <a:schemeClr val="accent1"/>
                          </a:solidFill>
                        </a:rPr>
                        <a:t/>
                      </a:r>
                      <a:r>
                        <a:rPr lang="ru" sz="1100" b="1" noProof="0" dirty="0" smtClean="0">
                          <a:solidFill>
                            <a:schemeClr val="accent1"/>
                          </a:solidFill>
                        </a:rPr>
                        <a:t/>
                      </a: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b="1" noProof="0" dirty="0" smtClean="0">
                          <a:solidFill>
                            <a:schemeClr val="tx1"/>
                          </a:solidFill>
                        </a:rPr>
                        <a:t xml:space="preserve">Trend</a:t>
                      </a: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solidFill>
                            <a:schemeClr val="tx1"/>
                          </a:solidFill>
                        </a:rPr>
                        <a:t xml:space="preserve">Exposure</a:t>
                      </a:r>
                      <a:endParaRPr lang="ru-RU" sz="800"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9241193"/>
                  </a:ext>
                </a:extLst>
              </a:tr>
              <a:tr h="360000">
                <a:tc>
                  <a:txBody>
                    <a:bodyPr/>
                    <a:lstStyle/>
                    <a:p>
                      <a:r>
                        <a:rPr lang="ru-RU" sz="800" dirty="0" smtClean="0">
                          <a:solidFill>
                            <a:schemeClr val="accent1"/>
                          </a:solidFill>
                        </a:rPr>
                        <a:t>1.</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 xml:space="preserve">Failure to comply with anti-bribery and corruption requirements</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 xml:space="preserve">Average</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7539416"/>
                  </a:ext>
                </a:extLst>
              </a:tr>
              <a:tr h="360000">
                <a:tc>
                  <a:txBody>
                    <a:bodyPr/>
                    <a:lstStyle/>
                    <a:p>
                      <a:r>
                        <a:rPr lang="ru-RU" sz="800" dirty="0" smtClean="0">
                          <a:solidFill>
                            <a:schemeClr val="accent1"/>
                          </a:solidFill>
                        </a:rPr>
                        <a:t>2.</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 xml:space="preserve">Non-compliance with sanctions regimes</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smtClean="0">
                          <a:ln>
                            <a:noFill/>
                          </a:ln>
                          <a:solidFill>
                            <a:srgbClr val="32373C"/>
                          </a:solidFill>
                          <a:effectLst/>
                          <a:uLnTx/>
                          <a:uFillTx/>
                          <a:latin typeface="Arial" panose="020B0604020202020204"/>
                          <a:ea typeface="+mn-ea"/>
                          <a:cs typeface="+mn-cs"/>
                        </a:rPr>
                        <a:t xml:space="preserve">Average</a:t>
                      </a: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1558007"/>
                  </a:ext>
                </a:extLst>
              </a:tr>
              <a:tr h="360000">
                <a:tc>
                  <a:txBody>
                    <a:bodyPr/>
                    <a:lstStyle/>
                    <a:p>
                      <a:r>
                        <a:rPr lang="ru-RU" sz="800" dirty="0" smtClean="0">
                          <a:solidFill>
                            <a:schemeClr val="accent1"/>
                          </a:solidFill>
                        </a:rPr>
                        <a:t>3.</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 xml:space="preserve">Failure to comply with personal data protection requirements</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smtClean="0">
                          <a:ln>
                            <a:noFill/>
                          </a:ln>
                          <a:solidFill>
                            <a:srgbClr val="32373C"/>
                          </a:solidFill>
                          <a:effectLst/>
                          <a:uLnTx/>
                          <a:uFillTx/>
                          <a:latin typeface="Arial" panose="020B0604020202020204"/>
                          <a:ea typeface="+mn-ea"/>
                          <a:cs typeface="+mn-cs"/>
                        </a:rPr>
                        <a:t xml:space="preserve">Average</a:t>
                      </a: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2700212"/>
                  </a:ext>
                </a:extLst>
              </a:tr>
              <a:tr h="360000">
                <a:tc>
                  <a:txBody>
                    <a:bodyPr/>
                    <a:lstStyle/>
                    <a:p>
                      <a:r>
                        <a:rPr lang="ru-RU" sz="800" dirty="0" smtClean="0">
                          <a:solidFill>
                            <a:schemeClr val="accent1"/>
                          </a:solidFill>
                        </a:rPr>
                        <a:t>4.</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 xml:space="preserve">Human rights violation</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 xml:space="preserve">Low</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3446426"/>
                  </a:ext>
                </a:extLst>
              </a:tr>
              <a:tr h="360000">
                <a:tc>
                  <a:txBody>
                    <a:bodyPr/>
                    <a:lstStyle/>
                    <a:p>
                      <a:r>
                        <a:rPr lang="ru-RU" sz="800" dirty="0" smtClean="0">
                          <a:solidFill>
                            <a:schemeClr val="accent1"/>
                          </a:solidFill>
                        </a:rPr>
                        <a:t>5.</a:t>
                      </a:r>
                      <a:endParaRPr lang="ru-RU" sz="800" dirty="0">
                        <a:solidFill>
                          <a:schemeClr val="accent1"/>
                        </a:solidFill>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 xml:space="preserve">Failure to comply with anti-money laundering requirements</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 xml:space="preserve">Low</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09051"/>
                  </a:ext>
                </a:extLst>
              </a:tr>
            </a:tbl>
          </a:graphicData>
        </a:graphic>
      </p:graphicFrame>
      <p:sp>
        <p:nvSpPr>
          <p:cNvPr id="2" name="Title 1">
            <a:extLst>
              <a:ext uri="{FF2B5EF4-FFF2-40B4-BE49-F238E27FC236}">
                <a16:creationId xmlns:a16="http://schemas.microsoft.com/office/drawing/2014/main" id="{662A90ED-F1F6-4B7F-022D-ADBD9A816CC2}"/>
              </a:ext>
            </a:extLst>
          </p:cNvPr>
          <p:cNvSpPr>
            <a:spLocks noGrp="1"/>
          </p:cNvSpPr>
          <p:nvPr>
            <p:ph type="title"/>
          </p:nvPr>
        </p:nvSpPr>
        <p:spPr>
          <a:xfrm>
            <a:off x="317499" y="0"/>
            <a:ext cx="10584209" cy="704850"/>
          </a:xfrm>
        </p:spPr>
        <p:txBody>
          <a:bodyPr rtlCol="0"/>
          <a:lstStyle/>
          <a:p>
            <a:pPr rtl="0"/>
            <a:r>
              <a:rPr lang="ru-RU" noProof="0" dirty="0"/>
              <a:t xml:space="preserve">Dashboard for 4 sq. 2025: Risk and Warranty Information</a:t>
            </a:r>
            <a:r>
              <a:rPr lang="ru-RU" noProof="0" dirty="0" smtClean="0"/>
              <a:t/>
            </a:r>
            <a:r>
              <a:rPr lang="ru-RU" noProof="0" dirty="0"/>
              <a:t/>
            </a:r>
            <a:r>
              <a:rPr lang="ru" noProof="0" dirty="0"/>
              <a:t/>
            </a:r>
          </a:p>
        </p:txBody>
      </p:sp>
      <p:grpSp>
        <p:nvGrpSpPr>
          <p:cNvPr id="11" name="Group 10">
            <a:extLst>
              <a:ext uri="{FF2B5EF4-FFF2-40B4-BE49-F238E27FC236}">
                <a16:creationId xmlns:a16="http://schemas.microsoft.com/office/drawing/2014/main" id="{6CF858B7-C433-4DEF-B1D5-5EA88F2A7444}"/>
              </a:ext>
            </a:extLst>
          </p:cNvPr>
          <p:cNvGrpSpPr/>
          <p:nvPr/>
        </p:nvGrpSpPr>
        <p:grpSpPr>
          <a:xfrm>
            <a:off x="3070236" y="2465556"/>
            <a:ext cx="117815" cy="119583"/>
            <a:chOff x="6580783" y="2157819"/>
            <a:chExt cx="162010" cy="164441"/>
          </a:xfrm>
        </p:grpSpPr>
        <p:sp>
          <p:nvSpPr>
            <p:cNvPr id="166" name="Freeform 27">
              <a:extLst>
                <a:ext uri="{FF2B5EF4-FFF2-40B4-BE49-F238E27FC236}">
                  <a16:creationId xmlns:a16="http://schemas.microsoft.com/office/drawing/2014/main" id="{3C5D3936-7411-4BD0-BA82-1DE9FA4114E9}"/>
                </a:ext>
              </a:extLst>
            </p:cNvPr>
            <p:cNvSpPr>
              <a:spLocks/>
            </p:cNvSpPr>
            <p:nvPr/>
          </p:nvSpPr>
          <p:spPr bwMode="auto">
            <a:xfrm>
              <a:off x="6580783" y="2157819"/>
              <a:ext cx="162010" cy="164441"/>
            </a:xfrm>
            <a:custGeom>
              <a:avLst/>
              <a:gdLst>
                <a:gd name="T0" fmla="*/ 146 w 292"/>
                <a:gd name="T1" fmla="*/ 0 h 293"/>
                <a:gd name="T2" fmla="*/ 0 w 292"/>
                <a:gd name="T3" fmla="*/ 147 h 293"/>
                <a:gd name="T4" fmla="*/ 146 w 292"/>
                <a:gd name="T5" fmla="*/ 293 h 293"/>
                <a:gd name="T6" fmla="*/ 235 w 292"/>
                <a:gd name="T7" fmla="*/ 263 h 293"/>
                <a:gd name="T8" fmla="*/ 236 w 292"/>
                <a:gd name="T9" fmla="*/ 256 h 293"/>
                <a:gd name="T10" fmla="*/ 230 w 292"/>
                <a:gd name="T11" fmla="*/ 255 h 293"/>
                <a:gd name="T12" fmla="*/ 146 w 292"/>
                <a:gd name="T13" fmla="*/ 284 h 293"/>
                <a:gd name="T14" fmla="*/ 9 w 292"/>
                <a:gd name="T15" fmla="*/ 147 h 293"/>
                <a:gd name="T16" fmla="*/ 146 w 292"/>
                <a:gd name="T17" fmla="*/ 10 h 293"/>
                <a:gd name="T18" fmla="*/ 283 w 292"/>
                <a:gd name="T19" fmla="*/ 147 h 293"/>
                <a:gd name="T20" fmla="*/ 260 w 292"/>
                <a:gd name="T21" fmla="*/ 223 h 293"/>
                <a:gd name="T22" fmla="*/ 261 w 292"/>
                <a:gd name="T23" fmla="*/ 230 h 293"/>
                <a:gd name="T24" fmla="*/ 267 w 292"/>
                <a:gd name="T25" fmla="*/ 229 h 293"/>
                <a:gd name="T26" fmla="*/ 292 w 292"/>
                <a:gd name="T27" fmla="*/ 147 h 293"/>
                <a:gd name="T28" fmla="*/ 146 w 292"/>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2" h="293">
                  <a:moveTo>
                    <a:pt x="146" y="0"/>
                  </a:moveTo>
                  <a:cubicBezTo>
                    <a:pt x="65" y="0"/>
                    <a:pt x="0" y="66"/>
                    <a:pt x="0" y="147"/>
                  </a:cubicBezTo>
                  <a:cubicBezTo>
                    <a:pt x="0" y="227"/>
                    <a:pt x="65" y="293"/>
                    <a:pt x="146" y="293"/>
                  </a:cubicBezTo>
                  <a:cubicBezTo>
                    <a:pt x="179" y="293"/>
                    <a:pt x="210" y="283"/>
                    <a:pt x="235" y="263"/>
                  </a:cubicBezTo>
                  <a:cubicBezTo>
                    <a:pt x="237"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8" y="226"/>
                    <a:pt x="259" y="228"/>
                    <a:pt x="261" y="230"/>
                  </a:cubicBezTo>
                  <a:cubicBezTo>
                    <a:pt x="263" y="231"/>
                    <a:pt x="266" y="231"/>
                    <a:pt x="267" y="229"/>
                  </a:cubicBezTo>
                  <a:cubicBezTo>
                    <a:pt x="284" y="204"/>
                    <a:pt x="292" y="176"/>
                    <a:pt x="292" y="147"/>
                  </a:cubicBezTo>
                  <a:cubicBezTo>
                    <a:pt x="292" y="66"/>
                    <a:pt x="227" y="0"/>
                    <a:pt x="146" y="0"/>
                  </a:cubicBezTo>
                  <a:close/>
                </a:path>
              </a:pathLst>
            </a:custGeom>
            <a:solidFill>
              <a:srgbClr val="C00000">
                <a:alpha val="0"/>
              </a:srgbClr>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68" name="Freeform 26">
              <a:extLst>
                <a:ext uri="{FF2B5EF4-FFF2-40B4-BE49-F238E27FC236}">
                  <a16:creationId xmlns:a16="http://schemas.microsoft.com/office/drawing/2014/main" id="{934E1512-78D9-476D-9EE0-2EEA7959B6DC}"/>
                </a:ext>
              </a:extLst>
            </p:cNvPr>
            <p:cNvSpPr>
              <a:spLocks/>
            </p:cNvSpPr>
            <p:nvPr/>
          </p:nvSpPr>
          <p:spPr bwMode="auto">
            <a:xfrm rot="16200000">
              <a:off x="6625794" y="2219906"/>
              <a:ext cx="71985" cy="40274"/>
            </a:xfrm>
            <a:custGeom>
              <a:avLst/>
              <a:gdLst>
                <a:gd name="T0" fmla="*/ 115 w 117"/>
                <a:gd name="T1" fmla="*/ 40 h 87"/>
                <a:gd name="T2" fmla="*/ 77 w 117"/>
                <a:gd name="T3" fmla="*/ 2 h 87"/>
                <a:gd name="T4" fmla="*/ 70 w 117"/>
                <a:gd name="T5" fmla="*/ 2 h 87"/>
                <a:gd name="T6" fmla="*/ 70 w 117"/>
                <a:gd name="T7" fmla="*/ 8 h 87"/>
                <a:gd name="T8" fmla="*/ 101 w 117"/>
                <a:gd name="T9" fmla="*/ 39 h 87"/>
                <a:gd name="T10" fmla="*/ 4 w 117"/>
                <a:gd name="T11" fmla="*/ 39 h 87"/>
                <a:gd name="T12" fmla="*/ 0 w 117"/>
                <a:gd name="T13" fmla="*/ 44 h 87"/>
                <a:gd name="T14" fmla="*/ 4 w 117"/>
                <a:gd name="T15" fmla="*/ 48 h 87"/>
                <a:gd name="T16" fmla="*/ 101 w 117"/>
                <a:gd name="T17" fmla="*/ 48 h 87"/>
                <a:gd name="T18" fmla="*/ 70 w 117"/>
                <a:gd name="T19" fmla="*/ 79 h 87"/>
                <a:gd name="T20" fmla="*/ 70 w 117"/>
                <a:gd name="T21" fmla="*/ 86 h 87"/>
                <a:gd name="T22" fmla="*/ 73 w 117"/>
                <a:gd name="T23" fmla="*/ 87 h 87"/>
                <a:gd name="T24" fmla="*/ 76 w 117"/>
                <a:gd name="T25" fmla="*/ 86 h 87"/>
                <a:gd name="T26" fmla="*/ 115 w 117"/>
                <a:gd name="T27" fmla="*/ 47 h 87"/>
                <a:gd name="T28" fmla="*/ 117 w 117"/>
                <a:gd name="T29" fmla="*/ 44 h 87"/>
                <a:gd name="T30" fmla="*/ 117 w 117"/>
                <a:gd name="T31" fmla="*/ 44 h 87"/>
                <a:gd name="T32" fmla="*/ 115 w 117"/>
                <a:gd name="T33"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87">
                  <a:moveTo>
                    <a:pt x="115" y="40"/>
                  </a:moveTo>
                  <a:cubicBezTo>
                    <a:pt x="77" y="2"/>
                    <a:pt x="77" y="2"/>
                    <a:pt x="77" y="2"/>
                  </a:cubicBezTo>
                  <a:cubicBezTo>
                    <a:pt x="75" y="0"/>
                    <a:pt x="72" y="0"/>
                    <a:pt x="70" y="2"/>
                  </a:cubicBezTo>
                  <a:cubicBezTo>
                    <a:pt x="68" y="3"/>
                    <a:pt x="68" y="6"/>
                    <a:pt x="70" y="8"/>
                  </a:cubicBezTo>
                  <a:cubicBezTo>
                    <a:pt x="101" y="39"/>
                    <a:pt x="101" y="39"/>
                    <a:pt x="101" y="39"/>
                  </a:cubicBezTo>
                  <a:cubicBezTo>
                    <a:pt x="4" y="39"/>
                    <a:pt x="4" y="39"/>
                    <a:pt x="4" y="39"/>
                  </a:cubicBezTo>
                  <a:cubicBezTo>
                    <a:pt x="2" y="39"/>
                    <a:pt x="0" y="41"/>
                    <a:pt x="0" y="44"/>
                  </a:cubicBezTo>
                  <a:cubicBezTo>
                    <a:pt x="0" y="46"/>
                    <a:pt x="2" y="48"/>
                    <a:pt x="4" y="48"/>
                  </a:cubicBezTo>
                  <a:cubicBezTo>
                    <a:pt x="101" y="48"/>
                    <a:pt x="101" y="48"/>
                    <a:pt x="101" y="48"/>
                  </a:cubicBezTo>
                  <a:cubicBezTo>
                    <a:pt x="70" y="79"/>
                    <a:pt x="70" y="79"/>
                    <a:pt x="70" y="79"/>
                  </a:cubicBezTo>
                  <a:cubicBezTo>
                    <a:pt x="68" y="81"/>
                    <a:pt x="68" y="84"/>
                    <a:pt x="70" y="86"/>
                  </a:cubicBezTo>
                  <a:cubicBezTo>
                    <a:pt x="71" y="87"/>
                    <a:pt x="72" y="87"/>
                    <a:pt x="73" y="87"/>
                  </a:cubicBezTo>
                  <a:cubicBezTo>
                    <a:pt x="74" y="87"/>
                    <a:pt x="75" y="87"/>
                    <a:pt x="76" y="86"/>
                  </a:cubicBezTo>
                  <a:cubicBezTo>
                    <a:pt x="115" y="47"/>
                    <a:pt x="115" y="47"/>
                    <a:pt x="115" y="47"/>
                  </a:cubicBezTo>
                  <a:cubicBezTo>
                    <a:pt x="116" y="47"/>
                    <a:pt x="117" y="45"/>
                    <a:pt x="117" y="44"/>
                  </a:cubicBezTo>
                  <a:cubicBezTo>
                    <a:pt x="117" y="44"/>
                    <a:pt x="117" y="44"/>
                    <a:pt x="117" y="44"/>
                  </a:cubicBezTo>
                  <a:cubicBezTo>
                    <a:pt x="117" y="42"/>
                    <a:pt x="116" y="41"/>
                    <a:pt x="115" y="40"/>
                  </a:cubicBezTo>
                  <a:close/>
                </a:path>
              </a:pathLst>
            </a:custGeom>
            <a:solidFill>
              <a:schemeClr val="accent6"/>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
        <p:nvSpPr>
          <p:cNvPr id="145" name="Rectangle 144">
            <a:extLst>
              <a:ext uri="{FF2B5EF4-FFF2-40B4-BE49-F238E27FC236}">
                <a16:creationId xmlns:a16="http://schemas.microsoft.com/office/drawing/2014/main" id="{EC88FFF1-074D-47A0-A5D1-379A83911C79}"/>
              </a:ext>
            </a:extLst>
          </p:cNvPr>
          <p:cNvSpPr/>
          <p:nvPr/>
        </p:nvSpPr>
        <p:spPr>
          <a:xfrm>
            <a:off x="600955" y="2442073"/>
            <a:ext cx="2395458"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grpSp>
        <p:nvGrpSpPr>
          <p:cNvPr id="171" name="Group 170">
            <a:extLst>
              <a:ext uri="{FF2B5EF4-FFF2-40B4-BE49-F238E27FC236}">
                <a16:creationId xmlns:a16="http://schemas.microsoft.com/office/drawing/2014/main" id="{86CD8B92-BE88-48FF-835A-5BC833A1B601}"/>
              </a:ext>
            </a:extLst>
          </p:cNvPr>
          <p:cNvGrpSpPr/>
          <p:nvPr/>
        </p:nvGrpSpPr>
        <p:grpSpPr>
          <a:xfrm>
            <a:off x="3070258" y="2097815"/>
            <a:ext cx="117815" cy="119583"/>
            <a:chOff x="5895953" y="2146311"/>
            <a:chExt cx="162010" cy="164441"/>
          </a:xfrm>
        </p:grpSpPr>
        <p:sp>
          <p:nvSpPr>
            <p:cNvPr id="172" name="Freeform 61">
              <a:extLst>
                <a:ext uri="{FF2B5EF4-FFF2-40B4-BE49-F238E27FC236}">
                  <a16:creationId xmlns:a16="http://schemas.microsoft.com/office/drawing/2014/main" id="{57E7BE26-3037-4BAA-9C77-367DFC8F99C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73" name="Freeform 62">
              <a:extLst>
                <a:ext uri="{FF2B5EF4-FFF2-40B4-BE49-F238E27FC236}">
                  <a16:creationId xmlns:a16="http://schemas.microsoft.com/office/drawing/2014/main" id="{1AE7625B-D6AA-4D89-8BE0-053A3FF1F931}"/>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
        <p:nvSpPr>
          <p:cNvPr id="146" name="Rectangle 145">
            <a:extLst>
              <a:ext uri="{FF2B5EF4-FFF2-40B4-BE49-F238E27FC236}">
                <a16:creationId xmlns:a16="http://schemas.microsoft.com/office/drawing/2014/main" id="{FF86761B-203C-4DA4-B8E6-B665DA1E471C}"/>
              </a:ext>
            </a:extLst>
          </p:cNvPr>
          <p:cNvSpPr/>
          <p:nvPr/>
        </p:nvSpPr>
        <p:spPr>
          <a:xfrm>
            <a:off x="612104" y="2898779"/>
            <a:ext cx="2940686"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sp>
        <p:nvSpPr>
          <p:cNvPr id="62" name="Text Placeholder 9">
            <a:extLst>
              <a:ext uri="{FF2B5EF4-FFF2-40B4-BE49-F238E27FC236}">
                <a16:creationId xmlns:a16="http://schemas.microsoft.com/office/drawing/2014/main" id="{E3324796-4903-471D-87CA-71FB80C88F88}"/>
              </a:ext>
            </a:extLst>
          </p:cNvPr>
          <p:cNvSpPr txBox="1">
            <a:spLocks/>
          </p:cNvSpPr>
          <p:nvPr/>
        </p:nvSpPr>
        <p:spPr>
          <a:xfrm>
            <a:off x="317497" y="1151803"/>
            <a:ext cx="3754439"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t xml:space="preserve">Data for the reporting period</a:t>
            </a:r>
          </a:p>
        </p:txBody>
      </p:sp>
      <p:sp>
        <p:nvSpPr>
          <p:cNvPr id="63" name="Text Placeholder 9">
            <a:extLst>
              <a:ext uri="{FF2B5EF4-FFF2-40B4-BE49-F238E27FC236}">
                <a16:creationId xmlns:a16="http://schemas.microsoft.com/office/drawing/2014/main" id="{AEF2EC1E-CCB0-41BF-AA29-71697E83E9DE}"/>
              </a:ext>
            </a:extLst>
          </p:cNvPr>
          <p:cNvSpPr txBox="1">
            <a:spLocks/>
          </p:cNvSpPr>
          <p:nvPr/>
        </p:nvSpPr>
        <p:spPr>
          <a:xfrm>
            <a:off x="317498" y="810996"/>
            <a:ext cx="3754439" cy="215444"/>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400" b="1" noProof="0" dirty="0">
                <a:solidFill>
                  <a:schemeClr val="tx1"/>
                </a:solidFill>
              </a:rPr>
              <a:t xml:space="preserve">Risk management and assurance</a:t>
            </a:r>
          </a:p>
        </p:txBody>
      </p:sp>
      <p:sp>
        <p:nvSpPr>
          <p:cNvPr id="116" name="Rectangle: Rounded Corners 18">
            <a:extLst>
              <a:ext uri="{FF2B5EF4-FFF2-40B4-BE49-F238E27FC236}">
                <a16:creationId xmlns:a16="http://schemas.microsoft.com/office/drawing/2014/main" id="{9638F73D-4DFD-40E4-A1A5-B4D97A4DFB71}"/>
              </a:ext>
            </a:extLst>
          </p:cNvPr>
          <p:cNvSpPr/>
          <p:nvPr/>
        </p:nvSpPr>
        <p:spPr>
          <a:xfrm>
            <a:off x="4218456" y="1506771"/>
            <a:ext cx="7734783" cy="5040079"/>
          </a:xfrm>
          <a:prstGeom prst="roundRect">
            <a:avLst>
              <a:gd name="adj" fmla="val 5490"/>
            </a:avLst>
          </a:prstGeom>
          <a:gradFill flip="none" rotWithShape="1">
            <a:gsLst>
              <a:gs pos="52000">
                <a:schemeClr val="accent5">
                  <a:lumMod val="10000"/>
                  <a:lumOff val="90000"/>
                </a:schemeClr>
              </a:gs>
              <a:gs pos="100000">
                <a:schemeClr val="accent5">
                  <a:lumMod val="25000"/>
                  <a:lumOff val="75000"/>
                </a:schemeClr>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en-US" sz="1200" noProof="0" dirty="0">
              <a:solidFill>
                <a:schemeClr val="accent1"/>
              </a:solidFill>
            </a:endParaRPr>
          </a:p>
        </p:txBody>
      </p:sp>
      <p:graphicFrame>
        <p:nvGraphicFramePr>
          <p:cNvPr id="117" name="Таблица 116"/>
          <p:cNvGraphicFramePr>
            <a:graphicFrameLocks noGrp="1"/>
          </p:cNvGraphicFramePr>
          <p:nvPr>
            <p:extLst/>
          </p:nvPr>
        </p:nvGraphicFramePr>
        <p:xfrm>
          <a:off x="4218455" y="1544937"/>
          <a:ext cx="7734784" cy="4754880"/>
        </p:xfrm>
        <a:graphic>
          <a:graphicData uri="http://schemas.openxmlformats.org/drawingml/2006/table">
            <a:tbl>
              <a:tblPr firstRow="1" bandRow="1">
                <a:tableStyleId>{5C22544A-7EE6-4342-B048-85BDC9FD1C3A}</a:tableStyleId>
              </a:tblPr>
              <a:tblGrid>
                <a:gridCol w="2456244">
                  <a:extLst>
                    <a:ext uri="{9D8B030D-6E8A-4147-A177-3AD203B41FA5}">
                      <a16:colId xmlns:a16="http://schemas.microsoft.com/office/drawing/2014/main" val="1821811835"/>
                    </a:ext>
                  </a:extLst>
                </a:gridCol>
                <a:gridCol w="1432700">
                  <a:extLst>
                    <a:ext uri="{9D8B030D-6E8A-4147-A177-3AD203B41FA5}">
                      <a16:colId xmlns:a16="http://schemas.microsoft.com/office/drawing/2014/main" val="263508044"/>
                    </a:ext>
                  </a:extLst>
                </a:gridCol>
                <a:gridCol w="2229113">
                  <a:extLst>
                    <a:ext uri="{9D8B030D-6E8A-4147-A177-3AD203B41FA5}">
                      <a16:colId xmlns:a16="http://schemas.microsoft.com/office/drawing/2014/main" val="3436555293"/>
                    </a:ext>
                  </a:extLst>
                </a:gridCol>
                <a:gridCol w="1616727">
                  <a:extLst>
                    <a:ext uri="{9D8B030D-6E8A-4147-A177-3AD203B41FA5}">
                      <a16:colId xmlns:a16="http://schemas.microsoft.com/office/drawing/2014/main" val="2625297179"/>
                    </a:ext>
                  </a:extLst>
                </a:gridCol>
              </a:tblGrid>
              <a:tr h="198719">
                <a:tc>
                  <a:txBody>
                    <a:bodyPr/>
                    <a:lstStyle/>
                    <a:p>
                      <a:pPr marL="0" marR="0" lvl="0" indent="0" algn="just"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 xml:space="preserve">Major changes in legislation and regulatory framework</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 xml:space="preserve">Major business events</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 xml:space="preserve">Compliance challenges/actions</a:t>
                      </a:r>
                      <a:r>
                        <a:rPr lang="ru" sz="800" b="1" noProof="0" dirty="0" smtClean="0">
                          <a:solidFill>
                            <a:schemeClr val="tx1"/>
                          </a:solidFill>
                        </a:rPr>
                        <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 xml:space="preserve">Providing guarantees</a:t>
                      </a:r>
                      <a:r>
                        <a:rPr lang="ru" sz="800" b="1" noProof="0" dirty="0" smtClean="0">
                          <a:solidFill>
                            <a:schemeClr val="tx1"/>
                          </a:solidFill>
                        </a:rPr>
                        <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7772750"/>
                  </a:ext>
                </a:extLst>
              </a:tr>
              <a:tr h="370840">
                <a:tc>
                  <a:txBody>
                    <a:bodyPr/>
                    <a:lstStyle/>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 xml:space="preserve">In 4th quarter 2025, the strengthening of sanctions regimes against the Russian Federation continued from the United States (the OFAC SDN sanctions list dated October 22, 2025 included the 2 largest Russian oil companies - Rosneft and Lukoil with all subsidiaries) and the EU (the 19th package of sanctions dated October 23, 2025, which included more than 100 individuals and legal entities of the Russian Federation in EU sanctions and Belarus, and additional sectoral restrictions were introduced in relation to both countries).</a:t>
                      </a:r>
                    </a:p>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endParaRPr lang="ru-RU" sz="800" kern="1200" dirty="0" smtClean="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 xml:space="preserve">No changes have been identified that significantly affect the implementation of the Perimeter Annual Compliance Program</a:t>
                      </a:r>
                      <a:endParaRPr lang="ru-RU" sz="800" kern="1200" baseline="0" dirty="0" smtClean="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 xml:space="preserve">47 contracts for the purchase of industrial and industrial components were identified, in which restrictions affected both contractors and manufacturers of purchased products. Significant impact of the sanctions adopted in the 4th quarter. 2025, no short circuit was identified for the Perimeter business.</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 xml:space="preserve">An audit is being carried out as part of 14 controls - during the reporting period, no transactions related to sanctions risks were identified within 380 requests.</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 sz="800" kern="1200" noProof="0" dirty="0" smtClean="0">
                          <a:solidFill>
                            <a:schemeClr val="tx1"/>
                          </a:solidFill>
                          <a:latin typeface="+mn-lt"/>
                          <a:ea typeface="+mn-ea"/>
                          <a:cs typeface="+mn-cs"/>
                        </a:rPr>
                        <a:t xml:space="preserve">Monitoring of new sanctions, identification and monitoring of contracts at risk continues.</a:t>
                      </a:r>
                      <a:r>
                        <a:rPr lang="ru" sz="800" kern="1200" noProof="0" dirty="0">
                          <a:solidFill>
                            <a:schemeClr val="tx1"/>
                          </a:solidFill>
                          <a:latin typeface="+mn-lt"/>
                          <a:ea typeface="+mn-ea"/>
                          <a:cs typeface="+mn-cs"/>
                        </a:rPr>
                        <a:t/>
                      </a:r>
                      <a:r>
                        <a:rPr lang="ru" sz="800" kern="1200" noProof="0" dirty="0" smtClean="0">
                          <a:solidFill>
                            <a:schemeClr val="tx1"/>
                          </a:solidFill>
                          <a:latin typeface="+mn-lt"/>
                          <a:ea typeface="+mn-ea"/>
                          <a:cs typeface="+mn-cs"/>
                        </a:rPr>
                        <a:t/>
                      </a:r>
                      <a:endParaRPr lang="ru-RU" sz="8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noProof="0" dirty="0" smtClean="0">
                          <a:solidFill>
                            <a:schemeClr val="tx1"/>
                          </a:solidFill>
                          <a:latin typeface="+mn-lt"/>
                          <a:ea typeface="+mn-ea"/>
                          <a:cs typeface="+mn-cs"/>
                        </a:rPr>
                        <a:t xml:space="preserve">At the Perimeter level, self-testing of controls was carried out for the processes G&amp;E, CI, PD, KPK, Compliance List, Business and Social Responsibility / CSR - no significant deviations were identified (information is presented on subsequent slides).</a:t>
                      </a:r>
                      <a:r>
                        <a:rPr lang="en-US" sz="800" kern="1200" noProof="0" dirty="0" smtClean="0">
                          <a:solidFill>
                            <a:schemeClr val="tx1"/>
                          </a:solidFill>
                          <a:latin typeface="+mn-lt"/>
                          <a:ea typeface="+mn-ea"/>
                          <a:cs typeface="+mn-cs"/>
                        </a:rPr>
                        <a:t/>
                      </a:r>
                      <a:r>
                        <a:rPr lang="kk-KZ" sz="800" kern="1200" noProof="0" dirty="0" smtClean="0">
                          <a:solidFill>
                            <a:schemeClr val="tx1"/>
                          </a:solidFill>
                          <a:latin typeface="+mn-lt"/>
                          <a:ea typeface="+mn-ea"/>
                          <a:cs typeface="+mn-cs"/>
                        </a:rPr>
                        <a:t/>
                      </a:r>
                      <a:r>
                        <a:rPr lang="ru-RU" sz="800" kern="1200" noProof="0" dirty="0" smtClean="0">
                          <a:solidFill>
                            <a:schemeClr val="tx1"/>
                          </a:solidFill>
                          <a:latin typeface="+mn-lt"/>
                          <a:ea typeface="+mn-ea"/>
                          <a:cs typeface="+mn-cs"/>
                        </a:rPr>
                        <a:t/>
                      </a:r>
                      <a:r>
                        <a:rPr lang="ru-RU" sz="800" i="1" kern="1200" noProof="0" dirty="0" smtClean="0">
                          <a:solidFill>
                            <a:schemeClr val="tx1"/>
                          </a:solidFill>
                          <a:latin typeface="+mn-lt"/>
                          <a:ea typeface="+mn-ea"/>
                          <a:cs typeface="+mn-cs"/>
                        </a:rPr>
                        <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noProof="0" dirty="0" smtClean="0">
                          <a:solidFill>
                            <a:schemeClr val="tx1"/>
                          </a:solidFill>
                          <a:latin typeface="+mn-lt"/>
                          <a:ea typeface="+mn-ea"/>
                          <a:cs typeface="+mn-cs"/>
                        </a:rPr>
                        <a:t xml:space="preserve">Perimeter Compliance Kazakhstan participates in the Group’s projects to provide compliance guarantees on a regular basis.</a:t>
                      </a:r>
                      <a:r>
                        <a:rPr lang="ru-RU" sz="800" kern="1200" noProof="0" dirty="0">
                          <a:solidFill>
                            <a:schemeClr val="tx1"/>
                          </a:solidFill>
                          <a:latin typeface="+mn-lt"/>
                          <a:ea typeface="+mn-ea"/>
                          <a:cs typeface="+mn-cs"/>
                        </a:rPr>
                        <a:t/>
                      </a:r>
                      <a:r>
                        <a:rPr lang="ru-RU" sz="800" kern="1200" noProof="0" dirty="0" smtClean="0">
                          <a:solidFill>
                            <a:schemeClr val="tx1"/>
                          </a:solidFill>
                          <a:latin typeface="+mn-lt"/>
                          <a:ea typeface="+mn-ea"/>
                          <a:cs typeface="+mn-cs"/>
                        </a:rPr>
                        <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noProof="0" dirty="0" smtClean="0">
                          <a:solidFill>
                            <a:schemeClr val="tx1"/>
                          </a:solidFill>
                          <a:latin typeface="+mn-lt"/>
                          <a:ea typeface="+mn-ea"/>
                          <a:cs typeface="+mn-cs"/>
                        </a:rPr>
                        <a:t xml:space="preserve">During the reporting period, no risks were identified in the area of ​​compliance with the antimonopoly legislation of the Republic of Kazakhstan.</a:t>
                      </a:r>
                      <a:endParaRPr lang="ru-RU" sz="800" kern="1200" noProof="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421435"/>
                  </a:ext>
                </a:extLst>
              </a:tr>
              <a:tr h="0">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b="1" dirty="0">
                          <a:solidFill>
                            <a:schemeClr val="tx1"/>
                          </a:solidFill>
                        </a:rPr>
                        <a:t xml:space="preserve">Strengthening regulation in national legislation</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 xml:space="preserve">Major business events</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 xml:space="preserve">Compliance challenges/actions</a:t>
                      </a:r>
                      <a:r>
                        <a:rPr lang="ru" sz="800" b="1" noProof="0" dirty="0" smtClean="0">
                          <a:solidFill>
                            <a:schemeClr val="tx1"/>
                          </a:solidFill>
                        </a:rPr>
                        <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sz="700" dirty="0">
                        <a:solidFill>
                          <a:sysClr val="windowText" lastClr="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2906660779"/>
                  </a:ext>
                </a:extLst>
              </a:tr>
              <a:tr h="370840">
                <a:tc>
                  <a:txBody>
                    <a:bodyPr/>
                    <a:lstStyle/>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 xml:space="preserve">On November 17, 2025, the Law of the Republic of Kazakhstan “On Artificial Intelligence” was signed and on January 18, 2026, it came into force, defining the rules for the development and application of AI and introducing new regulatory requirements. Concomitant changes have been made to related acts.</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 xml:space="preserve">On 01/09/2026, the Digital Code of the Republic of Kazakhstan was adopted (valid from 07/11/2026), establishing a unified legal framework for digitalization, AI, cybersecurity and establishing digital rights.</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 xml:space="preserve">Changes in government price regulation may increase the costs of natural monopolies, including Perimeter enterprises, increasing financial and regulatory risks.</a:t>
                      </a:r>
                      <a:r>
                        <a:rPr lang="ru-RU" sz="800" kern="1200" baseline="0" dirty="0" smtClean="0">
                          <a:solidFill>
                            <a:schemeClr val="tx1"/>
                          </a:solidFill>
                          <a:latin typeface="+mn-lt"/>
                          <a:ea typeface="+mn-ea"/>
                          <a:cs typeface="+mn-cs"/>
                        </a:rPr>
                        <a:t/>
                      </a:r>
                      <a:r>
                        <a:rPr lang="ru-RU" sz="800" kern="1200" dirty="0" smtClean="0">
                          <a:solidFill>
                            <a:schemeClr val="tx1"/>
                          </a:solidFill>
                          <a:latin typeface="+mn-lt"/>
                          <a:ea typeface="+mn-ea"/>
                          <a:cs typeface="+mn-cs"/>
                        </a:rPr>
                        <a:t/>
                      </a:r>
                      <a:endParaRPr lang="ru-RU" sz="8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 xml:space="preserve">No changes have been identified that significantly affect the implementation of the Perimeter Annual Compliance Program</a:t>
                      </a:r>
                      <a:endParaRPr lang="ru-RU" sz="800" kern="1200" baseline="0" dirty="0" smtClean="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 xml:space="preserve">Based on the results of the preliminary assessment, no significant impact on the business was identified. Monitoring continues.</a:t>
                      </a:r>
                      <a:r>
                        <a:rPr lang="ru-RU" sz="800" strike="noStrike" kern="1200" dirty="0" smtClean="0">
                          <a:solidFill>
                            <a:schemeClr val="tx1"/>
                          </a:solidFill>
                          <a:latin typeface="+mn-lt"/>
                          <a:ea typeface="+mn-ea"/>
                          <a:cs typeface="+mn-cs"/>
                        </a:rPr>
                        <a:t/>
                      </a:r>
                      <a:r>
                        <a:rPr lang="ru-RU" sz="800" kern="1200" dirty="0" smtClean="0">
                          <a:solidFill>
                            <a:schemeClr val="tx1"/>
                          </a:solidFill>
                          <a:latin typeface="+mn-lt"/>
                          <a:ea typeface="+mn-ea"/>
                          <a:cs typeface="+mn-cs"/>
                        </a:rPr>
                        <a:t/>
                      </a:r>
                      <a:r>
                        <a:rPr lang="ru-RU" sz="800" kern="1200" dirty="0">
                          <a:solidFill>
                            <a:schemeClr val="tx1"/>
                          </a:solidFill>
                          <a:latin typeface="+mn-lt"/>
                          <a:ea typeface="+mn-ea"/>
                          <a:cs typeface="+mn-cs"/>
                        </a:rPr>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sz="700" dirty="0">
                        <a:solidFill>
                          <a:sysClr val="windowText" lastClr="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348586917"/>
                  </a:ext>
                </a:extLst>
              </a:tr>
            </a:tbl>
          </a:graphicData>
        </a:graphic>
      </p:graphicFrame>
      <p:grpSp>
        <p:nvGrpSpPr>
          <p:cNvPr id="94" name="Group 170">
            <a:extLst>
              <a:ext uri="{FF2B5EF4-FFF2-40B4-BE49-F238E27FC236}">
                <a16:creationId xmlns:a16="http://schemas.microsoft.com/office/drawing/2014/main" id="{86CD8B92-BE88-48FF-835A-5BC833A1B601}"/>
              </a:ext>
            </a:extLst>
          </p:cNvPr>
          <p:cNvGrpSpPr/>
          <p:nvPr/>
        </p:nvGrpSpPr>
        <p:grpSpPr>
          <a:xfrm>
            <a:off x="3069018" y="3183004"/>
            <a:ext cx="117815" cy="119583"/>
            <a:chOff x="5895953" y="2146311"/>
            <a:chExt cx="162010" cy="164441"/>
          </a:xfrm>
          <a:solidFill>
            <a:srgbClr val="00BC2D"/>
          </a:solidFill>
        </p:grpSpPr>
        <p:sp>
          <p:nvSpPr>
            <p:cNvPr id="95" name="Freeform 61">
              <a:extLst>
                <a:ext uri="{FF2B5EF4-FFF2-40B4-BE49-F238E27FC236}">
                  <a16:creationId xmlns:a16="http://schemas.microsoft.com/office/drawing/2014/main" id="{57E7BE26-3037-4BAA-9C77-367DFC8F99C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grp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solidFill>
                  <a:srgbClr val="00BC2D"/>
                </a:solidFill>
              </a:endParaRPr>
            </a:p>
          </p:txBody>
        </p:sp>
        <p:sp>
          <p:nvSpPr>
            <p:cNvPr id="96" name="Freeform 62">
              <a:extLst>
                <a:ext uri="{FF2B5EF4-FFF2-40B4-BE49-F238E27FC236}">
                  <a16:creationId xmlns:a16="http://schemas.microsoft.com/office/drawing/2014/main" id="{1AE7625B-D6AA-4D89-8BE0-053A3FF1F931}"/>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grp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solidFill>
                  <a:srgbClr val="00BC2D"/>
                </a:solidFill>
              </a:endParaRPr>
            </a:p>
          </p:txBody>
        </p:sp>
      </p:grpSp>
      <p:grpSp>
        <p:nvGrpSpPr>
          <p:cNvPr id="97" name="Group 170">
            <a:extLst>
              <a:ext uri="{FF2B5EF4-FFF2-40B4-BE49-F238E27FC236}">
                <a16:creationId xmlns:a16="http://schemas.microsoft.com/office/drawing/2014/main" id="{86CD8B92-BE88-48FF-835A-5BC833A1B601}"/>
              </a:ext>
            </a:extLst>
          </p:cNvPr>
          <p:cNvGrpSpPr/>
          <p:nvPr/>
        </p:nvGrpSpPr>
        <p:grpSpPr>
          <a:xfrm>
            <a:off x="3070234" y="3563875"/>
            <a:ext cx="117815" cy="119583"/>
            <a:chOff x="5895953" y="2146311"/>
            <a:chExt cx="162010" cy="164441"/>
          </a:xfrm>
        </p:grpSpPr>
        <p:sp>
          <p:nvSpPr>
            <p:cNvPr id="98" name="Freeform 61">
              <a:extLst>
                <a:ext uri="{FF2B5EF4-FFF2-40B4-BE49-F238E27FC236}">
                  <a16:creationId xmlns:a16="http://schemas.microsoft.com/office/drawing/2014/main" id="{57E7BE26-3037-4BAA-9C77-367DFC8F99C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99" name="Freeform 62">
              <a:extLst>
                <a:ext uri="{FF2B5EF4-FFF2-40B4-BE49-F238E27FC236}">
                  <a16:creationId xmlns:a16="http://schemas.microsoft.com/office/drawing/2014/main" id="{1AE7625B-D6AA-4D89-8BE0-053A3FF1F931}"/>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
        <p:nvSpPr>
          <p:cNvPr id="105" name="Rectangle 144">
            <a:extLst>
              <a:ext uri="{FF2B5EF4-FFF2-40B4-BE49-F238E27FC236}">
                <a16:creationId xmlns:a16="http://schemas.microsoft.com/office/drawing/2014/main" id="{EC88FFF1-074D-47A0-A5D1-379A83911C79}"/>
              </a:ext>
            </a:extLst>
          </p:cNvPr>
          <p:cNvSpPr/>
          <p:nvPr/>
        </p:nvSpPr>
        <p:spPr>
          <a:xfrm>
            <a:off x="600953" y="5093945"/>
            <a:ext cx="2395458"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grpSp>
        <p:nvGrpSpPr>
          <p:cNvPr id="106" name="Group 170">
            <a:extLst>
              <a:ext uri="{FF2B5EF4-FFF2-40B4-BE49-F238E27FC236}">
                <a16:creationId xmlns:a16="http://schemas.microsoft.com/office/drawing/2014/main" id="{86CD8B92-BE88-48FF-835A-5BC833A1B601}"/>
              </a:ext>
            </a:extLst>
          </p:cNvPr>
          <p:cNvGrpSpPr/>
          <p:nvPr/>
        </p:nvGrpSpPr>
        <p:grpSpPr>
          <a:xfrm>
            <a:off x="3070234" y="4756822"/>
            <a:ext cx="117815" cy="119583"/>
            <a:chOff x="5895953" y="2146311"/>
            <a:chExt cx="162010" cy="164441"/>
          </a:xfrm>
        </p:grpSpPr>
        <p:sp>
          <p:nvSpPr>
            <p:cNvPr id="107" name="Freeform 61">
              <a:extLst>
                <a:ext uri="{FF2B5EF4-FFF2-40B4-BE49-F238E27FC236}">
                  <a16:creationId xmlns:a16="http://schemas.microsoft.com/office/drawing/2014/main" id="{57E7BE26-3037-4BAA-9C77-367DFC8F99C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22" name="Freeform 62">
              <a:extLst>
                <a:ext uri="{FF2B5EF4-FFF2-40B4-BE49-F238E27FC236}">
                  <a16:creationId xmlns:a16="http://schemas.microsoft.com/office/drawing/2014/main" id="{1AE7625B-D6AA-4D89-8BE0-053A3FF1F931}"/>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
        <p:nvSpPr>
          <p:cNvPr id="130" name="Rectangle 145">
            <a:extLst>
              <a:ext uri="{FF2B5EF4-FFF2-40B4-BE49-F238E27FC236}">
                <a16:creationId xmlns:a16="http://schemas.microsoft.com/office/drawing/2014/main" id="{FF86761B-203C-4DA4-B8E6-B665DA1E471C}"/>
              </a:ext>
            </a:extLst>
          </p:cNvPr>
          <p:cNvSpPr/>
          <p:nvPr/>
        </p:nvSpPr>
        <p:spPr>
          <a:xfrm>
            <a:off x="612102" y="5550651"/>
            <a:ext cx="2940686"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grpSp>
        <p:nvGrpSpPr>
          <p:cNvPr id="153" name="Group 170">
            <a:extLst>
              <a:ext uri="{FF2B5EF4-FFF2-40B4-BE49-F238E27FC236}">
                <a16:creationId xmlns:a16="http://schemas.microsoft.com/office/drawing/2014/main" id="{86CD8B92-BE88-48FF-835A-5BC833A1B601}"/>
              </a:ext>
            </a:extLst>
          </p:cNvPr>
          <p:cNvGrpSpPr/>
          <p:nvPr/>
        </p:nvGrpSpPr>
        <p:grpSpPr>
          <a:xfrm>
            <a:off x="3069017" y="5840488"/>
            <a:ext cx="117815" cy="119583"/>
            <a:chOff x="5895953" y="2146311"/>
            <a:chExt cx="162010" cy="164441"/>
          </a:xfrm>
        </p:grpSpPr>
        <p:sp>
          <p:nvSpPr>
            <p:cNvPr id="154" name="Freeform 61">
              <a:extLst>
                <a:ext uri="{FF2B5EF4-FFF2-40B4-BE49-F238E27FC236}">
                  <a16:creationId xmlns:a16="http://schemas.microsoft.com/office/drawing/2014/main" id="{57E7BE26-3037-4BAA-9C77-367DFC8F99C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56" name="Freeform 62">
              <a:extLst>
                <a:ext uri="{FF2B5EF4-FFF2-40B4-BE49-F238E27FC236}">
                  <a16:creationId xmlns:a16="http://schemas.microsoft.com/office/drawing/2014/main" id="{1AE7625B-D6AA-4D89-8BE0-053A3FF1F931}"/>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158" name="Group 170">
            <a:extLst>
              <a:ext uri="{FF2B5EF4-FFF2-40B4-BE49-F238E27FC236}">
                <a16:creationId xmlns:a16="http://schemas.microsoft.com/office/drawing/2014/main" id="{86CD8B92-BE88-48FF-835A-5BC833A1B601}"/>
              </a:ext>
            </a:extLst>
          </p:cNvPr>
          <p:cNvGrpSpPr/>
          <p:nvPr/>
        </p:nvGrpSpPr>
        <p:grpSpPr>
          <a:xfrm>
            <a:off x="3074435" y="6221091"/>
            <a:ext cx="117815" cy="119583"/>
            <a:chOff x="5895953" y="2146311"/>
            <a:chExt cx="162010" cy="164441"/>
          </a:xfrm>
        </p:grpSpPr>
        <p:sp>
          <p:nvSpPr>
            <p:cNvPr id="159" name="Freeform 61">
              <a:extLst>
                <a:ext uri="{FF2B5EF4-FFF2-40B4-BE49-F238E27FC236}">
                  <a16:creationId xmlns:a16="http://schemas.microsoft.com/office/drawing/2014/main" id="{57E7BE26-3037-4BAA-9C77-367DFC8F99C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61" name="Freeform 62">
              <a:extLst>
                <a:ext uri="{FF2B5EF4-FFF2-40B4-BE49-F238E27FC236}">
                  <a16:creationId xmlns:a16="http://schemas.microsoft.com/office/drawing/2014/main" id="{1AE7625B-D6AA-4D89-8BE0-053A3FF1F931}"/>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164" name="Group 170">
            <a:extLst>
              <a:ext uri="{FF2B5EF4-FFF2-40B4-BE49-F238E27FC236}">
                <a16:creationId xmlns:a16="http://schemas.microsoft.com/office/drawing/2014/main" id="{86CD8B92-BE88-48FF-835A-5BC833A1B601}"/>
              </a:ext>
            </a:extLst>
          </p:cNvPr>
          <p:cNvGrpSpPr/>
          <p:nvPr/>
        </p:nvGrpSpPr>
        <p:grpSpPr>
          <a:xfrm>
            <a:off x="3069018" y="5122937"/>
            <a:ext cx="117815" cy="119583"/>
            <a:chOff x="5895953" y="2146311"/>
            <a:chExt cx="162010" cy="164441"/>
          </a:xfrm>
        </p:grpSpPr>
        <p:sp>
          <p:nvSpPr>
            <p:cNvPr id="165" name="Freeform 61">
              <a:extLst>
                <a:ext uri="{FF2B5EF4-FFF2-40B4-BE49-F238E27FC236}">
                  <a16:creationId xmlns:a16="http://schemas.microsoft.com/office/drawing/2014/main" id="{57E7BE26-3037-4BAA-9C77-367DFC8F99C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67" name="Freeform 62">
              <a:extLst>
                <a:ext uri="{FF2B5EF4-FFF2-40B4-BE49-F238E27FC236}">
                  <a16:creationId xmlns:a16="http://schemas.microsoft.com/office/drawing/2014/main" id="{1AE7625B-D6AA-4D89-8BE0-053A3FF1F931}"/>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45" name="Group 10">
            <a:extLst>
              <a:ext uri="{FF2B5EF4-FFF2-40B4-BE49-F238E27FC236}">
                <a16:creationId xmlns:a16="http://schemas.microsoft.com/office/drawing/2014/main" id="{6CF858B7-C433-4DEF-B1D5-5EA88F2A7444}"/>
              </a:ext>
            </a:extLst>
          </p:cNvPr>
          <p:cNvGrpSpPr/>
          <p:nvPr/>
        </p:nvGrpSpPr>
        <p:grpSpPr>
          <a:xfrm>
            <a:off x="3070238" y="2813721"/>
            <a:ext cx="117815" cy="119583"/>
            <a:chOff x="6580783" y="2157819"/>
            <a:chExt cx="162010" cy="164441"/>
          </a:xfrm>
        </p:grpSpPr>
        <p:sp>
          <p:nvSpPr>
            <p:cNvPr id="46" name="Freeform 27">
              <a:extLst>
                <a:ext uri="{FF2B5EF4-FFF2-40B4-BE49-F238E27FC236}">
                  <a16:creationId xmlns:a16="http://schemas.microsoft.com/office/drawing/2014/main" id="{3C5D3936-7411-4BD0-BA82-1DE9FA4114E9}"/>
                </a:ext>
              </a:extLst>
            </p:cNvPr>
            <p:cNvSpPr>
              <a:spLocks/>
            </p:cNvSpPr>
            <p:nvPr/>
          </p:nvSpPr>
          <p:spPr bwMode="auto">
            <a:xfrm>
              <a:off x="6580783" y="2157819"/>
              <a:ext cx="162010" cy="164441"/>
            </a:xfrm>
            <a:custGeom>
              <a:avLst/>
              <a:gdLst>
                <a:gd name="T0" fmla="*/ 146 w 292"/>
                <a:gd name="T1" fmla="*/ 0 h 293"/>
                <a:gd name="T2" fmla="*/ 0 w 292"/>
                <a:gd name="T3" fmla="*/ 147 h 293"/>
                <a:gd name="T4" fmla="*/ 146 w 292"/>
                <a:gd name="T5" fmla="*/ 293 h 293"/>
                <a:gd name="T6" fmla="*/ 235 w 292"/>
                <a:gd name="T7" fmla="*/ 263 h 293"/>
                <a:gd name="T8" fmla="*/ 236 w 292"/>
                <a:gd name="T9" fmla="*/ 256 h 293"/>
                <a:gd name="T10" fmla="*/ 230 w 292"/>
                <a:gd name="T11" fmla="*/ 255 h 293"/>
                <a:gd name="T12" fmla="*/ 146 w 292"/>
                <a:gd name="T13" fmla="*/ 284 h 293"/>
                <a:gd name="T14" fmla="*/ 9 w 292"/>
                <a:gd name="T15" fmla="*/ 147 h 293"/>
                <a:gd name="T16" fmla="*/ 146 w 292"/>
                <a:gd name="T17" fmla="*/ 10 h 293"/>
                <a:gd name="T18" fmla="*/ 283 w 292"/>
                <a:gd name="T19" fmla="*/ 147 h 293"/>
                <a:gd name="T20" fmla="*/ 260 w 292"/>
                <a:gd name="T21" fmla="*/ 223 h 293"/>
                <a:gd name="T22" fmla="*/ 261 w 292"/>
                <a:gd name="T23" fmla="*/ 230 h 293"/>
                <a:gd name="T24" fmla="*/ 267 w 292"/>
                <a:gd name="T25" fmla="*/ 229 h 293"/>
                <a:gd name="T26" fmla="*/ 292 w 292"/>
                <a:gd name="T27" fmla="*/ 147 h 293"/>
                <a:gd name="T28" fmla="*/ 146 w 292"/>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2" h="293">
                  <a:moveTo>
                    <a:pt x="146" y="0"/>
                  </a:moveTo>
                  <a:cubicBezTo>
                    <a:pt x="65" y="0"/>
                    <a:pt x="0" y="66"/>
                    <a:pt x="0" y="147"/>
                  </a:cubicBezTo>
                  <a:cubicBezTo>
                    <a:pt x="0" y="227"/>
                    <a:pt x="65" y="293"/>
                    <a:pt x="146" y="293"/>
                  </a:cubicBezTo>
                  <a:cubicBezTo>
                    <a:pt x="179" y="293"/>
                    <a:pt x="210" y="283"/>
                    <a:pt x="235" y="263"/>
                  </a:cubicBezTo>
                  <a:cubicBezTo>
                    <a:pt x="237"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8" y="226"/>
                    <a:pt x="259" y="228"/>
                    <a:pt x="261" y="230"/>
                  </a:cubicBezTo>
                  <a:cubicBezTo>
                    <a:pt x="263" y="231"/>
                    <a:pt x="266" y="231"/>
                    <a:pt x="267" y="229"/>
                  </a:cubicBezTo>
                  <a:cubicBezTo>
                    <a:pt x="284" y="204"/>
                    <a:pt x="292" y="176"/>
                    <a:pt x="292" y="147"/>
                  </a:cubicBezTo>
                  <a:cubicBezTo>
                    <a:pt x="292" y="66"/>
                    <a:pt x="227" y="0"/>
                    <a:pt x="146" y="0"/>
                  </a:cubicBezTo>
                  <a:close/>
                </a:path>
              </a:pathLst>
            </a:custGeom>
            <a:solidFill>
              <a:srgbClr val="C00000">
                <a:alpha val="0"/>
              </a:srgbClr>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47" name="Freeform 26">
              <a:extLst>
                <a:ext uri="{FF2B5EF4-FFF2-40B4-BE49-F238E27FC236}">
                  <a16:creationId xmlns:a16="http://schemas.microsoft.com/office/drawing/2014/main" id="{934E1512-78D9-476D-9EE0-2EEA7959B6DC}"/>
                </a:ext>
              </a:extLst>
            </p:cNvPr>
            <p:cNvSpPr>
              <a:spLocks/>
            </p:cNvSpPr>
            <p:nvPr/>
          </p:nvSpPr>
          <p:spPr bwMode="auto">
            <a:xfrm rot="16200000">
              <a:off x="6625794" y="2219906"/>
              <a:ext cx="71985" cy="40274"/>
            </a:xfrm>
            <a:custGeom>
              <a:avLst/>
              <a:gdLst>
                <a:gd name="T0" fmla="*/ 115 w 117"/>
                <a:gd name="T1" fmla="*/ 40 h 87"/>
                <a:gd name="T2" fmla="*/ 77 w 117"/>
                <a:gd name="T3" fmla="*/ 2 h 87"/>
                <a:gd name="T4" fmla="*/ 70 w 117"/>
                <a:gd name="T5" fmla="*/ 2 h 87"/>
                <a:gd name="T6" fmla="*/ 70 w 117"/>
                <a:gd name="T7" fmla="*/ 8 h 87"/>
                <a:gd name="T8" fmla="*/ 101 w 117"/>
                <a:gd name="T9" fmla="*/ 39 h 87"/>
                <a:gd name="T10" fmla="*/ 4 w 117"/>
                <a:gd name="T11" fmla="*/ 39 h 87"/>
                <a:gd name="T12" fmla="*/ 0 w 117"/>
                <a:gd name="T13" fmla="*/ 44 h 87"/>
                <a:gd name="T14" fmla="*/ 4 w 117"/>
                <a:gd name="T15" fmla="*/ 48 h 87"/>
                <a:gd name="T16" fmla="*/ 101 w 117"/>
                <a:gd name="T17" fmla="*/ 48 h 87"/>
                <a:gd name="T18" fmla="*/ 70 w 117"/>
                <a:gd name="T19" fmla="*/ 79 h 87"/>
                <a:gd name="T20" fmla="*/ 70 w 117"/>
                <a:gd name="T21" fmla="*/ 86 h 87"/>
                <a:gd name="T22" fmla="*/ 73 w 117"/>
                <a:gd name="T23" fmla="*/ 87 h 87"/>
                <a:gd name="T24" fmla="*/ 76 w 117"/>
                <a:gd name="T25" fmla="*/ 86 h 87"/>
                <a:gd name="T26" fmla="*/ 115 w 117"/>
                <a:gd name="T27" fmla="*/ 47 h 87"/>
                <a:gd name="T28" fmla="*/ 117 w 117"/>
                <a:gd name="T29" fmla="*/ 44 h 87"/>
                <a:gd name="T30" fmla="*/ 117 w 117"/>
                <a:gd name="T31" fmla="*/ 44 h 87"/>
                <a:gd name="T32" fmla="*/ 115 w 117"/>
                <a:gd name="T33"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87">
                  <a:moveTo>
                    <a:pt x="115" y="40"/>
                  </a:moveTo>
                  <a:cubicBezTo>
                    <a:pt x="77" y="2"/>
                    <a:pt x="77" y="2"/>
                    <a:pt x="77" y="2"/>
                  </a:cubicBezTo>
                  <a:cubicBezTo>
                    <a:pt x="75" y="0"/>
                    <a:pt x="72" y="0"/>
                    <a:pt x="70" y="2"/>
                  </a:cubicBezTo>
                  <a:cubicBezTo>
                    <a:pt x="68" y="3"/>
                    <a:pt x="68" y="6"/>
                    <a:pt x="70" y="8"/>
                  </a:cubicBezTo>
                  <a:cubicBezTo>
                    <a:pt x="101" y="39"/>
                    <a:pt x="101" y="39"/>
                    <a:pt x="101" y="39"/>
                  </a:cubicBezTo>
                  <a:cubicBezTo>
                    <a:pt x="4" y="39"/>
                    <a:pt x="4" y="39"/>
                    <a:pt x="4" y="39"/>
                  </a:cubicBezTo>
                  <a:cubicBezTo>
                    <a:pt x="2" y="39"/>
                    <a:pt x="0" y="41"/>
                    <a:pt x="0" y="44"/>
                  </a:cubicBezTo>
                  <a:cubicBezTo>
                    <a:pt x="0" y="46"/>
                    <a:pt x="2" y="48"/>
                    <a:pt x="4" y="48"/>
                  </a:cubicBezTo>
                  <a:cubicBezTo>
                    <a:pt x="101" y="48"/>
                    <a:pt x="101" y="48"/>
                    <a:pt x="101" y="48"/>
                  </a:cubicBezTo>
                  <a:cubicBezTo>
                    <a:pt x="70" y="79"/>
                    <a:pt x="70" y="79"/>
                    <a:pt x="70" y="79"/>
                  </a:cubicBezTo>
                  <a:cubicBezTo>
                    <a:pt x="68" y="81"/>
                    <a:pt x="68" y="84"/>
                    <a:pt x="70" y="86"/>
                  </a:cubicBezTo>
                  <a:cubicBezTo>
                    <a:pt x="71" y="87"/>
                    <a:pt x="72" y="87"/>
                    <a:pt x="73" y="87"/>
                  </a:cubicBezTo>
                  <a:cubicBezTo>
                    <a:pt x="74" y="87"/>
                    <a:pt x="75" y="87"/>
                    <a:pt x="76" y="86"/>
                  </a:cubicBezTo>
                  <a:cubicBezTo>
                    <a:pt x="115" y="47"/>
                    <a:pt x="115" y="47"/>
                    <a:pt x="115" y="47"/>
                  </a:cubicBezTo>
                  <a:cubicBezTo>
                    <a:pt x="116" y="47"/>
                    <a:pt x="117" y="45"/>
                    <a:pt x="117" y="44"/>
                  </a:cubicBezTo>
                  <a:cubicBezTo>
                    <a:pt x="117" y="44"/>
                    <a:pt x="117" y="44"/>
                    <a:pt x="117" y="44"/>
                  </a:cubicBezTo>
                  <a:cubicBezTo>
                    <a:pt x="117" y="42"/>
                    <a:pt x="116" y="41"/>
                    <a:pt x="115" y="40"/>
                  </a:cubicBezTo>
                  <a:close/>
                </a:path>
              </a:pathLst>
            </a:custGeom>
            <a:solidFill>
              <a:schemeClr val="accent6"/>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48" name="Group 10">
            <a:extLst>
              <a:ext uri="{FF2B5EF4-FFF2-40B4-BE49-F238E27FC236}">
                <a16:creationId xmlns:a16="http://schemas.microsoft.com/office/drawing/2014/main" id="{6CF858B7-C433-4DEF-B1D5-5EA88F2A7444}"/>
              </a:ext>
            </a:extLst>
          </p:cNvPr>
          <p:cNvGrpSpPr/>
          <p:nvPr/>
        </p:nvGrpSpPr>
        <p:grpSpPr>
          <a:xfrm>
            <a:off x="3069020" y="5488411"/>
            <a:ext cx="117815" cy="119583"/>
            <a:chOff x="6580783" y="2157819"/>
            <a:chExt cx="162010" cy="164441"/>
          </a:xfrm>
        </p:grpSpPr>
        <p:sp>
          <p:nvSpPr>
            <p:cNvPr id="49" name="Freeform 27">
              <a:extLst>
                <a:ext uri="{FF2B5EF4-FFF2-40B4-BE49-F238E27FC236}">
                  <a16:creationId xmlns:a16="http://schemas.microsoft.com/office/drawing/2014/main" id="{3C5D3936-7411-4BD0-BA82-1DE9FA4114E9}"/>
                </a:ext>
              </a:extLst>
            </p:cNvPr>
            <p:cNvSpPr>
              <a:spLocks/>
            </p:cNvSpPr>
            <p:nvPr/>
          </p:nvSpPr>
          <p:spPr bwMode="auto">
            <a:xfrm>
              <a:off x="6580783" y="2157819"/>
              <a:ext cx="162010" cy="164441"/>
            </a:xfrm>
            <a:custGeom>
              <a:avLst/>
              <a:gdLst>
                <a:gd name="T0" fmla="*/ 146 w 292"/>
                <a:gd name="T1" fmla="*/ 0 h 293"/>
                <a:gd name="T2" fmla="*/ 0 w 292"/>
                <a:gd name="T3" fmla="*/ 147 h 293"/>
                <a:gd name="T4" fmla="*/ 146 w 292"/>
                <a:gd name="T5" fmla="*/ 293 h 293"/>
                <a:gd name="T6" fmla="*/ 235 w 292"/>
                <a:gd name="T7" fmla="*/ 263 h 293"/>
                <a:gd name="T8" fmla="*/ 236 w 292"/>
                <a:gd name="T9" fmla="*/ 256 h 293"/>
                <a:gd name="T10" fmla="*/ 230 w 292"/>
                <a:gd name="T11" fmla="*/ 255 h 293"/>
                <a:gd name="T12" fmla="*/ 146 w 292"/>
                <a:gd name="T13" fmla="*/ 284 h 293"/>
                <a:gd name="T14" fmla="*/ 9 w 292"/>
                <a:gd name="T15" fmla="*/ 147 h 293"/>
                <a:gd name="T16" fmla="*/ 146 w 292"/>
                <a:gd name="T17" fmla="*/ 10 h 293"/>
                <a:gd name="T18" fmla="*/ 283 w 292"/>
                <a:gd name="T19" fmla="*/ 147 h 293"/>
                <a:gd name="T20" fmla="*/ 260 w 292"/>
                <a:gd name="T21" fmla="*/ 223 h 293"/>
                <a:gd name="T22" fmla="*/ 261 w 292"/>
                <a:gd name="T23" fmla="*/ 230 h 293"/>
                <a:gd name="T24" fmla="*/ 267 w 292"/>
                <a:gd name="T25" fmla="*/ 229 h 293"/>
                <a:gd name="T26" fmla="*/ 292 w 292"/>
                <a:gd name="T27" fmla="*/ 147 h 293"/>
                <a:gd name="T28" fmla="*/ 146 w 292"/>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2" h="293">
                  <a:moveTo>
                    <a:pt x="146" y="0"/>
                  </a:moveTo>
                  <a:cubicBezTo>
                    <a:pt x="65" y="0"/>
                    <a:pt x="0" y="66"/>
                    <a:pt x="0" y="147"/>
                  </a:cubicBezTo>
                  <a:cubicBezTo>
                    <a:pt x="0" y="227"/>
                    <a:pt x="65" y="293"/>
                    <a:pt x="146" y="293"/>
                  </a:cubicBezTo>
                  <a:cubicBezTo>
                    <a:pt x="179" y="293"/>
                    <a:pt x="210" y="283"/>
                    <a:pt x="235" y="263"/>
                  </a:cubicBezTo>
                  <a:cubicBezTo>
                    <a:pt x="237"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8" y="226"/>
                    <a:pt x="259" y="228"/>
                    <a:pt x="261" y="230"/>
                  </a:cubicBezTo>
                  <a:cubicBezTo>
                    <a:pt x="263" y="231"/>
                    <a:pt x="266" y="231"/>
                    <a:pt x="267" y="229"/>
                  </a:cubicBezTo>
                  <a:cubicBezTo>
                    <a:pt x="284" y="204"/>
                    <a:pt x="292" y="176"/>
                    <a:pt x="292" y="147"/>
                  </a:cubicBezTo>
                  <a:cubicBezTo>
                    <a:pt x="292" y="66"/>
                    <a:pt x="227" y="0"/>
                    <a:pt x="146" y="0"/>
                  </a:cubicBezTo>
                  <a:close/>
                </a:path>
              </a:pathLst>
            </a:custGeom>
            <a:solidFill>
              <a:srgbClr val="C00000">
                <a:alpha val="0"/>
              </a:srgbClr>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50" name="Freeform 26">
              <a:extLst>
                <a:ext uri="{FF2B5EF4-FFF2-40B4-BE49-F238E27FC236}">
                  <a16:creationId xmlns:a16="http://schemas.microsoft.com/office/drawing/2014/main" id="{934E1512-78D9-476D-9EE0-2EEA7959B6DC}"/>
                </a:ext>
              </a:extLst>
            </p:cNvPr>
            <p:cNvSpPr>
              <a:spLocks/>
            </p:cNvSpPr>
            <p:nvPr/>
          </p:nvSpPr>
          <p:spPr bwMode="auto">
            <a:xfrm rot="16200000">
              <a:off x="6625794" y="2219906"/>
              <a:ext cx="71985" cy="40274"/>
            </a:xfrm>
            <a:custGeom>
              <a:avLst/>
              <a:gdLst>
                <a:gd name="T0" fmla="*/ 115 w 117"/>
                <a:gd name="T1" fmla="*/ 40 h 87"/>
                <a:gd name="T2" fmla="*/ 77 w 117"/>
                <a:gd name="T3" fmla="*/ 2 h 87"/>
                <a:gd name="T4" fmla="*/ 70 w 117"/>
                <a:gd name="T5" fmla="*/ 2 h 87"/>
                <a:gd name="T6" fmla="*/ 70 w 117"/>
                <a:gd name="T7" fmla="*/ 8 h 87"/>
                <a:gd name="T8" fmla="*/ 101 w 117"/>
                <a:gd name="T9" fmla="*/ 39 h 87"/>
                <a:gd name="T10" fmla="*/ 4 w 117"/>
                <a:gd name="T11" fmla="*/ 39 h 87"/>
                <a:gd name="T12" fmla="*/ 0 w 117"/>
                <a:gd name="T13" fmla="*/ 44 h 87"/>
                <a:gd name="T14" fmla="*/ 4 w 117"/>
                <a:gd name="T15" fmla="*/ 48 h 87"/>
                <a:gd name="T16" fmla="*/ 101 w 117"/>
                <a:gd name="T17" fmla="*/ 48 h 87"/>
                <a:gd name="T18" fmla="*/ 70 w 117"/>
                <a:gd name="T19" fmla="*/ 79 h 87"/>
                <a:gd name="T20" fmla="*/ 70 w 117"/>
                <a:gd name="T21" fmla="*/ 86 h 87"/>
                <a:gd name="T22" fmla="*/ 73 w 117"/>
                <a:gd name="T23" fmla="*/ 87 h 87"/>
                <a:gd name="T24" fmla="*/ 76 w 117"/>
                <a:gd name="T25" fmla="*/ 86 h 87"/>
                <a:gd name="T26" fmla="*/ 115 w 117"/>
                <a:gd name="T27" fmla="*/ 47 h 87"/>
                <a:gd name="T28" fmla="*/ 117 w 117"/>
                <a:gd name="T29" fmla="*/ 44 h 87"/>
                <a:gd name="T30" fmla="*/ 117 w 117"/>
                <a:gd name="T31" fmla="*/ 44 h 87"/>
                <a:gd name="T32" fmla="*/ 115 w 117"/>
                <a:gd name="T33"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87">
                  <a:moveTo>
                    <a:pt x="115" y="40"/>
                  </a:moveTo>
                  <a:cubicBezTo>
                    <a:pt x="77" y="2"/>
                    <a:pt x="77" y="2"/>
                    <a:pt x="77" y="2"/>
                  </a:cubicBezTo>
                  <a:cubicBezTo>
                    <a:pt x="75" y="0"/>
                    <a:pt x="72" y="0"/>
                    <a:pt x="70" y="2"/>
                  </a:cubicBezTo>
                  <a:cubicBezTo>
                    <a:pt x="68" y="3"/>
                    <a:pt x="68" y="6"/>
                    <a:pt x="70" y="8"/>
                  </a:cubicBezTo>
                  <a:cubicBezTo>
                    <a:pt x="101" y="39"/>
                    <a:pt x="101" y="39"/>
                    <a:pt x="101" y="39"/>
                  </a:cubicBezTo>
                  <a:cubicBezTo>
                    <a:pt x="4" y="39"/>
                    <a:pt x="4" y="39"/>
                    <a:pt x="4" y="39"/>
                  </a:cubicBezTo>
                  <a:cubicBezTo>
                    <a:pt x="2" y="39"/>
                    <a:pt x="0" y="41"/>
                    <a:pt x="0" y="44"/>
                  </a:cubicBezTo>
                  <a:cubicBezTo>
                    <a:pt x="0" y="46"/>
                    <a:pt x="2" y="48"/>
                    <a:pt x="4" y="48"/>
                  </a:cubicBezTo>
                  <a:cubicBezTo>
                    <a:pt x="101" y="48"/>
                    <a:pt x="101" y="48"/>
                    <a:pt x="101" y="48"/>
                  </a:cubicBezTo>
                  <a:cubicBezTo>
                    <a:pt x="70" y="79"/>
                    <a:pt x="70" y="79"/>
                    <a:pt x="70" y="79"/>
                  </a:cubicBezTo>
                  <a:cubicBezTo>
                    <a:pt x="68" y="81"/>
                    <a:pt x="68" y="84"/>
                    <a:pt x="70" y="86"/>
                  </a:cubicBezTo>
                  <a:cubicBezTo>
                    <a:pt x="71" y="87"/>
                    <a:pt x="72" y="87"/>
                    <a:pt x="73" y="87"/>
                  </a:cubicBezTo>
                  <a:cubicBezTo>
                    <a:pt x="74" y="87"/>
                    <a:pt x="75" y="87"/>
                    <a:pt x="76" y="86"/>
                  </a:cubicBezTo>
                  <a:cubicBezTo>
                    <a:pt x="115" y="47"/>
                    <a:pt x="115" y="47"/>
                    <a:pt x="115" y="47"/>
                  </a:cubicBezTo>
                  <a:cubicBezTo>
                    <a:pt x="116" y="47"/>
                    <a:pt x="117" y="45"/>
                    <a:pt x="117" y="44"/>
                  </a:cubicBezTo>
                  <a:cubicBezTo>
                    <a:pt x="117" y="44"/>
                    <a:pt x="117" y="44"/>
                    <a:pt x="117" y="44"/>
                  </a:cubicBezTo>
                  <a:cubicBezTo>
                    <a:pt x="117" y="42"/>
                    <a:pt x="116" y="41"/>
                    <a:pt x="115" y="40"/>
                  </a:cubicBezTo>
                  <a:close/>
                </a:path>
              </a:pathLst>
            </a:custGeom>
            <a:solidFill>
              <a:schemeClr val="accent6"/>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Tree>
    <p:extLst>
      <p:ext uri="{BB962C8B-B14F-4D97-AF65-F5344CB8AC3E}">
        <p14:creationId xmlns:p14="http://schemas.microsoft.com/office/powerpoint/2010/main" val="3469140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D57EEC49-B21E-D452-BFE2-67929C2FAA65}"/>
              </a:ext>
            </a:extLst>
          </p:cNvPr>
          <p:cNvSpPr/>
          <p:nvPr/>
        </p:nvSpPr>
        <p:spPr>
          <a:xfrm>
            <a:off x="317495" y="1561552"/>
            <a:ext cx="3754438" cy="4441909"/>
          </a:xfrm>
          <a:prstGeom prst="roundRect">
            <a:avLst>
              <a:gd name="adj" fmla="val 549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ru" sz="1200" b="1" noProof="0" dirty="0">
              <a:solidFill>
                <a:schemeClr val="accent1"/>
              </a:solidFill>
            </a:endParaRPr>
          </a:p>
        </p:txBody>
      </p:sp>
      <p:graphicFrame>
        <p:nvGraphicFramePr>
          <p:cNvPr id="3" name="Таблица 2"/>
          <p:cNvGraphicFramePr>
            <a:graphicFrameLocks noGrp="1"/>
          </p:cNvGraphicFramePr>
          <p:nvPr>
            <p:extLst>
              <p:ext uri="{D42A27DB-BD31-4B8C-83A1-F6EECF244321}">
                <p14:modId xmlns:p14="http://schemas.microsoft.com/office/powerpoint/2010/main" val="913969399"/>
              </p:ext>
            </p:extLst>
          </p:nvPr>
        </p:nvGraphicFramePr>
        <p:xfrm>
          <a:off x="317496" y="1680649"/>
          <a:ext cx="3754440" cy="2977200"/>
        </p:xfrm>
        <a:graphic>
          <a:graphicData uri="http://schemas.openxmlformats.org/drawingml/2006/table">
            <a:tbl>
              <a:tblPr firstRow="1" bandRow="1">
                <a:tableStyleId>{5C22544A-7EE6-4342-B048-85BDC9FD1C3A}</a:tableStyleId>
              </a:tblPr>
              <a:tblGrid>
                <a:gridCol w="103886">
                  <a:extLst>
                    <a:ext uri="{9D8B030D-6E8A-4147-A177-3AD203B41FA5}">
                      <a16:colId xmlns:a16="http://schemas.microsoft.com/office/drawing/2014/main" val="1207875736"/>
                    </a:ext>
                  </a:extLst>
                </a:gridCol>
                <a:gridCol w="1786662">
                  <a:extLst>
                    <a:ext uri="{9D8B030D-6E8A-4147-A177-3AD203B41FA5}">
                      <a16:colId xmlns:a16="http://schemas.microsoft.com/office/drawing/2014/main" val="1897865945"/>
                    </a:ext>
                  </a:extLst>
                </a:gridCol>
                <a:gridCol w="1099809">
                  <a:extLst>
                    <a:ext uri="{9D8B030D-6E8A-4147-A177-3AD203B41FA5}">
                      <a16:colId xmlns:a16="http://schemas.microsoft.com/office/drawing/2014/main" val="4203262921"/>
                    </a:ext>
                  </a:extLst>
                </a:gridCol>
                <a:gridCol w="764083">
                  <a:extLst>
                    <a:ext uri="{9D8B030D-6E8A-4147-A177-3AD203B41FA5}">
                      <a16:colId xmlns:a16="http://schemas.microsoft.com/office/drawing/2014/main" val="2221159483"/>
                    </a:ext>
                  </a:extLst>
                </a:gridCol>
              </a:tblGrid>
              <a:tr h="360000">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1100" b="1" noProof="0" dirty="0" smtClean="0">
                          <a:solidFill>
                            <a:schemeClr val="accent1"/>
                          </a:solidFill>
                        </a:rPr>
                        <a:t xml:space="preserve">Risks (Mining)</a:t>
                      </a:r>
                      <a:r>
                        <a:rPr lang="ru" sz="1100" b="1" noProof="0" dirty="0" smtClean="0">
                          <a:solidFill>
                            <a:schemeClr val="accent1"/>
                          </a:solidFill>
                        </a:rPr>
                        <a:t/>
                      </a:r>
                      <a:r>
                        <a:rPr lang="en-US" sz="1100" b="1" noProof="0" dirty="0" smtClean="0">
                          <a:solidFill>
                            <a:schemeClr val="accent1"/>
                          </a:solidFill>
                        </a:rPr>
                        <a:t/>
                      </a:r>
                      <a:r>
                        <a:rPr lang="ru" sz="1100" b="1" noProof="0" dirty="0" smtClean="0">
                          <a:solidFill>
                            <a:schemeClr val="accent1"/>
                          </a:solidFill>
                        </a:rPr>
                        <a:t/>
                      </a: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 sz="800" b="1" noProof="0" dirty="0" smtClean="0">
                          <a:solidFill>
                            <a:schemeClr val="tx1"/>
                          </a:solidFill>
                        </a:rPr>
                        <a:t xml:space="preserve">Trend</a:t>
                      </a: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solidFill>
                            <a:schemeClr val="tx1"/>
                          </a:solidFill>
                        </a:rPr>
                        <a:t xml:space="preserve">Exposure</a:t>
                      </a:r>
                      <a:r>
                        <a:rPr lang="ru-RU" sz="800" dirty="0" err="1" smtClean="0">
                          <a:solidFill>
                            <a:schemeClr val="tx1"/>
                          </a:solidFill>
                        </a:rPr>
                        <a:t/>
                      </a:r>
                      <a:endParaRPr lang="ru-RU" sz="800"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9241193"/>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t xml:space="preserve">Risk of violation of antimonopoly legislation / competition of the Republic of Kazakhstan</a:t>
                      </a:r>
                      <a:r>
                        <a:rPr lang="ru-RU" sz="800" baseline="0" dirty="0" smtClean="0"/>
                        <a:t/>
                      </a:r>
                      <a:r>
                        <a:rPr lang="ru-RU" sz="800" dirty="0" smtClean="0"/>
                        <a:t/>
                      </a:r>
                      <a:r>
                        <a:rPr lang="ru-RU" sz="800" baseline="0" dirty="0" smtClean="0"/>
                        <a:t/>
                      </a:r>
                      <a:r>
                        <a:rPr lang="ru-RU" sz="800" dirty="0" smtClean="0"/>
                        <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t xml:space="preserve">Low</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7539416"/>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b="1" dirty="0" smtClean="0">
                          <a:latin typeface="+mn-lt"/>
                        </a:rPr>
                        <a:t xml:space="preserve">Perimeter products*</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b="1" dirty="0" smtClean="0">
                          <a:latin typeface="+mn-lt"/>
                        </a:rPr>
                        <a:t xml:space="preserve">Amount of possible fine for violation, $ million**</a:t>
                      </a:r>
                      <a:r>
                        <a:rPr lang="en-US" sz="800" b="1" dirty="0" smtClean="0">
                          <a:latin typeface="+mn-lt"/>
                        </a:rPr>
                        <a:t/>
                      </a:r>
                      <a:r>
                        <a:rPr lang="ru-RU" sz="800" b="1" dirty="0" smtClean="0">
                          <a:latin typeface="+mn-lt"/>
                        </a:rPr>
                        <a:t/>
                      </a:r>
                      <a:endParaRPr lang="ru-RU" sz="800" b="1"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b="1" dirty="0" smtClean="0">
                          <a:latin typeface="+mn-lt"/>
                        </a:rPr>
                        <a:t xml:space="preserve">Probability</a:t>
                      </a:r>
                      <a:endParaRPr lang="ru-RU" sz="800" b="1"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2608656"/>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 xml:space="preserve">Energy</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a:solidFill>
                            <a:srgbClr val="000000"/>
                          </a:solidFill>
                          <a:effectLst/>
                          <a:latin typeface="+mn-lt"/>
                        </a:rPr>
                        <a:t>8,9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 xml:space="preserve">Low</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1558007"/>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 xml:space="preserve">Coal</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a:solidFill>
                            <a:srgbClr val="000000"/>
                          </a:solidFill>
                          <a:effectLst/>
                          <a:latin typeface="+mn-lt"/>
                        </a:rPr>
                        <a:t>22,8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 xml:space="preserve">Average</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2700212"/>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 xml:space="preserve">Aluminum</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dirty="0">
                          <a:solidFill>
                            <a:srgbClr val="000000"/>
                          </a:solidFill>
                          <a:effectLst/>
                          <a:latin typeface="+mn-lt"/>
                        </a:rPr>
                        <a:t>21,2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 xml:space="preserve">Low</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3446426"/>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 xml:space="preserve">Chromium</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dirty="0">
                          <a:solidFill>
                            <a:srgbClr val="000000"/>
                          </a:solidFill>
                          <a:effectLst/>
                          <a:latin typeface="+mn-lt"/>
                        </a:rPr>
                        <a:t>2,1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 xml:space="preserve">Low</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09051"/>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 xml:space="preserve">Iron</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dirty="0">
                          <a:solidFill>
                            <a:srgbClr val="000000"/>
                          </a:solidFill>
                          <a:effectLst/>
                          <a:latin typeface="+mn-lt"/>
                        </a:rPr>
                        <a:t>33,4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 xml:space="preserve">Low</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8532440"/>
                  </a:ext>
                </a:extLst>
              </a:tr>
            </a:tbl>
          </a:graphicData>
        </a:graphic>
      </p:graphicFrame>
      <p:sp>
        <p:nvSpPr>
          <p:cNvPr id="2" name="Title 1">
            <a:extLst>
              <a:ext uri="{FF2B5EF4-FFF2-40B4-BE49-F238E27FC236}">
                <a16:creationId xmlns:a16="http://schemas.microsoft.com/office/drawing/2014/main" id="{662A90ED-F1F6-4B7F-022D-ADBD9A816CC2}"/>
              </a:ext>
            </a:extLst>
          </p:cNvPr>
          <p:cNvSpPr>
            <a:spLocks noGrp="1"/>
          </p:cNvSpPr>
          <p:nvPr>
            <p:ph type="title"/>
          </p:nvPr>
        </p:nvSpPr>
        <p:spPr>
          <a:xfrm>
            <a:off x="317499" y="0"/>
            <a:ext cx="10584209" cy="704850"/>
          </a:xfrm>
        </p:spPr>
        <p:txBody>
          <a:bodyPr rtlCol="0"/>
          <a:lstStyle/>
          <a:p>
            <a:pPr rtl="0"/>
            <a:r>
              <a:rPr lang="ru-RU" noProof="0" dirty="0"/>
              <a:t xml:space="preserve">Dashboard for 4 sq. 2025: Risk and Warranty Information</a:t>
            </a:r>
            <a:r>
              <a:rPr lang="ru-RU" noProof="0" dirty="0" smtClean="0"/>
              <a:t/>
            </a:r>
            <a:r>
              <a:rPr lang="ru-RU" noProof="0" dirty="0"/>
              <a:t/>
            </a:r>
            <a:r>
              <a:rPr lang="ru" noProof="0" dirty="0"/>
              <a:t/>
            </a:r>
          </a:p>
        </p:txBody>
      </p:sp>
      <p:sp>
        <p:nvSpPr>
          <p:cNvPr id="145" name="Rectangle 144">
            <a:extLst>
              <a:ext uri="{FF2B5EF4-FFF2-40B4-BE49-F238E27FC236}">
                <a16:creationId xmlns:a16="http://schemas.microsoft.com/office/drawing/2014/main" id="{EC88FFF1-074D-47A0-A5D1-379A83911C79}"/>
              </a:ext>
            </a:extLst>
          </p:cNvPr>
          <p:cNvSpPr/>
          <p:nvPr/>
        </p:nvSpPr>
        <p:spPr>
          <a:xfrm>
            <a:off x="600955" y="2496855"/>
            <a:ext cx="2395458"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sp>
        <p:nvSpPr>
          <p:cNvPr id="146" name="Rectangle 145">
            <a:extLst>
              <a:ext uri="{FF2B5EF4-FFF2-40B4-BE49-F238E27FC236}">
                <a16:creationId xmlns:a16="http://schemas.microsoft.com/office/drawing/2014/main" id="{FF86761B-203C-4DA4-B8E6-B665DA1E471C}"/>
              </a:ext>
            </a:extLst>
          </p:cNvPr>
          <p:cNvSpPr/>
          <p:nvPr/>
        </p:nvSpPr>
        <p:spPr>
          <a:xfrm>
            <a:off x="612104" y="2953561"/>
            <a:ext cx="2940686"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sp>
        <p:nvSpPr>
          <p:cNvPr id="62" name="Text Placeholder 9">
            <a:extLst>
              <a:ext uri="{FF2B5EF4-FFF2-40B4-BE49-F238E27FC236}">
                <a16:creationId xmlns:a16="http://schemas.microsoft.com/office/drawing/2014/main" id="{E3324796-4903-471D-87CA-71FB80C88F88}"/>
              </a:ext>
            </a:extLst>
          </p:cNvPr>
          <p:cNvSpPr txBox="1">
            <a:spLocks/>
          </p:cNvSpPr>
          <p:nvPr/>
        </p:nvSpPr>
        <p:spPr>
          <a:xfrm>
            <a:off x="317493" y="1311814"/>
            <a:ext cx="3754439"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t xml:space="preserve">Data for the reporting period</a:t>
            </a:r>
          </a:p>
        </p:txBody>
      </p:sp>
      <p:sp>
        <p:nvSpPr>
          <p:cNvPr id="63" name="Text Placeholder 9">
            <a:extLst>
              <a:ext uri="{FF2B5EF4-FFF2-40B4-BE49-F238E27FC236}">
                <a16:creationId xmlns:a16="http://schemas.microsoft.com/office/drawing/2014/main" id="{AEF2EC1E-CCB0-41BF-AA29-71697E83E9DE}"/>
              </a:ext>
            </a:extLst>
          </p:cNvPr>
          <p:cNvSpPr txBox="1">
            <a:spLocks/>
          </p:cNvSpPr>
          <p:nvPr/>
        </p:nvSpPr>
        <p:spPr>
          <a:xfrm>
            <a:off x="317498" y="810996"/>
            <a:ext cx="11750896" cy="430887"/>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r>
              <a:rPr lang="ru-RU" sz="1400" b="1" dirty="0">
                <a:solidFill>
                  <a:schemeClr val="tx1"/>
                </a:solidFill>
              </a:rPr>
              <a:t xml:space="preserve">Risks of violation of competition/antitrust laws and changes in legislation relating to government regulation of prices and tariffs</a:t>
            </a:r>
            <a:r>
              <a:rPr lang="ru-RU" sz="1400" b="1">
                <a:solidFill>
                  <a:schemeClr val="tx1"/>
                </a:solidFill>
              </a:rPr>
              <a:t/>
            </a:r>
            <a:r>
              <a:rPr lang="ru-RU" sz="1400" b="1" smtClean="0">
                <a:solidFill>
                  <a:schemeClr val="tx1"/>
                </a:solidFill>
              </a:rPr>
              <a:t/>
            </a:r>
            <a:r>
              <a:rPr lang="ru-RU" sz="1400" b="1" dirty="0">
                <a:solidFill>
                  <a:schemeClr val="tx1"/>
                </a:solidFill>
              </a:rPr>
              <a:t/>
            </a:r>
            <a:endParaRPr lang="ru" sz="1400" b="1" noProof="0" dirty="0">
              <a:solidFill>
                <a:schemeClr val="tx1"/>
              </a:solidFill>
            </a:endParaRPr>
          </a:p>
        </p:txBody>
      </p:sp>
      <p:sp>
        <p:nvSpPr>
          <p:cNvPr id="116" name="Rectangle: Rounded Corners 18">
            <a:extLst>
              <a:ext uri="{FF2B5EF4-FFF2-40B4-BE49-F238E27FC236}">
                <a16:creationId xmlns:a16="http://schemas.microsoft.com/office/drawing/2014/main" id="{9638F73D-4DFD-40E4-A1A5-B4D97A4DFB71}"/>
              </a:ext>
            </a:extLst>
          </p:cNvPr>
          <p:cNvSpPr/>
          <p:nvPr/>
        </p:nvSpPr>
        <p:spPr>
          <a:xfrm>
            <a:off x="4218456" y="1561553"/>
            <a:ext cx="7734783" cy="4441909"/>
          </a:xfrm>
          <a:prstGeom prst="roundRect">
            <a:avLst>
              <a:gd name="adj" fmla="val 5490"/>
            </a:avLst>
          </a:prstGeom>
          <a:gradFill flip="none" rotWithShape="1">
            <a:gsLst>
              <a:gs pos="52000">
                <a:schemeClr val="accent5">
                  <a:lumMod val="10000"/>
                  <a:lumOff val="90000"/>
                </a:schemeClr>
              </a:gs>
              <a:gs pos="100000">
                <a:schemeClr val="accent5">
                  <a:lumMod val="25000"/>
                  <a:lumOff val="75000"/>
                </a:schemeClr>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en-US" sz="1200" noProof="0" dirty="0">
              <a:solidFill>
                <a:schemeClr val="accent1"/>
              </a:solidFill>
            </a:endParaRPr>
          </a:p>
        </p:txBody>
      </p:sp>
      <p:graphicFrame>
        <p:nvGraphicFramePr>
          <p:cNvPr id="117" name="Таблица 116"/>
          <p:cNvGraphicFramePr>
            <a:graphicFrameLocks noGrp="1"/>
          </p:cNvGraphicFramePr>
          <p:nvPr>
            <p:extLst>
              <p:ext uri="{D42A27DB-BD31-4B8C-83A1-F6EECF244321}">
                <p14:modId xmlns:p14="http://schemas.microsoft.com/office/powerpoint/2010/main" val="4095527111"/>
              </p:ext>
            </p:extLst>
          </p:nvPr>
        </p:nvGraphicFramePr>
        <p:xfrm>
          <a:off x="4218455" y="1599719"/>
          <a:ext cx="7734784" cy="4450080"/>
        </p:xfrm>
        <a:graphic>
          <a:graphicData uri="http://schemas.openxmlformats.org/drawingml/2006/table">
            <a:tbl>
              <a:tblPr firstRow="1" bandRow="1">
                <a:tableStyleId>{5C22544A-7EE6-4342-B048-85BDC9FD1C3A}</a:tableStyleId>
              </a:tblPr>
              <a:tblGrid>
                <a:gridCol w="2140012">
                  <a:extLst>
                    <a:ext uri="{9D8B030D-6E8A-4147-A177-3AD203B41FA5}">
                      <a16:colId xmlns:a16="http://schemas.microsoft.com/office/drawing/2014/main" val="1821811835"/>
                    </a:ext>
                  </a:extLst>
                </a:gridCol>
                <a:gridCol w="1520613">
                  <a:extLst>
                    <a:ext uri="{9D8B030D-6E8A-4147-A177-3AD203B41FA5}">
                      <a16:colId xmlns:a16="http://schemas.microsoft.com/office/drawing/2014/main" val="263508044"/>
                    </a:ext>
                  </a:extLst>
                </a:gridCol>
                <a:gridCol w="1341120">
                  <a:extLst>
                    <a:ext uri="{9D8B030D-6E8A-4147-A177-3AD203B41FA5}">
                      <a16:colId xmlns:a16="http://schemas.microsoft.com/office/drawing/2014/main" val="3436555293"/>
                    </a:ext>
                  </a:extLst>
                </a:gridCol>
                <a:gridCol w="2733039">
                  <a:extLst>
                    <a:ext uri="{9D8B030D-6E8A-4147-A177-3AD203B41FA5}">
                      <a16:colId xmlns:a16="http://schemas.microsoft.com/office/drawing/2014/main" val="2625297179"/>
                    </a:ext>
                  </a:extLst>
                </a:gridCol>
              </a:tblGrid>
              <a:tr h="198719">
                <a:tc>
                  <a:txBody>
                    <a:bodyPr/>
                    <a:lstStyle/>
                    <a:p>
                      <a:pPr marL="0" marR="0" lvl="0" indent="0" algn="just"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 xml:space="preserve">Major changes in legislation and regulatory framework</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 xml:space="preserve">Major business events</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 xml:space="preserve">Compliance challenges/actions</a:t>
                      </a:r>
                      <a:r>
                        <a:rPr lang="ru" sz="800" b="1" noProof="0" dirty="0" smtClean="0">
                          <a:solidFill>
                            <a:schemeClr val="tx1"/>
                          </a:solidFill>
                        </a:rPr>
                        <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583170" rtl="0" eaLnBrk="1" fontAlgn="auto" latinLnBrk="0" hangingPunct="1">
                        <a:lnSpc>
                          <a:spcPct val="100000"/>
                        </a:lnSpc>
                        <a:spcBef>
                          <a:spcPts val="0"/>
                        </a:spcBef>
                        <a:spcAft>
                          <a:spcPts val="0"/>
                        </a:spcAft>
                        <a:buClrTx/>
                        <a:buSzTx/>
                        <a:buFontTx/>
                        <a:buNone/>
                        <a:tabLst/>
                        <a:defRPr/>
                      </a:pPr>
                      <a:r>
                        <a:rPr lang="ru" sz="800" b="1" noProof="0" dirty="0">
                          <a:solidFill>
                            <a:schemeClr val="tx1"/>
                          </a:solidFill>
                        </a:rPr>
                        <a:t xml:space="preserve">Providing guarantees</a:t>
                      </a:r>
                      <a:r>
                        <a:rPr lang="ru" sz="800" b="1" noProof="0" dirty="0" smtClean="0">
                          <a:solidFill>
                            <a:schemeClr val="tx1"/>
                          </a:solidFill>
                        </a:rPr>
                        <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7772750"/>
                  </a:ext>
                </a:extLst>
              </a:tr>
              <a:tr h="741680">
                <a:tc>
                  <a:txBody>
                    <a:bodyPr/>
                    <a:lstStyle/>
                    <a:p>
                      <a:pPr marL="0" marR="0" lvl="0" indent="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ru-RU" sz="800" kern="1200" dirty="0" smtClean="0">
                          <a:solidFill>
                            <a:schemeClr val="tx1"/>
                          </a:solidFill>
                          <a:effectLst/>
                          <a:latin typeface="+mn-lt"/>
                          <a:ea typeface="+mn-ea"/>
                          <a:cs typeface="+mn-cs"/>
                        </a:rPr>
                        <a:t xml:space="preserve">Planned changes in the system of state price regulation (increase in gas prices, increase in tariffs for railway transportation, etc.) may lead to a significant increase in the costs of natural monopoly entities, including individual Perimeter enterprises, in terms of costs for gas, electricity and rail transportation, which creates additional financial and regulatory risks, but does not carry additional risks for the Perimeter of non-compliance with antimonopoly legislation / legislation on the protection of competition of the Republic of Kazakhstan, since they relate to state regulation of prices and tariffs.</a:t>
                      </a:r>
                      <a:r>
                        <a:rPr lang="ru-RU" sz="800" kern="1200" dirty="0" smtClean="0">
                          <a:solidFill>
                            <a:schemeClr val="tx1"/>
                          </a:solidFill>
                          <a:latin typeface="+mn-lt"/>
                          <a:ea typeface="+mn-ea"/>
                          <a:cs typeface="+mn-cs"/>
                        </a:rPr>
                        <a:t/>
                      </a:r>
                      <a:r>
                        <a:rPr lang="ru-RU" sz="800" kern="1200" baseline="0" dirty="0" smtClean="0">
                          <a:solidFill>
                            <a:schemeClr val="tx1"/>
                          </a:solidFill>
                          <a:latin typeface="+mn-lt"/>
                          <a:ea typeface="+mn-ea"/>
                          <a:cs typeface="+mn-cs"/>
                        </a:rPr>
                        <a:t/>
                      </a:r>
                      <a:r>
                        <a:rPr lang="ru-RU" sz="800" kern="1200" dirty="0" smtClean="0">
                          <a:solidFill>
                            <a:schemeClr val="tx1"/>
                          </a:solidFill>
                          <a:latin typeface="+mn-lt"/>
                          <a:ea typeface="+mn-ea"/>
                          <a:cs typeface="+mn-cs"/>
                        </a:rPr>
                        <a:t/>
                      </a:r>
                    </a:p>
                    <a:p>
                      <a:pPr marL="177800" marR="0" lvl="0" indent="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endParaRPr lang="ru-RU" sz="800" kern="1200" dirty="0" smtClean="0">
                        <a:solidFill>
                          <a:schemeClr val="tx1"/>
                        </a:solidFill>
                        <a:latin typeface="+mn-lt"/>
                        <a:ea typeface="+mn-ea"/>
                        <a:cs typeface="+mn-cs"/>
                      </a:endParaRPr>
                    </a:p>
                    <a:p>
                      <a:pPr marL="177800" marR="0" lvl="0" indent="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endParaRPr lang="ru-RU" sz="800" kern="1200" dirty="0" smtClean="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 xml:space="preserve">No changes have been identified that significantly affect the implementation of the Perimeter Annual Compliance Program</a:t>
                      </a:r>
                      <a:endParaRPr lang="ru-RU" sz="800" kern="1200" baseline="0" dirty="0" smtClean="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 sz="800" noProof="0" dirty="0" smtClean="0">
                          <a:solidFill>
                            <a:schemeClr val="tx1"/>
                          </a:solidFill>
                        </a:rPr>
                        <a:t xml:space="preserve">Risk monitoring continues with the process owner.</a:t>
                      </a:r>
                      <a:r>
                        <a:rPr lang="ru" sz="800" baseline="0" noProof="0" dirty="0" smtClean="0">
                          <a:solidFill>
                            <a:schemeClr val="tx1"/>
                          </a:solidFill>
                        </a:rPr>
                        <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noProof="0" dirty="0" smtClean="0">
                          <a:solidFill>
                            <a:schemeClr val="tx1"/>
                          </a:solidFill>
                          <a:latin typeface="+mn-lt"/>
                          <a:ea typeface="+mn-ea"/>
                          <a:cs typeface="+mn-cs"/>
                        </a:rPr>
                        <a:t xml:space="preserve">During the reporting period, no risks were identified in the area of ​​non-compliance with antimonopoly legislation / legislation on the protection of competition of the Republic of Kazakhstan. Fines/instructions of the antimonopoly authority of the Republic of Kazakhstan in the period 1-4 quarters. 2025 are missing.</a:t>
                      </a:r>
                      <a:r>
                        <a:rPr lang="ru-RU" sz="800" dirty="0" smtClean="0">
                          <a:solidFill>
                            <a:schemeClr val="tx1"/>
                          </a:solidFill>
                        </a:rPr>
                        <a:t/>
                      </a:r>
                    </a:p>
                    <a:p>
                      <a:pPr marL="0" marR="0" lvl="0" indent="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endParaRPr lang="ru-RU" sz="800" dirty="0" smtClean="0">
                        <a:solidFill>
                          <a:schemeClr val="tx1"/>
                        </a:solidFill>
                      </a:endParaRPr>
                    </a:p>
                    <a:p>
                      <a:pPr marL="171450" marR="0" lvl="0" indent="-17145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dirty="0" smtClean="0">
                          <a:solidFill>
                            <a:schemeClr val="tx1"/>
                          </a:solidFill>
                        </a:rPr>
                        <a:t xml:space="preserve">Department of Regulated Activities:</a:t>
                      </a:r>
                    </a:p>
                    <a:p>
                      <a:pPr marL="360363" marR="0" lvl="1" indent="-180975" algn="just" defTabSz="583170" rtl="0" eaLnBrk="1" fontAlgn="auto" latinLnBrk="0" hangingPunct="1">
                        <a:lnSpc>
                          <a:spcPct val="100000"/>
                        </a:lnSpc>
                        <a:spcBef>
                          <a:spcPts val="0"/>
                        </a:spcBef>
                        <a:spcAft>
                          <a:spcPts val="0"/>
                        </a:spcAft>
                        <a:buClr>
                          <a:schemeClr val="accent1"/>
                        </a:buClr>
                        <a:buSzTx/>
                        <a:buFont typeface="Wingdings" panose="05000000000000000000" pitchFamily="2" charset="2"/>
                        <a:buChar char="Ø"/>
                        <a:tabLst/>
                        <a:defRPr/>
                      </a:pPr>
                      <a:r>
                        <a:rPr lang="ru-RU" sz="800" dirty="0" smtClean="0">
                          <a:solidFill>
                            <a:schemeClr val="tx1"/>
                          </a:solidFill>
                        </a:rPr>
                        <a:t xml:space="preserve">Controls are implemented over pricing (preventing the establishment of a monopolistically high price), preventing the unreasonable establishment of different prices or conditions for the sale of goods, unjustified refusal to conclude an agreement or supply of goods, and the approval of economic concentration transactions (with the support of the Department of Legal Support of Projects).</a:t>
                      </a:r>
                      <a:r>
                        <a:rPr lang="ru-RU" sz="800" baseline="0" dirty="0" smtClean="0">
                          <a:solidFill>
                            <a:schemeClr val="tx1"/>
                          </a:solidFill>
                        </a:rPr>
                        <a:t/>
                      </a:r>
                      <a:r>
                        <a:rPr lang="ru-RU" sz="800" dirty="0" smtClean="0">
                          <a:solidFill>
                            <a:schemeClr val="tx1"/>
                          </a:solidFill>
                        </a:rPr>
                        <a:t/>
                      </a:r>
                      <a:r>
                        <a:rPr lang="ru-RU" sz="800" baseline="0" dirty="0" smtClean="0">
                          <a:solidFill>
                            <a:schemeClr val="tx1"/>
                          </a:solidFill>
                        </a:rPr>
                        <a:t/>
                      </a:r>
                      <a:r>
                        <a:rPr lang="ru-RU" sz="800" dirty="0" smtClean="0">
                          <a:solidFill>
                            <a:schemeClr val="tx1"/>
                          </a:solidFill>
                        </a:rPr>
                        <a:t/>
                      </a:r>
                    </a:p>
                    <a:p>
                      <a:pPr marL="179388" marR="0" lvl="1" indent="0" algn="just" defTabSz="583170" rtl="0" eaLnBrk="1" fontAlgn="auto" latinLnBrk="0" hangingPunct="1">
                        <a:lnSpc>
                          <a:spcPct val="100000"/>
                        </a:lnSpc>
                        <a:spcBef>
                          <a:spcPts val="0"/>
                        </a:spcBef>
                        <a:spcAft>
                          <a:spcPts val="0"/>
                        </a:spcAft>
                        <a:buClr>
                          <a:schemeClr val="accent1"/>
                        </a:buClr>
                        <a:buSzTx/>
                        <a:buFont typeface="Wingdings" panose="05000000000000000000" pitchFamily="2" charset="2"/>
                        <a:buNone/>
                        <a:tabLst/>
                        <a:defRPr/>
                      </a:pPr>
                      <a:endParaRPr lang="en-US" sz="800" dirty="0" smtClean="0">
                        <a:solidFill>
                          <a:schemeClr val="tx1"/>
                        </a:solidFill>
                      </a:endParaRPr>
                    </a:p>
                    <a:p>
                      <a:pPr marL="171450" marR="0" lvl="0" indent="-171450" algn="just"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dirty="0" smtClean="0">
                          <a:solidFill>
                            <a:schemeClr val="tx1"/>
                          </a:solidFill>
                        </a:rPr>
                        <a:t xml:space="preserve">Compliance Directorate:</a:t>
                      </a:r>
                    </a:p>
                    <a:p>
                      <a:pPr marL="360363" marR="0" lvl="1" indent="-180975" algn="just" defTabSz="583170" rtl="0" eaLnBrk="1" fontAlgn="auto" latinLnBrk="0" hangingPunct="1">
                        <a:lnSpc>
                          <a:spcPct val="100000"/>
                        </a:lnSpc>
                        <a:spcBef>
                          <a:spcPts val="0"/>
                        </a:spcBef>
                        <a:spcAft>
                          <a:spcPts val="0"/>
                        </a:spcAft>
                        <a:buClr>
                          <a:schemeClr val="accent1"/>
                        </a:buClr>
                        <a:buSzTx/>
                        <a:buFont typeface="Wingdings" panose="05000000000000000000" pitchFamily="2" charset="2"/>
                        <a:buChar char="Ø"/>
                        <a:tabLst/>
                        <a:defRPr/>
                      </a:pPr>
                      <a:r>
                        <a:rPr lang="ru-RU" sz="800" kern="1200" dirty="0" smtClean="0">
                          <a:solidFill>
                            <a:schemeClr val="tx1"/>
                          </a:solidFill>
                          <a:latin typeface="+mn-lt"/>
                          <a:ea typeface="+mn-ea"/>
                          <a:cs typeface="+mn-cs"/>
                        </a:rPr>
                        <a:t xml:space="preserve">When conducting the CPC, the legislative and regulatory requirements applicable to the activities of ERG are taken into account, incl. in the field of competition protection (use of competitive and regulated non-competitive procurement / sales procedures in accordance with the Perimeter Instructions, market analysis). Based on the results of the 4th quarter. no risks were identified.</a:t>
                      </a:r>
                      <a:r>
                        <a:rPr lang="ru-RU" sz="800" kern="1200" dirty="0" err="1" smtClean="0">
                          <a:solidFill>
                            <a:schemeClr val="tx1"/>
                          </a:solidFill>
                          <a:latin typeface="+mn-lt"/>
                          <a:ea typeface="+mn-ea"/>
                          <a:cs typeface="+mn-cs"/>
                        </a:rPr>
                        <a:t/>
                      </a:r>
                      <a:r>
                        <a:rPr lang="ru-RU" sz="800" kern="1200" dirty="0" smtClean="0">
                          <a:solidFill>
                            <a:schemeClr val="tx1"/>
                          </a:solidFill>
                          <a:latin typeface="+mn-lt"/>
                          <a:ea typeface="+mn-ea"/>
                          <a:cs typeface="+mn-cs"/>
                        </a:rPr>
                        <a:t/>
                      </a:r>
                      <a:r>
                        <a:rPr lang="en-US" sz="800" i="0" kern="1200" dirty="0" smtClean="0">
                          <a:solidFill>
                            <a:schemeClr val="tx1"/>
                          </a:solidFill>
                          <a:latin typeface="+mn-lt"/>
                          <a:ea typeface="+mn-ea"/>
                          <a:cs typeface="+mn-cs"/>
                        </a:rPr>
                        <a:t/>
                      </a:r>
                      <a:r>
                        <a:rPr lang="ru-RU" sz="800" i="0" kern="1200" dirty="0" smtClean="0">
                          <a:solidFill>
                            <a:schemeClr val="tx1"/>
                          </a:solidFill>
                          <a:effectLst/>
                          <a:latin typeface="+mn-lt"/>
                          <a:ea typeface="+mn-ea"/>
                          <a:cs typeface="+mn-cs"/>
                        </a:rPr>
                        <a:t/>
                      </a:r>
                    </a:p>
                    <a:p>
                      <a:pPr marL="360363" marR="0" lvl="1" indent="-180975" algn="just" defTabSz="583170" rtl="0" eaLnBrk="1" fontAlgn="auto" latinLnBrk="0" hangingPunct="1">
                        <a:lnSpc>
                          <a:spcPct val="100000"/>
                        </a:lnSpc>
                        <a:spcBef>
                          <a:spcPts val="0"/>
                        </a:spcBef>
                        <a:spcAft>
                          <a:spcPts val="0"/>
                        </a:spcAft>
                        <a:buClr>
                          <a:schemeClr val="accent1"/>
                        </a:buClr>
                        <a:buSzTx/>
                        <a:buFont typeface="Wingdings" panose="05000000000000000000" pitchFamily="2" charset="2"/>
                        <a:buChar char="Ø"/>
                        <a:tabLst/>
                        <a:defRPr/>
                      </a:pPr>
                      <a:r>
                        <a:rPr lang="ru-RU" sz="800" kern="1200" dirty="0" smtClean="0">
                          <a:solidFill>
                            <a:schemeClr val="tx1"/>
                          </a:solidFill>
                          <a:latin typeface="+mn-lt"/>
                          <a:ea typeface="+mn-ea"/>
                          <a:cs typeface="+mn-cs"/>
                        </a:rPr>
                        <a:t xml:space="preserve">Checking requests received via the ERG Hotline. In 4th quarter there were no complaints about violations of antimonopoly laws/competition protection.</a:t>
                      </a:r>
                      <a:r>
                        <a:rPr lang="ru-RU" sz="800" b="0" dirty="0" smtClean="0">
                          <a:solidFill>
                            <a:schemeClr val="tx1"/>
                          </a:solidFill>
                        </a:rPr>
                        <a:t/>
                      </a:r>
                      <a:r>
                        <a:rPr lang="en-US" sz="800" b="0" dirty="0" smtClean="0">
                          <a:solidFill>
                            <a:schemeClr val="tx1"/>
                          </a:solidFill>
                        </a:rPr>
                        <a:t/>
                      </a:r>
                      <a:r>
                        <a:rPr lang="ru-RU" sz="800" b="0" dirty="0" smtClean="0">
                          <a:solidFill>
                            <a:schemeClr val="tx1"/>
                          </a:solidFill>
                        </a:rPr>
                        <a:t/>
                      </a:r>
                      <a:r>
                        <a:rPr lang="ru-RU" sz="800" b="0" dirty="0" smtClean="0"/>
                        <a:t/>
                      </a:r>
                      <a:endParaRPr lang="ru-RU" sz="800" kern="1200" noProof="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421435"/>
                  </a:ext>
                </a:extLst>
              </a:tr>
            </a:tbl>
          </a:graphicData>
        </a:graphic>
      </p:graphicFrame>
      <p:grpSp>
        <p:nvGrpSpPr>
          <p:cNvPr id="94" name="Group 170">
            <a:extLst>
              <a:ext uri="{FF2B5EF4-FFF2-40B4-BE49-F238E27FC236}">
                <a16:creationId xmlns:a16="http://schemas.microsoft.com/office/drawing/2014/main" id="{86CD8B92-BE88-48FF-835A-5BC833A1B601}"/>
              </a:ext>
            </a:extLst>
          </p:cNvPr>
          <p:cNvGrpSpPr/>
          <p:nvPr/>
        </p:nvGrpSpPr>
        <p:grpSpPr>
          <a:xfrm>
            <a:off x="2703068" y="2169559"/>
            <a:ext cx="117815" cy="119583"/>
            <a:chOff x="5895953" y="2146311"/>
            <a:chExt cx="162010" cy="164441"/>
          </a:xfrm>
          <a:solidFill>
            <a:srgbClr val="00BC2D"/>
          </a:solidFill>
        </p:grpSpPr>
        <p:sp>
          <p:nvSpPr>
            <p:cNvPr id="95" name="Freeform 61">
              <a:extLst>
                <a:ext uri="{FF2B5EF4-FFF2-40B4-BE49-F238E27FC236}">
                  <a16:creationId xmlns:a16="http://schemas.microsoft.com/office/drawing/2014/main" id="{57E7BE26-3037-4BAA-9C77-367DFC8F99C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grp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solidFill>
                  <a:srgbClr val="00BC2D"/>
                </a:solidFill>
              </a:endParaRPr>
            </a:p>
          </p:txBody>
        </p:sp>
        <p:sp>
          <p:nvSpPr>
            <p:cNvPr id="96" name="Freeform 62">
              <a:extLst>
                <a:ext uri="{FF2B5EF4-FFF2-40B4-BE49-F238E27FC236}">
                  <a16:creationId xmlns:a16="http://schemas.microsoft.com/office/drawing/2014/main" id="{1AE7625B-D6AA-4D89-8BE0-053A3FF1F931}"/>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grp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solidFill>
                  <a:srgbClr val="00BC2D"/>
                </a:solidFill>
              </a:endParaRPr>
            </a:p>
          </p:txBody>
        </p:sp>
      </p:grpSp>
      <p:sp>
        <p:nvSpPr>
          <p:cNvPr id="130" name="Rectangle 145">
            <a:extLst>
              <a:ext uri="{FF2B5EF4-FFF2-40B4-BE49-F238E27FC236}">
                <a16:creationId xmlns:a16="http://schemas.microsoft.com/office/drawing/2014/main" id="{FF86761B-203C-4DA4-B8E6-B665DA1E471C}"/>
              </a:ext>
            </a:extLst>
          </p:cNvPr>
          <p:cNvSpPr/>
          <p:nvPr/>
        </p:nvSpPr>
        <p:spPr>
          <a:xfrm>
            <a:off x="612102" y="5605433"/>
            <a:ext cx="2940686"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sp>
        <p:nvSpPr>
          <p:cNvPr id="5" name="Прямоугольник 4"/>
          <p:cNvSpPr/>
          <p:nvPr/>
        </p:nvSpPr>
        <p:spPr>
          <a:xfrm>
            <a:off x="385621" y="5010368"/>
            <a:ext cx="3769210" cy="707886"/>
          </a:xfrm>
          <a:prstGeom prst="rect">
            <a:avLst/>
          </a:prstGeom>
        </p:spPr>
        <p:txBody>
          <a:bodyPr wrap="square">
            <a:spAutoFit/>
          </a:bodyPr>
          <a:lstStyle/>
          <a:p>
            <a:r>
              <a:rPr lang="ru-RU" sz="800" dirty="0" smtClean="0"/>
              <a:t xml:space="preserve">* The market share of some Perimeter enterprises allows them to be recognized as entities occupying a dominant position</a:t>
            </a:r>
            <a:r>
              <a:rPr lang="ru-RU" sz="800" dirty="0"/>
              <a:t/>
            </a:r>
            <a:r>
              <a:rPr lang="ru-RU" sz="800" dirty="0" smtClean="0"/>
              <a:t/>
            </a:r>
          </a:p>
          <a:p>
            <a:pPr marL="171450" indent="-171450">
              <a:buFont typeface="Arial" panose="020B0604020202020204" pitchFamily="34" charset="0"/>
              <a:buChar char="•"/>
            </a:pPr>
            <a:endParaRPr lang="ru-RU" sz="800" dirty="0" smtClean="0"/>
          </a:p>
          <a:p>
            <a:r>
              <a:rPr lang="ru-RU" sz="800" dirty="0" smtClean="0"/>
              <a:t xml:space="preserve">** Sales data for Perimeter Kazakhstan are taken at the actual level for 2024.</a:t>
            </a:r>
            <a:r>
              <a:rPr lang="ru-RU" sz="800" dirty="0"/>
              <a:t/>
            </a:r>
            <a:r>
              <a:rPr lang="ru-RU" sz="800" dirty="0" smtClean="0"/>
              <a:t/>
            </a:r>
            <a:r>
              <a:rPr lang="ru-RU" sz="800" dirty="0"/>
              <a:t/>
            </a:r>
            <a:r>
              <a:rPr lang="ru-RU" sz="800" dirty="0" smtClean="0"/>
              <a:t/>
            </a:r>
            <a:endParaRPr lang="ru-RU" sz="800" dirty="0"/>
          </a:p>
        </p:txBody>
      </p:sp>
      <p:sp>
        <p:nvSpPr>
          <p:cNvPr id="6" name="Прямоугольник 5"/>
          <p:cNvSpPr/>
          <p:nvPr/>
        </p:nvSpPr>
        <p:spPr>
          <a:xfrm>
            <a:off x="317494" y="6122558"/>
            <a:ext cx="11635745" cy="338554"/>
          </a:xfrm>
          <a:prstGeom prst="rect">
            <a:avLst/>
          </a:prstGeom>
        </p:spPr>
        <p:txBody>
          <a:bodyPr wrap="square">
            <a:spAutoFit/>
          </a:bodyPr>
          <a:lstStyle/>
          <a:p>
            <a:pPr marL="0" lvl="1">
              <a:defRPr/>
            </a:pPr>
            <a:r>
              <a:rPr lang="ru-RU" sz="800" i="1" dirty="0">
                <a:solidFill>
                  <a:schemeClr val="accent1"/>
                </a:solidFill>
              </a:rPr>
              <a:t xml:space="preserve">In Perimeter, the Department for Regulated Activities (subordinate to the CFO of Perimeter) is responsible for managing the risk of non-compliance with the requirements of the legislation on protection of competition / antimonopoly legislation of the Republic of Kazakhstan; in terms of approval of economic concentration transactions (purchase of participation shares, mergers, etc.) - the Department of Legal Support of Projects is responsible.</a:t>
            </a:r>
          </a:p>
        </p:txBody>
      </p:sp>
    </p:spTree>
    <p:extLst>
      <p:ext uri="{BB962C8B-B14F-4D97-AF65-F5344CB8AC3E}">
        <p14:creationId xmlns:p14="http://schemas.microsoft.com/office/powerpoint/2010/main" val="3588219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A90ED-F1F6-4B7F-022D-ADBD9A816CC2}"/>
              </a:ext>
            </a:extLst>
          </p:cNvPr>
          <p:cNvSpPr>
            <a:spLocks noGrp="1"/>
          </p:cNvSpPr>
          <p:nvPr>
            <p:ph type="title"/>
          </p:nvPr>
        </p:nvSpPr>
        <p:spPr>
          <a:xfrm>
            <a:off x="317499" y="0"/>
            <a:ext cx="10584209" cy="704850"/>
          </a:xfrm>
        </p:spPr>
        <p:txBody>
          <a:bodyPr rtlCol="0"/>
          <a:lstStyle/>
          <a:p>
            <a:pPr rtl="0"/>
            <a:r>
              <a:rPr lang="ru-RU" noProof="0" dirty="0"/>
              <a:t xml:space="preserve">Dashboard for 4 sq. 2025: Policy Management Information</a:t>
            </a:r>
            <a:r>
              <a:rPr lang="ru" noProof="0" dirty="0"/>
              <a:t/>
            </a:r>
          </a:p>
        </p:txBody>
      </p:sp>
      <p:sp>
        <p:nvSpPr>
          <p:cNvPr id="152" name="Text Placeholder 9">
            <a:extLst>
              <a:ext uri="{FF2B5EF4-FFF2-40B4-BE49-F238E27FC236}">
                <a16:creationId xmlns:a16="http://schemas.microsoft.com/office/drawing/2014/main" id="{E3324796-4903-471D-87CA-71FB80C88F88}"/>
              </a:ext>
            </a:extLst>
          </p:cNvPr>
          <p:cNvSpPr txBox="1">
            <a:spLocks/>
          </p:cNvSpPr>
          <p:nvPr/>
        </p:nvSpPr>
        <p:spPr>
          <a:xfrm>
            <a:off x="317497" y="1077231"/>
            <a:ext cx="3754439"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t xml:space="preserve">Data for the reporting period</a:t>
            </a:r>
          </a:p>
        </p:txBody>
      </p:sp>
      <p:sp>
        <p:nvSpPr>
          <p:cNvPr id="154" name="Text Placeholder 9">
            <a:extLst>
              <a:ext uri="{FF2B5EF4-FFF2-40B4-BE49-F238E27FC236}">
                <a16:creationId xmlns:a16="http://schemas.microsoft.com/office/drawing/2014/main" id="{70D42507-A510-4409-92DA-1376849DA00B}"/>
              </a:ext>
            </a:extLst>
          </p:cNvPr>
          <p:cNvSpPr txBox="1">
            <a:spLocks/>
          </p:cNvSpPr>
          <p:nvPr/>
        </p:nvSpPr>
        <p:spPr>
          <a:xfrm>
            <a:off x="3368039" y="1738212"/>
            <a:ext cx="1773874"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solidFill>
                  <a:schemeClr val="accent5">
                    <a:lumMod val="75000"/>
                    <a:lumOff val="25000"/>
                  </a:schemeClr>
                </a:solidFill>
              </a:rPr>
              <a:t xml:space="preserve">Trends</a:t>
            </a:r>
          </a:p>
        </p:txBody>
      </p:sp>
      <p:sp>
        <p:nvSpPr>
          <p:cNvPr id="155" name="Text Placeholder 9">
            <a:extLst>
              <a:ext uri="{FF2B5EF4-FFF2-40B4-BE49-F238E27FC236}">
                <a16:creationId xmlns:a16="http://schemas.microsoft.com/office/drawing/2014/main" id="{4CD134A1-DD84-49E3-A46E-AD6B995E1FA1}"/>
              </a:ext>
            </a:extLst>
          </p:cNvPr>
          <p:cNvSpPr txBox="1">
            <a:spLocks/>
          </p:cNvSpPr>
          <p:nvPr/>
        </p:nvSpPr>
        <p:spPr>
          <a:xfrm>
            <a:off x="7059931" y="1645879"/>
            <a:ext cx="1811656"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sz="1200" b="0">
                <a:solidFill>
                  <a:schemeClr val="accent5">
                    <a:lumMod val="75000"/>
                    <a:lumOff val="25000"/>
                  </a:schemeClr>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noProof="0" dirty="0"/>
              <a:t xml:space="preserve">Identified /</a:t>
            </a:r>
          </a:p>
          <a:p>
            <a:pPr rtl="0"/>
            <a:r>
              <a:rPr lang="ru" noProof="0" dirty="0"/>
              <a:t xml:space="preserve">realized risks</a:t>
            </a:r>
          </a:p>
        </p:txBody>
      </p:sp>
      <p:sp>
        <p:nvSpPr>
          <p:cNvPr id="164" name="Text Placeholder 9">
            <a:extLst>
              <a:ext uri="{FF2B5EF4-FFF2-40B4-BE49-F238E27FC236}">
                <a16:creationId xmlns:a16="http://schemas.microsoft.com/office/drawing/2014/main" id="{1F3010DF-E351-4D5F-B88C-CD803889305E}"/>
              </a:ext>
            </a:extLst>
          </p:cNvPr>
          <p:cNvSpPr txBox="1">
            <a:spLocks/>
          </p:cNvSpPr>
          <p:nvPr/>
        </p:nvSpPr>
        <p:spPr>
          <a:xfrm>
            <a:off x="9313760" y="1659949"/>
            <a:ext cx="2259115"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sz="1200" b="0">
                <a:solidFill>
                  <a:schemeClr val="accent5">
                    <a:lumMod val="75000"/>
                    <a:lumOff val="25000"/>
                  </a:schemeClr>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solidFill>
                  <a:schemeClr val="accent5">
                    <a:lumMod val="75000"/>
                    <a:lumOff val="25000"/>
                  </a:schemeClr>
                </a:solidFill>
              </a:rPr>
              <a:t xml:space="preserve">Impact on GP 2025 (lessons learned)</a:t>
            </a:r>
          </a:p>
        </p:txBody>
      </p:sp>
      <p:sp>
        <p:nvSpPr>
          <p:cNvPr id="190" name="Rectangle: Rounded Corners 189">
            <a:extLst>
              <a:ext uri="{FF2B5EF4-FFF2-40B4-BE49-F238E27FC236}">
                <a16:creationId xmlns:a16="http://schemas.microsoft.com/office/drawing/2014/main" id="{FB6093E1-C226-4C29-907C-013604F82F2D}"/>
              </a:ext>
            </a:extLst>
          </p:cNvPr>
          <p:cNvSpPr/>
          <p:nvPr>
            <p:custDataLst>
              <p:tags r:id="rId1"/>
            </p:custDataLst>
          </p:nvPr>
        </p:nvSpPr>
        <p:spPr>
          <a:xfrm>
            <a:off x="207963" y="2059802"/>
            <a:ext cx="2835911" cy="3403737"/>
          </a:xfrm>
          <a:prstGeom prst="roundRect">
            <a:avLst>
              <a:gd name="adj" fmla="val 9662"/>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algn="ctr" defTabSz="583170" rtl="0">
              <a:spcAft>
                <a:spcPts val="300"/>
              </a:spcAft>
              <a:buClr>
                <a:schemeClr val="accent1"/>
              </a:buClr>
            </a:pPr>
            <a:r>
              <a:rPr lang="ru" sz="1000" b="1" noProof="0" dirty="0">
                <a:solidFill>
                  <a:schemeClr val="tx1"/>
                </a:solidFill>
              </a:rPr>
              <a:t xml:space="preserve">Policy coverage rate (95.83%)</a:t>
            </a:r>
            <a:r>
              <a:rPr lang="ru" sz="1000" b="1" noProof="0" dirty="0" smtClean="0">
                <a:solidFill>
                  <a:schemeClr val="tx1"/>
                </a:solidFill>
              </a:rPr>
              <a:t/>
            </a:r>
            <a:endParaRPr lang="en-US" sz="1000" noProof="0" dirty="0">
              <a:solidFill>
                <a:schemeClr val="tx1"/>
              </a:solidFill>
            </a:endParaRPr>
          </a:p>
        </p:txBody>
      </p:sp>
      <p:sp>
        <p:nvSpPr>
          <p:cNvPr id="201" name="Rectangle: Rounded Corners 200">
            <a:extLst>
              <a:ext uri="{FF2B5EF4-FFF2-40B4-BE49-F238E27FC236}">
                <a16:creationId xmlns:a16="http://schemas.microsoft.com/office/drawing/2014/main" id="{D21E4380-7135-486F-8170-40EA0C875C06}"/>
              </a:ext>
            </a:extLst>
          </p:cNvPr>
          <p:cNvSpPr/>
          <p:nvPr/>
        </p:nvSpPr>
        <p:spPr>
          <a:xfrm>
            <a:off x="3192467" y="2059802"/>
            <a:ext cx="3693471" cy="3403737"/>
          </a:xfrm>
          <a:prstGeom prst="roundRect">
            <a:avLst>
              <a:gd name="adj" fmla="val 8593"/>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algn="just" defTabSz="583170">
              <a:spcAft>
                <a:spcPts val="300"/>
              </a:spcAft>
              <a:buClr>
                <a:schemeClr val="accent1"/>
              </a:buClr>
            </a:pPr>
            <a:r>
              <a:rPr lang="ru" sz="900" dirty="0">
                <a:solidFill>
                  <a:schemeClr val="tx1"/>
                </a:solidFill>
              </a:rPr>
              <a:t xml:space="preserve">- 4.17% in Q4 2025 vs. Q3 2025</a:t>
            </a:r>
            <a:r>
              <a:rPr lang="ru" sz="900" dirty="0" smtClean="0">
                <a:solidFill>
                  <a:schemeClr val="tx1"/>
                </a:solidFill>
              </a:rPr>
              <a:t/>
            </a:r>
            <a:r>
              <a:rPr lang="ru" sz="900" dirty="0">
                <a:solidFill>
                  <a:schemeClr val="tx1"/>
                </a:solidFill>
              </a:rPr>
              <a:t/>
            </a:r>
          </a:p>
          <a:p>
            <a:pPr algn="just" defTabSz="583170">
              <a:spcAft>
                <a:spcPts val="300"/>
              </a:spcAft>
              <a:buClr>
                <a:schemeClr val="accent1"/>
              </a:buClr>
            </a:pPr>
            <a:endParaRPr lang="ru" sz="900" dirty="0">
              <a:solidFill>
                <a:schemeClr val="tx1"/>
              </a:solidFill>
            </a:endParaRPr>
          </a:p>
          <a:p>
            <a:pPr marL="171450" indent="-171450" algn="just" defTabSz="583170">
              <a:spcAft>
                <a:spcPts val="300"/>
              </a:spcAft>
              <a:buClr>
                <a:schemeClr val="accent1"/>
              </a:buClr>
              <a:buFont typeface="Arial" panose="020B0604020202020204" pitchFamily="34" charset="0"/>
              <a:buChar char="•"/>
            </a:pPr>
            <a:r>
              <a:rPr lang="ru" sz="900" dirty="0">
                <a:solidFill>
                  <a:schemeClr val="tx1"/>
                </a:solidFill>
              </a:rPr>
              <a:t xml:space="preserve">In December 2025, Aitu Dala LLP was included in the companies of the Perimeter Kazakhstan Group. In January 2026, the implementation of policies and procedures at Aitu Dala LLP in the field of compliance was completed, including the following procedures, adapted in accordance with the requirements of national legislation and best management practices:</a:t>
            </a:r>
            <a:r>
              <a:rPr lang="ru-RU" sz="900" dirty="0">
                <a:solidFill>
                  <a:schemeClr val="tx1"/>
                </a:solidFill>
              </a:rPr>
              <a:t/>
            </a:r>
            <a:r>
              <a:rPr lang="ru-RU" sz="900" dirty="0" smtClean="0">
                <a:solidFill>
                  <a:schemeClr val="tx1"/>
                </a:solidFill>
              </a:rPr>
              <a:t/>
            </a:r>
            <a:endParaRPr lang="ru-RU" sz="900" dirty="0">
              <a:solidFill>
                <a:schemeClr val="tx1"/>
              </a:solidFill>
            </a:endParaRPr>
          </a:p>
          <a:p>
            <a:pPr marL="360363" indent="-182563" algn="just" defTabSz="583170">
              <a:spcAft>
                <a:spcPts val="300"/>
              </a:spcAft>
              <a:buClr>
                <a:schemeClr val="accent1"/>
              </a:buClr>
              <a:buAutoNum type="arabicPeriod"/>
            </a:pPr>
            <a:r>
              <a:rPr lang="ru-RU" sz="900" dirty="0">
                <a:solidFill>
                  <a:schemeClr val="tx1"/>
                </a:solidFill>
              </a:rPr>
              <a:t xml:space="preserve">Instructions for checking requests received through the ERG hotline channels and from other sources.</a:t>
            </a:r>
          </a:p>
          <a:p>
            <a:pPr marL="360363" indent="-182563" algn="just" defTabSz="583170">
              <a:spcAft>
                <a:spcPts val="300"/>
              </a:spcAft>
              <a:buClr>
                <a:schemeClr val="accent1"/>
              </a:buClr>
              <a:buAutoNum type="arabicPeriod"/>
            </a:pPr>
            <a:r>
              <a:rPr lang="ru-RU" sz="900" dirty="0">
                <a:solidFill>
                  <a:schemeClr val="tx1"/>
                </a:solidFill>
              </a:rPr>
              <a:t xml:space="preserve">Instructions for conducting a comprehensive audit of counterparties.</a:t>
            </a:r>
          </a:p>
          <a:p>
            <a:pPr marL="360363" indent="-182563" algn="just" defTabSz="583170">
              <a:spcAft>
                <a:spcPts val="300"/>
              </a:spcAft>
              <a:buClr>
                <a:schemeClr val="accent1"/>
              </a:buClr>
              <a:buFontTx/>
              <a:buAutoNum type="arabicPeriod"/>
            </a:pPr>
            <a:r>
              <a:rPr lang="ru-RU" sz="900" dirty="0">
                <a:solidFill>
                  <a:schemeClr val="tx1"/>
                </a:solidFill>
              </a:rPr>
              <a:t xml:space="preserve">Regulations on the rules for collecting processing and protecting personal data.</a:t>
            </a:r>
          </a:p>
          <a:p>
            <a:pPr marL="171450" indent="-171450" algn="just" defTabSz="583170">
              <a:spcAft>
                <a:spcPts val="300"/>
              </a:spcAft>
              <a:buClr>
                <a:schemeClr val="accent1"/>
              </a:buClr>
              <a:buFont typeface="Arial" panose="020B0604020202020204" pitchFamily="34" charset="0"/>
              <a:buChar char="•"/>
            </a:pPr>
            <a:r>
              <a:rPr lang="ru-RU" sz="900" dirty="0">
                <a:solidFill>
                  <a:schemeClr val="tx1"/>
                </a:solidFill>
              </a:rPr>
              <a:t xml:space="preserve">Fortis LLP was liquidated on December 17, 2025.</a:t>
            </a:r>
            <a:r>
              <a:rPr lang="ru-RU" sz="900" dirty="0" err="1">
                <a:solidFill>
                  <a:schemeClr val="tx1"/>
                </a:solidFill>
              </a:rPr>
              <a:t/>
            </a:r>
            <a:r>
              <a:rPr lang="ru-RU" sz="900" dirty="0">
                <a:solidFill>
                  <a:schemeClr val="tx1"/>
                </a:solidFill>
              </a:rPr>
              <a:t/>
            </a:r>
          </a:p>
          <a:p>
            <a:pPr marL="171450" indent="-171450" algn="just" defTabSz="583170">
              <a:spcAft>
                <a:spcPts val="300"/>
              </a:spcAft>
              <a:buClr>
                <a:schemeClr val="accent1"/>
              </a:buClr>
              <a:buFont typeface="Arial" panose="020B0604020202020204" pitchFamily="34" charset="0"/>
              <a:buChar char="•"/>
            </a:pPr>
            <a:r>
              <a:rPr lang="ru-RU" sz="900" dirty="0">
                <a:solidFill>
                  <a:schemeClr val="tx1"/>
                </a:solidFill>
              </a:rPr>
              <a:t xml:space="preserve">In addition, by the decision of the Board of Managers of ERG S.a.r.l. The ERG office located in Beijing was transferred to Perimeter Kazakhstan. The Group's Policies and Procedures are currently being implemented.</a:t>
            </a:r>
            <a:r>
              <a:rPr lang="en-US" sz="900" dirty="0">
                <a:solidFill>
                  <a:schemeClr val="tx1"/>
                </a:solidFill>
              </a:rPr>
              <a:t/>
            </a:r>
            <a:r>
              <a:rPr lang="ru-RU" sz="900" dirty="0">
                <a:solidFill>
                  <a:schemeClr val="tx1"/>
                </a:solidFill>
              </a:rPr>
              <a:t/>
            </a:r>
            <a:r>
              <a:rPr lang="en-US" sz="900" dirty="0">
                <a:solidFill>
                  <a:schemeClr val="tx1"/>
                </a:solidFill>
              </a:rPr>
              <a:t/>
            </a:r>
            <a:r>
              <a:rPr lang="kk-KZ" sz="900" dirty="0">
                <a:solidFill>
                  <a:schemeClr val="tx1"/>
                </a:solidFill>
              </a:rPr>
              <a:t/>
            </a:r>
            <a:r>
              <a:rPr lang="ru-RU" sz="900" dirty="0">
                <a:solidFill>
                  <a:schemeClr val="tx1"/>
                </a:solidFill>
              </a:rPr>
              <a:t/>
            </a:r>
          </a:p>
        </p:txBody>
      </p:sp>
      <p:sp>
        <p:nvSpPr>
          <p:cNvPr id="202" name="Rectangle: Rounded Corners 201">
            <a:extLst>
              <a:ext uri="{FF2B5EF4-FFF2-40B4-BE49-F238E27FC236}">
                <a16:creationId xmlns:a16="http://schemas.microsoft.com/office/drawing/2014/main" id="{AA399931-F0AE-4A02-A67B-CB8027CEFC4E}"/>
              </a:ext>
            </a:extLst>
          </p:cNvPr>
          <p:cNvSpPr/>
          <p:nvPr/>
        </p:nvSpPr>
        <p:spPr>
          <a:xfrm>
            <a:off x="6964681" y="2059802"/>
            <a:ext cx="2136986" cy="3403737"/>
          </a:xfrm>
          <a:prstGeom prst="roundRect">
            <a:avLst>
              <a:gd name="adj" fmla="val 8593"/>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defTabSz="583170">
              <a:spcAft>
                <a:spcPts val="300"/>
              </a:spcAft>
              <a:buClr>
                <a:schemeClr val="accent1"/>
              </a:buClr>
            </a:pPr>
            <a:r>
              <a:rPr lang="ru-RU" sz="900" dirty="0">
                <a:solidFill>
                  <a:schemeClr val="tx1"/>
                </a:solidFill>
              </a:rPr>
              <a:t xml:space="preserve">No significant risks were identified during the reporting period.</a:t>
            </a:r>
            <a:endParaRPr lang="ru" sz="900" dirty="0">
              <a:solidFill>
                <a:schemeClr val="tx1"/>
              </a:solidFill>
            </a:endParaRPr>
          </a:p>
        </p:txBody>
      </p:sp>
      <p:sp>
        <p:nvSpPr>
          <p:cNvPr id="204" name="Rectangle: Rounded Corners 203">
            <a:extLst>
              <a:ext uri="{FF2B5EF4-FFF2-40B4-BE49-F238E27FC236}">
                <a16:creationId xmlns:a16="http://schemas.microsoft.com/office/drawing/2014/main" id="{B9DA7104-EEDB-4FC7-89B5-1BF9B341D8EB}"/>
              </a:ext>
            </a:extLst>
          </p:cNvPr>
          <p:cNvSpPr/>
          <p:nvPr/>
        </p:nvSpPr>
        <p:spPr>
          <a:xfrm>
            <a:off x="9180410" y="2059802"/>
            <a:ext cx="2690915" cy="3403737"/>
          </a:xfrm>
          <a:prstGeom prst="roundRect">
            <a:avLst>
              <a:gd name="adj" fmla="val 8593"/>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defTabSz="583170" fontAlgn="ctr">
              <a:spcAft>
                <a:spcPts val="300"/>
              </a:spcAft>
              <a:buClr>
                <a:schemeClr val="accent1"/>
              </a:buClr>
              <a:defRPr/>
            </a:pPr>
            <a:r>
              <a:rPr lang="ru-RU" sz="900" dirty="0">
                <a:solidFill>
                  <a:schemeClr val="tx1"/>
                </a:solidFill>
              </a:rPr>
              <a:t xml:space="preserve">Continue in 2026 to maintain 100% coverage of compliance policies and procedures of active Perimeter enterprises and ensure the timely implementation of compliance policies and procedures of the Group and Perimeter, incl. analyze the specifics of the activities of ERG Beijing and implement the applicable / necessary compliance procedures of Perimeter (with adaptation if necessary) after the implementation of the Group’s compliance policies.</a:t>
            </a:r>
            <a:r>
              <a:rPr lang="ru-RU" sz="900" dirty="0" smtClean="0">
                <a:solidFill>
                  <a:schemeClr val="tx1"/>
                </a:solidFill>
              </a:rPr>
              <a:t/>
            </a:r>
            <a:r>
              <a:rPr lang="ru-RU" sz="900" dirty="0">
                <a:solidFill>
                  <a:schemeClr val="tx1"/>
                </a:solidFill>
              </a:rPr>
              <a:t/>
            </a:r>
            <a:r>
              <a:rPr lang="ru-RU" sz="900" dirty="0" smtClean="0">
                <a:solidFill>
                  <a:schemeClr val="tx1"/>
                </a:solidFill>
              </a:rPr>
              <a:t/>
            </a:r>
            <a:r>
              <a:rPr lang="ru-RU" sz="900" dirty="0">
                <a:solidFill>
                  <a:schemeClr val="tx1"/>
                </a:solidFill>
              </a:rPr>
              <a:t/>
            </a:r>
            <a:r>
              <a:rPr lang="ru-RU" sz="900" dirty="0" smtClean="0">
                <a:solidFill>
                  <a:schemeClr val="tx1"/>
                </a:solidFill>
              </a:rPr>
              <a:t/>
            </a:r>
            <a:r>
              <a:rPr lang="ru-RU" sz="900" dirty="0" err="1" smtClean="0">
                <a:solidFill>
                  <a:schemeClr val="tx1"/>
                </a:solidFill>
              </a:rPr>
              <a:t/>
            </a:r>
            <a:r>
              <a:rPr lang="ru-RU" sz="900" dirty="0" smtClean="0">
                <a:solidFill>
                  <a:schemeClr val="tx1"/>
                </a:solidFill>
              </a:rPr>
              <a:t/>
            </a:r>
            <a:r>
              <a:rPr lang="ru-RU" sz="900" dirty="0">
                <a:solidFill>
                  <a:schemeClr val="tx1"/>
                </a:solidFill>
              </a:rPr>
              <a:t/>
            </a:r>
            <a:r>
              <a:rPr lang="en-US" sz="900" dirty="0">
                <a:solidFill>
                  <a:schemeClr val="tx1"/>
                </a:solidFill>
              </a:rPr>
              <a:t/>
            </a:r>
            <a:r>
              <a:rPr lang="ru-RU" sz="900" dirty="0">
                <a:solidFill>
                  <a:schemeClr val="tx1"/>
                </a:solidFill>
              </a:rPr>
              <a:t/>
            </a:r>
            <a:r>
              <a:rPr lang="en-US" sz="900" dirty="0">
                <a:solidFill>
                  <a:schemeClr val="tx1"/>
                </a:solidFill>
              </a:rPr>
              <a:t/>
            </a:r>
            <a:endParaRPr lang="ru-RU" sz="900" dirty="0">
              <a:solidFill>
                <a:schemeClr val="tx1"/>
              </a:solidFill>
            </a:endParaRPr>
          </a:p>
          <a:p>
            <a:pPr marL="180975" lvl="1" defTabSz="583170" fontAlgn="ctr">
              <a:buClr>
                <a:schemeClr val="accent5">
                  <a:lumMod val="75000"/>
                  <a:lumOff val="25000"/>
                </a:schemeClr>
              </a:buClr>
              <a:defRPr/>
            </a:pPr>
            <a:endParaRPr lang="ru-RU" sz="700" dirty="0">
              <a:solidFill>
                <a:schemeClr val="tx1"/>
              </a:solidFill>
            </a:endParaRPr>
          </a:p>
          <a:p>
            <a:pPr marL="171450" indent="-171450" defTabSz="583170">
              <a:spcAft>
                <a:spcPts val="300"/>
              </a:spcAft>
              <a:buClr>
                <a:schemeClr val="accent1"/>
              </a:buClr>
              <a:buFont typeface="Arial" panose="020B0604020202020204" pitchFamily="34" charset="0"/>
              <a:buChar char="•"/>
            </a:pPr>
            <a:endParaRPr lang="ru-RU" sz="900" noProof="0" dirty="0">
              <a:solidFill>
                <a:schemeClr val="tx1"/>
              </a:solidFill>
            </a:endParaRPr>
          </a:p>
        </p:txBody>
      </p:sp>
      <p:sp>
        <p:nvSpPr>
          <p:cNvPr id="214" name="Rectangle 213">
            <a:extLst>
              <a:ext uri="{FF2B5EF4-FFF2-40B4-BE49-F238E27FC236}">
                <a16:creationId xmlns:a16="http://schemas.microsoft.com/office/drawing/2014/main" id="{FA593D99-186B-43FB-AEBE-184FF87AED6C}"/>
              </a:ext>
            </a:extLst>
          </p:cNvPr>
          <p:cNvSpPr/>
          <p:nvPr/>
        </p:nvSpPr>
        <p:spPr>
          <a:xfrm>
            <a:off x="421958" y="3910586"/>
            <a:ext cx="2330767" cy="553998"/>
          </a:xfrm>
          <a:prstGeom prst="rect">
            <a:avLst/>
          </a:prstGeom>
        </p:spPr>
        <p:txBody>
          <a:bodyPr wrap="square" lIns="0" tIns="0" rIns="0" bIns="0" rtlCol="0">
            <a:spAutoFit/>
          </a:bodyPr>
          <a:lstStyle/>
          <a:p>
            <a:pPr algn="ctr" defTabSz="583170">
              <a:spcAft>
                <a:spcPts val="300"/>
              </a:spcAft>
              <a:buClr>
                <a:schemeClr val="accent1"/>
              </a:buClr>
            </a:pPr>
            <a:r>
              <a:rPr lang="ru-RU" sz="900" dirty="0"/>
              <a:t xml:space="preserve">46 of the 48 “active” Perimeter Kazakhstan ERG companies have implemented updated compliance policies/procedures.</a:t>
            </a:r>
            <a:r>
              <a:rPr lang="ru-RU" sz="900" dirty="0" smtClean="0"/>
              <a:t/>
            </a:r>
            <a:r>
              <a:rPr lang="ru-RU" sz="900" dirty="0"/>
              <a:t/>
            </a:r>
            <a:r>
              <a:rPr lang="ru-RU" sz="900" dirty="0" smtClean="0"/>
              <a:t/>
            </a:r>
            <a:r>
              <a:rPr lang="ru-RU" sz="900" dirty="0"/>
              <a:t/>
            </a:r>
            <a:endParaRPr lang="ru" sz="900" dirty="0"/>
          </a:p>
        </p:txBody>
      </p:sp>
      <p:sp>
        <p:nvSpPr>
          <p:cNvPr id="4" name="Rectangle 3">
            <a:extLst>
              <a:ext uri="{FF2B5EF4-FFF2-40B4-BE49-F238E27FC236}">
                <a16:creationId xmlns:a16="http://schemas.microsoft.com/office/drawing/2014/main" id="{B4FEAB01-2AE3-EC46-01A4-5DC9C6A85398}"/>
              </a:ext>
            </a:extLst>
          </p:cNvPr>
          <p:cNvSpPr/>
          <p:nvPr>
            <p:custDataLst>
              <p:tags r:id="rId2"/>
            </p:custDataLst>
          </p:nvPr>
        </p:nvSpPr>
        <p:spPr bwMode="auto">
          <a:xfrm>
            <a:off x="1239491" y="3067573"/>
            <a:ext cx="695703" cy="249428"/>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1588" rIns="0" bIns="1588" numCol="1" spcCol="0" rtlCol="0" fromWordArt="0" anchor="ctr" anchorCtr="0" forceAA="0" compatLnSpc="1">
            <a:prstTxWarp prst="textNoShape">
              <a:avLst/>
            </a:prstTxWarp>
            <a:spAutoFit/>
          </a:bodyPr>
          <a:lstStyle/>
          <a:p>
            <a:pPr algn="ctr" rtl="0">
              <a:spcBef>
                <a:spcPct val="0"/>
              </a:spcBef>
              <a:spcAft>
                <a:spcPts val="600"/>
              </a:spcAft>
            </a:pPr>
            <a:r>
              <a:rPr lang="ru-RU" sz="1600" b="1" noProof="0" dirty="0" smtClean="0">
                <a:solidFill>
                  <a:schemeClr val="accent5">
                    <a:lumMod val="75000"/>
                    <a:lumOff val="25000"/>
                  </a:schemeClr>
                </a:solidFill>
              </a:rPr>
              <a:t>95,83</a:t>
            </a:r>
            <a:r>
              <a:rPr lang="en-US" sz="1600" b="1" noProof="0" dirty="0" smtClean="0">
                <a:solidFill>
                  <a:schemeClr val="accent5">
                    <a:lumMod val="75000"/>
                    <a:lumOff val="25000"/>
                  </a:schemeClr>
                </a:solidFill>
              </a:rPr>
              <a:t>%</a:t>
            </a:r>
            <a:endParaRPr lang="ru" sz="1600" b="1" noProof="0" dirty="0">
              <a:solidFill>
                <a:schemeClr val="accent5">
                  <a:lumMod val="75000"/>
                  <a:lumOff val="25000"/>
                </a:schemeClr>
              </a:solidFill>
            </a:endParaRPr>
          </a:p>
        </p:txBody>
      </p:sp>
      <p:sp>
        <p:nvSpPr>
          <p:cNvPr id="223" name="Text Placeholder 9">
            <a:extLst>
              <a:ext uri="{FF2B5EF4-FFF2-40B4-BE49-F238E27FC236}">
                <a16:creationId xmlns:a16="http://schemas.microsoft.com/office/drawing/2014/main" id="{AEF2EC1E-CCB0-41BF-AA29-71697E83E9DE}"/>
              </a:ext>
            </a:extLst>
          </p:cNvPr>
          <p:cNvSpPr txBox="1">
            <a:spLocks/>
          </p:cNvSpPr>
          <p:nvPr/>
        </p:nvSpPr>
        <p:spPr>
          <a:xfrm>
            <a:off x="317498" y="810996"/>
            <a:ext cx="3754439" cy="215444"/>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400" b="1" noProof="0" dirty="0">
                <a:solidFill>
                  <a:schemeClr val="tx1"/>
                </a:solidFill>
              </a:rPr>
              <a:t xml:space="preserve">Policy management</a:t>
            </a:r>
          </a:p>
        </p:txBody>
      </p:sp>
      <p:sp>
        <p:nvSpPr>
          <p:cNvPr id="3" name="Равнобедренный треугольник 2"/>
          <p:cNvSpPr/>
          <p:nvPr/>
        </p:nvSpPr>
        <p:spPr>
          <a:xfrm rot="10800000">
            <a:off x="3368040" y="2210409"/>
            <a:ext cx="110014" cy="111921"/>
          </a:xfrm>
          <a:prstGeom prst="triangle">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400" dirty="0">
              <a:solidFill>
                <a:schemeClr val="tx1"/>
              </a:solidFill>
            </a:endParaRPr>
          </a:p>
        </p:txBody>
      </p:sp>
      <p:graphicFrame>
        <p:nvGraphicFramePr>
          <p:cNvPr id="16" name="Chart 2">
            <a:extLst>
              <a:ext uri="{FF2B5EF4-FFF2-40B4-BE49-F238E27FC236}">
                <a16:creationId xmlns:a16="http://schemas.microsoft.com/office/drawing/2014/main" id="{DE7179CE-47EA-C7D2-7DC4-458CF776DAD2}"/>
              </a:ext>
            </a:extLst>
          </p:cNvPr>
          <p:cNvGraphicFramePr/>
          <p:nvPr>
            <p:custDataLst>
              <p:tags r:id="rId3"/>
            </p:custDataLst>
            <p:extLst>
              <p:ext uri="{D42A27DB-BD31-4B8C-83A1-F6EECF244321}">
                <p14:modId xmlns:p14="http://schemas.microsoft.com/office/powerpoint/2010/main" val="120878729"/>
              </p:ext>
            </p:extLst>
          </p:nvPr>
        </p:nvGraphicFramePr>
        <p:xfrm>
          <a:off x="807377" y="2431777"/>
          <a:ext cx="1559928" cy="152102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547006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Rounded Corners 77">
            <a:extLst>
              <a:ext uri="{FF2B5EF4-FFF2-40B4-BE49-F238E27FC236}">
                <a16:creationId xmlns:a16="http://schemas.microsoft.com/office/drawing/2014/main" id="{4B0254CC-5FD7-4084-BC01-EB93785B2A2F}"/>
              </a:ext>
            </a:extLst>
          </p:cNvPr>
          <p:cNvSpPr/>
          <p:nvPr/>
        </p:nvSpPr>
        <p:spPr>
          <a:xfrm>
            <a:off x="1953040" y="1338722"/>
            <a:ext cx="1868069" cy="1609408"/>
          </a:xfrm>
          <a:prstGeom prst="roundRect">
            <a:avLst>
              <a:gd name="adj" fmla="val 8003"/>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1000" b="1" noProof="0" dirty="0">
                <a:solidFill>
                  <a:schemeClr val="tx1"/>
                </a:solidFill>
              </a:rPr>
              <a:t xml:space="preserve">Requests for PDA (#)</a:t>
            </a:r>
          </a:p>
        </p:txBody>
      </p:sp>
      <p:graphicFrame>
        <p:nvGraphicFramePr>
          <p:cNvPr id="14" name="Диаграмма 13"/>
          <p:cNvGraphicFramePr/>
          <p:nvPr>
            <p:extLst>
              <p:ext uri="{D42A27DB-BD31-4B8C-83A1-F6EECF244321}">
                <p14:modId xmlns:p14="http://schemas.microsoft.com/office/powerpoint/2010/main" val="346102323"/>
              </p:ext>
            </p:extLst>
          </p:nvPr>
        </p:nvGraphicFramePr>
        <p:xfrm>
          <a:off x="2348962" y="1725739"/>
          <a:ext cx="972000" cy="972000"/>
        </p:xfrm>
        <a:graphic>
          <a:graphicData uri="http://schemas.openxmlformats.org/drawingml/2006/chart">
            <c:chart xmlns:c="http://schemas.openxmlformats.org/drawingml/2006/chart" xmlns:r="http://schemas.openxmlformats.org/officeDocument/2006/relationships" r:id="rId40"/>
          </a:graphicData>
        </a:graphic>
      </p:graphicFrame>
      <p:graphicFrame>
        <p:nvGraphicFramePr>
          <p:cNvPr id="63" name="think-cell data - do not delete" hidden="1">
            <a:extLst>
              <a:ext uri="{FF2B5EF4-FFF2-40B4-BE49-F238E27FC236}">
                <a16:creationId xmlns:a16="http://schemas.microsoft.com/office/drawing/2014/main" id="{1A28A94F-DCEA-4C44-B9AD-7849A75558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4219" name="think-cell Slide" r:id="rId41" imgW="473" imgH="473" progId="TCLayout.ActiveDocument.1">
                  <p:embed/>
                </p:oleObj>
              </mc:Choice>
              <mc:Fallback>
                <p:oleObj name="think-cell Slide" r:id="rId41" imgW="473" imgH="473" progId="TCLayout.ActiveDocument.1">
                  <p:embed/>
                  <p:pic>
                    <p:nvPicPr>
                      <p:cNvPr id="63" name="think-cell data - do not delete" hidden="1">
                        <a:extLst>
                          <a:ext uri="{FF2B5EF4-FFF2-40B4-BE49-F238E27FC236}">
                            <a16:creationId xmlns:a16="http://schemas.microsoft.com/office/drawing/2014/main" id="{1A28A94F-DCEA-4C44-B9AD-7849A755587C}"/>
                          </a:ext>
                        </a:extLst>
                      </p:cNvPr>
                      <p:cNvPicPr/>
                      <p:nvPr/>
                    </p:nvPicPr>
                    <p:blipFill>
                      <a:blip r:embed="rId42"/>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94B47D9-335D-6141-A6CF-E2A01388F973}"/>
              </a:ext>
            </a:extLst>
          </p:cNvPr>
          <p:cNvSpPr>
            <a:spLocks noGrp="1"/>
          </p:cNvSpPr>
          <p:nvPr>
            <p:ph type="title"/>
          </p:nvPr>
        </p:nvSpPr>
        <p:spPr>
          <a:xfrm>
            <a:off x="317499" y="0"/>
            <a:ext cx="10584209" cy="704850"/>
          </a:xfrm>
        </p:spPr>
        <p:txBody>
          <a:bodyPr vert="horz" rtlCol="0"/>
          <a:lstStyle/>
          <a:p>
            <a:pPr rtl="0"/>
            <a:r>
              <a:rPr lang="ru" noProof="0" dirty="0" smtClean="0"/>
              <a:t>Дашборд </a:t>
            </a:r>
            <a:r>
              <a:rPr lang="ru" noProof="0" dirty="0"/>
              <a:t>за </a:t>
            </a:r>
            <a:r>
              <a:rPr lang="ru" dirty="0"/>
              <a:t>4</a:t>
            </a:r>
            <a:r>
              <a:rPr lang="ru" noProof="0" dirty="0" smtClean="0"/>
              <a:t> </a:t>
            </a:r>
            <a:r>
              <a:rPr lang="ru" noProof="0" dirty="0"/>
              <a:t>кв. 2025 г.: Управление рисками третьих сторон</a:t>
            </a:r>
            <a:r>
              <a:rPr lang="en-US" noProof="0" dirty="0"/>
              <a:t/>
            </a:r>
            <a:br>
              <a:rPr lang="en-US" noProof="0" dirty="0"/>
            </a:br>
            <a:r>
              <a:rPr lang="ru-RU" dirty="0">
                <a:solidFill>
                  <a:schemeClr val="tx1"/>
                </a:solidFill>
              </a:rPr>
              <a:t>Комплексная проверка контрагентов </a:t>
            </a:r>
            <a:r>
              <a:rPr lang="ru-RU" noProof="0" dirty="0" smtClean="0">
                <a:solidFill>
                  <a:schemeClr val="tx1"/>
                </a:solidFill>
              </a:rPr>
              <a:t>(</a:t>
            </a:r>
            <a:r>
              <a:rPr lang="ru" noProof="0" dirty="0" smtClean="0">
                <a:solidFill>
                  <a:schemeClr val="tx1"/>
                </a:solidFill>
              </a:rPr>
              <a:t>КПК)</a:t>
            </a:r>
            <a:endParaRPr lang="ru" noProof="0" dirty="0">
              <a:solidFill>
                <a:schemeClr val="tx1"/>
              </a:solidFill>
            </a:endParaRPr>
          </a:p>
        </p:txBody>
      </p:sp>
      <p:sp>
        <p:nvSpPr>
          <p:cNvPr id="5" name="Text Placeholder 4">
            <a:extLst>
              <a:ext uri="{FF2B5EF4-FFF2-40B4-BE49-F238E27FC236}">
                <a16:creationId xmlns:a16="http://schemas.microsoft.com/office/drawing/2014/main" id="{F21513F0-6DFE-433E-9AF6-0AAA3469FA7F}"/>
              </a:ext>
            </a:extLst>
          </p:cNvPr>
          <p:cNvSpPr>
            <a:spLocks noGrp="1"/>
          </p:cNvSpPr>
          <p:nvPr>
            <p:ph type="body" sz="quarter" idx="10"/>
          </p:nvPr>
        </p:nvSpPr>
        <p:spPr>
          <a:xfrm>
            <a:off x="314891" y="6344689"/>
            <a:ext cx="11553824" cy="409923"/>
          </a:xfrm>
          <a:noFill/>
        </p:spPr>
        <p:txBody>
          <a:bodyPr rtlCol="0" anchor="t"/>
          <a:lstStyle/>
          <a:p>
            <a:pPr rtl="0"/>
            <a:r>
              <a:rPr lang="ru" i="1" baseline="30000" noProof="0" dirty="0" smtClean="0">
                <a:solidFill>
                  <a:schemeClr val="accent1"/>
                </a:solidFill>
              </a:rPr>
              <a:t xml:space="preserve">1 More detailed information about PDA self-testing is presented in Appendix 1</a:t>
            </a:r>
            <a:r>
              <a:rPr lang="ru" i="1" noProof="0" dirty="0" smtClean="0">
                <a:solidFill>
                  <a:schemeClr val="accent1"/>
                </a:solidFill>
              </a:rPr>
              <a:t/>
            </a:r>
            <a:r>
              <a:rPr lang="ru" i="1" dirty="0" smtClean="0">
                <a:solidFill>
                  <a:schemeClr val="accent1"/>
                </a:solidFill>
              </a:rPr>
              <a:t/>
            </a:r>
            <a:r>
              <a:rPr lang="ru" i="1" noProof="0" dirty="0" smtClean="0">
                <a:solidFill>
                  <a:schemeClr val="accent1"/>
                </a:solidFill>
              </a:rPr>
              <a:t/>
            </a:r>
            <a:r>
              <a:rPr lang="ru" i="1" noProof="0" dirty="0">
                <a:solidFill>
                  <a:schemeClr val="accent1"/>
                </a:solidFill>
              </a:rPr>
              <a:t/>
            </a:r>
            <a:r>
              <a:rPr lang="ru" i="1" noProof="0" dirty="0" smtClean="0">
                <a:solidFill>
                  <a:schemeClr val="accent1"/>
                </a:solidFill>
              </a:rPr>
              <a:t/>
            </a:r>
          </a:p>
          <a:p>
            <a:r>
              <a:rPr lang="ru" i="1" baseline="30000" dirty="0" smtClean="0">
                <a:solidFill>
                  <a:schemeClr val="accent1"/>
                </a:solidFill>
              </a:rPr>
              <a:t xml:space="preserve">2 More detailed information about CL self-testing is presented in Appendix 2</a:t>
            </a:r>
            <a:r>
              <a:rPr lang="ru" i="1" dirty="0" smtClean="0">
                <a:solidFill>
                  <a:schemeClr val="accent1"/>
                </a:solidFill>
              </a:rPr>
              <a:t/>
            </a:r>
          </a:p>
          <a:p>
            <a:r>
              <a:rPr lang="ru-RU" i="1" baseline="30000" dirty="0" smtClean="0">
                <a:solidFill>
                  <a:schemeClr val="accent1"/>
                </a:solidFill>
              </a:rPr>
              <a:t xml:space="preserve">3 More detailed information on additional. self-testing for PDA processes is presented in Appendix 3</a:t>
            </a:r>
            <a:r>
              <a:rPr lang="ru-RU" i="1" dirty="0" smtClean="0">
                <a:solidFill>
                  <a:schemeClr val="accent1"/>
                </a:solidFill>
              </a:rPr>
              <a:t/>
            </a:r>
            <a:r>
              <a:rPr lang="ru-RU" i="1" dirty="0">
                <a:solidFill>
                  <a:schemeClr val="accent1"/>
                </a:solidFill>
              </a:rPr>
              <a:t/>
            </a:r>
            <a:r>
              <a:rPr lang="ru-RU" i="1" dirty="0" smtClean="0">
                <a:solidFill>
                  <a:schemeClr val="accent1"/>
                </a:solidFill>
              </a:rPr>
              <a:t/>
            </a:r>
            <a:r>
              <a:rPr lang="ru-RU" i="1" dirty="0">
                <a:solidFill>
                  <a:schemeClr val="accent1"/>
                </a:solidFill>
              </a:rPr>
              <a:t/>
            </a:r>
            <a:r>
              <a:rPr lang="ru-RU" i="1" dirty="0" smtClean="0">
                <a:solidFill>
                  <a:schemeClr val="accent1"/>
                </a:solidFill>
              </a:rPr>
              <a:t/>
            </a:r>
            <a:endParaRPr lang="ru" i="1" dirty="0" smtClean="0">
              <a:solidFill>
                <a:schemeClr val="accent1"/>
              </a:solidFill>
            </a:endParaRPr>
          </a:p>
        </p:txBody>
      </p:sp>
      <p:sp>
        <p:nvSpPr>
          <p:cNvPr id="57" name="Text Placeholder 9">
            <a:extLst>
              <a:ext uri="{FF2B5EF4-FFF2-40B4-BE49-F238E27FC236}">
                <a16:creationId xmlns:a16="http://schemas.microsoft.com/office/drawing/2014/main" id="{C0067250-A4AB-49E9-9218-448868848189}"/>
              </a:ext>
            </a:extLst>
          </p:cNvPr>
          <p:cNvSpPr txBox="1">
            <a:spLocks/>
          </p:cNvSpPr>
          <p:nvPr/>
        </p:nvSpPr>
        <p:spPr>
          <a:xfrm>
            <a:off x="317499" y="834230"/>
            <a:ext cx="5707064"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t xml:space="preserve">Data for the reporting period</a:t>
            </a:r>
          </a:p>
        </p:txBody>
      </p:sp>
      <p:sp>
        <p:nvSpPr>
          <p:cNvPr id="58" name="Text Placeholder 9">
            <a:extLst>
              <a:ext uri="{FF2B5EF4-FFF2-40B4-BE49-F238E27FC236}">
                <a16:creationId xmlns:a16="http://schemas.microsoft.com/office/drawing/2014/main" id="{F963F6C0-6BEB-401B-9AD5-4DC880CCE477}"/>
              </a:ext>
            </a:extLst>
          </p:cNvPr>
          <p:cNvSpPr txBox="1">
            <a:spLocks/>
          </p:cNvSpPr>
          <p:nvPr/>
        </p:nvSpPr>
        <p:spPr>
          <a:xfrm>
            <a:off x="6091803" y="834230"/>
            <a:ext cx="1803600"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solidFill>
                  <a:schemeClr val="accent5">
                    <a:lumMod val="75000"/>
                    <a:lumOff val="25000"/>
                  </a:schemeClr>
                </a:solidFill>
              </a:rPr>
              <a:t xml:space="preserve">Trends</a:t>
            </a:r>
          </a:p>
        </p:txBody>
      </p:sp>
      <p:sp>
        <p:nvSpPr>
          <p:cNvPr id="64" name="Text Placeholder 9">
            <a:extLst>
              <a:ext uri="{FF2B5EF4-FFF2-40B4-BE49-F238E27FC236}">
                <a16:creationId xmlns:a16="http://schemas.microsoft.com/office/drawing/2014/main" id="{035356F9-1015-442E-8172-A09A0B03116B}"/>
              </a:ext>
            </a:extLst>
          </p:cNvPr>
          <p:cNvSpPr txBox="1">
            <a:spLocks/>
          </p:cNvSpPr>
          <p:nvPr/>
        </p:nvSpPr>
        <p:spPr>
          <a:xfrm>
            <a:off x="8027197" y="834230"/>
            <a:ext cx="2326662"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smtClean="0">
                <a:solidFill>
                  <a:schemeClr val="accent5">
                    <a:lumMod val="75000"/>
                    <a:lumOff val="25000"/>
                  </a:schemeClr>
                </a:solidFill>
              </a:rPr>
              <a:t xml:space="preserve">Identified / realized risks</a:t>
            </a:r>
            <a:r>
              <a:rPr lang="ru" sz="1200" noProof="0" dirty="0">
                <a:solidFill>
                  <a:schemeClr val="accent5">
                    <a:lumMod val="75000"/>
                    <a:lumOff val="25000"/>
                  </a:schemeClr>
                </a:solidFill>
              </a:rPr>
              <a:t/>
            </a:r>
          </a:p>
        </p:txBody>
      </p:sp>
      <p:sp>
        <p:nvSpPr>
          <p:cNvPr id="65" name="Text Placeholder 9">
            <a:extLst>
              <a:ext uri="{FF2B5EF4-FFF2-40B4-BE49-F238E27FC236}">
                <a16:creationId xmlns:a16="http://schemas.microsoft.com/office/drawing/2014/main" id="{9C74AD35-FA64-4625-9CEE-880B5020D942}"/>
              </a:ext>
            </a:extLst>
          </p:cNvPr>
          <p:cNvSpPr txBox="1">
            <a:spLocks/>
          </p:cNvSpPr>
          <p:nvPr/>
        </p:nvSpPr>
        <p:spPr>
          <a:xfrm>
            <a:off x="10429217" y="833834"/>
            <a:ext cx="1622322"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solidFill>
                  <a:schemeClr val="accent5">
                    <a:lumMod val="75000"/>
                    <a:lumOff val="25000"/>
                  </a:schemeClr>
                </a:solidFill>
              </a:rPr>
              <a:t xml:space="preserve">Impact on GP 2025</a:t>
            </a:r>
          </a:p>
          <a:p>
            <a:pPr rtl="0"/>
            <a:r>
              <a:rPr lang="ru" sz="1200" noProof="0" dirty="0">
                <a:solidFill>
                  <a:schemeClr val="accent5">
                    <a:lumMod val="75000"/>
                    <a:lumOff val="25000"/>
                  </a:schemeClr>
                </a:solidFill>
              </a:rPr>
              <a:t xml:space="preserve">(lessons learned)</a:t>
            </a:r>
          </a:p>
        </p:txBody>
      </p:sp>
      <p:sp>
        <p:nvSpPr>
          <p:cNvPr id="72" name="Rectangle: Rounded Corners 71">
            <a:extLst>
              <a:ext uri="{FF2B5EF4-FFF2-40B4-BE49-F238E27FC236}">
                <a16:creationId xmlns:a16="http://schemas.microsoft.com/office/drawing/2014/main" id="{C8360FBF-70DA-4917-AE5C-75C27552D7A8}"/>
              </a:ext>
            </a:extLst>
          </p:cNvPr>
          <p:cNvSpPr/>
          <p:nvPr/>
        </p:nvSpPr>
        <p:spPr>
          <a:xfrm>
            <a:off x="6091803" y="1332151"/>
            <a:ext cx="1860804" cy="4944098"/>
          </a:xfrm>
          <a:prstGeom prst="roundRect">
            <a:avLst>
              <a:gd name="adj" fmla="val 8030"/>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000" tIns="72000" rIns="18000" bIns="72000" rtlCol="0" anchor="t"/>
          <a:lstStyle/>
          <a:p>
            <a:pPr rtl="0"/>
            <a:r>
              <a:rPr lang="ru" sz="800" b="1" noProof="0" dirty="0" smtClean="0">
                <a:solidFill>
                  <a:schemeClr val="tx1"/>
                </a:solidFill>
              </a:rPr>
              <a:t xml:space="preserve">Q4 2025 vs Q3 2025</a:t>
            </a:r>
            <a:r>
              <a:rPr lang="ru" sz="800" b="1" noProof="0" dirty="0">
                <a:solidFill>
                  <a:schemeClr val="tx1"/>
                </a:solidFill>
              </a:rPr>
              <a:t/>
            </a:r>
            <a:r>
              <a:rPr lang="en-US" sz="800" b="1" i="1" noProof="0" dirty="0">
                <a:solidFill>
                  <a:schemeClr val="tx1"/>
                </a:solidFill>
              </a:rPr>
              <a:t/>
            </a:r>
            <a:r>
              <a:rPr lang="ru-RU" sz="800" b="1" i="1" noProof="0" dirty="0" smtClean="0">
                <a:solidFill>
                  <a:schemeClr val="tx1"/>
                </a:solidFill>
              </a:rPr>
              <a:t/>
            </a:r>
            <a:r>
              <a:rPr lang="ru" sz="800" b="1" noProof="0" dirty="0">
                <a:solidFill>
                  <a:schemeClr val="tx1"/>
                </a:solidFill>
              </a:rPr>
              <a:t/>
            </a:r>
            <a:r>
              <a:rPr lang="en-US" sz="800" b="1" noProof="0" dirty="0">
                <a:solidFill>
                  <a:schemeClr val="tx1"/>
                </a:solidFill>
              </a:rPr>
              <a:t/>
            </a:r>
            <a:r>
              <a:rPr lang="ru" sz="800" b="1" noProof="0" dirty="0">
                <a:solidFill>
                  <a:schemeClr val="tx1"/>
                </a:solidFill>
              </a:rPr>
              <a:t/>
            </a:r>
          </a:p>
          <a:p>
            <a:pPr rtl="0"/>
            <a:r>
              <a:rPr lang="ru" sz="800" b="1" noProof="0" dirty="0">
                <a:solidFill>
                  <a:schemeClr val="tx1"/>
                </a:solidFill>
              </a:rPr>
              <a:t xml:space="preserve">Coverage rate, omissions and duration of PDA</a:t>
            </a:r>
          </a:p>
          <a:p>
            <a:pPr marL="180975" indent="-180975">
              <a:buClr>
                <a:schemeClr val="accent1"/>
              </a:buClr>
              <a:buFont typeface="Arial" panose="020B0604020202020204" pitchFamily="34" charset="0"/>
              <a:buChar char="•"/>
            </a:pPr>
            <a:r>
              <a:rPr lang="ru" sz="800" dirty="0" smtClean="0">
                <a:solidFill>
                  <a:schemeClr val="tx1"/>
                </a:solidFill>
              </a:rPr>
              <a:t xml:space="preserve">An increase in the number of applications for the CPC by 422 applications due to the period of concluding contracts (3185 - 1st quarter, 3385 - 2nd quarter, 3281 - 3rd quarter, 3703 - 4th quarter, excluding the CPC “in work”).</a:t>
            </a:r>
            <a:r>
              <a:rPr lang="ru" sz="800" dirty="0">
                <a:solidFill>
                  <a:schemeClr val="tx1"/>
                </a:solidFill>
              </a:rPr>
              <a:t/>
            </a:r>
            <a:r>
              <a:rPr lang="ru" sz="800" dirty="0" smtClean="0">
                <a:solidFill>
                  <a:schemeClr val="tx1"/>
                </a:solidFill>
              </a:rPr>
              <a:t/>
            </a:r>
            <a:r>
              <a:rPr lang="ru" sz="800" dirty="0">
                <a:solidFill>
                  <a:schemeClr val="tx1"/>
                </a:solidFill>
              </a:rPr>
              <a:t/>
            </a:r>
            <a:r>
              <a:rPr lang="ru" sz="800" dirty="0" smtClean="0">
                <a:solidFill>
                  <a:schemeClr val="tx1"/>
                </a:solidFill>
              </a:rPr>
              <a:t/>
            </a:r>
            <a:r>
              <a:rPr lang="ru" sz="800" dirty="0">
                <a:solidFill>
                  <a:schemeClr val="tx1"/>
                </a:solidFill>
              </a:rPr>
              <a:t/>
            </a:r>
            <a:r>
              <a:rPr lang="ru" sz="800" dirty="0" smtClean="0">
                <a:solidFill>
                  <a:schemeClr val="tx1"/>
                </a:solidFill>
              </a:rPr>
              <a:t/>
            </a:r>
            <a:r>
              <a:rPr lang="ru" sz="800" dirty="0">
                <a:solidFill>
                  <a:schemeClr val="tx1"/>
                </a:solidFill>
              </a:rPr>
              <a:t/>
            </a:r>
            <a:r>
              <a:rPr lang="ru" sz="800" dirty="0" smtClean="0">
                <a:solidFill>
                  <a:schemeClr val="tx1"/>
                </a:solidFill>
              </a:rPr>
              <a:t/>
            </a:r>
            <a:r>
              <a:rPr lang="ru" sz="800" dirty="0">
                <a:solidFill>
                  <a:schemeClr val="tx1"/>
                </a:solidFill>
              </a:rPr>
              <a:t/>
            </a:r>
            <a:r>
              <a:rPr lang="ru" sz="800" dirty="0" smtClean="0">
                <a:solidFill>
                  <a:schemeClr val="tx1"/>
                </a:solidFill>
              </a:rPr>
              <a:t/>
            </a:r>
          </a:p>
          <a:p>
            <a:pPr marL="180975" indent="-180975">
              <a:buClr>
                <a:schemeClr val="accent1"/>
              </a:buClr>
            </a:pPr>
            <a:r>
              <a:rPr lang="ru" sz="800" dirty="0">
                <a:solidFill>
                  <a:srgbClr val="008E22"/>
                </a:solidFill>
              </a:rPr>
              <a:t xml:space="preserve">▲ PDA coverage remains at a high level (99.63% - Q1, 99.86% - Q2, 99.95% - Q3, 99.82% - Q4), incl. through interaction with business (trainings, discussions).</a:t>
            </a:r>
            <a:r>
              <a:rPr lang="ru" sz="800" dirty="0" smtClean="0">
                <a:solidFill>
                  <a:srgbClr val="008E22"/>
                </a:solidFill>
              </a:rPr>
              <a:t/>
            </a:r>
            <a:r>
              <a:rPr lang="ru" sz="800" dirty="0" smtClean="0">
                <a:solidFill>
                  <a:schemeClr val="tx1"/>
                </a:solidFill>
              </a:rPr>
              <a:t/>
            </a:r>
            <a:r>
              <a:rPr lang="ru" sz="800" dirty="0">
                <a:solidFill>
                  <a:schemeClr val="tx1"/>
                </a:solidFill>
              </a:rPr>
              <a:t/>
            </a:r>
            <a:r>
              <a:rPr lang="ru" sz="800" dirty="0" smtClean="0">
                <a:solidFill>
                  <a:schemeClr val="tx1"/>
                </a:solidFill>
              </a:rPr>
              <a:t/>
            </a:r>
            <a:r>
              <a:rPr lang="ru" sz="800" dirty="0">
                <a:solidFill>
                  <a:schemeClr val="tx1"/>
                </a:solidFill>
              </a:rPr>
              <a:t/>
            </a:r>
            <a:r>
              <a:rPr lang="ru" sz="800" dirty="0" smtClean="0">
                <a:solidFill>
                  <a:schemeClr val="tx1"/>
                </a:solidFill>
              </a:rPr>
              <a:t/>
            </a:r>
            <a:r>
              <a:rPr lang="ru" sz="800" dirty="0">
                <a:solidFill>
                  <a:schemeClr val="tx1"/>
                </a:solidFill>
              </a:rPr>
              <a:t/>
            </a:r>
            <a:r>
              <a:rPr lang="ru" sz="800" dirty="0" smtClean="0">
                <a:solidFill>
                  <a:schemeClr val="tx1"/>
                </a:solidFill>
              </a:rPr>
              <a:t/>
            </a:r>
            <a:r>
              <a:rPr lang="ru" sz="800" noProof="0" dirty="0" smtClean="0">
                <a:solidFill>
                  <a:schemeClr val="tx1"/>
                </a:solidFill>
              </a:rPr>
              <a:t/>
            </a:r>
            <a:r>
              <a:rPr lang="ru" sz="800" noProof="0" dirty="0">
                <a:solidFill>
                  <a:schemeClr val="tx1"/>
                </a:solidFill>
              </a:rPr>
              <a:t/>
            </a:r>
            <a:r>
              <a:rPr lang="ru" sz="800" noProof="0" dirty="0" smtClean="0">
                <a:solidFill>
                  <a:schemeClr val="tx1"/>
                </a:solidFill>
              </a:rPr>
              <a:t/>
            </a:r>
            <a:endParaRPr lang="ru" sz="800" noProof="0" dirty="0">
              <a:solidFill>
                <a:schemeClr val="tx1"/>
              </a:solidFill>
            </a:endParaRPr>
          </a:p>
          <a:p>
            <a:pPr marL="177800" indent="-177800"/>
            <a:r>
              <a:rPr lang="ru" sz="800" dirty="0" smtClean="0">
                <a:solidFill>
                  <a:srgbClr val="008E22"/>
                </a:solidFill>
              </a:rPr>
              <a:t xml:space="preserve">▼ Reduction in the duration of the CPC by 3.7 days since the beginning of the year due to the filling of vacancies and effective work of the team (Q1 - 6.5 days; Q2 - 3.4 days; Q3 - 3 days; Q4 - 2.8 days).</a:t>
            </a:r>
            <a:r>
              <a:rPr lang="ru" sz="800" noProof="0" dirty="0">
                <a:solidFill>
                  <a:schemeClr val="tx1"/>
                </a:solidFill>
              </a:rPr>
              <a:t/>
            </a:r>
            <a:r>
              <a:rPr lang="ru" sz="800" noProof="0" dirty="0" smtClean="0">
                <a:solidFill>
                  <a:schemeClr val="tx1"/>
                </a:solidFill>
              </a:rPr>
              <a:t/>
            </a:r>
            <a:r>
              <a:rPr lang="en-US" sz="800" noProof="0" dirty="0" smtClean="0">
                <a:solidFill>
                  <a:schemeClr val="tx1"/>
                </a:solidFill>
              </a:rPr>
              <a:t/>
            </a:r>
            <a:r>
              <a:rPr lang="ru-RU" sz="800" dirty="0">
                <a:solidFill>
                  <a:schemeClr val="tx1"/>
                </a:solidFill>
              </a:rPr>
              <a:t/>
            </a:r>
            <a:r>
              <a:rPr lang="ru" sz="800" noProof="0" dirty="0">
                <a:solidFill>
                  <a:schemeClr val="tx1"/>
                </a:solidFill>
              </a:rPr>
              <a:t/>
            </a:r>
            <a:r>
              <a:rPr lang="ru" sz="800" noProof="0" dirty="0" smtClean="0">
                <a:solidFill>
                  <a:schemeClr val="tx1"/>
                </a:solidFill>
              </a:rPr>
              <a:t/>
            </a:r>
            <a:r>
              <a:rPr lang="ru-RU" sz="800" noProof="0" dirty="0">
                <a:solidFill>
                  <a:schemeClr val="tx1"/>
                </a:solidFill>
              </a:rPr>
              <a:t/>
            </a:r>
            <a:r>
              <a:rPr lang="ru-RU" sz="800" noProof="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endParaRPr lang="ru" sz="800" noProof="0" dirty="0">
              <a:solidFill>
                <a:schemeClr val="tx1"/>
              </a:solidFill>
            </a:endParaRPr>
          </a:p>
          <a:p>
            <a:pPr rtl="0"/>
            <a:endParaRPr lang="en-US" sz="800" noProof="0" dirty="0">
              <a:solidFill>
                <a:schemeClr val="tx1"/>
              </a:solidFill>
            </a:endParaRPr>
          </a:p>
          <a:p>
            <a:pPr rtl="0"/>
            <a:r>
              <a:rPr lang="ru" sz="800" b="1" noProof="0" dirty="0">
                <a:solidFill>
                  <a:schemeClr val="tx1"/>
                </a:solidFill>
              </a:rPr>
              <a:t xml:space="preserve">Third parties and transactions</a:t>
            </a:r>
          </a:p>
          <a:p>
            <a:pPr marL="180975" indent="-180975">
              <a:buClr>
                <a:schemeClr val="accent1"/>
              </a:buClr>
              <a:buFont typeface="Arial" panose="020B0604020202020204" pitchFamily="34" charset="0"/>
              <a:buChar char="•"/>
            </a:pPr>
            <a:r>
              <a:rPr lang="ru" sz="800" dirty="0" smtClean="0">
                <a:solidFill>
                  <a:schemeClr val="tx1"/>
                </a:solidFill>
              </a:rPr>
              <a:t xml:space="preserve">3,688 CPCs were approved (including with conditions) for a total amount of $7,472 million (Q1 - 3,143 CPCs for $3,890 million, Q2 - 3,364 CPCs for $2,983 million, Q3 - 3,267 CPCs for the amount of $2,298).</a:t>
            </a:r>
            <a:r>
              <a:rPr lang="ru" sz="800" dirty="0">
                <a:solidFill>
                  <a:schemeClr val="tx1"/>
                </a:solidFill>
              </a:rPr>
              <a:t/>
            </a:r>
            <a:r>
              <a:rPr lang="ru-RU" sz="800" dirty="0">
                <a:solidFill>
                  <a:schemeClr val="tx1"/>
                </a:solidFill>
              </a:rPr>
              <a:t/>
            </a:r>
            <a:r>
              <a:rPr lang="ru" sz="800" dirty="0">
                <a:solidFill>
                  <a:schemeClr val="tx1"/>
                </a:solidFill>
              </a:rPr>
              <a:t/>
            </a:r>
            <a:r>
              <a:rPr lang="en-US" sz="800" dirty="0" smtClean="0">
                <a:solidFill>
                  <a:schemeClr val="tx1"/>
                </a:solidFill>
              </a:rPr>
              <a:t/>
            </a:r>
            <a:r>
              <a:rPr lang="ru-RU" sz="800" dirty="0" smtClean="0">
                <a:solidFill>
                  <a:schemeClr val="tx1"/>
                </a:solidFill>
              </a:rPr>
              <a:t/>
            </a:r>
            <a:r>
              <a:rPr lang="ru" sz="800" dirty="0" smtClean="0">
                <a:solidFill>
                  <a:schemeClr val="tx1"/>
                </a:solidFill>
              </a:rPr>
              <a:t/>
            </a:r>
            <a:r>
              <a:rPr lang="ru" sz="800" dirty="0">
                <a:solidFill>
                  <a:schemeClr val="tx1"/>
                </a:solidFill>
              </a:rPr>
              <a:t/>
            </a:r>
            <a:r>
              <a:rPr lang="en-US" sz="800" dirty="0">
                <a:solidFill>
                  <a:schemeClr val="tx1"/>
                </a:solidFill>
              </a:rPr>
              <a:t/>
            </a:r>
            <a:r>
              <a:rPr lang="ru" sz="800" dirty="0">
                <a:solidFill>
                  <a:schemeClr val="tx1"/>
                </a:solidFill>
              </a:rPr>
              <a:t/>
            </a:r>
            <a:r>
              <a:rPr lang="ru" sz="800" dirty="0" smtClean="0">
                <a:solidFill>
                  <a:schemeClr val="tx1"/>
                </a:solidFill>
              </a:rPr>
              <a:t/>
            </a:r>
            <a:r>
              <a:rPr lang="ru" sz="800" dirty="0">
                <a:solidFill>
                  <a:schemeClr val="tx1"/>
                </a:solidFill>
              </a:rPr>
              <a:t/>
            </a:r>
            <a:r>
              <a:rPr lang="ru" sz="800" dirty="0" smtClean="0">
                <a:solidFill>
                  <a:schemeClr val="tx1"/>
                </a:solidFill>
              </a:rPr>
              <a:t/>
            </a:r>
            <a:r>
              <a:rPr lang="en-US" sz="800" dirty="0" smtClean="0">
                <a:solidFill>
                  <a:schemeClr val="tx1"/>
                </a:solidFill>
              </a:rPr>
              <a:t/>
            </a:r>
            <a:r>
              <a:rPr lang="ru" sz="800" dirty="0" smtClean="0">
                <a:solidFill>
                  <a:schemeClr val="tx1"/>
                </a:solidFill>
              </a:rPr>
              <a:t/>
            </a:r>
            <a:endParaRPr lang="ru" sz="800" dirty="0">
              <a:solidFill>
                <a:schemeClr val="tx1"/>
              </a:solidFill>
            </a:endParaRPr>
          </a:p>
          <a:p>
            <a:pPr rtl="0"/>
            <a:endParaRPr lang="en-US" sz="800" b="1" noProof="0" dirty="0" smtClean="0">
              <a:solidFill>
                <a:schemeClr val="tx1"/>
              </a:solidFill>
            </a:endParaRPr>
          </a:p>
          <a:p>
            <a:pPr rtl="0"/>
            <a:r>
              <a:rPr lang="ru" sz="800" b="1" noProof="0" dirty="0" smtClean="0">
                <a:solidFill>
                  <a:schemeClr val="tx1"/>
                </a:solidFill>
              </a:rPr>
              <a:t xml:space="preserve">CL self-test</a:t>
            </a:r>
            <a:r>
              <a:rPr lang="ru" sz="800" b="1" noProof="0" dirty="0">
                <a:solidFill>
                  <a:schemeClr val="tx1"/>
                </a:solidFill>
              </a:rPr>
              <a:t/>
            </a:r>
          </a:p>
          <a:p>
            <a:pPr marL="180975" indent="-180975">
              <a:buClr>
                <a:schemeClr val="accent1"/>
              </a:buClr>
            </a:pPr>
            <a:r>
              <a:rPr lang="ru" sz="800" dirty="0" smtClean="0">
                <a:solidFill>
                  <a:srgbClr val="008E22"/>
                </a:solidFill>
              </a:rPr>
              <a:t xml:space="preserve">▼ Reducing the percentage of transactions that do not meet the CL criteria (29 transactions or 9% - Q1, 20 transactions or 7% - Q2, 2 transactions or 1% - Q3, 3 transactions or 0.66% - Q4) due to interaction with business (trainings, discussions).</a:t>
            </a:r>
            <a:r>
              <a:rPr lang="ru" sz="800" noProof="0" dirty="0" smtClean="0">
                <a:solidFill>
                  <a:schemeClr val="tx1"/>
                </a:solidFill>
              </a:rPr>
              <a:t/>
            </a:r>
            <a:r>
              <a:rPr lang="en-US" sz="800" noProof="0" dirty="0" smtClean="0">
                <a:solidFill>
                  <a:schemeClr val="tx1"/>
                </a:solidFill>
              </a:rPr>
              <a:t/>
            </a:r>
            <a:r>
              <a:rPr lang="ru" sz="800" noProof="0" dirty="0" smtClean="0">
                <a:solidFill>
                  <a:schemeClr val="tx1"/>
                </a:solidFill>
              </a:rPr>
              <a:t/>
            </a:r>
            <a:r>
              <a:rPr lang="ru" sz="800" noProof="0" dirty="0">
                <a:solidFill>
                  <a:schemeClr val="tx1"/>
                </a:solidFill>
              </a:rPr>
              <a:t/>
            </a:r>
            <a:r>
              <a:rPr lang="ru" sz="800" dirty="0">
                <a:solidFill>
                  <a:schemeClr val="tx1"/>
                </a:solidFill>
              </a:rPr>
              <a:t/>
            </a:r>
            <a:r>
              <a:rPr lang="ru" sz="800" dirty="0" smtClean="0">
                <a:solidFill>
                  <a:schemeClr val="tx1"/>
                </a:solidFill>
              </a:rPr>
              <a:t/>
            </a:r>
            <a:r>
              <a:rPr lang="ru" sz="800" dirty="0">
                <a:solidFill>
                  <a:schemeClr val="tx1"/>
                </a:solidFill>
              </a:rPr>
              <a:t/>
            </a:r>
            <a:r>
              <a:rPr lang="ru" sz="800" dirty="0" smtClean="0">
                <a:solidFill>
                  <a:schemeClr val="tx1"/>
                </a:solidFill>
              </a:rPr>
              <a:t/>
            </a:r>
            <a:r>
              <a:rPr lang="ru" sz="800" noProof="0" dirty="0" smtClean="0">
                <a:solidFill>
                  <a:schemeClr val="tx1"/>
                </a:solidFill>
              </a:rPr>
              <a:t/>
            </a:r>
            <a:r>
              <a:rPr lang="ru" sz="800" dirty="0" smtClean="0">
                <a:solidFill>
                  <a:schemeClr val="tx1"/>
                </a:solidFill>
              </a:rPr>
              <a:t/>
            </a:r>
            <a:r>
              <a:rPr lang="ru" sz="800" dirty="0">
                <a:solidFill>
                  <a:schemeClr val="tx1"/>
                </a:solidFill>
              </a:rPr>
              <a:t/>
            </a:r>
            <a:r>
              <a:rPr lang="ru" sz="800" dirty="0" smtClean="0">
                <a:solidFill>
                  <a:schemeClr val="tx1"/>
                </a:solidFill>
              </a:rPr>
              <a:t/>
            </a:r>
            <a:endParaRPr lang="ru" sz="800" noProof="0" dirty="0">
              <a:solidFill>
                <a:schemeClr val="tx1"/>
              </a:solidFill>
            </a:endParaRPr>
          </a:p>
          <a:p>
            <a:pPr rtl="0"/>
            <a:endParaRPr lang="en-US" sz="800" noProof="0" dirty="0">
              <a:solidFill>
                <a:schemeClr val="tx1"/>
              </a:solidFill>
            </a:endParaRPr>
          </a:p>
          <a:p>
            <a:pPr rtl="0"/>
            <a:endParaRPr lang="en-US" sz="800" noProof="0" dirty="0">
              <a:solidFill>
                <a:schemeClr val="tx1"/>
              </a:solidFill>
            </a:endParaRPr>
          </a:p>
        </p:txBody>
      </p:sp>
      <p:sp>
        <p:nvSpPr>
          <p:cNvPr id="73" name="Rectangle: Rounded Corners 72">
            <a:extLst>
              <a:ext uri="{FF2B5EF4-FFF2-40B4-BE49-F238E27FC236}">
                <a16:creationId xmlns:a16="http://schemas.microsoft.com/office/drawing/2014/main" id="{34FB566E-6843-4F8D-9F5E-3FE4645CB438}"/>
              </a:ext>
            </a:extLst>
          </p:cNvPr>
          <p:cNvSpPr/>
          <p:nvPr/>
        </p:nvSpPr>
        <p:spPr>
          <a:xfrm>
            <a:off x="8027197" y="1338722"/>
            <a:ext cx="2326661" cy="4944099"/>
          </a:xfrm>
          <a:prstGeom prst="roundRect">
            <a:avLst>
              <a:gd name="adj" fmla="val 10098"/>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72000" rtlCol="0" anchor="t"/>
          <a:lstStyle/>
          <a:p>
            <a:pPr rtl="0"/>
            <a:r>
              <a:rPr lang="ru" sz="800" b="1" noProof="0" dirty="0">
                <a:solidFill>
                  <a:schemeClr val="tx1"/>
                </a:solidFill>
              </a:rPr>
              <a:t xml:space="preserve">Reasons for failures based on the results of the CCP</a:t>
            </a:r>
          </a:p>
          <a:p>
            <a:pPr marL="171450" indent="-171450" rtl="0">
              <a:buClr>
                <a:schemeClr val="accent1"/>
              </a:buClr>
              <a:buFont typeface="Arial" panose="020B0604020202020204" pitchFamily="34" charset="0"/>
              <a:buChar char="•"/>
            </a:pPr>
            <a:r>
              <a:rPr lang="ru" sz="800" dirty="0">
                <a:solidFill>
                  <a:schemeClr val="tx1"/>
                </a:solidFill>
              </a:rPr>
              <a:t xml:space="preserve">8 CCPs were rejected (for a total amount of $54 million) due to the identification of sanctions risks (counterparties/manufacturers were on the OFAC SDN sanctions list) and other negative information.</a:t>
            </a:r>
            <a:r>
              <a:rPr lang="ru" sz="800" noProof="0" dirty="0" smtClean="0">
                <a:solidFill>
                  <a:schemeClr val="tx1"/>
                </a:solidFill>
              </a:rPr>
              <a:t/>
            </a:r>
            <a:r>
              <a:rPr lang="ru" sz="800" noProof="0" dirty="0">
                <a:solidFill>
                  <a:schemeClr val="tx1"/>
                </a:solidFill>
              </a:rPr>
              <a:t/>
            </a:r>
            <a:r>
              <a:rPr lang="en-US" sz="800" noProof="0" dirty="0" smtClean="0">
                <a:solidFill>
                  <a:schemeClr val="tx1"/>
                </a:solidFill>
              </a:rPr>
              <a:t/>
            </a:r>
            <a:r>
              <a:rPr lang="ru-RU" sz="800" noProof="0" dirty="0" smtClean="0">
                <a:solidFill>
                  <a:schemeClr val="tx1"/>
                </a:solidFill>
              </a:rPr>
              <a:t/>
            </a:r>
            <a:r>
              <a:rPr lang="ru-RU" sz="800" noProof="0" dirty="0">
                <a:solidFill>
                  <a:schemeClr val="tx1"/>
                </a:solidFill>
              </a:rPr>
              <a:t/>
            </a:r>
            <a:r>
              <a:rPr lang="ru-RU" sz="800" dirty="0" smtClean="0">
                <a:solidFill>
                  <a:schemeClr val="tx1"/>
                </a:solidFill>
              </a:rPr>
              <a:t/>
            </a:r>
            <a:r>
              <a:rPr lang="ru" sz="800" noProof="0" dirty="0">
                <a:solidFill>
                  <a:schemeClr val="tx1"/>
                </a:solidFill>
              </a:rPr>
              <a:t/>
            </a:r>
            <a:r>
              <a:rPr lang="en-US" sz="800" noProof="0" dirty="0">
                <a:solidFill>
                  <a:schemeClr val="tx1"/>
                </a:solidFill>
              </a:rPr>
              <a:t/>
            </a:r>
            <a:r>
              <a:rPr lang="en-US" sz="800" noProof="0" dirty="0" smtClean="0">
                <a:solidFill>
                  <a:schemeClr val="tx1"/>
                </a:solidFill>
              </a:rPr>
              <a:t/>
            </a:r>
            <a:r>
              <a:rPr lang="ru-RU" sz="800" noProof="0" dirty="0" smtClean="0">
                <a:solidFill>
                  <a:schemeClr val="tx1"/>
                </a:solidFill>
              </a:rPr>
              <a:t/>
            </a:r>
            <a:endParaRPr lang="ru" sz="800" noProof="0" dirty="0">
              <a:solidFill>
                <a:schemeClr val="tx1"/>
              </a:solidFill>
            </a:endParaRPr>
          </a:p>
          <a:p>
            <a:pPr marL="171450" indent="-171450" rtl="0">
              <a:buClr>
                <a:schemeClr val="accent1"/>
              </a:buClr>
              <a:buFont typeface="Arial" panose="020B0604020202020204" pitchFamily="34" charset="0"/>
              <a:buChar char="•"/>
            </a:pPr>
            <a:endParaRPr lang="ru" sz="800" noProof="0" dirty="0">
              <a:solidFill>
                <a:schemeClr val="tx1"/>
              </a:solidFill>
            </a:endParaRPr>
          </a:p>
          <a:p>
            <a:pPr rtl="0"/>
            <a:r>
              <a:rPr lang="ru" sz="800" b="1" noProof="0" dirty="0">
                <a:solidFill>
                  <a:schemeClr val="tx1"/>
                </a:solidFill>
              </a:rPr>
              <a:t xml:space="preserve">Third parties and transactions</a:t>
            </a:r>
          </a:p>
          <a:p>
            <a:pPr marL="171450" indent="-171450" rtl="0">
              <a:buClr>
                <a:schemeClr val="accent1"/>
              </a:buClr>
              <a:buFont typeface="Arial" panose="020B0604020202020204" pitchFamily="34" charset="0"/>
              <a:buChar char="•"/>
            </a:pPr>
            <a:r>
              <a:rPr lang="ru" sz="800" noProof="0" dirty="0">
                <a:solidFill>
                  <a:schemeClr val="tx1"/>
                </a:solidFill>
              </a:rPr>
              <a:t xml:space="preserve">Risk is controlled through monitoring mechanisms and self-testing.</a:t>
            </a:r>
            <a:r>
              <a:rPr lang="ru" sz="800" noProof="0" dirty="0" smtClean="0">
                <a:solidFill>
                  <a:schemeClr val="tx1"/>
                </a:solidFill>
              </a:rPr>
              <a:t/>
            </a:r>
            <a:endParaRPr lang="ru" sz="800" noProof="0" dirty="0">
              <a:solidFill>
                <a:schemeClr val="tx1"/>
              </a:solidFill>
            </a:endParaRPr>
          </a:p>
          <a:p>
            <a:pPr marL="171450" indent="-171450" rtl="0">
              <a:buClr>
                <a:schemeClr val="accent1"/>
              </a:buClr>
              <a:buFont typeface="Arial" panose="020B0604020202020204" pitchFamily="34" charset="0"/>
              <a:buChar char="•"/>
            </a:pPr>
            <a:endParaRPr lang="en-US" sz="800" noProof="0" dirty="0">
              <a:solidFill>
                <a:schemeClr val="tx1"/>
              </a:solidFill>
            </a:endParaRPr>
          </a:p>
          <a:p>
            <a:r>
              <a:rPr lang="ru" sz="800" b="1" dirty="0" smtClean="0">
                <a:solidFill>
                  <a:schemeClr val="tx1"/>
                </a:solidFill>
              </a:rPr>
              <a:t xml:space="preserve">Self-testing of PDA and CL</a:t>
            </a:r>
            <a:endParaRPr lang="ru" sz="800" b="1" dirty="0">
              <a:solidFill>
                <a:schemeClr val="tx1"/>
              </a:solidFill>
            </a:endParaRPr>
          </a:p>
          <a:p>
            <a:pPr marL="171450" indent="-171450" rtl="0">
              <a:buClr>
                <a:schemeClr val="accent1"/>
              </a:buClr>
              <a:buFont typeface="Arial" panose="020B0604020202020204" pitchFamily="34" charset="0"/>
              <a:buChar char="•"/>
            </a:pPr>
            <a:r>
              <a:rPr lang="ru" sz="800" noProof="0" dirty="0">
                <a:solidFill>
                  <a:schemeClr val="tx1"/>
                </a:solidFill>
              </a:rPr>
              <a:t xml:space="preserve">CCPs in relation to 7 omissions identified in Q4 were carried out; No compliance risks were identified.</a:t>
            </a:r>
            <a:r>
              <a:rPr lang="ru" sz="800" dirty="0">
                <a:solidFill>
                  <a:schemeClr val="tx1"/>
                </a:solidFill>
              </a:rPr>
              <a:t/>
            </a:r>
            <a:r>
              <a:rPr lang="ru" sz="800" noProof="0" dirty="0" smtClean="0">
                <a:solidFill>
                  <a:schemeClr val="tx1"/>
                </a:solidFill>
              </a:rPr>
              <a:t/>
            </a:r>
            <a:r>
              <a:rPr lang="ru" sz="800" noProof="0" dirty="0">
                <a:solidFill>
                  <a:schemeClr val="tx1"/>
                </a:solidFill>
              </a:rPr>
              <a:t/>
            </a:r>
            <a:r>
              <a:rPr lang="ru" sz="800" noProof="0" dirty="0" smtClean="0">
                <a:solidFill>
                  <a:schemeClr val="tx1"/>
                </a:solidFill>
              </a:rPr>
              <a:t/>
            </a:r>
            <a:r>
              <a:rPr lang="ru" sz="800" noProof="0" dirty="0">
                <a:solidFill>
                  <a:schemeClr val="tx1"/>
                </a:solidFill>
              </a:rPr>
              <a:t/>
            </a:r>
            <a:r>
              <a:rPr lang="ru" sz="800" noProof="0" dirty="0" smtClean="0">
                <a:solidFill>
                  <a:schemeClr val="tx1"/>
                </a:solidFill>
              </a:rPr>
              <a:t/>
            </a:r>
            <a:endParaRPr lang="ru" sz="800" noProof="0" dirty="0">
              <a:solidFill>
                <a:schemeClr val="tx1"/>
              </a:solidFill>
            </a:endParaRPr>
          </a:p>
          <a:p>
            <a:pPr marL="171450" indent="-171450">
              <a:buClr>
                <a:schemeClr val="accent1"/>
              </a:buClr>
              <a:buFont typeface="Arial" panose="020B0604020202020204" pitchFamily="34" charset="0"/>
              <a:buChar char="•"/>
            </a:pPr>
            <a:r>
              <a:rPr lang="ru-RU" sz="800" dirty="0" smtClean="0">
                <a:solidFill>
                  <a:schemeClr val="tx1"/>
                </a:solidFill>
              </a:rPr>
              <a:t xml:space="preserve">Also, post-facto CPCs were completed based on the results of self-testing of CPC / CL controls for the 3rd quarter; No compliance risks were identified.</a:t>
            </a:r>
            <a:r>
              <a:rPr lang="ru" sz="800" dirty="0">
                <a:solidFill>
                  <a:schemeClr val="tx1"/>
                </a:solidFill>
              </a:rPr>
              <a:t/>
            </a:r>
            <a:r>
              <a:rPr lang="en-US" sz="800" dirty="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endParaRPr lang="ru-RU" sz="800" dirty="0">
              <a:solidFill>
                <a:schemeClr val="tx1"/>
              </a:solidFill>
            </a:endParaRPr>
          </a:p>
          <a:p>
            <a:pPr marL="171450" indent="-171450" rtl="0">
              <a:buClr>
                <a:schemeClr val="accent1"/>
              </a:buClr>
              <a:buFont typeface="Arial" panose="020B0604020202020204" pitchFamily="34" charset="0"/>
              <a:buChar char="•"/>
            </a:pPr>
            <a:r>
              <a:rPr lang="ru" sz="800" noProof="0" dirty="0">
                <a:solidFill>
                  <a:schemeClr val="tx1"/>
                </a:solidFill>
              </a:rPr>
              <a:t xml:space="preserve">There were no significant deviations in the results of self-testing of CL controls.</a:t>
            </a:r>
            <a:r>
              <a:rPr lang="ru" sz="800" noProof="0" dirty="0" smtClean="0">
                <a:solidFill>
                  <a:schemeClr val="tx1"/>
                </a:solidFill>
              </a:rPr>
              <a:t/>
            </a:r>
          </a:p>
          <a:p>
            <a:pPr indent="-180975">
              <a:buClr>
                <a:schemeClr val="accent1"/>
              </a:buClr>
            </a:pPr>
            <a:endParaRPr lang="ru" sz="800" b="1" dirty="0" smtClean="0">
              <a:solidFill>
                <a:schemeClr val="tx1"/>
              </a:solidFill>
            </a:endParaRPr>
          </a:p>
          <a:p>
            <a:pPr indent="-180975">
              <a:buClr>
                <a:schemeClr val="accent1"/>
              </a:buClr>
            </a:pPr>
            <a:r>
              <a:rPr lang="ru" sz="800" b="1" dirty="0" smtClean="0">
                <a:solidFill>
                  <a:schemeClr val="tx1"/>
                </a:solidFill>
              </a:rPr>
              <a:t xml:space="preserve">Additional self-tests of the PDA according to the tasks of the GP</a:t>
            </a:r>
            <a:r>
              <a:rPr lang="ru-RU" sz="800" b="1" dirty="0" smtClean="0">
                <a:solidFill>
                  <a:schemeClr val="tx1"/>
                </a:solidFill>
              </a:rPr>
              <a:t/>
            </a:r>
            <a:r>
              <a:rPr lang="ru" sz="800" b="1" dirty="0">
                <a:solidFill>
                  <a:schemeClr val="tx1"/>
                </a:solidFill>
              </a:rPr>
              <a:t/>
            </a:r>
          </a:p>
          <a:p>
            <a:pPr marL="180975" indent="-180975">
              <a:buClr>
                <a:schemeClr val="accent1"/>
              </a:buClr>
              <a:buFont typeface="Arial" panose="020B0604020202020204" pitchFamily="34" charset="0"/>
              <a:buChar char="•"/>
            </a:pPr>
            <a:r>
              <a:rPr lang="ru-RU" sz="800" dirty="0">
                <a:solidFill>
                  <a:schemeClr val="tx1"/>
                </a:solidFill>
              </a:rPr>
              <a:t xml:space="preserve">Self-tests performed:</a:t>
            </a:r>
          </a:p>
          <a:p>
            <a:pPr marL="358775" indent="-177800">
              <a:buClr>
                <a:schemeClr val="accent1"/>
              </a:buClr>
              <a:buFont typeface="Courier New" panose="02070309020205020404" pitchFamily="49" charset="0"/>
              <a:buChar char="o"/>
            </a:pPr>
            <a:r>
              <a:rPr lang="ru-RU" sz="800" dirty="0" smtClean="0">
                <a:solidFill>
                  <a:schemeClr val="tx1"/>
                </a:solidFill>
              </a:rPr>
              <a:t xml:space="preserve">framework agreements</a:t>
            </a:r>
          </a:p>
          <a:p>
            <a:pPr marL="358775" indent="-177800">
              <a:buClr>
                <a:schemeClr val="accent1"/>
              </a:buClr>
              <a:buFont typeface="Courier New" panose="02070309020205020404" pitchFamily="49" charset="0"/>
              <a:buChar char="o"/>
            </a:pPr>
            <a:r>
              <a:rPr lang="ru-RU" sz="800" dirty="0" smtClean="0">
                <a:solidFill>
                  <a:schemeClr val="tx1"/>
                </a:solidFill>
              </a:rPr>
              <a:t xml:space="preserve">implementation of compliance recommendations in the conclusions of the CCP by business divisions, incl. Availability of current compliance provisions in existing contracts</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err="1" smtClean="0">
                <a:solidFill>
                  <a:schemeClr val="tx1"/>
                </a:solidFill>
              </a:rPr>
              <a:t/>
            </a:r>
            <a:r>
              <a:rPr lang="ru-RU" sz="800" dirty="0" smtClean="0">
                <a:solidFill>
                  <a:schemeClr val="tx1"/>
                </a:solidFill>
              </a:rPr>
              <a:t/>
            </a:r>
            <a:r>
              <a:rPr lang="ru-RU" sz="800" dirty="0">
                <a:solidFill>
                  <a:schemeClr val="tx1"/>
                </a:solidFill>
              </a:rPr>
              <a:t/>
            </a:r>
          </a:p>
          <a:p>
            <a:pPr marL="358775" indent="-177800">
              <a:buClr>
                <a:schemeClr val="accent1"/>
              </a:buClr>
              <a:buFont typeface="Courier New" panose="02070309020205020404" pitchFamily="49" charset="0"/>
              <a:buChar char="o"/>
            </a:pPr>
            <a:r>
              <a:rPr lang="ru-RU" sz="800" dirty="0" smtClean="0">
                <a:solidFill>
                  <a:schemeClr val="tx1"/>
                </a:solidFill>
              </a:rPr>
              <a:t xml:space="preserve">CL controls in accordance with the CL Guarantee Scheme</a:t>
            </a:r>
            <a:r>
              <a:rPr lang="ru-RU" sz="800" dirty="0">
                <a:solidFill>
                  <a:schemeClr val="tx1"/>
                </a:solidFill>
              </a:rPr>
              <a:t/>
            </a:r>
          </a:p>
          <a:p>
            <a:pPr marL="180975">
              <a:buClr>
                <a:schemeClr val="accent1"/>
              </a:buClr>
            </a:pPr>
            <a:r>
              <a:rPr lang="ru-RU" sz="800" dirty="0" smtClean="0">
                <a:solidFill>
                  <a:schemeClr val="tx1"/>
                </a:solidFill>
              </a:rPr>
              <a:t xml:space="preserve">No significant deviations were identified.3</a:t>
            </a:r>
            <a:r>
              <a:rPr lang="ru-RU" sz="800" dirty="0">
                <a:solidFill>
                  <a:schemeClr val="tx1"/>
                </a:solidFill>
              </a:rPr>
              <a:t/>
            </a:r>
            <a:r>
              <a:rPr lang="ru-RU" sz="800" dirty="0" smtClean="0">
                <a:solidFill>
                  <a:schemeClr val="tx1"/>
                </a:solidFill>
              </a:rPr>
              <a:t/>
            </a:r>
            <a:r>
              <a:rPr lang="ru-RU" sz="800" baseline="30000" dirty="0">
                <a:solidFill>
                  <a:schemeClr val="accent1"/>
                </a:solidFill>
              </a:rPr>
              <a:t/>
            </a:r>
            <a:endParaRPr lang="en-US" sz="800" baseline="30000" dirty="0">
              <a:solidFill>
                <a:schemeClr val="accent1"/>
              </a:solidFill>
            </a:endParaRPr>
          </a:p>
          <a:p>
            <a:pPr marL="171450" indent="-171450" rtl="0">
              <a:buClr>
                <a:schemeClr val="accent1"/>
              </a:buClr>
              <a:buFont typeface="Arial" panose="020B0604020202020204" pitchFamily="34" charset="0"/>
              <a:buChar char="•"/>
            </a:pPr>
            <a:endParaRPr lang="en-US" sz="800" noProof="0" dirty="0">
              <a:solidFill>
                <a:schemeClr val="tx1"/>
              </a:solidFill>
            </a:endParaRPr>
          </a:p>
        </p:txBody>
      </p:sp>
      <p:sp>
        <p:nvSpPr>
          <p:cNvPr id="74" name="Rectangle: Rounded Corners 73">
            <a:extLst>
              <a:ext uri="{FF2B5EF4-FFF2-40B4-BE49-F238E27FC236}">
                <a16:creationId xmlns:a16="http://schemas.microsoft.com/office/drawing/2014/main" id="{D49A70EC-A5EE-4B7A-BF3B-C2C4B9F4F0A7}"/>
              </a:ext>
            </a:extLst>
          </p:cNvPr>
          <p:cNvSpPr/>
          <p:nvPr/>
        </p:nvSpPr>
        <p:spPr>
          <a:xfrm>
            <a:off x="10429217" y="1338721"/>
            <a:ext cx="1584000" cy="4937527"/>
          </a:xfrm>
          <a:prstGeom prst="roundRect">
            <a:avLst>
              <a:gd name="adj" fmla="val 6607"/>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72000" rtlCol="0" anchor="t"/>
          <a:lstStyle/>
          <a:p>
            <a:pPr rtl="0"/>
            <a:r>
              <a:rPr lang="ru" sz="800" b="1" noProof="0" dirty="0">
                <a:solidFill>
                  <a:schemeClr val="tx1"/>
                </a:solidFill>
              </a:rPr>
              <a:t xml:space="preserve">PDA and CL</a:t>
            </a:r>
          </a:p>
          <a:p>
            <a:pPr marL="171450" indent="-171450" rtl="0">
              <a:buClr>
                <a:schemeClr val="accent1"/>
              </a:buClr>
              <a:buFont typeface="Arial" panose="020B0604020202020204" pitchFamily="34" charset="0"/>
              <a:buChar char="•"/>
            </a:pPr>
            <a:r>
              <a:rPr lang="ru" sz="800" noProof="0" dirty="0" smtClean="0">
                <a:solidFill>
                  <a:schemeClr val="tx1"/>
                </a:solidFill>
              </a:rPr>
              <a:t xml:space="preserve">0.18% of omissions (violations of the requirements of the CPC Instructions) and 0.66% of deviations from the CL criteria did not have an impact on the GP.</a:t>
            </a:r>
            <a:r>
              <a:rPr lang="ru" sz="800" noProof="0" dirty="0">
                <a:solidFill>
                  <a:schemeClr val="tx1"/>
                </a:solidFill>
              </a:rPr>
              <a:t/>
            </a:r>
            <a:r>
              <a:rPr lang="ru" sz="800" noProof="0" dirty="0" smtClean="0">
                <a:solidFill>
                  <a:schemeClr val="tx1"/>
                </a:solidFill>
              </a:rPr>
              <a:t/>
            </a:r>
            <a:r>
              <a:rPr lang="ru" sz="800" dirty="0" smtClean="0">
                <a:solidFill>
                  <a:schemeClr val="tx1"/>
                </a:solidFill>
              </a:rPr>
              <a:t/>
            </a:r>
            <a:r>
              <a:rPr lang="ru" sz="800" dirty="0">
                <a:solidFill>
                  <a:schemeClr val="tx1"/>
                </a:solidFill>
              </a:rPr>
              <a:t/>
            </a:r>
            <a:r>
              <a:rPr lang="ru" sz="800" dirty="0" smtClean="0">
                <a:solidFill>
                  <a:schemeClr val="tx1"/>
                </a:solidFill>
              </a:rPr>
              <a:t/>
            </a:r>
            <a:endParaRPr lang="ru" sz="800" noProof="0" dirty="0">
              <a:solidFill>
                <a:schemeClr val="tx1"/>
              </a:solidFill>
            </a:endParaRPr>
          </a:p>
          <a:p>
            <a:pPr marL="171450" indent="-171450">
              <a:buClr>
                <a:schemeClr val="accent1"/>
              </a:buClr>
              <a:buFont typeface="Arial" panose="020B0604020202020204" pitchFamily="34" charset="0"/>
              <a:buChar char="•"/>
            </a:pPr>
            <a:r>
              <a:rPr lang="ru" sz="800" noProof="0" dirty="0">
                <a:solidFill>
                  <a:schemeClr val="tx1"/>
                </a:solidFill>
              </a:rPr>
              <a:t xml:space="preserve">The business was informed about the results of self-tests, additional tests were carried out. trainings on the rules of the CCP and CL for the target audience, carried out by the CCP after the fact to eliminate identified deficiencies.</a:t>
            </a:r>
            <a:r>
              <a:rPr lang="ru-RU" sz="800" dirty="0">
                <a:solidFill>
                  <a:schemeClr val="tx1"/>
                </a:solidFill>
              </a:rPr>
              <a:t/>
            </a:r>
            <a:r>
              <a:rPr lang="ru" sz="800" noProof="0" dirty="0">
                <a:solidFill>
                  <a:schemeClr val="tx1"/>
                </a:solidFill>
              </a:rPr>
              <a:t/>
            </a:r>
            <a:r>
              <a:rPr lang="ru" sz="800" noProof="0" dirty="0" smtClean="0">
                <a:solidFill>
                  <a:schemeClr val="tx1"/>
                </a:solidFill>
              </a:rPr>
              <a:t/>
            </a:r>
            <a:endParaRPr lang="ru" sz="800" noProof="0" dirty="0">
              <a:solidFill>
                <a:schemeClr val="tx1"/>
              </a:solidFill>
            </a:endParaRPr>
          </a:p>
          <a:p>
            <a:pPr rtl="0"/>
            <a:endParaRPr lang="en-US" sz="800" b="1" noProof="0" dirty="0">
              <a:solidFill>
                <a:srgbClr val="00BC2D"/>
              </a:solidFill>
            </a:endParaRPr>
          </a:p>
          <a:p>
            <a:r>
              <a:rPr lang="ru" sz="800" b="1" dirty="0">
                <a:solidFill>
                  <a:schemeClr val="tx1"/>
                </a:solidFill>
              </a:rPr>
              <a:t xml:space="preserve">Next steps</a:t>
            </a:r>
          </a:p>
          <a:p>
            <a:pPr marL="171450" indent="-171450" rtl="0">
              <a:buClr>
                <a:schemeClr val="accent1"/>
              </a:buClr>
              <a:buFont typeface="Arial" panose="020B0604020202020204" pitchFamily="34" charset="0"/>
              <a:buChar char="•"/>
            </a:pPr>
            <a:r>
              <a:rPr lang="ru-RU" sz="800" noProof="0" dirty="0" smtClean="0">
                <a:solidFill>
                  <a:schemeClr val="tx1"/>
                </a:solidFill>
              </a:rPr>
              <a:t xml:space="preserve">Continue to maintain high efficiency in third party risk management in 2026, incl. through achieving CCP coverage indicators, risk-based implementation of the Compliance List in accordance with the Guarantee Scheme.</a:t>
            </a:r>
            <a:r>
              <a:rPr lang="ru-RU" sz="800" noProof="0" dirty="0" err="1" smtClean="0">
                <a:solidFill>
                  <a:schemeClr val="tx1"/>
                </a:solidFill>
              </a:rPr>
              <a:t/>
            </a:r>
            <a:r>
              <a:rPr lang="ru-RU" sz="800" noProof="0" dirty="0" smtClean="0">
                <a:solidFill>
                  <a:schemeClr val="tx1"/>
                </a:solidFill>
              </a:rPr>
              <a:t/>
            </a:r>
            <a:endParaRPr lang="ru-RU" sz="800" dirty="0">
              <a:solidFill>
                <a:schemeClr val="tx1"/>
              </a:solidFill>
            </a:endParaRPr>
          </a:p>
        </p:txBody>
      </p:sp>
      <p:sp>
        <p:nvSpPr>
          <p:cNvPr id="77" name="Rectangle: Rounded Corners 76">
            <a:extLst>
              <a:ext uri="{FF2B5EF4-FFF2-40B4-BE49-F238E27FC236}">
                <a16:creationId xmlns:a16="http://schemas.microsoft.com/office/drawing/2014/main" id="{C39A783F-DE6D-49E7-A428-7FFC48DD63F5}"/>
              </a:ext>
            </a:extLst>
          </p:cNvPr>
          <p:cNvSpPr/>
          <p:nvPr/>
        </p:nvSpPr>
        <p:spPr>
          <a:xfrm>
            <a:off x="3926205" y="1332150"/>
            <a:ext cx="2098357" cy="1609408"/>
          </a:xfrm>
          <a:prstGeom prst="roundRect">
            <a:avLst>
              <a:gd name="adj" fmla="val 6644"/>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1000" b="1" noProof="0" dirty="0">
                <a:solidFill>
                  <a:schemeClr val="tx1"/>
                </a:solidFill>
              </a:rPr>
              <a:t xml:space="preserve">Avg. duration of CCP (days)</a:t>
            </a:r>
          </a:p>
        </p:txBody>
      </p:sp>
      <p:sp>
        <p:nvSpPr>
          <p:cNvPr id="79" name="Rectangle: Rounded Corners 78">
            <a:extLst>
              <a:ext uri="{FF2B5EF4-FFF2-40B4-BE49-F238E27FC236}">
                <a16:creationId xmlns:a16="http://schemas.microsoft.com/office/drawing/2014/main" id="{4664BB45-C127-4643-8203-5B6E22688CB2}"/>
              </a:ext>
            </a:extLst>
          </p:cNvPr>
          <p:cNvSpPr/>
          <p:nvPr/>
        </p:nvSpPr>
        <p:spPr>
          <a:xfrm>
            <a:off x="329540" y="1333073"/>
            <a:ext cx="1497432" cy="1609408"/>
          </a:xfrm>
          <a:prstGeom prst="roundRect">
            <a:avLst>
              <a:gd name="adj" fmla="val 9662"/>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1000" b="1" noProof="0" dirty="0">
                <a:solidFill>
                  <a:schemeClr val="tx1"/>
                </a:solidFill>
              </a:rPr>
              <a:t xml:space="preserve">PDA coverage rate (%, #)1</a:t>
            </a:r>
            <a:r>
              <a:rPr lang="ru" sz="1000" b="1" noProof="0" dirty="0" smtClean="0">
                <a:solidFill>
                  <a:schemeClr val="tx1"/>
                </a:solidFill>
              </a:rPr>
              <a:t/>
            </a:r>
            <a:r>
              <a:rPr lang="ru" sz="1000" b="1" baseline="30000" noProof="0" dirty="0" smtClean="0">
                <a:solidFill>
                  <a:schemeClr val="accent1"/>
                </a:solidFill>
              </a:rPr>
              <a:t/>
            </a:r>
            <a:endParaRPr lang="ru" sz="1000" b="1" baseline="30000" noProof="0" dirty="0">
              <a:solidFill>
                <a:schemeClr val="accent1"/>
              </a:solidFill>
            </a:endParaRPr>
          </a:p>
        </p:txBody>
      </p:sp>
      <p:sp>
        <p:nvSpPr>
          <p:cNvPr id="80" name="Rectangle: Rounded Corners 79">
            <a:extLst>
              <a:ext uri="{FF2B5EF4-FFF2-40B4-BE49-F238E27FC236}">
                <a16:creationId xmlns:a16="http://schemas.microsoft.com/office/drawing/2014/main" id="{1F748530-9A05-41B4-BFBF-49C8A8F36CC9}"/>
              </a:ext>
            </a:extLst>
          </p:cNvPr>
          <p:cNvSpPr/>
          <p:nvPr/>
        </p:nvSpPr>
        <p:spPr>
          <a:xfrm>
            <a:off x="317498" y="3045594"/>
            <a:ext cx="5707063" cy="2080768"/>
          </a:xfrm>
          <a:prstGeom prst="roundRect">
            <a:avLst>
              <a:gd name="adj" fmla="val 6402"/>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spcAft>
                <a:spcPts val="600"/>
              </a:spcAft>
            </a:pPr>
            <a:r>
              <a:rPr lang="ru" sz="1000" b="1" noProof="0" dirty="0">
                <a:solidFill>
                  <a:schemeClr val="tx1"/>
                </a:solidFill>
              </a:rPr>
              <a:t xml:space="preserve">Compliance List (CL): Categories of third parties and transactions with them</a:t>
            </a:r>
          </a:p>
        </p:txBody>
      </p:sp>
      <p:sp>
        <p:nvSpPr>
          <p:cNvPr id="81" name="Rectangle: Rounded Corners 80">
            <a:extLst>
              <a:ext uri="{FF2B5EF4-FFF2-40B4-BE49-F238E27FC236}">
                <a16:creationId xmlns:a16="http://schemas.microsoft.com/office/drawing/2014/main" id="{CEFEBDFD-A55F-4C25-AF42-CE88F031EE53}"/>
              </a:ext>
            </a:extLst>
          </p:cNvPr>
          <p:cNvSpPr/>
          <p:nvPr/>
        </p:nvSpPr>
        <p:spPr>
          <a:xfrm>
            <a:off x="317500" y="5230399"/>
            <a:ext cx="5707061" cy="1045850"/>
          </a:xfrm>
          <a:prstGeom prst="roundRect">
            <a:avLst>
              <a:gd name="adj" fmla="val 10528"/>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ctr"/>
          <a:lstStyle/>
          <a:p>
            <a:pPr rtl="0"/>
            <a:r>
              <a:rPr lang="ru" sz="1000" b="1" noProof="0" dirty="0" smtClean="0">
                <a:solidFill>
                  <a:schemeClr val="tx1"/>
                </a:solidFill>
              </a:rPr>
              <a:t>Самотестирование </a:t>
            </a:r>
            <a:r>
              <a:rPr lang="ru" sz="1000" b="1" dirty="0" smtClean="0">
                <a:solidFill>
                  <a:schemeClr val="tx1"/>
                </a:solidFill>
              </a:rPr>
              <a:t>КЛ</a:t>
            </a:r>
            <a:r>
              <a:rPr lang="ru" sz="1000" b="1" baseline="30000" dirty="0" smtClean="0">
                <a:solidFill>
                  <a:schemeClr val="accent1"/>
                </a:solidFill>
              </a:rPr>
              <a:t>2</a:t>
            </a:r>
            <a:r>
              <a:rPr lang="en-US" sz="1000" b="1" noProof="0" dirty="0">
                <a:solidFill>
                  <a:schemeClr val="tx1"/>
                </a:solidFill>
              </a:rPr>
              <a:t/>
            </a:r>
            <a:br>
              <a:rPr lang="en-US" sz="1000" b="1" noProof="0" dirty="0">
                <a:solidFill>
                  <a:schemeClr val="tx1"/>
                </a:solidFill>
              </a:rPr>
            </a:br>
            <a:r>
              <a:rPr lang="ru-RU" sz="800" b="1" noProof="0" dirty="0">
                <a:solidFill>
                  <a:schemeClr val="tx1"/>
                </a:solidFill>
              </a:rPr>
              <a:t>Несоответствие критериям</a:t>
            </a:r>
          </a:p>
          <a:p>
            <a:pPr rtl="0"/>
            <a:r>
              <a:rPr lang="ru-RU" sz="800" b="1" noProof="0" dirty="0">
                <a:solidFill>
                  <a:schemeClr val="tx1"/>
                </a:solidFill>
              </a:rPr>
              <a:t xml:space="preserve">CL vs general</a:t>
            </a:r>
            <a:r>
              <a:rPr lang="en-US" sz="800" b="1" i="1" noProof="0" dirty="0">
                <a:solidFill>
                  <a:schemeClr val="tx1"/>
                </a:solidFill>
              </a:rPr>
              <a:t/>
            </a:r>
            <a:r>
              <a:rPr lang="ru" sz="800" b="1" noProof="0" dirty="0">
                <a:solidFill>
                  <a:schemeClr val="tx1"/>
                </a:solidFill>
              </a:rPr>
              <a:t/>
            </a:r>
          </a:p>
          <a:p>
            <a:pPr rtl="0"/>
            <a:r>
              <a:rPr lang="ru" sz="800" b="1" noProof="0" dirty="0">
                <a:solidFill>
                  <a:schemeClr val="tx1"/>
                </a:solidFill>
              </a:rPr>
              <a:t>количество транзакций</a:t>
            </a:r>
            <a:r>
              <a:rPr lang="en-US" sz="800" b="1" noProof="0" dirty="0">
                <a:solidFill>
                  <a:schemeClr val="tx1"/>
                </a:solidFill>
              </a:rPr>
              <a:t/>
            </a:r>
            <a:br>
              <a:rPr lang="en-US" sz="800" b="1" noProof="0" dirty="0">
                <a:solidFill>
                  <a:schemeClr val="tx1"/>
                </a:solidFill>
              </a:rPr>
            </a:br>
            <a:r>
              <a:rPr lang="ru" sz="800" b="1" noProof="0" dirty="0">
                <a:solidFill>
                  <a:schemeClr val="tx1"/>
                </a:solidFill>
              </a:rPr>
              <a:t>и % нарушений</a:t>
            </a:r>
          </a:p>
        </p:txBody>
      </p:sp>
      <p:sp>
        <p:nvSpPr>
          <p:cNvPr id="86" name="Rectangle 85">
            <a:extLst>
              <a:ext uri="{FF2B5EF4-FFF2-40B4-BE49-F238E27FC236}">
                <a16:creationId xmlns:a16="http://schemas.microsoft.com/office/drawing/2014/main" id="{AF7DEDFA-0A5A-42BE-86CD-30BFDF818525}"/>
              </a:ext>
            </a:extLst>
          </p:cNvPr>
          <p:cNvSpPr/>
          <p:nvPr>
            <p:custDataLst>
              <p:tags r:id="rId3"/>
            </p:custDataLst>
          </p:nvPr>
        </p:nvSpPr>
        <p:spPr bwMode="gray">
          <a:xfrm>
            <a:off x="2049782" y="2522509"/>
            <a:ext cx="17334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2527</a:t>
            </a:r>
            <a:endParaRPr lang="en-US" sz="600" dirty="0">
              <a:solidFill>
                <a:schemeClr val="accent1"/>
              </a:solidFill>
            </a:endParaRPr>
          </a:p>
        </p:txBody>
      </p:sp>
      <p:sp>
        <p:nvSpPr>
          <p:cNvPr id="87" name="Rectangle 86">
            <a:extLst>
              <a:ext uri="{FF2B5EF4-FFF2-40B4-BE49-F238E27FC236}">
                <a16:creationId xmlns:a16="http://schemas.microsoft.com/office/drawing/2014/main" id="{3A200B03-69C6-4E99-890E-5A6C8E1563E8}"/>
              </a:ext>
            </a:extLst>
          </p:cNvPr>
          <p:cNvSpPr/>
          <p:nvPr>
            <p:custDataLst>
              <p:tags r:id="rId4"/>
            </p:custDataLst>
          </p:nvPr>
        </p:nvSpPr>
        <p:spPr bwMode="auto">
          <a:xfrm>
            <a:off x="2034570" y="2584462"/>
            <a:ext cx="379703"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 xml:space="preserve">Approved</a:t>
            </a:r>
            <a:endParaRPr lang="en-US" sz="600" noProof="0" dirty="0">
              <a:solidFill>
                <a:schemeClr val="tx1"/>
              </a:solidFill>
            </a:endParaRPr>
          </a:p>
        </p:txBody>
      </p:sp>
      <p:sp>
        <p:nvSpPr>
          <p:cNvPr id="88" name="Rectangle 87">
            <a:extLst>
              <a:ext uri="{FF2B5EF4-FFF2-40B4-BE49-F238E27FC236}">
                <a16:creationId xmlns:a16="http://schemas.microsoft.com/office/drawing/2014/main" id="{30B95B95-D274-4563-B485-8C7158EB3E7F}"/>
              </a:ext>
            </a:extLst>
          </p:cNvPr>
          <p:cNvSpPr/>
          <p:nvPr>
            <p:custDataLst>
              <p:tags r:id="rId5"/>
            </p:custDataLst>
          </p:nvPr>
        </p:nvSpPr>
        <p:spPr bwMode="gray">
          <a:xfrm>
            <a:off x="2053254" y="1658725"/>
            <a:ext cx="17334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1161</a:t>
            </a:r>
            <a:endParaRPr lang="en-US" sz="600" dirty="0">
              <a:solidFill>
                <a:schemeClr val="accent1"/>
              </a:solidFill>
            </a:endParaRPr>
          </a:p>
        </p:txBody>
      </p:sp>
      <p:sp>
        <p:nvSpPr>
          <p:cNvPr id="89" name="Rectangle 88">
            <a:extLst>
              <a:ext uri="{FF2B5EF4-FFF2-40B4-BE49-F238E27FC236}">
                <a16:creationId xmlns:a16="http://schemas.microsoft.com/office/drawing/2014/main" id="{E9069CF8-521B-4257-B147-0B41A550AF0C}"/>
              </a:ext>
            </a:extLst>
          </p:cNvPr>
          <p:cNvSpPr/>
          <p:nvPr>
            <p:custDataLst>
              <p:tags r:id="rId6"/>
            </p:custDataLst>
          </p:nvPr>
        </p:nvSpPr>
        <p:spPr bwMode="auto">
          <a:xfrm>
            <a:off x="2056619" y="1720874"/>
            <a:ext cx="429904" cy="211863"/>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 xml:space="preserve">Approved</a:t>
            </a:r>
          </a:p>
          <a:p>
            <a:pPr rtl="0">
              <a:spcBef>
                <a:spcPct val="0"/>
              </a:spcBef>
              <a:spcAft>
                <a:spcPct val="0"/>
              </a:spcAft>
            </a:pPr>
            <a:r>
              <a:rPr lang="ru-RU" sz="600" noProof="0" dirty="0">
                <a:solidFill>
                  <a:schemeClr val="tx1"/>
                </a:solidFill>
              </a:rPr>
              <a:t xml:space="preserve">with conditions</a:t>
            </a:r>
            <a:endParaRPr lang="en-US" sz="600" noProof="0" dirty="0">
              <a:solidFill>
                <a:schemeClr val="tx1"/>
              </a:solidFill>
            </a:endParaRPr>
          </a:p>
        </p:txBody>
      </p:sp>
      <p:sp>
        <p:nvSpPr>
          <p:cNvPr id="91" name="Rectangle 90">
            <a:extLst>
              <a:ext uri="{FF2B5EF4-FFF2-40B4-BE49-F238E27FC236}">
                <a16:creationId xmlns:a16="http://schemas.microsoft.com/office/drawing/2014/main" id="{02DC1CC5-DF5F-4C1B-8AA8-EEA7DB620556}"/>
              </a:ext>
            </a:extLst>
          </p:cNvPr>
          <p:cNvSpPr/>
          <p:nvPr>
            <p:custDataLst>
              <p:tags r:id="rId7"/>
            </p:custDataLst>
          </p:nvPr>
        </p:nvSpPr>
        <p:spPr bwMode="gray">
          <a:xfrm>
            <a:off x="3314112" y="1712834"/>
            <a:ext cx="74289"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a:solidFill>
                  <a:schemeClr val="accent1"/>
                </a:solidFill>
              </a:rPr>
              <a:t>8</a:t>
            </a:r>
            <a:endParaRPr lang="en-US" sz="600" dirty="0">
              <a:solidFill>
                <a:schemeClr val="accent1"/>
              </a:solidFill>
            </a:endParaRPr>
          </a:p>
        </p:txBody>
      </p:sp>
      <p:sp>
        <p:nvSpPr>
          <p:cNvPr id="92" name="Rectangle 91">
            <a:extLst>
              <a:ext uri="{FF2B5EF4-FFF2-40B4-BE49-F238E27FC236}">
                <a16:creationId xmlns:a16="http://schemas.microsoft.com/office/drawing/2014/main" id="{94B1C761-9328-4F2E-A87E-0925B1E701FD}"/>
              </a:ext>
            </a:extLst>
          </p:cNvPr>
          <p:cNvSpPr/>
          <p:nvPr>
            <p:custDataLst>
              <p:tags r:id="rId8"/>
            </p:custDataLst>
          </p:nvPr>
        </p:nvSpPr>
        <p:spPr bwMode="auto">
          <a:xfrm>
            <a:off x="3353014" y="1779846"/>
            <a:ext cx="349435"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sz="600" noProof="0" dirty="0">
                <a:solidFill>
                  <a:schemeClr val="tx1"/>
                </a:solidFill>
              </a:rPr>
              <a:t xml:space="preserve">Rejected</a:t>
            </a:r>
          </a:p>
        </p:txBody>
      </p:sp>
      <p:sp>
        <p:nvSpPr>
          <p:cNvPr id="93" name="Rectangle 92">
            <a:extLst>
              <a:ext uri="{FF2B5EF4-FFF2-40B4-BE49-F238E27FC236}">
                <a16:creationId xmlns:a16="http://schemas.microsoft.com/office/drawing/2014/main" id="{4F2FDECC-5619-4AE0-9CEB-D0F9BD808494}"/>
              </a:ext>
            </a:extLst>
          </p:cNvPr>
          <p:cNvSpPr/>
          <p:nvPr>
            <p:custDataLst>
              <p:tags r:id="rId9"/>
            </p:custDataLst>
          </p:nvPr>
        </p:nvSpPr>
        <p:spPr bwMode="gray">
          <a:xfrm>
            <a:off x="3282545" y="2466291"/>
            <a:ext cx="123816"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119</a:t>
            </a:r>
            <a:endParaRPr lang="en-US" sz="600" dirty="0">
              <a:solidFill>
                <a:schemeClr val="accent1"/>
              </a:solidFill>
            </a:endParaRPr>
          </a:p>
        </p:txBody>
      </p:sp>
      <p:sp>
        <p:nvSpPr>
          <p:cNvPr id="94" name="Rectangle 93">
            <a:extLst>
              <a:ext uri="{FF2B5EF4-FFF2-40B4-BE49-F238E27FC236}">
                <a16:creationId xmlns:a16="http://schemas.microsoft.com/office/drawing/2014/main" id="{42BA7CF0-044C-4DF3-A489-101752DE342D}"/>
              </a:ext>
            </a:extLst>
          </p:cNvPr>
          <p:cNvSpPr/>
          <p:nvPr>
            <p:custDataLst>
              <p:tags r:id="rId10"/>
            </p:custDataLst>
          </p:nvPr>
        </p:nvSpPr>
        <p:spPr bwMode="auto">
          <a:xfrm>
            <a:off x="3288655" y="2583608"/>
            <a:ext cx="442985"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en-US" sz="600" noProof="0" dirty="0">
                <a:solidFill>
                  <a:schemeClr val="tx1"/>
                </a:solidFill>
              </a:rPr>
              <a:t xml:space="preserve">In progress</a:t>
            </a:r>
            <a:r>
              <a:rPr lang="en-US" sz="600" noProof="0" dirty="0">
                <a:solidFill>
                  <a:srgbClr val="FF0000"/>
                </a:solidFill>
              </a:rPr>
              <a:t/>
            </a:r>
            <a:r>
              <a:rPr lang="en-US" sz="600" noProof="0" dirty="0">
                <a:solidFill>
                  <a:schemeClr val="tx1"/>
                </a:solidFill>
              </a:rPr>
              <a:t/>
            </a:r>
            <a:r>
              <a:rPr lang="ru-RU" sz="600" noProof="0" dirty="0">
                <a:solidFill>
                  <a:schemeClr val="tx1"/>
                </a:solidFill>
              </a:rPr>
              <a:t/>
            </a:r>
          </a:p>
          <a:p>
            <a:pPr rtl="0">
              <a:spcBef>
                <a:spcPct val="0"/>
              </a:spcBef>
              <a:spcAft>
                <a:spcPct val="0"/>
              </a:spcAft>
            </a:pPr>
            <a:r>
              <a:rPr lang="ru-RU" sz="500" noProof="0" dirty="0">
                <a:solidFill>
                  <a:schemeClr val="tx1"/>
                </a:solidFill>
              </a:rPr>
              <a:t xml:space="preserve">(as of 12/31/2025)</a:t>
            </a:r>
            <a:r>
              <a:rPr lang="ru-RU" sz="500" noProof="0" dirty="0" smtClean="0">
                <a:solidFill>
                  <a:schemeClr val="tx1"/>
                </a:solidFill>
              </a:rPr>
              <a:t/>
            </a:r>
            <a:r>
              <a:rPr lang="ru-RU" sz="500" noProof="0" dirty="0">
                <a:solidFill>
                  <a:schemeClr val="tx1"/>
                </a:solidFill>
              </a:rPr>
              <a:t/>
            </a:r>
            <a:endParaRPr lang="en-US" sz="500" noProof="0" dirty="0">
              <a:solidFill>
                <a:schemeClr val="tx1"/>
              </a:solidFill>
            </a:endParaRPr>
          </a:p>
        </p:txBody>
      </p:sp>
      <p:sp>
        <p:nvSpPr>
          <p:cNvPr id="84" name="Rectangle 83">
            <a:extLst>
              <a:ext uri="{FF2B5EF4-FFF2-40B4-BE49-F238E27FC236}">
                <a16:creationId xmlns:a16="http://schemas.microsoft.com/office/drawing/2014/main" id="{3FC76B20-E328-49BE-9EE3-FF199EB16D65}"/>
              </a:ext>
            </a:extLst>
          </p:cNvPr>
          <p:cNvSpPr/>
          <p:nvPr>
            <p:custDataLst>
              <p:tags r:id="rId11"/>
            </p:custDataLst>
          </p:nvPr>
        </p:nvSpPr>
        <p:spPr bwMode="auto">
          <a:xfrm>
            <a:off x="2706527" y="2125775"/>
            <a:ext cx="229748" cy="15821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rtl="0">
              <a:spcBef>
                <a:spcPct val="0"/>
              </a:spcBef>
              <a:spcAft>
                <a:spcPct val="0"/>
              </a:spcAft>
            </a:pPr>
            <a:r>
              <a:rPr lang="ru-RU" sz="1200" noProof="0" dirty="0" smtClean="0">
                <a:solidFill>
                  <a:schemeClr val="accent1"/>
                </a:solidFill>
              </a:rPr>
              <a:t>3822</a:t>
            </a:r>
            <a:endParaRPr lang="en-US" sz="1200" noProof="0" dirty="0">
              <a:solidFill>
                <a:schemeClr val="accent1"/>
              </a:solidFill>
            </a:endParaRPr>
          </a:p>
        </p:txBody>
      </p:sp>
      <p:graphicFrame>
        <p:nvGraphicFramePr>
          <p:cNvPr id="105" name="Chart 104">
            <a:extLst>
              <a:ext uri="{FF2B5EF4-FFF2-40B4-BE49-F238E27FC236}">
                <a16:creationId xmlns:a16="http://schemas.microsoft.com/office/drawing/2014/main" id="{9C1051F5-CEB8-4F11-9B17-7718641A31F5}"/>
              </a:ext>
            </a:extLst>
          </p:cNvPr>
          <p:cNvGraphicFramePr/>
          <p:nvPr>
            <p:custDataLst>
              <p:tags r:id="rId12"/>
            </p:custDataLst>
            <p:extLst>
              <p:ext uri="{D42A27DB-BD31-4B8C-83A1-F6EECF244321}">
                <p14:modId xmlns:p14="http://schemas.microsoft.com/office/powerpoint/2010/main" val="3384082465"/>
              </p:ext>
            </p:extLst>
          </p:nvPr>
        </p:nvGraphicFramePr>
        <p:xfrm>
          <a:off x="4508185" y="1806502"/>
          <a:ext cx="855704" cy="855705"/>
        </p:xfrm>
        <a:graphic>
          <a:graphicData uri="http://schemas.openxmlformats.org/drawingml/2006/chart">
            <c:chart xmlns:c="http://schemas.openxmlformats.org/drawingml/2006/chart" xmlns:r="http://schemas.openxmlformats.org/officeDocument/2006/relationships" r:id="rId43"/>
          </a:graphicData>
        </a:graphic>
      </p:graphicFrame>
      <p:sp>
        <p:nvSpPr>
          <p:cNvPr id="106" name="Rectangle 105">
            <a:extLst>
              <a:ext uri="{FF2B5EF4-FFF2-40B4-BE49-F238E27FC236}">
                <a16:creationId xmlns:a16="http://schemas.microsoft.com/office/drawing/2014/main" id="{1612AA7E-BE6C-4E3A-BCE3-E0C62C486615}"/>
              </a:ext>
            </a:extLst>
          </p:cNvPr>
          <p:cNvSpPr/>
          <p:nvPr>
            <p:custDataLst>
              <p:tags r:id="rId13"/>
            </p:custDataLst>
          </p:nvPr>
        </p:nvSpPr>
        <p:spPr bwMode="gray">
          <a:xfrm>
            <a:off x="5519040" y="2296285"/>
            <a:ext cx="17334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r" rtl="0">
              <a:lnSpc>
                <a:spcPct val="90000"/>
              </a:lnSpc>
              <a:spcBef>
                <a:spcPct val="0"/>
              </a:spcBef>
              <a:spcAft>
                <a:spcPct val="0"/>
              </a:spcAft>
            </a:pPr>
            <a:r>
              <a:rPr lang="ru-RU" sz="600" dirty="0" smtClean="0">
                <a:solidFill>
                  <a:schemeClr val="accent1"/>
                </a:solidFill>
              </a:rPr>
              <a:t>3244</a:t>
            </a:r>
            <a:endParaRPr lang="en-US" sz="600" dirty="0">
              <a:solidFill>
                <a:schemeClr val="accent1"/>
              </a:solidFill>
            </a:endParaRPr>
          </a:p>
        </p:txBody>
      </p:sp>
      <p:sp>
        <p:nvSpPr>
          <p:cNvPr id="107" name="Rectangle 106">
            <a:extLst>
              <a:ext uri="{FF2B5EF4-FFF2-40B4-BE49-F238E27FC236}">
                <a16:creationId xmlns:a16="http://schemas.microsoft.com/office/drawing/2014/main" id="{ABE393E1-D538-41DD-8D81-036A303D3A04}"/>
              </a:ext>
            </a:extLst>
          </p:cNvPr>
          <p:cNvSpPr/>
          <p:nvPr>
            <p:custDataLst>
              <p:tags r:id="rId14"/>
            </p:custDataLst>
          </p:nvPr>
        </p:nvSpPr>
        <p:spPr bwMode="auto">
          <a:xfrm>
            <a:off x="5349137" y="2187016"/>
            <a:ext cx="339806"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sz="600" noProof="0" dirty="0">
                <a:solidFill>
                  <a:schemeClr val="tx1"/>
                </a:solidFill>
              </a:rPr>
              <a:t xml:space="preserve">1–3 days</a:t>
            </a:r>
            <a:r>
              <a:rPr lang="ru-RU" sz="600" dirty="0">
                <a:solidFill>
                  <a:schemeClr val="tx1"/>
                </a:solidFill>
              </a:rPr>
              <a:t/>
            </a:r>
          </a:p>
        </p:txBody>
      </p:sp>
      <p:sp>
        <p:nvSpPr>
          <p:cNvPr id="108" name="Rectangle 107">
            <a:extLst>
              <a:ext uri="{FF2B5EF4-FFF2-40B4-BE49-F238E27FC236}">
                <a16:creationId xmlns:a16="http://schemas.microsoft.com/office/drawing/2014/main" id="{20BD5995-53EC-49A9-B031-12A51CB8D71C}"/>
              </a:ext>
            </a:extLst>
          </p:cNvPr>
          <p:cNvSpPr/>
          <p:nvPr>
            <p:custDataLst>
              <p:tags r:id="rId15"/>
            </p:custDataLst>
          </p:nvPr>
        </p:nvSpPr>
        <p:spPr bwMode="gray">
          <a:xfrm>
            <a:off x="4250281" y="2032788"/>
            <a:ext cx="123816"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246</a:t>
            </a:r>
            <a:endParaRPr lang="en-US" sz="600" dirty="0">
              <a:solidFill>
                <a:schemeClr val="accent1"/>
              </a:solidFill>
            </a:endParaRPr>
          </a:p>
        </p:txBody>
      </p:sp>
      <p:sp>
        <p:nvSpPr>
          <p:cNvPr id="109" name="Rectangle 108">
            <a:extLst>
              <a:ext uri="{FF2B5EF4-FFF2-40B4-BE49-F238E27FC236}">
                <a16:creationId xmlns:a16="http://schemas.microsoft.com/office/drawing/2014/main" id="{F4467DDD-4F77-4A85-94BD-6994C653D58B}"/>
              </a:ext>
            </a:extLst>
          </p:cNvPr>
          <p:cNvSpPr/>
          <p:nvPr>
            <p:custDataLst>
              <p:tags r:id="rId16"/>
            </p:custDataLst>
          </p:nvPr>
        </p:nvSpPr>
        <p:spPr bwMode="auto">
          <a:xfrm>
            <a:off x="4034024" y="1923177"/>
            <a:ext cx="339806"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sz="600" noProof="0" dirty="0">
                <a:solidFill>
                  <a:schemeClr val="tx1"/>
                </a:solidFill>
              </a:rPr>
              <a:t xml:space="preserve">4–5 days</a:t>
            </a:r>
            <a:r>
              <a:rPr lang="ru-RU" sz="600" dirty="0">
                <a:solidFill>
                  <a:schemeClr val="tx1"/>
                </a:solidFill>
              </a:rPr>
              <a:t/>
            </a:r>
          </a:p>
        </p:txBody>
      </p:sp>
      <p:sp>
        <p:nvSpPr>
          <p:cNvPr id="110" name="Rectangle 109">
            <a:extLst>
              <a:ext uri="{FF2B5EF4-FFF2-40B4-BE49-F238E27FC236}">
                <a16:creationId xmlns:a16="http://schemas.microsoft.com/office/drawing/2014/main" id="{12F41885-12F4-4487-B54B-77DBFFF68659}"/>
              </a:ext>
            </a:extLst>
          </p:cNvPr>
          <p:cNvSpPr/>
          <p:nvPr>
            <p:custDataLst>
              <p:tags r:id="rId17"/>
            </p:custDataLst>
          </p:nvPr>
        </p:nvSpPr>
        <p:spPr bwMode="gray">
          <a:xfrm>
            <a:off x="5514315" y="1838945"/>
            <a:ext cx="17334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r" rtl="0">
              <a:lnSpc>
                <a:spcPct val="90000"/>
              </a:lnSpc>
              <a:spcBef>
                <a:spcPct val="0"/>
              </a:spcBef>
              <a:spcAft>
                <a:spcPct val="0"/>
              </a:spcAft>
            </a:pPr>
            <a:r>
              <a:rPr lang="ru-RU" sz="600" noProof="0" dirty="0" smtClean="0">
                <a:solidFill>
                  <a:schemeClr val="accent1"/>
                </a:solidFill>
              </a:rPr>
              <a:t>213</a:t>
            </a:r>
            <a:endParaRPr lang="en-US" sz="600" noProof="0" dirty="0">
              <a:solidFill>
                <a:schemeClr val="accent1"/>
              </a:solidFill>
            </a:endParaRPr>
          </a:p>
        </p:txBody>
      </p:sp>
      <p:sp>
        <p:nvSpPr>
          <p:cNvPr id="111" name="Rectangle 110">
            <a:extLst>
              <a:ext uri="{FF2B5EF4-FFF2-40B4-BE49-F238E27FC236}">
                <a16:creationId xmlns:a16="http://schemas.microsoft.com/office/drawing/2014/main" id="{4924D209-B6FF-4954-864F-67D1EB57EF60}"/>
              </a:ext>
            </a:extLst>
          </p:cNvPr>
          <p:cNvSpPr/>
          <p:nvPr>
            <p:custDataLst>
              <p:tags r:id="rId18"/>
            </p:custDataLst>
          </p:nvPr>
        </p:nvSpPr>
        <p:spPr bwMode="auto">
          <a:xfrm>
            <a:off x="5360396" y="1728600"/>
            <a:ext cx="312291"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sz="600" noProof="0" dirty="0">
                <a:solidFill>
                  <a:schemeClr val="tx1"/>
                </a:solidFill>
              </a:rPr>
              <a:t xml:space="preserve">&gt;5 days</a:t>
            </a:r>
            <a:r>
              <a:rPr lang="ru-RU" sz="600" dirty="0">
                <a:solidFill>
                  <a:schemeClr val="tx1"/>
                </a:solidFill>
              </a:rPr>
              <a:t/>
            </a:r>
          </a:p>
        </p:txBody>
      </p:sp>
      <p:sp>
        <p:nvSpPr>
          <p:cNvPr id="104" name="Rectangle 103">
            <a:extLst>
              <a:ext uri="{FF2B5EF4-FFF2-40B4-BE49-F238E27FC236}">
                <a16:creationId xmlns:a16="http://schemas.microsoft.com/office/drawing/2014/main" id="{21123248-30C4-4057-B0C2-AE641379D41D}"/>
              </a:ext>
            </a:extLst>
          </p:cNvPr>
          <p:cNvSpPr/>
          <p:nvPr>
            <p:custDataLst>
              <p:tags r:id="rId19"/>
            </p:custDataLst>
          </p:nvPr>
        </p:nvSpPr>
        <p:spPr bwMode="auto">
          <a:xfrm>
            <a:off x="4829108" y="2159904"/>
            <a:ext cx="229747" cy="15821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rtl="0">
              <a:spcBef>
                <a:spcPct val="0"/>
              </a:spcBef>
              <a:spcAft>
                <a:spcPct val="0"/>
              </a:spcAft>
            </a:pPr>
            <a:r>
              <a:rPr lang="ru-RU" sz="1200" noProof="0" dirty="0" smtClean="0">
                <a:solidFill>
                  <a:schemeClr val="accent1"/>
                </a:solidFill>
              </a:rPr>
              <a:t>3703</a:t>
            </a:r>
            <a:endParaRPr lang="en-US" sz="1200" noProof="0" dirty="0">
              <a:solidFill>
                <a:schemeClr val="accent1"/>
              </a:solidFill>
            </a:endParaRPr>
          </a:p>
        </p:txBody>
      </p:sp>
      <p:grpSp>
        <p:nvGrpSpPr>
          <p:cNvPr id="10" name="Group 9">
            <a:extLst>
              <a:ext uri="{FF2B5EF4-FFF2-40B4-BE49-F238E27FC236}">
                <a16:creationId xmlns:a16="http://schemas.microsoft.com/office/drawing/2014/main" id="{C22CB039-325D-41E6-BC58-943153146F80}"/>
              </a:ext>
            </a:extLst>
          </p:cNvPr>
          <p:cNvGrpSpPr/>
          <p:nvPr/>
        </p:nvGrpSpPr>
        <p:grpSpPr>
          <a:xfrm>
            <a:off x="2200825" y="5356357"/>
            <a:ext cx="1246137" cy="778650"/>
            <a:chOff x="2200825" y="5300585"/>
            <a:chExt cx="1246137" cy="778650"/>
          </a:xfrm>
        </p:grpSpPr>
        <p:grpSp>
          <p:nvGrpSpPr>
            <p:cNvPr id="9" name="Group 8">
              <a:extLst>
                <a:ext uri="{FF2B5EF4-FFF2-40B4-BE49-F238E27FC236}">
                  <a16:creationId xmlns:a16="http://schemas.microsoft.com/office/drawing/2014/main" id="{5BD4EE21-6745-49F7-8E0A-B450B7E6244B}"/>
                </a:ext>
              </a:extLst>
            </p:cNvPr>
            <p:cNvGrpSpPr/>
            <p:nvPr/>
          </p:nvGrpSpPr>
          <p:grpSpPr>
            <a:xfrm>
              <a:off x="2834962" y="5300585"/>
              <a:ext cx="612000" cy="778650"/>
              <a:chOff x="2834962" y="5277844"/>
              <a:chExt cx="612000" cy="778650"/>
            </a:xfrm>
          </p:grpSpPr>
          <p:sp>
            <p:nvSpPr>
              <p:cNvPr id="133" name="Text Placeholder 39">
                <a:extLst>
                  <a:ext uri="{FF2B5EF4-FFF2-40B4-BE49-F238E27FC236}">
                    <a16:creationId xmlns:a16="http://schemas.microsoft.com/office/drawing/2014/main" id="{3D1BF54A-07A8-4783-A68C-AF02E6185B60}"/>
                  </a:ext>
                </a:extLst>
              </p:cNvPr>
              <p:cNvSpPr txBox="1">
                <a:spLocks/>
              </p:cNvSpPr>
              <p:nvPr/>
            </p:nvSpPr>
            <p:spPr>
              <a:xfrm>
                <a:off x="2883680" y="5687162"/>
                <a:ext cx="514564"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noProof="0" dirty="0" smtClean="0">
                    <a:solidFill>
                      <a:schemeClr val="accent1"/>
                    </a:solidFill>
                  </a:rPr>
                  <a:t>178</a:t>
                </a:r>
                <a:endParaRPr lang="ru" sz="2400" noProof="0" dirty="0">
                  <a:solidFill>
                    <a:schemeClr val="accent1"/>
                  </a:solidFill>
                </a:endParaRPr>
              </a:p>
            </p:txBody>
          </p:sp>
          <p:sp>
            <p:nvSpPr>
              <p:cNvPr id="134" name="Text Placeholder 39">
                <a:extLst>
                  <a:ext uri="{FF2B5EF4-FFF2-40B4-BE49-F238E27FC236}">
                    <a16:creationId xmlns:a16="http://schemas.microsoft.com/office/drawing/2014/main" id="{2395871F-0520-4E6F-A49E-CBE68225CD49}"/>
                  </a:ext>
                </a:extLst>
              </p:cNvPr>
              <p:cNvSpPr txBox="1">
                <a:spLocks/>
              </p:cNvSpPr>
              <p:nvPr/>
            </p:nvSpPr>
            <p:spPr>
              <a:xfrm>
                <a:off x="3055201" y="5277844"/>
                <a:ext cx="171522"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noProof="0" dirty="0" smtClean="0">
                    <a:solidFill>
                      <a:schemeClr val="accent1"/>
                    </a:solidFill>
                  </a:rPr>
                  <a:t>2</a:t>
                </a:r>
                <a:endParaRPr lang="ru" sz="2400" noProof="0" dirty="0">
                  <a:solidFill>
                    <a:schemeClr val="accent1"/>
                  </a:solidFill>
                </a:endParaRPr>
              </a:p>
            </p:txBody>
          </p:sp>
          <p:cxnSp>
            <p:nvCxnSpPr>
              <p:cNvPr id="135" name="Straight Connector 134">
                <a:extLst>
                  <a:ext uri="{FF2B5EF4-FFF2-40B4-BE49-F238E27FC236}">
                    <a16:creationId xmlns:a16="http://schemas.microsoft.com/office/drawing/2014/main" id="{77D37A30-B73A-4308-90F1-EA48DBF6E904}"/>
                  </a:ext>
                </a:extLst>
              </p:cNvPr>
              <p:cNvCxnSpPr>
                <a:cxnSpLocks/>
              </p:cNvCxnSpPr>
              <p:nvPr/>
            </p:nvCxnSpPr>
            <p:spPr>
              <a:xfrm>
                <a:off x="2834962" y="5667169"/>
                <a:ext cx="612000" cy="0"/>
              </a:xfrm>
              <a:prstGeom prst="line">
                <a:avLst/>
              </a:prstGeom>
              <a:ln/>
            </p:spPr>
            <p:style>
              <a:lnRef idx="3">
                <a:schemeClr val="accent1"/>
              </a:lnRef>
              <a:fillRef idx="0">
                <a:schemeClr val="accent1"/>
              </a:fillRef>
              <a:effectRef idx="2">
                <a:schemeClr val="accent1"/>
              </a:effectRef>
              <a:fontRef idx="minor">
                <a:schemeClr val="tx1"/>
              </a:fontRef>
            </p:style>
          </p:cxnSp>
        </p:grpSp>
        <p:sp>
          <p:nvSpPr>
            <p:cNvPr id="136" name="TextBox 135">
              <a:extLst>
                <a:ext uri="{FF2B5EF4-FFF2-40B4-BE49-F238E27FC236}">
                  <a16:creationId xmlns:a16="http://schemas.microsoft.com/office/drawing/2014/main" id="{2C22BD47-1C0E-44EE-9A60-2FAB9F6C68DB}"/>
                </a:ext>
              </a:extLst>
            </p:cNvPr>
            <p:cNvSpPr txBox="1"/>
            <p:nvPr/>
          </p:nvSpPr>
          <p:spPr>
            <a:xfrm>
              <a:off x="2277025" y="5551410"/>
              <a:ext cx="333425" cy="276999"/>
            </a:xfrm>
            <a:prstGeom prst="rect">
              <a:avLst/>
            </a:prstGeom>
            <a:noFill/>
          </p:spPr>
          <p:txBody>
            <a:bodyPr wrap="none" lIns="0" tIns="0" rIns="0" bIns="0" rtlCol="0" anchor="ctr">
              <a:spAutoFit/>
            </a:bodyPr>
            <a:lstStyle/>
            <a:p>
              <a:pPr rtl="0"/>
              <a:r>
                <a:rPr lang="ru" dirty="0">
                  <a:solidFill>
                    <a:schemeClr val="accent5">
                      <a:lumMod val="75000"/>
                      <a:lumOff val="25000"/>
                    </a:schemeClr>
                  </a:solidFill>
                </a:rPr>
                <a:t>1</a:t>
              </a:r>
              <a:r>
                <a:rPr lang="ru" sz="1800" noProof="0" dirty="0" smtClean="0">
                  <a:solidFill>
                    <a:schemeClr val="accent5">
                      <a:lumMod val="75000"/>
                      <a:lumOff val="25000"/>
                    </a:schemeClr>
                  </a:solidFill>
                </a:rPr>
                <a:t>%</a:t>
              </a:r>
              <a:endParaRPr lang="en-US" noProof="0" dirty="0">
                <a:solidFill>
                  <a:schemeClr val="accent5">
                    <a:lumMod val="75000"/>
                    <a:lumOff val="25000"/>
                  </a:schemeClr>
                </a:solidFill>
              </a:endParaRPr>
            </a:p>
          </p:txBody>
        </p:sp>
        <p:sp>
          <p:nvSpPr>
            <p:cNvPr id="137" name="TextBox 136">
              <a:extLst>
                <a:ext uri="{FF2B5EF4-FFF2-40B4-BE49-F238E27FC236}">
                  <a16:creationId xmlns:a16="http://schemas.microsoft.com/office/drawing/2014/main" id="{F492F7B7-8862-4EFB-97AC-8E1F967CCE8B}"/>
                </a:ext>
              </a:extLst>
            </p:cNvPr>
            <p:cNvSpPr txBox="1"/>
            <p:nvPr/>
          </p:nvSpPr>
          <p:spPr>
            <a:xfrm>
              <a:off x="2200825" y="5868610"/>
              <a:ext cx="634789" cy="138499"/>
            </a:xfrm>
            <a:prstGeom prst="rect">
              <a:avLst/>
            </a:prstGeom>
            <a:noFill/>
          </p:spPr>
          <p:txBody>
            <a:bodyPr wrap="none" lIns="0" tIns="0" rIns="0" bIns="0" rtlCol="0">
              <a:spAutoFit/>
            </a:bodyPr>
            <a:lstStyle/>
            <a:p>
              <a:pPr rtl="0"/>
              <a:r>
                <a:rPr lang="ru" sz="900" dirty="0"/>
                <a:t xml:space="preserve">Q3 2025</a:t>
              </a:r>
              <a:r>
                <a:rPr lang="ru" sz="900" noProof="0" dirty="0"/>
                <a:t/>
              </a:r>
            </a:p>
          </p:txBody>
        </p:sp>
      </p:grpSp>
      <p:grpSp>
        <p:nvGrpSpPr>
          <p:cNvPr id="138" name="Group 137">
            <a:extLst>
              <a:ext uri="{FF2B5EF4-FFF2-40B4-BE49-F238E27FC236}">
                <a16:creationId xmlns:a16="http://schemas.microsoft.com/office/drawing/2014/main" id="{E7F95CE0-6D0A-4883-A4C2-ED2DB0064E17}"/>
              </a:ext>
            </a:extLst>
          </p:cNvPr>
          <p:cNvGrpSpPr/>
          <p:nvPr/>
        </p:nvGrpSpPr>
        <p:grpSpPr>
          <a:xfrm>
            <a:off x="3660346" y="5356357"/>
            <a:ext cx="1287756" cy="778650"/>
            <a:chOff x="2197306" y="5300585"/>
            <a:chExt cx="1287756" cy="778650"/>
          </a:xfrm>
        </p:grpSpPr>
        <p:grpSp>
          <p:nvGrpSpPr>
            <p:cNvPr id="139" name="Group 138">
              <a:extLst>
                <a:ext uri="{FF2B5EF4-FFF2-40B4-BE49-F238E27FC236}">
                  <a16:creationId xmlns:a16="http://schemas.microsoft.com/office/drawing/2014/main" id="{9CDD31C4-09A9-431A-B3C1-4B2301C1775B}"/>
                </a:ext>
              </a:extLst>
            </p:cNvPr>
            <p:cNvGrpSpPr/>
            <p:nvPr/>
          </p:nvGrpSpPr>
          <p:grpSpPr>
            <a:xfrm>
              <a:off x="2873062" y="5300585"/>
              <a:ext cx="612000" cy="778650"/>
              <a:chOff x="2873062" y="5277844"/>
              <a:chExt cx="612000" cy="778650"/>
            </a:xfrm>
          </p:grpSpPr>
          <p:sp>
            <p:nvSpPr>
              <p:cNvPr id="142" name="Text Placeholder 39">
                <a:extLst>
                  <a:ext uri="{FF2B5EF4-FFF2-40B4-BE49-F238E27FC236}">
                    <a16:creationId xmlns:a16="http://schemas.microsoft.com/office/drawing/2014/main" id="{EE7C49D6-4D64-467B-AF99-9FEDE60AC6DA}"/>
                  </a:ext>
                </a:extLst>
              </p:cNvPr>
              <p:cNvSpPr txBox="1">
                <a:spLocks/>
              </p:cNvSpPr>
              <p:nvPr/>
            </p:nvSpPr>
            <p:spPr>
              <a:xfrm>
                <a:off x="2921779" y="5687162"/>
                <a:ext cx="514564"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noProof="0" dirty="0" smtClean="0">
                    <a:solidFill>
                      <a:schemeClr val="accent1"/>
                    </a:solidFill>
                  </a:rPr>
                  <a:t>452</a:t>
                </a:r>
                <a:endParaRPr lang="ru" sz="2400" noProof="0" dirty="0">
                  <a:solidFill>
                    <a:schemeClr val="accent1"/>
                  </a:solidFill>
                </a:endParaRPr>
              </a:p>
            </p:txBody>
          </p:sp>
          <p:sp>
            <p:nvSpPr>
              <p:cNvPr id="143" name="Text Placeholder 39">
                <a:extLst>
                  <a:ext uri="{FF2B5EF4-FFF2-40B4-BE49-F238E27FC236}">
                    <a16:creationId xmlns:a16="http://schemas.microsoft.com/office/drawing/2014/main" id="{6A6723C1-6C2C-4C4C-935B-EF0DCD42CA90}"/>
                  </a:ext>
                </a:extLst>
              </p:cNvPr>
              <p:cNvSpPr txBox="1">
                <a:spLocks/>
              </p:cNvSpPr>
              <p:nvPr/>
            </p:nvSpPr>
            <p:spPr>
              <a:xfrm>
                <a:off x="3093301" y="5277844"/>
                <a:ext cx="171522"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noProof="0" dirty="0" smtClean="0">
                    <a:solidFill>
                      <a:schemeClr val="accent1"/>
                    </a:solidFill>
                  </a:rPr>
                  <a:t>3</a:t>
                </a:r>
                <a:endParaRPr lang="ru" sz="2400" noProof="0" dirty="0">
                  <a:solidFill>
                    <a:schemeClr val="accent1"/>
                  </a:solidFill>
                </a:endParaRPr>
              </a:p>
            </p:txBody>
          </p:sp>
          <p:cxnSp>
            <p:nvCxnSpPr>
              <p:cNvPr id="144" name="Straight Connector 143">
                <a:extLst>
                  <a:ext uri="{FF2B5EF4-FFF2-40B4-BE49-F238E27FC236}">
                    <a16:creationId xmlns:a16="http://schemas.microsoft.com/office/drawing/2014/main" id="{3EC32A4D-9297-4AF6-B581-D14B8F2D132A}"/>
                  </a:ext>
                </a:extLst>
              </p:cNvPr>
              <p:cNvCxnSpPr>
                <a:cxnSpLocks/>
              </p:cNvCxnSpPr>
              <p:nvPr/>
            </p:nvCxnSpPr>
            <p:spPr>
              <a:xfrm>
                <a:off x="2873062" y="5667169"/>
                <a:ext cx="612000" cy="0"/>
              </a:xfrm>
              <a:prstGeom prst="line">
                <a:avLst/>
              </a:prstGeom>
              <a:ln/>
            </p:spPr>
            <p:style>
              <a:lnRef idx="3">
                <a:schemeClr val="accent1"/>
              </a:lnRef>
              <a:fillRef idx="0">
                <a:schemeClr val="accent1"/>
              </a:fillRef>
              <a:effectRef idx="2">
                <a:schemeClr val="accent1"/>
              </a:effectRef>
              <a:fontRef idx="minor">
                <a:schemeClr val="tx1"/>
              </a:fontRef>
            </p:style>
          </p:cxnSp>
        </p:grpSp>
        <p:sp>
          <p:nvSpPr>
            <p:cNvPr id="140" name="TextBox 139">
              <a:extLst>
                <a:ext uri="{FF2B5EF4-FFF2-40B4-BE49-F238E27FC236}">
                  <a16:creationId xmlns:a16="http://schemas.microsoft.com/office/drawing/2014/main" id="{691B2207-A124-4F74-9CE2-430AB8930EE1}"/>
                </a:ext>
              </a:extLst>
            </p:cNvPr>
            <p:cNvSpPr txBox="1"/>
            <p:nvPr/>
          </p:nvSpPr>
          <p:spPr>
            <a:xfrm>
              <a:off x="2197306" y="5551410"/>
              <a:ext cx="654025" cy="276999"/>
            </a:xfrm>
            <a:prstGeom prst="rect">
              <a:avLst/>
            </a:prstGeom>
            <a:noFill/>
          </p:spPr>
          <p:txBody>
            <a:bodyPr wrap="none" lIns="0" tIns="0" rIns="0" bIns="0" rtlCol="0" anchor="ctr">
              <a:spAutoFit/>
            </a:bodyPr>
            <a:lstStyle/>
            <a:p>
              <a:pPr rtl="0"/>
              <a:r>
                <a:rPr lang="ru" dirty="0" smtClean="0">
                  <a:solidFill>
                    <a:schemeClr val="accent5">
                      <a:lumMod val="75000"/>
                      <a:lumOff val="25000"/>
                    </a:schemeClr>
                  </a:solidFill>
                </a:rPr>
                <a:t>0,66</a:t>
              </a:r>
              <a:r>
                <a:rPr lang="ru" sz="1800" noProof="0" dirty="0" smtClean="0">
                  <a:solidFill>
                    <a:schemeClr val="accent5">
                      <a:lumMod val="75000"/>
                      <a:lumOff val="25000"/>
                    </a:schemeClr>
                  </a:solidFill>
                </a:rPr>
                <a:t>%</a:t>
              </a:r>
              <a:endParaRPr lang="en-US" noProof="0" dirty="0">
                <a:solidFill>
                  <a:schemeClr val="accent5">
                    <a:lumMod val="75000"/>
                    <a:lumOff val="25000"/>
                  </a:schemeClr>
                </a:solidFill>
              </a:endParaRPr>
            </a:p>
          </p:txBody>
        </p:sp>
        <p:sp>
          <p:nvSpPr>
            <p:cNvPr id="141" name="TextBox 140">
              <a:extLst>
                <a:ext uri="{FF2B5EF4-FFF2-40B4-BE49-F238E27FC236}">
                  <a16:creationId xmlns:a16="http://schemas.microsoft.com/office/drawing/2014/main" id="{26FD711D-9951-426B-8DBC-442C38723D7A}"/>
                </a:ext>
              </a:extLst>
            </p:cNvPr>
            <p:cNvSpPr txBox="1"/>
            <p:nvPr/>
          </p:nvSpPr>
          <p:spPr>
            <a:xfrm>
              <a:off x="2244931" y="5868610"/>
              <a:ext cx="634789" cy="138499"/>
            </a:xfrm>
            <a:prstGeom prst="rect">
              <a:avLst/>
            </a:prstGeom>
            <a:noFill/>
          </p:spPr>
          <p:txBody>
            <a:bodyPr wrap="none" lIns="0" tIns="0" rIns="0" bIns="0" rtlCol="0">
              <a:spAutoFit/>
            </a:bodyPr>
            <a:lstStyle/>
            <a:p>
              <a:pPr rtl="0"/>
              <a:r>
                <a:rPr lang="ru" sz="900" dirty="0"/>
                <a:t xml:space="preserve">Q4 2025</a:t>
              </a:r>
              <a:r>
                <a:rPr lang="ru" sz="900" noProof="0" dirty="0"/>
                <a:t/>
              </a:r>
            </a:p>
          </p:txBody>
        </p:sp>
      </p:grpSp>
      <p:graphicFrame>
        <p:nvGraphicFramePr>
          <p:cNvPr id="90" name="Chart 89">
            <a:extLst>
              <a:ext uri="{FF2B5EF4-FFF2-40B4-BE49-F238E27FC236}">
                <a16:creationId xmlns:a16="http://schemas.microsoft.com/office/drawing/2014/main" id="{66F36983-5154-46C5-AE03-6A9644C2B132}"/>
              </a:ext>
            </a:extLst>
          </p:cNvPr>
          <p:cNvGraphicFramePr/>
          <p:nvPr>
            <p:custDataLst>
              <p:tags r:id="rId20"/>
            </p:custDataLst>
            <p:extLst>
              <p:ext uri="{D42A27DB-BD31-4B8C-83A1-F6EECF244321}">
                <p14:modId xmlns:p14="http://schemas.microsoft.com/office/powerpoint/2010/main" val="3074678399"/>
              </p:ext>
            </p:extLst>
          </p:nvPr>
        </p:nvGraphicFramePr>
        <p:xfrm>
          <a:off x="485775" y="3711812"/>
          <a:ext cx="1160463" cy="1160463"/>
        </p:xfrm>
        <a:graphic>
          <a:graphicData uri="http://schemas.openxmlformats.org/drawingml/2006/chart">
            <c:chart xmlns:c="http://schemas.openxmlformats.org/drawingml/2006/chart" xmlns:r="http://schemas.openxmlformats.org/officeDocument/2006/relationships" r:id="rId44"/>
          </a:graphicData>
        </a:graphic>
      </p:graphicFrame>
      <p:sp>
        <p:nvSpPr>
          <p:cNvPr id="40" name="Rectangle 39">
            <a:extLst>
              <a:ext uri="{FF2B5EF4-FFF2-40B4-BE49-F238E27FC236}">
                <a16:creationId xmlns:a16="http://schemas.microsoft.com/office/drawing/2014/main" id="{7D9E7737-7FF0-4EDC-A682-0AB95EAF617D}"/>
              </a:ext>
            </a:extLst>
          </p:cNvPr>
          <p:cNvSpPr/>
          <p:nvPr>
            <p:custDataLst>
              <p:tags r:id="rId21"/>
            </p:custDataLst>
          </p:nvPr>
        </p:nvSpPr>
        <p:spPr bwMode="auto">
          <a:xfrm>
            <a:off x="1560513" y="4679870"/>
            <a:ext cx="107950" cy="80963"/>
          </a:xfrm>
          <a:prstGeom prst="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41" name="Rectangle 40">
            <a:extLst>
              <a:ext uri="{FF2B5EF4-FFF2-40B4-BE49-F238E27FC236}">
                <a16:creationId xmlns:a16="http://schemas.microsoft.com/office/drawing/2014/main" id="{1E9B6676-1C76-4283-9C6D-CC1CC0BB73C9}"/>
              </a:ext>
            </a:extLst>
          </p:cNvPr>
          <p:cNvSpPr/>
          <p:nvPr>
            <p:custDataLst>
              <p:tags r:id="rId22"/>
            </p:custDataLst>
          </p:nvPr>
        </p:nvSpPr>
        <p:spPr bwMode="auto">
          <a:xfrm>
            <a:off x="1560513" y="4822745"/>
            <a:ext cx="107950" cy="80963"/>
          </a:xfrm>
          <a:prstGeom prst="rect">
            <a:avLst/>
          </a:prstGeom>
          <a:solidFill>
            <a:schemeClr val="accent4"/>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42" name="Rectangle 41">
            <a:extLst>
              <a:ext uri="{FF2B5EF4-FFF2-40B4-BE49-F238E27FC236}">
                <a16:creationId xmlns:a16="http://schemas.microsoft.com/office/drawing/2014/main" id="{7FBBF479-286A-48E6-90FA-2D7FB39AFF1F}"/>
              </a:ext>
            </a:extLst>
          </p:cNvPr>
          <p:cNvSpPr/>
          <p:nvPr>
            <p:custDataLst>
              <p:tags r:id="rId23"/>
            </p:custDataLst>
          </p:nvPr>
        </p:nvSpPr>
        <p:spPr bwMode="auto">
          <a:xfrm>
            <a:off x="1560513" y="4965620"/>
            <a:ext cx="107950" cy="80963"/>
          </a:xfrm>
          <a:prstGeom prst="rect">
            <a:avLst/>
          </a:prstGeom>
          <a:solidFill>
            <a:schemeClr val="folHlink"/>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4" name="Rectangle 3">
            <a:extLst>
              <a:ext uri="{FF2B5EF4-FFF2-40B4-BE49-F238E27FC236}">
                <a16:creationId xmlns:a16="http://schemas.microsoft.com/office/drawing/2014/main" id="{3A1B00D3-65B8-4E3B-9152-3FFB2D2795BA}"/>
              </a:ext>
            </a:extLst>
          </p:cNvPr>
          <p:cNvSpPr/>
          <p:nvPr>
            <p:custDataLst>
              <p:tags r:id="rId24"/>
            </p:custDataLst>
          </p:nvPr>
        </p:nvSpPr>
        <p:spPr bwMode="auto">
          <a:xfrm>
            <a:off x="1719263" y="4676695"/>
            <a:ext cx="1833563" cy="92075"/>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dirty="0">
                <a:solidFill>
                  <a:schemeClr val="tx1"/>
                </a:solidFill>
              </a:rPr>
              <a:t xml:space="preserve">Counterparties from KL with transactions</a:t>
            </a:r>
            <a:r>
              <a:rPr lang="en-US" sz="600" noProof="0" dirty="0">
                <a:solidFill>
                  <a:schemeClr val="tx1"/>
                </a:solidFill>
              </a:rPr>
              <a:t/>
            </a:r>
            <a:r>
              <a:rPr lang="ru-RU" sz="600" dirty="0">
                <a:solidFill>
                  <a:schemeClr val="tx1"/>
                </a:solidFill>
              </a:rPr>
              <a:t/>
            </a:r>
            <a:r>
              <a:rPr lang="en-US" sz="600" noProof="0" dirty="0">
                <a:solidFill>
                  <a:schemeClr val="tx1"/>
                </a:solidFill>
              </a:rPr>
              <a:t/>
            </a:r>
            <a:r>
              <a:rPr lang="ru-RU" sz="600" noProof="0" dirty="0">
                <a:solidFill>
                  <a:schemeClr val="tx1"/>
                </a:solidFill>
              </a:rPr>
              <a:t/>
            </a:r>
            <a:r>
              <a:rPr lang="en-US" sz="600" noProof="0" dirty="0">
                <a:solidFill>
                  <a:schemeClr val="tx1"/>
                </a:solidFill>
              </a:rPr>
              <a:t/>
            </a:r>
            <a:r>
              <a:rPr lang="ru-RU" sz="600" dirty="0">
                <a:solidFill>
                  <a:schemeClr val="tx1"/>
                </a:solidFill>
              </a:rPr>
              <a:t/>
            </a:r>
            <a:endParaRPr lang="en-US" sz="600" noProof="0" dirty="0">
              <a:solidFill>
                <a:schemeClr val="tx1"/>
              </a:solidFill>
            </a:endParaRPr>
          </a:p>
        </p:txBody>
      </p:sp>
      <p:sp>
        <p:nvSpPr>
          <p:cNvPr id="6" name="Rectangle 5">
            <a:extLst>
              <a:ext uri="{FF2B5EF4-FFF2-40B4-BE49-F238E27FC236}">
                <a16:creationId xmlns:a16="http://schemas.microsoft.com/office/drawing/2014/main" id="{8BA3C974-9BF2-4226-9836-7E0A3BB73F33}"/>
              </a:ext>
            </a:extLst>
          </p:cNvPr>
          <p:cNvSpPr/>
          <p:nvPr>
            <p:custDataLst>
              <p:tags r:id="rId25"/>
            </p:custDataLst>
          </p:nvPr>
        </p:nvSpPr>
        <p:spPr bwMode="auto">
          <a:xfrm>
            <a:off x="1719263" y="4819570"/>
            <a:ext cx="1939925" cy="92075"/>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dirty="0">
                <a:solidFill>
                  <a:schemeClr val="tx1"/>
                </a:solidFill>
              </a:rPr>
              <a:t xml:space="preserve">Counterparties from KL without transactions</a:t>
            </a:r>
            <a:r>
              <a:rPr lang="ru-RU" sz="600" noProof="0" dirty="0">
                <a:solidFill>
                  <a:schemeClr val="tx1"/>
                </a:solidFill>
              </a:rPr>
              <a:t/>
            </a:r>
            <a:r>
              <a:rPr lang="en-US" sz="600" noProof="0" dirty="0">
                <a:solidFill>
                  <a:schemeClr val="tx1"/>
                </a:solidFill>
              </a:rPr>
              <a:t/>
            </a:r>
            <a:r>
              <a:rPr lang="ru-RU" sz="600" dirty="0">
                <a:solidFill>
                  <a:schemeClr val="tx1"/>
                </a:solidFill>
              </a:rPr>
              <a:t/>
            </a:r>
            <a:r>
              <a:rPr lang="en-US" sz="600" noProof="0" dirty="0">
                <a:solidFill>
                  <a:schemeClr val="tx1"/>
                </a:solidFill>
              </a:rPr>
              <a:t/>
            </a:r>
            <a:r>
              <a:rPr lang="ru-RU" sz="600" noProof="0" dirty="0">
                <a:solidFill>
                  <a:schemeClr val="tx1"/>
                </a:solidFill>
              </a:rPr>
              <a:t/>
            </a:r>
            <a:endParaRPr lang="en-US" sz="600" noProof="0" dirty="0">
              <a:solidFill>
                <a:schemeClr val="tx1"/>
              </a:solidFill>
            </a:endParaRPr>
          </a:p>
        </p:txBody>
      </p:sp>
      <p:sp>
        <p:nvSpPr>
          <p:cNvPr id="7" name="Rectangle 6">
            <a:extLst>
              <a:ext uri="{FF2B5EF4-FFF2-40B4-BE49-F238E27FC236}">
                <a16:creationId xmlns:a16="http://schemas.microsoft.com/office/drawing/2014/main" id="{E97E59F2-4483-4D2E-980C-01AF83DC4BF6}"/>
              </a:ext>
            </a:extLst>
          </p:cNvPr>
          <p:cNvSpPr/>
          <p:nvPr>
            <p:custDataLst>
              <p:tags r:id="rId26"/>
            </p:custDataLst>
          </p:nvPr>
        </p:nvSpPr>
        <p:spPr bwMode="auto">
          <a:xfrm>
            <a:off x="1719263" y="4962445"/>
            <a:ext cx="1249363" cy="92075"/>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 xml:space="preserve">Other counterparties with transactions</a:t>
            </a:r>
            <a:r>
              <a:rPr lang="ru-RU" sz="600" dirty="0">
                <a:solidFill>
                  <a:schemeClr val="tx1"/>
                </a:solidFill>
              </a:rPr>
              <a:t/>
            </a:r>
            <a:r>
              <a:rPr lang="en-US" sz="600" noProof="0" dirty="0">
                <a:solidFill>
                  <a:schemeClr val="tx1"/>
                </a:solidFill>
              </a:rPr>
              <a:t/>
            </a:r>
            <a:r>
              <a:rPr lang="ru-RU" sz="600" noProof="0" dirty="0">
                <a:solidFill>
                  <a:schemeClr val="tx1"/>
                </a:solidFill>
              </a:rPr>
              <a:t/>
            </a:r>
            <a:endParaRPr lang="en-US" sz="600" noProof="0" dirty="0">
              <a:solidFill>
                <a:schemeClr val="tx1"/>
              </a:solidFill>
            </a:endParaRPr>
          </a:p>
        </p:txBody>
      </p:sp>
      <p:sp>
        <p:nvSpPr>
          <p:cNvPr id="158" name="Text Placeholder 39">
            <a:extLst>
              <a:ext uri="{FF2B5EF4-FFF2-40B4-BE49-F238E27FC236}">
                <a16:creationId xmlns:a16="http://schemas.microsoft.com/office/drawing/2014/main" id="{56DF5899-2041-44E8-BE38-191F785D2F25}"/>
              </a:ext>
            </a:extLst>
          </p:cNvPr>
          <p:cNvSpPr txBox="1">
            <a:spLocks/>
          </p:cNvSpPr>
          <p:nvPr/>
        </p:nvSpPr>
        <p:spPr>
          <a:xfrm>
            <a:off x="477045" y="4771787"/>
            <a:ext cx="533800" cy="12311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800" b="1" dirty="0" smtClean="0">
                <a:solidFill>
                  <a:schemeClr val="accent1"/>
                </a:solidFill>
              </a:rPr>
              <a:t>1474</a:t>
            </a:r>
            <a:r>
              <a:rPr lang="ru" sz="800" b="1" noProof="0" dirty="0" smtClean="0">
                <a:solidFill>
                  <a:schemeClr val="accent1"/>
                </a:solidFill>
              </a:rPr>
              <a:t> </a:t>
            </a:r>
            <a:r>
              <a:rPr lang="ru" sz="800" b="1" dirty="0">
                <a:solidFill>
                  <a:schemeClr val="accent5">
                    <a:lumMod val="75000"/>
                    <a:lumOff val="25000"/>
                  </a:schemeClr>
                </a:solidFill>
              </a:rPr>
              <a:t>(76%)</a:t>
            </a:r>
          </a:p>
        </p:txBody>
      </p:sp>
      <p:sp>
        <p:nvSpPr>
          <p:cNvPr id="160" name="Text Placeholder 39">
            <a:extLst>
              <a:ext uri="{FF2B5EF4-FFF2-40B4-BE49-F238E27FC236}">
                <a16:creationId xmlns:a16="http://schemas.microsoft.com/office/drawing/2014/main" id="{1B9BE44C-1544-439B-9F4C-18AD45C51C81}"/>
              </a:ext>
            </a:extLst>
          </p:cNvPr>
          <p:cNvSpPr txBox="1">
            <a:spLocks/>
          </p:cNvSpPr>
          <p:nvPr/>
        </p:nvSpPr>
        <p:spPr>
          <a:xfrm>
            <a:off x="443738" y="3365420"/>
            <a:ext cx="1247775" cy="1539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1000" noProof="0"/>
              <a:t xml:space="preserve">Unique counterparties</a:t>
            </a:r>
          </a:p>
        </p:txBody>
      </p:sp>
      <p:sp>
        <p:nvSpPr>
          <p:cNvPr id="163" name="Text Placeholder 39">
            <a:extLst>
              <a:ext uri="{FF2B5EF4-FFF2-40B4-BE49-F238E27FC236}">
                <a16:creationId xmlns:a16="http://schemas.microsoft.com/office/drawing/2014/main" id="{AC166589-2C38-4B1A-A3E2-07C3AE837254}"/>
              </a:ext>
            </a:extLst>
          </p:cNvPr>
          <p:cNvSpPr txBox="1">
            <a:spLocks/>
          </p:cNvSpPr>
          <p:nvPr/>
        </p:nvSpPr>
        <p:spPr>
          <a:xfrm>
            <a:off x="1268312" y="3747841"/>
            <a:ext cx="476092" cy="12311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800" b="1" noProof="0" dirty="0">
                <a:solidFill>
                  <a:schemeClr val="accent1"/>
                </a:solidFill>
              </a:rPr>
              <a:t>196 </a:t>
            </a:r>
            <a:r>
              <a:rPr lang="ru" sz="800" b="1" noProof="0" dirty="0" smtClean="0">
                <a:solidFill>
                  <a:srgbClr val="0080BC"/>
                </a:solidFill>
              </a:rPr>
              <a:t>(</a:t>
            </a:r>
            <a:r>
              <a:rPr lang="ru" sz="800" b="1" noProof="0" dirty="0" smtClean="0">
                <a:solidFill>
                  <a:schemeClr val="accent5">
                    <a:lumMod val="75000"/>
                    <a:lumOff val="25000"/>
                  </a:schemeClr>
                </a:solidFill>
              </a:rPr>
              <a:t>10</a:t>
            </a:r>
            <a:r>
              <a:rPr lang="ru" sz="800" b="1" dirty="0" smtClean="0">
                <a:solidFill>
                  <a:schemeClr val="accent5">
                    <a:lumMod val="75000"/>
                    <a:lumOff val="25000"/>
                  </a:schemeClr>
                </a:solidFill>
              </a:rPr>
              <a:t>%)</a:t>
            </a:r>
            <a:endParaRPr lang="ru" sz="800" b="1" dirty="0">
              <a:solidFill>
                <a:schemeClr val="accent5">
                  <a:lumMod val="75000"/>
                  <a:lumOff val="25000"/>
                </a:schemeClr>
              </a:solidFill>
            </a:endParaRPr>
          </a:p>
        </p:txBody>
      </p:sp>
      <p:sp>
        <p:nvSpPr>
          <p:cNvPr id="164" name="Text Placeholder 39">
            <a:extLst>
              <a:ext uri="{FF2B5EF4-FFF2-40B4-BE49-F238E27FC236}">
                <a16:creationId xmlns:a16="http://schemas.microsoft.com/office/drawing/2014/main" id="{A390D6BF-26CF-40BB-8715-20369D982075}"/>
              </a:ext>
            </a:extLst>
          </p:cNvPr>
          <p:cNvSpPr txBox="1">
            <a:spLocks/>
          </p:cNvSpPr>
          <p:nvPr/>
        </p:nvSpPr>
        <p:spPr>
          <a:xfrm>
            <a:off x="1171258" y="4048969"/>
            <a:ext cx="476092" cy="123111"/>
          </a:xfrm>
          <a:prstGeom prst="rect">
            <a:avLst/>
          </a:prstGeom>
          <a:solidFill>
            <a:schemeClr val="accent2">
              <a:lumMod val="20000"/>
              <a:lumOff val="80000"/>
            </a:schemeClr>
          </a:solidFill>
        </p:spPr>
        <p:txBody>
          <a:bodyPr wrap="none" lIns="0" tIns="0" rIns="0" bIns="0" rtlCol="0" anchor="t">
            <a:spAutoFit/>
          </a:bodyPr>
          <a:lstStyle>
            <a:defPPr>
              <a:defRPr lang="en-US"/>
            </a:defPPr>
            <a:lvl1pPr lvl="0" indent="0">
              <a:defRPr sz="800"/>
            </a:lvl1pPr>
            <a:lvl2pPr indent="0">
              <a:defRPr sz="1100"/>
            </a:lvl2pPr>
            <a:lvl3pPr indent="0">
              <a:defRPr sz="1100"/>
            </a:lvl3pPr>
            <a:lvl4pPr indent="0">
              <a:defRPr sz="1100"/>
            </a:lvl4pPr>
            <a:lvl5pPr indent="0">
              <a:defRPr sz="1100"/>
            </a:lvl5pPr>
            <a:lvl6pPr indent="0">
              <a:defRPr sz="1100"/>
            </a:lvl6pPr>
            <a:lvl7pPr indent="0">
              <a:defRPr sz="1100"/>
            </a:lvl7pPr>
            <a:lvl8pPr indent="0">
              <a:defRPr sz="1100"/>
            </a:lvl8pPr>
            <a:lvl9pPr indent="0">
              <a:defRPr sz="1100"/>
            </a:lvl9pPr>
          </a:lstStyle>
          <a:p>
            <a:pPr rtl="0"/>
            <a:r>
              <a:rPr lang="ru" b="1" dirty="0" smtClean="0">
                <a:solidFill>
                  <a:schemeClr val="accent1"/>
                </a:solidFill>
              </a:rPr>
              <a:t>267</a:t>
            </a:r>
            <a:r>
              <a:rPr lang="ru" b="1" noProof="0" dirty="0" smtClean="0">
                <a:solidFill>
                  <a:schemeClr val="accent1"/>
                </a:solidFill>
              </a:rPr>
              <a:t> </a:t>
            </a:r>
            <a:r>
              <a:rPr lang="ru" b="1" dirty="0">
                <a:solidFill>
                  <a:schemeClr val="accent5">
                    <a:lumMod val="75000"/>
                    <a:lumOff val="25000"/>
                  </a:schemeClr>
                </a:solidFill>
              </a:rPr>
              <a:t>(</a:t>
            </a:r>
            <a:r>
              <a:rPr lang="ru" b="1" dirty="0" smtClean="0">
                <a:solidFill>
                  <a:schemeClr val="accent5">
                    <a:lumMod val="75000"/>
                    <a:lumOff val="25000"/>
                  </a:schemeClr>
                </a:solidFill>
              </a:rPr>
              <a:t>14%)</a:t>
            </a:r>
            <a:endParaRPr lang="ru" b="1" dirty="0">
              <a:solidFill>
                <a:schemeClr val="accent5">
                  <a:lumMod val="75000"/>
                  <a:lumOff val="25000"/>
                </a:schemeClr>
              </a:solidFill>
            </a:endParaRPr>
          </a:p>
        </p:txBody>
      </p:sp>
      <p:graphicFrame>
        <p:nvGraphicFramePr>
          <p:cNvPr id="96" name="Chart 95">
            <a:extLst>
              <a:ext uri="{FF2B5EF4-FFF2-40B4-BE49-F238E27FC236}">
                <a16:creationId xmlns:a16="http://schemas.microsoft.com/office/drawing/2014/main" id="{DF91E11C-2B48-4F01-BDF1-5D8DCBFDD06B}"/>
              </a:ext>
            </a:extLst>
          </p:cNvPr>
          <p:cNvGraphicFramePr/>
          <p:nvPr>
            <p:custDataLst>
              <p:tags r:id="rId27"/>
            </p:custDataLst>
            <p:extLst>
              <p:ext uri="{D42A27DB-BD31-4B8C-83A1-F6EECF244321}">
                <p14:modId xmlns:p14="http://schemas.microsoft.com/office/powerpoint/2010/main" val="1948057382"/>
              </p:ext>
            </p:extLst>
          </p:nvPr>
        </p:nvGraphicFramePr>
        <p:xfrm>
          <a:off x="3438525" y="3711812"/>
          <a:ext cx="1160463" cy="1160463"/>
        </p:xfrm>
        <a:graphic>
          <a:graphicData uri="http://schemas.openxmlformats.org/drawingml/2006/chart">
            <c:chart xmlns:c="http://schemas.openxmlformats.org/drawingml/2006/chart" xmlns:r="http://schemas.openxmlformats.org/officeDocument/2006/relationships" r:id="rId45"/>
          </a:graphicData>
        </a:graphic>
      </p:graphicFrame>
      <p:sp>
        <p:nvSpPr>
          <p:cNvPr id="188" name="Rectangle 187">
            <a:extLst>
              <a:ext uri="{FF2B5EF4-FFF2-40B4-BE49-F238E27FC236}">
                <a16:creationId xmlns:a16="http://schemas.microsoft.com/office/drawing/2014/main" id="{C87BB045-2B4D-4D46-85D7-58981B4BDFE2}"/>
              </a:ext>
            </a:extLst>
          </p:cNvPr>
          <p:cNvSpPr/>
          <p:nvPr>
            <p:custDataLst>
              <p:tags r:id="rId28"/>
            </p:custDataLst>
          </p:nvPr>
        </p:nvSpPr>
        <p:spPr bwMode="auto">
          <a:xfrm>
            <a:off x="4625181" y="4687807"/>
            <a:ext cx="107950" cy="80963"/>
          </a:xfrm>
          <a:prstGeom prst="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189" name="Rectangle 188">
            <a:extLst>
              <a:ext uri="{FF2B5EF4-FFF2-40B4-BE49-F238E27FC236}">
                <a16:creationId xmlns:a16="http://schemas.microsoft.com/office/drawing/2014/main" id="{D5EAA3A9-7362-4224-AFED-C76DA0DB1D39}"/>
              </a:ext>
            </a:extLst>
          </p:cNvPr>
          <p:cNvSpPr/>
          <p:nvPr>
            <p:custDataLst>
              <p:tags r:id="rId29"/>
            </p:custDataLst>
          </p:nvPr>
        </p:nvSpPr>
        <p:spPr bwMode="auto">
          <a:xfrm>
            <a:off x="4629150" y="4822598"/>
            <a:ext cx="107950" cy="80963"/>
          </a:xfrm>
          <a:prstGeom prst="rect">
            <a:avLst/>
          </a:prstGeom>
          <a:solidFill>
            <a:schemeClr val="folHlink"/>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66" name="Rectangle 65">
            <a:extLst>
              <a:ext uri="{FF2B5EF4-FFF2-40B4-BE49-F238E27FC236}">
                <a16:creationId xmlns:a16="http://schemas.microsoft.com/office/drawing/2014/main" id="{94D50C55-7C4A-4D6E-AB14-960F2402BAE2}"/>
              </a:ext>
            </a:extLst>
          </p:cNvPr>
          <p:cNvSpPr/>
          <p:nvPr>
            <p:custDataLst>
              <p:tags r:id="rId30"/>
            </p:custDataLst>
          </p:nvPr>
        </p:nvSpPr>
        <p:spPr bwMode="auto">
          <a:xfrm>
            <a:off x="4629150" y="4962445"/>
            <a:ext cx="107950" cy="80963"/>
          </a:xfrm>
          <a:prstGeom prst="rect">
            <a:avLst/>
          </a:prstGeom>
          <a:solidFill>
            <a:schemeClr val="accent4"/>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191" name="Rectangle 190">
            <a:extLst>
              <a:ext uri="{FF2B5EF4-FFF2-40B4-BE49-F238E27FC236}">
                <a16:creationId xmlns:a16="http://schemas.microsoft.com/office/drawing/2014/main" id="{382A9DC7-8F16-4AA8-813B-1BD3709655AF}"/>
              </a:ext>
            </a:extLst>
          </p:cNvPr>
          <p:cNvSpPr/>
          <p:nvPr>
            <p:custDataLst>
              <p:tags r:id="rId31"/>
            </p:custDataLst>
          </p:nvPr>
        </p:nvSpPr>
        <p:spPr bwMode="auto">
          <a:xfrm>
            <a:off x="4787900" y="4624822"/>
            <a:ext cx="1076325" cy="18415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 xml:space="preserve">Transactions of counterparties from CL</a:t>
            </a:r>
            <a:r>
              <a:rPr lang="ru-RU" sz="600" dirty="0">
                <a:solidFill>
                  <a:schemeClr val="tx1"/>
                </a:solidFill>
              </a:rPr>
              <a:t/>
            </a:r>
            <a:r>
              <a:rPr lang="en-US" sz="600" noProof="0" dirty="0">
                <a:solidFill>
                  <a:schemeClr val="tx1"/>
                </a:solidFill>
              </a:rPr>
              <a:t/>
            </a:r>
            <a:r>
              <a:rPr lang="ru-RU" sz="600" noProof="0" dirty="0">
                <a:solidFill>
                  <a:schemeClr val="tx1"/>
                </a:solidFill>
              </a:rPr>
              <a:t/>
            </a:r>
            <a:endParaRPr lang="en-US" sz="600" noProof="0" dirty="0">
              <a:solidFill>
                <a:schemeClr val="tx1"/>
              </a:solidFill>
            </a:endParaRPr>
          </a:p>
        </p:txBody>
      </p:sp>
      <p:sp>
        <p:nvSpPr>
          <p:cNvPr id="192" name="Rectangle 191">
            <a:extLst>
              <a:ext uri="{FF2B5EF4-FFF2-40B4-BE49-F238E27FC236}">
                <a16:creationId xmlns:a16="http://schemas.microsoft.com/office/drawing/2014/main" id="{75658143-5A58-47B9-87A7-22830D55CE00}"/>
              </a:ext>
            </a:extLst>
          </p:cNvPr>
          <p:cNvSpPr/>
          <p:nvPr>
            <p:custDataLst>
              <p:tags r:id="rId32"/>
            </p:custDataLst>
          </p:nvPr>
        </p:nvSpPr>
        <p:spPr bwMode="auto">
          <a:xfrm>
            <a:off x="4791869" y="4757698"/>
            <a:ext cx="717550" cy="18415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 xml:space="preserve">Transactions of other counterparties</a:t>
            </a:r>
            <a:endParaRPr lang="en-US" sz="600" noProof="0" dirty="0">
              <a:solidFill>
                <a:schemeClr val="tx1"/>
              </a:solidFill>
            </a:endParaRPr>
          </a:p>
        </p:txBody>
      </p:sp>
      <p:sp>
        <p:nvSpPr>
          <p:cNvPr id="201" name="Rectangle 200">
            <a:extLst>
              <a:ext uri="{FF2B5EF4-FFF2-40B4-BE49-F238E27FC236}">
                <a16:creationId xmlns:a16="http://schemas.microsoft.com/office/drawing/2014/main" id="{593AC763-C55E-4BBC-BC14-AE4ABF9F31E8}"/>
              </a:ext>
            </a:extLst>
          </p:cNvPr>
          <p:cNvSpPr/>
          <p:nvPr>
            <p:custDataLst>
              <p:tags r:id="rId33"/>
            </p:custDataLst>
          </p:nvPr>
        </p:nvSpPr>
        <p:spPr bwMode="auto">
          <a:xfrm>
            <a:off x="4787900" y="4925932"/>
            <a:ext cx="731838" cy="117038"/>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dirty="0">
                <a:solidFill>
                  <a:schemeClr val="tx1"/>
                </a:solidFill>
              </a:rPr>
              <a:t xml:space="preserve">Transaction potential with CL</a:t>
            </a:r>
            <a:r>
              <a:rPr lang="ru-RU" sz="600" noProof="0" dirty="0">
                <a:solidFill>
                  <a:schemeClr val="tx1"/>
                </a:solidFill>
              </a:rPr>
              <a:t/>
            </a:r>
            <a:endParaRPr lang="en-US" sz="600" noProof="0" dirty="0">
              <a:solidFill>
                <a:schemeClr val="tx1"/>
              </a:solidFill>
            </a:endParaRPr>
          </a:p>
        </p:txBody>
      </p:sp>
      <p:sp>
        <p:nvSpPr>
          <p:cNvPr id="194" name="Text Placeholder 39">
            <a:extLst>
              <a:ext uri="{FF2B5EF4-FFF2-40B4-BE49-F238E27FC236}">
                <a16:creationId xmlns:a16="http://schemas.microsoft.com/office/drawing/2014/main" id="{8E9F9382-CA1D-4A5E-A694-D1210DA470B6}"/>
              </a:ext>
            </a:extLst>
          </p:cNvPr>
          <p:cNvSpPr txBox="1">
            <a:spLocks/>
          </p:cNvSpPr>
          <p:nvPr/>
        </p:nvSpPr>
        <p:spPr>
          <a:xfrm>
            <a:off x="3995028" y="4801670"/>
            <a:ext cx="533800" cy="12311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800" b="1" noProof="0" dirty="0" smtClean="0">
                <a:solidFill>
                  <a:schemeClr val="accent1"/>
                </a:solidFill>
              </a:rPr>
              <a:t>3703 </a:t>
            </a:r>
            <a:r>
              <a:rPr lang="ru" sz="800" b="1" dirty="0" smtClean="0">
                <a:solidFill>
                  <a:schemeClr val="accent5">
                    <a:lumMod val="75000"/>
                    <a:lumOff val="25000"/>
                  </a:schemeClr>
                </a:solidFill>
              </a:rPr>
              <a:t>(78%)</a:t>
            </a:r>
            <a:endParaRPr lang="ru" sz="800" b="1" dirty="0">
              <a:solidFill>
                <a:schemeClr val="accent5">
                  <a:lumMod val="75000"/>
                  <a:lumOff val="25000"/>
                </a:schemeClr>
              </a:solidFill>
            </a:endParaRPr>
          </a:p>
        </p:txBody>
      </p:sp>
      <p:sp>
        <p:nvSpPr>
          <p:cNvPr id="195" name="Text Placeholder 39">
            <a:extLst>
              <a:ext uri="{FF2B5EF4-FFF2-40B4-BE49-F238E27FC236}">
                <a16:creationId xmlns:a16="http://schemas.microsoft.com/office/drawing/2014/main" id="{19CCA0B4-341E-407C-806D-0391B6AD8316}"/>
              </a:ext>
            </a:extLst>
          </p:cNvPr>
          <p:cNvSpPr txBox="1">
            <a:spLocks/>
          </p:cNvSpPr>
          <p:nvPr>
            <p:custDataLst>
              <p:tags r:id="rId34"/>
            </p:custDataLst>
          </p:nvPr>
        </p:nvSpPr>
        <p:spPr>
          <a:xfrm>
            <a:off x="3652838" y="3365420"/>
            <a:ext cx="694101" cy="1538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1000" noProof="0" dirty="0"/>
              <a:t xml:space="preserve">Transactions</a:t>
            </a:r>
          </a:p>
        </p:txBody>
      </p:sp>
      <p:sp>
        <p:nvSpPr>
          <p:cNvPr id="196" name="Text Placeholder 39">
            <a:extLst>
              <a:ext uri="{FF2B5EF4-FFF2-40B4-BE49-F238E27FC236}">
                <a16:creationId xmlns:a16="http://schemas.microsoft.com/office/drawing/2014/main" id="{3E271D0D-85C6-4E34-988C-04F3BC9D6016}"/>
              </a:ext>
            </a:extLst>
          </p:cNvPr>
          <p:cNvSpPr txBox="1">
            <a:spLocks/>
          </p:cNvSpPr>
          <p:nvPr>
            <p:custDataLst>
              <p:tags r:id="rId35"/>
            </p:custDataLst>
          </p:nvPr>
        </p:nvSpPr>
        <p:spPr>
          <a:xfrm>
            <a:off x="3482205" y="3819234"/>
            <a:ext cx="476092" cy="123111"/>
          </a:xfrm>
          <a:prstGeom prst="rect">
            <a:avLst/>
          </a:prstGeom>
          <a:solidFill>
            <a:schemeClr val="accent2">
              <a:lumMod val="20000"/>
              <a:lumOff val="80000"/>
            </a:schemeClr>
          </a:solidFill>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800" b="1" noProof="0" dirty="0" smtClean="0">
                <a:solidFill>
                  <a:schemeClr val="accent1"/>
                </a:solidFill>
              </a:rPr>
              <a:t>615 </a:t>
            </a:r>
            <a:r>
              <a:rPr lang="ru" sz="800" b="1" dirty="0">
                <a:solidFill>
                  <a:schemeClr val="accent5">
                    <a:lumMod val="75000"/>
                    <a:lumOff val="25000"/>
                  </a:schemeClr>
                </a:solidFill>
              </a:rPr>
              <a:t>(</a:t>
            </a:r>
            <a:r>
              <a:rPr lang="ru" sz="800" b="1" dirty="0" smtClean="0">
                <a:solidFill>
                  <a:schemeClr val="accent5">
                    <a:lumMod val="75000"/>
                    <a:lumOff val="25000"/>
                  </a:schemeClr>
                </a:solidFill>
              </a:rPr>
              <a:t>13%)</a:t>
            </a:r>
            <a:endParaRPr lang="ru" sz="800" b="1" dirty="0">
              <a:solidFill>
                <a:schemeClr val="accent5">
                  <a:lumMod val="75000"/>
                  <a:lumOff val="25000"/>
                </a:schemeClr>
              </a:solidFill>
            </a:endParaRPr>
          </a:p>
        </p:txBody>
      </p:sp>
      <p:sp>
        <p:nvSpPr>
          <p:cNvPr id="197" name="Text Placeholder 39">
            <a:extLst>
              <a:ext uri="{FF2B5EF4-FFF2-40B4-BE49-F238E27FC236}">
                <a16:creationId xmlns:a16="http://schemas.microsoft.com/office/drawing/2014/main" id="{4A55B36A-7138-4EE4-9E80-8ECAB438B3C5}"/>
              </a:ext>
            </a:extLst>
          </p:cNvPr>
          <p:cNvSpPr txBox="1">
            <a:spLocks/>
          </p:cNvSpPr>
          <p:nvPr/>
        </p:nvSpPr>
        <p:spPr>
          <a:xfrm>
            <a:off x="4250985" y="3748877"/>
            <a:ext cx="418384" cy="12311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800" b="1" noProof="0" dirty="0" smtClean="0">
                <a:solidFill>
                  <a:schemeClr val="accent1"/>
                </a:solidFill>
              </a:rPr>
              <a:t>452 </a:t>
            </a:r>
            <a:r>
              <a:rPr lang="ru" sz="800" b="1" dirty="0" smtClean="0">
                <a:solidFill>
                  <a:schemeClr val="accent5">
                    <a:lumMod val="75000"/>
                    <a:lumOff val="25000"/>
                  </a:schemeClr>
                </a:solidFill>
              </a:rPr>
              <a:t>(9%)</a:t>
            </a:r>
            <a:endParaRPr lang="ru" sz="800" b="1" dirty="0">
              <a:solidFill>
                <a:schemeClr val="accent5">
                  <a:lumMod val="75000"/>
                  <a:lumOff val="25000"/>
                </a:schemeClr>
              </a:solidFill>
            </a:endParaRPr>
          </a:p>
        </p:txBody>
      </p:sp>
      <p:sp>
        <p:nvSpPr>
          <p:cNvPr id="222" name="Rectangle 195">
            <a:extLst>
              <a:ext uri="{FF2B5EF4-FFF2-40B4-BE49-F238E27FC236}">
                <a16:creationId xmlns:a16="http://schemas.microsoft.com/office/drawing/2014/main" id="{2F65D3A7-5DB4-4765-843C-EC5B3260B844}"/>
              </a:ext>
            </a:extLst>
          </p:cNvPr>
          <p:cNvSpPr/>
          <p:nvPr/>
        </p:nvSpPr>
        <p:spPr>
          <a:xfrm>
            <a:off x="2028825" y="3567522"/>
            <a:ext cx="1231900" cy="123111"/>
          </a:xfrm>
          <a:prstGeom prst="rect">
            <a:avLst/>
          </a:prstGeom>
        </p:spPr>
        <p:txBody>
          <a:bodyPr wrap="none" lIns="0" tIns="0" rIns="0" bIns="0" rtlCol="0" anchor="t">
            <a:spAutoFit/>
          </a:bodyPr>
          <a:lstStyle/>
          <a:p>
            <a:pPr algn="ctr" rtl="0"/>
            <a:r>
              <a:rPr lang="ru" sz="800" i="1" noProof="0">
                <a:solidFill>
                  <a:schemeClr val="accent1"/>
                </a:solidFill>
              </a:rPr>
              <a:t xml:space="preserve">Special compliance regime</a:t>
            </a:r>
          </a:p>
        </p:txBody>
      </p:sp>
      <p:cxnSp>
        <p:nvCxnSpPr>
          <p:cNvPr id="224" name="Straight Connector 223">
            <a:extLst>
              <a:ext uri="{FF2B5EF4-FFF2-40B4-BE49-F238E27FC236}">
                <a16:creationId xmlns:a16="http://schemas.microsoft.com/office/drawing/2014/main" id="{5635D573-17B4-4D16-9709-7F283C04BEC1}"/>
              </a:ext>
            </a:extLst>
          </p:cNvPr>
          <p:cNvCxnSpPr/>
          <p:nvPr/>
        </p:nvCxnSpPr>
        <p:spPr>
          <a:xfrm>
            <a:off x="1109663" y="3753057"/>
            <a:ext cx="3070225" cy="0"/>
          </a:xfrm>
          <a:prstGeom prst="line">
            <a:avLst/>
          </a:pr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sp>
        <p:nvSpPr>
          <p:cNvPr id="225" name="Правая фигурная скобка 45">
            <a:extLst>
              <a:ext uri="{FF2B5EF4-FFF2-40B4-BE49-F238E27FC236}">
                <a16:creationId xmlns:a16="http://schemas.microsoft.com/office/drawing/2014/main" id="{5F497B50-9DD9-46CF-84D6-84004F78EDBA}"/>
              </a:ext>
            </a:extLst>
          </p:cNvPr>
          <p:cNvSpPr/>
          <p:nvPr/>
        </p:nvSpPr>
        <p:spPr>
          <a:xfrm>
            <a:off x="1754188" y="3783320"/>
            <a:ext cx="96838" cy="475226"/>
          </a:xfrm>
          <a:prstGeom prst="rightBrace">
            <a:avLst>
              <a:gd name="adj1" fmla="val 31760"/>
              <a:gd name="adj2" fmla="val 50000"/>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noProof="0" dirty="0"/>
          </a:p>
        </p:txBody>
      </p:sp>
      <p:sp>
        <p:nvSpPr>
          <p:cNvPr id="226" name="Rectangle 195">
            <a:extLst>
              <a:ext uri="{FF2B5EF4-FFF2-40B4-BE49-F238E27FC236}">
                <a16:creationId xmlns:a16="http://schemas.microsoft.com/office/drawing/2014/main" id="{B6CD4CAA-DBFA-482D-ABD6-A896E268EEF8}"/>
              </a:ext>
            </a:extLst>
          </p:cNvPr>
          <p:cNvSpPr/>
          <p:nvPr/>
        </p:nvSpPr>
        <p:spPr>
          <a:xfrm>
            <a:off x="1922463" y="3959378"/>
            <a:ext cx="872034" cy="123111"/>
          </a:xfrm>
          <a:prstGeom prst="rect">
            <a:avLst/>
          </a:prstGeom>
        </p:spPr>
        <p:txBody>
          <a:bodyPr wrap="none" lIns="0" tIns="0" rIns="0" bIns="0" rtlCol="0" anchor="ctr">
            <a:spAutoFit/>
          </a:bodyPr>
          <a:lstStyle/>
          <a:p>
            <a:pPr rtl="0"/>
            <a:r>
              <a:rPr lang="ru" sz="800" i="1" dirty="0" smtClean="0">
                <a:solidFill>
                  <a:schemeClr val="accent1"/>
                </a:solidFill>
              </a:rPr>
              <a:t xml:space="preserve">463 counterparties</a:t>
            </a:r>
            <a:r>
              <a:rPr lang="ru" sz="800" i="1" noProof="0" dirty="0" smtClean="0">
                <a:solidFill>
                  <a:schemeClr val="accent1"/>
                </a:solidFill>
              </a:rPr>
              <a:t/>
            </a:r>
            <a:endParaRPr lang="ru" sz="800" i="1" noProof="0" dirty="0">
              <a:solidFill>
                <a:schemeClr val="accent1"/>
              </a:solidFill>
            </a:endParaRPr>
          </a:p>
        </p:txBody>
      </p:sp>
      <p:cxnSp>
        <p:nvCxnSpPr>
          <p:cNvPr id="227" name="Straight Connector 226">
            <a:extLst>
              <a:ext uri="{FF2B5EF4-FFF2-40B4-BE49-F238E27FC236}">
                <a16:creationId xmlns:a16="http://schemas.microsoft.com/office/drawing/2014/main" id="{50B2C81A-9F7F-4EAB-AECB-FB04CF6EE787}"/>
              </a:ext>
            </a:extLst>
          </p:cNvPr>
          <p:cNvCxnSpPr>
            <a:cxnSpLocks/>
          </p:cNvCxnSpPr>
          <p:nvPr/>
        </p:nvCxnSpPr>
        <p:spPr>
          <a:xfrm>
            <a:off x="1558925" y="4541757"/>
            <a:ext cx="1974850" cy="0"/>
          </a:xfrm>
          <a:prstGeom prst="line">
            <a:avLst/>
          </a:prstGeom>
          <a:noFill/>
          <a:ln w="9525">
            <a:solidFill>
              <a:schemeClr val="accent4">
                <a:lumMod val="40000"/>
                <a:lumOff val="6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sp>
        <p:nvSpPr>
          <p:cNvPr id="230" name="Rectangle 203">
            <a:extLst>
              <a:ext uri="{FF2B5EF4-FFF2-40B4-BE49-F238E27FC236}">
                <a16:creationId xmlns:a16="http://schemas.microsoft.com/office/drawing/2014/main" id="{33A5CADE-05A8-4003-A0E5-7E8AA3C35D17}"/>
              </a:ext>
            </a:extLst>
          </p:cNvPr>
          <p:cNvSpPr/>
          <p:nvPr/>
        </p:nvSpPr>
        <p:spPr>
          <a:xfrm>
            <a:off x="1607190" y="4309447"/>
            <a:ext cx="1875015" cy="215444"/>
          </a:xfrm>
          <a:prstGeom prst="rect">
            <a:avLst/>
          </a:prstGeom>
        </p:spPr>
        <p:txBody>
          <a:bodyPr wrap="square" lIns="0" tIns="0" rIns="0" bIns="0" rtlCol="0" anchor="t">
            <a:spAutoFit/>
          </a:bodyPr>
          <a:lstStyle/>
          <a:p>
            <a:pPr algn="ctr" rtl="0">
              <a:spcAft>
                <a:spcPts val="300"/>
              </a:spcAft>
            </a:pPr>
            <a:r>
              <a:rPr lang="ru" sz="700" i="1" noProof="0" dirty="0"/>
              <a:t xml:space="preserve">According to the Compliance 2.2 System (Kazakhstan)</a:t>
            </a:r>
            <a:r>
              <a:rPr lang="en-US" sz="700" i="1" noProof="0" dirty="0"/>
              <a:t/>
            </a:r>
            <a:r>
              <a:rPr lang="ru" sz="700" i="1" noProof="0" dirty="0"/>
              <a:t/>
            </a:r>
          </a:p>
        </p:txBody>
      </p:sp>
      <p:cxnSp>
        <p:nvCxnSpPr>
          <p:cNvPr id="8" name="Straight Connector 7">
            <a:extLst>
              <a:ext uri="{FF2B5EF4-FFF2-40B4-BE49-F238E27FC236}">
                <a16:creationId xmlns:a16="http://schemas.microsoft.com/office/drawing/2014/main" id="{804B6078-25BE-0F63-2E34-B6FFFF32D9BB}"/>
              </a:ext>
            </a:extLst>
          </p:cNvPr>
          <p:cNvCxnSpPr>
            <a:cxnSpLocks/>
          </p:cNvCxnSpPr>
          <p:nvPr/>
        </p:nvCxnSpPr>
        <p:spPr>
          <a:xfrm>
            <a:off x="511115" y="2229141"/>
            <a:ext cx="1131862" cy="0"/>
          </a:xfrm>
          <a:prstGeom prst="line">
            <a:avLst/>
          </a:prstGeom>
          <a:ln w="15875">
            <a:solidFill>
              <a:schemeClr val="accent5">
                <a:lumMod val="75000"/>
                <a:lumOff val="25000"/>
              </a:schemeClr>
            </a:solidFill>
          </a:ln>
        </p:spPr>
        <p:style>
          <a:lnRef idx="3">
            <a:schemeClr val="accent1"/>
          </a:lnRef>
          <a:fillRef idx="0">
            <a:schemeClr val="accent1"/>
          </a:fillRef>
          <a:effectRef idx="2">
            <a:schemeClr val="accent1"/>
          </a:effectRef>
          <a:fontRef idx="minor">
            <a:schemeClr val="tx1"/>
          </a:fontRef>
        </p:style>
      </p:cxnSp>
      <p:sp>
        <p:nvSpPr>
          <p:cNvPr id="3" name="Text Placeholder 39">
            <a:extLst>
              <a:ext uri="{FF2B5EF4-FFF2-40B4-BE49-F238E27FC236}">
                <a16:creationId xmlns:a16="http://schemas.microsoft.com/office/drawing/2014/main" id="{869DDDFE-164B-5BAC-270B-B20864FDFDDD}"/>
              </a:ext>
            </a:extLst>
          </p:cNvPr>
          <p:cNvSpPr txBox="1">
            <a:spLocks/>
          </p:cNvSpPr>
          <p:nvPr/>
        </p:nvSpPr>
        <p:spPr>
          <a:xfrm>
            <a:off x="348342" y="1955041"/>
            <a:ext cx="1512723" cy="215444"/>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defTabSz="457200" rtl="0" eaLnBrk="1" fontAlgn="auto" latinLnBrk="0" hangingPunct="1">
              <a:lnSpc>
                <a:spcPct val="100000"/>
              </a:lnSpc>
              <a:spcBef>
                <a:spcPts val="0"/>
              </a:spcBef>
              <a:spcAft>
                <a:spcPts val="0"/>
              </a:spcAft>
              <a:buClrTx/>
              <a:buSzTx/>
              <a:buFontTx/>
              <a:buNone/>
              <a:tabLst/>
              <a:defRPr/>
            </a:pPr>
            <a:r>
              <a:rPr lang="ru" sz="1400" noProof="0" dirty="0" smtClean="0">
                <a:solidFill>
                  <a:srgbClr val="0080BC"/>
                </a:solidFill>
                <a:latin typeface="Arial" panose="020B0604020202020204"/>
              </a:rPr>
              <a:t xml:space="preserve">99.82% - 7 passes</a:t>
            </a:r>
            <a:r>
              <a:rPr lang="ru" noProof="0" dirty="0" smtClean="0">
                <a:solidFill>
                  <a:srgbClr val="0080BC"/>
                </a:solidFill>
                <a:latin typeface="Arial" panose="020B0604020202020204"/>
              </a:rPr>
              <a:t/>
            </a:r>
            <a:r>
              <a:rPr lang="ru" dirty="0">
                <a:solidFill>
                  <a:srgbClr val="0080BC"/>
                </a:solidFill>
                <a:latin typeface="Arial" panose="020B0604020202020204"/>
              </a:rPr>
              <a:t/>
            </a:r>
            <a:r>
              <a:rPr lang="ru" noProof="0" dirty="0" smtClean="0">
                <a:solidFill>
                  <a:schemeClr val="accent5">
                    <a:lumMod val="75000"/>
                    <a:lumOff val="25000"/>
                  </a:schemeClr>
                </a:solidFill>
                <a:latin typeface="Arial" panose="020B0604020202020204"/>
              </a:rPr>
              <a:t/>
            </a:r>
            <a:r>
              <a:rPr lang="ru" sz="1000" noProof="0" dirty="0" smtClean="0">
                <a:solidFill>
                  <a:schemeClr val="accent5">
                    <a:lumMod val="75000"/>
                    <a:lumOff val="25000"/>
                  </a:schemeClr>
                </a:solidFill>
                <a:latin typeface="Arial" panose="020B0604020202020204"/>
              </a:rPr>
              <a:t/>
            </a:r>
            <a:endParaRPr lang="ru" sz="1000" dirty="0">
              <a:solidFill>
                <a:srgbClr val="0080BC"/>
              </a:solidFill>
              <a:latin typeface="Arial" panose="020B0604020202020204"/>
            </a:endParaRPr>
          </a:p>
        </p:txBody>
      </p:sp>
      <p:grpSp>
        <p:nvGrpSpPr>
          <p:cNvPr id="98" name="Group 97">
            <a:extLst>
              <a:ext uri="{FF2B5EF4-FFF2-40B4-BE49-F238E27FC236}">
                <a16:creationId xmlns:a16="http://schemas.microsoft.com/office/drawing/2014/main" id="{4820DA8C-C7DA-4D0E-AFD3-16900924750B}"/>
              </a:ext>
            </a:extLst>
          </p:cNvPr>
          <p:cNvGrpSpPr/>
          <p:nvPr/>
        </p:nvGrpSpPr>
        <p:grpSpPr>
          <a:xfrm>
            <a:off x="485775" y="2257235"/>
            <a:ext cx="1125335" cy="662664"/>
            <a:chOff x="461125" y="2064597"/>
            <a:chExt cx="1149985" cy="662664"/>
          </a:xfrm>
        </p:grpSpPr>
        <p:sp>
          <p:nvSpPr>
            <p:cNvPr id="100" name="Text Placeholder 39">
              <a:extLst>
                <a:ext uri="{FF2B5EF4-FFF2-40B4-BE49-F238E27FC236}">
                  <a16:creationId xmlns:a16="http://schemas.microsoft.com/office/drawing/2014/main" id="{96A8DB20-3233-4D9A-9D50-47620B311A5B}"/>
                </a:ext>
              </a:extLst>
            </p:cNvPr>
            <p:cNvSpPr txBox="1">
              <a:spLocks/>
            </p:cNvSpPr>
            <p:nvPr/>
          </p:nvSpPr>
          <p:spPr>
            <a:xfrm>
              <a:off x="943459" y="2064597"/>
              <a:ext cx="131049" cy="276999"/>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1800" dirty="0">
                  <a:solidFill>
                    <a:schemeClr val="accent1"/>
                  </a:solidFill>
                </a:rPr>
                <a:t>2</a:t>
              </a:r>
            </a:p>
          </p:txBody>
        </p:sp>
        <p:sp>
          <p:nvSpPr>
            <p:cNvPr id="101" name="TextBox 100">
              <a:extLst>
                <a:ext uri="{FF2B5EF4-FFF2-40B4-BE49-F238E27FC236}">
                  <a16:creationId xmlns:a16="http://schemas.microsoft.com/office/drawing/2014/main" id="{8E3A9D9C-ABBD-4438-93CA-2BAAF619C116}"/>
                </a:ext>
              </a:extLst>
            </p:cNvPr>
            <p:cNvSpPr txBox="1"/>
            <p:nvPr/>
          </p:nvSpPr>
          <p:spPr>
            <a:xfrm>
              <a:off x="461125" y="2357929"/>
              <a:ext cx="1149985" cy="369332"/>
            </a:xfrm>
            <a:prstGeom prst="rect">
              <a:avLst/>
            </a:prstGeom>
            <a:noFill/>
          </p:spPr>
          <p:txBody>
            <a:bodyPr wrap="square" lIns="0" tIns="0" rIns="0" bIns="0" rtlCol="0">
              <a:spAutoFit/>
            </a:bodyPr>
            <a:lstStyle/>
            <a:p>
              <a:pPr algn="ctr" rtl="0"/>
              <a:r>
                <a:rPr lang="ru" sz="800" dirty="0">
                  <a:solidFill>
                    <a:schemeClr val="accent1"/>
                  </a:solidFill>
                </a:rPr>
                <a:t xml:space="preserve">Gaps identified in the previous period (Q3 2025)</a:t>
              </a:r>
              <a:r>
                <a:rPr lang="ru" sz="800" dirty="0" smtClean="0">
                  <a:solidFill>
                    <a:schemeClr val="accent1"/>
                  </a:solidFill>
                </a:rPr>
                <a:t/>
              </a:r>
              <a:r>
                <a:rPr lang="ru" sz="800" dirty="0">
                  <a:solidFill>
                    <a:schemeClr val="accent1"/>
                  </a:solidFill>
                </a:rPr>
                <a:t/>
              </a:r>
            </a:p>
          </p:txBody>
        </p:sp>
      </p:grpSp>
      <p:sp>
        <p:nvSpPr>
          <p:cNvPr id="97" name="Rectangle 90">
            <a:extLst>
              <a:ext uri="{FF2B5EF4-FFF2-40B4-BE49-F238E27FC236}">
                <a16:creationId xmlns:a16="http://schemas.microsoft.com/office/drawing/2014/main" id="{02DC1CC5-DF5F-4C1B-8AA8-EEA7DB620556}"/>
              </a:ext>
            </a:extLst>
          </p:cNvPr>
          <p:cNvSpPr/>
          <p:nvPr>
            <p:custDataLst>
              <p:tags r:id="rId36"/>
            </p:custDataLst>
          </p:nvPr>
        </p:nvSpPr>
        <p:spPr bwMode="gray">
          <a:xfrm>
            <a:off x="3302988" y="2024819"/>
            <a:ext cx="74289"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a:solidFill>
                  <a:schemeClr val="accent1"/>
                </a:solidFill>
              </a:rPr>
              <a:t>7</a:t>
            </a:r>
            <a:endParaRPr lang="en-US" sz="600" dirty="0">
              <a:solidFill>
                <a:schemeClr val="accent1"/>
              </a:solidFill>
            </a:endParaRPr>
          </a:p>
        </p:txBody>
      </p:sp>
      <p:sp>
        <p:nvSpPr>
          <p:cNvPr id="99" name="Rectangle 91">
            <a:extLst>
              <a:ext uri="{FF2B5EF4-FFF2-40B4-BE49-F238E27FC236}">
                <a16:creationId xmlns:a16="http://schemas.microsoft.com/office/drawing/2014/main" id="{94B1C761-9328-4F2E-A87E-0925B1E701FD}"/>
              </a:ext>
            </a:extLst>
          </p:cNvPr>
          <p:cNvSpPr/>
          <p:nvPr>
            <p:custDataLst>
              <p:tags r:id="rId37"/>
            </p:custDataLst>
          </p:nvPr>
        </p:nvSpPr>
        <p:spPr bwMode="auto">
          <a:xfrm>
            <a:off x="3307230" y="2138458"/>
            <a:ext cx="349435"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 xml:space="preserve">Reviewed</a:t>
            </a:r>
          </a:p>
          <a:p>
            <a:pPr rtl="0">
              <a:spcBef>
                <a:spcPct val="0"/>
              </a:spcBef>
              <a:spcAft>
                <a:spcPct val="0"/>
              </a:spcAft>
            </a:pPr>
            <a:r>
              <a:rPr lang="ru-RU" sz="600" noProof="0" dirty="0">
                <a:solidFill>
                  <a:schemeClr val="tx1"/>
                </a:solidFill>
              </a:rPr>
              <a:t xml:space="preserve">after the fact</a:t>
            </a:r>
            <a:endParaRPr lang="en-US" sz="600" noProof="0" dirty="0">
              <a:solidFill>
                <a:schemeClr val="tx1"/>
              </a:solidFill>
            </a:endParaRPr>
          </a:p>
        </p:txBody>
      </p:sp>
      <p:cxnSp>
        <p:nvCxnSpPr>
          <p:cNvPr id="16" name="Прямая соединительная линия 15"/>
          <p:cNvCxnSpPr/>
          <p:nvPr/>
        </p:nvCxnSpPr>
        <p:spPr>
          <a:xfrm>
            <a:off x="3126673" y="2368827"/>
            <a:ext cx="172822" cy="81596"/>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Прямая соединительная линия 17"/>
          <p:cNvCxnSpPr/>
          <p:nvPr/>
        </p:nvCxnSpPr>
        <p:spPr>
          <a:xfrm flipV="1">
            <a:off x="2258865" y="2400937"/>
            <a:ext cx="285828" cy="156821"/>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4" name="Прямая соединительная линия 23"/>
          <p:cNvCxnSpPr/>
          <p:nvPr/>
        </p:nvCxnSpPr>
        <p:spPr>
          <a:xfrm>
            <a:off x="2263537" y="1705861"/>
            <a:ext cx="672738" cy="197872"/>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0" name="Прямая соединительная линия 29"/>
          <p:cNvCxnSpPr/>
          <p:nvPr/>
        </p:nvCxnSpPr>
        <p:spPr>
          <a:xfrm flipV="1">
            <a:off x="3166470" y="1832428"/>
            <a:ext cx="133025" cy="485686"/>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32" name="Прямая соединительная линия 231"/>
          <p:cNvCxnSpPr>
            <a:endCxn id="99" idx="1"/>
          </p:cNvCxnSpPr>
          <p:nvPr/>
        </p:nvCxnSpPr>
        <p:spPr>
          <a:xfrm flipV="1">
            <a:off x="3166470" y="2191424"/>
            <a:ext cx="140760" cy="126690"/>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44" name="Прямая соединительная линия 243"/>
          <p:cNvCxnSpPr/>
          <p:nvPr/>
        </p:nvCxnSpPr>
        <p:spPr>
          <a:xfrm flipV="1">
            <a:off x="4403089" y="1975692"/>
            <a:ext cx="296421" cy="451"/>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46" name="Прямая соединительная линия 245"/>
          <p:cNvCxnSpPr/>
          <p:nvPr/>
        </p:nvCxnSpPr>
        <p:spPr>
          <a:xfrm flipH="1">
            <a:off x="4863830" y="1838789"/>
            <a:ext cx="534898" cy="64944"/>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48" name="Прямая соединительная линия 247"/>
          <p:cNvCxnSpPr>
            <a:endCxn id="105" idx="3"/>
          </p:cNvCxnSpPr>
          <p:nvPr/>
        </p:nvCxnSpPr>
        <p:spPr>
          <a:xfrm flipV="1">
            <a:off x="5254625" y="2234354"/>
            <a:ext cx="109264" cy="20432"/>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1" name="Прямоугольник 10"/>
          <p:cNvSpPr/>
          <p:nvPr/>
        </p:nvSpPr>
        <p:spPr>
          <a:xfrm>
            <a:off x="4113452" y="2654608"/>
            <a:ext cx="1172116" cy="184666"/>
          </a:xfrm>
          <a:prstGeom prst="rect">
            <a:avLst/>
          </a:prstGeom>
        </p:spPr>
        <p:txBody>
          <a:bodyPr wrap="none">
            <a:spAutoFit/>
          </a:bodyPr>
          <a:lstStyle/>
          <a:p>
            <a:r>
              <a:rPr lang="ru" sz="600" i="1" dirty="0"/>
              <a:t xml:space="preserve">excluding PDA “in operation”</a:t>
            </a:r>
            <a:endParaRPr lang="ru-RU" sz="600" i="1" dirty="0"/>
          </a:p>
        </p:txBody>
      </p:sp>
    </p:spTree>
    <p:extLst>
      <p:ext uri="{BB962C8B-B14F-4D97-AF65-F5344CB8AC3E}">
        <p14:creationId xmlns:p14="http://schemas.microsoft.com/office/powerpoint/2010/main" val="1867623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F3188-D0FD-448F-8036-3F6A88A84038}"/>
            </a:ext>
          </a:extLst>
        </p:cNvPr>
        <p:cNvGrpSpPr/>
        <p:nvPr/>
      </p:nvGrpSpPr>
      <p:grpSpPr>
        <a:xfrm>
          <a:off x="0" y="0"/>
          <a:ext cx="0" cy="0"/>
          <a:chOff x="0" y="0"/>
          <a:chExt cx="0" cy="0"/>
        </a:xfrm>
      </p:grpSpPr>
      <p:graphicFrame>
        <p:nvGraphicFramePr>
          <p:cNvPr id="63" name="think-cell data - do not delete" hidden="1">
            <a:extLst>
              <a:ext uri="{FF2B5EF4-FFF2-40B4-BE49-F238E27FC236}">
                <a16:creationId xmlns:a16="http://schemas.microsoft.com/office/drawing/2014/main" id="{87A300C9-BA6B-BFB2-30E8-8ED2C5AAF753}"/>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5240" name="think-cell Slide" r:id="rId11" imgW="473" imgH="473" progId="TCLayout.ActiveDocument.1">
                  <p:embed/>
                </p:oleObj>
              </mc:Choice>
              <mc:Fallback>
                <p:oleObj name="think-cell Slide" r:id="rId11" imgW="473" imgH="473" progId="TCLayout.ActiveDocument.1">
                  <p:embed/>
                  <p:pic>
                    <p:nvPicPr>
                      <p:cNvPr id="63" name="think-cell data - do not delete" hidden="1">
                        <a:extLst>
                          <a:ext uri="{FF2B5EF4-FFF2-40B4-BE49-F238E27FC236}">
                            <a16:creationId xmlns:a16="http://schemas.microsoft.com/office/drawing/2014/main" id="{87A300C9-BA6B-BFB2-30E8-8ED2C5AAF75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4BDCE1F-1E20-CC97-0C87-09832009EFFD}"/>
              </a:ext>
            </a:extLst>
          </p:cNvPr>
          <p:cNvSpPr>
            <a:spLocks noGrp="1"/>
          </p:cNvSpPr>
          <p:nvPr>
            <p:ph type="title"/>
          </p:nvPr>
        </p:nvSpPr>
        <p:spPr>
          <a:xfrm>
            <a:off x="317499" y="0"/>
            <a:ext cx="10584209" cy="704850"/>
          </a:xfrm>
        </p:spPr>
        <p:txBody>
          <a:bodyPr vert="horz" rtlCol="0"/>
          <a:lstStyle/>
          <a:p>
            <a:pPr rtl="0"/>
            <a:r>
              <a:rPr lang="ru" noProof="0" dirty="0" smtClean="0"/>
              <a:t>Дашборд </a:t>
            </a:r>
            <a:r>
              <a:rPr lang="ru" noProof="0" dirty="0"/>
              <a:t>за </a:t>
            </a:r>
            <a:r>
              <a:rPr lang="ru" dirty="0"/>
              <a:t>4</a:t>
            </a:r>
            <a:r>
              <a:rPr lang="ru" noProof="0" dirty="0" smtClean="0"/>
              <a:t> </a:t>
            </a:r>
            <a:r>
              <a:rPr lang="ru" noProof="0" dirty="0"/>
              <a:t>кв. 2025 г.: Управление рисками третьих сторон</a:t>
            </a:r>
            <a:r>
              <a:rPr lang="en-US" noProof="0" dirty="0">
                <a:solidFill>
                  <a:schemeClr val="tx1"/>
                </a:solidFill>
              </a:rPr>
              <a:t/>
            </a:r>
            <a:br>
              <a:rPr lang="en-US" noProof="0" dirty="0">
                <a:solidFill>
                  <a:schemeClr val="tx1"/>
                </a:solidFill>
              </a:rPr>
            </a:br>
            <a:r>
              <a:rPr lang="ru" noProof="0" dirty="0">
                <a:solidFill>
                  <a:schemeClr val="tx1"/>
                </a:solidFill>
              </a:rPr>
              <a:t>КСО – </a:t>
            </a:r>
            <a:r>
              <a:rPr lang="ru-RU" dirty="0">
                <a:solidFill>
                  <a:schemeClr val="tx1"/>
                </a:solidFill>
              </a:rPr>
              <a:t>Благотворительность</a:t>
            </a:r>
            <a:r>
              <a:rPr lang="ru" noProof="0" dirty="0">
                <a:solidFill>
                  <a:schemeClr val="tx1"/>
                </a:solidFill>
              </a:rPr>
              <a:t> и спонсорство (БиС)</a:t>
            </a:r>
          </a:p>
        </p:txBody>
      </p:sp>
      <p:sp>
        <p:nvSpPr>
          <p:cNvPr id="42" name="Text Placeholder 9">
            <a:extLst>
              <a:ext uri="{FF2B5EF4-FFF2-40B4-BE49-F238E27FC236}">
                <a16:creationId xmlns:a16="http://schemas.microsoft.com/office/drawing/2014/main" id="{E7A737E7-16B2-70CC-6D71-A7C62AFC8EA2}"/>
              </a:ext>
            </a:extLst>
          </p:cNvPr>
          <p:cNvSpPr txBox="1">
            <a:spLocks/>
          </p:cNvSpPr>
          <p:nvPr/>
        </p:nvSpPr>
        <p:spPr>
          <a:xfrm>
            <a:off x="317499" y="884801"/>
            <a:ext cx="5707064"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t xml:space="preserve">Data for the reporting period – 4th quarter. 2025</a:t>
            </a:r>
            <a:r>
              <a:rPr lang="ru" sz="1200" noProof="0" dirty="0" smtClean="0"/>
              <a:t/>
            </a:r>
            <a:endParaRPr lang="ru" sz="1200" noProof="0" dirty="0"/>
          </a:p>
        </p:txBody>
      </p:sp>
      <p:sp>
        <p:nvSpPr>
          <p:cNvPr id="43" name="Text Placeholder 9">
            <a:extLst>
              <a:ext uri="{FF2B5EF4-FFF2-40B4-BE49-F238E27FC236}">
                <a16:creationId xmlns:a16="http://schemas.microsoft.com/office/drawing/2014/main" id="{B313D168-CC34-9197-55F5-CB8FEB3D7B20}"/>
              </a:ext>
            </a:extLst>
          </p:cNvPr>
          <p:cNvSpPr txBox="1">
            <a:spLocks/>
          </p:cNvSpPr>
          <p:nvPr/>
        </p:nvSpPr>
        <p:spPr>
          <a:xfrm>
            <a:off x="6169421" y="884801"/>
            <a:ext cx="1803600"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solidFill>
                  <a:schemeClr val="accent5">
                    <a:lumMod val="75000"/>
                    <a:lumOff val="25000"/>
                  </a:schemeClr>
                </a:solidFill>
              </a:rPr>
              <a:t xml:space="preserve">Trends</a:t>
            </a:r>
          </a:p>
        </p:txBody>
      </p:sp>
      <p:sp>
        <p:nvSpPr>
          <p:cNvPr id="44" name="Text Placeholder 9">
            <a:extLst>
              <a:ext uri="{FF2B5EF4-FFF2-40B4-BE49-F238E27FC236}">
                <a16:creationId xmlns:a16="http://schemas.microsoft.com/office/drawing/2014/main" id="{1E385F33-AC0D-85CF-5D37-8AEBFAEF29C8}"/>
              </a:ext>
            </a:extLst>
          </p:cNvPr>
          <p:cNvSpPr txBox="1">
            <a:spLocks/>
          </p:cNvSpPr>
          <p:nvPr/>
        </p:nvSpPr>
        <p:spPr>
          <a:xfrm>
            <a:off x="8117879" y="884801"/>
            <a:ext cx="1803600"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smtClean="0">
                <a:solidFill>
                  <a:schemeClr val="accent5">
                    <a:lumMod val="75000"/>
                    <a:lumOff val="25000"/>
                  </a:schemeClr>
                </a:solidFill>
              </a:rPr>
              <a:t xml:space="preserve">Identified / realized risks</a:t>
            </a:r>
            <a:r>
              <a:rPr lang="en-US" sz="1200" noProof="0" dirty="0" smtClean="0">
                <a:solidFill>
                  <a:schemeClr val="accent5">
                    <a:lumMod val="75000"/>
                    <a:lumOff val="25000"/>
                  </a:schemeClr>
                </a:solidFill>
              </a:rPr>
              <a:t/>
            </a:r>
            <a:r>
              <a:rPr lang="ru" sz="1200" noProof="0" dirty="0">
                <a:solidFill>
                  <a:schemeClr val="accent5">
                    <a:lumMod val="75000"/>
                    <a:lumOff val="25000"/>
                  </a:schemeClr>
                </a:solidFill>
              </a:rPr>
              <a:t/>
            </a:r>
          </a:p>
        </p:txBody>
      </p:sp>
      <p:sp>
        <p:nvSpPr>
          <p:cNvPr id="45" name="Text Placeholder 9">
            <a:extLst>
              <a:ext uri="{FF2B5EF4-FFF2-40B4-BE49-F238E27FC236}">
                <a16:creationId xmlns:a16="http://schemas.microsoft.com/office/drawing/2014/main" id="{A9993838-C64E-7B11-0EB9-9D3D2E9B9B18}"/>
              </a:ext>
            </a:extLst>
          </p:cNvPr>
          <p:cNvSpPr txBox="1">
            <a:spLocks/>
          </p:cNvSpPr>
          <p:nvPr/>
        </p:nvSpPr>
        <p:spPr>
          <a:xfrm>
            <a:off x="10066338" y="884801"/>
            <a:ext cx="1804987"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solidFill>
                  <a:schemeClr val="accent5">
                    <a:lumMod val="75000"/>
                    <a:lumOff val="25000"/>
                  </a:schemeClr>
                </a:solidFill>
              </a:rPr>
              <a:t xml:space="preserve">Impact on GP 2025</a:t>
            </a:r>
            <a:r>
              <a:rPr lang="ru-RU" sz="1200" dirty="0">
                <a:solidFill>
                  <a:schemeClr val="accent5">
                    <a:lumMod val="75000"/>
                    <a:lumOff val="25000"/>
                  </a:schemeClr>
                </a:solidFill>
              </a:rPr>
              <a:t/>
            </a:r>
            <a:r>
              <a:rPr lang="ru" sz="1200" noProof="0" dirty="0">
                <a:solidFill>
                  <a:schemeClr val="accent5">
                    <a:lumMod val="75000"/>
                    <a:lumOff val="25000"/>
                  </a:schemeClr>
                </a:solidFill>
              </a:rPr>
              <a:t/>
            </a:r>
          </a:p>
          <a:p>
            <a:pPr rtl="0"/>
            <a:r>
              <a:rPr lang="ru" sz="1200" noProof="0" dirty="0">
                <a:solidFill>
                  <a:schemeClr val="accent5">
                    <a:lumMod val="75000"/>
                    <a:lumOff val="25000"/>
                  </a:schemeClr>
                </a:solidFill>
              </a:rPr>
              <a:t xml:space="preserve">(lessons learned)</a:t>
            </a:r>
          </a:p>
        </p:txBody>
      </p:sp>
      <p:sp>
        <p:nvSpPr>
          <p:cNvPr id="46" name="Rectangle: Rounded Corners 45">
            <a:extLst>
              <a:ext uri="{FF2B5EF4-FFF2-40B4-BE49-F238E27FC236}">
                <a16:creationId xmlns:a16="http://schemas.microsoft.com/office/drawing/2014/main" id="{2A69539A-E9D2-BC9C-15C4-D7901CB8A501}"/>
              </a:ext>
            </a:extLst>
          </p:cNvPr>
          <p:cNvSpPr/>
          <p:nvPr/>
        </p:nvSpPr>
        <p:spPr>
          <a:xfrm>
            <a:off x="6165322" y="1382721"/>
            <a:ext cx="1808162" cy="4921523"/>
          </a:xfrm>
          <a:prstGeom prst="roundRect">
            <a:avLst>
              <a:gd name="adj" fmla="val 8030"/>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72000" rtlCol="0" anchor="t"/>
          <a:lstStyle/>
          <a:p>
            <a:r>
              <a:rPr lang="ru-RU" sz="1000" b="1" dirty="0">
                <a:solidFill>
                  <a:schemeClr val="tx1"/>
                </a:solidFill>
              </a:rPr>
              <a:t xml:space="preserve">Q4 2025 vs Q3 2025</a:t>
            </a:r>
            <a:r>
              <a:rPr lang="ru" sz="1000" b="1" dirty="0">
                <a:solidFill>
                  <a:schemeClr val="tx1"/>
                </a:solidFill>
              </a:rPr>
              <a:t/>
            </a:r>
            <a:r>
              <a:rPr lang="en-US" sz="1000" b="1" i="1" dirty="0">
                <a:solidFill>
                  <a:schemeClr val="tx1"/>
                </a:solidFill>
              </a:rPr>
              <a:t/>
            </a:r>
            <a:r>
              <a:rPr lang="ru-RU" sz="1000" b="1" dirty="0">
                <a:solidFill>
                  <a:schemeClr val="tx1"/>
                </a:solidFill>
              </a:rPr>
              <a:t/>
            </a:r>
            <a:r>
              <a:rPr lang="ru" sz="1000" b="1" dirty="0">
                <a:solidFill>
                  <a:schemeClr val="tx1"/>
                </a:solidFill>
              </a:rPr>
              <a:t/>
            </a:r>
            <a:r>
              <a:rPr lang="en-US" sz="1000" b="1" dirty="0">
                <a:solidFill>
                  <a:schemeClr val="tx1"/>
                </a:solidFill>
              </a:rPr>
              <a:t/>
            </a:r>
            <a:r>
              <a:rPr lang="ru" sz="1000" b="1" dirty="0">
                <a:solidFill>
                  <a:schemeClr val="tx1"/>
                </a:solidFill>
              </a:rPr>
              <a:t/>
            </a:r>
          </a:p>
          <a:p>
            <a:pPr rtl="0"/>
            <a:endParaRPr lang="ru" sz="1000" b="1" noProof="0" dirty="0">
              <a:solidFill>
                <a:schemeClr val="tx1"/>
              </a:solidFill>
            </a:endParaRPr>
          </a:p>
          <a:p>
            <a:pPr marL="171450" indent="-171450">
              <a:spcBef>
                <a:spcPts val="600"/>
              </a:spcBef>
              <a:buClr>
                <a:schemeClr val="accent1"/>
              </a:buClr>
              <a:buFont typeface="Arial" panose="020B0604020202020204" pitchFamily="34" charset="0"/>
              <a:buChar char="•"/>
            </a:pPr>
            <a:r>
              <a:rPr lang="ru-RU" sz="1000" dirty="0">
                <a:solidFill>
                  <a:schemeClr val="tx1"/>
                </a:solidFill>
              </a:rPr>
              <a:t xml:space="preserve">During the 4 quarters of 2025, 244 projects were financed for a total amount of $38 million, including projects in 2024 for which payment was made this year.</a:t>
            </a:r>
            <a:endParaRPr lang="ru" sz="1000" dirty="0">
              <a:solidFill>
                <a:schemeClr val="tx1"/>
              </a:solidFill>
            </a:endParaRPr>
          </a:p>
          <a:p>
            <a:pPr marL="171450" indent="-171450">
              <a:spcBef>
                <a:spcPts val="600"/>
              </a:spcBef>
              <a:buClr>
                <a:schemeClr val="accent1"/>
              </a:buClr>
              <a:buFont typeface="Arial" panose="020B0604020202020204" pitchFamily="34" charset="0"/>
              <a:buChar char="•"/>
            </a:pPr>
            <a:r>
              <a:rPr lang="ru-RU" sz="1000" dirty="0">
                <a:solidFill>
                  <a:schemeClr val="tx1"/>
                </a:solidFill>
              </a:rPr>
              <a:t xml:space="preserve">59% ($38 million) of the planned budget ($64 million) has been used.</a:t>
            </a:r>
            <a:r>
              <a:rPr lang="en-US" sz="1000" dirty="0">
                <a:solidFill>
                  <a:schemeClr val="tx1"/>
                </a:solidFill>
              </a:rPr>
              <a:t/>
            </a:r>
            <a:r>
              <a:rPr lang="ru" sz="1000" dirty="0">
                <a:solidFill>
                  <a:schemeClr val="tx1"/>
                </a:solidFill>
              </a:rPr>
              <a:t/>
            </a:r>
            <a:r>
              <a:rPr lang="en-US" sz="1000" dirty="0">
                <a:solidFill>
                  <a:schemeClr val="tx1"/>
                </a:solidFill>
              </a:rPr>
              <a:t/>
            </a:r>
            <a:r>
              <a:rPr lang="ru-RU" sz="1000" dirty="0">
                <a:solidFill>
                  <a:schemeClr val="tx1"/>
                </a:solidFill>
              </a:rPr>
              <a:t/>
            </a:r>
            <a:r>
              <a:rPr lang="ru" sz="1000" dirty="0">
                <a:solidFill>
                  <a:schemeClr val="tx1"/>
                </a:solidFill>
              </a:rPr>
              <a:t/>
            </a:r>
            <a:r>
              <a:rPr lang="en-US" sz="1000" dirty="0">
                <a:solidFill>
                  <a:schemeClr val="tx1"/>
                </a:solidFill>
              </a:rPr>
              <a:t/>
            </a:r>
            <a:r>
              <a:rPr lang="ru-RU" sz="1000" dirty="0">
                <a:solidFill>
                  <a:schemeClr val="tx1"/>
                </a:solidFill>
              </a:rPr>
              <a:t/>
            </a:r>
            <a:r>
              <a:rPr lang="ru" sz="1000" dirty="0">
                <a:solidFill>
                  <a:schemeClr val="tx1"/>
                </a:solidFill>
              </a:rPr>
              <a:t/>
            </a:r>
            <a:r>
              <a:rPr lang="en-US" sz="1000" dirty="0">
                <a:solidFill>
                  <a:schemeClr val="tx1"/>
                </a:solidFill>
              </a:rPr>
              <a:t/>
            </a:r>
            <a:r>
              <a:rPr lang="ru" sz="1000" dirty="0">
                <a:solidFill>
                  <a:schemeClr val="tx1"/>
                </a:solidFill>
              </a:rPr>
              <a:t/>
            </a:r>
          </a:p>
          <a:p>
            <a:pPr marL="171450" indent="-171450">
              <a:spcBef>
                <a:spcPts val="600"/>
              </a:spcBef>
              <a:buClr>
                <a:schemeClr val="accent1"/>
              </a:buClr>
              <a:buFont typeface="Arial" panose="020B0604020202020204" pitchFamily="34" charset="0"/>
              <a:buChar char="•"/>
            </a:pPr>
            <a:r>
              <a:rPr lang="ru" sz="1000" dirty="0" smtClean="0">
                <a:solidFill>
                  <a:schemeClr val="tx1"/>
                </a:solidFill>
              </a:rPr>
              <a:t xml:space="preserve">During the reporting period, 3 significant projects for 2023-2025 remain under monitoring. (for a total amount of $353 thousand) and projects in 2019 due to identified risks (including financing without conducting a CCP, lack of reports on the intended use of funds).</a:t>
            </a:r>
            <a:r>
              <a:rPr lang="ru" sz="1000" dirty="0">
                <a:solidFill>
                  <a:schemeClr val="tx1"/>
                </a:solidFill>
              </a:rPr>
              <a:t/>
            </a:r>
            <a:r>
              <a:rPr lang="en-US" sz="1000" dirty="0">
                <a:solidFill>
                  <a:schemeClr val="tx1"/>
                </a:solidFill>
              </a:rPr>
              <a:t/>
            </a:r>
            <a:r>
              <a:rPr lang="ru" sz="1000" dirty="0">
                <a:solidFill>
                  <a:schemeClr val="tx1"/>
                </a:solidFill>
              </a:rPr>
              <a:t/>
            </a:r>
            <a:r>
              <a:rPr lang="en-US" sz="1000" dirty="0">
                <a:solidFill>
                  <a:schemeClr val="tx1"/>
                </a:solidFill>
              </a:rPr>
              <a:t/>
            </a:r>
            <a:r>
              <a:rPr lang="ru-RU" sz="1000" dirty="0">
                <a:solidFill>
                  <a:schemeClr val="tx1"/>
                </a:solidFill>
              </a:rPr>
              <a:t/>
            </a:r>
            <a:r>
              <a:rPr lang="ru" sz="1000" dirty="0">
                <a:solidFill>
                  <a:schemeClr val="tx1"/>
                </a:solidFill>
              </a:rPr>
              <a:t/>
            </a:r>
            <a:r>
              <a:rPr lang="ru-RU" sz="1000" dirty="0">
                <a:solidFill>
                  <a:schemeClr val="tx1"/>
                </a:solidFill>
              </a:rPr>
              <a:t/>
            </a:r>
            <a:r>
              <a:rPr lang="ru" sz="1000" dirty="0">
                <a:solidFill>
                  <a:schemeClr val="tx1"/>
                </a:solidFill>
              </a:rPr>
              <a:t/>
            </a:r>
          </a:p>
        </p:txBody>
      </p:sp>
      <p:sp>
        <p:nvSpPr>
          <p:cNvPr id="47" name="Rectangle: Rounded Corners 46">
            <a:extLst>
              <a:ext uri="{FF2B5EF4-FFF2-40B4-BE49-F238E27FC236}">
                <a16:creationId xmlns:a16="http://schemas.microsoft.com/office/drawing/2014/main" id="{C0679F35-7F20-B013-5D38-183EE6D6E4F1}"/>
              </a:ext>
            </a:extLst>
          </p:cNvPr>
          <p:cNvSpPr/>
          <p:nvPr/>
        </p:nvSpPr>
        <p:spPr>
          <a:xfrm>
            <a:off x="8118474" y="1382721"/>
            <a:ext cx="1803005" cy="4921523"/>
          </a:xfrm>
          <a:prstGeom prst="roundRect">
            <a:avLst>
              <a:gd name="adj" fmla="val 10098"/>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72000" rtlCol="0" anchor="t"/>
          <a:lstStyle/>
          <a:p>
            <a:pPr marL="171450" indent="-171450">
              <a:spcBef>
                <a:spcPts val="600"/>
              </a:spcBef>
              <a:buClr>
                <a:schemeClr val="accent1"/>
              </a:buClr>
              <a:buFont typeface="Arial" panose="020B0604020202020204" pitchFamily="34" charset="0"/>
              <a:buChar char="•"/>
            </a:pPr>
            <a:r>
              <a:rPr lang="ru-RU" sz="1000" dirty="0">
                <a:solidFill>
                  <a:schemeClr val="tx1"/>
                </a:solidFill>
              </a:rPr>
              <a:t xml:space="preserve">In 4th quarter no significant risks or new projects requiring special monitoring were identified.</a:t>
            </a:r>
          </a:p>
          <a:p>
            <a:pPr marL="171450" indent="-171450">
              <a:spcBef>
                <a:spcPts val="600"/>
              </a:spcBef>
              <a:buClr>
                <a:schemeClr val="accent1"/>
              </a:buClr>
              <a:buFont typeface="Arial" panose="020B0604020202020204" pitchFamily="34" charset="0"/>
              <a:buChar char="•"/>
            </a:pPr>
            <a:r>
              <a:rPr lang="ru-RU" sz="1000" dirty="0">
                <a:solidFill>
                  <a:schemeClr val="tx1"/>
                </a:solidFill>
              </a:rPr>
              <a:t xml:space="preserve">CPC passes for BIS projects in Q4. – not identified.</a:t>
            </a:r>
            <a:r>
              <a:rPr lang="ru-RU" sz="1000" dirty="0" err="1">
                <a:solidFill>
                  <a:schemeClr val="tx1"/>
                </a:solidFill>
              </a:rPr>
              <a:t/>
            </a:r>
            <a:r>
              <a:rPr lang="ru-RU" sz="1000" dirty="0">
                <a:solidFill>
                  <a:schemeClr val="tx1"/>
                </a:solidFill>
              </a:rPr>
              <a:t/>
            </a:r>
            <a:r>
              <a:rPr lang="ru-RU" sz="1000" dirty="0" smtClean="0">
                <a:solidFill>
                  <a:schemeClr val="tx1"/>
                </a:solidFill>
              </a:rPr>
              <a:t/>
            </a:r>
            <a:endParaRPr lang="en-US" sz="1000" dirty="0">
              <a:solidFill>
                <a:schemeClr val="tx1"/>
              </a:solidFill>
            </a:endParaRPr>
          </a:p>
          <a:p>
            <a:pPr marL="171450" indent="-171450" rtl="0">
              <a:buClr>
                <a:schemeClr val="accent1"/>
              </a:buClr>
              <a:buFont typeface="Arial" panose="020B0604020202020204" pitchFamily="34" charset="0"/>
              <a:buChar char="•"/>
            </a:pPr>
            <a:endParaRPr lang="en-US" sz="1000" noProof="0" dirty="0">
              <a:solidFill>
                <a:schemeClr val="tx1"/>
              </a:solidFill>
            </a:endParaRPr>
          </a:p>
          <a:p>
            <a:pPr marL="171450" indent="-171450" rtl="0">
              <a:buClr>
                <a:schemeClr val="accent1"/>
              </a:buClr>
              <a:buFont typeface="Arial" panose="020B0604020202020204" pitchFamily="34" charset="0"/>
              <a:buChar char="•"/>
            </a:pPr>
            <a:endParaRPr lang="en-US" sz="1000" dirty="0">
              <a:solidFill>
                <a:schemeClr val="tx1"/>
              </a:solidFill>
            </a:endParaRPr>
          </a:p>
          <a:p>
            <a:pPr marL="171450" indent="-171450" rtl="0">
              <a:buClr>
                <a:schemeClr val="accent1"/>
              </a:buClr>
              <a:buFont typeface="Arial" panose="020B0604020202020204" pitchFamily="34" charset="0"/>
              <a:buChar char="•"/>
            </a:pPr>
            <a:endParaRPr lang="en-US" sz="1000" noProof="0" dirty="0">
              <a:solidFill>
                <a:schemeClr val="tx1"/>
              </a:solidFill>
            </a:endParaRPr>
          </a:p>
          <a:p>
            <a:pPr marL="171450" indent="-171450" rtl="0">
              <a:buClr>
                <a:schemeClr val="accent1"/>
              </a:buClr>
              <a:buFont typeface="Arial" panose="020B0604020202020204" pitchFamily="34" charset="0"/>
              <a:buChar char="•"/>
            </a:pPr>
            <a:endParaRPr lang="en-US" sz="1000" dirty="0">
              <a:solidFill>
                <a:schemeClr val="tx1"/>
              </a:solidFill>
            </a:endParaRPr>
          </a:p>
          <a:p>
            <a:pPr marL="171450" indent="-171450" rtl="0">
              <a:buClr>
                <a:schemeClr val="accent1"/>
              </a:buClr>
              <a:buFont typeface="Arial" panose="020B0604020202020204" pitchFamily="34" charset="0"/>
              <a:buChar char="•"/>
            </a:pPr>
            <a:endParaRPr lang="en-US" sz="1000" noProof="0" dirty="0">
              <a:solidFill>
                <a:schemeClr val="tx1"/>
              </a:solidFill>
            </a:endParaRPr>
          </a:p>
          <a:p>
            <a:pPr marL="171450" indent="-171450" rtl="0">
              <a:buClr>
                <a:schemeClr val="accent1"/>
              </a:buClr>
              <a:buFont typeface="Arial" panose="020B0604020202020204" pitchFamily="34" charset="0"/>
              <a:buChar char="•"/>
            </a:pPr>
            <a:endParaRPr lang="en-US" sz="1000" noProof="0" dirty="0">
              <a:solidFill>
                <a:schemeClr val="tx1"/>
              </a:solidFill>
            </a:endParaRPr>
          </a:p>
        </p:txBody>
      </p:sp>
      <p:sp>
        <p:nvSpPr>
          <p:cNvPr id="48" name="Rectangle: Rounded Corners 47">
            <a:extLst>
              <a:ext uri="{FF2B5EF4-FFF2-40B4-BE49-F238E27FC236}">
                <a16:creationId xmlns:a16="http://schemas.microsoft.com/office/drawing/2014/main" id="{54A0346D-710C-6184-8F96-1F4267A03E2F}"/>
              </a:ext>
            </a:extLst>
          </p:cNvPr>
          <p:cNvSpPr/>
          <p:nvPr/>
        </p:nvSpPr>
        <p:spPr>
          <a:xfrm>
            <a:off x="10066337" y="1382721"/>
            <a:ext cx="1804987" cy="4921523"/>
          </a:xfrm>
          <a:prstGeom prst="roundRect">
            <a:avLst>
              <a:gd name="adj" fmla="val 6607"/>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72000" rtlCol="0" anchor="t"/>
          <a:lstStyle/>
          <a:p>
            <a:pPr>
              <a:spcBef>
                <a:spcPts val="600"/>
              </a:spcBef>
              <a:buClr>
                <a:schemeClr val="accent1"/>
              </a:buClr>
            </a:pPr>
            <a:r>
              <a:rPr lang="ru-RU" sz="1000" b="1" dirty="0">
                <a:solidFill>
                  <a:schemeClr val="tx1"/>
                </a:solidFill>
              </a:rPr>
              <a:t xml:space="preserve">No impact on GP</a:t>
            </a:r>
          </a:p>
          <a:p>
            <a:pPr>
              <a:spcBef>
                <a:spcPts val="600"/>
              </a:spcBef>
              <a:buClr>
                <a:schemeClr val="accent1"/>
              </a:buClr>
            </a:pPr>
            <a:r>
              <a:rPr lang="ru-RU" sz="1000" b="1" dirty="0">
                <a:solidFill>
                  <a:schemeClr val="tx1"/>
                </a:solidFill>
              </a:rPr>
              <a:t xml:space="preserve">Next steps</a:t>
            </a:r>
          </a:p>
          <a:p>
            <a:pPr marL="171450" indent="-171450">
              <a:spcBef>
                <a:spcPts val="300"/>
              </a:spcBef>
              <a:buClr>
                <a:schemeClr val="accent1"/>
              </a:buClr>
              <a:buFont typeface="Arial" panose="020B0604020202020204" pitchFamily="34" charset="0"/>
              <a:buChar char="•"/>
            </a:pPr>
            <a:r>
              <a:rPr lang="ru" sz="1000" dirty="0">
                <a:solidFill>
                  <a:schemeClr val="tx1"/>
                </a:solidFill>
              </a:rPr>
              <a:t xml:space="preserve">December 22, 2025 Compliance training was conducted on the principles and rules of the Policy for projects in the field of CSR and sponsorship. support and Perimeter BIS Regulations for members of the Perimeter BIS Commissions and other employees involved in the process, in accordance with the T&amp;A of the Program. In 2026, training will continue.</a:t>
            </a:r>
            <a:r>
              <a:rPr lang="ru-RU" sz="1000" dirty="0">
                <a:solidFill>
                  <a:schemeClr val="tx1"/>
                </a:solidFill>
              </a:rPr>
              <a:t/>
            </a:r>
            <a:r>
              <a:rPr lang="ru-RU" sz="1000" dirty="0" err="1">
                <a:solidFill>
                  <a:schemeClr val="tx1"/>
                </a:solidFill>
              </a:rPr>
              <a:t/>
            </a:r>
            <a:r>
              <a:rPr lang="ru-RU" sz="1000" dirty="0">
                <a:solidFill>
                  <a:schemeClr val="tx1"/>
                </a:solidFill>
              </a:rPr>
              <a:t/>
            </a:r>
            <a:r>
              <a:rPr lang="ru-RU" sz="1000" dirty="0" err="1">
                <a:solidFill>
                  <a:schemeClr val="tx1"/>
                </a:solidFill>
              </a:rPr>
              <a:t/>
            </a:r>
            <a:r>
              <a:rPr lang="ru-RU" sz="1000" dirty="0">
                <a:solidFill>
                  <a:schemeClr val="tx1"/>
                </a:solidFill>
              </a:rPr>
              <a:t/>
            </a:r>
            <a:r>
              <a:rPr lang="ru-RU" sz="1000" dirty="0" err="1">
                <a:solidFill>
                  <a:schemeClr val="tx1"/>
                </a:solidFill>
              </a:rPr>
              <a:t/>
            </a:r>
            <a:r>
              <a:rPr lang="ru-RU" sz="1000" dirty="0">
                <a:solidFill>
                  <a:schemeClr val="tx1"/>
                </a:solidFill>
              </a:rPr>
              <a:t/>
            </a:r>
            <a:r>
              <a:rPr lang="en-US" sz="1000" dirty="0">
                <a:solidFill>
                  <a:schemeClr val="tx1"/>
                </a:solidFill>
              </a:rPr>
              <a:t/>
            </a:r>
            <a:r>
              <a:rPr lang="ru-RU" sz="1000" dirty="0">
                <a:solidFill>
                  <a:schemeClr val="tx1"/>
                </a:solidFill>
              </a:rPr>
              <a:t/>
            </a:r>
            <a:r>
              <a:rPr lang="ru-RU" sz="1000" dirty="0" smtClean="0">
                <a:solidFill>
                  <a:schemeClr val="tx1"/>
                </a:solidFill>
              </a:rPr>
              <a:t/>
            </a:r>
            <a:endParaRPr lang="ru-RU" sz="1000" dirty="0">
              <a:solidFill>
                <a:schemeClr val="tx1"/>
              </a:solidFill>
            </a:endParaRPr>
          </a:p>
          <a:p>
            <a:pPr marL="171450" indent="-171450">
              <a:spcBef>
                <a:spcPts val="300"/>
              </a:spcBef>
              <a:buClr>
                <a:schemeClr val="accent1"/>
              </a:buClr>
              <a:buFont typeface="Arial" panose="020B0604020202020204" pitchFamily="34" charset="0"/>
              <a:buChar char="•"/>
            </a:pPr>
            <a:r>
              <a:rPr lang="ru-RU" sz="1000" dirty="0" smtClean="0">
                <a:solidFill>
                  <a:schemeClr val="tx1"/>
                </a:solidFill>
              </a:rPr>
              <a:t>Разработан и внедрен новый формат дашборда </a:t>
            </a:r>
            <a:r>
              <a:rPr lang="ru-RU" sz="1000" dirty="0">
                <a:solidFill>
                  <a:schemeClr val="tx1"/>
                </a:solidFill>
              </a:rPr>
              <a:t>по КСО </a:t>
            </a:r>
            <a:r>
              <a:rPr lang="ru-RU" sz="1000" dirty="0" smtClean="0">
                <a:solidFill>
                  <a:schemeClr val="tx1"/>
                </a:solidFill>
              </a:rPr>
              <a:t>Периметра. </a:t>
            </a:r>
            <a:r>
              <a:rPr lang="ru-RU" sz="1000" dirty="0">
                <a:solidFill>
                  <a:schemeClr val="tx1"/>
                </a:solidFill>
              </a:rPr>
              <a:t/>
            </a:r>
            <a:br>
              <a:rPr lang="ru-RU" sz="1000" dirty="0">
                <a:solidFill>
                  <a:schemeClr val="tx1"/>
                </a:solidFill>
              </a:rPr>
            </a:br>
            <a:r>
              <a:rPr lang="ru-RU" sz="1000" dirty="0">
                <a:solidFill>
                  <a:schemeClr val="tx1"/>
                </a:solidFill>
              </a:rPr>
              <a:t>Запланировано внесение изменений в Регламент по БИС Периметра согласно задач </a:t>
            </a:r>
            <a:r>
              <a:rPr lang="ru-RU" sz="1000" dirty="0" smtClean="0">
                <a:solidFill>
                  <a:schemeClr val="tx1"/>
                </a:solidFill>
              </a:rPr>
              <a:t>Годовой Комплаенс Программы Периметра на 2026 г. </a:t>
            </a:r>
            <a:endParaRPr lang="en-US" sz="1000" noProof="0" dirty="0">
              <a:solidFill>
                <a:schemeClr val="tx1"/>
              </a:solidFill>
            </a:endParaRPr>
          </a:p>
        </p:txBody>
      </p:sp>
      <p:sp>
        <p:nvSpPr>
          <p:cNvPr id="49" name="Rectangle: Rounded Corners 48">
            <a:extLst>
              <a:ext uri="{FF2B5EF4-FFF2-40B4-BE49-F238E27FC236}">
                <a16:creationId xmlns:a16="http://schemas.microsoft.com/office/drawing/2014/main" id="{43E144D5-4C3C-07CB-8CA3-DFFFC9A554C8}"/>
              </a:ext>
            </a:extLst>
          </p:cNvPr>
          <p:cNvSpPr/>
          <p:nvPr/>
        </p:nvSpPr>
        <p:spPr>
          <a:xfrm>
            <a:off x="317499" y="1382720"/>
            <a:ext cx="5707064" cy="2889287"/>
          </a:xfrm>
          <a:prstGeom prst="roundRect">
            <a:avLst>
              <a:gd name="adj" fmla="val 8983"/>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p:txBody>
      </p:sp>
      <p:sp>
        <p:nvSpPr>
          <p:cNvPr id="50" name="Rectangle: Rounded Corners 49">
            <a:extLst>
              <a:ext uri="{FF2B5EF4-FFF2-40B4-BE49-F238E27FC236}">
                <a16:creationId xmlns:a16="http://schemas.microsoft.com/office/drawing/2014/main" id="{980851A2-BBB9-D73F-171E-A0117B76535D}"/>
              </a:ext>
            </a:extLst>
          </p:cNvPr>
          <p:cNvSpPr/>
          <p:nvPr/>
        </p:nvSpPr>
        <p:spPr>
          <a:xfrm>
            <a:off x="317500" y="4349092"/>
            <a:ext cx="5707063" cy="1955152"/>
          </a:xfrm>
          <a:prstGeom prst="roundRect">
            <a:avLst>
              <a:gd name="adj" fmla="val 7628"/>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900" b="1" noProof="0" dirty="0">
                <a:solidFill>
                  <a:schemeClr val="tx1"/>
                </a:solidFill>
              </a:rPr>
              <a:t xml:space="preserve">Status – Significant Projects</a:t>
            </a:r>
            <a:endParaRPr lang="en-US" sz="900" b="1" noProof="0" dirty="0">
              <a:solidFill>
                <a:schemeClr val="tx1"/>
              </a:solidFill>
            </a:endParaRPr>
          </a:p>
          <a:p>
            <a:pPr rtl="0"/>
            <a:endParaRPr lang="en-US" sz="900" b="1" noProof="0" dirty="0">
              <a:solidFill>
                <a:schemeClr val="tx1"/>
              </a:solidFill>
            </a:endParaRPr>
          </a:p>
        </p:txBody>
      </p:sp>
      <p:sp>
        <p:nvSpPr>
          <p:cNvPr id="52" name="TextBox 51">
            <a:extLst>
              <a:ext uri="{FF2B5EF4-FFF2-40B4-BE49-F238E27FC236}">
                <a16:creationId xmlns:a16="http://schemas.microsoft.com/office/drawing/2014/main" id="{C3EBD890-06C8-BC77-7C53-BE1165657403}"/>
              </a:ext>
            </a:extLst>
          </p:cNvPr>
          <p:cNvSpPr txBox="1"/>
          <p:nvPr/>
        </p:nvSpPr>
        <p:spPr>
          <a:xfrm>
            <a:off x="365624" y="1509361"/>
            <a:ext cx="2074617" cy="400110"/>
          </a:xfrm>
          <a:prstGeom prst="rect">
            <a:avLst/>
          </a:prstGeom>
          <a:noFill/>
        </p:spPr>
        <p:txBody>
          <a:bodyPr wrap="square" rtlCol="0">
            <a:spAutoFit/>
          </a:bodyPr>
          <a:lstStyle/>
          <a:p>
            <a:pPr algn="ctr" rtl="0"/>
            <a:r>
              <a:rPr lang="ru" sz="1000" b="1" noProof="0" dirty="0"/>
              <a:t xml:space="preserve">Annual budget for CSR</a:t>
            </a:r>
            <a:r>
              <a:rPr lang="ru-RU" sz="1000" b="1" dirty="0"/>
              <a:t/>
            </a:r>
            <a:r>
              <a:rPr lang="ru" sz="1000" b="1" noProof="0" dirty="0"/>
              <a:t/>
            </a:r>
          </a:p>
          <a:p>
            <a:pPr algn="ctr" rtl="0"/>
            <a:r>
              <a:rPr lang="ru" sz="1000" b="1" noProof="0" dirty="0"/>
              <a:t xml:space="preserve">($ million and its use)</a:t>
            </a:r>
            <a:r>
              <a:rPr lang="ru-RU" sz="1000" b="1" noProof="0" dirty="0" smtClean="0"/>
              <a:t/>
            </a:r>
            <a:r>
              <a:rPr lang="ru" sz="1000" b="1" noProof="0" dirty="0" smtClean="0"/>
              <a:t/>
            </a:r>
            <a:endParaRPr lang="ru" sz="1000" b="1" noProof="0" dirty="0"/>
          </a:p>
        </p:txBody>
      </p:sp>
      <p:sp>
        <p:nvSpPr>
          <p:cNvPr id="53" name="TextBox 52">
            <a:extLst>
              <a:ext uri="{FF2B5EF4-FFF2-40B4-BE49-F238E27FC236}">
                <a16:creationId xmlns:a16="http://schemas.microsoft.com/office/drawing/2014/main" id="{8C74526F-F0E1-8F64-8D85-6F60B8935F6C}"/>
              </a:ext>
            </a:extLst>
          </p:cNvPr>
          <p:cNvSpPr txBox="1"/>
          <p:nvPr/>
        </p:nvSpPr>
        <p:spPr>
          <a:xfrm>
            <a:off x="640443" y="2554719"/>
            <a:ext cx="1484780" cy="400110"/>
          </a:xfrm>
          <a:prstGeom prst="rect">
            <a:avLst/>
          </a:prstGeom>
          <a:noFill/>
        </p:spPr>
        <p:txBody>
          <a:bodyPr wrap="square" rtlCol="0">
            <a:spAutoFit/>
          </a:bodyPr>
          <a:lstStyle/>
          <a:p>
            <a:pPr algn="ctr">
              <a:spcAft>
                <a:spcPts val="300"/>
              </a:spcAft>
            </a:pPr>
            <a:r>
              <a:rPr lang="ru-RU" sz="1000" b="1" dirty="0"/>
              <a:t xml:space="preserve">Projects for the period (2025)</a:t>
            </a:r>
            <a:r>
              <a:rPr lang="ru" sz="1000" b="1" noProof="0" dirty="0"/>
              <a:t/>
            </a:r>
          </a:p>
        </p:txBody>
      </p:sp>
      <p:sp>
        <p:nvSpPr>
          <p:cNvPr id="54" name="TextBox 53">
            <a:extLst>
              <a:ext uri="{FF2B5EF4-FFF2-40B4-BE49-F238E27FC236}">
                <a16:creationId xmlns:a16="http://schemas.microsoft.com/office/drawing/2014/main" id="{6B5015D7-6284-F411-9768-A8E9405FE5DE}"/>
              </a:ext>
            </a:extLst>
          </p:cNvPr>
          <p:cNvSpPr txBox="1"/>
          <p:nvPr/>
        </p:nvSpPr>
        <p:spPr>
          <a:xfrm>
            <a:off x="2567948" y="1509361"/>
            <a:ext cx="2620069" cy="246221"/>
          </a:xfrm>
          <a:prstGeom prst="rect">
            <a:avLst/>
          </a:prstGeom>
          <a:noFill/>
        </p:spPr>
        <p:txBody>
          <a:bodyPr wrap="square" rtlCol="0">
            <a:spAutoFit/>
          </a:bodyPr>
          <a:lstStyle/>
          <a:p>
            <a:pPr algn="ctr" rtl="0"/>
            <a:r>
              <a:rPr lang="ru" sz="1000" b="1" noProof="0" dirty="0"/>
              <a:t xml:space="preserve">Project status – current year ($ million)</a:t>
            </a:r>
          </a:p>
        </p:txBody>
      </p:sp>
      <p:graphicFrame>
        <p:nvGraphicFramePr>
          <p:cNvPr id="66" name="Chart 65">
            <a:extLst>
              <a:ext uri="{FF2B5EF4-FFF2-40B4-BE49-F238E27FC236}">
                <a16:creationId xmlns:a16="http://schemas.microsoft.com/office/drawing/2014/main" id="{9A395AFC-E3F2-5E18-07C0-A00C1335D98E}"/>
              </a:ext>
            </a:extLst>
          </p:cNvPr>
          <p:cNvGraphicFramePr/>
          <p:nvPr>
            <p:custDataLst>
              <p:tags r:id="rId3"/>
            </p:custDataLst>
            <p:extLst>
              <p:ext uri="{D42A27DB-BD31-4B8C-83A1-F6EECF244321}">
                <p14:modId xmlns:p14="http://schemas.microsoft.com/office/powerpoint/2010/main" val="3206618328"/>
              </p:ext>
            </p:extLst>
          </p:nvPr>
        </p:nvGraphicFramePr>
        <p:xfrm>
          <a:off x="640443" y="3033758"/>
          <a:ext cx="1546209" cy="1229139"/>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77" name="Table 76">
            <a:extLst>
              <a:ext uri="{FF2B5EF4-FFF2-40B4-BE49-F238E27FC236}">
                <a16:creationId xmlns:a16="http://schemas.microsoft.com/office/drawing/2014/main" id="{7B0921A5-036C-1AAC-4CA0-3EC7D5485D47}"/>
              </a:ext>
            </a:extLst>
          </p:cNvPr>
          <p:cNvGraphicFramePr>
            <a:graphicFrameLocks noGrp="1"/>
          </p:cNvGraphicFramePr>
          <p:nvPr>
            <p:extLst>
              <p:ext uri="{D42A27DB-BD31-4B8C-83A1-F6EECF244321}">
                <p14:modId xmlns:p14="http://schemas.microsoft.com/office/powerpoint/2010/main" val="1779081479"/>
              </p:ext>
            </p:extLst>
          </p:nvPr>
        </p:nvGraphicFramePr>
        <p:xfrm>
          <a:off x="365624" y="4585260"/>
          <a:ext cx="5665319" cy="1750877"/>
        </p:xfrm>
        <a:graphic>
          <a:graphicData uri="http://schemas.openxmlformats.org/drawingml/2006/table">
            <a:tbl>
              <a:tblPr firstRow="1" bandRow="1">
                <a:tableStyleId>{5C22544A-7EE6-4342-B048-85BDC9FD1C3A}</a:tableStyleId>
              </a:tblPr>
              <a:tblGrid>
                <a:gridCol w="1358401">
                  <a:extLst>
                    <a:ext uri="{9D8B030D-6E8A-4147-A177-3AD203B41FA5}">
                      <a16:colId xmlns:a16="http://schemas.microsoft.com/office/drawing/2014/main" val="3085055012"/>
                    </a:ext>
                  </a:extLst>
                </a:gridCol>
                <a:gridCol w="590493">
                  <a:extLst>
                    <a:ext uri="{9D8B030D-6E8A-4147-A177-3AD203B41FA5}">
                      <a16:colId xmlns:a16="http://schemas.microsoft.com/office/drawing/2014/main" val="3114654595"/>
                    </a:ext>
                  </a:extLst>
                </a:gridCol>
                <a:gridCol w="756000">
                  <a:extLst>
                    <a:ext uri="{9D8B030D-6E8A-4147-A177-3AD203B41FA5}">
                      <a16:colId xmlns:a16="http://schemas.microsoft.com/office/drawing/2014/main" val="367449626"/>
                    </a:ext>
                  </a:extLst>
                </a:gridCol>
                <a:gridCol w="2960425">
                  <a:extLst>
                    <a:ext uri="{9D8B030D-6E8A-4147-A177-3AD203B41FA5}">
                      <a16:colId xmlns:a16="http://schemas.microsoft.com/office/drawing/2014/main" val="2928140346"/>
                    </a:ext>
                  </a:extLst>
                </a:gridCol>
              </a:tblGrid>
              <a:tr h="277943">
                <a:tc>
                  <a:txBody>
                    <a:bodyPr/>
                    <a:lstStyle/>
                    <a:p>
                      <a:pPr rtl="0"/>
                      <a:r>
                        <a:rPr lang="ru" sz="500" b="0" noProof="0">
                          <a:solidFill>
                            <a:schemeClr val="accent1"/>
                          </a:solidFill>
                        </a:rPr>
                        <a:t xml:space="preserve">Project</a:t>
                      </a:r>
                    </a:p>
                  </a:txBody>
                  <a:tcPr marL="0" marR="72000" marT="36000" marB="36000" anchor="b">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 sz="500" b="0" kern="1200" noProof="0" dirty="0">
                          <a:solidFill>
                            <a:schemeClr val="accent1"/>
                          </a:solidFill>
                          <a:latin typeface="+mn-lt"/>
                          <a:ea typeface="+mn-ea"/>
                          <a:cs typeface="+mn-cs"/>
                        </a:rPr>
                        <a:t xml:space="preserve">Planned closing year and $ million</a:t>
                      </a:r>
                    </a:p>
                  </a:txBody>
                  <a:tcPr marL="0" marR="72000" marT="36000" marB="36000" anchor="b">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 sz="500" b="0" noProof="0">
                          <a:solidFill>
                            <a:schemeClr val="accent1"/>
                          </a:solidFill>
                        </a:rPr>
                        <a:t>Благополучатель</a:t>
                      </a:r>
                      <a:r>
                        <a:rPr lang="en-US" sz="500" b="0" noProof="0" dirty="0">
                          <a:solidFill>
                            <a:schemeClr val="accent1"/>
                          </a:solidFill>
                        </a:rPr>
                        <a:t/>
                      </a:r>
                      <a:br>
                        <a:rPr lang="en-US" sz="500" b="0" noProof="0" dirty="0">
                          <a:solidFill>
                            <a:schemeClr val="accent1"/>
                          </a:solidFill>
                        </a:rPr>
                      </a:br>
                      <a:r>
                        <a:rPr lang="ru" sz="500" b="0" noProof="0">
                          <a:solidFill>
                            <a:schemeClr val="accent1"/>
                          </a:solidFill>
                        </a:rPr>
                        <a:t>(тип, название)</a:t>
                      </a:r>
                    </a:p>
                  </a:txBody>
                  <a:tcPr marL="72000" marR="72000" marT="36000" marB="36000" anchor="b">
                    <a:lnL w="12700" cmpd="sng">
                      <a:noFill/>
                    </a:lnL>
                    <a:lnR w="12700" cmpd="sng">
                      <a:noFill/>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 sz="500" b="0" noProof="0">
                          <a:solidFill>
                            <a:schemeClr val="accent1"/>
                          </a:solidFill>
                        </a:rPr>
                        <a:t xml:space="preserve">Key control measures (see Appendix “CSR and C Control Measures”)</a:t>
                      </a:r>
                    </a:p>
                  </a:txBody>
                  <a:tcPr marL="72000" marR="72000" marT="36000" marB="36000" anchor="b">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0475509"/>
                  </a:ext>
                </a:extLst>
              </a:tr>
              <a:tr h="429049">
                <a:tc>
                  <a:txBody>
                    <a:bodyPr/>
                    <a:lstStyle/>
                    <a:p>
                      <a:pPr marL="0" marR="0" lvl="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a:pPr>
                      <a:r>
                        <a:rPr lang="ru-RU" sz="500" dirty="0">
                          <a:solidFill>
                            <a:schemeClr val="tx1"/>
                          </a:solidFill>
                          <a:latin typeface="+mn-lt"/>
                        </a:rPr>
                        <a:t xml:space="preserve">Closed</a:t>
                      </a:r>
                    </a:p>
                    <a:p>
                      <a:pPr marL="87313" marR="0" lvl="0" indent="-87313"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500" b="0" kern="1200" baseline="0" dirty="0">
                          <a:solidFill>
                            <a:schemeClr val="tx1"/>
                          </a:solidFill>
                          <a:latin typeface="+mn-lt"/>
                          <a:ea typeface="+mn-ea"/>
                          <a:cs typeface="+mn-cs"/>
                        </a:rPr>
                        <a:t xml:space="preserve">Financing of social and economic development activities in the region - $214 thousand.</a:t>
                      </a:r>
                      <a:r>
                        <a:rPr lang="ru" sz="500" b="0" kern="1200" baseline="0" noProof="0" dirty="0">
                          <a:solidFill>
                            <a:schemeClr val="tx1"/>
                          </a:solidFill>
                          <a:latin typeface="+mn-lt"/>
                          <a:ea typeface="+mn-ea"/>
                          <a:cs typeface="+mn-cs"/>
                        </a:rPr>
                        <a:t/>
                      </a:r>
                      <a:endParaRPr lang="ru-RU" sz="500" b="0" kern="1200" baseline="0" dirty="0">
                        <a:solidFill>
                          <a:schemeClr val="tx1"/>
                        </a:solidFill>
                        <a:latin typeface="+mn-lt"/>
                        <a:ea typeface="+mn-ea"/>
                        <a:cs typeface="+mn-cs"/>
                      </a:endParaRPr>
                    </a:p>
                  </a:txBody>
                  <a:tcPr marL="0" marR="72000" marT="36000" marB="36000">
                    <a:lnL w="9525" cap="flat" cmpd="sng" algn="ctr">
                      <a:noFill/>
                      <a:prstDash val="solid"/>
                      <a:round/>
                      <a:headEnd type="none" w="med" len="med"/>
                      <a:tailEnd type="none" w="med" len="med"/>
                    </a:lnL>
                    <a:lnR w="12700" cmpd="sng">
                      <a:noFill/>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ru" sz="500" kern="1200" noProof="0" dirty="0">
                          <a:solidFill>
                            <a:schemeClr val="tx1"/>
                          </a:solidFill>
                          <a:latin typeface="+mn-lt"/>
                          <a:ea typeface="+mn-ea"/>
                          <a:cs typeface="+mn-cs"/>
                        </a:rPr>
                        <a:t xml:space="preserve">2023 – $214 thousand.</a:t>
                      </a:r>
                    </a:p>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ru" sz="500" kern="1200" noProof="0" dirty="0">
                          <a:solidFill>
                            <a:schemeClr val="tx1"/>
                          </a:solidFill>
                          <a:latin typeface="+mn-lt"/>
                          <a:ea typeface="+mn-ea"/>
                          <a:cs typeface="+mn-cs"/>
                        </a:rPr>
                        <a:t> </a:t>
                      </a:r>
                    </a:p>
                  </a:txBody>
                  <a:tcPr marL="0" marR="72000" marT="36000" marB="36000">
                    <a:lnL w="9525" cap="flat" cmpd="sng" algn="ctr">
                      <a:noFill/>
                      <a:prstDash val="solid"/>
                      <a:round/>
                      <a:headEnd type="none" w="med" len="med"/>
                      <a:tailEnd type="none" w="med" len="med"/>
                    </a:lnL>
                    <a:lnR w="12700" cmpd="sng">
                      <a:noFill/>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583170" rtl="0" eaLnBrk="1" latinLnBrk="0" hangingPunct="1">
                        <a:buClr>
                          <a:schemeClr val="accent1"/>
                        </a:buClr>
                        <a:buFont typeface="Arial" panose="020B0604020202020204" pitchFamily="34" charset="0"/>
                        <a:buNone/>
                      </a:pPr>
                      <a:r>
                        <a:rPr lang="ru-RU" sz="500" b="0" u="none" strike="noStrike" kern="1200" dirty="0">
                          <a:solidFill>
                            <a:schemeClr val="tx1"/>
                          </a:solidFill>
                          <a:effectLst/>
                          <a:latin typeface="+mn-lt"/>
                          <a:ea typeface="+mn-ea"/>
                          <a:cs typeface="+mn-cs"/>
                        </a:rPr>
                        <a:t xml:space="preserve">OF OBAHAN-2023</a:t>
                      </a:r>
                    </a:p>
                  </a:txBody>
                  <a:tcPr marL="72000" marR="72000" marT="36000" marB="36000">
                    <a:lnL w="12700" cmpd="sng">
                      <a:noFill/>
                    </a:lnL>
                    <a:lnR w="12700" cmpd="sng">
                      <a:noFill/>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indent="-88900" algn="just">
                        <a:buFont typeface="Arial" panose="020B0604020202020204" pitchFamily="34" charset="0"/>
                        <a:buChar char="•"/>
                      </a:pPr>
                      <a:r>
                        <a:rPr lang="ru-RU" sz="500" dirty="0">
                          <a:solidFill>
                            <a:schemeClr val="tx1"/>
                          </a:solidFill>
                          <a:latin typeface="+mn-lt"/>
                        </a:rPr>
                        <a:t xml:space="preserve">Signed by the CFO of Perimeter, a letter was sent to the Enterprise about the prevention of such violations and the need for strict compliance with the GNI, incl. Policies for projects in the field of CSR and sponsorship, Regulations on BIS and CCP of Perimeter.</a:t>
                      </a:r>
                      <a:r>
                        <a:rPr lang="ru-RU" sz="500" baseline="0" dirty="0">
                          <a:solidFill>
                            <a:schemeClr val="tx1"/>
                          </a:solidFill>
                          <a:latin typeface="+mn-lt"/>
                        </a:rPr>
                        <a:t/>
                      </a:r>
                    </a:p>
                  </a:txBody>
                  <a:tcPr marL="36000" marR="36000" marT="36000" marB="36000">
                    <a:lnL w="12700" cmpd="sng">
                      <a:noFill/>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9104410"/>
                  </a:ext>
                </a:extLst>
              </a:tr>
              <a:tr h="348400">
                <a:tc>
                  <a:txBody>
                    <a:bodyPr/>
                    <a:lstStyle/>
                    <a:p>
                      <a:pPr marL="0" marR="0" lvl="0" indent="0"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None/>
                        <a:tabLst/>
                        <a:defRPr/>
                      </a:pPr>
                      <a:r>
                        <a:rPr lang="ru-RU" sz="500" b="0" baseline="0" dirty="0">
                          <a:solidFill>
                            <a:schemeClr val="tx1"/>
                          </a:solidFill>
                          <a:latin typeface="+mn-lt"/>
                        </a:rPr>
                        <a:t xml:space="preserve">Open</a:t>
                      </a:r>
                    </a:p>
                    <a:p>
                      <a:pPr marL="87313" marR="0" lvl="0" indent="-87313"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500" b="0" kern="1200" baseline="0" dirty="0">
                          <a:solidFill>
                            <a:schemeClr val="tx1"/>
                          </a:solidFill>
                          <a:latin typeface="+mn-lt"/>
                          <a:ea typeface="+mn-ea"/>
                          <a:cs typeface="+mn-cs"/>
                        </a:rPr>
                        <a:t xml:space="preserve">Charitable assistance for the implementation of statutory goals - $78 thousand.</a:t>
                      </a:r>
                      <a:r>
                        <a:rPr lang="ru" sz="500" b="0" kern="1200" baseline="0" noProof="0" dirty="0">
                          <a:solidFill>
                            <a:schemeClr val="tx1"/>
                          </a:solidFill>
                          <a:latin typeface="+mn-lt"/>
                          <a:ea typeface="+mn-ea"/>
                          <a:cs typeface="+mn-cs"/>
                        </a:rPr>
                        <a:t/>
                      </a:r>
                      <a:r>
                        <a:rPr lang="en-US" sz="500" b="0" kern="1200" baseline="0" dirty="0">
                          <a:solidFill>
                            <a:schemeClr val="tx1"/>
                          </a:solidFill>
                          <a:latin typeface="+mn-lt"/>
                          <a:ea typeface="+mn-ea"/>
                          <a:cs typeface="+mn-cs"/>
                        </a:rPr>
                        <a:t/>
                      </a:r>
                      <a:r>
                        <a:rPr lang="ru-RU" sz="500" b="0" kern="1200" baseline="0" dirty="0">
                          <a:solidFill>
                            <a:schemeClr val="tx1"/>
                          </a:solidFill>
                          <a:latin typeface="+mn-lt"/>
                          <a:ea typeface="+mn-ea"/>
                          <a:cs typeface="+mn-cs"/>
                        </a:rPr>
                        <a:t/>
                      </a:r>
                      <a:endParaRPr lang="en-US" sz="500" b="0" kern="1200" baseline="0" dirty="0">
                        <a:solidFill>
                          <a:schemeClr val="tx1"/>
                        </a:solidFill>
                        <a:latin typeface="+mn-lt"/>
                        <a:ea typeface="+mn-ea"/>
                        <a:cs typeface="+mn-cs"/>
                      </a:endParaRPr>
                    </a:p>
                    <a:p>
                      <a:pPr marL="0" marR="0" lvl="0" indent="92075"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endParaRPr lang="ru-RU" sz="500" b="0" u="none" strike="noStrike" kern="1200" dirty="0">
                        <a:solidFill>
                          <a:schemeClr val="tx1"/>
                        </a:solidFill>
                        <a:effectLst/>
                        <a:latin typeface="+mn-lt"/>
                        <a:ea typeface="+mn-ea"/>
                        <a:cs typeface="+mn-cs"/>
                      </a:endParaRPr>
                    </a:p>
                  </a:txBody>
                  <a:tcPr marL="0" marR="72000" marT="36000" marB="36000">
                    <a:lnL w="9525" cap="flat" cmpd="sng" algn="ctr">
                      <a:noFill/>
                      <a:prstDash val="solid"/>
                      <a:round/>
                      <a:headEnd type="none" w="med" len="med"/>
                      <a:tailEnd type="none" w="med" len="med"/>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 typeface="Arial" panose="020B0604020202020204" pitchFamily="34" charset="0"/>
                        <a:buNone/>
                        <a:tabLst/>
                        <a:defRPr/>
                      </a:pPr>
                      <a:r>
                        <a:rPr lang="ru" sz="500" kern="1200" noProof="0" dirty="0">
                          <a:solidFill>
                            <a:schemeClr val="tx1"/>
                          </a:solidFill>
                          <a:latin typeface="+mn-lt"/>
                          <a:ea typeface="+mn-ea"/>
                          <a:cs typeface="+mn-cs"/>
                        </a:rPr>
                        <a:t xml:space="preserve">2025 – $78 thousand.</a:t>
                      </a:r>
                      <a:r>
                        <a:rPr lang="en-US" sz="500" b="0" u="none" strike="noStrike" kern="1200" dirty="0">
                          <a:solidFill>
                            <a:schemeClr val="tx1"/>
                          </a:solidFill>
                          <a:effectLst/>
                          <a:latin typeface="+mn-lt"/>
                          <a:ea typeface="+mn-ea"/>
                          <a:cs typeface="+mn-cs"/>
                        </a:rPr>
                        <a:t/>
                      </a:r>
                      <a:r>
                        <a:rPr lang="ru-RU" sz="500" b="0" u="none" strike="noStrike" kern="1200" dirty="0">
                          <a:solidFill>
                            <a:schemeClr val="tx1"/>
                          </a:solidFill>
                          <a:effectLst/>
                          <a:latin typeface="+mn-lt"/>
                          <a:ea typeface="+mn-ea"/>
                          <a:cs typeface="+mn-cs"/>
                        </a:rPr>
                        <a:t/>
                      </a:r>
                    </a:p>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endParaRPr lang="ru" sz="500" kern="1200" noProof="0" dirty="0">
                        <a:solidFill>
                          <a:schemeClr val="tx1"/>
                        </a:solidFill>
                        <a:latin typeface="+mn-lt"/>
                        <a:ea typeface="+mn-ea"/>
                        <a:cs typeface="+mn-cs"/>
                      </a:endParaRPr>
                    </a:p>
                  </a:txBody>
                  <a:tcPr marL="0" marR="72000" marT="36000" marB="36000">
                    <a:lnL w="9525" cap="flat" cmpd="sng" algn="ctr">
                      <a:noFill/>
                      <a:prstDash val="solid"/>
                      <a:round/>
                      <a:headEnd type="none" w="med" len="med"/>
                      <a:tailEnd type="none" w="med" len="med"/>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ru-RU" sz="500" b="0" u="none" strike="noStrike" kern="1200" dirty="0">
                          <a:solidFill>
                            <a:schemeClr val="tx1"/>
                          </a:solidFill>
                          <a:effectLst/>
                          <a:latin typeface="+mn-lt"/>
                          <a:ea typeface="+mn-ea"/>
                          <a:cs typeface="+mn-cs"/>
                        </a:rPr>
                        <a:t xml:space="preserve">Black Sea Fleet Charitable Foundation named after K. Tokayev</a:t>
                      </a:r>
                      <a:r>
                        <a:rPr lang="ru-RU" sz="500" b="0" u="none" strike="noStrike" kern="1200" dirty="0" err="1">
                          <a:solidFill>
                            <a:schemeClr val="tx1"/>
                          </a:solidFill>
                          <a:effectLst/>
                          <a:latin typeface="+mn-lt"/>
                          <a:ea typeface="+mn-ea"/>
                          <a:cs typeface="+mn-cs"/>
                        </a:rPr>
                        <a:t/>
                      </a:r>
                      <a:endParaRPr lang="en-US" sz="500" kern="1200" noProof="0" dirty="0">
                        <a:solidFill>
                          <a:schemeClr val="tx1"/>
                        </a:solidFill>
                        <a:latin typeface="+mn-lt"/>
                        <a:ea typeface="+mn-ea"/>
                        <a:cs typeface="+mn-cs"/>
                      </a:endParaRPr>
                    </a:p>
                  </a:txBody>
                  <a:tcPr marL="72000" marR="72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indent="-88900" algn="just">
                        <a:buFont typeface="Arial" panose="020B0604020202020204" pitchFamily="34" charset="0"/>
                        <a:buChar char="•"/>
                      </a:pPr>
                      <a:r>
                        <a:rPr lang="ru-RU" sz="500" b="0" dirty="0">
                          <a:solidFill>
                            <a:schemeClr val="tx1"/>
                          </a:solidFill>
                          <a:latin typeface="+mn-lt"/>
                        </a:rPr>
                        <a:t xml:space="preserve">Notification to the CEO of the Enterprise/division about the missed CPC and the importance of timely initiation of the CPC - sent on 04/11/2025.</a:t>
                      </a:r>
                    </a:p>
                    <a:p>
                      <a:pPr marL="88900" indent="-88900" algn="just">
                        <a:buFont typeface="Arial" panose="020B0604020202020204" pitchFamily="34" charset="0"/>
                        <a:buChar char="•"/>
                      </a:pPr>
                      <a:r>
                        <a:rPr lang="ru-RU" sz="500" b="0" dirty="0" smtClean="0">
                          <a:solidFill>
                            <a:schemeClr val="tx1"/>
                          </a:solidFill>
                          <a:latin typeface="+mn-lt"/>
                        </a:rPr>
                        <a:t xml:space="preserve">12/22/2025 Training was conducted for initiators on the principles and rules of the CCP.</a:t>
                      </a:r>
                      <a:r>
                        <a:rPr lang="ru-RU" sz="500" b="0" baseline="0" dirty="0" smtClean="0">
                          <a:solidFill>
                            <a:schemeClr val="tx1"/>
                          </a:solidFill>
                          <a:latin typeface="+mn-lt"/>
                        </a:rPr>
                        <a:t/>
                      </a:r>
                      <a:r>
                        <a:rPr lang="ru-RU" sz="500" b="0" dirty="0" smtClean="0">
                          <a:solidFill>
                            <a:schemeClr val="tx1"/>
                          </a:solidFill>
                          <a:latin typeface="+mn-lt"/>
                        </a:rPr>
                        <a:t/>
                      </a:r>
                      <a:r>
                        <a:rPr lang="ru-RU" sz="500" b="0" dirty="0">
                          <a:solidFill>
                            <a:schemeClr val="tx1"/>
                          </a:solidFill>
                          <a:latin typeface="+mn-lt"/>
                        </a:rPr>
                        <a:t/>
                      </a:r>
                      <a:r>
                        <a:rPr lang="ru-RU" sz="500" b="0" dirty="0" smtClean="0">
                          <a:solidFill>
                            <a:schemeClr val="tx1"/>
                          </a:solidFill>
                          <a:latin typeface="+mn-lt"/>
                        </a:rPr>
                        <a:t/>
                      </a:r>
                      <a:r>
                        <a:rPr lang="ru-RU" sz="500" b="0" baseline="0" dirty="0" smtClean="0">
                          <a:solidFill>
                            <a:schemeClr val="tx1"/>
                          </a:solidFill>
                          <a:latin typeface="+mn-lt"/>
                        </a:rPr>
                        <a:t/>
                      </a:r>
                    </a:p>
                    <a:p>
                      <a:pPr marL="88900" indent="-88900" algn="just">
                        <a:buFont typeface="Arial" panose="020B0604020202020204" pitchFamily="34" charset="0"/>
                        <a:buChar char="•"/>
                      </a:pPr>
                      <a:r>
                        <a:rPr lang="ru-RU" sz="500" b="0" baseline="0" dirty="0" smtClean="0">
                          <a:solidFill>
                            <a:schemeClr val="tx1"/>
                          </a:solidFill>
                          <a:latin typeface="+mn-lt"/>
                        </a:rPr>
                        <a:t xml:space="preserve">The issue of reporting is under control</a:t>
                      </a:r>
                      <a:endParaRPr lang="ru-RU" sz="500" b="0" dirty="0">
                        <a:solidFill>
                          <a:schemeClr val="tx1"/>
                        </a:solidFill>
                        <a:latin typeface="+mn-lt"/>
                      </a:endParaRPr>
                    </a:p>
                  </a:txBody>
                  <a:tcPr marL="36000" marR="36000" marT="36000" marB="36000">
                    <a:lnL w="12700" cmpd="sng">
                      <a:noFill/>
                    </a:lnL>
                    <a:lnR w="9525"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0447285"/>
                  </a:ext>
                </a:extLst>
              </a:tr>
              <a:tr h="644428">
                <a:tc>
                  <a:txBody>
                    <a:bodyPr/>
                    <a:lstStyle/>
                    <a:p>
                      <a:pPr marL="0" marR="0" lvl="0" indent="0"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None/>
                        <a:tabLst/>
                        <a:defRPr/>
                      </a:pPr>
                      <a:r>
                        <a:rPr lang="ru-RU" sz="500" b="0" baseline="0" dirty="0">
                          <a:solidFill>
                            <a:schemeClr val="tx1"/>
                          </a:solidFill>
                          <a:latin typeface="+mn-lt"/>
                        </a:rPr>
                        <a:t xml:space="preserve">Open</a:t>
                      </a:r>
                    </a:p>
                    <a:p>
                      <a:pPr marL="87313" marR="0" lvl="0" indent="-87313"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500" b="0" kern="1200" baseline="0" dirty="0">
                          <a:solidFill>
                            <a:schemeClr val="tx1"/>
                          </a:solidFill>
                          <a:latin typeface="+mn-lt"/>
                          <a:ea typeface="+mn-ea"/>
                          <a:cs typeface="+mn-cs"/>
                        </a:rPr>
                        <a:t xml:space="preserve">Within the framework provided in 2024 BIS was financed for statutory purposes. mat. assistance to the family of a child injured in an attack in Astana in February. 2025, seriously stabbed - $61 thousand.</a:t>
                      </a:r>
                      <a:r>
                        <a:rPr lang="ru-RU" sz="500" b="0" kern="1200" baseline="0" dirty="0" err="1">
                          <a:solidFill>
                            <a:schemeClr val="tx1"/>
                          </a:solidFill>
                          <a:latin typeface="+mn-lt"/>
                          <a:ea typeface="+mn-ea"/>
                          <a:cs typeface="+mn-cs"/>
                        </a:rPr>
                        <a:t/>
                      </a:r>
                      <a:r>
                        <a:rPr lang="ru-RU" sz="500" b="0" kern="1200" baseline="0" dirty="0">
                          <a:solidFill>
                            <a:schemeClr val="tx1"/>
                          </a:solidFill>
                          <a:latin typeface="+mn-lt"/>
                          <a:ea typeface="+mn-ea"/>
                          <a:cs typeface="+mn-cs"/>
                        </a:rPr>
                        <a:t/>
                      </a:r>
                      <a:r>
                        <a:rPr lang="ru-RU" sz="500" b="0" kern="1200" baseline="0" dirty="0" err="1">
                          <a:solidFill>
                            <a:schemeClr val="tx1"/>
                          </a:solidFill>
                          <a:latin typeface="+mn-lt"/>
                          <a:ea typeface="+mn-ea"/>
                          <a:cs typeface="+mn-cs"/>
                        </a:rPr>
                        <a:t/>
                      </a:r>
                      <a:r>
                        <a:rPr lang="ru-RU" sz="500" b="0" kern="1200" baseline="0" dirty="0">
                          <a:solidFill>
                            <a:schemeClr val="tx1"/>
                          </a:solidFill>
                          <a:latin typeface="+mn-lt"/>
                          <a:ea typeface="+mn-ea"/>
                          <a:cs typeface="+mn-cs"/>
                        </a:rPr>
                        <a:t/>
                      </a:r>
                      <a:r>
                        <a:rPr lang="ru" sz="500" b="0" kern="1200" baseline="0" noProof="0" dirty="0">
                          <a:solidFill>
                            <a:schemeClr val="tx1"/>
                          </a:solidFill>
                          <a:latin typeface="+mn-lt"/>
                          <a:ea typeface="+mn-ea"/>
                          <a:cs typeface="+mn-cs"/>
                        </a:rPr>
                        <a:t/>
                      </a:r>
                      <a:r>
                        <a:rPr lang="en-US" sz="500" b="0" kern="1200" baseline="0" dirty="0">
                          <a:solidFill>
                            <a:schemeClr val="tx1"/>
                          </a:solidFill>
                          <a:latin typeface="+mn-lt"/>
                          <a:ea typeface="+mn-ea"/>
                          <a:cs typeface="+mn-cs"/>
                        </a:rPr>
                        <a:t/>
                      </a:r>
                      <a:r>
                        <a:rPr lang="ru-RU" sz="500" b="0" kern="1200" baseline="0" dirty="0">
                          <a:solidFill>
                            <a:schemeClr val="tx1"/>
                          </a:solidFill>
                          <a:latin typeface="+mn-lt"/>
                          <a:ea typeface="+mn-ea"/>
                          <a:cs typeface="+mn-cs"/>
                        </a:rPr>
                        <a:t/>
                      </a:r>
                      <a:r>
                        <a:rPr lang="en-US" sz="500" b="0" kern="1200" baseline="0" dirty="0">
                          <a:solidFill>
                            <a:schemeClr val="tx1"/>
                          </a:solidFill>
                          <a:latin typeface="+mn-lt"/>
                          <a:ea typeface="+mn-ea"/>
                          <a:cs typeface="+mn-cs"/>
                        </a:rPr>
                        <a:t/>
                      </a:r>
                      <a:r>
                        <a:rPr lang="ru-RU" sz="500" b="0" kern="1200" baseline="0" dirty="0">
                          <a:solidFill>
                            <a:schemeClr val="tx1"/>
                          </a:solidFill>
                          <a:latin typeface="+mn-lt"/>
                          <a:ea typeface="+mn-ea"/>
                          <a:cs typeface="+mn-cs"/>
                        </a:rPr>
                        <a:t/>
                      </a:r>
                    </a:p>
                  </a:txBody>
                  <a:tcPr marL="0" marR="72000" marT="36000" marB="36000">
                    <a:lnL w="9525" cap="flat" cmpd="sng" algn="ctr">
                      <a:noFill/>
                      <a:prstDash val="solid"/>
                      <a:round/>
                      <a:headEnd type="none" w="med" len="med"/>
                      <a:tailEnd type="none" w="med" len="med"/>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 typeface="Arial" panose="020B0604020202020204" pitchFamily="34" charset="0"/>
                        <a:buNone/>
                        <a:tabLst/>
                        <a:defRPr/>
                      </a:pPr>
                      <a:r>
                        <a:rPr lang="ru" sz="500" kern="1200" noProof="0" dirty="0">
                          <a:solidFill>
                            <a:schemeClr val="tx1"/>
                          </a:solidFill>
                          <a:latin typeface="+mn-lt"/>
                          <a:ea typeface="+mn-ea"/>
                          <a:cs typeface="+mn-cs"/>
                        </a:rPr>
                        <a:t xml:space="preserve">2025 - $61 thousand</a:t>
                      </a:r>
                      <a:r>
                        <a:rPr lang="en-US" sz="500" b="0" u="none" strike="noStrike" kern="1200" dirty="0">
                          <a:solidFill>
                            <a:schemeClr val="tx1"/>
                          </a:solidFill>
                          <a:effectLst/>
                          <a:latin typeface="+mn-lt"/>
                          <a:ea typeface="+mn-ea"/>
                          <a:cs typeface="+mn-cs"/>
                        </a:rPr>
                        <a:t/>
                      </a:r>
                      <a:r>
                        <a:rPr lang="ru-RU" sz="500" b="0" u="none" strike="noStrike" kern="1200" dirty="0">
                          <a:solidFill>
                            <a:schemeClr val="tx1"/>
                          </a:solidFill>
                          <a:effectLst/>
                          <a:latin typeface="+mn-lt"/>
                          <a:ea typeface="+mn-ea"/>
                          <a:cs typeface="+mn-cs"/>
                        </a:rPr>
                        <a:t/>
                      </a:r>
                      <a:r>
                        <a:rPr lang="en-US" sz="500" b="0" u="none" strike="noStrike" kern="1200" dirty="0">
                          <a:solidFill>
                            <a:schemeClr val="tx1"/>
                          </a:solidFill>
                          <a:effectLst/>
                          <a:latin typeface="+mn-lt"/>
                          <a:ea typeface="+mn-ea"/>
                          <a:cs typeface="+mn-cs"/>
                        </a:rPr>
                        <a:t/>
                      </a:r>
                      <a:r>
                        <a:rPr lang="ru-RU" sz="500" b="0" u="none" strike="noStrike" kern="1200" dirty="0">
                          <a:solidFill>
                            <a:schemeClr val="tx1"/>
                          </a:solidFill>
                          <a:effectLst/>
                          <a:latin typeface="+mn-lt"/>
                          <a:ea typeface="+mn-ea"/>
                          <a:cs typeface="+mn-cs"/>
                        </a:rPr>
                        <a:t/>
                      </a:r>
                    </a:p>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endParaRPr lang="ru" sz="500" kern="1200" noProof="0" dirty="0">
                        <a:solidFill>
                          <a:schemeClr val="tx1"/>
                        </a:solidFill>
                        <a:latin typeface="+mn-lt"/>
                        <a:ea typeface="+mn-ea"/>
                        <a:cs typeface="+mn-cs"/>
                      </a:endParaRPr>
                    </a:p>
                  </a:txBody>
                  <a:tcPr marL="0" marR="72000" marT="36000" marB="36000">
                    <a:lnL w="9525" cap="flat" cmpd="sng" algn="ctr">
                      <a:noFill/>
                      <a:prstDash val="solid"/>
                      <a:round/>
                      <a:headEnd type="none" w="med" len="med"/>
                      <a:tailEnd type="none" w="med" len="med"/>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ru-RU" sz="500" b="0" u="none" strike="noStrike" kern="1200" dirty="0">
                          <a:solidFill>
                            <a:schemeClr val="tx1"/>
                          </a:solidFill>
                          <a:effectLst/>
                          <a:latin typeface="+mn-lt"/>
                          <a:ea typeface="+mn-ea"/>
                          <a:cs typeface="+mn-cs"/>
                        </a:rPr>
                        <a:t xml:space="preserve">KF NURLY ASTANA TRUST</a:t>
                      </a:r>
                      <a:r>
                        <a:rPr lang="en-US" sz="500" b="0" u="none" strike="noStrike" kern="1200" dirty="0">
                          <a:solidFill>
                            <a:schemeClr val="tx1"/>
                          </a:solidFill>
                          <a:effectLst/>
                          <a:latin typeface="+mn-lt"/>
                          <a:ea typeface="+mn-ea"/>
                          <a:cs typeface="+mn-cs"/>
                        </a:rPr>
                        <a:t/>
                      </a:r>
                      <a:endParaRPr lang="ru-RU" sz="500" b="0" u="none" strike="noStrike" kern="1200" dirty="0">
                        <a:solidFill>
                          <a:schemeClr val="tx1"/>
                        </a:solidFill>
                        <a:effectLst/>
                        <a:latin typeface="+mn-lt"/>
                        <a:ea typeface="+mn-ea"/>
                        <a:cs typeface="+mn-cs"/>
                      </a:endParaRPr>
                    </a:p>
                    <a:p>
                      <a:pPr marL="92075" indent="-92075" algn="l" defTabSz="583170" rtl="0" eaLnBrk="1" latinLnBrk="0" hangingPunct="1">
                        <a:buClr>
                          <a:schemeClr val="accent1"/>
                        </a:buClr>
                        <a:buFont typeface="Arial" panose="020B0604020202020204" pitchFamily="34" charset="0"/>
                        <a:buChar char="•"/>
                      </a:pPr>
                      <a:endParaRPr lang="en-US" sz="500" kern="1200" noProof="0" dirty="0">
                        <a:solidFill>
                          <a:schemeClr val="tx1"/>
                        </a:solidFill>
                        <a:latin typeface="+mn-lt"/>
                        <a:ea typeface="+mn-ea"/>
                        <a:cs typeface="+mn-cs"/>
                      </a:endParaRPr>
                    </a:p>
                  </a:txBody>
                  <a:tcPr marL="72000" marR="72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just" defTabSz="84238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500" b="0" dirty="0">
                          <a:solidFill>
                            <a:schemeClr val="tx1"/>
                          </a:solidFill>
                          <a:latin typeface="+mn-lt"/>
                        </a:rPr>
                        <a:t xml:space="preserve">Notification to the CEO of the Enterprise/division about the missed CPC and the need to strengthen control over the beneficiary’s fulfillment of contractual obligations - sent on 04/11/2025.</a:t>
                      </a:r>
                    </a:p>
                    <a:p>
                      <a:pPr marL="88900" marR="0" lvl="0" indent="-88900" algn="just" defTabSz="84238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500" kern="1200" dirty="0">
                          <a:solidFill>
                            <a:schemeClr val="tx1"/>
                          </a:solidFill>
                          <a:effectLst/>
                          <a:latin typeface="+mn-lt"/>
                          <a:ea typeface="+mn-ea"/>
                          <a:cs typeface="+mn-cs"/>
                        </a:rPr>
                        <a:t xml:space="preserve">Reports are provided on a monthly basis, there are no comments. The balance of unused funds is 6.7 million tenge. The final report is expected by March 30, 2026.</a:t>
                      </a:r>
                      <a:r>
                        <a:rPr lang="ru-RU" sz="500" kern="1200" dirty="0" smtClean="0">
                          <a:solidFill>
                            <a:schemeClr val="tx1"/>
                          </a:solidFill>
                          <a:effectLst/>
                          <a:latin typeface="+mn-lt"/>
                          <a:ea typeface="+mn-ea"/>
                          <a:cs typeface="+mn-cs"/>
                        </a:rPr>
                        <a:t/>
                      </a:r>
                      <a:r>
                        <a:rPr lang="ru-RU" sz="500" kern="1200" dirty="0">
                          <a:solidFill>
                            <a:schemeClr val="tx1"/>
                          </a:solidFill>
                          <a:effectLst/>
                          <a:latin typeface="+mn-lt"/>
                          <a:ea typeface="+mn-ea"/>
                          <a:cs typeface="+mn-cs"/>
                        </a:rPr>
                        <a:t/>
                      </a:r>
                      <a:endParaRPr lang="ru-RU" sz="500" b="0" dirty="0">
                        <a:solidFill>
                          <a:schemeClr val="tx1"/>
                        </a:solidFill>
                        <a:latin typeface="+mn-lt"/>
                      </a:endParaRPr>
                    </a:p>
                  </a:txBody>
                  <a:tcPr marL="36000" marR="36000" marT="36000" marB="36000">
                    <a:lnL w="12700" cmpd="sng">
                      <a:noFill/>
                    </a:lnL>
                    <a:lnR w="9525"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8291639"/>
                  </a:ext>
                </a:extLst>
              </a:tr>
            </a:tbl>
          </a:graphicData>
        </a:graphic>
      </p:graphicFrame>
      <p:grpSp>
        <p:nvGrpSpPr>
          <p:cNvPr id="71" name="Group 70">
            <a:extLst>
              <a:ext uri="{FF2B5EF4-FFF2-40B4-BE49-F238E27FC236}">
                <a16:creationId xmlns:a16="http://schemas.microsoft.com/office/drawing/2014/main" id="{B8281891-41D7-3A37-C9F8-62D77D218693}"/>
              </a:ext>
            </a:extLst>
          </p:cNvPr>
          <p:cNvGrpSpPr/>
          <p:nvPr/>
        </p:nvGrpSpPr>
        <p:grpSpPr>
          <a:xfrm>
            <a:off x="804865" y="3066790"/>
            <a:ext cx="1689127" cy="622262"/>
            <a:chOff x="1527301" y="2586096"/>
            <a:chExt cx="3773658" cy="622262"/>
          </a:xfrm>
        </p:grpSpPr>
        <p:sp>
          <p:nvSpPr>
            <p:cNvPr id="72" name="Rectangle 71">
              <a:extLst>
                <a:ext uri="{FF2B5EF4-FFF2-40B4-BE49-F238E27FC236}">
                  <a16:creationId xmlns:a16="http://schemas.microsoft.com/office/drawing/2014/main" id="{D762D443-F2CD-BB96-4B61-4ABBDF653165}"/>
                </a:ext>
              </a:extLst>
            </p:cNvPr>
            <p:cNvSpPr/>
            <p:nvPr>
              <p:custDataLst>
                <p:tags r:id="rId7"/>
              </p:custDataLst>
            </p:nvPr>
          </p:nvSpPr>
          <p:spPr bwMode="auto">
            <a:xfrm>
              <a:off x="4180030" y="2586096"/>
              <a:ext cx="1120929" cy="430887"/>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b" anchorCtr="0" forceAA="0" compatLnSpc="1">
              <a:prstTxWarp prst="textNoShape">
                <a:avLst/>
              </a:prstTxWarp>
              <a:spAutoFit/>
            </a:bodyPr>
            <a:lstStyle/>
            <a:p>
              <a:pPr algn="r" rtl="0">
                <a:spcBef>
                  <a:spcPct val="0"/>
                </a:spcBef>
                <a:spcAft>
                  <a:spcPct val="0"/>
                </a:spcAft>
              </a:pPr>
              <a:r>
                <a:rPr lang="ru-RU" sz="700" dirty="0">
                  <a:solidFill>
                    <a:schemeClr val="tx1"/>
                  </a:solidFill>
                </a:rPr>
                <a:t xml:space="preserve">Projects</a:t>
              </a:r>
            </a:p>
            <a:p>
              <a:pPr algn="r" rtl="0">
                <a:spcBef>
                  <a:spcPct val="0"/>
                </a:spcBef>
                <a:spcAft>
                  <a:spcPct val="0"/>
                </a:spcAft>
              </a:pPr>
              <a:r>
                <a:rPr lang="ru-RU" sz="700" dirty="0">
                  <a:solidFill>
                    <a:schemeClr val="tx1"/>
                  </a:solidFill>
                </a:rPr>
                <a:t xml:space="preserve">completed</a:t>
              </a:r>
              <a:r>
                <a:rPr lang="ru-RU" sz="700" dirty="0" smtClean="0">
                  <a:solidFill>
                    <a:schemeClr val="tx1"/>
                  </a:solidFill>
                </a:rPr>
                <a:t/>
              </a:r>
              <a:r>
                <a:rPr lang="en-US" sz="700" dirty="0" smtClean="0">
                  <a:solidFill>
                    <a:schemeClr val="tx1"/>
                  </a:solidFill>
                </a:rPr>
                <a:t/>
              </a:r>
              <a:endParaRPr lang="ru-RU" sz="700" dirty="0" smtClean="0">
                <a:solidFill>
                  <a:schemeClr val="tx1"/>
                </a:solidFill>
              </a:endParaRPr>
            </a:p>
            <a:p>
              <a:pPr algn="r" rtl="0">
                <a:spcBef>
                  <a:spcPct val="0"/>
                </a:spcBef>
                <a:spcAft>
                  <a:spcPct val="0"/>
                </a:spcAft>
              </a:pPr>
              <a:r>
                <a:rPr lang="ru-RU" sz="700" dirty="0" smtClean="0">
                  <a:solidFill>
                    <a:schemeClr val="tx1"/>
                  </a:solidFill>
                </a:rPr>
                <a:t xml:space="preserve">in 2025</a:t>
              </a:r>
              <a:endParaRPr lang="ru-RU" sz="700" dirty="0">
                <a:solidFill>
                  <a:schemeClr val="tx1"/>
                </a:solidFill>
              </a:endParaRPr>
            </a:p>
            <a:p>
              <a:pPr algn="r" rtl="0">
                <a:spcBef>
                  <a:spcPct val="0"/>
                </a:spcBef>
                <a:spcAft>
                  <a:spcPct val="0"/>
                </a:spcAft>
              </a:pPr>
              <a:r>
                <a:rPr lang="ru-RU" sz="700" dirty="0" smtClean="0">
                  <a:solidFill>
                    <a:schemeClr val="tx1"/>
                  </a:solidFill>
                </a:rPr>
                <a:t xml:space="preserve">($14.2 million)</a:t>
              </a:r>
              <a:r>
                <a:rPr lang="en-US" sz="700" dirty="0" smtClean="0">
                  <a:solidFill>
                    <a:schemeClr val="tx1"/>
                  </a:solidFill>
                </a:rPr>
                <a:t/>
              </a:r>
              <a:r>
                <a:rPr lang="ru-RU" sz="700" dirty="0" smtClean="0">
                  <a:solidFill>
                    <a:schemeClr val="tx1"/>
                  </a:solidFill>
                </a:rPr>
                <a:t/>
              </a:r>
              <a:endParaRPr lang="ru" sz="700" dirty="0">
                <a:solidFill>
                  <a:schemeClr val="tx1"/>
                </a:solidFill>
              </a:endParaRPr>
            </a:p>
          </p:txBody>
        </p:sp>
        <p:sp>
          <p:nvSpPr>
            <p:cNvPr id="76" name="Rectangle 75">
              <a:extLst>
                <a:ext uri="{FF2B5EF4-FFF2-40B4-BE49-F238E27FC236}">
                  <a16:creationId xmlns:a16="http://schemas.microsoft.com/office/drawing/2014/main" id="{DE2AB93F-D2F3-BC6B-926D-0231855D3AEE}"/>
                </a:ext>
              </a:extLst>
            </p:cNvPr>
            <p:cNvSpPr/>
            <p:nvPr>
              <p:custDataLst>
                <p:tags r:id="rId8"/>
              </p:custDataLst>
            </p:nvPr>
          </p:nvSpPr>
          <p:spPr bwMode="auto">
            <a:xfrm>
              <a:off x="1527301" y="3085247"/>
              <a:ext cx="145" cy="123111"/>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r" rtl="0">
                <a:spcBef>
                  <a:spcPct val="0"/>
                </a:spcBef>
                <a:spcAft>
                  <a:spcPct val="0"/>
                </a:spcAft>
              </a:pPr>
              <a:endParaRPr lang="en-US" sz="800" noProof="0" dirty="0">
                <a:solidFill>
                  <a:srgbClr val="0070C0"/>
                </a:solidFill>
              </a:endParaRPr>
            </a:p>
          </p:txBody>
        </p:sp>
      </p:grpSp>
      <p:sp>
        <p:nvSpPr>
          <p:cNvPr id="85" name="Rectangle 84">
            <a:extLst>
              <a:ext uri="{FF2B5EF4-FFF2-40B4-BE49-F238E27FC236}">
                <a16:creationId xmlns:a16="http://schemas.microsoft.com/office/drawing/2014/main" id="{CA51A5FA-715A-561A-5D9E-C322F002CA45}"/>
              </a:ext>
            </a:extLst>
          </p:cNvPr>
          <p:cNvSpPr/>
          <p:nvPr>
            <p:custDataLst>
              <p:tags r:id="rId4"/>
            </p:custDataLst>
          </p:nvPr>
        </p:nvSpPr>
        <p:spPr bwMode="auto">
          <a:xfrm>
            <a:off x="356387" y="3069865"/>
            <a:ext cx="781669" cy="430887"/>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rtl="0">
              <a:spcBef>
                <a:spcPct val="0"/>
              </a:spcBef>
              <a:spcAft>
                <a:spcPct val="0"/>
              </a:spcAft>
            </a:pPr>
            <a:r>
              <a:rPr lang="ru" sz="700" dirty="0">
                <a:solidFill>
                  <a:schemeClr val="tx1"/>
                </a:solidFill>
              </a:rPr>
              <a:t xml:space="preserve">Ongoing projects</a:t>
            </a:r>
            <a:endParaRPr lang="ru" sz="700" dirty="0" smtClean="0">
              <a:solidFill>
                <a:schemeClr val="tx1"/>
              </a:solidFill>
            </a:endParaRPr>
          </a:p>
          <a:p>
            <a:pPr rtl="0">
              <a:spcBef>
                <a:spcPct val="0"/>
              </a:spcBef>
              <a:spcAft>
                <a:spcPct val="0"/>
              </a:spcAft>
            </a:pPr>
            <a:r>
              <a:rPr lang="ru" sz="700" dirty="0" smtClean="0">
                <a:solidFill>
                  <a:schemeClr val="tx1"/>
                </a:solidFill>
              </a:rPr>
              <a:t xml:space="preserve">in 2025</a:t>
            </a:r>
            <a:r>
              <a:rPr lang="ru" sz="700" dirty="0">
                <a:solidFill>
                  <a:schemeClr val="tx1"/>
                </a:solidFill>
              </a:rPr>
              <a:t/>
            </a:r>
            <a:endParaRPr lang="ru" sz="700" dirty="0" smtClean="0">
              <a:solidFill>
                <a:schemeClr val="tx1"/>
              </a:solidFill>
            </a:endParaRPr>
          </a:p>
          <a:p>
            <a:pPr rtl="0">
              <a:spcBef>
                <a:spcPct val="0"/>
              </a:spcBef>
              <a:spcAft>
                <a:spcPct val="0"/>
              </a:spcAft>
            </a:pPr>
            <a:r>
              <a:rPr lang="ru" sz="700" dirty="0" smtClean="0">
                <a:solidFill>
                  <a:schemeClr val="tx1"/>
                </a:solidFill>
              </a:rPr>
              <a:t xml:space="preserve">($23.8 million)</a:t>
            </a:r>
            <a:r>
              <a:rPr lang="en-US" sz="700" dirty="0" smtClean="0">
                <a:solidFill>
                  <a:schemeClr val="tx1"/>
                </a:solidFill>
              </a:rPr>
              <a:t/>
            </a:r>
            <a:r>
              <a:rPr lang="ru-RU" sz="700" dirty="0" smtClean="0">
                <a:solidFill>
                  <a:schemeClr val="tx1"/>
                </a:solidFill>
              </a:rPr>
              <a:t/>
            </a:r>
            <a:r>
              <a:rPr lang="ru" sz="700" dirty="0" smtClean="0">
                <a:solidFill>
                  <a:schemeClr val="tx1"/>
                </a:solidFill>
              </a:rPr>
              <a:t/>
            </a:r>
            <a:endParaRPr lang="ru" sz="700" dirty="0">
              <a:solidFill>
                <a:schemeClr val="tx1"/>
              </a:solidFill>
            </a:endParaRPr>
          </a:p>
        </p:txBody>
      </p:sp>
      <p:sp>
        <p:nvSpPr>
          <p:cNvPr id="13" name="TextBox 12">
            <a:extLst>
              <a:ext uri="{FF2B5EF4-FFF2-40B4-BE49-F238E27FC236}">
                <a16:creationId xmlns:a16="http://schemas.microsoft.com/office/drawing/2014/main" id="{B9F829B5-4229-0172-17DA-A018AB33B3CF}"/>
              </a:ext>
            </a:extLst>
          </p:cNvPr>
          <p:cNvSpPr txBox="1"/>
          <p:nvPr/>
        </p:nvSpPr>
        <p:spPr>
          <a:xfrm>
            <a:off x="2662743" y="2885710"/>
            <a:ext cx="3408315" cy="246221"/>
          </a:xfrm>
          <a:prstGeom prst="rect">
            <a:avLst/>
          </a:prstGeom>
          <a:noFill/>
        </p:spPr>
        <p:txBody>
          <a:bodyPr wrap="square" rtlCol="0">
            <a:spAutoFit/>
          </a:bodyPr>
          <a:lstStyle/>
          <a:p>
            <a:pPr rtl="0"/>
            <a:r>
              <a:rPr lang="ru" sz="1000" b="1" noProof="0" dirty="0"/>
              <a:t xml:space="preserve">Project status – previous year(s) ($ million)</a:t>
            </a:r>
          </a:p>
        </p:txBody>
      </p:sp>
      <p:grpSp>
        <p:nvGrpSpPr>
          <p:cNvPr id="20" name="Group 19">
            <a:extLst>
              <a:ext uri="{FF2B5EF4-FFF2-40B4-BE49-F238E27FC236}">
                <a16:creationId xmlns:a16="http://schemas.microsoft.com/office/drawing/2014/main" id="{1532713D-2404-635C-3814-21DDE78F4EC3}"/>
              </a:ext>
            </a:extLst>
          </p:cNvPr>
          <p:cNvGrpSpPr/>
          <p:nvPr/>
        </p:nvGrpSpPr>
        <p:grpSpPr>
          <a:xfrm>
            <a:off x="656646" y="1926412"/>
            <a:ext cx="1592695" cy="577902"/>
            <a:chOff x="656646" y="2043150"/>
            <a:chExt cx="1592695" cy="577902"/>
          </a:xfrm>
        </p:grpSpPr>
        <p:sp>
          <p:nvSpPr>
            <p:cNvPr id="74" name="Text Placeholder 39">
              <a:extLst>
                <a:ext uri="{FF2B5EF4-FFF2-40B4-BE49-F238E27FC236}">
                  <a16:creationId xmlns:a16="http://schemas.microsoft.com/office/drawing/2014/main" id="{64BB576B-170D-270C-6BFE-5F6B0916E5F9}"/>
                </a:ext>
              </a:extLst>
            </p:cNvPr>
            <p:cNvSpPr txBox="1">
              <a:spLocks/>
            </p:cNvSpPr>
            <p:nvPr/>
          </p:nvSpPr>
          <p:spPr>
            <a:xfrm>
              <a:off x="656646" y="2067054"/>
              <a:ext cx="512961" cy="55399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3600" noProof="0" dirty="0">
                  <a:solidFill>
                    <a:schemeClr val="accent1"/>
                  </a:solidFill>
                </a:rPr>
                <a:t>64</a:t>
              </a:r>
              <a:endParaRPr lang="en-US" sz="1600" noProof="0" dirty="0">
                <a:solidFill>
                  <a:schemeClr val="accent1"/>
                </a:solidFill>
              </a:endParaRPr>
            </a:p>
          </p:txBody>
        </p:sp>
        <p:cxnSp>
          <p:nvCxnSpPr>
            <p:cNvPr id="11" name="Straight Connector 10">
              <a:extLst>
                <a:ext uri="{FF2B5EF4-FFF2-40B4-BE49-F238E27FC236}">
                  <a16:creationId xmlns:a16="http://schemas.microsoft.com/office/drawing/2014/main" id="{0C009B6F-E30A-60E6-E9B2-BCE7B4E1AF49}"/>
                </a:ext>
              </a:extLst>
            </p:cNvPr>
            <p:cNvCxnSpPr>
              <a:cxnSpLocks/>
            </p:cNvCxnSpPr>
            <p:nvPr/>
          </p:nvCxnSpPr>
          <p:spPr>
            <a:xfrm flipV="1">
              <a:off x="1325312" y="2229425"/>
              <a:ext cx="94288" cy="272355"/>
            </a:xfrm>
            <a:prstGeom prst="line">
              <a:avLst/>
            </a:prstGeom>
            <a:ln/>
          </p:spPr>
          <p:style>
            <a:lnRef idx="3">
              <a:schemeClr val="accent1"/>
            </a:lnRef>
            <a:fillRef idx="0">
              <a:schemeClr val="accent1"/>
            </a:fillRef>
            <a:effectRef idx="2">
              <a:schemeClr val="accent1"/>
            </a:effectRef>
            <a:fontRef idx="minor">
              <a:schemeClr val="tx1"/>
            </a:fontRef>
          </p:style>
        </p:cxnSp>
        <p:sp>
          <p:nvSpPr>
            <p:cNvPr id="19" name="Text Placeholder 39">
              <a:extLst>
                <a:ext uri="{FF2B5EF4-FFF2-40B4-BE49-F238E27FC236}">
                  <a16:creationId xmlns:a16="http://schemas.microsoft.com/office/drawing/2014/main" id="{751CDD31-B5D1-5260-1CBA-E766A9FA12C1}"/>
                </a:ext>
              </a:extLst>
            </p:cNvPr>
            <p:cNvSpPr txBox="1">
              <a:spLocks/>
            </p:cNvSpPr>
            <p:nvPr/>
          </p:nvSpPr>
          <p:spPr>
            <a:xfrm>
              <a:off x="1508754" y="2043150"/>
              <a:ext cx="740587" cy="55399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3600" dirty="0">
                  <a:solidFill>
                    <a:schemeClr val="accent1"/>
                  </a:solidFill>
                </a:rPr>
                <a:t>5</a:t>
              </a:r>
              <a:r>
                <a:rPr lang="ru" sz="3600" noProof="0" dirty="0" smtClean="0">
                  <a:solidFill>
                    <a:schemeClr val="accent1"/>
                  </a:solidFill>
                </a:rPr>
                <a:t>9</a:t>
              </a:r>
              <a:r>
                <a:rPr lang="ru" sz="2000" noProof="0" dirty="0" smtClean="0">
                  <a:solidFill>
                    <a:schemeClr val="accent1"/>
                  </a:solidFill>
                </a:rPr>
                <a:t>%</a:t>
              </a:r>
              <a:endParaRPr lang="en-US" sz="1600" noProof="0" dirty="0">
                <a:solidFill>
                  <a:schemeClr val="accent1"/>
                </a:solidFill>
              </a:endParaRPr>
            </a:p>
          </p:txBody>
        </p:sp>
      </p:grpSp>
      <p:graphicFrame>
        <p:nvGraphicFramePr>
          <p:cNvPr id="56" name="Chart 55">
            <a:extLst>
              <a:ext uri="{FF2B5EF4-FFF2-40B4-BE49-F238E27FC236}">
                <a16:creationId xmlns:a16="http://schemas.microsoft.com/office/drawing/2014/main" id="{F210101D-B096-423F-1842-00197FBC44A0}"/>
              </a:ext>
            </a:extLst>
          </p:cNvPr>
          <p:cNvGraphicFramePr/>
          <p:nvPr>
            <p:custDataLst>
              <p:tags r:id="rId5"/>
            </p:custDataLst>
            <p:extLst>
              <p:ext uri="{D42A27DB-BD31-4B8C-83A1-F6EECF244321}">
                <p14:modId xmlns:p14="http://schemas.microsoft.com/office/powerpoint/2010/main" val="1619470461"/>
              </p:ext>
            </p:extLst>
          </p:nvPr>
        </p:nvGraphicFramePr>
        <p:xfrm>
          <a:off x="2581000" y="1747338"/>
          <a:ext cx="3315856" cy="1085409"/>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60" name="Chart 55">
            <a:extLst>
              <a:ext uri="{FF2B5EF4-FFF2-40B4-BE49-F238E27FC236}">
                <a16:creationId xmlns:a16="http://schemas.microsoft.com/office/drawing/2014/main" id="{F210101D-B096-423F-1842-00197FBC44A0}"/>
              </a:ext>
            </a:extLst>
          </p:cNvPr>
          <p:cNvGraphicFramePr/>
          <p:nvPr>
            <p:custDataLst>
              <p:tags r:id="rId6"/>
            </p:custDataLst>
            <p:extLst>
              <p:ext uri="{D42A27DB-BD31-4B8C-83A1-F6EECF244321}">
                <p14:modId xmlns:p14="http://schemas.microsoft.com/office/powerpoint/2010/main" val="4146769162"/>
              </p:ext>
            </p:extLst>
          </p:nvPr>
        </p:nvGraphicFramePr>
        <p:xfrm>
          <a:off x="2588256" y="3112924"/>
          <a:ext cx="3355344" cy="1103476"/>
        </p:xfrm>
        <a:graphic>
          <a:graphicData uri="http://schemas.openxmlformats.org/drawingml/2006/chart">
            <c:chart xmlns:c="http://schemas.openxmlformats.org/drawingml/2006/chart" xmlns:r="http://schemas.openxmlformats.org/officeDocument/2006/relationships" r:id="rId15"/>
          </a:graphicData>
        </a:graphic>
      </p:graphicFrame>
    </p:spTree>
    <p:extLst>
      <p:ext uri="{BB962C8B-B14F-4D97-AF65-F5344CB8AC3E}">
        <p14:creationId xmlns:p14="http://schemas.microsoft.com/office/powerpoint/2010/main" val="1237188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927EE-CF07-01BF-2460-8889ECF93FB9}"/>
            </a:ext>
          </a:extLst>
        </p:cNvPr>
        <p:cNvGrpSpPr/>
        <p:nvPr/>
      </p:nvGrpSpPr>
      <p:grpSpPr>
        <a:xfrm>
          <a:off x="0" y="0"/>
          <a:ext cx="0" cy="0"/>
          <a:chOff x="0" y="0"/>
          <a:chExt cx="0" cy="0"/>
        </a:xfrm>
      </p:grpSpPr>
      <p:graphicFrame>
        <p:nvGraphicFramePr>
          <p:cNvPr id="63" name="think-cell data - do not delete" hidden="1">
            <a:extLst>
              <a:ext uri="{FF2B5EF4-FFF2-40B4-BE49-F238E27FC236}">
                <a16:creationId xmlns:a16="http://schemas.microsoft.com/office/drawing/2014/main" id="{A38210B1-059D-E55F-DF4C-F3257640296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6264" name="think-cell Slide" r:id="rId8" imgW="473" imgH="473" progId="TCLayout.ActiveDocument.1">
                  <p:embed/>
                </p:oleObj>
              </mc:Choice>
              <mc:Fallback>
                <p:oleObj name="think-cell Slide" r:id="rId8" imgW="473" imgH="473" progId="TCLayout.ActiveDocument.1">
                  <p:embed/>
                  <p:pic>
                    <p:nvPicPr>
                      <p:cNvPr id="63" name="think-cell data - do not delete" hidden="1">
                        <a:extLst>
                          <a:ext uri="{FF2B5EF4-FFF2-40B4-BE49-F238E27FC236}">
                            <a16:creationId xmlns:a16="http://schemas.microsoft.com/office/drawing/2014/main" id="{A38210B1-059D-E55F-DF4C-F32576402962}"/>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87C1708-FA52-368C-A1A8-45A1B2FCC106}"/>
              </a:ext>
            </a:extLst>
          </p:cNvPr>
          <p:cNvSpPr>
            <a:spLocks noGrp="1"/>
          </p:cNvSpPr>
          <p:nvPr>
            <p:ph type="title"/>
          </p:nvPr>
        </p:nvSpPr>
        <p:spPr>
          <a:xfrm>
            <a:off x="317499" y="0"/>
            <a:ext cx="10584209" cy="704850"/>
          </a:xfrm>
        </p:spPr>
        <p:txBody>
          <a:bodyPr vert="horz" rtlCol="0"/>
          <a:lstStyle/>
          <a:p>
            <a:pPr rtl="0"/>
            <a:r>
              <a:rPr lang="ru" noProof="0" dirty="0" smtClean="0"/>
              <a:t>Дашборд </a:t>
            </a:r>
            <a:r>
              <a:rPr lang="ru" noProof="0" dirty="0"/>
              <a:t>за </a:t>
            </a:r>
            <a:r>
              <a:rPr lang="ru" dirty="0"/>
              <a:t>4</a:t>
            </a:r>
            <a:r>
              <a:rPr lang="ru" noProof="0" dirty="0" smtClean="0"/>
              <a:t> </a:t>
            </a:r>
            <a:r>
              <a:rPr lang="ru" noProof="0" dirty="0"/>
              <a:t>кв. 2025 г.: Управление </a:t>
            </a:r>
            <a:r>
              <a:rPr lang="ru" noProof="0" dirty="0" smtClean="0"/>
              <a:t>рисками:</a:t>
            </a:r>
            <a:r>
              <a:rPr lang="en-US" noProof="0" dirty="0" smtClean="0">
                <a:solidFill>
                  <a:schemeClr val="tx1"/>
                </a:solidFill>
              </a:rPr>
              <a:t/>
            </a:r>
            <a:br>
              <a:rPr lang="en-US" noProof="0" dirty="0" smtClean="0">
                <a:solidFill>
                  <a:schemeClr val="tx1"/>
                </a:solidFill>
              </a:rPr>
            </a:br>
            <a:r>
              <a:rPr lang="ru" noProof="0" dirty="0" smtClean="0">
                <a:solidFill>
                  <a:schemeClr val="tx1"/>
                </a:solidFill>
              </a:rPr>
              <a:t>Связанные стороны. Защита </a:t>
            </a:r>
            <a:r>
              <a:rPr lang="ru" noProof="0" dirty="0">
                <a:solidFill>
                  <a:schemeClr val="tx1"/>
                </a:solidFill>
              </a:rPr>
              <a:t>персональных данных</a:t>
            </a:r>
          </a:p>
        </p:txBody>
      </p:sp>
      <p:sp>
        <p:nvSpPr>
          <p:cNvPr id="43" name="Text Placeholder 9">
            <a:extLst>
              <a:ext uri="{FF2B5EF4-FFF2-40B4-BE49-F238E27FC236}">
                <a16:creationId xmlns:a16="http://schemas.microsoft.com/office/drawing/2014/main" id="{70B7508D-590E-48A2-A3BA-FDA8722458FB}"/>
              </a:ext>
            </a:extLst>
          </p:cNvPr>
          <p:cNvSpPr txBox="1">
            <a:spLocks/>
          </p:cNvSpPr>
          <p:nvPr/>
        </p:nvSpPr>
        <p:spPr>
          <a:xfrm>
            <a:off x="6169421" y="1090192"/>
            <a:ext cx="1803600"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solidFill>
                  <a:schemeClr val="accent5">
                    <a:lumMod val="75000"/>
                    <a:lumOff val="25000"/>
                  </a:schemeClr>
                </a:solidFill>
              </a:rPr>
              <a:t xml:space="preserve">Trends</a:t>
            </a:r>
          </a:p>
        </p:txBody>
      </p:sp>
      <p:sp>
        <p:nvSpPr>
          <p:cNvPr id="44" name="Text Placeholder 9">
            <a:extLst>
              <a:ext uri="{FF2B5EF4-FFF2-40B4-BE49-F238E27FC236}">
                <a16:creationId xmlns:a16="http://schemas.microsoft.com/office/drawing/2014/main" id="{9477D428-2F08-462C-A7C9-5111C9609680}"/>
              </a:ext>
            </a:extLst>
          </p:cNvPr>
          <p:cNvSpPr txBox="1">
            <a:spLocks/>
          </p:cNvSpPr>
          <p:nvPr/>
        </p:nvSpPr>
        <p:spPr>
          <a:xfrm>
            <a:off x="7930315" y="1090192"/>
            <a:ext cx="1991164"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smtClean="0">
                <a:solidFill>
                  <a:schemeClr val="accent5">
                    <a:lumMod val="75000"/>
                    <a:lumOff val="25000"/>
                  </a:schemeClr>
                </a:solidFill>
              </a:rPr>
              <a:t xml:space="preserve">Identified / realized risks</a:t>
            </a:r>
            <a:r>
              <a:rPr lang="ru" sz="1200" noProof="0" dirty="0">
                <a:solidFill>
                  <a:schemeClr val="accent5">
                    <a:lumMod val="75000"/>
                    <a:lumOff val="25000"/>
                  </a:schemeClr>
                </a:solidFill>
              </a:rPr>
              <a:t/>
            </a:r>
          </a:p>
        </p:txBody>
      </p:sp>
      <p:sp>
        <p:nvSpPr>
          <p:cNvPr id="45" name="Text Placeholder 9">
            <a:extLst>
              <a:ext uri="{FF2B5EF4-FFF2-40B4-BE49-F238E27FC236}">
                <a16:creationId xmlns:a16="http://schemas.microsoft.com/office/drawing/2014/main" id="{73483E23-20FA-43E0-BA38-0725516E0ACD}"/>
              </a:ext>
            </a:extLst>
          </p:cNvPr>
          <p:cNvSpPr txBox="1">
            <a:spLocks/>
          </p:cNvSpPr>
          <p:nvPr/>
        </p:nvSpPr>
        <p:spPr>
          <a:xfrm>
            <a:off x="10368895" y="1090192"/>
            <a:ext cx="1620000"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solidFill>
                  <a:schemeClr val="accent5">
                    <a:lumMod val="75000"/>
                    <a:lumOff val="25000"/>
                  </a:schemeClr>
                </a:solidFill>
              </a:rPr>
              <a:t xml:space="preserve">Impact on GP 2025</a:t>
            </a:r>
          </a:p>
          <a:p>
            <a:pPr rtl="0"/>
            <a:r>
              <a:rPr lang="ru" sz="1200" noProof="0" dirty="0">
                <a:solidFill>
                  <a:schemeClr val="accent5">
                    <a:lumMod val="75000"/>
                    <a:lumOff val="25000"/>
                  </a:schemeClr>
                </a:solidFill>
              </a:rPr>
              <a:t xml:space="preserve">(lessons learned)</a:t>
            </a:r>
          </a:p>
        </p:txBody>
      </p:sp>
      <p:sp>
        <p:nvSpPr>
          <p:cNvPr id="46" name="Rectangle: Rounded Corners 45">
            <a:extLst>
              <a:ext uri="{FF2B5EF4-FFF2-40B4-BE49-F238E27FC236}">
                <a16:creationId xmlns:a16="http://schemas.microsoft.com/office/drawing/2014/main" id="{428F9E78-D96E-4E9F-878B-75090E7A957C}"/>
              </a:ext>
            </a:extLst>
          </p:cNvPr>
          <p:cNvSpPr/>
          <p:nvPr/>
        </p:nvSpPr>
        <p:spPr>
          <a:xfrm>
            <a:off x="6165322" y="1499088"/>
            <a:ext cx="1620000" cy="1963958"/>
          </a:xfrm>
          <a:prstGeom prst="roundRect">
            <a:avLst>
              <a:gd name="adj" fmla="val 8030"/>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rtl="0"/>
            <a:r>
              <a:rPr lang="ru" sz="800" b="1" noProof="0" dirty="0">
                <a:solidFill>
                  <a:schemeClr val="tx1"/>
                </a:solidFill>
              </a:rPr>
              <a:t xml:space="preserve">Related parties</a:t>
            </a:r>
          </a:p>
          <a:p>
            <a:pPr marL="87313" indent="-87313">
              <a:buClr>
                <a:schemeClr val="accent1"/>
              </a:buClr>
              <a:buFont typeface="Arial" panose="020B0604020202020204" pitchFamily="34" charset="0"/>
              <a:buChar char="•"/>
            </a:pPr>
            <a:r>
              <a:rPr lang="ru-RU" sz="800" dirty="0">
                <a:solidFill>
                  <a:schemeClr val="tx1"/>
                </a:solidFill>
              </a:rPr>
              <a:t xml:space="preserve">The number of contracts with related parties is generally maintained at the same level according to the KPC data (Q1 2025 – 205 or 6.5% of the total number of KPCs, 2Q 2025 – 203 or 6% of the total number of KPCs, 3Q 2025 – 169 or 5.1% of the total number of KPCs, 4Q 2025 – 254 or 6.85%)</a:t>
            </a:r>
            <a:r>
              <a:rPr lang="ru-RU" sz="800" dirty="0" smtClean="0">
                <a:solidFill>
                  <a:schemeClr val="tx1"/>
                </a:solidFill>
              </a:rPr>
              <a:t/>
            </a:r>
            <a:endParaRPr lang="en-US" sz="800" noProof="0" dirty="0">
              <a:solidFill>
                <a:schemeClr val="tx1"/>
              </a:solidFill>
            </a:endParaRPr>
          </a:p>
        </p:txBody>
      </p:sp>
      <p:sp>
        <p:nvSpPr>
          <p:cNvPr id="47" name="Rectangle: Rounded Corners 46">
            <a:extLst>
              <a:ext uri="{FF2B5EF4-FFF2-40B4-BE49-F238E27FC236}">
                <a16:creationId xmlns:a16="http://schemas.microsoft.com/office/drawing/2014/main" id="{58B37186-9214-4B34-8CC1-932DED71A48E}"/>
              </a:ext>
            </a:extLst>
          </p:cNvPr>
          <p:cNvSpPr/>
          <p:nvPr/>
        </p:nvSpPr>
        <p:spPr>
          <a:xfrm>
            <a:off x="7930315" y="1499087"/>
            <a:ext cx="2293587" cy="1963959"/>
          </a:xfrm>
          <a:prstGeom prst="roundRect">
            <a:avLst>
              <a:gd name="adj" fmla="val 10098"/>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rtl="0"/>
            <a:r>
              <a:rPr lang="ru" sz="800" b="1" noProof="0" dirty="0">
                <a:solidFill>
                  <a:schemeClr val="tx1"/>
                </a:solidFill>
              </a:rPr>
              <a:t xml:space="preserve">Related parties</a:t>
            </a:r>
          </a:p>
          <a:p>
            <a:pPr marL="87313" indent="-87313">
              <a:buClr>
                <a:schemeClr val="accent1"/>
              </a:buClr>
              <a:buFont typeface="Arial" panose="020B0604020202020204" pitchFamily="34" charset="0"/>
              <a:buChar char="•"/>
            </a:pPr>
            <a:r>
              <a:rPr lang="en-US" sz="800" dirty="0" smtClean="0">
                <a:solidFill>
                  <a:schemeClr val="tx1"/>
                </a:solidFill>
              </a:rPr>
              <a:t xml:space="preserve">2 violations of the CCP procedure when concluding a transaction with a related party (missing the initiation of the CCP)</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endParaRPr lang="en-US" sz="800" noProof="0" dirty="0">
              <a:solidFill>
                <a:schemeClr val="tx1"/>
              </a:solidFill>
            </a:endParaRPr>
          </a:p>
        </p:txBody>
      </p:sp>
      <p:sp>
        <p:nvSpPr>
          <p:cNvPr id="48" name="Rectangle: Rounded Corners 47">
            <a:extLst>
              <a:ext uri="{FF2B5EF4-FFF2-40B4-BE49-F238E27FC236}">
                <a16:creationId xmlns:a16="http://schemas.microsoft.com/office/drawing/2014/main" id="{638A7303-5667-4A0B-AF00-1F1FF931396D}"/>
              </a:ext>
            </a:extLst>
          </p:cNvPr>
          <p:cNvSpPr/>
          <p:nvPr/>
        </p:nvSpPr>
        <p:spPr>
          <a:xfrm>
            <a:off x="10368895" y="2002354"/>
            <a:ext cx="1620000" cy="1460693"/>
          </a:xfrm>
          <a:prstGeom prst="roundRect">
            <a:avLst>
              <a:gd name="adj" fmla="val 6607"/>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rtl="0"/>
            <a:r>
              <a:rPr lang="ru" sz="800" b="1" noProof="0" dirty="0" smtClean="0">
                <a:solidFill>
                  <a:schemeClr val="tx1"/>
                </a:solidFill>
              </a:rPr>
              <a:t xml:space="preserve">Related Parties (RP):</a:t>
            </a:r>
            <a:endParaRPr lang="ru" sz="800" b="1" noProof="0" dirty="0">
              <a:solidFill>
                <a:schemeClr val="tx1"/>
              </a:solidFill>
            </a:endParaRPr>
          </a:p>
          <a:p>
            <a:pPr marL="87313" indent="-87313">
              <a:buClr>
                <a:schemeClr val="accent1"/>
              </a:buClr>
              <a:buFont typeface="Arial" panose="020B0604020202020204" pitchFamily="34" charset="0"/>
              <a:buChar char="•"/>
            </a:pPr>
            <a:r>
              <a:rPr lang="ru" sz="800" dirty="0">
                <a:solidFill>
                  <a:schemeClr val="tx1"/>
                </a:solidFill>
              </a:rPr>
              <a:t xml:space="preserve">Participation in the Compliance Group project to update the Policy regarding contracts with CC (including involving other functions)</a:t>
            </a:r>
            <a:r>
              <a:rPr lang="ru-RU" sz="800" dirty="0">
                <a:solidFill>
                  <a:schemeClr val="tx1"/>
                </a:solidFill>
              </a:rPr>
              <a:t/>
            </a:r>
            <a:r>
              <a:rPr lang="ru-RU" sz="800" dirty="0" smtClean="0">
                <a:solidFill>
                  <a:schemeClr val="tx1"/>
                </a:solidFill>
              </a:rPr>
              <a:t/>
            </a:r>
            <a:r>
              <a:rPr lang="ru" sz="800" dirty="0" smtClean="0">
                <a:solidFill>
                  <a:schemeClr val="tx1"/>
                </a:solidFill>
              </a:rPr>
              <a:t/>
            </a:r>
            <a:r>
              <a:rPr lang="ru" sz="800" dirty="0">
                <a:solidFill>
                  <a:schemeClr val="tx1"/>
                </a:solidFill>
              </a:rPr>
              <a:t/>
            </a:r>
          </a:p>
          <a:p>
            <a:pPr marL="87313" indent="-87313">
              <a:buClr>
                <a:schemeClr val="accent1"/>
              </a:buClr>
              <a:buFont typeface="Arial" panose="020B0604020202020204" pitchFamily="34" charset="0"/>
              <a:buChar char="•"/>
            </a:pPr>
            <a:r>
              <a:rPr lang="ru-RU" sz="800" dirty="0">
                <a:solidFill>
                  <a:schemeClr val="tx1"/>
                </a:solidFill>
              </a:rPr>
              <a:t xml:space="preserve">Development of Instructions for managing the Perimeter SS List (after approval of the Policy)</a:t>
            </a:r>
            <a:r>
              <a:rPr lang="ru-RU" sz="800" dirty="0" smtClean="0">
                <a:solidFill>
                  <a:schemeClr val="tx1"/>
                </a:solidFill>
              </a:rPr>
              <a:t/>
            </a:r>
            <a:r>
              <a:rPr lang="ru-RU" sz="800" dirty="0">
                <a:solidFill>
                  <a:schemeClr val="tx1"/>
                </a:solidFill>
              </a:rPr>
              <a:t/>
            </a:r>
            <a:r>
              <a:rPr lang="ru-RU" sz="800" dirty="0" smtClean="0">
                <a:solidFill>
                  <a:schemeClr val="tx1"/>
                </a:solidFill>
              </a:rPr>
              <a:t/>
            </a:r>
            <a:endParaRPr lang="ru-RU" sz="800" dirty="0">
              <a:solidFill>
                <a:schemeClr val="tx1"/>
              </a:solidFill>
            </a:endParaRPr>
          </a:p>
        </p:txBody>
      </p:sp>
      <p:sp>
        <p:nvSpPr>
          <p:cNvPr id="51" name="Rectangle: Rounded Corners 50">
            <a:extLst>
              <a:ext uri="{FF2B5EF4-FFF2-40B4-BE49-F238E27FC236}">
                <a16:creationId xmlns:a16="http://schemas.microsoft.com/office/drawing/2014/main" id="{80893099-D6D2-46DC-BEAE-E33BBA2C803C}"/>
              </a:ext>
            </a:extLst>
          </p:cNvPr>
          <p:cNvSpPr/>
          <p:nvPr/>
        </p:nvSpPr>
        <p:spPr>
          <a:xfrm>
            <a:off x="313265" y="1459524"/>
            <a:ext cx="5707064" cy="2003522"/>
          </a:xfrm>
          <a:prstGeom prst="roundRect">
            <a:avLst>
              <a:gd name="adj" fmla="val 4327"/>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en-US" sz="1000" b="1" noProof="0" dirty="0">
              <a:solidFill>
                <a:schemeClr val="tx1"/>
              </a:solidFill>
            </a:endParaRPr>
          </a:p>
        </p:txBody>
      </p:sp>
      <p:sp>
        <p:nvSpPr>
          <p:cNvPr id="81" name="TextBox 80">
            <a:extLst>
              <a:ext uri="{FF2B5EF4-FFF2-40B4-BE49-F238E27FC236}">
                <a16:creationId xmlns:a16="http://schemas.microsoft.com/office/drawing/2014/main" id="{554A2975-04FC-476E-B66D-314C56825C9E}"/>
              </a:ext>
            </a:extLst>
          </p:cNvPr>
          <p:cNvSpPr txBox="1"/>
          <p:nvPr/>
        </p:nvSpPr>
        <p:spPr>
          <a:xfrm>
            <a:off x="4119195" y="2427300"/>
            <a:ext cx="1800085" cy="615553"/>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spcBef>
                <a:spcPct val="0"/>
              </a:spcBef>
              <a:spcAft>
                <a:spcPct val="0"/>
              </a:spcAft>
              <a:defRPr sz="8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ru" sz="1000" noProof="0" dirty="0">
                <a:solidFill>
                  <a:schemeClr val="tx1"/>
                </a:solidFill>
              </a:rPr>
              <a:t xml:space="preserve">Violations of the Policy on Related Party Agreements (KPC data)</a:t>
            </a:r>
            <a:r>
              <a:rPr lang="ru-RU" sz="1000" dirty="0">
                <a:solidFill>
                  <a:schemeClr val="tx1"/>
                </a:solidFill>
              </a:rPr>
              <a:t/>
            </a:r>
            <a:endParaRPr lang="ru" sz="1000" noProof="0" dirty="0">
              <a:solidFill>
                <a:schemeClr val="tx1"/>
              </a:solidFill>
            </a:endParaRPr>
          </a:p>
        </p:txBody>
      </p:sp>
      <p:sp>
        <p:nvSpPr>
          <p:cNvPr id="82" name="TextBox 81">
            <a:extLst>
              <a:ext uri="{FF2B5EF4-FFF2-40B4-BE49-F238E27FC236}">
                <a16:creationId xmlns:a16="http://schemas.microsoft.com/office/drawing/2014/main" id="{7EEE0F13-CAAB-426F-97F5-90E33AC687F4}"/>
              </a:ext>
            </a:extLst>
          </p:cNvPr>
          <p:cNvSpPr txBox="1"/>
          <p:nvPr/>
        </p:nvSpPr>
        <p:spPr>
          <a:xfrm>
            <a:off x="414267" y="2424990"/>
            <a:ext cx="1538825" cy="615553"/>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spcBef>
                <a:spcPct val="0"/>
              </a:spcBef>
              <a:spcAft>
                <a:spcPct val="0"/>
              </a:spcAft>
              <a:defRPr sz="8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rtl="0"/>
            <a:r>
              <a:rPr lang="ru" sz="1000" noProof="0" dirty="0">
                <a:solidFill>
                  <a:schemeClr val="tx1"/>
                </a:solidFill>
              </a:rPr>
              <a:t>Кол-во договоров</a:t>
            </a:r>
            <a:r>
              <a:rPr lang="en-US" sz="1000" noProof="0" dirty="0">
                <a:solidFill>
                  <a:schemeClr val="tx1"/>
                </a:solidFill>
              </a:rPr>
              <a:t/>
            </a:r>
            <a:br>
              <a:rPr lang="en-US" sz="1000" noProof="0" dirty="0">
                <a:solidFill>
                  <a:schemeClr val="tx1"/>
                </a:solidFill>
              </a:rPr>
            </a:br>
            <a:r>
              <a:rPr lang="ru" sz="1000" noProof="0" dirty="0">
                <a:solidFill>
                  <a:schemeClr val="tx1"/>
                </a:solidFill>
              </a:rPr>
              <a:t>со связанными сторонами </a:t>
            </a:r>
            <a:endParaRPr lang="ru" sz="1000" noProof="0" dirty="0" smtClean="0">
              <a:solidFill>
                <a:schemeClr val="tx1"/>
              </a:solidFill>
            </a:endParaRPr>
          </a:p>
          <a:p>
            <a:pPr rtl="0"/>
            <a:r>
              <a:rPr lang="ru" sz="1000" noProof="0" dirty="0" smtClean="0">
                <a:solidFill>
                  <a:schemeClr val="tx1"/>
                </a:solidFill>
              </a:rPr>
              <a:t xml:space="preserve">(according to KPK)</a:t>
            </a:r>
            <a:r>
              <a:rPr lang="ru" sz="1000" noProof="0" dirty="0">
                <a:solidFill>
                  <a:schemeClr val="tx1"/>
                </a:solidFill>
              </a:rPr>
              <a:t/>
            </a:r>
          </a:p>
        </p:txBody>
      </p:sp>
      <p:graphicFrame>
        <p:nvGraphicFramePr>
          <p:cNvPr id="79" name="Chart 78">
            <a:extLst>
              <a:ext uri="{FF2B5EF4-FFF2-40B4-BE49-F238E27FC236}">
                <a16:creationId xmlns:a16="http://schemas.microsoft.com/office/drawing/2014/main" id="{52DD924D-A169-4FDD-9BA2-D459FF44CFEC}"/>
              </a:ext>
            </a:extLst>
          </p:cNvPr>
          <p:cNvGraphicFramePr/>
          <p:nvPr>
            <p:custDataLst>
              <p:tags r:id="rId3"/>
            </p:custDataLst>
            <p:extLst>
              <p:ext uri="{D42A27DB-BD31-4B8C-83A1-F6EECF244321}">
                <p14:modId xmlns:p14="http://schemas.microsoft.com/office/powerpoint/2010/main" val="3598565512"/>
              </p:ext>
            </p:extLst>
          </p:nvPr>
        </p:nvGraphicFramePr>
        <p:xfrm>
          <a:off x="3462606" y="2287823"/>
          <a:ext cx="656590" cy="896937"/>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80" name="Chart 79">
            <a:extLst>
              <a:ext uri="{FF2B5EF4-FFF2-40B4-BE49-F238E27FC236}">
                <a16:creationId xmlns:a16="http://schemas.microsoft.com/office/drawing/2014/main" id="{0E81C360-28A2-42C3-8377-C3E231479398}"/>
              </a:ext>
            </a:extLst>
          </p:cNvPr>
          <p:cNvGraphicFramePr/>
          <p:nvPr>
            <p:custDataLst>
              <p:tags r:id="rId4"/>
            </p:custDataLst>
            <p:extLst>
              <p:ext uri="{D42A27DB-BD31-4B8C-83A1-F6EECF244321}">
                <p14:modId xmlns:p14="http://schemas.microsoft.com/office/powerpoint/2010/main" val="2849947008"/>
              </p:ext>
            </p:extLst>
          </p:nvPr>
        </p:nvGraphicFramePr>
        <p:xfrm>
          <a:off x="1925008" y="2284297"/>
          <a:ext cx="1735703" cy="896937"/>
        </p:xfrm>
        <a:graphic>
          <a:graphicData uri="http://schemas.openxmlformats.org/drawingml/2006/chart">
            <c:chart xmlns:c="http://schemas.openxmlformats.org/drawingml/2006/chart" xmlns:r="http://schemas.openxmlformats.org/officeDocument/2006/relationships" r:id="rId11"/>
          </a:graphicData>
        </a:graphic>
      </p:graphicFrame>
      <p:sp>
        <p:nvSpPr>
          <p:cNvPr id="11" name="TextBox 10">
            <a:extLst>
              <a:ext uri="{FF2B5EF4-FFF2-40B4-BE49-F238E27FC236}">
                <a16:creationId xmlns:a16="http://schemas.microsoft.com/office/drawing/2014/main" id="{FBDE20A5-A369-6AE9-4F6B-866FE3FD97A5}"/>
              </a:ext>
            </a:extLst>
          </p:cNvPr>
          <p:cNvSpPr txBox="1"/>
          <p:nvPr/>
        </p:nvSpPr>
        <p:spPr>
          <a:xfrm>
            <a:off x="1268503" y="1730939"/>
            <a:ext cx="3796591" cy="400110"/>
          </a:xfrm>
          <a:prstGeom prst="rect">
            <a:avLst/>
          </a:prstGeom>
          <a:noFill/>
        </p:spPr>
        <p:txBody>
          <a:bodyPr wrap="square" rtlCol="0">
            <a:spAutoFit/>
          </a:bodyPr>
          <a:lstStyle/>
          <a:p>
            <a:pPr algn="ctr"/>
            <a:r>
              <a:rPr lang="ru" sz="1000" b="1" dirty="0"/>
              <a:t xml:space="preserve">Related Parties and Violations of the Related Party Agreement Policy (#, $)</a:t>
            </a:r>
            <a:r>
              <a:rPr lang="ru" sz="1000" b="1" noProof="0" dirty="0">
                <a:solidFill>
                  <a:schemeClr val="tx1"/>
                </a:solidFill>
              </a:rPr>
              <a:t/>
            </a:r>
          </a:p>
        </p:txBody>
      </p:sp>
      <p:sp>
        <p:nvSpPr>
          <p:cNvPr id="3" name="Rectangle: Rounded Corners 2">
            <a:extLst>
              <a:ext uri="{FF2B5EF4-FFF2-40B4-BE49-F238E27FC236}">
                <a16:creationId xmlns:a16="http://schemas.microsoft.com/office/drawing/2014/main" id="{5B1C347B-3B57-AA3C-934F-656BFAF6B156}"/>
              </a:ext>
            </a:extLst>
          </p:cNvPr>
          <p:cNvSpPr/>
          <p:nvPr>
            <p:custDataLst>
              <p:tags r:id="rId5"/>
            </p:custDataLst>
          </p:nvPr>
        </p:nvSpPr>
        <p:spPr>
          <a:xfrm>
            <a:off x="313266" y="3499277"/>
            <a:ext cx="5707063" cy="3087711"/>
          </a:xfrm>
          <a:prstGeom prst="roundRect">
            <a:avLst>
              <a:gd name="adj" fmla="val 6024"/>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algn="ctr" rtl="0"/>
            <a:r>
              <a:rPr lang="ru" sz="1000" b="1" dirty="0">
                <a:solidFill>
                  <a:schemeClr val="tx1"/>
                </a:solidFill>
              </a:rPr>
              <a:t xml:space="preserve">Incidents and violations in the area</a:t>
            </a:r>
          </a:p>
          <a:p>
            <a:pPr algn="ctr" rtl="0"/>
            <a:r>
              <a:rPr lang="ru" sz="1000" b="1" dirty="0">
                <a:solidFill>
                  <a:schemeClr val="tx1"/>
                </a:solidFill>
              </a:rPr>
              <a:t xml:space="preserve">protection of personal data (PD)</a:t>
            </a:r>
          </a:p>
          <a:p>
            <a:pPr algn="ctr" rtl="0"/>
            <a:r>
              <a:rPr lang="ru" sz="1000" b="1" dirty="0">
                <a:solidFill>
                  <a:schemeClr val="tx1"/>
                </a:solidFill>
              </a:rPr>
              <a:t xml:space="preserve">(#, %)</a:t>
            </a:r>
          </a:p>
        </p:txBody>
      </p:sp>
      <p:sp>
        <p:nvSpPr>
          <p:cNvPr id="16" name="Прямоугольник 15"/>
          <p:cNvSpPr/>
          <p:nvPr/>
        </p:nvSpPr>
        <p:spPr>
          <a:xfrm>
            <a:off x="1081311" y="4666246"/>
            <a:ext cx="3983783" cy="246221"/>
          </a:xfrm>
          <a:prstGeom prst="rect">
            <a:avLst/>
          </a:prstGeom>
        </p:spPr>
        <p:txBody>
          <a:bodyPr wrap="none">
            <a:spAutoFit/>
          </a:bodyPr>
          <a:lstStyle/>
          <a:p>
            <a:r>
              <a:rPr lang="ru-RU" sz="1000" dirty="0">
                <a:solidFill>
                  <a:schemeClr val="accent1"/>
                </a:solidFill>
                <a:latin typeface="Arial" panose="020B0604020202020204" pitchFamily="34" charset="0"/>
                <a:ea typeface="Calibri" panose="020F0502020204030204" pitchFamily="34" charset="0"/>
              </a:rPr>
              <a:t xml:space="preserve">0 personal data security incidents/violations</a:t>
            </a:r>
            <a:endParaRPr lang="ru-RU" sz="1000" dirty="0">
              <a:solidFill>
                <a:schemeClr val="accent1"/>
              </a:solidFill>
            </a:endParaRPr>
          </a:p>
        </p:txBody>
      </p:sp>
      <p:sp>
        <p:nvSpPr>
          <p:cNvPr id="6" name="TextBox 5"/>
          <p:cNvSpPr txBox="1"/>
          <p:nvPr/>
        </p:nvSpPr>
        <p:spPr>
          <a:xfrm>
            <a:off x="3581337" y="2633023"/>
            <a:ext cx="50863" cy="123111"/>
          </a:xfrm>
          <a:prstGeom prst="rect">
            <a:avLst/>
          </a:prstGeom>
          <a:solidFill>
            <a:schemeClr val="accent2"/>
          </a:solidFill>
        </p:spPr>
        <p:txBody>
          <a:bodyPr wrap="square" lIns="0" tIns="0" rIns="0" bIns="0" rtlCol="0">
            <a:spAutoFit/>
          </a:bodyPr>
          <a:lstStyle/>
          <a:p>
            <a:r>
              <a:rPr lang="en-US" sz="800" dirty="0" smtClean="0"/>
              <a:t>2</a:t>
            </a:r>
            <a:endParaRPr lang="ru-RU" sz="800" dirty="0"/>
          </a:p>
        </p:txBody>
      </p:sp>
      <p:sp>
        <p:nvSpPr>
          <p:cNvPr id="20" name="Rectangle: Rounded Corners 45">
            <a:extLst>
              <a:ext uri="{FF2B5EF4-FFF2-40B4-BE49-F238E27FC236}">
                <a16:creationId xmlns:a16="http://schemas.microsoft.com/office/drawing/2014/main" id="{428F9E78-D96E-4E9F-878B-75090E7A957C}"/>
              </a:ext>
            </a:extLst>
          </p:cNvPr>
          <p:cNvSpPr/>
          <p:nvPr/>
        </p:nvSpPr>
        <p:spPr>
          <a:xfrm>
            <a:off x="6165322" y="3499279"/>
            <a:ext cx="1620000" cy="3087710"/>
          </a:xfrm>
          <a:prstGeom prst="roundRect">
            <a:avLst>
              <a:gd name="adj" fmla="val 8030"/>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rtl="0"/>
            <a:r>
              <a:rPr lang="ru" sz="800" b="1" dirty="0" smtClean="0">
                <a:solidFill>
                  <a:schemeClr val="tx1"/>
                </a:solidFill>
              </a:rPr>
              <a:t xml:space="preserve">PD protection</a:t>
            </a:r>
            <a:r>
              <a:rPr lang="ru" sz="800" b="1" dirty="0">
                <a:solidFill>
                  <a:schemeClr val="tx1"/>
                </a:solidFill>
              </a:rPr>
              <a:t/>
            </a:r>
          </a:p>
          <a:p>
            <a:pPr marL="87313" indent="-87313">
              <a:buClr>
                <a:schemeClr val="accent1"/>
              </a:buClr>
              <a:buFont typeface="Arial" panose="020B0604020202020204" pitchFamily="34" charset="0"/>
              <a:buChar char="•"/>
            </a:pPr>
            <a:r>
              <a:rPr lang="ru-RU" sz="800" dirty="0" smtClean="0">
                <a:solidFill>
                  <a:schemeClr val="tx1"/>
                </a:solidFill>
              </a:rPr>
              <a:t xml:space="preserve">Perimeter maintains 100% coverage of IGA enterprises.</a:t>
            </a:r>
            <a:r>
              <a:rPr lang="ru-RU" sz="800" dirty="0">
                <a:solidFill>
                  <a:schemeClr val="tx1"/>
                </a:solidFill>
              </a:rPr>
              <a:t/>
            </a:r>
            <a:r>
              <a:rPr lang="ru-RU" sz="800" dirty="0" smtClean="0">
                <a:solidFill>
                  <a:schemeClr val="tx1"/>
                </a:solidFill>
              </a:rPr>
              <a:t/>
            </a:r>
          </a:p>
          <a:p>
            <a:pPr marL="87313" indent="-87313">
              <a:buClr>
                <a:schemeClr val="accent1"/>
              </a:buClr>
              <a:buFont typeface="Arial" panose="020B0604020202020204" pitchFamily="34" charset="0"/>
              <a:buChar char="•"/>
            </a:pPr>
            <a:endParaRPr lang="ru-RU" sz="800" dirty="0">
              <a:solidFill>
                <a:schemeClr val="tx1"/>
              </a:solidFill>
            </a:endParaRPr>
          </a:p>
          <a:p>
            <a:pPr marL="87313">
              <a:buClr>
                <a:schemeClr val="accent1"/>
              </a:buClr>
            </a:pPr>
            <a:r>
              <a:rPr lang="ru-RU" sz="800" dirty="0" smtClean="0">
                <a:solidFill>
                  <a:schemeClr val="tx1"/>
                </a:solidFill>
              </a:rPr>
              <a:t xml:space="preserve">The coverage of employees with consent to the collection and processing of personal data is less than 100% (based on the results of self-testing using the sampling method, omission is 4.2%, see Appendix 4).</a:t>
            </a:r>
            <a:r>
              <a:rPr lang="ru-RU" sz="800" dirty="0">
                <a:solidFill>
                  <a:schemeClr val="tx1"/>
                </a:solidFill>
              </a:rPr>
              <a:t/>
            </a:r>
            <a:r>
              <a:rPr lang="ru-RU" sz="800" dirty="0" smtClean="0">
                <a:solidFill>
                  <a:schemeClr val="tx1"/>
                </a:solidFill>
              </a:rPr>
              <a:t/>
            </a:r>
          </a:p>
          <a:p>
            <a:pPr marL="87313">
              <a:buClr>
                <a:schemeClr val="accent1"/>
              </a:buClr>
            </a:pPr>
            <a:endParaRPr lang="ru-RU" sz="800" dirty="0">
              <a:solidFill>
                <a:schemeClr val="tx1"/>
              </a:solidFill>
            </a:endParaRPr>
          </a:p>
          <a:p>
            <a:pPr marL="87313">
              <a:buClr>
                <a:schemeClr val="accent1"/>
              </a:buClr>
            </a:pPr>
            <a:r>
              <a:rPr lang="ru-RU" sz="800" dirty="0" smtClean="0">
                <a:solidFill>
                  <a:schemeClr val="tx1"/>
                </a:solidFill>
              </a:rPr>
              <a:t xml:space="preserve">95.83% coverage of enterprises by the Group’s PD Protection Policy and Perimeter PD Regulations (Aitu Dala LLP - implemented in January 2026, ERG Beijing - in progress).</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err="1">
                <a:solidFill>
                  <a:schemeClr val="tx1"/>
                </a:solidFill>
              </a:rPr>
              <a:t/>
            </a:r>
            <a:r>
              <a:rPr lang="ru-RU" sz="800" dirty="0">
                <a:solidFill>
                  <a:schemeClr val="tx1"/>
                </a:solidFill>
              </a:rPr>
              <a:t/>
            </a:r>
            <a:r>
              <a:rPr lang="ru-RU" sz="800" dirty="0" err="1">
                <a:solidFill>
                  <a:schemeClr val="tx1"/>
                </a:solidFill>
              </a:rPr>
              <a:t/>
            </a:r>
            <a:r>
              <a:rPr lang="ru-RU" sz="800" dirty="0" smtClean="0">
                <a:solidFill>
                  <a:schemeClr val="tx1"/>
                </a:solidFill>
              </a:rPr>
              <a:t/>
            </a:r>
            <a:r>
              <a:rPr lang="ru-RU" sz="800" dirty="0" err="1" smtClean="0">
                <a:solidFill>
                  <a:schemeClr val="tx1"/>
                </a:solidFill>
              </a:rPr>
              <a:t/>
            </a:r>
            <a:r>
              <a:rPr lang="ru-RU" sz="800" dirty="0" smtClean="0">
                <a:solidFill>
                  <a:schemeClr val="tx1"/>
                </a:solidFill>
              </a:rPr>
              <a:t/>
            </a:r>
            <a:endParaRPr lang="ru-RU" sz="800" dirty="0">
              <a:solidFill>
                <a:schemeClr val="tx1"/>
              </a:solidFill>
            </a:endParaRPr>
          </a:p>
          <a:p>
            <a:pPr marL="87313" indent="-87313">
              <a:buClr>
                <a:schemeClr val="accent1"/>
              </a:buClr>
              <a:buFont typeface="Arial" panose="020B0604020202020204" pitchFamily="34" charset="0"/>
              <a:buChar char="•"/>
            </a:pPr>
            <a:endParaRPr lang="ru-RU" sz="800" dirty="0" smtClean="0">
              <a:solidFill>
                <a:schemeClr val="tx1"/>
              </a:solidFill>
            </a:endParaRPr>
          </a:p>
          <a:p>
            <a:pPr rtl="0"/>
            <a:endParaRPr lang="en-US" sz="800" b="1" noProof="0" dirty="0">
              <a:solidFill>
                <a:schemeClr val="tx1"/>
              </a:solidFill>
            </a:endParaRPr>
          </a:p>
          <a:p>
            <a:pPr rtl="0"/>
            <a:endParaRPr lang="en-US" sz="800" b="1" noProof="0" dirty="0">
              <a:solidFill>
                <a:schemeClr val="tx1"/>
              </a:solidFill>
            </a:endParaRPr>
          </a:p>
          <a:p>
            <a:pPr rtl="0"/>
            <a:endParaRPr lang="en-US" sz="800" b="1" noProof="0" dirty="0">
              <a:solidFill>
                <a:schemeClr val="tx1"/>
              </a:solidFill>
            </a:endParaRPr>
          </a:p>
          <a:p>
            <a:pPr rtl="0"/>
            <a:endParaRPr lang="en-US" sz="800" noProof="0" dirty="0">
              <a:solidFill>
                <a:schemeClr val="tx1"/>
              </a:solidFill>
            </a:endParaRPr>
          </a:p>
        </p:txBody>
      </p:sp>
      <p:sp>
        <p:nvSpPr>
          <p:cNvPr id="21" name="Rectangle: Rounded Corners 46">
            <a:extLst>
              <a:ext uri="{FF2B5EF4-FFF2-40B4-BE49-F238E27FC236}">
                <a16:creationId xmlns:a16="http://schemas.microsoft.com/office/drawing/2014/main" id="{58B37186-9214-4B34-8CC1-932DED71A48E}"/>
              </a:ext>
            </a:extLst>
          </p:cNvPr>
          <p:cNvSpPr/>
          <p:nvPr/>
        </p:nvSpPr>
        <p:spPr>
          <a:xfrm>
            <a:off x="7930315" y="3499278"/>
            <a:ext cx="2293587" cy="3087711"/>
          </a:xfrm>
          <a:prstGeom prst="roundRect">
            <a:avLst>
              <a:gd name="adj" fmla="val 10098"/>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rtl="0"/>
            <a:r>
              <a:rPr lang="ru" sz="800" b="1" dirty="0" smtClean="0">
                <a:solidFill>
                  <a:schemeClr val="tx1"/>
                </a:solidFill>
              </a:rPr>
              <a:t xml:space="preserve">PD protection</a:t>
            </a:r>
            <a:r>
              <a:rPr lang="ru" sz="800" b="1" dirty="0">
                <a:solidFill>
                  <a:schemeClr val="tx1"/>
                </a:solidFill>
              </a:rPr>
              <a:t/>
            </a:r>
          </a:p>
          <a:p>
            <a:pPr marL="87313" indent="-87313">
              <a:buClr>
                <a:schemeClr val="accent1"/>
              </a:buClr>
              <a:buFont typeface="Arial" panose="020B0604020202020204" pitchFamily="34" charset="0"/>
              <a:buChar char="•"/>
            </a:pPr>
            <a:r>
              <a:rPr lang="ru-RU" sz="800" dirty="0">
                <a:solidFill>
                  <a:schemeClr val="tx1"/>
                </a:solidFill>
              </a:rPr>
              <a:t xml:space="preserve">Based on the results of the activities carried out noun. no realized risks were identified:</a:t>
            </a:r>
            <a:r>
              <a:rPr lang="ru-RU" sz="800" dirty="0" smtClean="0">
                <a:solidFill>
                  <a:schemeClr val="tx1"/>
                </a:solidFill>
              </a:rPr>
              <a:t/>
            </a:r>
            <a:r>
              <a:rPr lang="ru-RU" sz="800" dirty="0">
                <a:solidFill>
                  <a:schemeClr val="tx1"/>
                </a:solidFill>
              </a:rPr>
              <a:t/>
            </a:r>
          </a:p>
          <a:p>
            <a:pPr marL="177800" indent="-90488">
              <a:buClr>
                <a:schemeClr val="accent1"/>
              </a:buClr>
              <a:buFont typeface="Courier New" panose="02070309020205020404" pitchFamily="49" charset="0"/>
              <a:buChar char="o"/>
            </a:pPr>
            <a:r>
              <a:rPr lang="ru-RU" sz="800" dirty="0" smtClean="0">
                <a:solidFill>
                  <a:schemeClr val="tx1"/>
                </a:solidFill>
              </a:rPr>
              <a:t xml:space="preserve">2 PD risk assessments (service - collection and updating of employee PD (Smartbridge), HR SAP Success Factors)</a:t>
            </a:r>
            <a:r>
              <a:rPr lang="ru-RU" sz="800" dirty="0">
                <a:solidFill>
                  <a:schemeClr val="tx1"/>
                </a:solidFill>
              </a:rPr>
              <a:t/>
            </a:r>
            <a:r>
              <a:rPr lang="ru-RU" sz="800" dirty="0" err="1">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err="1">
                <a:solidFill>
                  <a:schemeClr val="tx1"/>
                </a:solidFill>
              </a:rPr>
              <a:t/>
            </a:r>
            <a:r>
              <a:rPr lang="ru-RU" sz="800" dirty="0">
                <a:solidFill>
                  <a:schemeClr val="tx1"/>
                </a:solidFill>
              </a:rPr>
              <a:t/>
            </a:r>
            <a:r>
              <a:rPr lang="ru-RU" sz="800" dirty="0" err="1">
                <a:solidFill>
                  <a:schemeClr val="tx1"/>
                </a:solidFill>
              </a:rPr>
              <a:t/>
            </a:r>
            <a:r>
              <a:rPr lang="ru-RU" sz="800" dirty="0">
                <a:solidFill>
                  <a:schemeClr val="tx1"/>
                </a:solidFill>
              </a:rPr>
              <a:t/>
            </a:r>
          </a:p>
          <a:p>
            <a:pPr marL="177800" indent="-90488">
              <a:buClr>
                <a:schemeClr val="accent1"/>
              </a:buClr>
              <a:buFont typeface="Courier New" panose="02070309020205020404" pitchFamily="49" charset="0"/>
              <a:buChar char="o"/>
            </a:pPr>
            <a:r>
              <a:rPr lang="ru-RU" sz="800" dirty="0" smtClean="0">
                <a:solidFill>
                  <a:schemeClr val="tx1"/>
                </a:solidFill>
              </a:rPr>
              <a:t xml:space="preserve">regular participation in the Working Group on the bill “On AI”; review of legal acts in the field of PD</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p>
          <a:p>
            <a:pPr marL="177800" indent="-90488">
              <a:buClr>
                <a:schemeClr val="accent1"/>
              </a:buClr>
              <a:buFont typeface="Courier New" panose="02070309020205020404" pitchFamily="49" charset="0"/>
              <a:buChar char="o"/>
            </a:pPr>
            <a:r>
              <a:rPr lang="ru-RU" sz="800" dirty="0" smtClean="0">
                <a:solidFill>
                  <a:schemeClr val="tx1"/>
                </a:solidFill>
              </a:rPr>
              <a:t xml:space="preserve">2 self-tests (availability of current consents for the collection and processing of employees’ PD and current PD clauses in existing contracts) – deviations were identified, recommendations were sent to the business for elimination - details in Appendix 4.</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endParaRPr lang="ru-RU" sz="800" dirty="0">
              <a:solidFill>
                <a:schemeClr val="tx1"/>
              </a:solidFill>
            </a:endParaRPr>
          </a:p>
          <a:p>
            <a:pPr marL="87313" indent="-87313">
              <a:buClr>
                <a:schemeClr val="accent1"/>
              </a:buClr>
              <a:buFont typeface="Arial" panose="020B0604020202020204" pitchFamily="34" charset="0"/>
              <a:buChar char="•"/>
            </a:pPr>
            <a:r>
              <a:rPr lang="ru-RU" sz="800" dirty="0">
                <a:solidFill>
                  <a:schemeClr val="tx1"/>
                </a:solidFill>
              </a:rPr>
              <a:t xml:space="preserve">Mitigation measures carried out in 2024 assessments in business processes, self-tests are accepted.</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endParaRPr lang="ru-RU" sz="800" dirty="0" smtClean="0">
              <a:solidFill>
                <a:schemeClr val="tx1"/>
              </a:solidFill>
            </a:endParaRPr>
          </a:p>
          <a:p>
            <a:pPr marL="87313" indent="-87313">
              <a:buClr>
                <a:schemeClr val="accent1"/>
              </a:buClr>
              <a:buFont typeface="Arial" panose="020B0604020202020204" pitchFamily="34" charset="0"/>
              <a:buChar char="•"/>
            </a:pPr>
            <a:r>
              <a:rPr lang="ru-RU" sz="800" dirty="0" smtClean="0">
                <a:solidFill>
                  <a:schemeClr val="tx1"/>
                </a:solidFill>
              </a:rPr>
              <a:t xml:space="preserve">The status of fulfillment of the requirements of the Checklist for compliance with the Law of the Republic of Kazakhstan on personal data and their protection has been updated.</a:t>
            </a:r>
            <a:r>
              <a:rPr lang="ru-RU" sz="800" dirty="0">
                <a:solidFill>
                  <a:schemeClr val="tx1"/>
                </a:solidFill>
              </a:rPr>
              <a:t/>
            </a:r>
            <a:r>
              <a:rPr lang="ru-RU" sz="800" dirty="0" err="1">
                <a:solidFill>
                  <a:schemeClr val="tx1"/>
                </a:solidFill>
              </a:rPr>
              <a:t/>
            </a:r>
            <a:r>
              <a:rPr lang="ru-RU" sz="800" dirty="0">
                <a:solidFill>
                  <a:schemeClr val="tx1"/>
                </a:solidFill>
              </a:rPr>
              <a:t/>
            </a:r>
          </a:p>
          <a:p>
            <a:pPr>
              <a:buClr>
                <a:schemeClr val="accent1"/>
              </a:buClr>
            </a:pPr>
            <a:r>
              <a:rPr lang="ru-RU" sz="800" dirty="0" smtClean="0">
                <a:solidFill>
                  <a:schemeClr val="tx1"/>
                </a:solidFill>
              </a:rPr>
              <a:t>	</a:t>
            </a:r>
            <a:endParaRPr lang="en-US" sz="800" noProof="0" dirty="0">
              <a:solidFill>
                <a:schemeClr val="tx1"/>
              </a:solidFill>
            </a:endParaRPr>
          </a:p>
        </p:txBody>
      </p:sp>
      <p:sp>
        <p:nvSpPr>
          <p:cNvPr id="22" name="Rectangle: Rounded Corners 47">
            <a:extLst>
              <a:ext uri="{FF2B5EF4-FFF2-40B4-BE49-F238E27FC236}">
                <a16:creationId xmlns:a16="http://schemas.microsoft.com/office/drawing/2014/main" id="{638A7303-5667-4A0B-AF00-1F1FF931396D}"/>
              </a:ext>
            </a:extLst>
          </p:cNvPr>
          <p:cNvSpPr/>
          <p:nvPr/>
        </p:nvSpPr>
        <p:spPr>
          <a:xfrm>
            <a:off x="10368895" y="3499280"/>
            <a:ext cx="1620000" cy="3087709"/>
          </a:xfrm>
          <a:prstGeom prst="roundRect">
            <a:avLst>
              <a:gd name="adj" fmla="val 6607"/>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rtl="0"/>
            <a:r>
              <a:rPr lang="ru" sz="800" b="1" dirty="0" smtClean="0">
                <a:solidFill>
                  <a:schemeClr val="tx1"/>
                </a:solidFill>
              </a:rPr>
              <a:t xml:space="preserve">PD protection:</a:t>
            </a:r>
          </a:p>
          <a:p>
            <a:pPr marL="87313" indent="-87313">
              <a:buClr>
                <a:schemeClr val="accent1"/>
              </a:buClr>
              <a:buFont typeface="Arial" panose="020B0604020202020204" pitchFamily="34" charset="0"/>
              <a:buChar char="•"/>
            </a:pPr>
            <a:r>
              <a:rPr lang="ru-RU" sz="800" dirty="0" smtClean="0">
                <a:solidFill>
                  <a:schemeClr val="tx1"/>
                </a:solidFill>
              </a:rPr>
              <a:t xml:space="preserve">Continue implementation of Perimeter’s compliance program for the protection of personal data in 2026.</a:t>
            </a:r>
            <a:endParaRPr lang="ru-RU" sz="800" dirty="0">
              <a:solidFill>
                <a:schemeClr val="tx1"/>
              </a:solidFill>
            </a:endParaRPr>
          </a:p>
        </p:txBody>
      </p:sp>
      <p:sp>
        <p:nvSpPr>
          <p:cNvPr id="23" name="Rectangle: Rounded Corners 47">
            <a:extLst>
              <a:ext uri="{FF2B5EF4-FFF2-40B4-BE49-F238E27FC236}">
                <a16:creationId xmlns:a16="http://schemas.microsoft.com/office/drawing/2014/main" id="{638A7303-5667-4A0B-AF00-1F1FF931396D}"/>
              </a:ext>
            </a:extLst>
          </p:cNvPr>
          <p:cNvSpPr/>
          <p:nvPr/>
        </p:nvSpPr>
        <p:spPr>
          <a:xfrm>
            <a:off x="10368895" y="1495758"/>
            <a:ext cx="1620000" cy="470362"/>
          </a:xfrm>
          <a:prstGeom prst="roundRect">
            <a:avLst>
              <a:gd name="adj" fmla="val 6607"/>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rtl="0"/>
            <a:r>
              <a:rPr lang="ru" sz="800" b="1" noProof="0" dirty="0">
                <a:solidFill>
                  <a:schemeClr val="tx1"/>
                </a:solidFill>
              </a:rPr>
              <a:t xml:space="preserve">No impact on GP</a:t>
            </a:r>
          </a:p>
          <a:p>
            <a:pPr rtl="0"/>
            <a:endParaRPr lang="ru" sz="800" b="1" noProof="0" dirty="0">
              <a:solidFill>
                <a:schemeClr val="tx1"/>
              </a:solidFill>
            </a:endParaRPr>
          </a:p>
          <a:p>
            <a:pPr rtl="0"/>
            <a:r>
              <a:rPr lang="ru" sz="800" b="1" dirty="0">
                <a:solidFill>
                  <a:schemeClr val="tx1"/>
                </a:solidFill>
              </a:rPr>
              <a:t xml:space="preserve">Next steps:</a:t>
            </a:r>
            <a:r>
              <a:rPr lang="ru" sz="800" b="1" dirty="0" smtClean="0">
                <a:solidFill>
                  <a:schemeClr val="tx1"/>
                </a:solidFill>
              </a:rPr>
              <a:t/>
            </a:r>
            <a:endParaRPr lang="ru" sz="800" b="1" noProof="0" dirty="0">
              <a:solidFill>
                <a:schemeClr val="tx1"/>
              </a:solidFill>
            </a:endParaRPr>
          </a:p>
        </p:txBody>
      </p:sp>
      <p:sp>
        <p:nvSpPr>
          <p:cNvPr id="24" name="Равнобедренный треугольник 23"/>
          <p:cNvSpPr/>
          <p:nvPr/>
        </p:nvSpPr>
        <p:spPr>
          <a:xfrm rot="10800000">
            <a:off x="6193756" y="4213154"/>
            <a:ext cx="110014" cy="111921"/>
          </a:xfrm>
          <a:prstGeom prst="triangle">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400" dirty="0">
              <a:solidFill>
                <a:schemeClr val="tx1"/>
              </a:solidFill>
            </a:endParaRPr>
          </a:p>
        </p:txBody>
      </p:sp>
      <p:sp>
        <p:nvSpPr>
          <p:cNvPr id="25" name="Равнобедренный треугольник 24"/>
          <p:cNvSpPr/>
          <p:nvPr/>
        </p:nvSpPr>
        <p:spPr>
          <a:xfrm rot="10800000">
            <a:off x="6193755" y="5189477"/>
            <a:ext cx="110014" cy="111921"/>
          </a:xfrm>
          <a:prstGeom prst="triangle">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400" dirty="0">
              <a:solidFill>
                <a:schemeClr val="tx1"/>
              </a:solidFill>
            </a:endParaRPr>
          </a:p>
        </p:txBody>
      </p:sp>
    </p:spTree>
    <p:extLst>
      <p:ext uri="{BB962C8B-B14F-4D97-AF65-F5344CB8AC3E}">
        <p14:creationId xmlns:p14="http://schemas.microsoft.com/office/powerpoint/2010/main" val="785405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 name="think-cell data - do not delete" hidden="1">
            <a:extLst>
              <a:ext uri="{FF2B5EF4-FFF2-40B4-BE49-F238E27FC236}">
                <a16:creationId xmlns:a16="http://schemas.microsoft.com/office/drawing/2014/main" id="{1A28A94F-DCEA-4C44-B9AD-7849A75558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568" name="think-cell Slide" r:id="rId24" imgW="473" imgH="473" progId="TCLayout.ActiveDocument.1">
                  <p:embed/>
                </p:oleObj>
              </mc:Choice>
              <mc:Fallback>
                <p:oleObj name="think-cell Slide" r:id="rId24" imgW="473" imgH="473" progId="TCLayout.ActiveDocument.1">
                  <p:embed/>
                  <p:pic>
                    <p:nvPicPr>
                      <p:cNvPr id="63" name="think-cell data - do not delete" hidden="1">
                        <a:extLst>
                          <a:ext uri="{FF2B5EF4-FFF2-40B4-BE49-F238E27FC236}">
                            <a16:creationId xmlns:a16="http://schemas.microsoft.com/office/drawing/2014/main" id="{1A28A94F-DCEA-4C44-B9AD-7849A755587C}"/>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48" name="Rectangle: Rounded Corners 47">
            <a:extLst>
              <a:ext uri="{FF2B5EF4-FFF2-40B4-BE49-F238E27FC236}">
                <a16:creationId xmlns:a16="http://schemas.microsoft.com/office/drawing/2014/main" id="{EB8223EC-37A6-4898-B55F-56AE02B7A025}"/>
              </a:ext>
            </a:extLst>
          </p:cNvPr>
          <p:cNvSpPr/>
          <p:nvPr>
            <p:custDataLst>
              <p:tags r:id="rId3"/>
            </p:custDataLst>
          </p:nvPr>
        </p:nvSpPr>
        <p:spPr>
          <a:xfrm>
            <a:off x="337497" y="1342395"/>
            <a:ext cx="2290913" cy="2791194"/>
          </a:xfrm>
          <a:prstGeom prst="roundRect">
            <a:avLst>
              <a:gd name="adj" fmla="val 6024"/>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1000" b="1" dirty="0" smtClean="0">
                <a:solidFill>
                  <a:schemeClr val="tx1"/>
                </a:solidFill>
              </a:rPr>
              <a:t xml:space="preserve">Conflict of interest (CI) and coefficient</a:t>
            </a:r>
            <a:r>
              <a:rPr lang="ru" sz="1000" b="1" dirty="0">
                <a:solidFill>
                  <a:schemeClr val="tx1"/>
                </a:solidFill>
              </a:rPr>
              <a:t/>
            </a:r>
            <a:r>
              <a:rPr lang="ru" sz="1000" b="1" dirty="0" smtClean="0">
                <a:solidFill>
                  <a:schemeClr val="tx1"/>
                </a:solidFill>
              </a:rPr>
              <a:t/>
            </a:r>
            <a:r>
              <a:rPr lang="ru" sz="1000" b="1" dirty="0">
                <a:solidFill>
                  <a:schemeClr val="tx1"/>
                </a:solidFill>
              </a:rPr>
              <a:t/>
            </a:r>
          </a:p>
          <a:p>
            <a:pPr rtl="0"/>
            <a:r>
              <a:rPr lang="ru" sz="1000" b="1" dirty="0">
                <a:solidFill>
                  <a:schemeClr val="tx1"/>
                </a:solidFill>
              </a:rPr>
              <a:t xml:space="preserve">confirmations (#, %)1</a:t>
            </a:r>
            <a:r>
              <a:rPr lang="ru" sz="1000" b="1" dirty="0" smtClean="0">
                <a:solidFill>
                  <a:schemeClr val="tx1"/>
                </a:solidFill>
              </a:rPr>
              <a:t/>
            </a:r>
            <a:r>
              <a:rPr lang="ru-RU" sz="1000" b="1" baseline="30000" dirty="0" smtClean="0">
                <a:solidFill>
                  <a:schemeClr val="accent1"/>
                </a:solidFill>
              </a:rPr>
              <a:t/>
            </a:r>
            <a:endParaRPr lang="ru" sz="1000" b="1" baseline="30000" dirty="0">
              <a:solidFill>
                <a:schemeClr val="accent1"/>
              </a:solidFill>
            </a:endParaRPr>
          </a:p>
        </p:txBody>
      </p:sp>
      <p:sp>
        <p:nvSpPr>
          <p:cNvPr id="2" name="Title 1">
            <a:extLst>
              <a:ext uri="{FF2B5EF4-FFF2-40B4-BE49-F238E27FC236}">
                <a16:creationId xmlns:a16="http://schemas.microsoft.com/office/drawing/2014/main" id="{E94B47D9-335D-6141-A6CF-E2A01388F973}"/>
              </a:ext>
            </a:extLst>
          </p:cNvPr>
          <p:cNvSpPr>
            <a:spLocks noGrp="1"/>
          </p:cNvSpPr>
          <p:nvPr>
            <p:ph type="title"/>
          </p:nvPr>
        </p:nvSpPr>
        <p:spPr>
          <a:xfrm>
            <a:off x="317499" y="0"/>
            <a:ext cx="10584209" cy="704850"/>
          </a:xfrm>
        </p:spPr>
        <p:txBody>
          <a:bodyPr vert="horz" rtlCol="0"/>
          <a:lstStyle/>
          <a:p>
            <a:pPr rtl="0"/>
            <a:r>
              <a:rPr lang="ru-RU" dirty="0" smtClean="0"/>
              <a:t>Дашборд </a:t>
            </a:r>
            <a:r>
              <a:rPr lang="ru-RU" dirty="0"/>
              <a:t>за </a:t>
            </a:r>
            <a:r>
              <a:rPr lang="ru-RU" dirty="0" smtClean="0"/>
              <a:t>4 </a:t>
            </a:r>
            <a:r>
              <a:rPr lang="ru-RU" dirty="0"/>
              <a:t>кв. 2025 г.</a:t>
            </a:r>
            <a:r>
              <a:rPr lang="ru" dirty="0"/>
              <a:t>: </a:t>
            </a:r>
            <a:r>
              <a:rPr lang="ru" noProof="0" dirty="0"/>
              <a:t>Управление </a:t>
            </a:r>
            <a:r>
              <a:rPr lang="ru" noProof="0" dirty="0" smtClean="0"/>
              <a:t>рисками:</a:t>
            </a:r>
            <a:r>
              <a:rPr lang="en-US" dirty="0"/>
              <a:t/>
            </a:r>
            <a:br>
              <a:rPr lang="en-US" dirty="0"/>
            </a:br>
            <a:r>
              <a:rPr lang="ru" dirty="0">
                <a:solidFill>
                  <a:schemeClr val="tx1"/>
                </a:solidFill>
              </a:rPr>
              <a:t>Конфликт интересов, подарки и культурно-развлекательные мероприятия</a:t>
            </a:r>
          </a:p>
        </p:txBody>
      </p:sp>
      <p:sp>
        <p:nvSpPr>
          <p:cNvPr id="341" name="Rectangle: Rounded Corners 340">
            <a:extLst>
              <a:ext uri="{FF2B5EF4-FFF2-40B4-BE49-F238E27FC236}">
                <a16:creationId xmlns:a16="http://schemas.microsoft.com/office/drawing/2014/main" id="{737925A9-7B1B-4A2B-AE27-428A3CC1C67D}"/>
              </a:ext>
            </a:extLst>
          </p:cNvPr>
          <p:cNvSpPr/>
          <p:nvPr/>
        </p:nvSpPr>
        <p:spPr>
          <a:xfrm>
            <a:off x="5148715" y="1358323"/>
            <a:ext cx="1492727" cy="4962613"/>
          </a:xfrm>
          <a:prstGeom prst="roundRect">
            <a:avLst>
              <a:gd name="adj" fmla="val 4995"/>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r>
              <a:rPr lang="ru" sz="900" b="1" dirty="0">
                <a:solidFill>
                  <a:schemeClr val="tx1"/>
                </a:solidFill>
              </a:rPr>
              <a:t xml:space="preserve">Conflict of interest</a:t>
            </a:r>
            <a:r>
              <a:rPr lang="ru" sz="900" b="1" dirty="0" smtClean="0">
                <a:solidFill>
                  <a:schemeClr val="tx1"/>
                </a:solidFill>
              </a:rPr>
              <a:t/>
            </a:r>
            <a:endParaRPr lang="ru" sz="900" b="1" dirty="0">
              <a:solidFill>
                <a:schemeClr val="tx1"/>
              </a:solidFill>
            </a:endParaRPr>
          </a:p>
          <a:p>
            <a:endParaRPr lang="en-US" sz="800" dirty="0">
              <a:solidFill>
                <a:schemeClr val="tx1"/>
              </a:solidFill>
            </a:endParaRPr>
          </a:p>
          <a:p>
            <a:pPr marL="180975" indent="-180975"/>
            <a:r>
              <a:rPr lang="ru-RU" sz="900" dirty="0" smtClean="0">
                <a:solidFill>
                  <a:schemeClr val="accent6"/>
                </a:solidFill>
              </a:rPr>
              <a:t xml:space="preserve">▲ There is a slight increase in confirmed CIs - 1.61% (52 out of 3225 analyzed declarations) (vs. 2024 - 1.32%).</a:t>
            </a:r>
            <a:r>
              <a:rPr lang="en-US" sz="900" dirty="0" smtClean="0">
                <a:solidFill>
                  <a:srgbClr val="00BC2D"/>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err="1">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 sz="800" dirty="0" smtClean="0">
                <a:solidFill>
                  <a:schemeClr val="tx1"/>
                </a:solidFill>
              </a:rPr>
              <a:t/>
            </a:r>
            <a:r>
              <a:rPr lang="ru-RU" sz="800" dirty="0">
                <a:solidFill>
                  <a:schemeClr val="accent6"/>
                </a:solidFill>
              </a:rPr>
              <a:t/>
            </a:r>
            <a:endParaRPr lang="ru-RU" sz="800" dirty="0" smtClean="0">
              <a:solidFill>
                <a:schemeClr val="accent6"/>
              </a:solidFill>
            </a:endParaRPr>
          </a:p>
          <a:p>
            <a:pPr marL="180975" indent="-180975"/>
            <a:endParaRPr lang="ru-RU" sz="800" dirty="0">
              <a:solidFill>
                <a:schemeClr val="accent6"/>
              </a:solidFill>
            </a:endParaRPr>
          </a:p>
          <a:p>
            <a:pPr marL="180975" indent="-180975"/>
            <a:r>
              <a:rPr lang="ru-RU" sz="800" dirty="0" smtClean="0">
                <a:solidFill>
                  <a:srgbClr val="00BC2D"/>
                </a:solidFill>
              </a:rPr>
              <a:t xml:space="preserve">▼ There is a positive trend in reducing the number of unsubmitted declarations - 2% in 2025. vs. 8% in 2024</a:t>
            </a:r>
            <a:r>
              <a:rPr lang="ru-RU" sz="800" dirty="0">
                <a:solidFill>
                  <a:schemeClr val="tx1"/>
                </a:solidFill>
              </a:rPr>
              <a:t/>
            </a:r>
            <a:r>
              <a:rPr lang="ru-RU" sz="800" dirty="0" smtClean="0">
                <a:solidFill>
                  <a:schemeClr val="tx1"/>
                </a:solidFill>
              </a:rPr>
              <a:t/>
            </a:r>
            <a:r>
              <a:rPr lang="ru-RU" sz="800" dirty="0" err="1">
                <a:solidFill>
                  <a:schemeClr val="tx1"/>
                </a:solidFill>
              </a:rPr>
              <a:t/>
            </a:r>
            <a:r>
              <a:rPr lang="ru-RU" sz="800" dirty="0" smtClean="0">
                <a:solidFill>
                  <a:schemeClr val="tx1"/>
                </a:solidFill>
              </a:rPr>
              <a:t/>
            </a:r>
            <a:endParaRPr lang="ru-RU" sz="800" dirty="0">
              <a:solidFill>
                <a:schemeClr val="tx1"/>
              </a:solidFill>
            </a:endParaRPr>
          </a:p>
          <a:p>
            <a:pPr marL="180975" indent="-180975"/>
            <a:endParaRPr lang="ru-RU" sz="800" dirty="0">
              <a:solidFill>
                <a:schemeClr val="tx1"/>
              </a:solidFill>
            </a:endParaRPr>
          </a:p>
          <a:p>
            <a:pPr rtl="0"/>
            <a:endParaRPr lang="ru-RU" sz="800" dirty="0">
              <a:solidFill>
                <a:schemeClr val="tx1"/>
              </a:solidFill>
            </a:endParaRPr>
          </a:p>
          <a:p>
            <a:pPr rtl="0"/>
            <a:endParaRPr lang="ru" sz="800" b="1" dirty="0" smtClean="0">
              <a:solidFill>
                <a:schemeClr val="tx1"/>
              </a:solidFill>
            </a:endParaRPr>
          </a:p>
          <a:p>
            <a:pPr rtl="0"/>
            <a:r>
              <a:rPr lang="ru" sz="900" b="1" dirty="0" smtClean="0">
                <a:solidFill>
                  <a:schemeClr val="tx1"/>
                </a:solidFill>
              </a:rPr>
              <a:t xml:space="preserve">Gifts and cultural and entertainment events</a:t>
            </a:r>
            <a:r>
              <a:rPr lang="ru" sz="900" b="1" dirty="0">
                <a:solidFill>
                  <a:schemeClr val="tx1"/>
                </a:solidFill>
              </a:rPr>
              <a:t/>
            </a:r>
          </a:p>
          <a:p>
            <a:endParaRPr lang="en-US" sz="900" dirty="0">
              <a:solidFill>
                <a:schemeClr val="tx1"/>
              </a:solidFill>
            </a:endParaRPr>
          </a:p>
          <a:p>
            <a:pPr>
              <a:buClr>
                <a:schemeClr val="accent1"/>
              </a:buClr>
            </a:pPr>
            <a:r>
              <a:rPr lang="ru-RU" sz="800" dirty="0" smtClean="0">
                <a:solidFill>
                  <a:schemeClr val="accent6"/>
                </a:solidFill>
              </a:rPr>
              <a:t xml:space="preserve">▲ The increase in the number of gifts (Q3 2025 – 17 vs. Q4 2025 – 85) provided to third parties is due, incl. holiday period (Financial System Employee Day of the Republic of Kazakhstan, New Year).</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en-US" sz="800" dirty="0" smtClean="0">
                <a:solidFill>
                  <a:schemeClr val="tx1"/>
                </a:solidFill>
              </a:rPr>
              <a:t/>
            </a:r>
            <a:r>
              <a:rPr lang="ru-RU" sz="800" dirty="0" smtClean="0">
                <a:solidFill>
                  <a:schemeClr val="tx1"/>
                </a:solidFill>
              </a:rPr>
              <a:t/>
            </a:r>
            <a:r>
              <a:rPr lang="ru-RU" sz="800" dirty="0" err="1" smtClean="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endParaRPr lang="ru-RU" sz="800" dirty="0">
              <a:solidFill>
                <a:schemeClr val="tx1"/>
              </a:solidFill>
            </a:endParaRPr>
          </a:p>
        </p:txBody>
      </p:sp>
      <p:sp>
        <p:nvSpPr>
          <p:cNvPr id="342" name="Rectangle: Rounded Corners 341">
            <a:extLst>
              <a:ext uri="{FF2B5EF4-FFF2-40B4-BE49-F238E27FC236}">
                <a16:creationId xmlns:a16="http://schemas.microsoft.com/office/drawing/2014/main" id="{8D766EA1-B761-4F25-B6A5-98F025D0D169}"/>
              </a:ext>
            </a:extLst>
          </p:cNvPr>
          <p:cNvSpPr/>
          <p:nvPr/>
        </p:nvSpPr>
        <p:spPr>
          <a:xfrm>
            <a:off x="6704750" y="1358323"/>
            <a:ext cx="3344125" cy="4962613"/>
          </a:xfrm>
          <a:prstGeom prst="roundRect">
            <a:avLst>
              <a:gd name="adj" fmla="val 5404"/>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900" b="1" dirty="0">
                <a:solidFill>
                  <a:schemeClr val="tx1"/>
                </a:solidFill>
              </a:rPr>
              <a:t xml:space="preserve">Conflict of interest</a:t>
            </a:r>
          </a:p>
          <a:p>
            <a:pPr marL="171450" indent="-171450">
              <a:buClr>
                <a:schemeClr val="accent1"/>
              </a:buClr>
              <a:buFont typeface="Arial" panose="020B0604020202020204" pitchFamily="34" charset="0"/>
              <a:buChar char="•"/>
            </a:pPr>
            <a:r>
              <a:rPr lang="ru-RU" sz="800" dirty="0" smtClean="0">
                <a:solidFill>
                  <a:schemeClr val="tx1"/>
                </a:solidFill>
              </a:rPr>
              <a:t xml:space="preserve">Noun no risks were identified during the reporting period.</a:t>
            </a:r>
            <a:r>
              <a:rPr lang="ru-RU" sz="800" dirty="0">
                <a:solidFill>
                  <a:schemeClr val="tx1"/>
                </a:solidFill>
              </a:rPr>
              <a:t/>
            </a:r>
            <a:r>
              <a:rPr lang="ru" sz="800" dirty="0" smtClean="0">
                <a:solidFill>
                  <a:schemeClr val="tx1"/>
                </a:solidFill>
              </a:rPr>
              <a:t/>
            </a:r>
          </a:p>
          <a:p>
            <a:pPr marL="171450" lvl="1" indent="-171450">
              <a:buClr>
                <a:schemeClr val="accent1"/>
              </a:buClr>
              <a:buFont typeface="Arial" panose="020B0604020202020204" pitchFamily="34" charset="0"/>
              <a:buChar char="•"/>
            </a:pPr>
            <a:r>
              <a:rPr lang="ru-RU" sz="800" dirty="0">
                <a:solidFill>
                  <a:schemeClr val="tx1"/>
                </a:solidFill>
              </a:rPr>
              <a:t xml:space="preserve">Based on the results of self-testing conducted in the 4th quarter, it was revealed that IC declarations were not provided for 336 employees (2%) out of 14,695 employees (100%) subject to declaration. Identified inconsistencies are eliminated. In general, thanks to the measures being implemented, there is a positive trend in reducing the number of unsubmitted declarations: 2023 – 57%, 2024 – 8%, 2025 – 2%.2</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baseline="30000" dirty="0" smtClean="0">
                <a:solidFill>
                  <a:schemeClr val="accent1"/>
                </a:solidFill>
              </a:rPr>
              <a:t/>
            </a:r>
            <a:endParaRPr lang="ru-RU" sz="800" baseline="30000" dirty="0">
              <a:solidFill>
                <a:schemeClr val="accent1"/>
              </a:solidFill>
            </a:endParaRPr>
          </a:p>
          <a:p>
            <a:pPr marL="171450" lvl="1" indent="-171450">
              <a:buClr>
                <a:schemeClr val="accent1"/>
              </a:buClr>
              <a:buFont typeface="Arial" panose="020B0604020202020204" pitchFamily="34" charset="0"/>
              <a:buChar char="•"/>
            </a:pPr>
            <a:r>
              <a:rPr lang="ru-RU" sz="800" dirty="0">
                <a:solidFill>
                  <a:schemeClr val="tx1"/>
                </a:solidFill>
              </a:rPr>
              <a:t xml:space="preserve">Additionally in 4 sq. a selective reconciliation of data from the ERG Access system (All-terrain vehicle) was carried out with the list of Perimeter employees for the period January-October 2025. Based on the results of the analysis, it was revealed that out of 544 accesses provided for the period from January to October 2025. 42 (7.7%) access to the Perimeter territory was given to Group employees who were also representatives of contractors. Recommendations were developed and sent to eliminate identified inconsistencies and risks.2</a:t>
            </a:r>
            <a:r>
              <a:rPr lang="ru-RU" sz="800" dirty="0" smtClean="0">
                <a:solidFill>
                  <a:schemeClr val="tx1"/>
                </a:solidFill>
              </a:rPr>
              <a:t/>
            </a:r>
            <a:r>
              <a:rPr lang="ru-RU" sz="800" dirty="0">
                <a:solidFill>
                  <a:schemeClr val="tx1"/>
                </a:solidFill>
              </a:rPr>
              <a:t/>
            </a:r>
            <a:r>
              <a:rPr lang="ru-RU" sz="800" dirty="0" err="1">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baseline="30000" dirty="0" smtClean="0">
                <a:solidFill>
                  <a:schemeClr val="accent1"/>
                </a:solidFill>
              </a:rPr>
              <a:t/>
            </a:r>
            <a:endParaRPr lang="ru-RU" sz="800" dirty="0">
              <a:solidFill>
                <a:schemeClr val="tx1"/>
              </a:solidFill>
            </a:endParaRPr>
          </a:p>
          <a:p>
            <a:pPr marL="171450" indent="-171450">
              <a:buClr>
                <a:schemeClr val="accent1"/>
              </a:buClr>
              <a:buFont typeface="Arial" panose="020B0604020202020204" pitchFamily="34" charset="0"/>
              <a:buChar char="•"/>
            </a:pPr>
            <a:endParaRPr lang="ru" sz="800" dirty="0">
              <a:solidFill>
                <a:schemeClr val="tx1"/>
              </a:solidFill>
            </a:endParaRPr>
          </a:p>
          <a:p>
            <a:pPr rtl="0"/>
            <a:r>
              <a:rPr lang="ru" sz="900" b="1" dirty="0" smtClean="0">
                <a:solidFill>
                  <a:schemeClr val="tx1"/>
                </a:solidFill>
              </a:rPr>
              <a:t xml:space="preserve">Gifts and cultural and entertainment events</a:t>
            </a:r>
            <a:r>
              <a:rPr lang="ru" sz="900" b="1" dirty="0">
                <a:solidFill>
                  <a:schemeClr val="tx1"/>
                </a:solidFill>
              </a:rPr>
              <a:t/>
            </a:r>
          </a:p>
          <a:p>
            <a:pPr marL="171450" indent="-171450">
              <a:buClr>
                <a:schemeClr val="accent1"/>
              </a:buClr>
              <a:buFont typeface="Arial" panose="020B0604020202020204" pitchFamily="34" charset="0"/>
              <a:buChar char="•"/>
            </a:pPr>
            <a:r>
              <a:rPr lang="ru-RU" sz="800" dirty="0">
                <a:solidFill>
                  <a:schemeClr val="tx1"/>
                </a:solidFill>
              </a:rPr>
              <a:t xml:space="preserve">Noun no risks were identified during the reporting period.</a:t>
            </a:r>
            <a:r>
              <a:rPr lang="ru" sz="800" dirty="0">
                <a:solidFill>
                  <a:schemeClr val="tx1"/>
                </a:solidFill>
              </a:rPr>
              <a:t/>
            </a:r>
          </a:p>
          <a:p>
            <a:pPr marL="171450" indent="-171450">
              <a:buClr>
                <a:schemeClr val="accent1"/>
              </a:buClr>
              <a:buFont typeface="Arial" panose="020B0604020202020204" pitchFamily="34" charset="0"/>
              <a:buChar char="•"/>
            </a:pPr>
            <a:r>
              <a:rPr lang="ru-RU" sz="800" dirty="0" smtClean="0">
                <a:solidFill>
                  <a:schemeClr val="tx1"/>
                </a:solidFill>
              </a:rPr>
              <a:t xml:space="preserve">Based on the results of self-testing of control mechanisms in relation to the provided gifts and KRM in 5 Divisions, omissions and inconsistencies were identified in the issues of sending applications from the Divisions to the DC with information about the actual gifts provided, obtaining preliminary approval from the DC and DCC when providing branded products, control in terms of documenting and accounting for the provided gifts and KRM, and the mechanism for quantitative accounting of souvenir image products. A number of recommendations have been developed and sent to businesses to improve the internal control system, mitigate risks and eliminate identified deficiencies. Changes to existing procedures are proposed in order to strengthen control functions and ensure compliance with the requirements of the law, incl. regarding tax requirements and internal policies.3</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err="1" smtClean="0">
                <a:solidFill>
                  <a:schemeClr val="tx1"/>
                </a:solidFill>
              </a:rPr>
              <a:t/>
            </a:r>
            <a:r>
              <a:rPr lang="ru-RU" sz="800" dirty="0">
                <a:solidFill>
                  <a:schemeClr val="tx1"/>
                </a:solidFill>
              </a:rPr>
              <a:t/>
            </a:r>
            <a:r>
              <a:rPr lang="ru-RU" sz="800" dirty="0" err="1">
                <a:solidFill>
                  <a:schemeClr val="tx1"/>
                </a:solidFill>
              </a:rPr>
              <a:t/>
            </a:r>
            <a:r>
              <a:rPr lang="ru-RU" sz="800" dirty="0">
                <a:solidFill>
                  <a:schemeClr val="tx1"/>
                </a:solidFill>
              </a:rPr>
              <a:t/>
            </a:r>
            <a:r>
              <a:rPr lang="ru-RU" sz="800" dirty="0" smtClean="0">
                <a:solidFill>
                  <a:schemeClr val="tx1"/>
                </a:solidFill>
              </a:rPr>
              <a:t/>
            </a:r>
            <a:r>
              <a:rPr lang="ru-RU" sz="800" baseline="30000" dirty="0" smtClean="0">
                <a:solidFill>
                  <a:schemeClr val="accent1"/>
                </a:solidFill>
              </a:rPr>
              <a:t/>
            </a:r>
            <a:endParaRPr lang="ru-RU" sz="800" baseline="30000" dirty="0">
              <a:solidFill>
                <a:schemeClr val="accent1"/>
              </a:solidFill>
            </a:endParaRPr>
          </a:p>
        </p:txBody>
      </p:sp>
      <p:sp>
        <p:nvSpPr>
          <p:cNvPr id="343" name="Rectangle: Rounded Corners 342">
            <a:extLst>
              <a:ext uri="{FF2B5EF4-FFF2-40B4-BE49-F238E27FC236}">
                <a16:creationId xmlns:a16="http://schemas.microsoft.com/office/drawing/2014/main" id="{AD80F8A6-53D1-432F-8AAD-BBB680BBD7B0}"/>
              </a:ext>
            </a:extLst>
          </p:cNvPr>
          <p:cNvSpPr/>
          <p:nvPr/>
        </p:nvSpPr>
        <p:spPr>
          <a:xfrm>
            <a:off x="10112183" y="1370781"/>
            <a:ext cx="1776548" cy="4950155"/>
          </a:xfrm>
          <a:prstGeom prst="roundRect">
            <a:avLst>
              <a:gd name="adj" fmla="val 5526"/>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r>
              <a:rPr lang="ru" sz="900" b="1" dirty="0" smtClean="0">
                <a:solidFill>
                  <a:schemeClr val="tx1"/>
                </a:solidFill>
              </a:rPr>
              <a:t xml:space="preserve">No significant impact on WTP</a:t>
            </a:r>
            <a:r>
              <a:rPr lang="ru" sz="900" b="1" dirty="0">
                <a:solidFill>
                  <a:schemeClr val="tx1"/>
                </a:solidFill>
              </a:rPr>
              <a:t/>
            </a:r>
          </a:p>
          <a:p>
            <a:endParaRPr lang="ru" sz="800" b="1" dirty="0">
              <a:solidFill>
                <a:schemeClr val="tx1"/>
              </a:solidFill>
            </a:endParaRPr>
          </a:p>
          <a:p>
            <a:r>
              <a:rPr lang="ru" sz="900" b="1" dirty="0">
                <a:solidFill>
                  <a:schemeClr val="tx1"/>
                </a:solidFill>
              </a:rPr>
              <a:t xml:space="preserve">Next steps</a:t>
            </a:r>
          </a:p>
          <a:p>
            <a:pPr rtl="0"/>
            <a:endParaRPr lang="ru" sz="800" b="1" dirty="0">
              <a:solidFill>
                <a:schemeClr val="tx1"/>
              </a:solidFill>
            </a:endParaRPr>
          </a:p>
          <a:p>
            <a:pPr rtl="0"/>
            <a:r>
              <a:rPr lang="ru" sz="900" b="1" dirty="0">
                <a:solidFill>
                  <a:schemeClr val="tx1"/>
                </a:solidFill>
              </a:rPr>
              <a:t xml:space="preserve">Conflict of interest</a:t>
            </a:r>
            <a:r>
              <a:rPr lang="ru" sz="900" b="1" dirty="0" smtClean="0">
                <a:solidFill>
                  <a:schemeClr val="tx1"/>
                </a:solidFill>
              </a:rPr>
              <a:t/>
            </a:r>
            <a:endParaRPr lang="ru" sz="900" b="1" dirty="0">
              <a:solidFill>
                <a:schemeClr val="tx1"/>
              </a:solidFill>
            </a:endParaRPr>
          </a:p>
          <a:p>
            <a:pPr marL="171450" indent="-171450">
              <a:buClr>
                <a:schemeClr val="accent1"/>
              </a:buClr>
              <a:buFont typeface="Arial" panose="020B0604020202020204" pitchFamily="34" charset="0"/>
              <a:buChar char="•"/>
            </a:pPr>
            <a:r>
              <a:rPr lang="ru" sz="800" dirty="0">
                <a:solidFill>
                  <a:schemeClr val="tx1"/>
                </a:solidFill>
              </a:rPr>
              <a:t xml:space="preserve">The current CI typology will be updated once the Conflict of Interest Policy is approved by the Compliance Committee.</a:t>
            </a:r>
            <a:r>
              <a:rPr lang="ru" sz="800" dirty="0" smtClean="0">
                <a:solidFill>
                  <a:schemeClr val="tx1"/>
                </a:solidFill>
              </a:rPr>
              <a:t/>
            </a:r>
            <a:r>
              <a:rPr lang="ru" sz="800" dirty="0">
                <a:solidFill>
                  <a:schemeClr val="tx1"/>
                </a:solidFill>
              </a:rPr>
              <a:t/>
            </a:r>
            <a:r>
              <a:rPr lang="ru" sz="800" dirty="0" smtClean="0">
                <a:solidFill>
                  <a:schemeClr val="tx1"/>
                </a:solidFill>
              </a:rPr>
              <a:t/>
            </a:r>
          </a:p>
          <a:p>
            <a:pPr marL="171450" indent="-171450">
              <a:buClr>
                <a:schemeClr val="accent1"/>
              </a:buClr>
              <a:buFont typeface="Arial" panose="020B0604020202020204" pitchFamily="34" charset="0"/>
              <a:buChar char="•"/>
            </a:pPr>
            <a:r>
              <a:rPr lang="ru-RU" sz="800" dirty="0" smtClean="0">
                <a:solidFill>
                  <a:schemeClr val="tx1"/>
                </a:solidFill>
              </a:rPr>
              <a:t xml:space="preserve">Emphasis on prevention and quality of management of CIs while maintaining a basic level of control by improving declaration discipline and the absence of significant risks.</a:t>
            </a:r>
            <a:r>
              <a:rPr lang="ru-RU" sz="800" dirty="0">
                <a:solidFill>
                  <a:schemeClr val="tx1"/>
                </a:solidFill>
              </a:rPr>
              <a:t/>
            </a:r>
            <a:r>
              <a:rPr lang="ru-RU" sz="800" dirty="0" smtClean="0">
                <a:solidFill>
                  <a:schemeClr val="tx1"/>
                </a:solidFill>
              </a:rPr>
              <a:t/>
            </a:r>
            <a:r>
              <a:rPr lang="ru-RU" sz="800" dirty="0">
                <a:solidFill>
                  <a:schemeClr val="tx1"/>
                </a:solidFill>
              </a:rPr>
              <a:t/>
            </a:r>
          </a:p>
          <a:p>
            <a:pPr rtl="0"/>
            <a:endParaRPr lang="ru" sz="800" b="1" dirty="0">
              <a:solidFill>
                <a:schemeClr val="tx1"/>
              </a:solidFill>
            </a:endParaRPr>
          </a:p>
          <a:p>
            <a:pPr rtl="0"/>
            <a:r>
              <a:rPr lang="ru" sz="900" b="1" dirty="0" smtClean="0">
                <a:solidFill>
                  <a:schemeClr val="tx1"/>
                </a:solidFill>
              </a:rPr>
              <a:t xml:space="preserve">Gifts and cultural and entertainment events</a:t>
            </a:r>
            <a:r>
              <a:rPr lang="ru" sz="900" b="1" dirty="0">
                <a:solidFill>
                  <a:schemeClr val="tx1"/>
                </a:solidFill>
              </a:rPr>
              <a:t/>
            </a:r>
          </a:p>
          <a:p>
            <a:pPr marL="171450" indent="-171450">
              <a:buClr>
                <a:schemeClr val="accent1"/>
              </a:buClr>
              <a:buFont typeface="Arial" panose="020B0604020202020204" pitchFamily="34" charset="0"/>
              <a:buChar char="•"/>
            </a:pPr>
            <a:r>
              <a:rPr lang="ru-RU" sz="800" dirty="0" smtClean="0">
                <a:solidFill>
                  <a:schemeClr val="tx1"/>
                </a:solidFill>
              </a:rPr>
              <a:t xml:space="preserve">Recommendations have been sent to the responsible persons of the Divisions.</a:t>
            </a:r>
          </a:p>
          <a:p>
            <a:pPr marL="171450" indent="-171450">
              <a:buClr>
                <a:schemeClr val="accent1"/>
              </a:buClr>
              <a:buFont typeface="Arial" panose="020B0604020202020204" pitchFamily="34" charset="0"/>
              <a:buChar char="•"/>
            </a:pPr>
            <a:r>
              <a:rPr lang="ru-RU" sz="800" dirty="0">
                <a:solidFill>
                  <a:schemeClr val="tx1"/>
                </a:solidFill>
              </a:rPr>
              <a:t xml:space="preserve">Self-testing of controls over provided gifts and KRM by Perimeter Divisions will continue in 2026.</a:t>
            </a:r>
            <a:r>
              <a:rPr lang="ru-RU" sz="800" dirty="0" smtClean="0">
                <a:solidFill>
                  <a:schemeClr val="tx1"/>
                </a:solidFill>
              </a:rPr>
              <a:t/>
            </a:r>
            <a:r>
              <a:rPr lang="ru-RU" sz="800" dirty="0">
                <a:solidFill>
                  <a:schemeClr val="tx1"/>
                </a:solidFill>
              </a:rPr>
              <a:t/>
            </a:r>
            <a:r>
              <a:rPr lang="ru-RU" sz="800" dirty="0" smtClean="0">
                <a:solidFill>
                  <a:schemeClr val="tx1"/>
                </a:solidFill>
              </a:rPr>
              <a:t/>
            </a:r>
            <a:endParaRPr lang="ru" sz="800" dirty="0">
              <a:solidFill>
                <a:schemeClr val="tx1"/>
              </a:solidFill>
            </a:endParaRPr>
          </a:p>
          <a:p>
            <a:pPr rtl="0"/>
            <a:endParaRPr lang="en-US" sz="900" dirty="0">
              <a:solidFill>
                <a:schemeClr val="tx1"/>
              </a:solidFill>
            </a:endParaRPr>
          </a:p>
        </p:txBody>
      </p:sp>
      <p:sp>
        <p:nvSpPr>
          <p:cNvPr id="92" name="Rectangle: Rounded Corners 91">
            <a:extLst>
              <a:ext uri="{FF2B5EF4-FFF2-40B4-BE49-F238E27FC236}">
                <a16:creationId xmlns:a16="http://schemas.microsoft.com/office/drawing/2014/main" id="{655E5B8C-9DB0-4815-A2E9-B35AFE8B0A61}"/>
              </a:ext>
            </a:extLst>
          </p:cNvPr>
          <p:cNvSpPr/>
          <p:nvPr>
            <p:custDataLst>
              <p:tags r:id="rId4"/>
            </p:custDataLst>
          </p:nvPr>
        </p:nvSpPr>
        <p:spPr>
          <a:xfrm>
            <a:off x="314836" y="4579826"/>
            <a:ext cx="4688439" cy="1745248"/>
          </a:xfrm>
          <a:prstGeom prst="roundRect">
            <a:avLst>
              <a:gd name="adj" fmla="val 6937"/>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800" b="1" dirty="0">
                <a:solidFill>
                  <a:schemeClr val="tx1"/>
                </a:solidFill>
              </a:rPr>
              <a:t xml:space="preserve">Gifts and entertainment (GRE) – Received ($, #)</a:t>
            </a:r>
            <a:r>
              <a:rPr lang="ru" sz="800" b="1" dirty="0" smtClean="0">
                <a:solidFill>
                  <a:schemeClr val="tx1"/>
                </a:solidFill>
              </a:rPr>
              <a:t/>
            </a:r>
            <a:r>
              <a:rPr lang="ru" sz="800" b="1" dirty="0">
                <a:solidFill>
                  <a:schemeClr val="tx1"/>
                </a:solidFill>
              </a:rPr>
              <a:t/>
            </a:r>
            <a:r>
              <a:rPr lang="en-US" sz="800" b="1" dirty="0">
                <a:solidFill>
                  <a:schemeClr val="tx1"/>
                </a:solidFill>
              </a:rPr>
              <a:t/>
            </a:r>
            <a:r>
              <a:rPr lang="ru" sz="800" b="1" dirty="0">
                <a:solidFill>
                  <a:schemeClr val="tx1"/>
                </a:solidFill>
              </a:rPr>
              <a:t/>
            </a:r>
          </a:p>
          <a:p>
            <a:pPr rtl="0"/>
            <a:endParaRPr lang="en-US" sz="800" b="1" dirty="0">
              <a:solidFill>
                <a:schemeClr val="tx1"/>
              </a:solidFill>
            </a:endParaRPr>
          </a:p>
          <a:p>
            <a:pPr rtl="0"/>
            <a:endParaRPr lang="en-US" sz="800" b="1" dirty="0">
              <a:solidFill>
                <a:schemeClr val="tx1"/>
              </a:solidFill>
            </a:endParaRPr>
          </a:p>
          <a:p>
            <a:pPr rtl="0"/>
            <a:endParaRPr lang="en-US" sz="800" b="1" dirty="0">
              <a:solidFill>
                <a:schemeClr val="tx1"/>
              </a:solidFill>
            </a:endParaRPr>
          </a:p>
          <a:p>
            <a:pPr rtl="0"/>
            <a:endParaRPr lang="en-US" sz="800" b="1" dirty="0">
              <a:solidFill>
                <a:schemeClr val="tx1"/>
              </a:solidFill>
            </a:endParaRPr>
          </a:p>
          <a:p>
            <a:pPr rtl="0"/>
            <a:endParaRPr lang="ru" sz="800" b="1" dirty="0">
              <a:solidFill>
                <a:schemeClr val="tx1"/>
              </a:solidFill>
            </a:endParaRPr>
          </a:p>
          <a:p>
            <a:pPr rtl="0"/>
            <a:r>
              <a:rPr lang="ru" sz="800" b="1" dirty="0">
                <a:solidFill>
                  <a:schemeClr val="tx1"/>
                </a:solidFill>
              </a:rPr>
              <a:t xml:space="preserve">Gifts and KRM – Provided ($, #)</a:t>
            </a:r>
            <a:r>
              <a:rPr lang="en-US" sz="800" b="1" dirty="0">
                <a:solidFill>
                  <a:schemeClr val="tx1"/>
                </a:solidFill>
              </a:rPr>
              <a:t/>
            </a:r>
            <a:r>
              <a:rPr lang="ru" sz="800" b="1" dirty="0">
                <a:solidFill>
                  <a:schemeClr val="tx1"/>
                </a:solidFill>
              </a:rPr>
              <a:t/>
            </a:r>
          </a:p>
          <a:p>
            <a:pPr rtl="0"/>
            <a:endParaRPr lang="en-US" sz="800" b="1" dirty="0">
              <a:solidFill>
                <a:schemeClr val="tx1"/>
              </a:solidFill>
            </a:endParaRPr>
          </a:p>
          <a:p>
            <a:pPr rtl="0"/>
            <a:endParaRPr lang="en-US" sz="800" b="1" dirty="0">
              <a:solidFill>
                <a:schemeClr val="tx1"/>
              </a:solidFill>
            </a:endParaRPr>
          </a:p>
        </p:txBody>
      </p:sp>
      <p:sp>
        <p:nvSpPr>
          <p:cNvPr id="9" name="Rectangle 10">
            <a:extLst>
              <a:ext uri="{FF2B5EF4-FFF2-40B4-BE49-F238E27FC236}">
                <a16:creationId xmlns:a16="http://schemas.microsoft.com/office/drawing/2014/main" id="{B630FEF3-D008-B376-2CEA-74646930ED93}"/>
              </a:ext>
            </a:extLst>
          </p:cNvPr>
          <p:cNvSpPr>
            <a:spLocks noChangeArrowheads="1"/>
          </p:cNvSpPr>
          <p:nvPr/>
        </p:nvSpPr>
        <p:spPr bwMode="auto">
          <a:xfrm>
            <a:off x="7894769" y="1522"/>
            <a:ext cx="4102129" cy="0"/>
          </a:xfrm>
          <a:prstGeom prst="rect">
            <a:avLst/>
          </a:prstGeom>
          <a:solidFill>
            <a:schemeClr val="accent2"/>
          </a:solidFill>
          <a:ln>
            <a:noFill/>
          </a:ln>
          <a:effectLst/>
        </p:spPr>
        <p:txBody>
          <a:bodyPr vert="horz" wrap="square" lIns="91440" tIns="45720" rIns="91440" bIns="45720" numCol="1" rtlCol="0" anchor="ctr" anchorCtr="0" compatLnSpc="1">
            <a:prstTxWarp prst="textNoShape">
              <a:avLst/>
            </a:prstTxWarp>
            <a:spAutoFit/>
          </a:bodyPr>
          <a:lstStyle/>
          <a:p>
            <a:pPr rtl="0"/>
            <a:endParaRPr lang="en-US" dirty="0"/>
          </a:p>
        </p:txBody>
      </p:sp>
      <p:sp>
        <p:nvSpPr>
          <p:cNvPr id="11" name="Rectangle 11">
            <a:extLst>
              <a:ext uri="{FF2B5EF4-FFF2-40B4-BE49-F238E27FC236}">
                <a16:creationId xmlns:a16="http://schemas.microsoft.com/office/drawing/2014/main" id="{AC54C7B0-E952-D232-AB43-6AE8D79D68A1}"/>
              </a:ext>
            </a:extLst>
          </p:cNvPr>
          <p:cNvSpPr>
            <a:spLocks noChangeArrowheads="1"/>
          </p:cNvSpPr>
          <p:nvPr/>
        </p:nvSpPr>
        <p:spPr bwMode="auto">
          <a:xfrm>
            <a:off x="8398131" y="5941589"/>
            <a:ext cx="503954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rtl="0"/>
            <a:endParaRPr lang="en-US" dirty="0"/>
          </a:p>
        </p:txBody>
      </p:sp>
      <p:graphicFrame>
        <p:nvGraphicFramePr>
          <p:cNvPr id="21" name="Chart 20">
            <a:extLst>
              <a:ext uri="{FF2B5EF4-FFF2-40B4-BE49-F238E27FC236}">
                <a16:creationId xmlns:a16="http://schemas.microsoft.com/office/drawing/2014/main" id="{EF2A2CAD-1217-9BE0-7CE7-707F3860D2B2}"/>
              </a:ext>
            </a:extLst>
          </p:cNvPr>
          <p:cNvGraphicFramePr/>
          <p:nvPr>
            <p:custDataLst>
              <p:tags r:id="rId5"/>
            </p:custDataLst>
            <p:extLst/>
          </p:nvPr>
        </p:nvGraphicFramePr>
        <p:xfrm>
          <a:off x="1119759" y="4697358"/>
          <a:ext cx="1779887" cy="727995"/>
        </p:xfrm>
        <a:graphic>
          <a:graphicData uri="http://schemas.openxmlformats.org/drawingml/2006/chart">
            <c:chart xmlns:c="http://schemas.openxmlformats.org/drawingml/2006/chart" xmlns:r="http://schemas.openxmlformats.org/officeDocument/2006/relationships" r:id="rId26"/>
          </a:graphicData>
        </a:graphic>
      </p:graphicFrame>
      <p:graphicFrame>
        <p:nvGraphicFramePr>
          <p:cNvPr id="22" name="Chart 21">
            <a:extLst>
              <a:ext uri="{FF2B5EF4-FFF2-40B4-BE49-F238E27FC236}">
                <a16:creationId xmlns:a16="http://schemas.microsoft.com/office/drawing/2014/main" id="{E9234674-5F80-663C-CA73-E3E1F3FA6ACB}"/>
              </a:ext>
            </a:extLst>
          </p:cNvPr>
          <p:cNvGraphicFramePr/>
          <p:nvPr>
            <p:custDataLst>
              <p:tags r:id="rId6"/>
            </p:custDataLst>
            <p:extLst/>
          </p:nvPr>
        </p:nvGraphicFramePr>
        <p:xfrm>
          <a:off x="335281" y="4697651"/>
          <a:ext cx="953228" cy="727995"/>
        </p:xfrm>
        <a:graphic>
          <a:graphicData uri="http://schemas.openxmlformats.org/drawingml/2006/chart">
            <c:chart xmlns:c="http://schemas.openxmlformats.org/drawingml/2006/chart" xmlns:r="http://schemas.openxmlformats.org/officeDocument/2006/relationships" r:id="rId27"/>
          </a:graphicData>
        </a:graphic>
      </p:graphicFrame>
      <p:sp>
        <p:nvSpPr>
          <p:cNvPr id="38" name="TextBox 37">
            <a:extLst>
              <a:ext uri="{FF2B5EF4-FFF2-40B4-BE49-F238E27FC236}">
                <a16:creationId xmlns:a16="http://schemas.microsoft.com/office/drawing/2014/main" id="{7A39264F-0BB3-B1AF-7FEA-241494E61DA9}"/>
              </a:ext>
            </a:extLst>
          </p:cNvPr>
          <p:cNvSpPr txBox="1"/>
          <p:nvPr/>
        </p:nvSpPr>
        <p:spPr>
          <a:xfrm>
            <a:off x="474757" y="5200905"/>
            <a:ext cx="757484" cy="215444"/>
          </a:xfrm>
          <a:prstGeom prst="rect">
            <a:avLst/>
          </a:prstGeom>
          <a:noFill/>
        </p:spPr>
        <p:txBody>
          <a:bodyPr wrap="square" rtlCol="0">
            <a:spAutoFit/>
          </a:bodyPr>
          <a:lstStyle/>
          <a:p>
            <a:pPr rtl="0"/>
            <a:r>
              <a:rPr lang="ru" sz="800" dirty="0">
                <a:solidFill>
                  <a:schemeClr val="accent1"/>
                </a:solidFill>
              </a:rPr>
              <a:t xml:space="preserve">Rejected</a:t>
            </a:r>
          </a:p>
        </p:txBody>
      </p:sp>
      <p:sp>
        <p:nvSpPr>
          <p:cNvPr id="39" name="TextBox 38">
            <a:extLst>
              <a:ext uri="{FF2B5EF4-FFF2-40B4-BE49-F238E27FC236}">
                <a16:creationId xmlns:a16="http://schemas.microsoft.com/office/drawing/2014/main" id="{64AEA525-5592-0A71-BDA9-D73790840035}"/>
              </a:ext>
            </a:extLst>
          </p:cNvPr>
          <p:cNvSpPr txBox="1"/>
          <p:nvPr/>
        </p:nvSpPr>
        <p:spPr>
          <a:xfrm>
            <a:off x="1671103" y="5200905"/>
            <a:ext cx="671221" cy="174864"/>
          </a:xfrm>
          <a:prstGeom prst="rect">
            <a:avLst/>
          </a:prstGeom>
          <a:noFill/>
        </p:spPr>
        <p:txBody>
          <a:bodyPr wrap="square" rtlCol="0">
            <a:spAutoFit/>
          </a:bodyPr>
          <a:lstStyle/>
          <a:p>
            <a:pPr rtl="0"/>
            <a:r>
              <a:rPr lang="ru" sz="800" dirty="0">
                <a:solidFill>
                  <a:schemeClr val="accent5">
                    <a:lumMod val="75000"/>
                    <a:lumOff val="25000"/>
                  </a:schemeClr>
                </a:solidFill>
              </a:rPr>
              <a:t xml:space="preserve">Accepted</a:t>
            </a:r>
          </a:p>
        </p:txBody>
      </p:sp>
      <p:sp>
        <p:nvSpPr>
          <p:cNvPr id="41" name="Rectangle 40">
            <a:extLst>
              <a:ext uri="{FF2B5EF4-FFF2-40B4-BE49-F238E27FC236}">
                <a16:creationId xmlns:a16="http://schemas.microsoft.com/office/drawing/2014/main" id="{010B39D1-55F9-F0E6-D8E6-A3557B660C37}"/>
              </a:ext>
            </a:extLst>
          </p:cNvPr>
          <p:cNvSpPr/>
          <p:nvPr>
            <p:custDataLst>
              <p:tags r:id="rId7"/>
            </p:custDataLst>
          </p:nvPr>
        </p:nvSpPr>
        <p:spPr bwMode="gray">
          <a:xfrm>
            <a:off x="290514" y="4927681"/>
            <a:ext cx="300038" cy="17781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en-US" sz="800" dirty="0">
                <a:solidFill>
                  <a:schemeClr val="tx1"/>
                </a:solidFill>
              </a:rPr>
              <a:t>0</a:t>
            </a:r>
            <a:endParaRPr lang="ru" sz="800" dirty="0">
              <a:solidFill>
                <a:schemeClr val="tx1"/>
              </a:solidFill>
            </a:endParaRPr>
          </a:p>
        </p:txBody>
      </p:sp>
      <p:sp>
        <p:nvSpPr>
          <p:cNvPr id="43" name="Rectangle 42">
            <a:extLst>
              <a:ext uri="{FF2B5EF4-FFF2-40B4-BE49-F238E27FC236}">
                <a16:creationId xmlns:a16="http://schemas.microsoft.com/office/drawing/2014/main" id="{7983E895-3F3D-2B2E-B539-6975FCB25662}"/>
              </a:ext>
            </a:extLst>
          </p:cNvPr>
          <p:cNvSpPr/>
          <p:nvPr>
            <p:custDataLst>
              <p:tags r:id="rId8"/>
            </p:custDataLst>
          </p:nvPr>
        </p:nvSpPr>
        <p:spPr bwMode="gray">
          <a:xfrm>
            <a:off x="2509035" y="4931314"/>
            <a:ext cx="300839" cy="17781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en-US" sz="800" dirty="0" smtClean="0">
                <a:solidFill>
                  <a:schemeClr val="tx1"/>
                </a:solidFill>
              </a:rPr>
              <a:t>12</a:t>
            </a:r>
            <a:endParaRPr lang="ru" sz="800" dirty="0">
              <a:solidFill>
                <a:schemeClr val="tx1"/>
              </a:solidFill>
            </a:endParaRPr>
          </a:p>
        </p:txBody>
      </p:sp>
      <p:graphicFrame>
        <p:nvGraphicFramePr>
          <p:cNvPr id="35" name="Chart 34">
            <a:extLst>
              <a:ext uri="{FF2B5EF4-FFF2-40B4-BE49-F238E27FC236}">
                <a16:creationId xmlns:a16="http://schemas.microsoft.com/office/drawing/2014/main" id="{136D31F3-7358-D4FB-D162-3B753B6BCA94}"/>
              </a:ext>
            </a:extLst>
          </p:cNvPr>
          <p:cNvGraphicFramePr/>
          <p:nvPr>
            <p:custDataLst>
              <p:tags r:id="rId9"/>
            </p:custDataLst>
            <p:extLst>
              <p:ext uri="{D42A27DB-BD31-4B8C-83A1-F6EECF244321}">
                <p14:modId xmlns:p14="http://schemas.microsoft.com/office/powerpoint/2010/main" val="3529395011"/>
              </p:ext>
            </p:extLst>
          </p:nvPr>
        </p:nvGraphicFramePr>
        <p:xfrm>
          <a:off x="1093412" y="5421423"/>
          <a:ext cx="1784497" cy="727995"/>
        </p:xfrm>
        <a:graphic>
          <a:graphicData uri="http://schemas.openxmlformats.org/drawingml/2006/chart">
            <c:chart xmlns:c="http://schemas.openxmlformats.org/drawingml/2006/chart" xmlns:r="http://schemas.openxmlformats.org/officeDocument/2006/relationships" r:id="rId28"/>
          </a:graphicData>
        </a:graphic>
      </p:graphicFrame>
      <p:graphicFrame>
        <p:nvGraphicFramePr>
          <p:cNvPr id="36" name="Chart 35">
            <a:extLst>
              <a:ext uri="{FF2B5EF4-FFF2-40B4-BE49-F238E27FC236}">
                <a16:creationId xmlns:a16="http://schemas.microsoft.com/office/drawing/2014/main" id="{B1B70652-CBF5-6EF1-5E47-BEBCCAB12F0C}"/>
              </a:ext>
            </a:extLst>
          </p:cNvPr>
          <p:cNvGraphicFramePr/>
          <p:nvPr>
            <p:custDataLst>
              <p:tags r:id="rId10"/>
            </p:custDataLst>
            <p:extLst>
              <p:ext uri="{D42A27DB-BD31-4B8C-83A1-F6EECF244321}">
                <p14:modId xmlns:p14="http://schemas.microsoft.com/office/powerpoint/2010/main" val="1411170934"/>
              </p:ext>
            </p:extLst>
          </p:nvPr>
        </p:nvGraphicFramePr>
        <p:xfrm>
          <a:off x="315478" y="5421876"/>
          <a:ext cx="953728" cy="727995"/>
        </p:xfrm>
        <a:graphic>
          <a:graphicData uri="http://schemas.openxmlformats.org/drawingml/2006/chart">
            <c:chart xmlns:c="http://schemas.openxmlformats.org/drawingml/2006/chart" xmlns:r="http://schemas.openxmlformats.org/officeDocument/2006/relationships" r:id="rId29"/>
          </a:graphicData>
        </a:graphic>
      </p:graphicFrame>
      <p:sp>
        <p:nvSpPr>
          <p:cNvPr id="42" name="Rectangle 41">
            <a:extLst>
              <a:ext uri="{FF2B5EF4-FFF2-40B4-BE49-F238E27FC236}">
                <a16:creationId xmlns:a16="http://schemas.microsoft.com/office/drawing/2014/main" id="{4BEA28CF-0DD0-8A2F-7919-81D8CB0F5434}"/>
              </a:ext>
            </a:extLst>
          </p:cNvPr>
          <p:cNvSpPr/>
          <p:nvPr>
            <p:custDataLst>
              <p:tags r:id="rId11"/>
            </p:custDataLst>
          </p:nvPr>
        </p:nvSpPr>
        <p:spPr bwMode="gray">
          <a:xfrm>
            <a:off x="290514" y="5647227"/>
            <a:ext cx="300038" cy="17781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en-US" sz="800" dirty="0" smtClean="0">
                <a:solidFill>
                  <a:schemeClr val="tx1"/>
                </a:solidFill>
              </a:rPr>
              <a:t>37</a:t>
            </a:r>
            <a:endParaRPr lang="ru" sz="800" dirty="0">
              <a:solidFill>
                <a:schemeClr val="tx1"/>
              </a:solidFill>
            </a:endParaRPr>
          </a:p>
        </p:txBody>
      </p:sp>
      <p:sp>
        <p:nvSpPr>
          <p:cNvPr id="44" name="Rectangle 43">
            <a:extLst>
              <a:ext uri="{FF2B5EF4-FFF2-40B4-BE49-F238E27FC236}">
                <a16:creationId xmlns:a16="http://schemas.microsoft.com/office/drawing/2014/main" id="{8C922B75-24EF-1D0B-8FA3-2B3C215AA484}"/>
              </a:ext>
            </a:extLst>
          </p:cNvPr>
          <p:cNvSpPr/>
          <p:nvPr>
            <p:custDataLst>
              <p:tags r:id="rId12"/>
            </p:custDataLst>
          </p:nvPr>
        </p:nvSpPr>
        <p:spPr bwMode="gray">
          <a:xfrm>
            <a:off x="2509036" y="5651885"/>
            <a:ext cx="300038" cy="17781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en-US" sz="800" dirty="0" smtClean="0">
                <a:solidFill>
                  <a:schemeClr val="tx1"/>
                </a:solidFill>
              </a:rPr>
              <a:t>85</a:t>
            </a:r>
            <a:endParaRPr lang="ru" sz="800" dirty="0">
              <a:solidFill>
                <a:schemeClr val="tx1"/>
              </a:solidFill>
            </a:endParaRPr>
          </a:p>
        </p:txBody>
      </p:sp>
      <p:graphicFrame>
        <p:nvGraphicFramePr>
          <p:cNvPr id="45" name="Table 44">
            <a:extLst>
              <a:ext uri="{FF2B5EF4-FFF2-40B4-BE49-F238E27FC236}">
                <a16:creationId xmlns:a16="http://schemas.microsoft.com/office/drawing/2014/main" id="{15CBFF33-5DF7-AE46-C2B7-8247930CED13}"/>
              </a:ext>
            </a:extLst>
          </p:cNvPr>
          <p:cNvGraphicFramePr>
            <a:graphicFrameLocks noGrp="1"/>
          </p:cNvGraphicFramePr>
          <p:nvPr>
            <p:extLst>
              <p:ext uri="{D42A27DB-BD31-4B8C-83A1-F6EECF244321}">
                <p14:modId xmlns:p14="http://schemas.microsoft.com/office/powerpoint/2010/main" val="2570919499"/>
              </p:ext>
            </p:extLst>
          </p:nvPr>
        </p:nvGraphicFramePr>
        <p:xfrm>
          <a:off x="2918949" y="4989892"/>
          <a:ext cx="2166458" cy="1069440"/>
        </p:xfrm>
        <a:graphic>
          <a:graphicData uri="http://schemas.openxmlformats.org/drawingml/2006/table">
            <a:tbl>
              <a:tblPr firstRow="1" bandRow="1">
                <a:tableStyleId>{5C22544A-7EE6-4342-B048-85BDC9FD1C3A}</a:tableStyleId>
              </a:tblPr>
              <a:tblGrid>
                <a:gridCol w="2166458">
                  <a:extLst>
                    <a:ext uri="{9D8B030D-6E8A-4147-A177-3AD203B41FA5}">
                      <a16:colId xmlns:a16="http://schemas.microsoft.com/office/drawing/2014/main" val="3085055012"/>
                    </a:ext>
                  </a:extLst>
                </a:gridCol>
              </a:tblGrid>
              <a:tr h="174806">
                <a:tc>
                  <a:txBody>
                    <a:bodyPr/>
                    <a:lstStyle/>
                    <a:p>
                      <a:pPr rtl="0"/>
                      <a:r>
                        <a:rPr lang="ru" sz="800" b="0" dirty="0">
                          <a:solidFill>
                            <a:schemeClr val="accent1"/>
                          </a:solidFill>
                        </a:rPr>
                        <a:t xml:space="preserve">Business partners (rejected)</a:t>
                      </a:r>
                    </a:p>
                  </a:txBody>
                  <a:tcPr marL="0" marR="72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0475509"/>
                  </a:ext>
                </a:extLst>
              </a:tr>
              <a:tr h="614418">
                <a:tc>
                  <a:txBody>
                    <a:bodyPr/>
                    <a:lstStyle/>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 xml:space="preserve">Development Bank of Kazakhstan JSC (14)</a:t>
                      </a:r>
                    </a:p>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 xml:space="preserve">Kazakhstan Stock Exchange JSC (5)</a:t>
                      </a:r>
                    </a:p>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 xml:space="preserve">JSC "Eurasian Bank" (2)</a:t>
                      </a:r>
                    </a:p>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 xml:space="preserve">KDL "Olympus" (1)</a:t>
                      </a:r>
                    </a:p>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 xml:space="preserve">Industrial Development Fund (15)</a:t>
                      </a:r>
                      <a:endParaRPr lang="en-US" sz="800" kern="1200" dirty="0">
                        <a:solidFill>
                          <a:schemeClr val="dk1"/>
                        </a:solidFill>
                        <a:latin typeface="+mn-lt"/>
                        <a:ea typeface="+mn-ea"/>
                        <a:cs typeface="+mn-cs"/>
                      </a:endParaRPr>
                    </a:p>
                  </a:txBody>
                  <a:tcPr marL="0" marR="72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9104410"/>
                  </a:ext>
                </a:extLst>
              </a:tr>
              <a:tr h="174806">
                <a:tc>
                  <a:txBody>
                    <a:bodyPr/>
                    <a:lstStyle/>
                    <a:p>
                      <a:pPr marL="92075" indent="-92075" algn="l" defTabSz="583170" rtl="0" eaLnBrk="1" latinLnBrk="0" hangingPunct="1">
                        <a:buClr>
                          <a:schemeClr val="accent1"/>
                        </a:buClr>
                        <a:buFont typeface="Arial" panose="020B0604020202020204" pitchFamily="34" charset="0"/>
                        <a:buChar char="•"/>
                      </a:pPr>
                      <a:endParaRPr lang="ru" sz="800" kern="1200" dirty="0">
                        <a:solidFill>
                          <a:schemeClr val="dk1"/>
                        </a:solidFill>
                        <a:latin typeface="+mn-lt"/>
                        <a:ea typeface="+mn-ea"/>
                        <a:cs typeface="+mn-cs"/>
                      </a:endParaRPr>
                    </a:p>
                  </a:txBody>
                  <a:tcPr marL="0" marR="72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0447285"/>
                  </a:ext>
                </a:extLst>
              </a:tr>
            </a:tbl>
          </a:graphicData>
        </a:graphic>
      </p:graphicFrame>
      <p:sp>
        <p:nvSpPr>
          <p:cNvPr id="65" name="Text Placeholder 9">
            <a:extLst>
              <a:ext uri="{FF2B5EF4-FFF2-40B4-BE49-F238E27FC236}">
                <a16:creationId xmlns:a16="http://schemas.microsoft.com/office/drawing/2014/main" id="{5FE327E6-7A08-C1B0-EB68-60AE783F0A8E}"/>
              </a:ext>
            </a:extLst>
          </p:cNvPr>
          <p:cNvSpPr txBox="1">
            <a:spLocks/>
          </p:cNvSpPr>
          <p:nvPr/>
        </p:nvSpPr>
        <p:spPr>
          <a:xfrm>
            <a:off x="5205416" y="1100761"/>
            <a:ext cx="1808162"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dirty="0">
                <a:solidFill>
                  <a:schemeClr val="accent5">
                    <a:lumMod val="75000"/>
                    <a:lumOff val="25000"/>
                  </a:schemeClr>
                </a:solidFill>
              </a:rPr>
              <a:t xml:space="preserve">Trends</a:t>
            </a:r>
          </a:p>
        </p:txBody>
      </p:sp>
      <p:sp>
        <p:nvSpPr>
          <p:cNvPr id="66" name="Text Placeholder 9">
            <a:extLst>
              <a:ext uri="{FF2B5EF4-FFF2-40B4-BE49-F238E27FC236}">
                <a16:creationId xmlns:a16="http://schemas.microsoft.com/office/drawing/2014/main" id="{2EB97E36-6133-8F43-239E-E4466882B9D9}"/>
              </a:ext>
            </a:extLst>
          </p:cNvPr>
          <p:cNvSpPr txBox="1">
            <a:spLocks/>
          </p:cNvSpPr>
          <p:nvPr/>
        </p:nvSpPr>
        <p:spPr>
          <a:xfrm>
            <a:off x="6787300" y="1115584"/>
            <a:ext cx="3261575"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dirty="0" smtClean="0">
                <a:solidFill>
                  <a:schemeClr val="accent5">
                    <a:lumMod val="75000"/>
                    <a:lumOff val="25000"/>
                  </a:schemeClr>
                </a:solidFill>
              </a:rPr>
              <a:t xml:space="preserve">Identified / realized risks</a:t>
            </a:r>
            <a:r>
              <a:rPr lang="ru" sz="1200" dirty="0">
                <a:solidFill>
                  <a:schemeClr val="accent5">
                    <a:lumMod val="75000"/>
                    <a:lumOff val="25000"/>
                  </a:schemeClr>
                </a:solidFill>
              </a:rPr>
              <a:t/>
            </a:r>
          </a:p>
        </p:txBody>
      </p:sp>
      <p:sp>
        <p:nvSpPr>
          <p:cNvPr id="67" name="Text Placeholder 9">
            <a:extLst>
              <a:ext uri="{FF2B5EF4-FFF2-40B4-BE49-F238E27FC236}">
                <a16:creationId xmlns:a16="http://schemas.microsoft.com/office/drawing/2014/main" id="{CAF458EC-2B93-B936-CD53-61DFDC516E53}"/>
              </a:ext>
            </a:extLst>
          </p:cNvPr>
          <p:cNvSpPr txBox="1">
            <a:spLocks/>
          </p:cNvSpPr>
          <p:nvPr/>
        </p:nvSpPr>
        <p:spPr>
          <a:xfrm>
            <a:off x="10159100" y="956370"/>
            <a:ext cx="1517607"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dirty="0">
                <a:solidFill>
                  <a:schemeClr val="accent5">
                    <a:lumMod val="75000"/>
                    <a:lumOff val="25000"/>
                  </a:schemeClr>
                </a:solidFill>
              </a:rPr>
              <a:t xml:space="preserve">Impact on GP 2025</a:t>
            </a:r>
          </a:p>
          <a:p>
            <a:pPr rtl="0"/>
            <a:r>
              <a:rPr lang="ru" sz="1200" dirty="0">
                <a:solidFill>
                  <a:schemeClr val="accent5">
                    <a:lumMod val="75000"/>
                    <a:lumOff val="25000"/>
                  </a:schemeClr>
                </a:solidFill>
              </a:rPr>
              <a:t xml:space="preserve">(lessons learned)</a:t>
            </a:r>
          </a:p>
        </p:txBody>
      </p:sp>
      <p:sp>
        <p:nvSpPr>
          <p:cNvPr id="69" name="Text Placeholder 9">
            <a:extLst>
              <a:ext uri="{FF2B5EF4-FFF2-40B4-BE49-F238E27FC236}">
                <a16:creationId xmlns:a16="http://schemas.microsoft.com/office/drawing/2014/main" id="{F58CAF3D-8877-92F9-91B3-563A07F3C438}"/>
              </a:ext>
            </a:extLst>
          </p:cNvPr>
          <p:cNvSpPr txBox="1">
            <a:spLocks/>
          </p:cNvSpPr>
          <p:nvPr/>
        </p:nvSpPr>
        <p:spPr>
          <a:xfrm>
            <a:off x="377945" y="1089301"/>
            <a:ext cx="2875795"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dirty="0"/>
              <a:t xml:space="preserve">Data from 01/01/2025 to 12/31/2025.</a:t>
            </a:r>
            <a:r>
              <a:rPr lang="ru" sz="1200" dirty="0" smtClean="0"/>
              <a:t/>
            </a:r>
            <a:r>
              <a:rPr lang="ru" sz="1200" dirty="0"/>
              <a:t/>
            </a:r>
          </a:p>
        </p:txBody>
      </p:sp>
      <p:sp>
        <p:nvSpPr>
          <p:cNvPr id="70" name="Rectangle: Rounded Corners 69">
            <a:extLst>
              <a:ext uri="{FF2B5EF4-FFF2-40B4-BE49-F238E27FC236}">
                <a16:creationId xmlns:a16="http://schemas.microsoft.com/office/drawing/2014/main" id="{484D814C-369C-9229-23F6-24873CCDF181}"/>
              </a:ext>
            </a:extLst>
          </p:cNvPr>
          <p:cNvSpPr/>
          <p:nvPr>
            <p:custDataLst>
              <p:tags r:id="rId13"/>
            </p:custDataLst>
          </p:nvPr>
        </p:nvSpPr>
        <p:spPr>
          <a:xfrm>
            <a:off x="2730432" y="1342394"/>
            <a:ext cx="2296263" cy="2791194"/>
          </a:xfrm>
          <a:prstGeom prst="roundRect">
            <a:avLst>
              <a:gd name="adj" fmla="val 5912"/>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900" b="1" dirty="0">
                <a:solidFill>
                  <a:schemeClr val="tx1"/>
                </a:solidFill>
              </a:rPr>
              <a:t xml:space="preserve">Measures to mitigate the risk of conflict of interest according to the typology</a:t>
            </a:r>
            <a:r>
              <a:rPr lang="ru" sz="900" b="1" dirty="0" smtClean="0">
                <a:solidFill>
                  <a:schemeClr val="tx1"/>
                </a:solidFill>
              </a:rPr>
              <a:t/>
            </a:r>
            <a:endParaRPr lang="ru" sz="900" b="1" dirty="0">
              <a:solidFill>
                <a:schemeClr val="tx1"/>
              </a:solidFill>
            </a:endParaRPr>
          </a:p>
          <a:p>
            <a:pPr rtl="0"/>
            <a:r>
              <a:rPr lang="ru" sz="800" dirty="0" smtClean="0">
                <a:solidFill>
                  <a:schemeClr val="tx1"/>
                </a:solidFill>
              </a:rPr>
              <a:t xml:space="preserve">(#)</a:t>
            </a:r>
            <a:endParaRPr lang="ru" sz="800" dirty="0">
              <a:solidFill>
                <a:schemeClr val="tx1"/>
              </a:solidFill>
            </a:endParaRPr>
          </a:p>
        </p:txBody>
      </p:sp>
      <p:sp>
        <p:nvSpPr>
          <p:cNvPr id="10" name="Text Placeholder 4">
            <a:extLst>
              <a:ext uri="{FF2B5EF4-FFF2-40B4-BE49-F238E27FC236}">
                <a16:creationId xmlns:a16="http://schemas.microsoft.com/office/drawing/2014/main" id="{14416F83-3AE9-8E9B-A32C-449BBDD7A0E1}"/>
              </a:ext>
            </a:extLst>
          </p:cNvPr>
          <p:cNvSpPr>
            <a:spLocks noGrp="1"/>
          </p:cNvSpPr>
          <p:nvPr>
            <p:ph type="body" sz="quarter" idx="10"/>
          </p:nvPr>
        </p:nvSpPr>
        <p:spPr>
          <a:xfrm>
            <a:off x="314836" y="6468111"/>
            <a:ext cx="10584209" cy="292100"/>
          </a:xfrm>
        </p:spPr>
        <p:txBody>
          <a:bodyPr rtlCol="0"/>
          <a:lstStyle/>
          <a:p>
            <a:pPr rtl="0"/>
            <a:r>
              <a:rPr lang="ru" baseline="30000" noProof="0" dirty="0" smtClean="0">
                <a:solidFill>
                  <a:schemeClr val="accent1"/>
                </a:solidFill>
              </a:rPr>
              <a:t xml:space="preserve">1 For detailed information on validated CTs, see Appendix 5.</a:t>
            </a:r>
            <a:r>
              <a:rPr lang="ru" noProof="0" dirty="0" smtClean="0">
                <a:solidFill>
                  <a:schemeClr val="accent1"/>
                </a:solidFill>
              </a:rPr>
              <a:t/>
            </a:r>
            <a:r>
              <a:rPr lang="ru" noProof="0" dirty="0">
                <a:solidFill>
                  <a:schemeClr val="accent1"/>
                </a:solidFill>
              </a:rPr>
              <a:t/>
            </a:r>
            <a:r>
              <a:rPr lang="ru" noProof="0" dirty="0" smtClean="0">
                <a:solidFill>
                  <a:schemeClr val="accent1"/>
                </a:solidFill>
              </a:rPr>
              <a:t/>
            </a:r>
            <a:r>
              <a:rPr lang="ru" noProof="0" dirty="0">
                <a:solidFill>
                  <a:schemeClr val="accent1"/>
                </a:solidFill>
              </a:rPr>
              <a:t/>
            </a:r>
            <a:r>
              <a:rPr lang="ru" noProof="0" dirty="0" smtClean="0">
                <a:solidFill>
                  <a:schemeClr val="accent1"/>
                </a:solidFill>
              </a:rPr>
              <a:t/>
            </a:r>
          </a:p>
          <a:p>
            <a:r>
              <a:rPr lang="ru-RU" baseline="30000" dirty="0" smtClean="0">
                <a:solidFill>
                  <a:schemeClr val="accent1"/>
                </a:solidFill>
              </a:rPr>
              <a:t xml:space="preserve">2 For more detailed information on the CI self-testing conducted in Q4, see Appendix 6.</a:t>
            </a:r>
            <a:r>
              <a:rPr lang="ru-RU" dirty="0" smtClean="0">
                <a:solidFill>
                  <a:schemeClr val="accent1"/>
                </a:solidFill>
              </a:rPr>
              <a:t/>
            </a:r>
          </a:p>
          <a:p>
            <a:r>
              <a:rPr lang="ru-RU" baseline="30000" dirty="0" smtClean="0">
                <a:solidFill>
                  <a:schemeClr val="accent1"/>
                </a:solidFill>
              </a:rPr>
              <a:t xml:space="preserve">3 For more detailed information on the self-testing of gifts and KRM conducted in Q4, see Appendix 7.</a:t>
            </a:r>
            <a:r>
              <a:rPr lang="ru-RU" dirty="0">
                <a:solidFill>
                  <a:schemeClr val="accent1"/>
                </a:solidFill>
              </a:rPr>
              <a:t/>
            </a:r>
            <a:r>
              <a:rPr lang="ru-RU" dirty="0" smtClean="0">
                <a:solidFill>
                  <a:schemeClr val="accent1"/>
                </a:solidFill>
              </a:rPr>
              <a:t/>
            </a:r>
            <a:r>
              <a:rPr lang="ru-RU" dirty="0">
                <a:solidFill>
                  <a:schemeClr val="accent1"/>
                </a:solidFill>
              </a:rPr>
              <a:t/>
            </a:r>
            <a:r>
              <a:rPr lang="ru-RU" dirty="0" smtClean="0">
                <a:solidFill>
                  <a:schemeClr val="accent1"/>
                </a:solidFill>
              </a:rPr>
              <a:t/>
            </a:r>
            <a:endParaRPr lang="ru" dirty="0">
              <a:solidFill>
                <a:schemeClr val="accent1"/>
              </a:solidFill>
            </a:endParaRPr>
          </a:p>
        </p:txBody>
      </p:sp>
      <p:grpSp>
        <p:nvGrpSpPr>
          <p:cNvPr id="33" name="Group 32">
            <a:extLst>
              <a:ext uri="{FF2B5EF4-FFF2-40B4-BE49-F238E27FC236}">
                <a16:creationId xmlns:a16="http://schemas.microsoft.com/office/drawing/2014/main" id="{868EFAA5-63E7-4A3E-9E6C-1FAC65034EA0}"/>
              </a:ext>
            </a:extLst>
          </p:cNvPr>
          <p:cNvGrpSpPr/>
          <p:nvPr/>
        </p:nvGrpSpPr>
        <p:grpSpPr>
          <a:xfrm>
            <a:off x="365855" y="2088194"/>
            <a:ext cx="1693221" cy="1458944"/>
            <a:chOff x="539110" y="1774332"/>
            <a:chExt cx="1693221" cy="1458944"/>
          </a:xfrm>
        </p:grpSpPr>
        <p:graphicFrame>
          <p:nvGraphicFramePr>
            <p:cNvPr id="26" name="Chart 25">
              <a:extLst>
                <a:ext uri="{FF2B5EF4-FFF2-40B4-BE49-F238E27FC236}">
                  <a16:creationId xmlns:a16="http://schemas.microsoft.com/office/drawing/2014/main" id="{BC777227-8414-195C-8DCA-AB5AF94EFDE3}"/>
                </a:ext>
              </a:extLst>
            </p:cNvPr>
            <p:cNvGraphicFramePr/>
            <p:nvPr>
              <p:custDataLst>
                <p:tags r:id="rId14"/>
              </p:custDataLst>
              <p:extLst/>
            </p:nvPr>
          </p:nvGraphicFramePr>
          <p:xfrm>
            <a:off x="1037662" y="1952394"/>
            <a:ext cx="1181100" cy="1181100"/>
          </p:xfrm>
          <a:graphic>
            <a:graphicData uri="http://schemas.openxmlformats.org/drawingml/2006/chart">
              <c:chart xmlns:c="http://schemas.openxmlformats.org/drawingml/2006/chart" xmlns:r="http://schemas.openxmlformats.org/officeDocument/2006/relationships" r:id="rId30"/>
            </a:graphicData>
          </a:graphic>
        </p:graphicFrame>
        <p:sp>
          <p:nvSpPr>
            <p:cNvPr id="30" name="Rectangle 29">
              <a:extLst>
                <a:ext uri="{FF2B5EF4-FFF2-40B4-BE49-F238E27FC236}">
                  <a16:creationId xmlns:a16="http://schemas.microsoft.com/office/drawing/2014/main" id="{2AEB1E2D-3DB0-5292-04E7-5BF202CACCC1}"/>
                </a:ext>
              </a:extLst>
            </p:cNvPr>
            <p:cNvSpPr/>
            <p:nvPr>
              <p:custDataLst>
                <p:tags r:id="rId15"/>
              </p:custDataLst>
            </p:nvPr>
          </p:nvSpPr>
          <p:spPr bwMode="gray">
            <a:xfrm>
              <a:off x="1476294" y="1917402"/>
              <a:ext cx="57708" cy="1108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r" rtl="0">
                <a:lnSpc>
                  <a:spcPct val="90000"/>
                </a:lnSpc>
                <a:spcBef>
                  <a:spcPct val="0"/>
                </a:spcBef>
                <a:spcAft>
                  <a:spcPct val="0"/>
                </a:spcAft>
              </a:pPr>
              <a:r>
                <a:rPr lang="ru-RU" altLang="en-US" sz="800" dirty="0" smtClean="0">
                  <a:solidFill>
                    <a:schemeClr val="accent1"/>
                  </a:solidFill>
                </a:rPr>
                <a:t>5</a:t>
              </a:r>
              <a:endParaRPr lang="en-US" sz="800" dirty="0">
                <a:solidFill>
                  <a:schemeClr val="accent5">
                    <a:lumMod val="75000"/>
                    <a:lumOff val="25000"/>
                  </a:schemeClr>
                </a:solidFill>
              </a:endParaRPr>
            </a:p>
          </p:txBody>
        </p:sp>
        <p:sp>
          <p:nvSpPr>
            <p:cNvPr id="31" name="Rectangle 30">
              <a:extLst>
                <a:ext uri="{FF2B5EF4-FFF2-40B4-BE49-F238E27FC236}">
                  <a16:creationId xmlns:a16="http://schemas.microsoft.com/office/drawing/2014/main" id="{1FF0A965-1377-4654-1CA5-F68116F4F1E7}"/>
                </a:ext>
              </a:extLst>
            </p:cNvPr>
            <p:cNvSpPr/>
            <p:nvPr>
              <p:custDataLst>
                <p:tags r:id="rId16"/>
              </p:custDataLst>
            </p:nvPr>
          </p:nvSpPr>
          <p:spPr bwMode="auto">
            <a:xfrm>
              <a:off x="999160" y="1774332"/>
              <a:ext cx="511175" cy="122238"/>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altLang="en-US" sz="800" dirty="0">
                  <a:solidFill>
                    <a:schemeClr val="tx1"/>
                  </a:solidFill>
                </a:rPr>
                <a:t xml:space="preserve">In progress</a:t>
              </a:r>
              <a:endParaRPr lang="en-US" sz="800" dirty="0">
                <a:solidFill>
                  <a:schemeClr val="tx1"/>
                </a:solidFill>
              </a:endParaRPr>
            </a:p>
          </p:txBody>
        </p:sp>
        <p:sp>
          <p:nvSpPr>
            <p:cNvPr id="32" name="Rectangle 31">
              <a:extLst>
                <a:ext uri="{FF2B5EF4-FFF2-40B4-BE49-F238E27FC236}">
                  <a16:creationId xmlns:a16="http://schemas.microsoft.com/office/drawing/2014/main" id="{EFD8FB65-9E2D-A504-AB7F-618A91E021E5}"/>
                </a:ext>
              </a:extLst>
            </p:cNvPr>
            <p:cNvSpPr/>
            <p:nvPr>
              <p:custDataLst>
                <p:tags r:id="rId17"/>
              </p:custDataLst>
            </p:nvPr>
          </p:nvSpPr>
          <p:spPr bwMode="auto">
            <a:xfrm>
              <a:off x="1402288" y="2427653"/>
              <a:ext cx="485760" cy="182563"/>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rtl="0">
                <a:spcBef>
                  <a:spcPct val="0"/>
                </a:spcBef>
                <a:spcAft>
                  <a:spcPct val="0"/>
                </a:spcAft>
              </a:pPr>
              <a:r>
                <a:rPr lang="ru-RU" altLang="en-US" sz="1200" dirty="0" smtClean="0">
                  <a:solidFill>
                    <a:schemeClr val="accent1"/>
                  </a:solidFill>
                </a:rPr>
                <a:t>1,61%</a:t>
              </a:r>
              <a:endParaRPr lang="en-US" sz="1200" dirty="0">
                <a:solidFill>
                  <a:schemeClr val="accent1"/>
                </a:solidFill>
              </a:endParaRPr>
            </a:p>
          </p:txBody>
        </p:sp>
        <p:sp>
          <p:nvSpPr>
            <p:cNvPr id="62" name="Rectangle 61">
              <a:extLst>
                <a:ext uri="{FF2B5EF4-FFF2-40B4-BE49-F238E27FC236}">
                  <a16:creationId xmlns:a16="http://schemas.microsoft.com/office/drawing/2014/main" id="{FEE4F493-33CF-4BFE-8BEE-A0B76500E3A6}"/>
                </a:ext>
              </a:extLst>
            </p:cNvPr>
            <p:cNvSpPr/>
            <p:nvPr>
              <p:custDataLst>
                <p:tags r:id="rId18"/>
              </p:custDataLst>
            </p:nvPr>
          </p:nvSpPr>
          <p:spPr bwMode="gray">
            <a:xfrm>
              <a:off x="1830340" y="1926438"/>
              <a:ext cx="115416" cy="1108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rtl="0">
                <a:lnSpc>
                  <a:spcPct val="90000"/>
                </a:lnSpc>
                <a:spcBef>
                  <a:spcPct val="0"/>
                </a:spcBef>
                <a:spcAft>
                  <a:spcPct val="0"/>
                </a:spcAft>
              </a:pPr>
              <a:r>
                <a:rPr lang="ru" sz="800" dirty="0" smtClean="0">
                  <a:solidFill>
                    <a:schemeClr val="accent1"/>
                  </a:solidFill>
                </a:rPr>
                <a:t>52</a:t>
              </a:r>
              <a:endParaRPr lang="en-US" sz="800" dirty="0">
                <a:solidFill>
                  <a:schemeClr val="accent5">
                    <a:lumMod val="75000"/>
                    <a:lumOff val="25000"/>
                  </a:schemeClr>
                </a:solidFill>
              </a:endParaRPr>
            </a:p>
          </p:txBody>
        </p:sp>
        <p:sp>
          <p:nvSpPr>
            <p:cNvPr id="86" name="Rectangle 85">
              <a:extLst>
                <a:ext uri="{FF2B5EF4-FFF2-40B4-BE49-F238E27FC236}">
                  <a16:creationId xmlns:a16="http://schemas.microsoft.com/office/drawing/2014/main" id="{CA9667F0-DA32-4FD9-8915-45F7659641EF}"/>
                </a:ext>
              </a:extLst>
            </p:cNvPr>
            <p:cNvSpPr/>
            <p:nvPr>
              <p:custDataLst>
                <p:tags r:id="rId19"/>
              </p:custDataLst>
            </p:nvPr>
          </p:nvSpPr>
          <p:spPr bwMode="auto">
            <a:xfrm>
              <a:off x="1721156" y="1785983"/>
              <a:ext cx="511175" cy="122238"/>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en-US" altLang="en-US" sz="800" dirty="0">
                  <a:solidFill>
                    <a:schemeClr val="tx1"/>
                  </a:solidFill>
                </a:rPr>
                <a:t xml:space="preserve">Confirmed</a:t>
              </a:r>
              <a:endParaRPr lang="en-US" sz="800" dirty="0">
                <a:solidFill>
                  <a:schemeClr val="tx1"/>
                </a:solidFill>
              </a:endParaRPr>
            </a:p>
          </p:txBody>
        </p:sp>
        <p:sp>
          <p:nvSpPr>
            <p:cNvPr id="87" name="Rectangle 86">
              <a:extLst>
                <a:ext uri="{FF2B5EF4-FFF2-40B4-BE49-F238E27FC236}">
                  <a16:creationId xmlns:a16="http://schemas.microsoft.com/office/drawing/2014/main" id="{174C4228-BBD1-44F1-85A4-1AB677628A07}"/>
                </a:ext>
              </a:extLst>
            </p:cNvPr>
            <p:cNvSpPr/>
            <p:nvPr>
              <p:custDataLst>
                <p:tags r:id="rId20"/>
              </p:custDataLst>
            </p:nvPr>
          </p:nvSpPr>
          <p:spPr bwMode="gray">
            <a:xfrm>
              <a:off x="931816" y="2916814"/>
              <a:ext cx="230833" cy="1108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r" rtl="0">
                <a:lnSpc>
                  <a:spcPct val="90000"/>
                </a:lnSpc>
                <a:spcBef>
                  <a:spcPct val="0"/>
                </a:spcBef>
                <a:spcAft>
                  <a:spcPct val="0"/>
                </a:spcAft>
              </a:pPr>
              <a:r>
                <a:rPr lang="ru" sz="800" dirty="0" smtClean="0">
                  <a:solidFill>
                    <a:schemeClr val="accent1"/>
                  </a:solidFill>
                </a:rPr>
                <a:t>3173</a:t>
              </a:r>
              <a:endParaRPr lang="en-US" sz="800" dirty="0">
                <a:solidFill>
                  <a:schemeClr val="accent5">
                    <a:lumMod val="75000"/>
                    <a:lumOff val="25000"/>
                  </a:schemeClr>
                </a:solidFill>
              </a:endParaRPr>
            </a:p>
          </p:txBody>
        </p:sp>
        <p:sp>
          <p:nvSpPr>
            <p:cNvPr id="89" name="Rectangle 88">
              <a:extLst>
                <a:ext uri="{FF2B5EF4-FFF2-40B4-BE49-F238E27FC236}">
                  <a16:creationId xmlns:a16="http://schemas.microsoft.com/office/drawing/2014/main" id="{18F82934-A489-4ED2-A035-8FD775CC2E59}"/>
                </a:ext>
              </a:extLst>
            </p:cNvPr>
            <p:cNvSpPr/>
            <p:nvPr>
              <p:custDataLst>
                <p:tags r:id="rId21"/>
              </p:custDataLst>
            </p:nvPr>
          </p:nvSpPr>
          <p:spPr bwMode="auto">
            <a:xfrm>
              <a:off x="539110" y="2964237"/>
              <a:ext cx="851665" cy="269039"/>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altLang="en-US" sz="800" dirty="0">
                  <a:solidFill>
                    <a:schemeClr val="tx1"/>
                  </a:solidFill>
                </a:rPr>
                <a:t xml:space="preserve">Not confirmed</a:t>
              </a:r>
              <a:endParaRPr lang="en-US" sz="800" dirty="0">
                <a:solidFill>
                  <a:schemeClr val="tx1"/>
                </a:solidFill>
              </a:endParaRPr>
            </a:p>
          </p:txBody>
        </p:sp>
      </p:grpSp>
      <p:sp>
        <p:nvSpPr>
          <p:cNvPr id="77" name="Text Placeholder 9">
            <a:extLst>
              <a:ext uri="{FF2B5EF4-FFF2-40B4-BE49-F238E27FC236}">
                <a16:creationId xmlns:a16="http://schemas.microsoft.com/office/drawing/2014/main" id="{F58CAF3D-8877-92F9-91B3-563A07F3C438}"/>
              </a:ext>
            </a:extLst>
          </p:cNvPr>
          <p:cNvSpPr txBox="1">
            <a:spLocks/>
          </p:cNvSpPr>
          <p:nvPr/>
        </p:nvSpPr>
        <p:spPr>
          <a:xfrm>
            <a:off x="314836" y="4300161"/>
            <a:ext cx="3515941" cy="184666"/>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dirty="0"/>
              <a:t xml:space="preserve">Q4 data 2025</a:t>
            </a:r>
            <a:r>
              <a:rPr lang="en-US" sz="1200" dirty="0" smtClean="0"/>
              <a:t/>
            </a:r>
            <a:r>
              <a:rPr lang="ru" sz="1200" dirty="0" smtClean="0"/>
              <a:t/>
            </a:r>
            <a:r>
              <a:rPr lang="ru" sz="1200" dirty="0"/>
              <a:t/>
            </a:r>
          </a:p>
        </p:txBody>
      </p:sp>
      <p:sp>
        <p:nvSpPr>
          <p:cNvPr id="51" name="TextBox 50">
            <a:extLst>
              <a:ext uri="{FF2B5EF4-FFF2-40B4-BE49-F238E27FC236}">
                <a16:creationId xmlns:a16="http://schemas.microsoft.com/office/drawing/2014/main" id="{7A39264F-0BB3-B1AF-7FEA-241494E61DA9}"/>
              </a:ext>
            </a:extLst>
          </p:cNvPr>
          <p:cNvSpPr txBox="1"/>
          <p:nvPr/>
        </p:nvSpPr>
        <p:spPr>
          <a:xfrm>
            <a:off x="413600" y="5929836"/>
            <a:ext cx="757484" cy="215444"/>
          </a:xfrm>
          <a:prstGeom prst="rect">
            <a:avLst/>
          </a:prstGeom>
          <a:noFill/>
        </p:spPr>
        <p:txBody>
          <a:bodyPr wrap="square" rtlCol="0">
            <a:spAutoFit/>
          </a:bodyPr>
          <a:lstStyle/>
          <a:p>
            <a:pPr rtl="0"/>
            <a:r>
              <a:rPr lang="ru" sz="800" dirty="0">
                <a:solidFill>
                  <a:schemeClr val="accent1"/>
                </a:solidFill>
              </a:rPr>
              <a:t xml:space="preserve">Rejected</a:t>
            </a:r>
          </a:p>
        </p:txBody>
      </p:sp>
      <p:sp>
        <p:nvSpPr>
          <p:cNvPr id="52" name="TextBox 51">
            <a:extLst>
              <a:ext uri="{FF2B5EF4-FFF2-40B4-BE49-F238E27FC236}">
                <a16:creationId xmlns:a16="http://schemas.microsoft.com/office/drawing/2014/main" id="{64AEA525-5592-0A71-BDA9-D73790840035}"/>
              </a:ext>
            </a:extLst>
          </p:cNvPr>
          <p:cNvSpPr txBox="1"/>
          <p:nvPr/>
        </p:nvSpPr>
        <p:spPr>
          <a:xfrm>
            <a:off x="1545447" y="5937810"/>
            <a:ext cx="963588" cy="215444"/>
          </a:xfrm>
          <a:prstGeom prst="rect">
            <a:avLst/>
          </a:prstGeom>
          <a:noFill/>
        </p:spPr>
        <p:txBody>
          <a:bodyPr wrap="square" rtlCol="0">
            <a:spAutoFit/>
          </a:bodyPr>
          <a:lstStyle/>
          <a:p>
            <a:pPr rtl="0"/>
            <a:r>
              <a:rPr lang="ru" sz="800" dirty="0">
                <a:solidFill>
                  <a:schemeClr val="accent5">
                    <a:lumMod val="75000"/>
                    <a:lumOff val="25000"/>
                  </a:schemeClr>
                </a:solidFill>
              </a:rPr>
              <a:t xml:space="preserve">Agreed</a:t>
            </a:r>
          </a:p>
        </p:txBody>
      </p:sp>
      <p:graphicFrame>
        <p:nvGraphicFramePr>
          <p:cNvPr id="6" name="Диаграмма 5"/>
          <p:cNvGraphicFramePr/>
          <p:nvPr>
            <p:extLst>
              <p:ext uri="{D42A27DB-BD31-4B8C-83A1-F6EECF244321}">
                <p14:modId xmlns:p14="http://schemas.microsoft.com/office/powerpoint/2010/main" val="3437990070"/>
              </p:ext>
            </p:extLst>
          </p:nvPr>
        </p:nvGraphicFramePr>
        <p:xfrm>
          <a:off x="2659055" y="2407409"/>
          <a:ext cx="2469662" cy="1608214"/>
        </p:xfrm>
        <a:graphic>
          <a:graphicData uri="http://schemas.openxmlformats.org/drawingml/2006/chart">
            <c:chart xmlns:c="http://schemas.openxmlformats.org/drawingml/2006/chart" xmlns:r="http://schemas.openxmlformats.org/officeDocument/2006/relationships" r:id="rId31"/>
          </a:graphicData>
        </a:graphic>
      </p:graphicFrame>
    </p:spTree>
    <p:extLst>
      <p:ext uri="{BB962C8B-B14F-4D97-AF65-F5344CB8AC3E}">
        <p14:creationId xmlns:p14="http://schemas.microsoft.com/office/powerpoint/2010/main" val="2809297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Object 39" hidden="1">
            <a:extLst>
              <a:ext uri="{FF2B5EF4-FFF2-40B4-BE49-F238E27FC236}">
                <a16:creationId xmlns:a16="http://schemas.microsoft.com/office/drawing/2014/main" id="{0398FD1E-29AF-4172-B043-195FE469A3D0}"/>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545" name="think-cell Slide" r:id="rId5" imgW="473" imgH="473" progId="TCLayout.ActiveDocument.1">
                  <p:embed/>
                </p:oleObj>
              </mc:Choice>
              <mc:Fallback>
                <p:oleObj name="think-cell Slide" r:id="rId5" imgW="473" imgH="473" progId="TCLayout.ActiveDocument.1">
                  <p:embed/>
                  <p:pic>
                    <p:nvPicPr>
                      <p:cNvPr id="40" name="Object 39" hidden="1">
                        <a:extLst>
                          <a:ext uri="{FF2B5EF4-FFF2-40B4-BE49-F238E27FC236}">
                            <a16:creationId xmlns:a16="http://schemas.microsoft.com/office/drawing/2014/main" id="{0398FD1E-29AF-4172-B043-195FE469A3D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BC99CEB-384C-4161-8992-FD3D9FEFC218}"/>
              </a:ext>
            </a:extLst>
          </p:cNvPr>
          <p:cNvSpPr>
            <a:spLocks noGrp="1"/>
          </p:cNvSpPr>
          <p:nvPr>
            <p:ph type="title"/>
          </p:nvPr>
        </p:nvSpPr>
        <p:spPr>
          <a:xfrm>
            <a:off x="317498" y="34834"/>
            <a:ext cx="10584209" cy="704850"/>
          </a:xfrm>
        </p:spPr>
        <p:txBody>
          <a:bodyPr vert="horz"/>
          <a:lstStyle/>
          <a:p>
            <a:pPr lvl="0" fontAlgn="t">
              <a:spcBef>
                <a:spcPts val="0"/>
              </a:spcBef>
              <a:defRPr/>
            </a:pPr>
            <a:r>
              <a:rPr lang="ru-RU" dirty="0" smtClean="0"/>
              <a:t>Дашборд </a:t>
            </a:r>
            <a:r>
              <a:rPr lang="ru-RU" dirty="0"/>
              <a:t>за </a:t>
            </a:r>
            <a:r>
              <a:rPr lang="ru-RU" dirty="0" smtClean="0"/>
              <a:t>4 </a:t>
            </a:r>
            <a:r>
              <a:rPr lang="ru-RU" dirty="0"/>
              <a:t>кв. 2025 г.: </a:t>
            </a:r>
            <a:r>
              <a:rPr lang="en-US" dirty="0"/>
              <a:t/>
            </a:r>
            <a:br>
              <a:rPr lang="en-US" dirty="0"/>
            </a:br>
            <a:r>
              <a:rPr lang="ru-RU" dirty="0">
                <a:solidFill>
                  <a:schemeClr val="tx1"/>
                </a:solidFill>
              </a:rPr>
              <a:t>Обучение и коммуникации </a:t>
            </a:r>
            <a:endParaRPr lang="en-US" dirty="0">
              <a:solidFill>
                <a:schemeClr val="tx1"/>
              </a:solidFill>
            </a:endParaRPr>
          </a:p>
        </p:txBody>
      </p:sp>
      <p:graphicFrame>
        <p:nvGraphicFramePr>
          <p:cNvPr id="9" name="Table 11">
            <a:extLst>
              <a:ext uri="{FF2B5EF4-FFF2-40B4-BE49-F238E27FC236}">
                <a16:creationId xmlns:a16="http://schemas.microsoft.com/office/drawing/2014/main" id="{5711B25D-D4E7-41CF-8479-FF2811114876}"/>
              </a:ext>
            </a:extLst>
          </p:cNvPr>
          <p:cNvGraphicFramePr>
            <a:graphicFrameLocks noGrp="1"/>
          </p:cNvGraphicFramePr>
          <p:nvPr>
            <p:extLst>
              <p:ext uri="{D42A27DB-BD31-4B8C-83A1-F6EECF244321}">
                <p14:modId xmlns:p14="http://schemas.microsoft.com/office/powerpoint/2010/main" val="1459212133"/>
              </p:ext>
            </p:extLst>
          </p:nvPr>
        </p:nvGraphicFramePr>
        <p:xfrm>
          <a:off x="317499" y="799772"/>
          <a:ext cx="11722532" cy="5137629"/>
        </p:xfrm>
        <a:graphic>
          <a:graphicData uri="http://schemas.openxmlformats.org/drawingml/2006/table">
            <a:tbl>
              <a:tblPr>
                <a:tableStyleId>{5C22544A-7EE6-4342-B048-85BDC9FD1C3A}</a:tableStyleId>
              </a:tblPr>
              <a:tblGrid>
                <a:gridCol w="1103772">
                  <a:extLst>
                    <a:ext uri="{9D8B030D-6E8A-4147-A177-3AD203B41FA5}">
                      <a16:colId xmlns:a16="http://schemas.microsoft.com/office/drawing/2014/main" val="4283328280"/>
                    </a:ext>
                  </a:extLst>
                </a:gridCol>
                <a:gridCol w="110380">
                  <a:extLst>
                    <a:ext uri="{9D8B030D-6E8A-4147-A177-3AD203B41FA5}">
                      <a16:colId xmlns:a16="http://schemas.microsoft.com/office/drawing/2014/main" val="538032366"/>
                    </a:ext>
                  </a:extLst>
                </a:gridCol>
                <a:gridCol w="4415094">
                  <a:extLst>
                    <a:ext uri="{9D8B030D-6E8A-4147-A177-3AD203B41FA5}">
                      <a16:colId xmlns:a16="http://schemas.microsoft.com/office/drawing/2014/main" val="3934981002"/>
                    </a:ext>
                  </a:extLst>
                </a:gridCol>
                <a:gridCol w="110380">
                  <a:extLst>
                    <a:ext uri="{9D8B030D-6E8A-4147-A177-3AD203B41FA5}">
                      <a16:colId xmlns:a16="http://schemas.microsoft.com/office/drawing/2014/main" val="3362274983"/>
                    </a:ext>
                  </a:extLst>
                </a:gridCol>
                <a:gridCol w="648000">
                  <a:extLst>
                    <a:ext uri="{9D8B030D-6E8A-4147-A177-3AD203B41FA5}">
                      <a16:colId xmlns:a16="http://schemas.microsoft.com/office/drawing/2014/main" val="1278346448"/>
                    </a:ext>
                  </a:extLst>
                </a:gridCol>
                <a:gridCol w="515095">
                  <a:extLst>
                    <a:ext uri="{9D8B030D-6E8A-4147-A177-3AD203B41FA5}">
                      <a16:colId xmlns:a16="http://schemas.microsoft.com/office/drawing/2014/main" val="2386414887"/>
                    </a:ext>
                  </a:extLst>
                </a:gridCol>
                <a:gridCol w="515095">
                  <a:extLst>
                    <a:ext uri="{9D8B030D-6E8A-4147-A177-3AD203B41FA5}">
                      <a16:colId xmlns:a16="http://schemas.microsoft.com/office/drawing/2014/main" val="176291734"/>
                    </a:ext>
                  </a:extLst>
                </a:gridCol>
                <a:gridCol w="515095">
                  <a:extLst>
                    <a:ext uri="{9D8B030D-6E8A-4147-A177-3AD203B41FA5}">
                      <a16:colId xmlns:a16="http://schemas.microsoft.com/office/drawing/2014/main" val="2646207426"/>
                    </a:ext>
                  </a:extLst>
                </a:gridCol>
                <a:gridCol w="515095">
                  <a:extLst>
                    <a:ext uri="{9D8B030D-6E8A-4147-A177-3AD203B41FA5}">
                      <a16:colId xmlns:a16="http://schemas.microsoft.com/office/drawing/2014/main" val="2561646808"/>
                    </a:ext>
                  </a:extLst>
                </a:gridCol>
                <a:gridCol w="699057">
                  <a:extLst>
                    <a:ext uri="{9D8B030D-6E8A-4147-A177-3AD203B41FA5}">
                      <a16:colId xmlns:a16="http://schemas.microsoft.com/office/drawing/2014/main" val="700164556"/>
                    </a:ext>
                  </a:extLst>
                </a:gridCol>
                <a:gridCol w="735848">
                  <a:extLst>
                    <a:ext uri="{9D8B030D-6E8A-4147-A177-3AD203B41FA5}">
                      <a16:colId xmlns:a16="http://schemas.microsoft.com/office/drawing/2014/main" val="3498154367"/>
                    </a:ext>
                  </a:extLst>
                </a:gridCol>
                <a:gridCol w="846228">
                  <a:extLst>
                    <a:ext uri="{9D8B030D-6E8A-4147-A177-3AD203B41FA5}">
                      <a16:colId xmlns:a16="http://schemas.microsoft.com/office/drawing/2014/main" val="1916123635"/>
                    </a:ext>
                  </a:extLst>
                </a:gridCol>
                <a:gridCol w="367924">
                  <a:extLst>
                    <a:ext uri="{9D8B030D-6E8A-4147-A177-3AD203B41FA5}">
                      <a16:colId xmlns:a16="http://schemas.microsoft.com/office/drawing/2014/main" val="3799039084"/>
                    </a:ext>
                  </a:extLst>
                </a:gridCol>
                <a:gridCol w="625469">
                  <a:extLst>
                    <a:ext uri="{9D8B030D-6E8A-4147-A177-3AD203B41FA5}">
                      <a16:colId xmlns:a16="http://schemas.microsoft.com/office/drawing/2014/main" val="3943256764"/>
                    </a:ext>
                  </a:extLst>
                </a:gridCol>
              </a:tblGrid>
              <a:tr h="220329">
                <a:tc gridSpan="14">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r>
                        <a:rPr lang="en-US" sz="1200" b="0" kern="1200" dirty="0">
                          <a:solidFill>
                            <a:schemeClr val="accent1"/>
                          </a:solidFill>
                          <a:latin typeface="+mn-lt"/>
                          <a:ea typeface="+mn-ea"/>
                          <a:cs typeface="+mn-cs"/>
                        </a:rPr>
                        <a:t xml:space="preserve">Mining &amp; Healthcare</a:t>
                      </a:r>
                      <a:endParaRPr lang="en-US" sz="1200" b="0" i="0" u="none" strike="noStrike" dirty="0">
                        <a:solidFill>
                          <a:schemeClr val="accent1"/>
                        </a:solidFill>
                        <a:effectLst/>
                        <a:latin typeface="+mn-lt"/>
                        <a:cs typeface="Arial" panose="020B0604020202020204" pitchFamily="34" charset="0"/>
                      </a:endParaRPr>
                    </a:p>
                  </a:txBody>
                  <a:tcPr marL="36000" marR="36000" marT="0" marB="0" anchor="ctr">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800" b="0" i="0" u="none" strike="noStrike" dirty="0">
                        <a:solidFill>
                          <a:schemeClr val="bg1"/>
                        </a:solidFill>
                        <a:effectLst/>
                        <a:latin typeface="+mn-lt"/>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indent="0" algn="l" defTabSz="583170" rtl="0" eaLnBrk="1" fontAlgn="t" latinLnBrk="0" hangingPunct="1">
                        <a:lnSpc>
                          <a:spcPct val="100000"/>
                        </a:lnSpc>
                        <a:spcBef>
                          <a:spcPts val="0"/>
                        </a:spcBef>
                        <a:buFont typeface="Arial" panose="020B0604020202020204" pitchFamily="34" charset="0"/>
                        <a:buNone/>
                      </a:pPr>
                      <a:endParaRPr lang="en-US" sz="800" b="0" kern="1200" dirty="0">
                        <a:solidFill>
                          <a:schemeClr val="accent1"/>
                        </a:solidFill>
                        <a:latin typeface="+mn-lt"/>
                        <a:ea typeface="+mn-ea"/>
                        <a:cs typeface="+mn-cs"/>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1200" b="0" i="0" u="none" strike="noStrike" dirty="0">
                        <a:solidFill>
                          <a:schemeClr val="bg1"/>
                        </a:solidFill>
                        <a:effectLst/>
                        <a:latin typeface="+mn-lt"/>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1200" b="0" i="0" u="none" strike="noStrike" dirty="0">
                        <a:solidFill>
                          <a:schemeClr val="bg1"/>
                        </a:solidFill>
                        <a:effectLst/>
                        <a:latin typeface="+mn-lt"/>
                        <a:cs typeface="Arial" panose="020B0604020202020204" pitchFamily="34" charset="0"/>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800" b="0" i="0" u="none" strike="noStrike" dirty="0">
                        <a:solidFill>
                          <a:schemeClr val="bg1"/>
                        </a:solidFill>
                        <a:effectLst/>
                        <a:latin typeface="+mn-lt"/>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800" b="0" i="0" u="none" strike="noStrike" dirty="0">
                        <a:solidFill>
                          <a:schemeClr val="bg1"/>
                        </a:solidFill>
                        <a:effectLst/>
                        <a:latin typeface="+mn-lt"/>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800" b="0" i="0" u="none" strike="noStrike" dirty="0">
                        <a:solidFill>
                          <a:schemeClr val="bg1"/>
                        </a:solidFill>
                        <a:effectLst/>
                        <a:latin typeface="+mn-lt"/>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pPr algn="l" fontAlgn="t"/>
                      <a:endParaRPr lang="en-US" sz="800" b="0" i="0" u="none" strike="noStrike" dirty="0">
                        <a:solidFill>
                          <a:schemeClr val="bg1"/>
                        </a:solidFill>
                        <a:effectLst/>
                        <a:latin typeface="+mn-lt"/>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pPr algn="l" fontAlgn="t"/>
                      <a:endParaRPr lang="en-US" sz="800" b="0" i="0" u="none" strike="noStrike" dirty="0">
                        <a:solidFill>
                          <a:schemeClr val="bg1"/>
                        </a:solidFill>
                        <a:effectLst/>
                        <a:latin typeface="+mn-lt"/>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1200" b="0" i="0" u="none" strike="noStrike" dirty="0">
                        <a:solidFill>
                          <a:schemeClr val="accent1"/>
                        </a:solidFill>
                        <a:effectLst/>
                        <a:latin typeface="+mn-lt"/>
                        <a:cs typeface="Arial" panose="020B0604020202020204" pitchFamily="34" charset="0"/>
                      </a:endParaRPr>
                    </a:p>
                  </a:txBody>
                  <a:tcPr marL="36000" marR="36000" marT="36000" marB="36000" anchor="ctr">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1200" b="0" i="0" u="none" strike="noStrike" dirty="0">
                        <a:solidFill>
                          <a:schemeClr val="accent1"/>
                        </a:solidFill>
                        <a:effectLst/>
                        <a:latin typeface="+mn-lt"/>
                        <a:cs typeface="Arial" panose="020B0604020202020204" pitchFamily="34" charset="0"/>
                      </a:endParaRPr>
                    </a:p>
                  </a:txBody>
                  <a:tcPr marL="36000" marR="36000" marT="36000" marB="36000" anchor="ctr">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1758237"/>
                  </a:ext>
                </a:extLst>
              </a:tr>
              <a:tr h="82260">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300" b="0" i="0" u="none" strike="noStrike" dirty="0">
                        <a:solidFill>
                          <a:schemeClr val="bg1"/>
                        </a:solidFill>
                        <a:effectLst/>
                        <a:latin typeface="+mn-lt"/>
                      </a:endParaRPr>
                    </a:p>
                  </a:txBody>
                  <a:tcPr marL="36000" marR="36000" marT="0" marB="0" anchor="ctr">
                    <a:lnL w="12700" cmpd="sng">
                      <a:noFill/>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300" b="0" i="0" u="none" strike="noStrike" dirty="0">
                        <a:solidFill>
                          <a:schemeClr val="bg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583170" rtl="0" eaLnBrk="1" fontAlgn="t" latinLnBrk="0" hangingPunct="1">
                        <a:lnSpc>
                          <a:spcPct val="100000"/>
                        </a:lnSpc>
                        <a:spcBef>
                          <a:spcPts val="0"/>
                        </a:spcBef>
                        <a:buFont typeface="Arial" panose="020B0604020202020204" pitchFamily="34" charset="0"/>
                        <a:buNone/>
                      </a:pPr>
                      <a:endParaRPr lang="en-US" sz="300" b="0" kern="1200" dirty="0">
                        <a:solidFill>
                          <a:schemeClr val="accent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300" b="0" i="0" u="none" strike="noStrike" dirty="0">
                        <a:solidFill>
                          <a:schemeClr val="bg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300" b="0" i="0" u="none" strike="noStrike" dirty="0">
                        <a:solidFill>
                          <a:schemeClr val="bg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700" b="0" i="0" u="none" strike="noStrike" dirty="0">
                        <a:solidFill>
                          <a:schemeClr val="bg1"/>
                        </a:solidFill>
                        <a:effectLst/>
                        <a:latin typeface="Arial" panose="020B0604020202020204" pitchFamily="34" charset="0"/>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700" b="0" i="0" u="none" strike="noStrike" dirty="0">
                        <a:solidFill>
                          <a:schemeClr val="bg1"/>
                        </a:solidFill>
                        <a:effectLst/>
                        <a:latin typeface="Arial" panose="020B0604020202020204" pitchFamily="34" charset="0"/>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700" b="0" i="0" u="none" strike="noStrike" dirty="0">
                        <a:solidFill>
                          <a:schemeClr val="bg1"/>
                        </a:solidFill>
                        <a:effectLst/>
                        <a:latin typeface="Arial" panose="020B0604020202020204" pitchFamily="34" charset="0"/>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pPr algn="l" fontAlgn="t"/>
                      <a:endParaRPr lang="en-US" sz="700" b="0" i="0" u="none" strike="noStrike" dirty="0">
                        <a:solidFill>
                          <a:schemeClr val="bg1"/>
                        </a:solidFill>
                        <a:effectLst/>
                        <a:latin typeface="Arial" panose="020B0604020202020204" pitchFamily="34" charset="0"/>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pPr algn="l" fontAlgn="t"/>
                      <a:endParaRPr lang="en-US" sz="700" b="0" i="0" u="none" strike="noStrike" dirty="0">
                        <a:solidFill>
                          <a:schemeClr val="bg1"/>
                        </a:solidFill>
                        <a:effectLst/>
                        <a:latin typeface="Arial" panose="020B0604020202020204" pitchFamily="34" charset="0"/>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300" b="0" i="0" u="none" strike="noStrike" dirty="0">
                        <a:solidFill>
                          <a:schemeClr val="bg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300" b="0" i="0" u="none" strike="noStrike" dirty="0">
                        <a:solidFill>
                          <a:schemeClr val="bg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9134461"/>
                  </a:ext>
                </a:extLst>
              </a:tr>
              <a:tr h="557237">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en-US" sz="1000" b="1" i="0" u="none" strike="noStrike" dirty="0">
                          <a:solidFill>
                            <a:schemeClr val="accent1"/>
                          </a:solidFill>
                          <a:effectLst/>
                          <a:latin typeface="+mn-lt"/>
                        </a:rPr>
                        <a:t xml:space="preserve">T&amp;A Program</a:t>
                      </a:r>
                      <a:r>
                        <a:rPr lang="en-US" sz="1000" b="1" i="0" u="none" strike="noStrike" baseline="0" dirty="0">
                          <a:solidFill>
                            <a:schemeClr val="accent1"/>
                          </a:solidFill>
                          <a:effectLst/>
                          <a:latin typeface="+mn-lt"/>
                        </a:rPr>
                        <a:t/>
                      </a:r>
                      <a:r>
                        <a:rPr lang="ru-RU" sz="1000" b="1" i="0" u="none" strike="noStrike" baseline="0" dirty="0">
                          <a:solidFill>
                            <a:schemeClr val="accent1"/>
                          </a:solidFill>
                          <a:effectLst/>
                          <a:latin typeface="+mn-lt"/>
                        </a:rPr>
                        <a:t/>
                      </a:r>
                      <a:endParaRPr lang="en-US" sz="1000" b="0" i="0" u="none" strike="noStrike" dirty="0">
                        <a:solidFill>
                          <a:schemeClr val="bg1"/>
                        </a:solidFill>
                        <a:effectLst/>
                        <a:latin typeface="+mn-lt"/>
                      </a:endParaRPr>
                    </a:p>
                  </a:txBody>
                  <a:tcPr marL="36000" marR="36000" marT="0" marB="0" anchor="ctr">
                    <a:lnL w="12700" cmpd="sng">
                      <a:noFill/>
                    </a:lnL>
                    <a:lnR w="12700" cap="flat" cmpd="sng" algn="ctr">
                      <a:noFill/>
                      <a:prstDash val="solid"/>
                      <a:round/>
                      <a:headEnd type="none" w="med" len="med"/>
                      <a:tailEnd type="none" w="med" len="med"/>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700" b="0" i="0" u="none" strike="noStrike" dirty="0">
                        <a:solidFill>
                          <a:schemeClr val="bg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ru-RU" sz="700" u="none" strike="noStrike" dirty="0">
                          <a:solidFill>
                            <a:schemeClr val="tx1"/>
                          </a:solidFill>
                          <a:effectLst/>
                          <a:latin typeface="+mn-lt"/>
                        </a:rPr>
                        <a:t xml:space="preserve">Type of training and topic of compliance session</a:t>
                      </a:r>
                      <a:r>
                        <a:rPr lang="ru-RU" sz="700" u="none" strike="noStrike" baseline="0" dirty="0">
                          <a:solidFill>
                            <a:schemeClr val="tx1"/>
                          </a:solidFill>
                          <a:effectLst/>
                          <a:latin typeface="+mn-lt"/>
                        </a:rPr>
                        <a:t/>
                      </a:r>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endParaRPr lang="en-US" sz="700" b="0" i="0" u="none" strike="noStrike" dirty="0">
                        <a:solidFill>
                          <a:schemeClr val="bg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ru-RU" sz="700" b="0" i="0" u="none" strike="noStrike" dirty="0">
                          <a:solidFill>
                            <a:schemeClr val="tx1"/>
                          </a:solidFill>
                          <a:effectLst/>
                          <a:latin typeface="+mn-lt"/>
                          <a:cs typeface="Arial" panose="020B0604020202020204" pitchFamily="34" charset="0"/>
                        </a:rPr>
                        <a:t>2022</a:t>
                      </a:r>
                      <a:r>
                        <a:rPr lang="ru-RU" sz="700" b="0" i="0" u="none" strike="noStrike" baseline="0" dirty="0">
                          <a:solidFill>
                            <a:schemeClr val="tx1"/>
                          </a:solidFill>
                          <a:effectLst/>
                          <a:latin typeface="+mn-lt"/>
                          <a:cs typeface="Arial" panose="020B0604020202020204" pitchFamily="34" charset="0"/>
                        </a:rPr>
                        <a:t>-</a:t>
                      </a:r>
                      <a:r>
                        <a:rPr lang="ru-RU" sz="700" b="0" i="0" u="none" strike="noStrike" dirty="0">
                          <a:solidFill>
                            <a:schemeClr val="tx1"/>
                          </a:solidFill>
                          <a:effectLst/>
                          <a:latin typeface="+mn-lt"/>
                          <a:cs typeface="Arial" panose="020B0604020202020204" pitchFamily="34" charset="0"/>
                        </a:rPr>
                        <a:t>202</a:t>
                      </a:r>
                      <a:r>
                        <a:rPr lang="en-US" sz="700" b="0" i="0" u="none" strike="noStrike" dirty="0">
                          <a:solidFill>
                            <a:schemeClr val="tx1"/>
                          </a:solidFill>
                          <a:effectLst/>
                          <a:latin typeface="+mn-lt"/>
                          <a:cs typeface="Arial" panose="020B0604020202020204" pitchFamily="34" charset="0"/>
                        </a:rPr>
                        <a:t>4</a:t>
                      </a:r>
                      <a:r>
                        <a:rPr lang="ru-RU" sz="700" b="0" i="0" u="none" strike="noStrike" baseline="0" dirty="0">
                          <a:solidFill>
                            <a:schemeClr val="tx1"/>
                          </a:solidFill>
                          <a:effectLst/>
                          <a:latin typeface="+mn-lt"/>
                          <a:cs typeface="Arial" panose="020B0604020202020204" pitchFamily="34" charset="0"/>
                        </a:rPr>
                        <a:t> </a:t>
                      </a:r>
                    </a:p>
                    <a:p>
                      <a:pPr algn="ctr" fontAlgn="t"/>
                      <a:r>
                        <a:rPr lang="ru-RU" sz="700" b="0" i="0" u="none" strike="noStrike" baseline="0" dirty="0" smtClean="0">
                          <a:solidFill>
                            <a:schemeClr val="tx1"/>
                          </a:solidFill>
                          <a:effectLst/>
                          <a:latin typeface="+mn-lt"/>
                          <a:cs typeface="Arial" panose="020B0604020202020204" pitchFamily="34" charset="0"/>
                        </a:rPr>
                        <a:t xml:space="preserve">(data for online learning)</a:t>
                      </a:r>
                      <a:r>
                        <a:rPr lang="ru-RU" sz="700" b="0" i="0" u="none" strike="noStrike" baseline="0" dirty="0">
                          <a:solidFill>
                            <a:schemeClr val="tx1"/>
                          </a:solidFill>
                          <a:effectLst/>
                          <a:latin typeface="+mn-lt"/>
                          <a:cs typeface="Arial" panose="020B0604020202020204" pitchFamily="34" charset="0"/>
                        </a:rPr>
                        <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 xml:space="preserve">1 sq. 2025</a:t>
                      </a:r>
                      <a:r>
                        <a:rPr lang="en-US" sz="700" b="0" i="0" u="none" strike="noStrike" dirty="0">
                          <a:solidFill>
                            <a:schemeClr val="tx1"/>
                          </a:solidFill>
                          <a:effectLst/>
                          <a:latin typeface="+mn-lt"/>
                          <a:cs typeface="Arial" panose="020B0604020202020204" pitchFamily="34" charset="0"/>
                        </a:rPr>
                        <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 xml:space="preserve">2 sq. 2025</a:t>
                      </a:r>
                      <a:r>
                        <a:rPr lang="en-US" sz="700" b="0" i="0" u="none" strike="noStrike" dirty="0">
                          <a:solidFill>
                            <a:schemeClr val="tx1"/>
                          </a:solidFill>
                          <a:effectLst/>
                          <a:latin typeface="+mn-lt"/>
                          <a:cs typeface="Arial" panose="020B0604020202020204" pitchFamily="34" charset="0"/>
                        </a:rPr>
                        <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 xml:space="preserve">3 sq. 2025</a:t>
                      </a:r>
                      <a:r>
                        <a:rPr lang="en-US" sz="700" b="0" i="0" u="none" strike="noStrike" dirty="0">
                          <a:solidFill>
                            <a:schemeClr val="tx1"/>
                          </a:solidFill>
                          <a:effectLst/>
                          <a:latin typeface="+mn-lt"/>
                          <a:cs typeface="Arial" panose="020B0604020202020204" pitchFamily="34" charset="0"/>
                        </a:rPr>
                        <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 xml:space="preserve">4 sq. 2025</a:t>
                      </a:r>
                      <a:r>
                        <a:rPr lang="en-US" sz="700" b="0" i="0" u="none" strike="noStrike" dirty="0">
                          <a:solidFill>
                            <a:schemeClr val="tx1"/>
                          </a:solidFill>
                          <a:effectLst/>
                          <a:latin typeface="+mn-lt"/>
                          <a:cs typeface="Arial" panose="020B0604020202020204" pitchFamily="34" charset="0"/>
                        </a:rPr>
                        <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 xml:space="preserve">Total trained as of 12/31/2025</a:t>
                      </a:r>
                      <a:r>
                        <a:rPr lang="ru-RU" sz="700" b="0" i="0" u="none" strike="noStrike" dirty="0" smtClean="0">
                          <a:solidFill>
                            <a:schemeClr val="tx1"/>
                          </a:solidFill>
                          <a:effectLst/>
                          <a:latin typeface="+mn-lt"/>
                          <a:cs typeface="Arial" panose="020B0604020202020204" pitchFamily="34" charset="0"/>
                        </a:rPr>
                        <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 xml:space="preserve">Data correction2</a:t>
                      </a:r>
                      <a:r>
                        <a:rPr lang="ru-RU" sz="700" b="0" i="0" u="none" strike="noStrike" baseline="30000" dirty="0">
                          <a:solidFill>
                            <a:schemeClr val="tx1"/>
                          </a:solidFill>
                          <a:effectLst/>
                          <a:latin typeface="+mn-lt"/>
                          <a:cs typeface="Arial" panose="020B0604020202020204" pitchFamily="34" charset="0"/>
                        </a:rPr>
                        <a:t/>
                      </a:r>
                      <a:r>
                        <a:rPr lang="ru-RU" sz="700" b="0" i="0" u="none" strike="noStrike" dirty="0">
                          <a:solidFill>
                            <a:schemeClr val="tx1"/>
                          </a:solidFill>
                          <a:effectLst/>
                          <a:latin typeface="+mn-lt"/>
                          <a:cs typeface="Arial" panose="020B0604020202020204" pitchFamily="34" charset="0"/>
                        </a:rPr>
                        <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 xml:space="preserve">Total training of working PCCs / existing suppliers as of 12/31/2025</a:t>
                      </a:r>
                      <a:r>
                        <a:rPr lang="ru-RU" sz="700" b="0" i="0" u="none" strike="noStrike" baseline="0" dirty="0">
                          <a:solidFill>
                            <a:schemeClr val="tx1"/>
                          </a:solidFill>
                          <a:effectLst/>
                          <a:latin typeface="+mn-lt"/>
                          <a:cs typeface="Arial" panose="020B0604020202020204" pitchFamily="34" charset="0"/>
                        </a:rPr>
                        <a:t/>
                      </a:r>
                      <a:r>
                        <a:rPr lang="ru-RU" sz="700" b="0" i="0" u="none" strike="noStrike" baseline="0" dirty="0" smtClean="0">
                          <a:solidFill>
                            <a:schemeClr val="tx1"/>
                          </a:solidFill>
                          <a:effectLst/>
                          <a:latin typeface="+mn-lt"/>
                          <a:cs typeface="Arial" panose="020B0604020202020204" pitchFamily="34" charset="0"/>
                        </a:rPr>
                        <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 xml:space="preserve">Plan3</a:t>
                      </a:r>
                      <a:r>
                        <a:rPr lang="ru-RU" sz="700" b="0" i="0" u="none" strike="noStrike" baseline="30000" dirty="0">
                          <a:solidFill>
                            <a:schemeClr val="tx1"/>
                          </a:solidFill>
                          <a:effectLst/>
                          <a:latin typeface="+mn-lt"/>
                          <a:cs typeface="Arial" panose="020B0604020202020204" pitchFamily="34" charset="0"/>
                        </a:rPr>
                        <a:t/>
                      </a:r>
                      <a:endParaRPr lang="en-US" sz="700" b="0" i="0" u="none" strike="noStrike" baseline="30000"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 xml:space="preserve">% plan completion</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107203712"/>
                  </a:ext>
                </a:extLst>
              </a:tr>
              <a:tr h="144117">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1" i="0" u="none" strike="noStrike" kern="1200" cap="none" spc="0" normalizeH="0" baseline="0" noProof="0" dirty="0">
                          <a:ln>
                            <a:noFill/>
                          </a:ln>
                          <a:solidFill>
                            <a:srgbClr val="32373C"/>
                          </a:solidFill>
                          <a:effectLst/>
                          <a:uLnTx/>
                          <a:uFillTx/>
                          <a:latin typeface="+mn-lt"/>
                          <a:ea typeface="+mn-ea"/>
                          <a:cs typeface="+mn-cs"/>
                        </a:rPr>
                        <a:t xml:space="preserve">Project teams</a:t>
                      </a:r>
                      <a:endParaRPr lang="ru-RU" sz="700" dirty="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700" b="1"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r>
                        <a:rPr lang="ru-RU" sz="700" kern="1200" dirty="0">
                          <a:solidFill>
                            <a:schemeClr val="tx1"/>
                          </a:solidFill>
                          <a:latin typeface="+mn-lt"/>
                          <a:ea typeface="+mn-ea"/>
                          <a:cs typeface="+mn-cs"/>
                        </a:rPr>
                        <a:t xml:space="preserve">Specialized training for project teams (if necessary)</a:t>
                      </a:r>
                      <a:r>
                        <a:rPr lang="ru-RU" sz="700" kern="1200" baseline="0" dirty="0">
                          <a:solidFill>
                            <a:schemeClr val="tx1"/>
                          </a:solidFill>
                          <a:latin typeface="+mn-lt"/>
                          <a:ea typeface="+mn-ea"/>
                          <a:cs typeface="+mn-cs"/>
                        </a:rPr>
                        <a:t/>
                      </a:r>
                      <a:endParaRPr lang="en-US" sz="700" kern="1200" dirty="0">
                        <a:solidFill>
                          <a:schemeClr val="tx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endParaRPr lang="en-US" sz="700" kern="1200" dirty="0">
                        <a:solidFill>
                          <a:schemeClr val="tx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en-US" sz="700" i="1" dirty="0">
                          <a:solidFill>
                            <a:schemeClr val="tx1"/>
                          </a:solidFill>
                          <a:latin typeface="+mn-lt"/>
                        </a:rPr>
                        <a:t xml:space="preserve">Ad hoc</a:t>
                      </a:r>
                      <a:endParaRPr lang="ru-RU" sz="700" i="1"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291607108"/>
                  </a:ext>
                </a:extLst>
              </a:tr>
              <a:tr h="144117">
                <a:tc rowSpan="2">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1" i="0" u="none" strike="noStrike" kern="1200" cap="none" spc="0" normalizeH="0" baseline="0" noProof="0" dirty="0">
                          <a:ln>
                            <a:noFill/>
                          </a:ln>
                          <a:solidFill>
                            <a:srgbClr val="32373C"/>
                          </a:solidFill>
                          <a:effectLst/>
                          <a:uLnTx/>
                          <a:uFillTx/>
                          <a:latin typeface="+mn-lt"/>
                          <a:ea typeface="+mn-ea"/>
                          <a:cs typeface="+mn-cs"/>
                        </a:rPr>
                        <a:t xml:space="preserve">Management</a:t>
                      </a:r>
                      <a:endParaRPr lang="en-US" sz="700" b="1"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700" b="0" i="0" u="none" strike="noStrike" dirty="0">
                        <a:solidFill>
                          <a:srgbClr val="0000FF"/>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r>
                        <a:rPr lang="ru-RU" sz="700" b="1" kern="1200" dirty="0">
                          <a:solidFill>
                            <a:schemeClr val="tx1"/>
                          </a:solidFill>
                          <a:latin typeface="+mn-lt"/>
                          <a:ea typeface="+mn-ea"/>
                          <a:cs typeface="+mn-cs"/>
                        </a:rPr>
                        <a:t xml:space="preserve">Introductory compliance risk session</a:t>
                      </a:r>
                      <a:endParaRPr lang="en-US" sz="700" b="1" kern="1200" dirty="0">
                        <a:solidFill>
                          <a:schemeClr val="tx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endParaRPr lang="en-US" sz="700" b="1" kern="1200" dirty="0">
                        <a:solidFill>
                          <a:schemeClr val="tx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402467064"/>
                  </a:ext>
                </a:extLst>
              </a:tr>
              <a:tr h="144117">
                <a:tc vMerge="1">
                  <a:txBody>
                    <a:bodyPr/>
                    <a:lstStyle/>
                    <a:p>
                      <a:endParaRPr lang="ru-RU"/>
                    </a:p>
                  </a:txBody>
                  <a:tcPr/>
                </a:tc>
                <a:tc>
                  <a:txBody>
                    <a:bodyPr/>
                    <a:lstStyle/>
                    <a:p>
                      <a:endParaRPr lang="ru-RU" sz="700" dirty="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rgbClr val="32373C"/>
                          </a:solidFill>
                          <a:effectLst/>
                          <a:uLnTx/>
                          <a:uFillTx/>
                          <a:latin typeface="+mn-lt"/>
                          <a:ea typeface="+mn-ea"/>
                          <a:cs typeface="+mn-cs"/>
                        </a:rPr>
                        <a:t xml:space="preserve">Top management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rgbClr val="32373C"/>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t" latinLnBrk="0" hangingPunct="1"/>
                      <a:endParaRPr lang="ru-RU" sz="700" u="none" strike="noStrike" kern="1200" dirty="0">
                        <a:solidFill>
                          <a:schemeClr val="tx1"/>
                        </a:solidFill>
                        <a:effectLst/>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r>
                        <a:rPr lang="en-US" sz="700" i="1" dirty="0">
                          <a:solidFill>
                            <a:schemeClr val="tx1"/>
                          </a:solidFill>
                          <a:latin typeface="+mn-lt"/>
                        </a:rPr>
                        <a:t xml:space="preserve">Ad hoc</a:t>
                      </a:r>
                      <a:endParaRPr lang="ru-RU" sz="700" i="1"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121508551"/>
                  </a:ext>
                </a:extLst>
              </a:tr>
              <a:tr h="144117">
                <a:tc rowSpan="21">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1" i="0" u="none" strike="noStrike" kern="1200" cap="none" spc="0" normalizeH="0" baseline="0" noProof="0" dirty="0">
                          <a:ln>
                            <a:noFill/>
                          </a:ln>
                          <a:solidFill>
                            <a:srgbClr val="32373C"/>
                          </a:solidFill>
                          <a:effectLst/>
                          <a:uLnTx/>
                          <a:uFillTx/>
                          <a:latin typeface="+mn-lt"/>
                          <a:ea typeface="+mn-ea"/>
                          <a:cs typeface="+mn-cs"/>
                        </a:rPr>
                        <a:t xml:space="preserve">Staff</a:t>
                      </a:r>
                      <a:endParaRPr lang="en-US" sz="700" b="1" i="0" u="none" strike="noStrike" dirty="0">
                        <a:solidFill>
                          <a:schemeClr val="tx1"/>
                        </a:solidFill>
                        <a:effectLst/>
                        <a:latin typeface="+mn-lt"/>
                      </a:endParaRP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accent3"/>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1" i="0" u="none" strike="noStrike" kern="1200" dirty="0">
                          <a:solidFill>
                            <a:schemeClr val="accent3"/>
                          </a:solidFill>
                          <a:effectLst/>
                          <a:latin typeface="+mn-lt"/>
                          <a:ea typeface="+mn-ea"/>
                          <a:cs typeface="+mn-cs"/>
                        </a:rPr>
                        <a:t xml:space="preserve">Online training</a:t>
                      </a:r>
                      <a:endParaRPr lang="en-US" sz="700" kern="1200" dirty="0">
                        <a:solidFill>
                          <a:schemeClr val="accent3"/>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700" kern="1200" dirty="0">
                        <a:solidFill>
                          <a:schemeClr val="accent3"/>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2220146298"/>
                  </a:ext>
                </a:extLst>
              </a:tr>
              <a:tr h="144117">
                <a:tc vMerge="1">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800" b="1" i="0" u="none" strike="noStrike" dirty="0">
                        <a:solidFill>
                          <a:schemeClr val="tx1"/>
                        </a:solidFill>
                        <a:effectLst/>
                        <a:latin typeface="+mn-lt"/>
                      </a:endParaRPr>
                    </a:p>
                  </a:txBody>
                  <a:tcPr marL="18000" marR="1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 xml:space="preserve">ERG Code of Corporate Conduct</a:t>
                      </a:r>
                      <a:r>
                        <a:rPr kumimoji="0" lang="en-US" sz="700" b="0" i="0" u="none" strike="noStrike" kern="1200" cap="none" spc="0" normalizeH="0" baseline="0" dirty="0">
                          <a:ln>
                            <a:noFill/>
                          </a:ln>
                          <a:solidFill>
                            <a:schemeClr val="tx1"/>
                          </a:solidFill>
                          <a:effectLst/>
                          <a:uLnTx/>
                          <a:uFillTx/>
                          <a:latin typeface="+mn-lt"/>
                          <a:ea typeface="+mn-ea"/>
                          <a:cs typeface="+mn-cs"/>
                        </a:rPr>
                        <a:t/>
                      </a:r>
                      <a:endParaRPr lang="ru-RU" sz="700" baseline="30000" dirty="0">
                        <a:solidFill>
                          <a:schemeClr val="tx1"/>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accent3"/>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9 138</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5</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4 609</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373</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a:solidFill>
                            <a:srgbClr val="000000"/>
                          </a:solidFill>
                          <a:latin typeface="+mn-lt"/>
                          <a:ea typeface="+mn-ea"/>
                          <a:cs typeface="+mn-cs"/>
                        </a:rPr>
                        <a:t>450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14 575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-1 394</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13 181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13 500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11065302"/>
                  </a:ext>
                </a:extLst>
              </a:tr>
              <a:tr h="144117">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583170" rtl="0" eaLnBrk="1" fontAlgn="auto" latinLnBrk="0" hangingPunct="1">
                        <a:lnSpc>
                          <a:spcPct val="100000"/>
                        </a:lnSpc>
                        <a:spcBef>
                          <a:spcPts val="0"/>
                        </a:spcBef>
                        <a:spcAft>
                          <a:spcPts val="0"/>
                        </a:spcAft>
                        <a:buClrTx/>
                        <a:buSzTx/>
                        <a:buFontTx/>
                        <a:buNone/>
                        <a:tabLst/>
                        <a:defRPr/>
                      </a:pPr>
                      <a:r>
                        <a:rPr lang="ru-RU" sz="700" i="1" dirty="0">
                          <a:solidFill>
                            <a:schemeClr val="tx1"/>
                          </a:solidFill>
                          <a:latin typeface="+mn-lt"/>
                        </a:rPr>
                        <a:t xml:space="preserve">Of these, key employees (within the framework of ESG goals)</a:t>
                      </a:r>
                      <a:r>
                        <a:rPr lang="en-US" sz="700" i="1" dirty="0">
                          <a:solidFill>
                            <a:schemeClr val="tx1"/>
                          </a:solidFill>
                          <a:latin typeface="+mn-lt"/>
                        </a:rPr>
                        <a:t/>
                      </a:r>
                      <a:endParaRPr lang="ru-RU" sz="700" i="1" dirty="0">
                        <a:solidFill>
                          <a:schemeClr val="tx1"/>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accent3"/>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i="1" kern="1200" dirty="0">
                          <a:solidFill>
                            <a:srgbClr val="000000"/>
                          </a:solidFill>
                          <a:latin typeface="+mn-lt"/>
                          <a:ea typeface="+mn-ea"/>
                          <a:cs typeface="+mn-cs"/>
                        </a:rPr>
                        <a:t>168</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i="1" kern="1200" dirty="0">
                          <a:solidFill>
                            <a:srgbClr val="000000"/>
                          </a:solidFill>
                          <a:latin typeface="+mn-lt"/>
                          <a:ea typeface="+mn-ea"/>
                          <a:cs typeface="+mn-cs"/>
                        </a:rPr>
                        <a:t>2</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a:solidFill>
                            <a:srgbClr val="000000"/>
                          </a:solidFill>
                          <a:latin typeface="+mn-lt"/>
                          <a:ea typeface="+mn-ea"/>
                          <a:cs typeface="+mn-cs"/>
                        </a:rPr>
                        <a:t>82</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19</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281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158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439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smtClean="0">
                          <a:solidFill>
                            <a:schemeClr val="tx1"/>
                          </a:solidFill>
                          <a:latin typeface="+mn-lt"/>
                          <a:ea typeface="+mn-ea"/>
                          <a:cs typeface="+mn-cs"/>
                        </a:rPr>
                        <a:t>447</a:t>
                      </a:r>
                      <a:r>
                        <a:rPr lang="ru-RU" sz="700" kern="1200" baseline="30000" dirty="0" smtClean="0">
                          <a:solidFill>
                            <a:schemeClr val="tx1"/>
                          </a:solidFill>
                          <a:latin typeface="+mn-lt"/>
                          <a:ea typeface="+mn-ea"/>
                          <a:cs typeface="+mn-cs"/>
                        </a:rPr>
                        <a:t>4</a:t>
                      </a:r>
                      <a:endParaRPr lang="ru-RU" sz="700" kern="1200" baseline="30000" dirty="0">
                        <a:solidFill>
                          <a:schemeClr val="tx1"/>
                        </a:solidFill>
                        <a:latin typeface="+mn-lt"/>
                        <a:ea typeface="+mn-ea"/>
                        <a:cs typeface="+mn-cs"/>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676966537"/>
                  </a:ext>
                </a:extLst>
              </a:tr>
              <a:tr h="144117">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 xml:space="preserve">Respect for human rights</a:t>
                      </a:r>
                      <a:endParaRPr lang="ru-RU" sz="700" dirty="0">
                        <a:solidFill>
                          <a:schemeClr val="tx1"/>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accent3"/>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12 828</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740</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690</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242</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382</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14 882</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-1 649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13 233</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13 500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399442698"/>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583170" rtl="0" eaLnBrk="1" fontAlgn="auto" latinLnBrk="0" hangingPunct="1">
                        <a:lnSpc>
                          <a:spcPct val="100000"/>
                        </a:lnSpc>
                        <a:spcBef>
                          <a:spcPts val="0"/>
                        </a:spcBef>
                        <a:spcAft>
                          <a:spcPts val="0"/>
                        </a:spcAft>
                        <a:buClrTx/>
                        <a:buSzTx/>
                        <a:buFontTx/>
                        <a:buNone/>
                        <a:tabLst/>
                        <a:defRPr/>
                      </a:pPr>
                      <a:r>
                        <a:rPr lang="ru-RU" sz="700" i="1" dirty="0">
                          <a:solidFill>
                            <a:schemeClr val="tx1"/>
                          </a:solidFill>
                          <a:latin typeface="+mn-lt"/>
                        </a:rPr>
                        <a:t xml:space="preserve">Of these, key employees (within the framework of ESG goals)</a:t>
                      </a:r>
                      <a:r>
                        <a:rPr lang="en-US" sz="700" i="1" dirty="0">
                          <a:solidFill>
                            <a:schemeClr val="tx1"/>
                          </a:solidFill>
                          <a:latin typeface="+mn-lt"/>
                        </a:rPr>
                        <a:t/>
                      </a:r>
                      <a:endParaRPr lang="ru-RU" sz="700" i="1" dirty="0">
                        <a:solidFill>
                          <a:schemeClr val="tx1"/>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i="1" kern="1200" dirty="0">
                          <a:solidFill>
                            <a:srgbClr val="000000"/>
                          </a:solidFill>
                          <a:latin typeface="+mn-lt"/>
                          <a:ea typeface="+mn-ea"/>
                          <a:cs typeface="+mn-cs"/>
                        </a:rPr>
                        <a:t>235</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i="1" kern="1200" dirty="0">
                          <a:solidFill>
                            <a:srgbClr val="000000"/>
                          </a:solidFill>
                          <a:latin typeface="+mn-lt"/>
                          <a:ea typeface="+mn-ea"/>
                          <a:cs typeface="+mn-cs"/>
                        </a:rPr>
                        <a:t>10</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3</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4</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3</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255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190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445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smtClean="0">
                          <a:solidFill>
                            <a:schemeClr val="tx1"/>
                          </a:solidFill>
                          <a:latin typeface="+mn-lt"/>
                          <a:ea typeface="+mn-ea"/>
                          <a:cs typeface="+mn-cs"/>
                        </a:rPr>
                        <a:t>447</a:t>
                      </a:r>
                      <a:r>
                        <a:rPr lang="ru-RU" sz="700" kern="1200" baseline="30000" dirty="0" smtClean="0">
                          <a:solidFill>
                            <a:schemeClr val="tx1"/>
                          </a:solidFill>
                          <a:latin typeface="+mn-lt"/>
                          <a:ea typeface="+mn-ea"/>
                          <a:cs typeface="+mn-cs"/>
                        </a:rPr>
                        <a:t>4</a:t>
                      </a:r>
                      <a:endParaRPr lang="ru-RU" sz="700" kern="1200" baseline="30000" dirty="0">
                        <a:solidFill>
                          <a:schemeClr val="tx1"/>
                        </a:solidFill>
                        <a:latin typeface="+mn-lt"/>
                        <a:ea typeface="+mn-ea"/>
                        <a:cs typeface="+mn-cs"/>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99,55%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04234709"/>
                  </a:ext>
                </a:extLst>
              </a:tr>
              <a:tr h="144117">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 xml:space="preserve">Personal data protection</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chemeClr val="accent3"/>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12 351</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962</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1 000</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296</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421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15 030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-1 845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13 185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13 500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467679166"/>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solidFill>
                            <a:schemeClr val="tx1"/>
                          </a:solidFill>
                          <a:latin typeface="+mn-lt"/>
                        </a:rPr>
                        <a:t xml:space="preserve">Conflict of interest</a:t>
                      </a:r>
                      <a:endParaRPr kumimoji="0" lang="ru-RU" sz="700" b="0" i="0" u="none" strike="noStrike" kern="1200" cap="none" spc="0" normalizeH="0" baseline="0" dirty="0">
                        <a:ln>
                          <a:noFill/>
                        </a:ln>
                        <a:solidFill>
                          <a:schemeClr val="tx1"/>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12 184</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968</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955</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284</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409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14 800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-1 618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13 182</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13 500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523866953"/>
                  </a:ext>
                </a:extLst>
              </a:tr>
              <a:tr h="144117">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chemeClr val="accent3"/>
                          </a:solidFill>
                          <a:latin typeface="+mn-lt"/>
                          <a:ea typeface="+mn-ea"/>
                          <a:cs typeface="+mn-cs"/>
                        </a:rPr>
                        <a:t xml:space="preserve">Anti-bribery and corruption</a:t>
                      </a:r>
                      <a:r>
                        <a:rPr lang="ru-RU" sz="700" b="0" kern="1200" dirty="0" smtClean="0">
                          <a:solidFill>
                            <a:schemeClr val="accent3"/>
                          </a:solidFill>
                          <a:latin typeface="+mn-lt"/>
                          <a:ea typeface="+mn-ea"/>
                          <a:cs typeface="+mn-cs"/>
                        </a:rPr>
                        <a:t/>
                      </a:r>
                      <a:endParaRPr kumimoji="0" lang="ru-RU" sz="700" b="0" i="0" u="none" strike="noStrike" kern="1200" cap="none" spc="0" normalizeH="0" baseline="30000" dirty="0">
                        <a:ln>
                          <a:noFill/>
                        </a:ln>
                        <a:solidFill>
                          <a:schemeClr val="accent3"/>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chemeClr val="accent3"/>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4</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2</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1 019</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465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1 490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-56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1 434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 </a:t>
                      </a:r>
                      <a:r>
                        <a:rPr lang="ru-RU" sz="700" kern="1200" dirty="0" smtClean="0">
                          <a:solidFill>
                            <a:schemeClr val="tx1"/>
                          </a:solidFill>
                          <a:latin typeface="+mn-lt"/>
                          <a:ea typeface="+mn-ea"/>
                          <a:cs typeface="+mn-cs"/>
                        </a:rPr>
                        <a:t>729</a:t>
                      </a:r>
                      <a:r>
                        <a:rPr lang="ru-RU" sz="700" kern="1200" baseline="30000" dirty="0" smtClean="0">
                          <a:solidFill>
                            <a:schemeClr val="tx1"/>
                          </a:solidFill>
                          <a:latin typeface="+mn-lt"/>
                          <a:ea typeface="+mn-ea"/>
                          <a:cs typeface="+mn-cs"/>
                        </a:rPr>
                        <a:t>4</a:t>
                      </a:r>
                      <a:endParaRPr lang="ru-RU" sz="700" kern="1200" baseline="30000" dirty="0">
                        <a:solidFill>
                          <a:schemeClr val="tx1"/>
                        </a:solidFill>
                        <a:latin typeface="+mn-lt"/>
                        <a:ea typeface="+mn-ea"/>
                        <a:cs typeface="+mn-cs"/>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83%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506854652"/>
                  </a:ext>
                </a:extLst>
              </a:tr>
              <a:tr h="191053">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1" i="0" u="none" strike="noStrike" kern="1200" dirty="0">
                          <a:solidFill>
                            <a:schemeClr val="accent3"/>
                          </a:solidFill>
                          <a:effectLst/>
                          <a:latin typeface="+mn-lt"/>
                          <a:ea typeface="+mn-ea"/>
                          <a:cs typeface="+mn-cs"/>
                        </a:rPr>
                        <a:t xml:space="preserve">Face-to-face compliance sessions/trainings</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latinLnBrk="0" hangingPunct="1"/>
                      <a:endParaRPr lang="ru-RU" sz="700" b="1" kern="1200" dirty="0">
                        <a:solidFill>
                          <a:schemeClr val="accent3"/>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chemeClr val="tx1"/>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1200" b="0" i="0" u="none" strike="noStrike">
                          <a:solidFill>
                            <a:srgbClr val="000000"/>
                          </a:solidFill>
                          <a:effectLst/>
                          <a:latin typeface="Arial" panose="020B0604020202020204" pitchFamily="34" charset="0"/>
                        </a:rPr>
                        <a:t> </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2327559550"/>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 xml:space="preserve">Third party risks (CSR, CCP, incl. CL, Sanctions, ABC, AML, DP, HR)</a:t>
                      </a:r>
                      <a:r>
                        <a:rPr kumimoji="0" lang="en-US" sz="700" b="0" i="0" u="none" strike="noStrike" kern="1200" cap="none" spc="0" normalizeH="0" baseline="0" dirty="0">
                          <a:ln>
                            <a:noFill/>
                          </a:ln>
                          <a:solidFill>
                            <a:schemeClr val="tx1"/>
                          </a:solidFill>
                          <a:effectLst/>
                          <a:uLnTx/>
                          <a:uFillTx/>
                          <a:latin typeface="+mn-lt"/>
                          <a:ea typeface="+mn-ea"/>
                          <a:cs typeface="+mn-cs"/>
                        </a:rPr>
                        <a:t/>
                      </a:r>
                      <a:r>
                        <a:rPr kumimoji="0" lang="ru-RU" sz="700" b="0" i="0" u="none" strike="noStrike" kern="1200" cap="none" spc="0" normalizeH="0" baseline="0" dirty="0">
                          <a:ln>
                            <a:noFill/>
                          </a:ln>
                          <a:solidFill>
                            <a:schemeClr val="tx1"/>
                          </a:solidFill>
                          <a:effectLst/>
                          <a:uLnTx/>
                          <a:uFillTx/>
                          <a:latin typeface="+mn-lt"/>
                          <a:ea typeface="+mn-ea"/>
                          <a:cs typeface="+mn-cs"/>
                        </a:rPr>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kern="1200" dirty="0">
                          <a:solidFill>
                            <a:srgbClr val="000000"/>
                          </a:solidFill>
                          <a:latin typeface="+mn-lt"/>
                          <a:ea typeface="+mn-ea"/>
                          <a:cs typeface="+mn-cs"/>
                        </a:rPr>
                        <a:t>15</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52</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133</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536</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736</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836</a:t>
                      </a:r>
                      <a:r>
                        <a:rPr lang="ru-RU" sz="700" b="0" i="0" u="none" strike="noStrike" baseline="30000" dirty="0" smtClean="0">
                          <a:solidFill>
                            <a:schemeClr val="tx1"/>
                          </a:solidFill>
                          <a:effectLst/>
                          <a:latin typeface="Arial" panose="020B0604020202020204" pitchFamily="34" charset="0"/>
                        </a:rPr>
                        <a:t>4</a:t>
                      </a:r>
                      <a:endParaRPr lang="ru-RU" sz="700" b="0" i="0" u="none" strike="noStrike" baseline="30000"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88%</a:t>
                      </a: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783030224"/>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 xml:space="preserve">Compliance 2.2 system rules</a:t>
                      </a:r>
                      <a:r>
                        <a:rPr kumimoji="0" lang="en-US" sz="700" b="0" i="0" u="none" strike="noStrike" kern="1200" cap="none" spc="0" normalizeH="0" baseline="0" dirty="0">
                          <a:ln>
                            <a:noFill/>
                          </a:ln>
                          <a:solidFill>
                            <a:schemeClr val="tx1"/>
                          </a:solidFill>
                          <a:effectLst/>
                          <a:uLnTx/>
                          <a:uFillTx/>
                          <a:latin typeface="+mn-lt"/>
                          <a:ea typeface="+mn-ea"/>
                          <a:cs typeface="+mn-cs"/>
                        </a:rPr>
                        <a:t/>
                      </a:r>
                      <a:r>
                        <a:rPr kumimoji="0" lang="ru-RU" sz="700" b="0" i="0" u="none" strike="noStrike" kern="1200" cap="none" spc="0" normalizeH="0" baseline="0" dirty="0">
                          <a:ln>
                            <a:noFill/>
                          </a:ln>
                          <a:solidFill>
                            <a:schemeClr val="tx1"/>
                          </a:solidFill>
                          <a:effectLst/>
                          <a:uLnTx/>
                          <a:uFillTx/>
                          <a:latin typeface="+mn-lt"/>
                          <a:ea typeface="+mn-ea"/>
                          <a:cs typeface="+mn-cs"/>
                        </a:rPr>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a:solidFill>
                            <a:srgbClr val="000000"/>
                          </a:solidFill>
                          <a:latin typeface="+mn-lt"/>
                          <a:ea typeface="+mn-ea"/>
                          <a:cs typeface="+mn-cs"/>
                        </a:rPr>
                        <a:t>-</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smtClean="0">
                          <a:solidFill>
                            <a:schemeClr val="tx1"/>
                          </a:solidFill>
                          <a:latin typeface="+mn-lt"/>
                          <a:ea typeface="+mn-ea"/>
                          <a:cs typeface="+mn-cs"/>
                        </a:rPr>
                        <a:t>-</a:t>
                      </a:r>
                      <a:endParaRPr lang="ru-RU" sz="700" kern="1200" dirty="0">
                        <a:solidFill>
                          <a:schemeClr val="tx1"/>
                        </a:solidFill>
                        <a:latin typeface="+mn-lt"/>
                        <a:ea typeface="+mn-ea"/>
                        <a:cs typeface="+mn-cs"/>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en-US" sz="700" b="0" i="1" u="none" strike="noStrike">
                          <a:solidFill>
                            <a:schemeClr val="tx1"/>
                          </a:solidFill>
                          <a:effectLst/>
                          <a:latin typeface="Arial" panose="020B0604020202020204" pitchFamily="34" charset="0"/>
                        </a:rPr>
                        <a:t xml:space="preserve">Ad hoc</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280912008"/>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 xml:space="preserve">Results of self-testing of the PDA and Compliance Sheet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a:solidFill>
                            <a:srgbClr val="000000"/>
                          </a:solidFill>
                          <a:latin typeface="+mn-lt"/>
                          <a:ea typeface="+mn-ea"/>
                          <a:cs typeface="+mn-cs"/>
                        </a:rPr>
                        <a:t>6</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11</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10</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28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en-US" sz="700" b="0" i="1" u="none" strike="noStrike">
                          <a:solidFill>
                            <a:schemeClr val="tx1"/>
                          </a:solidFill>
                          <a:effectLst/>
                          <a:latin typeface="Arial" panose="020B0604020202020204" pitchFamily="34" charset="0"/>
                        </a:rPr>
                        <a:t xml:space="preserve">Ad hoc</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715533612"/>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chemeClr val="accent3"/>
                          </a:solidFill>
                          <a:latin typeface="+mn-lt"/>
                          <a:ea typeface="+mn-ea"/>
                          <a:cs typeface="+mn-cs"/>
                        </a:rPr>
                        <a:t xml:space="preserve">Personal data protection</a:t>
                      </a:r>
                      <a:r>
                        <a:rPr lang="ru-RU" sz="700" b="0" kern="1200" dirty="0" smtClean="0">
                          <a:solidFill>
                            <a:schemeClr val="accent3"/>
                          </a:solidFill>
                          <a:latin typeface="+mn-lt"/>
                          <a:ea typeface="+mn-ea"/>
                          <a:cs typeface="+mn-cs"/>
                        </a:rPr>
                        <a:t/>
                      </a:r>
                      <a:endParaRPr kumimoji="0" lang="ru-RU" sz="700" b="0" i="0" u="none" strike="sngStrike" kern="1200" cap="none" spc="0" normalizeH="0" baseline="0" dirty="0">
                        <a:ln>
                          <a:noFill/>
                        </a:ln>
                        <a:solidFill>
                          <a:srgbClr val="0070C0"/>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rgbClr val="FF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rgbClr val="000000"/>
                          </a:solidFill>
                          <a:latin typeface="+mn-lt"/>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20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20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en-US" sz="700" b="0" i="1" u="none" strike="noStrike" dirty="0">
                          <a:solidFill>
                            <a:schemeClr val="tx1"/>
                          </a:solidFill>
                          <a:effectLst/>
                          <a:latin typeface="Arial" panose="020B0604020202020204" pitchFamily="34" charset="0"/>
                        </a:rPr>
                        <a:t xml:space="preserve">Ad hoc</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606770721"/>
                  </a:ext>
                </a:extLst>
              </a:tr>
              <a:tr h="143624">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latinLnBrk="0" hangingPunct="1"/>
                      <a:r>
                        <a:rPr lang="ru-RU" sz="700" b="0" kern="1200" dirty="0" smtClean="0">
                          <a:solidFill>
                            <a:schemeClr val="accent3"/>
                          </a:solidFill>
                          <a:latin typeface="+mn-lt"/>
                          <a:ea typeface="+mn-ea"/>
                          <a:cs typeface="+mn-cs"/>
                        </a:rPr>
                        <a:t xml:space="preserve">Discussion of the Compliance Report (dashboard) with the CEO of Perimeter Kazakhstan, Divisions, TG, MCE</a:t>
                      </a:r>
                      <a:r>
                        <a:rPr lang="ru-RU" sz="700" b="0" kern="1200" dirty="0" err="1" smtClean="0">
                          <a:solidFill>
                            <a:schemeClr val="accent3"/>
                          </a:solidFill>
                          <a:latin typeface="+mn-lt"/>
                          <a:ea typeface="+mn-ea"/>
                          <a:cs typeface="+mn-cs"/>
                        </a:rPr>
                        <a:t/>
                      </a:r>
                      <a:r>
                        <a:rPr lang="ru-RU" sz="700" b="0" kern="1200" dirty="0" smtClean="0">
                          <a:solidFill>
                            <a:schemeClr val="accent3"/>
                          </a:solidFill>
                          <a:latin typeface="+mn-lt"/>
                          <a:ea typeface="+mn-ea"/>
                          <a:cs typeface="+mn-cs"/>
                        </a:rPr>
                        <a:t/>
                      </a:r>
                      <a:endParaRPr lang="ru-RU" sz="700" b="0" kern="1200" dirty="0">
                        <a:solidFill>
                          <a:schemeClr val="accent3"/>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smtClean="0">
                          <a:solidFill>
                            <a:srgbClr val="000000"/>
                          </a:solidFill>
                          <a:latin typeface="+mn-lt"/>
                        </a:rPr>
                        <a:t>42</a:t>
                      </a: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52</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94</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en-US" sz="700" b="0" i="1" u="none" strike="noStrike" dirty="0" smtClean="0">
                          <a:solidFill>
                            <a:schemeClr val="tx1"/>
                          </a:solidFill>
                          <a:effectLst/>
                          <a:latin typeface="Arial" panose="020B0604020202020204" pitchFamily="34" charset="0"/>
                        </a:rPr>
                        <a:t xml:space="preserve">Ad hoc</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859995729"/>
                  </a:ext>
                </a:extLst>
              </a:tr>
              <a:tr h="335156">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latinLnBrk="0" hangingPunct="1"/>
                      <a:r>
                        <a:rPr lang="ru-RU" sz="700" b="1" kern="1200" dirty="0" smtClean="0">
                          <a:solidFill>
                            <a:schemeClr val="accent1"/>
                          </a:solidFill>
                          <a:latin typeface="+mn-lt"/>
                          <a:ea typeface="+mn-ea"/>
                          <a:cs typeface="+mn-cs"/>
                        </a:rPr>
                        <a:t xml:space="preserve">Ethics and Compliance Day of the KZ Perimeter (online quiz, offline QUIZ, offline event at the EEC JSC site: Tone from Above session, panel discussion, solution of situational cases on compliance risks at the practical session “Ethics in Action”)</a:t>
                      </a:r>
                      <a:r>
                        <a:rPr lang="ru-RU" sz="700" b="0" kern="1200" dirty="0" smtClean="0">
                          <a:solidFill>
                            <a:schemeClr val="tx1"/>
                          </a:solidFill>
                          <a:latin typeface="+mn-lt"/>
                          <a:ea typeface="+mn-ea"/>
                          <a:cs typeface="+mn-cs"/>
                        </a:rPr>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smtClean="0">
                          <a:solidFill>
                            <a:srgbClr val="000000"/>
                          </a:solidFill>
                          <a:latin typeface="+mn-lt"/>
                        </a:rPr>
                        <a:t>204</a:t>
                      </a: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204</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lang="en-US" sz="700" b="0" i="1" u="none" strike="noStrike" dirty="0" smtClean="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834109762"/>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latinLnBrk="0" hangingPunct="1"/>
                      <a:r>
                        <a:rPr lang="ru-RU" sz="700" b="1" kern="1200" dirty="0">
                          <a:solidFill>
                            <a:schemeClr val="accent3"/>
                          </a:solidFill>
                          <a:latin typeface="+mn-lt"/>
                          <a:ea typeface="+mn-ea"/>
                          <a:cs typeface="+mn-cs"/>
                        </a:rPr>
                        <a:t xml:space="preserve">Compliance communications (number of communications)</a:t>
                      </a:r>
                      <a:r>
                        <a:rPr lang="ru-RU" sz="700" b="1" kern="1200" dirty="0" smtClean="0">
                          <a:solidFill>
                            <a:schemeClr val="accent3"/>
                          </a:solidFill>
                          <a:latin typeface="+mn-lt"/>
                          <a:ea typeface="+mn-ea"/>
                          <a:cs typeface="+mn-cs"/>
                        </a:rPr>
                        <a:t/>
                      </a:r>
                      <a:endParaRPr lang="ru-RU" sz="700" b="1" kern="1200" dirty="0">
                        <a:solidFill>
                          <a:schemeClr val="accent3"/>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endParaRPr lang="ru-RU" sz="700"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 </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ru-RU" sz="700" kern="1200" dirty="0">
                        <a:solidFill>
                          <a:schemeClr val="tx1"/>
                        </a:solidFill>
                        <a:latin typeface="+mn-lt"/>
                        <a:ea typeface="+mn-ea"/>
                        <a:cs typeface="+mn-cs"/>
                      </a:endParaRPr>
                    </a:p>
                  </a:txBody>
                  <a:tcPr marL="9525" marR="9525" marT="9525" marB="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fontAlgn="b"/>
                      <a:endParaRPr lang="ru-RU" sz="700" b="0" i="0" u="none" strike="noStrike">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fontAlgn="b"/>
                      <a:endParaRPr lang="ru-RU" sz="700" b="0" i="0" u="none" strike="noStrike">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52111690"/>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accent3"/>
                          </a:solidFill>
                          <a:effectLst/>
                          <a:uLnTx/>
                          <a:uFillTx/>
                          <a:latin typeface="+mn-lt"/>
                          <a:ea typeface="+mn-ea"/>
                          <a:cs typeface="+mn-cs"/>
                        </a:rPr>
                        <a:t xml:space="preserve">About sanctions</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a:solidFill>
                            <a:srgbClr val="000000"/>
                          </a:solidFill>
                          <a:latin typeface="+mn-lt"/>
                          <a:ea typeface="+mn-ea"/>
                          <a:cs typeface="+mn-cs"/>
                        </a:rPr>
                        <a:t>3</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smtClean="0">
                          <a:solidFill>
                            <a:srgbClr val="000000"/>
                          </a:solidFill>
                          <a:latin typeface="+mn-lt"/>
                        </a:rPr>
                        <a:t>1</a:t>
                      </a: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4</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426324182"/>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 xml:space="preserve">Other communications (Compliance 2.2, CPDD, DP, WBS, G&amp;E, CoI)</a:t>
                      </a:r>
                      <a:r>
                        <a:rPr kumimoji="0" lang="en-US" sz="700" b="0" i="0" u="none" strike="noStrike" kern="1200" cap="none" spc="0" normalizeH="0" baseline="0" dirty="0">
                          <a:ln>
                            <a:noFill/>
                          </a:ln>
                          <a:solidFill>
                            <a:schemeClr val="tx1"/>
                          </a:solidFill>
                          <a:effectLst/>
                          <a:uLnTx/>
                          <a:uFillTx/>
                          <a:latin typeface="+mn-lt"/>
                          <a:ea typeface="+mn-ea"/>
                          <a:cs typeface="+mn-cs"/>
                        </a:rPr>
                        <a:t/>
                      </a:r>
                      <a:r>
                        <a:rPr kumimoji="0" lang="ru-RU" sz="700" b="0" i="0" u="none" strike="noStrike" kern="1200" cap="none" spc="0" normalizeH="0" baseline="0" dirty="0">
                          <a:ln>
                            <a:noFill/>
                          </a:ln>
                          <a:solidFill>
                            <a:schemeClr val="tx1"/>
                          </a:solidFill>
                          <a:effectLst/>
                          <a:uLnTx/>
                          <a:uFillTx/>
                          <a:latin typeface="+mn-lt"/>
                          <a:ea typeface="+mn-ea"/>
                          <a:cs typeface="+mn-cs"/>
                        </a:rPr>
                        <a:t/>
                      </a:r>
                      <a:r>
                        <a:rPr kumimoji="0" lang="en-US" sz="700" b="0" i="0" u="none" strike="noStrike" kern="1200" cap="none" spc="0" normalizeH="0" baseline="0" dirty="0" err="1">
                          <a:ln>
                            <a:noFill/>
                          </a:ln>
                          <a:solidFill>
                            <a:schemeClr val="tx1"/>
                          </a:solidFill>
                          <a:effectLst/>
                          <a:uLnTx/>
                          <a:uFillTx/>
                          <a:latin typeface="+mn-lt"/>
                          <a:ea typeface="+mn-ea"/>
                          <a:cs typeface="+mn-cs"/>
                        </a:rPr>
                        <a:t/>
                      </a:r>
                      <a:r>
                        <a:rPr kumimoji="0" lang="en-US" sz="700" b="0" i="0" u="none" strike="noStrike" kern="1200" cap="none" spc="0" normalizeH="0" baseline="0" dirty="0">
                          <a:ln>
                            <a:noFill/>
                          </a:ln>
                          <a:solidFill>
                            <a:schemeClr val="tx1"/>
                          </a:solidFill>
                          <a:effectLst/>
                          <a:uLnTx/>
                          <a:uFillTx/>
                          <a:latin typeface="+mn-lt"/>
                          <a:ea typeface="+mn-ea"/>
                          <a:cs typeface="+mn-cs"/>
                        </a:rPr>
                        <a:t/>
                      </a:r>
                      <a:endParaRPr kumimoji="0" lang="ru-RU" sz="700" b="0" i="0" u="none" strike="noStrike" kern="1200" cap="none" spc="0" normalizeH="0" baseline="0" dirty="0">
                        <a:ln>
                          <a:noFill/>
                        </a:ln>
                        <a:solidFill>
                          <a:schemeClr val="accent3"/>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smtClean="0">
                          <a:solidFill>
                            <a:srgbClr val="000000"/>
                          </a:solidFill>
                          <a:latin typeface="+mn-lt"/>
                          <a:ea typeface="+mn-ea"/>
                          <a:cs typeface="+mn-cs"/>
                        </a:rPr>
                        <a:t>2</a:t>
                      </a:r>
                      <a:endParaRPr lang="ru-RU" sz="700"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smtClean="0">
                          <a:solidFill>
                            <a:srgbClr val="000000"/>
                          </a:solidFill>
                          <a:latin typeface="+mn-lt"/>
                          <a:ea typeface="+mn-ea"/>
                          <a:cs typeface="+mn-cs"/>
                        </a:rPr>
                        <a:t>2</a:t>
                      </a:r>
                      <a:endParaRPr lang="ru-RU" sz="700"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rgbClr val="000000"/>
                          </a:solidFill>
                          <a:latin typeface="+mn-lt"/>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3</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7</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7</a:t>
                      </a: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100%</a:t>
                      </a: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769993056"/>
                  </a:ext>
                </a:extLst>
              </a:tr>
              <a:tr h="144117">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smtClean="0">
                          <a:ln>
                            <a:noFill/>
                          </a:ln>
                          <a:solidFill>
                            <a:schemeClr val="tx1"/>
                          </a:solidFill>
                          <a:effectLst/>
                          <a:uLnTx/>
                          <a:uFillTx/>
                          <a:latin typeface="+mn-lt"/>
                          <a:ea typeface="+mn-ea"/>
                          <a:cs typeface="+mn-cs"/>
                        </a:rPr>
                        <a:t xml:space="preserve">Unscheduled G&amp;E communication</a:t>
                      </a:r>
                      <a:r>
                        <a:rPr kumimoji="0" lang="en-US" sz="700" b="0" i="0" u="none" strike="noStrike" kern="1200" cap="none" spc="0" normalizeH="0" baseline="0" dirty="0" smtClean="0">
                          <a:ln>
                            <a:noFill/>
                          </a:ln>
                          <a:solidFill>
                            <a:schemeClr val="tx1"/>
                          </a:solidFill>
                          <a:effectLst/>
                          <a:uLnTx/>
                          <a:uFillTx/>
                          <a:latin typeface="+mn-lt"/>
                          <a:ea typeface="+mn-ea"/>
                          <a:cs typeface="+mn-cs"/>
                        </a:rPr>
                        <a:t/>
                      </a:r>
                      <a:endParaRPr kumimoji="0" lang="ru-RU" sz="700" b="0" i="0" u="none" strike="noStrike" kern="1200" cap="none" spc="0" normalizeH="0" baseline="0" dirty="0">
                        <a:ln>
                          <a:noFill/>
                        </a:ln>
                        <a:solidFill>
                          <a:schemeClr val="tx1"/>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rgbClr val="000000"/>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endParaRPr lang="ru-RU" sz="700" b="0" i="0" u="none" strike="noStrike">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42620449"/>
                  </a:ext>
                </a:extLst>
              </a:tr>
              <a:tr h="335156">
                <a:tc vMerge="1">
                  <a:txBody>
                    <a:bodyPr/>
                    <a:lstStyle/>
                    <a:p>
                      <a:endParaRPr lang="ru-RU"/>
                    </a:p>
                  </a:txBody>
                  <a:tcPr/>
                </a:tc>
                <a:tc>
                  <a:txBody>
                    <a:bodyPr/>
                    <a:lstStyle/>
                    <a:p>
                      <a:endParaRPr lang="ru-RU" sz="700" dirty="0">
                        <a:solidFill>
                          <a:schemeClr val="tx1"/>
                        </a:solidFill>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1" i="0" u="none" strike="noStrike" kern="1200" cap="none" spc="0" normalizeH="0" baseline="0" dirty="0" smtClean="0">
                          <a:ln>
                            <a:noFill/>
                          </a:ln>
                          <a:solidFill>
                            <a:schemeClr val="accent1"/>
                          </a:solidFill>
                          <a:effectLst/>
                          <a:uLnTx/>
                          <a:uFillTx/>
                          <a:latin typeface="+mn-lt"/>
                          <a:ea typeface="+mn-ea"/>
                          <a:cs typeface="+mn-cs"/>
                        </a:rPr>
                        <a:t xml:space="preserve">Additionally for Ethics and Compliance Day:</a:t>
                      </a:r>
                    </a:p>
                    <a:p>
                      <a:pPr marL="88900" marR="0" lvl="0" indent="-8890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ru-RU" sz="700" b="0" i="0" u="none" strike="noStrike" kern="1200" cap="none" spc="0" normalizeH="0" baseline="0" dirty="0" smtClean="0">
                          <a:ln>
                            <a:noFill/>
                          </a:ln>
                          <a:solidFill>
                            <a:schemeClr val="tx1"/>
                          </a:solidFill>
                          <a:effectLst/>
                          <a:uLnTx/>
                          <a:uFillTx/>
                          <a:latin typeface="+mn-lt"/>
                          <a:ea typeface="+mn-ea"/>
                          <a:cs typeface="+mn-cs"/>
                        </a:rPr>
                        <a:t xml:space="preserve">Tone from above (address from the CEO of Perimeter, joint article by the Heads of Divisions, TG, MCE, video interview with CEO-1)</a:t>
                      </a:r>
                      <a:r>
                        <a:rPr kumimoji="0" lang="en-US" sz="700" b="0" i="0" u="none" strike="noStrike" kern="1200" cap="none" spc="0" normalizeH="0" baseline="0" dirty="0" smtClean="0">
                          <a:ln>
                            <a:noFill/>
                          </a:ln>
                          <a:solidFill>
                            <a:schemeClr val="tx1"/>
                          </a:solidFill>
                          <a:effectLst/>
                          <a:uLnTx/>
                          <a:uFillTx/>
                          <a:latin typeface="+mn-lt"/>
                          <a:ea typeface="+mn-ea"/>
                          <a:cs typeface="+mn-cs"/>
                        </a:rPr>
                        <a:t/>
                      </a:r>
                      <a:r>
                        <a:rPr kumimoji="0" lang="ru-RU" sz="700" b="0" i="0" u="none" strike="noStrike" kern="1200" cap="none" spc="0" normalizeH="0" baseline="0" dirty="0" smtClean="0">
                          <a:ln>
                            <a:noFill/>
                          </a:ln>
                          <a:solidFill>
                            <a:schemeClr val="tx1"/>
                          </a:solidFill>
                          <a:effectLst/>
                          <a:uLnTx/>
                          <a:uFillTx/>
                          <a:latin typeface="+mn-lt"/>
                          <a:ea typeface="+mn-ea"/>
                          <a:cs typeface="+mn-cs"/>
                        </a:rPr>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smtClean="0">
                          <a:solidFill>
                            <a:srgbClr val="000000"/>
                          </a:solidFill>
                          <a:latin typeface="+mn-lt"/>
                        </a:rPr>
                        <a:t>3</a:t>
                      </a: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 </a:t>
                      </a:r>
                      <a:r>
                        <a:rPr lang="ru-RU" sz="700" kern="1200" dirty="0" smtClean="0">
                          <a:solidFill>
                            <a:srgbClr val="000000"/>
                          </a:solidFill>
                          <a:latin typeface="+mn-lt"/>
                          <a:ea typeface="+mn-ea"/>
                          <a:cs typeface="+mn-cs"/>
                        </a:rPr>
                        <a:t>-</a:t>
                      </a:r>
                      <a:endParaRPr lang="ru-RU" sz="700" kern="1200" dirty="0">
                        <a:solidFill>
                          <a:srgbClr val="000000"/>
                        </a:solidFill>
                        <a:latin typeface="+mn-lt"/>
                        <a:ea typeface="+mn-ea"/>
                        <a:cs typeface="+mn-cs"/>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3</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RU" sz="700" b="0" i="1" u="none" strike="noStrike" dirty="0" smtClean="0">
                          <a:solidFill>
                            <a:schemeClr val="tx1"/>
                          </a:solidFill>
                          <a:effectLst/>
                          <a:latin typeface="Arial" panose="020B0604020202020204" pitchFamily="34" charset="0"/>
                        </a:rPr>
                        <a:t>1</a:t>
                      </a:r>
                      <a:endParaRPr lang="en-US" sz="700" b="0" i="1" u="none" strike="noStrike" dirty="0" smtClean="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300%</a:t>
                      </a: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31819797"/>
                  </a:ext>
                </a:extLst>
              </a:tr>
              <a:tr h="2228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ru-RU" sz="700" b="0" i="0" u="none" strike="noStrike" kern="1200" cap="none" spc="0" normalizeH="0" baseline="0" dirty="0" smtClean="0">
                          <a:ln>
                            <a:noFill/>
                          </a:ln>
                          <a:solidFill>
                            <a:schemeClr val="tx1"/>
                          </a:solidFill>
                          <a:effectLst/>
                          <a:uLnTx/>
                          <a:uFillTx/>
                          <a:latin typeface="+mn-lt"/>
                          <a:ea typeface="+mn-ea"/>
                          <a:cs typeface="+mn-cs"/>
                        </a:rPr>
                        <a:t xml:space="preserve">Announcement of communications, video blitz survey of employees, online quiz results, Quiz results, thematic design: photo zone, toppers, stickers, prizes</a:t>
                      </a:r>
                      <a:r>
                        <a:rPr kumimoji="0" lang="ru-RU" sz="700" b="0" i="0" u="none" strike="noStrike" kern="1200" cap="none" spc="0" normalizeH="0" baseline="0" dirty="0" err="1" smtClean="0">
                          <a:ln>
                            <a:noFill/>
                          </a:ln>
                          <a:solidFill>
                            <a:schemeClr val="tx1"/>
                          </a:solidFill>
                          <a:effectLst/>
                          <a:uLnTx/>
                          <a:uFillTx/>
                          <a:latin typeface="+mn-lt"/>
                          <a:ea typeface="+mn-ea"/>
                          <a:cs typeface="+mn-cs"/>
                        </a:rPr>
                        <a:t/>
                      </a:r>
                      <a:r>
                        <a:rPr kumimoji="0" lang="ru-RU" sz="700" b="0" i="0" u="none" strike="noStrike" kern="1200" cap="none" spc="0" normalizeH="0" baseline="0" dirty="0" smtClean="0">
                          <a:ln>
                            <a:noFill/>
                          </a:ln>
                          <a:solidFill>
                            <a:schemeClr val="tx1"/>
                          </a:solidFill>
                          <a:effectLst/>
                          <a:uLnTx/>
                          <a:uFillTx/>
                          <a:latin typeface="+mn-lt"/>
                          <a:ea typeface="+mn-ea"/>
                          <a:cs typeface="+mn-cs"/>
                        </a:rPr>
                        <a:t/>
                      </a:r>
                      <a:r>
                        <a:rPr kumimoji="0" lang="ru-RU" sz="700" b="0" i="0" u="none" strike="noStrike" kern="1200" cap="none" spc="0" normalizeH="0" baseline="0" dirty="0" err="1" smtClean="0">
                          <a:ln>
                            <a:noFill/>
                          </a:ln>
                          <a:solidFill>
                            <a:schemeClr val="tx1"/>
                          </a:solidFill>
                          <a:effectLst/>
                          <a:uLnTx/>
                          <a:uFillTx/>
                          <a:latin typeface="+mn-lt"/>
                          <a:ea typeface="+mn-ea"/>
                          <a:cs typeface="+mn-cs"/>
                        </a:rPr>
                        <a:t/>
                      </a:r>
                      <a:r>
                        <a:rPr kumimoji="0" lang="ru-RU" sz="700" b="0" i="0" u="none" strike="noStrike" kern="1200" cap="none" spc="0" normalizeH="0" baseline="0" dirty="0" smtClean="0">
                          <a:ln>
                            <a:noFill/>
                          </a:ln>
                          <a:solidFill>
                            <a:schemeClr val="tx1"/>
                          </a:solidFill>
                          <a:effectLst/>
                          <a:uLnTx/>
                          <a:uFillTx/>
                          <a:latin typeface="+mn-lt"/>
                          <a:ea typeface="+mn-ea"/>
                          <a:cs typeface="+mn-cs"/>
                        </a:rPr>
                        <a:t/>
                      </a:r>
                      <a:endParaRPr kumimoji="0" lang="ru-RU" sz="700" b="0" i="0" u="none" strike="noStrike" kern="1200" cap="none" spc="0" normalizeH="0" baseline="0" dirty="0">
                        <a:ln>
                          <a:noFill/>
                        </a:ln>
                        <a:solidFill>
                          <a:schemeClr val="tx1"/>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ctr" latinLnBrk="0" hangingPunct="1"/>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smtClean="0">
                          <a:solidFill>
                            <a:srgbClr val="000000"/>
                          </a:solidFill>
                          <a:latin typeface="+mn-lt"/>
                        </a:rPr>
                        <a:t>5</a:t>
                      </a: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6</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lang="en-US" sz="700" b="0" i="1" u="none" strike="noStrike" dirty="0" smtClean="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906170152"/>
                  </a:ext>
                </a:extLst>
              </a:tr>
              <a:tr h="167579">
                <a:tc rowSpan="2">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1" i="0" u="none" strike="noStrike" dirty="0">
                          <a:solidFill>
                            <a:schemeClr val="tx1"/>
                          </a:solidFill>
                          <a:effectLst/>
                          <a:latin typeface="+mn-lt"/>
                        </a:rPr>
                        <a:t xml:space="preserve">Third party suppliers</a:t>
                      </a:r>
                      <a:r>
                        <a:rPr lang="en-US" sz="700" b="1" i="0" u="none" strike="noStrike" dirty="0">
                          <a:solidFill>
                            <a:schemeClr val="tx1"/>
                          </a:solidFill>
                          <a:effectLst/>
                          <a:latin typeface="+mn-lt"/>
                        </a:rPr>
                        <a:t/>
                      </a:r>
                      <a:r>
                        <a:rPr lang="ru-RU" sz="700" b="1" i="0" u="none" strike="noStrike" dirty="0">
                          <a:solidFill>
                            <a:schemeClr val="tx1"/>
                          </a:solidFill>
                          <a:effectLst/>
                          <a:latin typeface="+mn-lt"/>
                        </a:rPr>
                        <a:t/>
                      </a:r>
                      <a:endParaRPr lang="en-US" sz="700" b="1" i="0" u="none" strike="noStrike" dirty="0">
                        <a:solidFill>
                          <a:schemeClr val="tx1"/>
                        </a:solidFill>
                        <a:effectLst/>
                        <a:latin typeface="+mn-lt"/>
                      </a:endParaRP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30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 xml:space="preserve">ERG Supplier Code of Conduct (online course)1</a:t>
                      </a:r>
                      <a:r>
                        <a:rPr kumimoji="0" lang="en-US" sz="700" b="0" i="0" u="none" strike="noStrike" kern="1200" cap="none" spc="0" normalizeH="0" baseline="0" dirty="0">
                          <a:ln>
                            <a:noFill/>
                          </a:ln>
                          <a:solidFill>
                            <a:schemeClr val="tx1"/>
                          </a:solidFill>
                          <a:effectLst/>
                          <a:uLnTx/>
                          <a:uFillTx/>
                          <a:latin typeface="+mn-lt"/>
                          <a:ea typeface="+mn-ea"/>
                          <a:cs typeface="+mn-cs"/>
                        </a:rPr>
                        <a:t/>
                      </a:r>
                      <a:r>
                        <a:rPr kumimoji="0" lang="ru-RU" sz="700" b="0" i="0" u="none" strike="noStrike" kern="1200" cap="none" spc="0" normalizeH="0" baseline="0" dirty="0">
                          <a:ln>
                            <a:noFill/>
                          </a:ln>
                          <a:solidFill>
                            <a:schemeClr val="tx1"/>
                          </a:solidFill>
                          <a:effectLst/>
                          <a:uLnTx/>
                          <a:uFillTx/>
                          <a:latin typeface="+mn-lt"/>
                          <a:ea typeface="+mn-ea"/>
                          <a:cs typeface="+mn-cs"/>
                        </a:rPr>
                        <a:t/>
                      </a:r>
                      <a:r>
                        <a:rPr kumimoji="0" lang="ru-RU" sz="700" b="0" i="0" u="none" strike="noStrike" kern="1200" cap="none" spc="0" normalizeH="0" baseline="30000" dirty="0">
                          <a:ln>
                            <a:noFill/>
                          </a:ln>
                          <a:solidFill>
                            <a:schemeClr val="tx1"/>
                          </a:solidFill>
                          <a:effectLst/>
                          <a:uLnTx/>
                          <a:uFillTx/>
                          <a:latin typeface="+mn-lt"/>
                          <a:ea typeface="+mn-ea"/>
                          <a:cs typeface="+mn-cs"/>
                        </a:rPr>
                        <a:t/>
                      </a:r>
                      <a:endParaRPr lang="ru-RU" sz="700" baseline="30000" dirty="0">
                        <a:solidFill>
                          <a:schemeClr val="tx1"/>
                        </a:solidFill>
                        <a:latin typeface="+mn-lt"/>
                      </a:endParaRP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lang="ru-RU" sz="700" b="0" i="0" u="none" strike="noStrike" dirty="0" smtClean="0">
                          <a:solidFill>
                            <a:schemeClr val="tx1"/>
                          </a:solidFill>
                          <a:effectLst/>
                          <a:latin typeface="Arial" panose="020B0604020202020204" pitchFamily="34" charset="0"/>
                        </a:rPr>
                        <a:t>921</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rgbClr val="000000"/>
                          </a:solidFill>
                          <a:effectLst/>
                          <a:latin typeface="Arial" panose="020B0604020202020204" pitchFamily="34" charset="0"/>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-383</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538</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2 995</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18%</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35474032"/>
                  </a:ext>
                </a:extLst>
              </a:tr>
              <a:tr h="144117">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700" b="1" i="0" u="none" strike="noStrike" dirty="0">
                        <a:solidFill>
                          <a:schemeClr val="tx1"/>
                        </a:solidFill>
                        <a:effectLst/>
                        <a:latin typeface="+mn-lt"/>
                      </a:endParaRP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583170" rtl="0" eaLnBrk="1" fontAlgn="auto" latinLnBrk="0" hangingPunct="1">
                        <a:lnSpc>
                          <a:spcPct val="100000"/>
                        </a:lnSpc>
                        <a:spcBef>
                          <a:spcPts val="0"/>
                        </a:spcBef>
                        <a:spcAft>
                          <a:spcPts val="0"/>
                        </a:spcAft>
                        <a:buClrTx/>
                        <a:buSzTx/>
                        <a:buFontTx/>
                        <a:buNone/>
                        <a:tabLst/>
                        <a:defRPr/>
                      </a:pPr>
                      <a:r>
                        <a:rPr lang="ru-RU" sz="700" i="1" dirty="0">
                          <a:solidFill>
                            <a:schemeClr val="tx1"/>
                          </a:solidFill>
                          <a:latin typeface="+mn-lt"/>
                        </a:rPr>
                        <a:t xml:space="preserve">Of these, key suppliers (within ESG objectives)</a:t>
                      </a:r>
                      <a:r>
                        <a:rPr lang="en-US" sz="700" i="1" dirty="0">
                          <a:solidFill>
                            <a:schemeClr val="tx1"/>
                          </a:solidFill>
                          <a:latin typeface="+mn-lt"/>
                        </a:rPr>
                        <a:t/>
                      </a:r>
                      <a:endParaRPr lang="ru-RU" sz="700" i="1"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68</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i="1"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rgbClr val="000000"/>
                          </a:solidFill>
                          <a:effectLst/>
                          <a:latin typeface="Arial" panose="020B0604020202020204" pitchFamily="34" charset="0"/>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i="1"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i="1" dirty="0">
                          <a:solidFill>
                            <a:schemeClr val="tx1"/>
                          </a:solidFill>
                          <a:latin typeface="+mn-lt"/>
                        </a:rPr>
                        <a: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-12</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56</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108</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52%</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278218633"/>
                  </a:ext>
                </a:extLst>
              </a:tr>
            </a:tbl>
          </a:graphicData>
        </a:graphic>
      </p:graphicFrame>
      <p:sp>
        <p:nvSpPr>
          <p:cNvPr id="12" name="TextBox 11"/>
          <p:cNvSpPr txBox="1"/>
          <p:nvPr/>
        </p:nvSpPr>
        <p:spPr>
          <a:xfrm>
            <a:off x="317498" y="6054692"/>
            <a:ext cx="11533288" cy="538609"/>
          </a:xfrm>
          <a:prstGeom prst="rect">
            <a:avLst/>
          </a:prstGeom>
        </p:spPr>
        <p:txBody>
          <a:bodyPr wrap="square" lIns="0" tIns="0" rIns="0" bIns="0" rtlCol="0">
            <a:spAutoFit/>
          </a:bodyPr>
          <a:lstStyle/>
          <a:p>
            <a:pPr marL="88900" indent="-88900"/>
            <a:r>
              <a:rPr lang="ru-RU" sz="700" baseline="30000" dirty="0"/>
              <a:t xml:space="preserve">1 Training for the online course “ERG Supplier Code of Conduct” has been suspended due to the transition to another platform.</a:t>
            </a:r>
            <a:r>
              <a:rPr lang="ru-RU" sz="700" dirty="0" smtClean="0"/>
              <a:t/>
            </a:r>
            <a:r>
              <a:rPr lang="ru-RU" sz="700" dirty="0"/>
              <a:t/>
            </a:r>
            <a:r>
              <a:rPr lang="en-US" sz="700" dirty="0"/>
              <a:t/>
            </a:r>
            <a:r>
              <a:rPr lang="ru-RU" sz="700" dirty="0"/>
              <a:t/>
            </a:r>
          </a:p>
          <a:p>
            <a:pPr marL="90488" indent="-90488"/>
            <a:r>
              <a:rPr lang="ru-RU" sz="700" baseline="30000" dirty="0"/>
              <a:t xml:space="preserve">2 Technical correction of data (previously trained but already dismissed employees as of the reporting date are excluded).</a:t>
            </a:r>
            <a:r>
              <a:rPr lang="ru-RU" sz="700" dirty="0"/>
              <a:t/>
            </a:r>
          </a:p>
          <a:p>
            <a:pPr marL="88900" indent="-88900"/>
            <a:r>
              <a:rPr lang="ru-RU" sz="700" baseline="30000" dirty="0"/>
              <a:t xml:space="preserve">3 According to the Perimeter Annual Program, goals are set for each type of training, in particular for online training modules for employees - 100% RSS, for key employees - 100% (except for maternity leave, child care, etc. and subject to the operation of the modules). As of December 31, 2025, according to the staffing table of Perimeter KZ - 13,500 RSS (managers, specialists, employees).</a:t>
            </a:r>
            <a:r>
              <a:rPr lang="ru-RU" sz="700" dirty="0"/>
              <a:t/>
            </a:r>
            <a:r>
              <a:rPr lang="en-US" sz="700" dirty="0"/>
              <a:t/>
            </a:r>
            <a:r>
              <a:rPr lang="ru-RU" sz="700" dirty="0"/>
              <a:t/>
            </a:r>
            <a:r>
              <a:rPr lang="ru-RU" sz="700" dirty="0" smtClean="0"/>
              <a:t/>
            </a:r>
            <a:r>
              <a:rPr lang="ru-RU" sz="700" dirty="0"/>
              <a:t/>
            </a:r>
            <a:r>
              <a:rPr lang="ru-RU" sz="700" dirty="0" smtClean="0"/>
              <a:t/>
            </a:r>
            <a:r>
              <a:rPr lang="ru-RU" sz="700" dirty="0"/>
              <a:t/>
            </a:r>
            <a:endParaRPr lang="en-US" sz="700" dirty="0"/>
          </a:p>
          <a:p>
            <a:pPr marL="88900" indent="-88900"/>
            <a:r>
              <a:rPr lang="en-US" sz="700" baseline="30000" dirty="0" smtClean="0"/>
              <a:t xml:space="preserve">4 The plan has been adjusted to take into account the rotation of workers.</a:t>
            </a:r>
            <a:r>
              <a:rPr lang="en-US" sz="700" dirty="0" smtClean="0"/>
              <a:t/>
            </a:r>
            <a:r>
              <a:rPr lang="ru-RU" sz="700" dirty="0" smtClean="0"/>
              <a:t/>
            </a:r>
            <a:r>
              <a:rPr lang="ru-RU" sz="700" dirty="0"/>
              <a:t/>
            </a:r>
            <a:r>
              <a:rPr lang="ru-RU" sz="700" dirty="0" smtClean="0"/>
              <a:t/>
            </a:r>
          </a:p>
        </p:txBody>
      </p:sp>
      <p:sp>
        <p:nvSpPr>
          <p:cNvPr id="13" name="Прямоугольник 12"/>
          <p:cNvSpPr/>
          <p:nvPr/>
        </p:nvSpPr>
        <p:spPr>
          <a:xfrm>
            <a:off x="236452" y="6603932"/>
            <a:ext cx="4414991" cy="200055"/>
          </a:xfrm>
          <a:prstGeom prst="rect">
            <a:avLst/>
          </a:prstGeom>
        </p:spPr>
        <p:txBody>
          <a:bodyPr wrap="none">
            <a:spAutoFit/>
          </a:bodyPr>
          <a:lstStyle/>
          <a:p>
            <a:pPr>
              <a:spcAft>
                <a:spcPts val="300"/>
              </a:spcAft>
            </a:pPr>
            <a:r>
              <a:rPr lang="ru-RU" sz="700" i="1" dirty="0">
                <a:solidFill>
                  <a:schemeClr val="accent1"/>
                </a:solidFill>
              </a:rPr>
              <a:t xml:space="preserve">Storage of supporting materials: CAT / folders on OMEGA (Perimeter Kazakhstan server)</a:t>
            </a:r>
            <a:r>
              <a:rPr lang="en-US" sz="700" i="1" dirty="0">
                <a:solidFill>
                  <a:schemeClr val="accent1"/>
                </a:solidFill>
              </a:rPr>
              <a:t/>
            </a:r>
            <a:r>
              <a:rPr lang="ru-RU" sz="700" i="1" dirty="0">
                <a:solidFill>
                  <a:schemeClr val="accent1"/>
                </a:solidFill>
              </a:rPr>
              <a:t/>
            </a:r>
          </a:p>
        </p:txBody>
      </p:sp>
    </p:spTree>
    <p:extLst>
      <p:ext uri="{BB962C8B-B14F-4D97-AF65-F5344CB8AC3E}">
        <p14:creationId xmlns:p14="http://schemas.microsoft.com/office/powerpoint/2010/main" val="32108392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16" hidden="1">
            <a:extLst>
              <a:ext uri="{FF2B5EF4-FFF2-40B4-BE49-F238E27FC236}">
                <a16:creationId xmlns:a16="http://schemas.microsoft.com/office/drawing/2014/main" id="{CEEA46E2-6208-41BC-B553-6D7EA9228083}"/>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9708" name="think-cell Slide" r:id="rId7" imgW="473" imgH="473" progId="TCLayout.ActiveDocument.1">
                  <p:embed/>
                </p:oleObj>
              </mc:Choice>
              <mc:Fallback>
                <p:oleObj name="think-cell Slide" r:id="rId7" imgW="473" imgH="473" progId="TCLayout.ActiveDocument.1">
                  <p:embed/>
                  <p:pic>
                    <p:nvPicPr>
                      <p:cNvPr id="17" name="Object 16" hidden="1">
                        <a:extLst>
                          <a:ext uri="{FF2B5EF4-FFF2-40B4-BE49-F238E27FC236}">
                            <a16:creationId xmlns:a16="http://schemas.microsoft.com/office/drawing/2014/main" id="{CEEA46E2-6208-41BC-B553-6D7EA9228083}"/>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BC99CEB-384C-4161-8992-FD3D9FEFC218}"/>
              </a:ext>
            </a:extLst>
          </p:cNvPr>
          <p:cNvSpPr>
            <a:spLocks noGrp="1"/>
          </p:cNvSpPr>
          <p:nvPr>
            <p:ph type="title"/>
          </p:nvPr>
        </p:nvSpPr>
        <p:spPr/>
        <p:txBody>
          <a:bodyPr vert="horz" rtlCol="0"/>
          <a:lstStyle/>
          <a:p>
            <a:pPr rtl="0"/>
            <a:r>
              <a:rPr lang="ru" dirty="0" smtClean="0"/>
              <a:t>Дашборд </a:t>
            </a:r>
            <a:r>
              <a:rPr lang="ru" dirty="0"/>
              <a:t>за </a:t>
            </a:r>
            <a:r>
              <a:rPr lang="ru-RU" dirty="0"/>
              <a:t>1</a:t>
            </a:r>
            <a:r>
              <a:rPr lang="en-US" dirty="0"/>
              <a:t>-4</a:t>
            </a:r>
            <a:r>
              <a:rPr lang="ru-RU" dirty="0"/>
              <a:t> </a:t>
            </a:r>
            <a:r>
              <a:rPr lang="ru" dirty="0"/>
              <a:t>кв. 2025 г.: </a:t>
            </a:r>
            <a:r>
              <a:rPr lang="en-US" dirty="0"/>
              <a:t/>
            </a:r>
            <a:br>
              <a:rPr lang="en-US" dirty="0"/>
            </a:br>
            <a:r>
              <a:rPr lang="ru" dirty="0">
                <a:solidFill>
                  <a:schemeClr val="tx1"/>
                </a:solidFill>
              </a:rPr>
              <a:t>Система информирования о нарушениях (WBS)</a:t>
            </a:r>
            <a:endParaRPr lang="en-US" dirty="0"/>
          </a:p>
        </p:txBody>
      </p:sp>
      <p:sp>
        <p:nvSpPr>
          <p:cNvPr id="6" name="Rectangle 69">
            <a:extLst>
              <a:ext uri="{FF2B5EF4-FFF2-40B4-BE49-F238E27FC236}">
                <a16:creationId xmlns:a16="http://schemas.microsoft.com/office/drawing/2014/main" id="{A12EA9D4-4480-4FB3-ABA5-180973958053}"/>
              </a:ext>
            </a:extLst>
          </p:cNvPr>
          <p:cNvSpPr/>
          <p:nvPr>
            <p:custDataLst>
              <p:tags r:id="rId3"/>
            </p:custDataLst>
          </p:nvPr>
        </p:nvSpPr>
        <p:spPr bwMode="gray">
          <a:xfrm>
            <a:off x="5487894" y="3059316"/>
            <a:ext cx="285750" cy="109538"/>
          </a:xfrm>
          <a:prstGeom prst="rect">
            <a:avLst/>
          </a:prstGeom>
          <a:noFill/>
          <a:ln w="9525">
            <a:noFill/>
          </a:ln>
          <a:effectLst/>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en-US" sz="800" dirty="0">
              <a:solidFill>
                <a:schemeClr val="tx1"/>
              </a:solidFill>
            </a:endParaRPr>
          </a:p>
        </p:txBody>
      </p:sp>
      <p:sp>
        <p:nvSpPr>
          <p:cNvPr id="7" name="Text Placeholder 9">
            <a:extLst>
              <a:ext uri="{FF2B5EF4-FFF2-40B4-BE49-F238E27FC236}">
                <a16:creationId xmlns:a16="http://schemas.microsoft.com/office/drawing/2014/main" id="{E28ED779-6550-434C-86BA-D8D114F65006}"/>
              </a:ext>
            </a:extLst>
          </p:cNvPr>
          <p:cNvSpPr txBox="1">
            <a:spLocks/>
          </p:cNvSpPr>
          <p:nvPr/>
        </p:nvSpPr>
        <p:spPr>
          <a:xfrm>
            <a:off x="4051772" y="972743"/>
            <a:ext cx="7646789" cy="184666"/>
          </a:xfrm>
          <a:prstGeom prst="rect">
            <a:avLst/>
          </a:prstGeom>
        </p:spPr>
        <p:txBody>
          <a:bodyPr wrap="square" lIns="0" tIns="0" rIns="0" bIns="0" anchor="b">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en-US" sz="1200" dirty="0"/>
              <a:t xml:space="preserve">Mining &amp; Healthcare</a:t>
            </a:r>
          </a:p>
        </p:txBody>
      </p:sp>
      <p:cxnSp>
        <p:nvCxnSpPr>
          <p:cNvPr id="8" name="Straight Connector 9">
            <a:extLst>
              <a:ext uri="{FF2B5EF4-FFF2-40B4-BE49-F238E27FC236}">
                <a16:creationId xmlns:a16="http://schemas.microsoft.com/office/drawing/2014/main" id="{18E8F5CA-EFA5-4C7F-A8F5-DF94A2668E06}"/>
              </a:ext>
            </a:extLst>
          </p:cNvPr>
          <p:cNvCxnSpPr/>
          <p:nvPr/>
        </p:nvCxnSpPr>
        <p:spPr>
          <a:xfrm>
            <a:off x="4051773" y="1249102"/>
            <a:ext cx="7646789" cy="0"/>
          </a:xfrm>
          <a:prstGeom prst="line">
            <a:avLst/>
          </a:prstGeom>
          <a:noFill/>
          <a:ln w="952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graphicFrame>
        <p:nvGraphicFramePr>
          <p:cNvPr id="9" name="Table 14">
            <a:extLst>
              <a:ext uri="{FF2B5EF4-FFF2-40B4-BE49-F238E27FC236}">
                <a16:creationId xmlns:a16="http://schemas.microsoft.com/office/drawing/2014/main" id="{1C6BE36A-1473-411E-ADB9-675229A7FC8E}"/>
              </a:ext>
            </a:extLst>
          </p:cNvPr>
          <p:cNvGraphicFramePr>
            <a:graphicFrameLocks noGrp="1"/>
          </p:cNvGraphicFramePr>
          <p:nvPr>
            <p:extLst/>
          </p:nvPr>
        </p:nvGraphicFramePr>
        <p:xfrm>
          <a:off x="317499" y="1249102"/>
          <a:ext cx="3636192" cy="1060450"/>
        </p:xfrm>
        <a:graphic>
          <a:graphicData uri="http://schemas.openxmlformats.org/drawingml/2006/table">
            <a:tbl>
              <a:tblPr>
                <a:tableStyleId>{5C22544A-7EE6-4342-B048-85BDC9FD1C3A}</a:tableStyleId>
              </a:tblPr>
              <a:tblGrid>
                <a:gridCol w="3636192">
                  <a:extLst>
                    <a:ext uri="{9D8B030D-6E8A-4147-A177-3AD203B41FA5}">
                      <a16:colId xmlns:a16="http://schemas.microsoft.com/office/drawing/2014/main" val="3877538008"/>
                    </a:ext>
                  </a:extLst>
                </a:gridCol>
              </a:tblGrid>
              <a:tr h="530225">
                <a:tc>
                  <a:txBody>
                    <a:bodyPr/>
                    <a:lstStyle/>
                    <a:p>
                      <a:pPr marL="0" algn="l" defTabSz="583170" rtl="0" eaLnBrk="1" fontAlgn="t" latinLnBrk="0" hangingPunct="1"/>
                      <a:r>
                        <a:rPr lang="ru-RU" sz="1000" b="1" u="none" strike="noStrike" kern="1200" dirty="0">
                          <a:solidFill>
                            <a:schemeClr val="accent1"/>
                          </a:solidFill>
                          <a:effectLst/>
                          <a:latin typeface="+mn-lt"/>
                          <a:ea typeface="+mn-ea"/>
                          <a:cs typeface="+mn-cs"/>
                        </a:rPr>
                        <a:t xml:space="preserve">Hotline – information about requests</a:t>
                      </a:r>
                      <a:r>
                        <a:rPr lang="en-US" sz="1000" b="1" u="none" strike="noStrike" kern="1200" dirty="0">
                          <a:solidFill>
                            <a:schemeClr val="accent1"/>
                          </a:solidFill>
                          <a:effectLst/>
                          <a:latin typeface="+mn-lt"/>
                          <a:ea typeface="+mn-ea"/>
                          <a:cs typeface="+mn-cs"/>
                        </a:rPr>
                        <a:t/>
                      </a:r>
                      <a:r>
                        <a:rPr lang="ru-RU" sz="1000" b="1" u="none" strike="noStrike" kern="1200" dirty="0">
                          <a:solidFill>
                            <a:schemeClr val="accent1"/>
                          </a:solidFill>
                          <a:effectLst/>
                          <a:latin typeface="+mn-lt"/>
                          <a:ea typeface="+mn-ea"/>
                          <a:cs typeface="+mn-cs"/>
                        </a:rPr>
                        <a:t/>
                      </a:r>
                    </a:p>
                    <a:p>
                      <a:pPr marL="0" algn="l" defTabSz="583170" rtl="0" eaLnBrk="1" fontAlgn="t" latinLnBrk="0" hangingPunct="1"/>
                      <a:r>
                        <a:rPr lang="ru-RU" sz="1000" b="1" u="none" strike="noStrike" kern="1200" dirty="0">
                          <a:solidFill>
                            <a:schemeClr val="accent1"/>
                          </a:solidFill>
                          <a:effectLst/>
                          <a:latin typeface="+mn-lt"/>
                          <a:ea typeface="+mn-ea"/>
                          <a:cs typeface="+mn-cs"/>
                        </a:rPr>
                        <a:t xml:space="preserve">for the period 1-4 quarters. 2025</a:t>
                      </a:r>
                      <a:endParaRPr lang="en-US" sz="1000" b="1" u="none" strike="noStrike" kern="1200" dirty="0">
                        <a:solidFill>
                          <a:schemeClr val="accent1"/>
                        </a:solidFill>
                        <a:effectLst/>
                        <a:latin typeface="+mn-lt"/>
                        <a:ea typeface="+mn-ea"/>
                        <a:cs typeface="+mn-cs"/>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950988"/>
                  </a:ext>
                </a:extLst>
              </a:tr>
              <a:tr h="530225">
                <a:tc>
                  <a:txBody>
                    <a:bodyPr/>
                    <a:lstStyle/>
                    <a:p>
                      <a:r>
                        <a:rPr lang="ru-RU" sz="800" b="1" kern="1200" dirty="0">
                          <a:solidFill>
                            <a:schemeClr val="dk1"/>
                          </a:solidFill>
                          <a:latin typeface="+mn-lt"/>
                          <a:ea typeface="+mn-ea"/>
                          <a:cs typeface="+mn-cs"/>
                        </a:rPr>
                        <a:t xml:space="preserve">Total received by Perimeter for the period 1-4 quarters of 2025</a:t>
                      </a:r>
                    </a:p>
                    <a:p>
                      <a:r>
                        <a:rPr lang="ru-RU" sz="800" b="1" kern="1200" dirty="0">
                          <a:solidFill>
                            <a:schemeClr val="dk1"/>
                          </a:solidFill>
                          <a:latin typeface="+mn-lt"/>
                          <a:ea typeface="+mn-ea"/>
                          <a:cs typeface="+mn-cs"/>
                        </a:rPr>
                        <a:t xml:space="preserve">208 requests (excluding the “Question” category), of which:</a:t>
                      </a:r>
                      <a:r>
                        <a:rPr lang="ru-RU" sz="800" b="1" kern="1200" dirty="0">
                          <a:solidFill>
                            <a:schemeClr val="tx1"/>
                          </a:solidFill>
                          <a:latin typeface="+mn-lt"/>
                          <a:ea typeface="+mn-ea"/>
                          <a:cs typeface="+mn-cs"/>
                        </a:rPr>
                        <a:t/>
                      </a:r>
                      <a:r>
                        <a:rPr lang="ru-RU" sz="800" b="1" kern="1200" dirty="0">
                          <a:solidFill>
                            <a:schemeClr val="dk1"/>
                          </a:solidFill>
                          <a:latin typeface="+mn-lt"/>
                          <a:ea typeface="+mn-ea"/>
                          <a:cs typeface="+mn-cs"/>
                        </a:rPr>
                        <a:t/>
                      </a: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0134263"/>
                  </a:ext>
                </a:extLst>
              </a:tr>
            </a:tbl>
          </a:graphicData>
        </a:graphic>
      </p:graphicFrame>
      <p:grpSp>
        <p:nvGrpSpPr>
          <p:cNvPr id="10" name="Группа 9">
            <a:extLst>
              <a:ext uri="{FF2B5EF4-FFF2-40B4-BE49-F238E27FC236}">
                <a16:creationId xmlns:a16="http://schemas.microsoft.com/office/drawing/2014/main" id="{38DFD477-86A1-495B-AA2C-A1DD60AE1712}"/>
              </a:ext>
            </a:extLst>
          </p:cNvPr>
          <p:cNvGrpSpPr/>
          <p:nvPr/>
        </p:nvGrpSpPr>
        <p:grpSpPr>
          <a:xfrm>
            <a:off x="333849" y="1960499"/>
            <a:ext cx="3334858" cy="3801188"/>
            <a:chOff x="2047865" y="2973519"/>
            <a:chExt cx="3060297" cy="1774604"/>
          </a:xfrm>
        </p:grpSpPr>
        <p:graphicFrame>
          <p:nvGraphicFramePr>
            <p:cNvPr id="11" name="Диаграмма 10">
              <a:extLst>
                <a:ext uri="{FF2B5EF4-FFF2-40B4-BE49-F238E27FC236}">
                  <a16:creationId xmlns:a16="http://schemas.microsoft.com/office/drawing/2014/main" id="{5C19FE4E-6EE8-4032-861F-231E3C2FF2BA}"/>
                </a:ext>
              </a:extLst>
            </p:cNvPr>
            <p:cNvGraphicFramePr/>
            <p:nvPr>
              <p:extLst/>
            </p:nvPr>
          </p:nvGraphicFramePr>
          <p:xfrm>
            <a:off x="2047865" y="2973519"/>
            <a:ext cx="3060297" cy="1774604"/>
          </p:xfrm>
          <a:graphic>
            <a:graphicData uri="http://schemas.openxmlformats.org/drawingml/2006/chart">
              <c:chart xmlns:c="http://schemas.openxmlformats.org/drawingml/2006/chart" xmlns:r="http://schemas.openxmlformats.org/officeDocument/2006/relationships" r:id="rId9"/>
            </a:graphicData>
          </a:graphic>
        </p:graphicFrame>
        <p:grpSp>
          <p:nvGrpSpPr>
            <p:cNvPr id="12" name="Группа 11">
              <a:extLst>
                <a:ext uri="{FF2B5EF4-FFF2-40B4-BE49-F238E27FC236}">
                  <a16:creationId xmlns:a16="http://schemas.microsoft.com/office/drawing/2014/main" id="{2384E255-BFD9-4B2A-8546-F584A01EF306}"/>
                </a:ext>
              </a:extLst>
            </p:cNvPr>
            <p:cNvGrpSpPr/>
            <p:nvPr/>
          </p:nvGrpSpPr>
          <p:grpSpPr>
            <a:xfrm>
              <a:off x="3247767" y="3400180"/>
              <a:ext cx="660492" cy="325262"/>
              <a:chOff x="3247767" y="3354909"/>
              <a:chExt cx="660492" cy="464772"/>
            </a:xfrm>
          </p:grpSpPr>
          <p:sp>
            <p:nvSpPr>
              <p:cNvPr id="13" name="Rectangle 173">
                <a:extLst>
                  <a:ext uri="{FF2B5EF4-FFF2-40B4-BE49-F238E27FC236}">
                    <a16:creationId xmlns:a16="http://schemas.microsoft.com/office/drawing/2014/main" id="{7679144E-68C8-4094-8F56-E53FDDC2BC54}"/>
                  </a:ext>
                </a:extLst>
              </p:cNvPr>
              <p:cNvSpPr/>
              <p:nvPr>
                <p:custDataLst>
                  <p:tags r:id="rId4"/>
                </p:custDataLst>
              </p:nvPr>
            </p:nvSpPr>
            <p:spPr bwMode="auto">
              <a:xfrm>
                <a:off x="3367058" y="3354909"/>
                <a:ext cx="421905" cy="391651"/>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1588" numCol="1" spcCol="0" rtlCol="0" fromWordArt="0" anchor="ctr" anchorCtr="0" forceAA="0" compatLnSpc="1">
                <a:prstTxWarp prst="textNoShape">
                  <a:avLst/>
                </a:prstTxWarp>
                <a:noAutofit/>
              </a:bodyPr>
              <a:lstStyle/>
              <a:p>
                <a:pPr algn="ctr">
                  <a:spcBef>
                    <a:spcPct val="0"/>
                  </a:spcBef>
                  <a:spcAft>
                    <a:spcPct val="0"/>
                  </a:spcAft>
                </a:pPr>
                <a:r>
                  <a:rPr lang="en-US" altLang="en-US" sz="1200" b="1" dirty="0">
                    <a:solidFill>
                      <a:schemeClr val="tx1"/>
                    </a:solidFill>
                  </a:rPr>
                  <a:t>5</a:t>
                </a:r>
                <a:r>
                  <a:rPr lang="ru-RU" altLang="en-US" sz="1200" b="1" dirty="0">
                    <a:solidFill>
                      <a:schemeClr val="tx1"/>
                    </a:solidFill>
                  </a:rPr>
                  <a:t>9</a:t>
                </a:r>
                <a:r>
                  <a:rPr lang="en-US" altLang="en-US" sz="1200" dirty="0">
                    <a:solidFill>
                      <a:schemeClr val="tx1"/>
                    </a:solidFill>
                  </a:rPr>
                  <a:t>%</a:t>
                </a:r>
              </a:p>
            </p:txBody>
          </p:sp>
          <p:sp>
            <p:nvSpPr>
              <p:cNvPr id="14" name="Rectangle 232">
                <a:extLst>
                  <a:ext uri="{FF2B5EF4-FFF2-40B4-BE49-F238E27FC236}">
                    <a16:creationId xmlns:a16="http://schemas.microsoft.com/office/drawing/2014/main" id="{20750C72-FB8C-4883-B33D-527D6CE769AB}"/>
                  </a:ext>
                </a:extLst>
              </p:cNvPr>
              <p:cNvSpPr/>
              <p:nvPr/>
            </p:nvSpPr>
            <p:spPr>
              <a:xfrm>
                <a:off x="3247767" y="3650295"/>
                <a:ext cx="660492" cy="169386"/>
              </a:xfrm>
              <a:prstGeom prst="rect">
                <a:avLst/>
              </a:prstGeom>
            </p:spPr>
            <p:txBody>
              <a:bodyPr wrap="none" lIns="0" tIns="0" rIns="0" bIns="0" anchor="t">
                <a:spAutoFit/>
              </a:bodyPr>
              <a:lstStyle/>
              <a:p>
                <a:pPr algn="ctr">
                  <a:spcAft>
                    <a:spcPts val="300"/>
                  </a:spcAft>
                  <a:buClr>
                    <a:schemeClr val="accent1"/>
                  </a:buClr>
                </a:pPr>
                <a:r>
                  <a:rPr lang="ru-RU" sz="700" dirty="0"/>
                  <a:t xml:space="preserve">Coefficient</a:t>
                </a:r>
              </a:p>
              <a:p>
                <a:pPr algn="ctr">
                  <a:spcAft>
                    <a:spcPts val="300"/>
                  </a:spcAft>
                  <a:buClr>
                    <a:schemeClr val="accent1"/>
                  </a:buClr>
                </a:pPr>
                <a:r>
                  <a:rPr lang="ru-RU" sz="700" dirty="0"/>
                  <a:t xml:space="preserve">confirmation**</a:t>
                </a:r>
                <a:endParaRPr lang="en-US" sz="700" dirty="0"/>
              </a:p>
            </p:txBody>
          </p:sp>
        </p:grpSp>
      </p:grpSp>
      <p:cxnSp>
        <p:nvCxnSpPr>
          <p:cNvPr id="15" name="Straight Connector 5">
            <a:extLst>
              <a:ext uri="{FF2B5EF4-FFF2-40B4-BE49-F238E27FC236}">
                <a16:creationId xmlns:a16="http://schemas.microsoft.com/office/drawing/2014/main" id="{ACA0A154-2288-4F5E-BBBF-DB04BD3F8813}"/>
              </a:ext>
            </a:extLst>
          </p:cNvPr>
          <p:cNvCxnSpPr/>
          <p:nvPr/>
        </p:nvCxnSpPr>
        <p:spPr>
          <a:xfrm>
            <a:off x="381278" y="1246413"/>
            <a:ext cx="3240000" cy="0"/>
          </a:xfrm>
          <a:prstGeom prst="line">
            <a:avLst/>
          </a:prstGeom>
          <a:noFill/>
          <a:ln w="952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16" name="TextBox 15">
            <a:extLst>
              <a:ext uri="{FF2B5EF4-FFF2-40B4-BE49-F238E27FC236}">
                <a16:creationId xmlns:a16="http://schemas.microsoft.com/office/drawing/2014/main" id="{8FC14507-69C2-437F-95F6-D150634F144D}"/>
              </a:ext>
            </a:extLst>
          </p:cNvPr>
          <p:cNvSpPr txBox="1"/>
          <p:nvPr/>
        </p:nvSpPr>
        <p:spPr>
          <a:xfrm>
            <a:off x="804430" y="5703614"/>
            <a:ext cx="5291570" cy="538609"/>
          </a:xfrm>
          <a:prstGeom prst="rect">
            <a:avLst/>
          </a:prstGeom>
        </p:spPr>
        <p:txBody>
          <a:bodyPr wrap="square" lIns="0" tIns="0" rIns="0" bIns="0" rtlCol="0">
            <a:spAutoFit/>
          </a:bodyPr>
          <a:lstStyle/>
          <a:p>
            <a:r>
              <a:rPr lang="ru-RU" sz="700" i="1" dirty="0"/>
              <a:t xml:space="preserve">*Checking is not possible due to insufficient information</a:t>
            </a:r>
          </a:p>
          <a:p>
            <a:endParaRPr lang="ru-RU" sz="700" i="1" dirty="0"/>
          </a:p>
          <a:p>
            <a:r>
              <a:rPr lang="ru-RU" sz="700" i="1" dirty="0"/>
              <a:t xml:space="preserve">** The percentage of confirmed requests is calculated from the ratio of all received requests, minus requests in progress and requests that are not possible, to completed confirmed requests.</a:t>
            </a:r>
          </a:p>
        </p:txBody>
      </p:sp>
      <p:graphicFrame>
        <p:nvGraphicFramePr>
          <p:cNvPr id="18" name="Таблица 17">
            <a:extLst>
              <a:ext uri="{FF2B5EF4-FFF2-40B4-BE49-F238E27FC236}">
                <a16:creationId xmlns:a16="http://schemas.microsoft.com/office/drawing/2014/main" id="{A77B9E41-9169-4768-8976-3C4B84054414}"/>
              </a:ext>
            </a:extLst>
          </p:cNvPr>
          <p:cNvGraphicFramePr>
            <a:graphicFrameLocks noGrp="1"/>
          </p:cNvGraphicFramePr>
          <p:nvPr>
            <p:extLst/>
          </p:nvPr>
        </p:nvGraphicFramePr>
        <p:xfrm>
          <a:off x="4051772" y="1420529"/>
          <a:ext cx="7590374" cy="3828746"/>
        </p:xfrm>
        <a:graphic>
          <a:graphicData uri="http://schemas.openxmlformats.org/drawingml/2006/table">
            <a:tbl>
              <a:tblPr>
                <a:tableStyleId>{5C22544A-7EE6-4342-B048-85BDC9FD1C3A}</a:tableStyleId>
              </a:tblPr>
              <a:tblGrid>
                <a:gridCol w="2494679">
                  <a:extLst>
                    <a:ext uri="{9D8B030D-6E8A-4147-A177-3AD203B41FA5}">
                      <a16:colId xmlns:a16="http://schemas.microsoft.com/office/drawing/2014/main" val="3118248811"/>
                    </a:ext>
                  </a:extLst>
                </a:gridCol>
                <a:gridCol w="40689">
                  <a:extLst>
                    <a:ext uri="{9D8B030D-6E8A-4147-A177-3AD203B41FA5}">
                      <a16:colId xmlns:a16="http://schemas.microsoft.com/office/drawing/2014/main" val="3035823698"/>
                    </a:ext>
                  </a:extLst>
                </a:gridCol>
                <a:gridCol w="842501">
                  <a:extLst>
                    <a:ext uri="{9D8B030D-6E8A-4147-A177-3AD203B41FA5}">
                      <a16:colId xmlns:a16="http://schemas.microsoft.com/office/drawing/2014/main" val="506539368"/>
                    </a:ext>
                  </a:extLst>
                </a:gridCol>
                <a:gridCol w="842501">
                  <a:extLst>
                    <a:ext uri="{9D8B030D-6E8A-4147-A177-3AD203B41FA5}">
                      <a16:colId xmlns:a16="http://schemas.microsoft.com/office/drawing/2014/main" val="2292488743"/>
                    </a:ext>
                  </a:extLst>
                </a:gridCol>
                <a:gridCol w="842501">
                  <a:extLst>
                    <a:ext uri="{9D8B030D-6E8A-4147-A177-3AD203B41FA5}">
                      <a16:colId xmlns:a16="http://schemas.microsoft.com/office/drawing/2014/main" val="2589756140"/>
                    </a:ext>
                  </a:extLst>
                </a:gridCol>
                <a:gridCol w="842501">
                  <a:extLst>
                    <a:ext uri="{9D8B030D-6E8A-4147-A177-3AD203B41FA5}">
                      <a16:colId xmlns:a16="http://schemas.microsoft.com/office/drawing/2014/main" val="692729715"/>
                    </a:ext>
                  </a:extLst>
                </a:gridCol>
                <a:gridCol w="842501">
                  <a:extLst>
                    <a:ext uri="{9D8B030D-6E8A-4147-A177-3AD203B41FA5}">
                      <a16:colId xmlns:a16="http://schemas.microsoft.com/office/drawing/2014/main" val="2124179573"/>
                    </a:ext>
                  </a:extLst>
                </a:gridCol>
                <a:gridCol w="842501">
                  <a:extLst>
                    <a:ext uri="{9D8B030D-6E8A-4147-A177-3AD203B41FA5}">
                      <a16:colId xmlns:a16="http://schemas.microsoft.com/office/drawing/2014/main" val="405359968"/>
                    </a:ext>
                  </a:extLst>
                </a:gridCol>
              </a:tblGrid>
              <a:tr h="160476">
                <a:tc gridSpan="2">
                  <a:txBody>
                    <a:bodyPr/>
                    <a:lstStyle/>
                    <a:p>
                      <a:pPr algn="ctr" fontAlgn="ctr"/>
                      <a:endParaRPr lang="ru-RU" sz="800" b="0" i="0" u="none" strike="noStrike" dirty="0">
                        <a:solidFill>
                          <a:schemeClr val="bg1"/>
                        </a:solidFill>
                        <a:effectLst/>
                        <a:latin typeface="Arial" panose="020B0604020202020204" pitchFamily="34" charset="0"/>
                      </a:endParaRPr>
                    </a:p>
                  </a:txBody>
                  <a:tcPr marL="6057" marR="6057" marT="605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ru-RU" sz="800" b="0" i="0" u="none" strike="noStrike" dirty="0">
                        <a:solidFill>
                          <a:schemeClr val="bg1"/>
                        </a:solidFill>
                        <a:effectLst/>
                        <a:latin typeface="Arial" panose="020B0604020202020204" pitchFamily="34" charset="0"/>
                      </a:endParaRPr>
                    </a:p>
                  </a:txBody>
                  <a:tcPr marL="6057" marR="6057" marT="6057"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fontAlgn="ctr"/>
                      <a:r>
                        <a:rPr lang="ru-RU" sz="800" b="1" u="none" strike="noStrike" baseline="0" dirty="0">
                          <a:solidFill>
                            <a:schemeClr val="tx1"/>
                          </a:solidFill>
                          <a:effectLst/>
                        </a:rPr>
                        <a:t xml:space="preserve">1-4 sq.  2025</a:t>
                      </a:r>
                      <a:endParaRPr lang="ru-RU" sz="800" b="1" i="0" u="none" strike="noStrike" dirty="0">
                        <a:solidFill>
                          <a:schemeClr val="tx1"/>
                        </a:solidFill>
                        <a:effectLst/>
                        <a:latin typeface="Arial" panose="020B0604020202020204" pitchFamily="34" charset="0"/>
                      </a:endParaRPr>
                    </a:p>
                  </a:txBody>
                  <a:tcPr marL="6057" marR="6057" marT="6057" marB="0" anchor="ctr">
                    <a:lnL w="12700" cap="flat" cmpd="sng" algn="ctr">
                      <a:no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hMerge="1">
                  <a:txBody>
                    <a:bodyPr/>
                    <a:lstStyle/>
                    <a:p>
                      <a:endParaRPr lang="ru-RU"/>
                    </a:p>
                  </a:txBody>
                  <a:tcPr/>
                </a:tc>
                <a:tc hMerge="1">
                  <a:txBody>
                    <a:bodyPr/>
                    <a:lstStyle/>
                    <a:p>
                      <a:endParaRPr lang="ru-RU"/>
                    </a:p>
                  </a:txBody>
                  <a:tcPr/>
                </a:tc>
                <a:tc hMerge="1">
                  <a:txBody>
                    <a:bodyPr/>
                    <a:lstStyle/>
                    <a:p>
                      <a:pPr algn="ctr" fontAlgn="ctr"/>
                      <a:endParaRPr lang="ru-RU" sz="800" b="0" i="0" u="none" strike="noStrike" dirty="0">
                        <a:solidFill>
                          <a:schemeClr val="bg1"/>
                        </a:solidFill>
                        <a:effectLst/>
                        <a:latin typeface="Arial" panose="020B0604020202020204" pitchFamily="34" charset="0"/>
                      </a:endParaRPr>
                    </a:p>
                  </a:txBody>
                  <a:tcPr marL="6057" marR="6057" marT="6057" marB="0" anchor="ctr">
                    <a:solidFill>
                      <a:schemeClr val="accent2"/>
                    </a:solidFill>
                  </a:tcPr>
                </a:tc>
                <a:tc hMerge="1">
                  <a:txBody>
                    <a:bodyPr/>
                    <a:lstStyle/>
                    <a:p>
                      <a:pPr algn="ctr" fontAlgn="ctr"/>
                      <a:endParaRPr lang="ru-RU" sz="800" b="0" i="0" u="none" strike="noStrike" dirty="0">
                        <a:solidFill>
                          <a:schemeClr val="bg1"/>
                        </a:solidFill>
                        <a:effectLst/>
                        <a:latin typeface="Arial" panose="020B0604020202020204" pitchFamily="34" charset="0"/>
                      </a:endParaRPr>
                    </a:p>
                  </a:txBody>
                  <a:tcPr marL="6057" marR="6057" marT="6057" marB="0" anchor="ctr">
                    <a:solidFill>
                      <a:schemeClr val="accent2"/>
                    </a:solidFill>
                  </a:tcPr>
                </a:tc>
                <a:tc>
                  <a:txBody>
                    <a:bodyPr/>
                    <a:lstStyle/>
                    <a:p>
                      <a:pPr algn="ctr" fontAlgn="ctr"/>
                      <a:r>
                        <a:rPr lang="ru-RU" sz="800" b="1" u="none" strike="noStrike" dirty="0">
                          <a:solidFill>
                            <a:schemeClr val="tx1"/>
                          </a:solidFill>
                          <a:effectLst/>
                        </a:rPr>
                        <a:t>2024</a:t>
                      </a:r>
                      <a:endParaRPr lang="ru-RU" sz="800" b="1" i="0" u="none" strike="noStrike" dirty="0">
                        <a:solidFill>
                          <a:schemeClr val="tx1"/>
                        </a:solidFill>
                        <a:effectLst/>
                        <a:latin typeface="Arial" panose="020B0604020202020204" pitchFamily="34" charset="0"/>
                      </a:endParaRPr>
                    </a:p>
                  </a:txBody>
                  <a:tcPr marL="6057" marR="6057" marT="6057" marB="0" anchor="ctr">
                    <a:lnL w="12700" cap="flat" cmpd="sng" algn="ctr">
                      <a:solidFill>
                        <a:schemeClr val="tx2">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793313488"/>
                  </a:ext>
                </a:extLst>
              </a:tr>
              <a:tr h="356914">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800" u="none" strike="noStrike" dirty="0">
                          <a:solidFill>
                            <a:schemeClr val="tx1"/>
                          </a:solidFill>
                          <a:effectLst/>
                        </a:rPr>
                        <a:t xml:space="preserve">Categories</a:t>
                      </a:r>
                      <a:endParaRPr lang="ru-RU" sz="800" b="0" i="0" u="none" strike="noStrike" dirty="0">
                        <a:solidFill>
                          <a:schemeClr val="tx1"/>
                        </a:solidFill>
                        <a:effectLst/>
                        <a:latin typeface="Arial" panose="020B0604020202020204" pitchFamily="34" charset="0"/>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rowSpan="14">
                  <a:txBody>
                    <a:bodyPr/>
                    <a:lstStyle/>
                    <a:p>
                      <a:pPr algn="ctr" fontAlgn="ctr"/>
                      <a:endParaRPr lang="ru-RU" sz="800" b="0" i="0" u="none" strike="noStrike" dirty="0">
                        <a:solidFill>
                          <a:schemeClr val="bg1"/>
                        </a:solidFill>
                        <a:effectLst/>
                        <a:latin typeface="Arial" panose="020B0604020202020204" pitchFamily="34" charset="0"/>
                      </a:endParaRPr>
                    </a:p>
                  </a:txBody>
                  <a:tcPr marL="6057" marR="6057" marT="605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ru-RU" sz="800" u="none" strike="noStrike" dirty="0">
                          <a:solidFill>
                            <a:schemeClr val="tx1"/>
                          </a:solidFill>
                          <a:effectLst/>
                        </a:rPr>
                        <a:t xml:space="preserve">Total</a:t>
                      </a:r>
                      <a:endParaRPr lang="ru-RU" sz="800" b="0" i="0" u="none" strike="noStrike" dirty="0">
                        <a:solidFill>
                          <a:schemeClr val="tx1"/>
                        </a:solidFill>
                        <a:effectLst/>
                        <a:latin typeface="Arial" panose="020B0604020202020204" pitchFamily="34" charset="0"/>
                      </a:endParaRPr>
                    </a:p>
                  </a:txBody>
                  <a:tcPr marL="6057" marR="6057" marT="6057" marB="0" anchor="ctr">
                    <a:lnL w="12700" cap="flat" cmpd="sng" algn="ctr">
                      <a:no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ctr"/>
                      <a:r>
                        <a:rPr lang="ru-RU" sz="800" u="none" strike="noStrike" dirty="0">
                          <a:solidFill>
                            <a:schemeClr val="tx1"/>
                          </a:solidFill>
                          <a:effectLst/>
                        </a:rPr>
                        <a:t xml:space="preserve">Confirmed</a:t>
                      </a:r>
                      <a:endParaRPr lang="ru-RU" sz="800" b="0" i="0" u="none" strike="noStrike" dirty="0">
                        <a:solidFill>
                          <a:schemeClr val="tx1"/>
                        </a:solidFill>
                        <a:effectLst/>
                        <a:latin typeface="Arial" panose="020B0604020202020204" pitchFamily="34" charset="0"/>
                      </a:endParaRPr>
                    </a:p>
                  </a:txBody>
                  <a:tcPr marL="6057" marR="6057" marT="6057"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ctr"/>
                      <a:r>
                        <a:rPr lang="ru-RU" sz="800" b="0" i="0" u="none" strike="noStrike" dirty="0">
                          <a:solidFill>
                            <a:schemeClr val="tx1"/>
                          </a:solidFill>
                          <a:effectLst/>
                          <a:latin typeface="+mn-lt"/>
                        </a:rPr>
                        <a:t xml:space="preserve">Not confirmed</a:t>
                      </a:r>
                      <a:r>
                        <a:rPr lang="ru-RU" sz="800" b="0" i="0" u="none" strike="noStrike" baseline="0" dirty="0">
                          <a:solidFill>
                            <a:schemeClr val="tx1"/>
                          </a:solidFill>
                          <a:effectLst/>
                          <a:latin typeface="+mn-lt"/>
                        </a:rPr>
                        <a:t/>
                      </a:r>
                      <a:endParaRPr lang="ru-RU" sz="800" b="0" i="0" u="none" strike="noStrike" dirty="0">
                        <a:solidFill>
                          <a:schemeClr val="tx1"/>
                        </a:solidFill>
                        <a:effectLst/>
                        <a:latin typeface="Arial" panose="020B0604020202020204" pitchFamily="34" charset="0"/>
                      </a:endParaRPr>
                    </a:p>
                  </a:txBody>
                  <a:tcPr marL="6057" marR="6057" marT="6057"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ctr"/>
                      <a:r>
                        <a:rPr lang="en-US" sz="800" b="0" i="0" u="none" strike="noStrike" dirty="0">
                          <a:solidFill>
                            <a:schemeClr val="tx1"/>
                          </a:solidFill>
                          <a:effectLst/>
                          <a:latin typeface="Arial" panose="020B0604020202020204" pitchFamily="34" charset="0"/>
                        </a:rPr>
                        <a:t xml:space="preserve">N/A*</a:t>
                      </a:r>
                      <a:r>
                        <a:rPr lang="ru-RU" sz="800" b="0" i="0" u="none" strike="noStrike" dirty="0">
                          <a:solidFill>
                            <a:schemeClr val="tx1"/>
                          </a:solidFill>
                          <a:effectLst/>
                          <a:latin typeface="Arial" panose="020B0604020202020204" pitchFamily="34" charset="0"/>
                        </a:rPr>
                        <a:t/>
                      </a:r>
                    </a:p>
                  </a:txBody>
                  <a:tcPr marL="6057" marR="6057" marT="6057"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 xml:space="preserve">In progress</a:t>
                      </a:r>
                      <a:r>
                        <a:rPr lang="ru-RU" sz="800" b="0" i="0" u="none" strike="noStrike" baseline="0" dirty="0">
                          <a:solidFill>
                            <a:schemeClr val="tx1"/>
                          </a:solidFill>
                          <a:effectLst/>
                          <a:latin typeface="Arial" panose="020B0604020202020204" pitchFamily="34" charset="0"/>
                        </a:rPr>
                        <a:t/>
                      </a:r>
                      <a:endParaRPr lang="ru-RU" sz="800" b="0" i="0" u="none" strike="noStrike" dirty="0">
                        <a:solidFill>
                          <a:schemeClr val="tx1"/>
                        </a:solidFill>
                        <a:effectLst/>
                        <a:latin typeface="Arial" panose="020B0604020202020204" pitchFamily="34" charset="0"/>
                      </a:endParaRPr>
                    </a:p>
                  </a:txBody>
                  <a:tcPr marL="6057" marR="6057" marT="6057"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ctr"/>
                      <a:r>
                        <a:rPr lang="ru-RU" sz="800" u="none" strike="noStrike" dirty="0">
                          <a:solidFill>
                            <a:schemeClr val="tx1"/>
                          </a:solidFill>
                          <a:effectLst/>
                        </a:rPr>
                        <a:t xml:space="preserve">Confirmed in the reporting period</a:t>
                      </a:r>
                      <a:endParaRPr lang="ru-RU" sz="800" b="0" i="0" u="none" strike="noStrike" dirty="0">
                        <a:solidFill>
                          <a:schemeClr val="tx1"/>
                        </a:solidFill>
                        <a:effectLst/>
                        <a:latin typeface="Arial" panose="020B0604020202020204" pitchFamily="34" charset="0"/>
                      </a:endParaRPr>
                    </a:p>
                  </a:txBody>
                  <a:tcPr marL="6057" marR="6057" marT="6057" marB="0" anchor="ctr">
                    <a:lnL w="12700" cap="flat" cmpd="sng" algn="ctr">
                      <a:solidFill>
                        <a:schemeClr val="tx2">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40967722"/>
                  </a:ext>
                </a:extLst>
              </a:tr>
              <a:tr h="230930">
                <a:tc>
                  <a:txBody>
                    <a:bodyPr/>
                    <a:lstStyle/>
                    <a:p>
                      <a:pPr algn="l" fontAlgn="ctr"/>
                      <a:r>
                        <a:rPr lang="ru-RU" sz="800" b="1" u="none" strike="noStrike" dirty="0">
                          <a:effectLst/>
                        </a:rPr>
                        <a:t xml:space="preserve">Business integrity</a:t>
                      </a:r>
                      <a:endParaRPr lang="en-US" sz="800" b="1" i="0" u="none" strike="noStrike" dirty="0">
                        <a:solidFill>
                          <a:srgbClr val="000000"/>
                        </a:solidFill>
                        <a:effectLst/>
                        <a:latin typeface="Arial" panose="020B0604020202020204" pitchFamily="34" charset="0"/>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1" i="0" u="none" strike="noStrike" dirty="0">
                        <a:solidFill>
                          <a:srgbClr val="000000"/>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83</a:t>
                      </a:r>
                      <a:endParaRPr lang="en-US" sz="800" b="1" kern="1200" baseline="0" dirty="0">
                        <a:solidFill>
                          <a:schemeClr val="tx1"/>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43</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32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8</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1" i="0" u="none" strike="noStrike" dirty="0">
                          <a:solidFill>
                            <a:schemeClr val="tx1"/>
                          </a:solidFill>
                          <a:effectLst/>
                          <a:latin typeface="Arial" panose="020B0604020202020204" pitchFamily="34" charset="0"/>
                        </a:rPr>
                        <a:t>9</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154658"/>
                  </a:ext>
                </a:extLst>
              </a:tr>
              <a:tr h="358887">
                <a:tc>
                  <a:txBody>
                    <a:bodyPr/>
                    <a:lstStyle/>
                    <a:p>
                      <a:pPr lvl="2" algn="l" fontAlgn="ctr"/>
                      <a:r>
                        <a:rPr lang="ru-RU" sz="800" b="0" i="0" u="none" strike="noStrike" dirty="0">
                          <a:solidFill>
                            <a:schemeClr val="tx1">
                              <a:lumMod val="60000"/>
                              <a:lumOff val="40000"/>
                            </a:schemeClr>
                          </a:solidFill>
                          <a:effectLst/>
                          <a:latin typeface="Arial" panose="020B0604020202020204" pitchFamily="34" charset="0"/>
                        </a:rPr>
                        <a:t xml:space="preserve">Purchasing/Supplier Relations</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0" i="0" u="none" strike="noStrike" dirty="0">
                        <a:solidFill>
                          <a:schemeClr val="tx1">
                            <a:lumMod val="60000"/>
                            <a:lumOff val="40000"/>
                          </a:schemeClr>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bg2">
                              <a:lumMod val="50000"/>
                            </a:schemeClr>
                          </a:solidFill>
                          <a:latin typeface="+mn-lt"/>
                          <a:ea typeface="+mn-ea"/>
                          <a:cs typeface="+mn-cs"/>
                        </a:rPr>
                        <a:t>67</a:t>
                      </a:r>
                      <a:endParaRPr lang="en-US" sz="800" kern="1200" baseline="0" dirty="0">
                        <a:solidFill>
                          <a:schemeClr val="bg2">
                            <a:lumMod val="50000"/>
                          </a:schemeClr>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32</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0" kern="1200" baseline="0" dirty="0">
                          <a:solidFill>
                            <a:schemeClr val="tx1"/>
                          </a:solidFill>
                          <a:latin typeface="+mn-lt"/>
                          <a:ea typeface="+mn-ea"/>
                          <a:cs typeface="+mn-cs"/>
                        </a:rPr>
                        <a:t>28</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7</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8</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5728310"/>
                  </a:ext>
                </a:extLst>
              </a:tr>
              <a:tr h="230930">
                <a:tc>
                  <a:txBody>
                    <a:bodyPr/>
                    <a:lstStyle/>
                    <a:p>
                      <a:pPr marL="583170" marR="0" lvl="2" indent="0" algn="l" defTabSz="583170" rtl="0" eaLnBrk="1" fontAlgn="ctr" latinLnBrk="0" hangingPunct="1">
                        <a:lnSpc>
                          <a:spcPct val="100000"/>
                        </a:lnSpc>
                        <a:spcBef>
                          <a:spcPts val="0"/>
                        </a:spcBef>
                        <a:spcAft>
                          <a:spcPts val="0"/>
                        </a:spcAft>
                        <a:buClrTx/>
                        <a:buSzTx/>
                        <a:buFontTx/>
                        <a:buNone/>
                        <a:tabLst/>
                        <a:defRPr/>
                      </a:pPr>
                      <a:r>
                        <a:rPr lang="ru-RU" sz="800" b="0" i="0" u="none" strike="noStrike" dirty="0">
                          <a:solidFill>
                            <a:schemeClr val="tx1">
                              <a:lumMod val="60000"/>
                              <a:lumOff val="40000"/>
                            </a:schemeClr>
                          </a:solidFill>
                          <a:effectLst/>
                          <a:latin typeface="Arial" panose="020B0604020202020204" pitchFamily="34" charset="0"/>
                        </a:rPr>
                        <a:t xml:space="preserve">Conflict of interest</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0" i="0" u="none" strike="noStrike" dirty="0">
                        <a:solidFill>
                          <a:schemeClr val="tx1">
                            <a:lumMod val="60000"/>
                            <a:lumOff val="40000"/>
                          </a:schemeClr>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bg2">
                              <a:lumMod val="50000"/>
                            </a:schemeClr>
                          </a:solidFill>
                          <a:latin typeface="+mn-lt"/>
                          <a:ea typeface="+mn-ea"/>
                          <a:cs typeface="+mn-cs"/>
                        </a:rPr>
                        <a:t>11</a:t>
                      </a:r>
                      <a:endParaRPr lang="en-US" sz="800" kern="1200" baseline="0" dirty="0">
                        <a:solidFill>
                          <a:schemeClr val="bg2">
                            <a:lumMod val="50000"/>
                          </a:schemeClr>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10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0" kern="1200" baseline="0" dirty="0">
                          <a:solidFill>
                            <a:schemeClr val="tx1"/>
                          </a:solidFill>
                          <a:latin typeface="+mn-lt"/>
                          <a:ea typeface="+mn-ea"/>
                          <a:cs typeface="+mn-cs"/>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0</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3492884"/>
                  </a:ext>
                </a:extLst>
              </a:tr>
              <a:tr h="230930">
                <a:tc>
                  <a:txBody>
                    <a:bodyPr/>
                    <a:lstStyle/>
                    <a:p>
                      <a:pPr marL="583170" marR="0" lvl="2" indent="0" algn="l" defTabSz="583170" rtl="0" eaLnBrk="1" fontAlgn="ctr" latinLnBrk="0" hangingPunct="1">
                        <a:lnSpc>
                          <a:spcPct val="100000"/>
                        </a:lnSpc>
                        <a:spcBef>
                          <a:spcPts val="0"/>
                        </a:spcBef>
                        <a:spcAft>
                          <a:spcPts val="0"/>
                        </a:spcAft>
                        <a:buClrTx/>
                        <a:buSzTx/>
                        <a:buFontTx/>
                        <a:buNone/>
                        <a:tabLst/>
                        <a:defRPr/>
                      </a:pPr>
                      <a:r>
                        <a:rPr lang="ru-RU" sz="800" b="0" i="0" u="none" strike="noStrike" dirty="0">
                          <a:solidFill>
                            <a:schemeClr val="tx1">
                              <a:lumMod val="60000"/>
                              <a:lumOff val="40000"/>
                            </a:schemeClr>
                          </a:solidFill>
                          <a:effectLst/>
                          <a:latin typeface="Arial" panose="020B0604020202020204" pitchFamily="34" charset="0"/>
                        </a:rPr>
                        <a:t xml:space="preserve">Sales/Customer Relations</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0" i="0" u="none" strike="noStrike" dirty="0">
                        <a:solidFill>
                          <a:schemeClr val="tx1">
                            <a:lumMod val="60000"/>
                            <a:lumOff val="40000"/>
                          </a:schemeClr>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bg2">
                              <a:lumMod val="50000"/>
                            </a:schemeClr>
                          </a:solidFill>
                          <a:latin typeface="+mn-lt"/>
                          <a:ea typeface="+mn-ea"/>
                          <a:cs typeface="+mn-cs"/>
                        </a:rPr>
                        <a:t>4</a:t>
                      </a:r>
                      <a:endParaRPr lang="en-US" sz="800" kern="1200" baseline="0" dirty="0">
                        <a:solidFill>
                          <a:schemeClr val="bg2">
                            <a:lumMod val="50000"/>
                          </a:schemeClr>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1</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0" kern="1200" baseline="0" dirty="0">
                          <a:solidFill>
                            <a:schemeClr val="tx1"/>
                          </a:solidFill>
                          <a:latin typeface="+mn-lt"/>
                          <a:ea typeface="+mn-ea"/>
                          <a:cs typeface="+mn-cs"/>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1</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1</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9759557"/>
                  </a:ext>
                </a:extLst>
              </a:tr>
              <a:tr h="303181">
                <a:tc>
                  <a:txBody>
                    <a:bodyPr/>
                    <a:lstStyle/>
                    <a:p>
                      <a:pPr marL="583170" marR="0" lvl="2" indent="0" algn="l" defTabSz="583170" rtl="0" eaLnBrk="1" fontAlgn="ctr" latinLnBrk="0" hangingPunct="1">
                        <a:lnSpc>
                          <a:spcPct val="100000"/>
                        </a:lnSpc>
                        <a:spcBef>
                          <a:spcPts val="0"/>
                        </a:spcBef>
                        <a:spcAft>
                          <a:spcPts val="0"/>
                        </a:spcAft>
                        <a:buClrTx/>
                        <a:buSzTx/>
                        <a:buFontTx/>
                        <a:buNone/>
                        <a:tabLst/>
                        <a:defRPr/>
                      </a:pPr>
                      <a:r>
                        <a:rPr lang="ru-RU" sz="800" b="0" i="0" u="none" strike="noStrike" dirty="0">
                          <a:solidFill>
                            <a:schemeClr val="tx1">
                              <a:lumMod val="60000"/>
                              <a:lumOff val="40000"/>
                            </a:schemeClr>
                          </a:solidFill>
                          <a:effectLst/>
                          <a:latin typeface="Arial" panose="020B0604020202020204" pitchFamily="34" charset="0"/>
                        </a:rPr>
                        <a:t xml:space="preserve">Personal data protection/IT security</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pPr marL="0" algn="ctr" defTabSz="583170" rtl="0" eaLnBrk="1" fontAlgn="b" latinLnBrk="0" hangingPunct="1"/>
                      <a:r>
                        <a:rPr lang="ru-RU" sz="800" kern="1200" baseline="0" dirty="0">
                          <a:solidFill>
                            <a:schemeClr val="bg2">
                              <a:lumMod val="50000"/>
                            </a:schemeClr>
                          </a:solidFill>
                          <a:latin typeface="+mn-lt"/>
                          <a:ea typeface="+mn-ea"/>
                          <a:cs typeface="+mn-cs"/>
                        </a:rPr>
                        <a:t>1</a:t>
                      </a:r>
                      <a:endParaRPr lang="en-US" sz="800" kern="1200" baseline="0" dirty="0">
                        <a:solidFill>
                          <a:schemeClr val="bg2">
                            <a:lumMod val="50000"/>
                          </a:schemeClr>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0" kern="1200" baseline="0" dirty="0">
                          <a:solidFill>
                            <a:schemeClr val="tx1"/>
                          </a:solidFill>
                          <a:latin typeface="+mn-lt"/>
                          <a:ea typeface="+mn-ea"/>
                          <a:cs typeface="+mn-cs"/>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0</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5937547"/>
                  </a:ext>
                </a:extLst>
              </a:tr>
              <a:tr h="230930">
                <a:tc>
                  <a:txBody>
                    <a:bodyPr/>
                    <a:lstStyle/>
                    <a:p>
                      <a:pPr algn="l" fontAlgn="ctr"/>
                      <a:r>
                        <a:rPr lang="ru-RU" sz="800" b="1" u="none" strike="noStrike" dirty="0">
                          <a:effectLst/>
                        </a:rPr>
                        <a:t xml:space="preserve">Sustainability</a:t>
                      </a:r>
                      <a:endParaRPr lang="en-US" sz="800" b="1" i="0" u="none" strike="noStrike" dirty="0">
                        <a:solidFill>
                          <a:srgbClr val="000000"/>
                        </a:solidFill>
                        <a:effectLst/>
                        <a:latin typeface="Arial" panose="020B0604020202020204" pitchFamily="34" charset="0"/>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1" i="0" u="none" strike="noStrike" dirty="0">
                        <a:solidFill>
                          <a:srgbClr val="000000"/>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64</a:t>
                      </a:r>
                      <a:endParaRPr lang="en-US" sz="800" b="1" kern="1200" baseline="0" dirty="0">
                        <a:solidFill>
                          <a:schemeClr val="tx1"/>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22</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23</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10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9</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1" i="0" u="none" strike="noStrike" dirty="0">
                          <a:solidFill>
                            <a:schemeClr val="tx1"/>
                          </a:solidFill>
                          <a:effectLst/>
                          <a:latin typeface="Arial" panose="020B0604020202020204" pitchFamily="34" charset="0"/>
                        </a:rPr>
                        <a:t>3</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7824775"/>
                  </a:ext>
                </a:extLst>
              </a:tr>
              <a:tr h="230930">
                <a:tc>
                  <a:txBody>
                    <a:bodyPr/>
                    <a:lstStyle/>
                    <a:p>
                      <a:pPr marL="583170" lvl="2" algn="l" defTabSz="583170" rtl="0" eaLnBrk="1" fontAlgn="ctr" latinLnBrk="0" hangingPunct="1"/>
                      <a:r>
                        <a:rPr lang="ru-RU" sz="800" b="0" i="0" u="none" strike="noStrike" kern="1200" dirty="0">
                          <a:solidFill>
                            <a:schemeClr val="tx1">
                              <a:lumMod val="60000"/>
                              <a:lumOff val="40000"/>
                            </a:schemeClr>
                          </a:solidFill>
                          <a:effectLst/>
                          <a:latin typeface="Arial" panose="020B0604020202020204" pitchFamily="34" charset="0"/>
                          <a:ea typeface="+mn-ea"/>
                          <a:cs typeface="+mn-cs"/>
                        </a:rPr>
                        <a:t xml:space="preserve">Social - HR</a:t>
                      </a:r>
                      <a:r>
                        <a:rPr lang="en-US" sz="800" b="0" i="0" u="none" strike="noStrike" kern="1200" dirty="0">
                          <a:solidFill>
                            <a:schemeClr val="tx1">
                              <a:lumMod val="60000"/>
                              <a:lumOff val="40000"/>
                            </a:schemeClr>
                          </a:solidFill>
                          <a:effectLst/>
                          <a:latin typeface="Arial" panose="020B0604020202020204" pitchFamily="34" charset="0"/>
                          <a:ea typeface="+mn-ea"/>
                          <a:cs typeface="+mn-cs"/>
                        </a:rPr>
                        <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0" i="0" u="none" strike="noStrike" dirty="0">
                        <a:solidFill>
                          <a:schemeClr val="tx1">
                            <a:lumMod val="60000"/>
                            <a:lumOff val="40000"/>
                          </a:schemeClr>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bg2">
                              <a:lumMod val="50000"/>
                            </a:schemeClr>
                          </a:solidFill>
                          <a:latin typeface="+mn-lt"/>
                          <a:ea typeface="+mn-ea"/>
                          <a:cs typeface="+mn-cs"/>
                        </a:rPr>
                        <a:t>55</a:t>
                      </a:r>
                      <a:endParaRPr lang="en-US" sz="800" kern="1200" baseline="0" dirty="0">
                        <a:solidFill>
                          <a:schemeClr val="bg2">
                            <a:lumMod val="50000"/>
                          </a:schemeClr>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15</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0" kern="1200" baseline="0" dirty="0">
                          <a:solidFill>
                            <a:schemeClr val="tx1"/>
                          </a:solidFill>
                          <a:latin typeface="+mn-lt"/>
                          <a:ea typeface="+mn-ea"/>
                          <a:cs typeface="+mn-cs"/>
                        </a:rPr>
                        <a:t>22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10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8</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3</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5556508"/>
                  </a:ext>
                </a:extLst>
              </a:tr>
              <a:tr h="230930">
                <a:tc>
                  <a:txBody>
                    <a:bodyPr/>
                    <a:lstStyle/>
                    <a:p>
                      <a:pPr marL="583170" marR="0" lvl="2" indent="0" algn="l" defTabSz="583170" rtl="0" eaLnBrk="1" fontAlgn="ctr" latinLnBrk="0" hangingPunct="1">
                        <a:lnSpc>
                          <a:spcPct val="100000"/>
                        </a:lnSpc>
                        <a:spcBef>
                          <a:spcPts val="0"/>
                        </a:spcBef>
                        <a:spcAft>
                          <a:spcPts val="0"/>
                        </a:spcAft>
                        <a:buClrTx/>
                        <a:buSzTx/>
                        <a:buFontTx/>
                        <a:buNone/>
                        <a:tabLst/>
                        <a:defRPr/>
                      </a:pPr>
                      <a:r>
                        <a:rPr lang="ru-RU" sz="800" b="0" i="0" u="none" strike="noStrike" kern="1200" dirty="0">
                          <a:solidFill>
                            <a:schemeClr val="tx1">
                              <a:lumMod val="60000"/>
                              <a:lumOff val="40000"/>
                            </a:schemeClr>
                          </a:solidFill>
                          <a:effectLst/>
                          <a:latin typeface="Arial" panose="020B0604020202020204" pitchFamily="34" charset="0"/>
                          <a:ea typeface="+mn-ea"/>
                          <a:cs typeface="+mn-cs"/>
                        </a:rPr>
                        <a:t xml:space="preserve">Social – HSE</a:t>
                      </a:r>
                      <a:r>
                        <a:rPr lang="en-US" sz="800" b="0" i="0" u="none" strike="noStrike" kern="1200" dirty="0">
                          <a:solidFill>
                            <a:schemeClr val="tx1">
                              <a:lumMod val="60000"/>
                              <a:lumOff val="40000"/>
                            </a:schemeClr>
                          </a:solidFill>
                          <a:effectLst/>
                          <a:latin typeface="Arial" panose="020B0604020202020204" pitchFamily="34" charset="0"/>
                          <a:ea typeface="+mn-ea"/>
                          <a:cs typeface="+mn-cs"/>
                        </a:rPr>
                        <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pPr marL="0" algn="ctr" defTabSz="583170" rtl="0" eaLnBrk="1" fontAlgn="b" latinLnBrk="0" hangingPunct="1"/>
                      <a:r>
                        <a:rPr lang="ru-RU" sz="800" kern="1200" baseline="0" dirty="0">
                          <a:solidFill>
                            <a:schemeClr val="bg2">
                              <a:lumMod val="50000"/>
                            </a:schemeClr>
                          </a:solidFill>
                          <a:latin typeface="+mn-lt"/>
                          <a:ea typeface="+mn-ea"/>
                          <a:cs typeface="+mn-cs"/>
                        </a:rPr>
                        <a:t>9</a:t>
                      </a:r>
                      <a:endParaRPr lang="en-US" sz="800" kern="1200" baseline="0" dirty="0">
                        <a:solidFill>
                          <a:schemeClr val="bg2">
                            <a:lumMod val="50000"/>
                          </a:schemeClr>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7</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0" kern="1200" baseline="0" dirty="0">
                          <a:solidFill>
                            <a:schemeClr val="tx1"/>
                          </a:solidFill>
                          <a:latin typeface="+mn-lt"/>
                          <a:ea typeface="+mn-ea"/>
                          <a:cs typeface="+mn-cs"/>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1</a:t>
                      </a: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0</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3598184"/>
                  </a:ext>
                </a:extLst>
              </a:tr>
              <a:tr h="230930">
                <a:tc>
                  <a:txBody>
                    <a:bodyPr/>
                    <a:lstStyle/>
                    <a:p>
                      <a:pPr marL="0" algn="l" defTabSz="583170" rtl="0" eaLnBrk="1" fontAlgn="ctr" latinLnBrk="0" hangingPunct="1"/>
                      <a:r>
                        <a:rPr lang="ru-RU" sz="800" b="1" u="none" strike="noStrike" kern="1200" dirty="0">
                          <a:solidFill>
                            <a:schemeClr val="dk1"/>
                          </a:solidFill>
                          <a:effectLst/>
                          <a:latin typeface="+mn-lt"/>
                          <a:ea typeface="+mn-ea"/>
                          <a:cs typeface="+mn-cs"/>
                        </a:rPr>
                        <a:t xml:space="preserve">Fraud, corruption and AML/CFT</a:t>
                      </a:r>
                      <a:endParaRPr lang="en-US" sz="800" b="1" u="none" strike="noStrike" kern="1200" dirty="0">
                        <a:solidFill>
                          <a:schemeClr val="dk1"/>
                        </a:solidFill>
                        <a:effectLst/>
                        <a:latin typeface="+mn-lt"/>
                        <a:ea typeface="+mn-ea"/>
                        <a:cs typeface="+mn-cs"/>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0" i="0" u="none" strike="noStrike" dirty="0">
                        <a:solidFill>
                          <a:srgbClr val="000000"/>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50</a:t>
                      </a:r>
                      <a:endParaRPr lang="en-US" sz="800" b="1" kern="1200" baseline="0" dirty="0">
                        <a:solidFill>
                          <a:schemeClr val="tx1"/>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30</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15</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0</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5</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1" i="0" u="none" strike="noStrike" dirty="0">
                          <a:solidFill>
                            <a:schemeClr val="tx1"/>
                          </a:solidFill>
                          <a:effectLst/>
                          <a:latin typeface="Arial" panose="020B0604020202020204" pitchFamily="34" charset="0"/>
                        </a:rPr>
                        <a:t>2</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9263198"/>
                  </a:ext>
                </a:extLst>
              </a:tr>
              <a:tr h="230930">
                <a:tc>
                  <a:txBody>
                    <a:bodyPr/>
                    <a:lstStyle/>
                    <a:p>
                      <a:pPr marL="583170" lvl="2" algn="l" defTabSz="583170" rtl="0" eaLnBrk="1" fontAlgn="ctr" latinLnBrk="0" hangingPunct="1"/>
                      <a:r>
                        <a:rPr lang="ru-RU" sz="800" u="none" strike="noStrike" kern="1200" dirty="0">
                          <a:solidFill>
                            <a:schemeClr val="tx1">
                              <a:lumMod val="60000"/>
                              <a:lumOff val="40000"/>
                            </a:schemeClr>
                          </a:solidFill>
                          <a:effectLst/>
                          <a:latin typeface="+mn-lt"/>
                          <a:ea typeface="+mn-ea"/>
                          <a:cs typeface="+mn-cs"/>
                        </a:rPr>
                        <a:t xml:space="preserve">Risks / Fraud facts</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0" i="0" u="none" strike="noStrike" dirty="0">
                        <a:solidFill>
                          <a:schemeClr val="tx1">
                            <a:lumMod val="60000"/>
                            <a:lumOff val="40000"/>
                          </a:schemeClr>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bg2">
                              <a:lumMod val="50000"/>
                            </a:schemeClr>
                          </a:solidFill>
                          <a:latin typeface="+mn-lt"/>
                          <a:ea typeface="+mn-ea"/>
                          <a:cs typeface="+mn-cs"/>
                        </a:rPr>
                        <a:t>48</a:t>
                      </a:r>
                      <a:endParaRPr lang="en-US" sz="800" kern="1200" baseline="0" dirty="0">
                        <a:solidFill>
                          <a:schemeClr val="bg2">
                            <a:lumMod val="50000"/>
                          </a:schemeClr>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30</a:t>
                      </a:r>
                      <a:endParaRPr lang="en-US" sz="800"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0" kern="1200" baseline="0" dirty="0">
                          <a:solidFill>
                            <a:schemeClr val="tx1"/>
                          </a:solidFill>
                          <a:latin typeface="+mn-lt"/>
                          <a:ea typeface="+mn-ea"/>
                          <a:cs typeface="+mn-cs"/>
                        </a:rPr>
                        <a:t>14</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endParaRPr lang="en-US" sz="800"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4</a:t>
                      </a:r>
                      <a:endParaRPr lang="en-US" sz="800"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2</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3242053"/>
                  </a:ext>
                </a:extLst>
              </a:tr>
              <a:tr h="230930">
                <a:tc>
                  <a:txBody>
                    <a:bodyPr/>
                    <a:lstStyle/>
                    <a:p>
                      <a:pPr marL="583170" lvl="2" algn="l" defTabSz="583170" rtl="0" eaLnBrk="1" fontAlgn="ctr" latinLnBrk="0" hangingPunct="1"/>
                      <a:r>
                        <a:rPr lang="ru-RU" sz="800" u="none" strike="noStrike" kern="1200" dirty="0">
                          <a:solidFill>
                            <a:schemeClr val="tx1">
                              <a:lumMod val="60000"/>
                              <a:lumOff val="40000"/>
                            </a:schemeClr>
                          </a:solidFill>
                          <a:effectLst/>
                          <a:latin typeface="+mn-lt"/>
                          <a:ea typeface="+mn-ea"/>
                          <a:cs typeface="+mn-cs"/>
                        </a:rPr>
                        <a:t xml:space="preserve">Theft</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pPr marL="0" algn="ctr" defTabSz="583170" rtl="0" eaLnBrk="1" fontAlgn="b" latinLnBrk="0" hangingPunct="1"/>
                      <a:r>
                        <a:rPr lang="ru-RU" sz="800" kern="1200" baseline="0" dirty="0">
                          <a:solidFill>
                            <a:schemeClr val="bg2">
                              <a:lumMod val="50000"/>
                            </a:schemeClr>
                          </a:solidFill>
                          <a:latin typeface="+mn-lt"/>
                          <a:ea typeface="+mn-ea"/>
                          <a:cs typeface="+mn-cs"/>
                        </a:rPr>
                        <a:t>2</a:t>
                      </a:r>
                      <a:endParaRPr lang="en-US" sz="800" kern="1200" baseline="0" dirty="0">
                        <a:solidFill>
                          <a:schemeClr val="bg2">
                            <a:lumMod val="50000"/>
                          </a:schemeClr>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endParaRPr lang="en-US" sz="800"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0" kern="1200" baseline="0" dirty="0">
                          <a:solidFill>
                            <a:schemeClr val="tx1"/>
                          </a:solidFill>
                          <a:latin typeface="+mn-lt"/>
                          <a:ea typeface="+mn-ea"/>
                          <a:cs typeface="+mn-cs"/>
                        </a:rPr>
                        <a:t>1</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0</a:t>
                      </a:r>
                      <a:endParaRPr lang="en-US" sz="800"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kern="1200" baseline="0" dirty="0">
                          <a:solidFill>
                            <a:schemeClr val="tx1"/>
                          </a:solidFill>
                          <a:latin typeface="+mn-lt"/>
                          <a:ea typeface="+mn-ea"/>
                          <a:cs typeface="+mn-cs"/>
                        </a:rPr>
                        <a:t>1</a:t>
                      </a:r>
                      <a:endParaRPr lang="en-US" sz="800"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ru-RU" sz="800" b="0" i="0" u="none" strike="noStrike" dirty="0">
                          <a:solidFill>
                            <a:schemeClr val="tx1"/>
                          </a:solidFill>
                          <a:effectLst/>
                          <a:latin typeface="Arial" panose="020B0604020202020204" pitchFamily="34" charset="0"/>
                        </a:rPr>
                        <a:t>0</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9834840"/>
                  </a:ext>
                </a:extLst>
              </a:tr>
              <a:tr h="230930">
                <a:tc>
                  <a:txBody>
                    <a:bodyPr/>
                    <a:lstStyle/>
                    <a:p>
                      <a:pPr algn="l" fontAlgn="ctr"/>
                      <a:r>
                        <a:rPr lang="ru-RU" sz="800" b="1" u="none" strike="noStrike" dirty="0">
                          <a:effectLst/>
                        </a:rPr>
                        <a:t xml:space="preserve">General</a:t>
                      </a:r>
                      <a:endParaRPr lang="en-US" sz="800" b="1" i="0" u="none" strike="noStrike" dirty="0">
                        <a:solidFill>
                          <a:srgbClr val="000000"/>
                        </a:solidFill>
                        <a:effectLst/>
                        <a:latin typeface="Arial" panose="020B0604020202020204" pitchFamily="34" charset="0"/>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1" i="0" u="none" strike="noStrike" dirty="0">
                        <a:solidFill>
                          <a:srgbClr val="000000"/>
                        </a:solidFill>
                        <a:effectLst/>
                        <a:latin typeface="Arial" panose="020B0604020202020204" pitchFamily="34" charset="0"/>
                      </a:endParaRPr>
                    </a:p>
                  </a:txBody>
                  <a:tcPr marL="36000" marR="36000" marT="36000" marB="36000"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11</a:t>
                      </a:r>
                      <a:endParaRPr lang="en-US" sz="800" b="1" kern="1200" baseline="0" dirty="0">
                        <a:solidFill>
                          <a:schemeClr val="tx1"/>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7</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1</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1</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en-US" sz="800" b="1" i="0" u="none" strike="noStrike" dirty="0">
                          <a:solidFill>
                            <a:schemeClr val="tx1"/>
                          </a:solidFill>
                          <a:effectLst/>
                          <a:latin typeface="Arial" panose="020B0604020202020204" pitchFamily="34" charset="0"/>
                        </a:rPr>
                        <a:t>0</a:t>
                      </a:r>
                      <a:endParaRPr lang="ru-RU" sz="800" b="1" i="0" u="none" strike="noStrike" dirty="0">
                        <a:solidFill>
                          <a:schemeClr val="tx1"/>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7901955"/>
                  </a:ext>
                </a:extLst>
              </a:tr>
              <a:tr h="312426">
                <a:tc>
                  <a:txBody>
                    <a:bodyPr/>
                    <a:lstStyle/>
                    <a:p>
                      <a:pPr algn="l" fontAlgn="ctr"/>
                      <a:r>
                        <a:rPr lang="ru-RU" sz="800" b="1" u="none" strike="noStrike" dirty="0">
                          <a:effectLst/>
                        </a:rPr>
                        <a:t xml:space="preserve">Total</a:t>
                      </a:r>
                      <a:r>
                        <a:rPr lang="ru-RU" sz="800" u="none" strike="noStrike" dirty="0">
                          <a:effectLst/>
                        </a:rPr>
                        <a:t/>
                      </a:r>
                      <a:endParaRPr lang="en-US" sz="800" b="0" i="0" u="none" strike="noStrike" dirty="0">
                        <a:solidFill>
                          <a:srgbClr val="000000"/>
                        </a:solidFill>
                        <a:effectLst/>
                        <a:latin typeface="Arial" panose="020B0604020202020204" pitchFamily="34" charset="0"/>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ru-RU" sz="800" b="1" i="0" u="none" strike="noStrike" dirty="0">
                        <a:solidFill>
                          <a:srgbClr val="000000"/>
                        </a:solidFill>
                        <a:effectLst/>
                        <a:latin typeface="Arial" panose="020B0604020202020204" pitchFamily="34" charset="0"/>
                      </a:endParaRP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208</a:t>
                      </a:r>
                      <a:endParaRPr lang="en-US" sz="800" b="1" kern="1200" baseline="0" dirty="0">
                        <a:solidFill>
                          <a:schemeClr val="tx1"/>
                        </a:solidFill>
                        <a:latin typeface="+mn-lt"/>
                        <a:ea typeface="+mn-ea"/>
                        <a:cs typeface="+mn-cs"/>
                      </a:endParaRPr>
                    </a:p>
                  </a:txBody>
                  <a:tcPr marL="36000" marR="36000" marT="18001" marB="18001"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102</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72</a:t>
                      </a:r>
                    </a:p>
                  </a:txBody>
                  <a:tcPr marL="6350" marR="6350" marT="635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11</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r>
                        <a:rPr lang="ru-RU" sz="800" b="1" kern="1200" baseline="0" dirty="0">
                          <a:solidFill>
                            <a:schemeClr val="tx1"/>
                          </a:solidFill>
                          <a:latin typeface="+mn-lt"/>
                          <a:ea typeface="+mn-ea"/>
                          <a:cs typeface="+mn-cs"/>
                        </a:rPr>
                        <a:t>23</a:t>
                      </a:r>
                      <a:endParaRPr lang="en-US" sz="800" b="1" kern="1200" baseline="0" dirty="0">
                        <a:solidFill>
                          <a:schemeClr val="tx1"/>
                        </a:solidFill>
                        <a:latin typeface="+mn-lt"/>
                        <a:ea typeface="+mn-ea"/>
                        <a:cs typeface="+mn-cs"/>
                      </a:endParaRPr>
                    </a:p>
                  </a:txBody>
                  <a:tcPr marL="36000" marR="36000" marT="18001" marB="18001"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fontAlgn="ctr"/>
                      <a:r>
                        <a:rPr lang="en-US" sz="800" b="1" i="0" u="none" strike="noStrike" dirty="0">
                          <a:solidFill>
                            <a:schemeClr val="tx1"/>
                          </a:solidFill>
                          <a:effectLst/>
                          <a:latin typeface="Arial" panose="020B0604020202020204" pitchFamily="34" charset="0"/>
                        </a:rPr>
                        <a:t>1</a:t>
                      </a:r>
                      <a:r>
                        <a:rPr lang="ru-RU" sz="800" b="1" i="0" u="none" strike="noStrike" dirty="0">
                          <a:solidFill>
                            <a:schemeClr val="tx1"/>
                          </a:solidFill>
                          <a:effectLst/>
                          <a:latin typeface="Arial" panose="020B0604020202020204" pitchFamily="34" charset="0"/>
                        </a:rPr>
                        <a:t>4</a:t>
                      </a:r>
                    </a:p>
                  </a:txBody>
                  <a:tcPr marL="36000" marR="36000" marT="36000" marB="3600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3614824"/>
                  </a:ext>
                </a:extLst>
              </a:tr>
            </a:tbl>
          </a:graphicData>
        </a:graphic>
      </p:graphicFrame>
    </p:spTree>
    <p:extLst>
      <p:ext uri="{BB962C8B-B14F-4D97-AF65-F5344CB8AC3E}">
        <p14:creationId xmlns:p14="http://schemas.microsoft.com/office/powerpoint/2010/main" val="3554594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16" hidden="1">
            <a:extLst>
              <a:ext uri="{FF2B5EF4-FFF2-40B4-BE49-F238E27FC236}">
                <a16:creationId xmlns:a16="http://schemas.microsoft.com/office/drawing/2014/main" id="{CEEA46E2-6208-41BC-B553-6D7EA9228083}"/>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0732" name="think-cell Slide" r:id="rId5" imgW="473" imgH="473" progId="TCLayout.ActiveDocument.1">
                  <p:embed/>
                </p:oleObj>
              </mc:Choice>
              <mc:Fallback>
                <p:oleObj name="think-cell Slide" r:id="rId5" imgW="473" imgH="473" progId="TCLayout.ActiveDocument.1">
                  <p:embed/>
                  <p:pic>
                    <p:nvPicPr>
                      <p:cNvPr id="17" name="Object 16" hidden="1">
                        <a:extLst>
                          <a:ext uri="{FF2B5EF4-FFF2-40B4-BE49-F238E27FC236}">
                            <a16:creationId xmlns:a16="http://schemas.microsoft.com/office/drawing/2014/main" id="{CEEA46E2-6208-41BC-B553-6D7EA922808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BC99CEB-384C-4161-8992-FD3D9FEFC218}"/>
              </a:ext>
            </a:extLst>
          </p:cNvPr>
          <p:cNvSpPr>
            <a:spLocks noGrp="1"/>
          </p:cNvSpPr>
          <p:nvPr>
            <p:ph type="title"/>
          </p:nvPr>
        </p:nvSpPr>
        <p:spPr>
          <a:xfrm>
            <a:off x="317499" y="0"/>
            <a:ext cx="10584209" cy="704850"/>
          </a:xfrm>
        </p:spPr>
        <p:txBody>
          <a:bodyPr vert="horz" rtlCol="0"/>
          <a:lstStyle/>
          <a:p>
            <a:pPr rtl="0"/>
            <a:r>
              <a:rPr lang="ru" dirty="0" smtClean="0"/>
              <a:t>Дашборд </a:t>
            </a:r>
            <a:r>
              <a:rPr lang="ru" dirty="0"/>
              <a:t>за 1-4 кв. 2025 г.: </a:t>
            </a:r>
            <a:r>
              <a:rPr lang="en-US" dirty="0"/>
              <a:t/>
            </a:r>
            <a:br>
              <a:rPr lang="en-US" dirty="0"/>
            </a:br>
            <a:r>
              <a:rPr lang="ru" dirty="0">
                <a:solidFill>
                  <a:schemeClr val="tx1"/>
                </a:solidFill>
              </a:rPr>
              <a:t>Система информирования о нарушениях (WBS)</a:t>
            </a:r>
            <a:endParaRPr lang="en-US" dirty="0"/>
          </a:p>
        </p:txBody>
      </p:sp>
      <p:cxnSp>
        <p:nvCxnSpPr>
          <p:cNvPr id="5" name="Straight Connector 6">
            <a:extLst>
              <a:ext uri="{FF2B5EF4-FFF2-40B4-BE49-F238E27FC236}">
                <a16:creationId xmlns:a16="http://schemas.microsoft.com/office/drawing/2014/main" id="{60613FFB-4B50-4ACF-80DA-57547101D7F2}"/>
              </a:ext>
            </a:extLst>
          </p:cNvPr>
          <p:cNvCxnSpPr/>
          <p:nvPr/>
        </p:nvCxnSpPr>
        <p:spPr>
          <a:xfrm>
            <a:off x="321902" y="794101"/>
            <a:ext cx="11628000" cy="0"/>
          </a:xfrm>
          <a:prstGeom prst="line">
            <a:avLst/>
          </a:prstGeom>
          <a:noFill/>
          <a:ln w="952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graphicFrame>
        <p:nvGraphicFramePr>
          <p:cNvPr id="7" name="Table 14">
            <a:extLst>
              <a:ext uri="{FF2B5EF4-FFF2-40B4-BE49-F238E27FC236}">
                <a16:creationId xmlns:a16="http://schemas.microsoft.com/office/drawing/2014/main" id="{C2295CA5-E8CE-4882-958C-24A4354ABC17}"/>
              </a:ext>
            </a:extLst>
          </p:cNvPr>
          <p:cNvGraphicFramePr>
            <a:graphicFrameLocks noGrp="1"/>
          </p:cNvGraphicFramePr>
          <p:nvPr>
            <p:extLst>
              <p:ext uri="{D42A27DB-BD31-4B8C-83A1-F6EECF244321}">
                <p14:modId xmlns:p14="http://schemas.microsoft.com/office/powerpoint/2010/main" val="3044020454"/>
              </p:ext>
            </p:extLst>
          </p:nvPr>
        </p:nvGraphicFramePr>
        <p:xfrm>
          <a:off x="274445" y="794101"/>
          <a:ext cx="11840537" cy="5815977"/>
        </p:xfrm>
        <a:graphic>
          <a:graphicData uri="http://schemas.openxmlformats.org/drawingml/2006/table">
            <a:tbl>
              <a:tblPr>
                <a:tableStyleId>{5C22544A-7EE6-4342-B048-85BDC9FD1C3A}</a:tableStyleId>
              </a:tblPr>
              <a:tblGrid>
                <a:gridCol w="1929259">
                  <a:extLst>
                    <a:ext uri="{9D8B030D-6E8A-4147-A177-3AD203B41FA5}">
                      <a16:colId xmlns:a16="http://schemas.microsoft.com/office/drawing/2014/main" val="3877538008"/>
                    </a:ext>
                  </a:extLst>
                </a:gridCol>
                <a:gridCol w="97400">
                  <a:extLst>
                    <a:ext uri="{9D8B030D-6E8A-4147-A177-3AD203B41FA5}">
                      <a16:colId xmlns:a16="http://schemas.microsoft.com/office/drawing/2014/main" val="306709304"/>
                    </a:ext>
                  </a:extLst>
                </a:gridCol>
                <a:gridCol w="2037341">
                  <a:extLst>
                    <a:ext uri="{9D8B030D-6E8A-4147-A177-3AD203B41FA5}">
                      <a16:colId xmlns:a16="http://schemas.microsoft.com/office/drawing/2014/main" val="2467514866"/>
                    </a:ext>
                  </a:extLst>
                </a:gridCol>
                <a:gridCol w="1071033">
                  <a:extLst>
                    <a:ext uri="{9D8B030D-6E8A-4147-A177-3AD203B41FA5}">
                      <a16:colId xmlns:a16="http://schemas.microsoft.com/office/drawing/2014/main" val="1875128130"/>
                    </a:ext>
                  </a:extLst>
                </a:gridCol>
                <a:gridCol w="1055330">
                  <a:extLst>
                    <a:ext uri="{9D8B030D-6E8A-4147-A177-3AD203B41FA5}">
                      <a16:colId xmlns:a16="http://schemas.microsoft.com/office/drawing/2014/main" val="3227582414"/>
                    </a:ext>
                  </a:extLst>
                </a:gridCol>
                <a:gridCol w="5650174">
                  <a:extLst>
                    <a:ext uri="{9D8B030D-6E8A-4147-A177-3AD203B41FA5}">
                      <a16:colId xmlns:a16="http://schemas.microsoft.com/office/drawing/2014/main" val="550310924"/>
                    </a:ext>
                  </a:extLst>
                </a:gridCol>
              </a:tblGrid>
              <a:tr h="477525">
                <a:tc gridSpan="2">
                  <a:txBody>
                    <a:bodyPr/>
                    <a:lstStyle/>
                    <a:p>
                      <a:pPr marL="0" algn="l" defTabSz="583170" rtl="0" eaLnBrk="1" fontAlgn="t" latinLnBrk="0" hangingPunct="1"/>
                      <a:r>
                        <a:rPr lang="ru-RU" sz="1000" b="1" u="none" strike="noStrike" kern="1200" dirty="0">
                          <a:solidFill>
                            <a:schemeClr val="accent1"/>
                          </a:solidFill>
                          <a:effectLst/>
                          <a:latin typeface="+mn-lt"/>
                          <a:ea typeface="+mn-ea"/>
                          <a:cs typeface="+mn-cs"/>
                        </a:rPr>
                        <a:t xml:space="preserve">Hotline – information about calls for the period</a:t>
                      </a:r>
                      <a:r>
                        <a:rPr lang="en-US" sz="1000" b="1" u="none" strike="noStrike" kern="1200" dirty="0">
                          <a:solidFill>
                            <a:schemeClr val="accent1"/>
                          </a:solidFill>
                          <a:effectLst/>
                          <a:latin typeface="+mn-lt"/>
                          <a:ea typeface="+mn-ea"/>
                          <a:cs typeface="+mn-cs"/>
                        </a:rPr>
                        <a:t/>
                      </a:r>
                      <a:r>
                        <a:rPr lang="ru-RU" sz="1000" b="1" u="none" strike="noStrike" kern="1200" dirty="0">
                          <a:solidFill>
                            <a:schemeClr val="accent1"/>
                          </a:solidFill>
                          <a:effectLst/>
                          <a:latin typeface="+mn-lt"/>
                          <a:ea typeface="+mn-ea"/>
                          <a:cs typeface="+mn-cs"/>
                        </a:rPr>
                        <a:t/>
                      </a:r>
                    </a:p>
                    <a:p>
                      <a:pPr marL="0" algn="l" defTabSz="583170" rtl="0" eaLnBrk="1" fontAlgn="t" latinLnBrk="0" hangingPunct="1"/>
                      <a:r>
                        <a:rPr lang="ru-RU" sz="1000" b="1" u="none" strike="noStrike" kern="1200" dirty="0">
                          <a:solidFill>
                            <a:schemeClr val="accent1"/>
                          </a:solidFill>
                          <a:effectLst/>
                          <a:latin typeface="+mn-lt"/>
                          <a:ea typeface="+mn-ea"/>
                          <a:cs typeface="+mn-cs"/>
                        </a:rPr>
                        <a:t xml:space="preserve">1-4 sq. 2025</a:t>
                      </a:r>
                      <a:endParaRPr lang="en-US" sz="800" b="0" i="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583170" rtl="0" eaLnBrk="1" fontAlgn="t" latinLnBrk="0" hangingPunct="1"/>
                      <a:endParaRPr lang="en-US" sz="800" b="0" i="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r>
                        <a:rPr lang="ru-RU" sz="1000" b="1" u="none" strike="noStrike" kern="1200" dirty="0">
                          <a:solidFill>
                            <a:schemeClr val="accent1"/>
                          </a:solidFill>
                          <a:effectLst/>
                          <a:latin typeface="+mn-lt"/>
                          <a:ea typeface="+mn-ea"/>
                          <a:cs typeface="+mn-cs"/>
                        </a:rPr>
                        <a:t xml:space="preserve">Whistleblower System (WBS) – comparison of data for 1-4 quarters. 2025 with the same period for 2024.</a:t>
                      </a:r>
                      <a:r>
                        <a:rPr lang="en-US" sz="1000" b="1" u="none" strike="noStrike" kern="1200" dirty="0">
                          <a:solidFill>
                            <a:schemeClr val="accent1"/>
                          </a:solidFill>
                          <a:effectLst/>
                          <a:latin typeface="+mn-lt"/>
                          <a:ea typeface="+mn-ea"/>
                          <a:cs typeface="+mn-cs"/>
                        </a:rPr>
                        <a:t/>
                      </a:r>
                      <a:r>
                        <a:rPr lang="ru-RU" sz="1000" b="1" u="none" strike="noStrike" kern="1200" dirty="0">
                          <a:solidFill>
                            <a:schemeClr val="accent1"/>
                          </a:solidFill>
                          <a:effectLst/>
                          <a:latin typeface="+mn-lt"/>
                          <a:ea typeface="+mn-ea"/>
                          <a:cs typeface="+mn-cs"/>
                        </a:rPr>
                        <a:t/>
                      </a:r>
                      <a:r>
                        <a:rPr lang="ru-RU" sz="1000" b="1" u="none" strike="noStrike" kern="1200" baseline="0" dirty="0">
                          <a:solidFill>
                            <a:schemeClr val="accent1"/>
                          </a:solidFill>
                          <a:effectLst/>
                          <a:latin typeface="+mn-lt"/>
                          <a:ea typeface="+mn-ea"/>
                          <a:cs typeface="+mn-cs"/>
                        </a:rPr>
                        <a:t/>
                      </a:r>
                      <a:r>
                        <a:rPr lang="en-US" sz="1000" b="1" u="none" strike="noStrike" kern="1200" baseline="0" dirty="0">
                          <a:solidFill>
                            <a:schemeClr val="accent1"/>
                          </a:solidFill>
                          <a:effectLst/>
                          <a:latin typeface="+mn-lt"/>
                          <a:ea typeface="+mn-ea"/>
                          <a:cs typeface="+mn-cs"/>
                        </a:rPr>
                        <a:t/>
                      </a:r>
                      <a:r>
                        <a:rPr lang="ru-RU" sz="1000" b="1" u="none" strike="noStrike" kern="1200" baseline="0" dirty="0">
                          <a:solidFill>
                            <a:schemeClr val="accent1"/>
                          </a:solidFill>
                          <a:effectLst/>
                          <a:latin typeface="+mn-lt"/>
                          <a:ea typeface="+mn-ea"/>
                          <a:cs typeface="+mn-cs"/>
                        </a:rPr>
                        <a:t/>
                      </a:r>
                      <a:endParaRPr lang="en-US" sz="1000" b="1" i="1" u="none" strike="noStrike" kern="1200" dirty="0">
                        <a:solidFill>
                          <a:schemeClr val="tx1"/>
                        </a:solidFill>
                        <a:effectLst/>
                        <a:latin typeface="+mn-lt"/>
                        <a:ea typeface="+mn-ea"/>
                        <a:cs typeface="+mn-cs"/>
                      </a:endParaRPr>
                    </a:p>
                  </a:txBody>
                  <a:tcPr marL="36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pPr marL="0" algn="l" defTabSz="583170" rtl="0" eaLnBrk="1" fontAlgn="t" latinLnBrk="0" hangingPunct="1"/>
                      <a:endParaRPr lang="en-US" sz="800" b="0" i="1" u="none" strike="noStrike" kern="1200" dirty="0">
                        <a:solidFill>
                          <a:schemeClr val="tx1"/>
                        </a:solidFill>
                        <a:effectLst/>
                        <a:latin typeface="+mn-lt"/>
                        <a:ea typeface="+mn-ea"/>
                        <a:cs typeface="+mn-cs"/>
                      </a:endParaRPr>
                    </a:p>
                  </a:txBody>
                  <a:tcPr marL="72000" marR="72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950988"/>
                  </a:ext>
                </a:extLst>
              </a:tr>
              <a:tr h="190803">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800" b="0" i="1" u="none" strike="noStrike" kern="1200" dirty="0">
                          <a:solidFill>
                            <a:schemeClr val="tx1"/>
                          </a:solidFill>
                          <a:effectLst/>
                          <a:latin typeface="+mn-lt"/>
                          <a:ea typeface="+mn-ea"/>
                          <a:cs typeface="+mn-cs"/>
                        </a:rPr>
                        <a:t xml:space="preserve">(continuation)</a:t>
                      </a:r>
                      <a:endParaRPr lang="en-US" sz="800" b="0" i="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endParaRPr lang="en-US" sz="800" b="0" i="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583170" rtl="0" eaLnBrk="1" fontAlgn="t" latinLnBrk="0" hangingPunct="1">
                        <a:lnSpc>
                          <a:spcPct val="100000"/>
                        </a:lnSpc>
                        <a:spcBef>
                          <a:spcPts val="0"/>
                        </a:spcBef>
                        <a:spcAft>
                          <a:spcPts val="0"/>
                        </a:spcAft>
                        <a:buClrTx/>
                        <a:buSzTx/>
                        <a:buFontTx/>
                        <a:buNone/>
                        <a:tabLst/>
                        <a:defRPr/>
                      </a:pPr>
                      <a:r>
                        <a:rPr lang="ru-RU" sz="800" b="1" u="none" strike="noStrike" kern="1200" dirty="0">
                          <a:solidFill>
                            <a:schemeClr val="tx1"/>
                          </a:solidFill>
                          <a:effectLst/>
                          <a:latin typeface="+mn-lt"/>
                          <a:ea typeface="+mn-ea"/>
                          <a:cs typeface="+mn-cs"/>
                        </a:rPr>
                        <a:t xml:space="preserve">Review 12 months 2024</a:t>
                      </a:r>
                      <a:r>
                        <a:rPr lang="ru-RU" sz="800" b="1" u="none" strike="noStrike" kern="1200" baseline="0" dirty="0">
                          <a:solidFill>
                            <a:schemeClr val="tx1"/>
                          </a:solidFill>
                          <a:effectLst/>
                          <a:latin typeface="+mn-lt"/>
                          <a:ea typeface="+mn-ea"/>
                          <a:cs typeface="+mn-cs"/>
                        </a:rPr>
                        <a:t/>
                      </a:r>
                      <a:r>
                        <a:rPr lang="ru-RU" sz="800" b="1" u="none" strike="noStrike" kern="1200" baseline="0" dirty="0" err="1">
                          <a:solidFill>
                            <a:schemeClr val="tx1"/>
                          </a:solidFill>
                          <a:effectLst/>
                          <a:latin typeface="+mn-lt"/>
                          <a:ea typeface="+mn-ea"/>
                          <a:cs typeface="+mn-cs"/>
                        </a:rPr>
                        <a:t/>
                      </a:r>
                      <a:r>
                        <a:rPr lang="ru-RU" sz="800" b="1" u="none" strike="noStrike" kern="1200" baseline="0" dirty="0">
                          <a:solidFill>
                            <a:schemeClr val="tx1"/>
                          </a:solidFill>
                          <a:effectLst/>
                          <a:latin typeface="+mn-lt"/>
                          <a:ea typeface="+mn-ea"/>
                          <a:cs typeface="+mn-cs"/>
                        </a:rPr>
                        <a:t/>
                      </a:r>
                      <a:r>
                        <a:rPr lang="en-US" sz="800" b="1" u="none" strike="noStrike" kern="1200" baseline="0" dirty="0">
                          <a:solidFill>
                            <a:schemeClr val="tx1"/>
                          </a:solidFill>
                          <a:effectLst/>
                          <a:latin typeface="+mn-lt"/>
                          <a:ea typeface="+mn-ea"/>
                          <a:cs typeface="+mn-cs"/>
                        </a:rPr>
                        <a:t/>
                      </a:r>
                      <a:r>
                        <a:rPr lang="ru-RU" sz="800" b="1" u="none" strike="noStrike" kern="1200" baseline="0" dirty="0">
                          <a:solidFill>
                            <a:schemeClr val="tx1"/>
                          </a:solidFill>
                          <a:effectLst/>
                          <a:latin typeface="+mn-lt"/>
                          <a:ea typeface="+mn-ea"/>
                          <a:cs typeface="+mn-cs"/>
                        </a:rPr>
                        <a:t/>
                      </a:r>
                      <a:endParaRPr lang="ru-RU" sz="800" b="1" u="none" strike="noStrike" kern="1200" dirty="0">
                        <a:solidFill>
                          <a:schemeClr val="tx1"/>
                        </a:solidFill>
                        <a:effectLst/>
                        <a:latin typeface="+mn-lt"/>
                        <a:ea typeface="+mn-ea"/>
                        <a:cs typeface="+mn-cs"/>
                      </a:endParaRPr>
                    </a:p>
                  </a:txBody>
                  <a:tcPr marL="36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r>
                        <a:rPr lang="en-US" sz="800" b="1" u="none" strike="noStrike" kern="1200" dirty="0">
                          <a:solidFill>
                            <a:schemeClr val="tx1"/>
                          </a:solidFill>
                          <a:effectLst/>
                          <a:latin typeface="+mn-lt"/>
                          <a:ea typeface="+mn-ea"/>
                          <a:cs typeface="+mn-cs"/>
                        </a:rPr>
                        <a:t xml:space="preserve">vs</a:t>
                      </a:r>
                      <a:endParaRPr lang="ru-RU" sz="800" b="1" u="none" strike="noStrike" kern="1200" dirty="0">
                        <a:solidFill>
                          <a:schemeClr val="tx1"/>
                        </a:solidFill>
                        <a:effectLst/>
                        <a:latin typeface="+mn-lt"/>
                        <a:ea typeface="+mn-ea"/>
                        <a:cs typeface="+mn-cs"/>
                      </a:endParaRPr>
                    </a:p>
                  </a:txBody>
                  <a:tcPr marL="36000" marR="36000" marT="36000" marB="36000" anchor="ctr">
                    <a:lnL>
                      <a:noFill/>
                    </a:lnL>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800" b="1" u="none" strike="noStrike" kern="1200" dirty="0">
                        <a:solidFill>
                          <a:schemeClr val="tx1"/>
                        </a:solidFill>
                        <a:effectLst/>
                        <a:latin typeface="+mn-lt"/>
                        <a:ea typeface="+mn-ea"/>
                        <a:cs typeface="+mn-cs"/>
                      </a:endParaRPr>
                    </a:p>
                  </a:txBody>
                  <a:tcPr marL="36000" marR="36000" marT="36000" marB="36000" anchor="c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r>
                        <a:rPr lang="ru-RU" sz="800" b="1" u="none" strike="noStrike" kern="1200" dirty="0">
                          <a:solidFill>
                            <a:schemeClr val="tx1"/>
                          </a:solidFill>
                          <a:effectLst/>
                          <a:latin typeface="+mn-lt"/>
                          <a:ea typeface="+mn-ea"/>
                          <a:cs typeface="+mn-cs"/>
                        </a:rPr>
                        <a:t xml:space="preserve">Detailing by category</a:t>
                      </a:r>
                      <a:endParaRPr lang="en-US" sz="800" b="0" i="1" u="none" strike="noStrike" kern="1200" dirty="0">
                        <a:solidFill>
                          <a:schemeClr val="tx1"/>
                        </a:solidFill>
                        <a:effectLst/>
                        <a:latin typeface="+mn-lt"/>
                        <a:ea typeface="+mn-ea"/>
                        <a:cs typeface="+mn-cs"/>
                      </a:endParaRPr>
                    </a:p>
                  </a:txBody>
                  <a:tcPr marL="36000" marR="36000" marT="36000" marB="36000">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4679911"/>
                  </a:ext>
                </a:extLst>
              </a:tr>
              <a:tr h="236448">
                <a:tc rowSpan="2">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1000" b="1" u="none" strike="noStrike" kern="1200" dirty="0">
                          <a:solidFill>
                            <a:schemeClr val="tx1"/>
                          </a:solidFill>
                          <a:effectLst/>
                          <a:latin typeface="+mn-lt"/>
                          <a:ea typeface="+mn-ea"/>
                          <a:cs typeface="+mn-cs"/>
                        </a:rPr>
                        <a:t xml:space="preserve">Key trends</a:t>
                      </a:r>
                    </a:p>
                  </a:txBody>
                  <a:tcPr marL="36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ru-RU" sz="800" b="1" u="none" strike="noStrike" kern="1200" dirty="0">
                        <a:solidFill>
                          <a:schemeClr val="tx1"/>
                        </a:solidFill>
                        <a:effectLst/>
                        <a:latin typeface="+mn-lt"/>
                        <a:ea typeface="+mn-ea"/>
                        <a:cs typeface="+mn-cs"/>
                      </a:endParaRPr>
                    </a:p>
                  </a:txBody>
                  <a:tcPr marL="36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6074765"/>
                  </a:ext>
                </a:extLst>
              </a:tr>
              <a:tr h="214863">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7128003"/>
                  </a:ext>
                </a:extLst>
              </a:tr>
              <a:tr h="214863">
                <a:tc rowSpan="2">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800" dirty="0">
                          <a:solidFill>
                            <a:schemeClr val="tx1"/>
                          </a:solidFill>
                        </a:rPr>
                        <a:t xml:space="preserve">Based on the results of assessing WBS data for 12 months of 2025. (including, in comparison with data for the previous similar period), several key trends were identified within the framework of the WBS work and the typology of incoming and confirmed requests for the reporting period</a:t>
                      </a:r>
                      <a:r>
                        <a:rPr lang="en-US" sz="800" dirty="0">
                          <a:solidFill>
                            <a:schemeClr val="tx1"/>
                          </a:solidFill>
                        </a:rPr>
                        <a:t/>
                      </a:r>
                      <a:r>
                        <a:rPr lang="ru-RU" sz="800" dirty="0">
                          <a:solidFill>
                            <a:schemeClr val="tx1"/>
                          </a:solidFill>
                        </a:rPr>
                        <a:t/>
                      </a:r>
                      <a:r>
                        <a:rPr lang="ru-RU" sz="800" baseline="0" dirty="0">
                          <a:solidFill>
                            <a:schemeClr val="tx1"/>
                          </a:solidFill>
                        </a:rPr>
                        <a:t/>
                      </a:r>
                      <a:r>
                        <a:rPr lang="ru-RU" sz="800" dirty="0">
                          <a:solidFill>
                            <a:schemeClr val="tx1"/>
                          </a:solidFill>
                        </a:rPr>
                        <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3177219"/>
                  </a:ext>
                </a:extLst>
              </a:tr>
              <a:tr h="334010">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8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8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800" b="1" u="none" strike="noStrike" kern="1200" dirty="0">
                        <a:solidFill>
                          <a:schemeClr val="accent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800" b="1" u="none" strike="noStrike" kern="1200" dirty="0">
                        <a:solidFill>
                          <a:schemeClr val="accent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800" b="1" u="none" strike="noStrike" kern="1200" dirty="0">
                        <a:solidFill>
                          <a:schemeClr val="accent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800" b="1" u="none" strike="noStrike" kern="1200" dirty="0">
                        <a:solidFill>
                          <a:schemeClr val="accent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4768091"/>
                  </a:ext>
                </a:extLst>
              </a:tr>
              <a:tr h="171086">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2" gridSpan="3">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1667058"/>
                  </a:ext>
                </a:extLst>
              </a:tr>
              <a:tr h="276626">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gridSpan="3"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2759051"/>
                  </a:ext>
                </a:extLst>
              </a:tr>
              <a:tr h="214863">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1000" b="1" u="none" strike="noStrike" kern="1200" dirty="0">
                          <a:solidFill>
                            <a:schemeClr val="tx1"/>
                          </a:solidFill>
                          <a:effectLst/>
                          <a:latin typeface="+mn-lt"/>
                          <a:ea typeface="+mn-ea"/>
                          <a:cs typeface="+mn-cs"/>
                        </a:rPr>
                        <a:t xml:space="preserve">Main trends</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tx1"/>
                        </a:solidFill>
                        <a:effectLst/>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gridSpan="3">
                  <a:txBody>
                    <a:bodyPr/>
                    <a:lstStyle/>
                    <a:p>
                      <a:pPr marL="0" indent="0">
                        <a:spcBef>
                          <a:spcPts val="100"/>
                        </a:spcBef>
                        <a:spcAft>
                          <a:spcPts val="100"/>
                        </a:spcAft>
                        <a:buClr>
                          <a:schemeClr val="accent1"/>
                        </a:buClr>
                        <a:buFont typeface="Arial" panose="020B0604020202020204" pitchFamily="34" charset="0"/>
                        <a:buNone/>
                      </a:pPr>
                      <a:r>
                        <a:rPr lang="ru-RU" sz="720" kern="1200" spc="-30" dirty="0">
                          <a:solidFill>
                            <a:schemeClr val="tx1"/>
                          </a:solidFill>
                          <a:latin typeface="+mn-lt"/>
                          <a:ea typeface="+mn-ea"/>
                          <a:cs typeface="+mn-cs"/>
                        </a:rPr>
                        <a:t xml:space="preserve">Analysis of WBS data for the period 1-4 quarters of 2025, compared with indicators for the same period in 2024, revealed a number of trends in the work of Perimeter Kazakhstan WBS:</a:t>
                      </a:r>
                      <a:r>
                        <a:rPr lang="en-US" sz="720" kern="1200" spc="-30" dirty="0">
                          <a:solidFill>
                            <a:schemeClr val="tx1"/>
                          </a:solidFill>
                          <a:latin typeface="+mn-lt"/>
                          <a:ea typeface="+mn-ea"/>
                          <a:cs typeface="+mn-cs"/>
                        </a:rPr>
                        <a:t/>
                      </a:r>
                      <a:r>
                        <a:rPr lang="ru-RU" sz="720" kern="1200" spc="-30" dirty="0">
                          <a:solidFill>
                            <a:schemeClr val="tx1"/>
                          </a:solidFill>
                          <a:latin typeface="+mn-lt"/>
                          <a:ea typeface="+mn-ea"/>
                          <a:cs typeface="+mn-cs"/>
                        </a:rPr>
                        <a:t/>
                      </a:r>
                      <a:r>
                        <a:rPr lang="ru-RU" sz="720" kern="1200" spc="-30" dirty="0" err="1">
                          <a:solidFill>
                            <a:schemeClr val="tx1"/>
                          </a:solidFill>
                          <a:latin typeface="+mn-lt"/>
                          <a:ea typeface="+mn-ea"/>
                          <a:cs typeface="+mn-cs"/>
                        </a:rPr>
                        <a:t/>
                      </a:r>
                      <a:r>
                        <a:rPr lang="ru-RU" sz="720" kern="1200" spc="-30" dirty="0">
                          <a:solidFill>
                            <a:schemeClr val="tx1"/>
                          </a:solidFill>
                          <a:latin typeface="+mn-lt"/>
                          <a:ea typeface="+mn-ea"/>
                          <a:cs typeface="+mn-cs"/>
                        </a:rPr>
                        <a:t/>
                      </a:r>
                    </a:p>
                    <a:p>
                      <a:pPr marL="171450" indent="-171450">
                        <a:spcBef>
                          <a:spcPts val="100"/>
                        </a:spcBef>
                        <a:spcAft>
                          <a:spcPts val="100"/>
                        </a:spcAft>
                        <a:buClr>
                          <a:schemeClr val="accent1"/>
                        </a:buClr>
                        <a:buFont typeface="Arial" panose="020B0604020202020204" pitchFamily="34" charset="0"/>
                        <a:buChar char="•"/>
                      </a:pPr>
                      <a:r>
                        <a:rPr lang="ru-RU" sz="720" kern="1200" spc="-30" dirty="0">
                          <a:solidFill>
                            <a:schemeClr val="tx1"/>
                          </a:solidFill>
                          <a:latin typeface="+mn-lt"/>
                          <a:ea typeface="+mn-ea"/>
                          <a:cs typeface="+mn-cs"/>
                        </a:rPr>
                        <a:t xml:space="preserve">In 2025 208 requests were received through GL channels (excluding the “Question” category), of which 25% came from anonymous sources, the share of confirmed requests was 59% (as of the date of preparation of this report). No significant damage to the company was identified (no materialized risks). Measures are being taken to strengthen controls (see Measures Taken).</a:t>
                      </a:r>
                      <a:r>
                        <a:rPr lang="en-US" sz="720" kern="1200" spc="-30" dirty="0">
                          <a:solidFill>
                            <a:schemeClr val="tx1"/>
                          </a:solidFill>
                          <a:latin typeface="+mn-lt"/>
                          <a:ea typeface="+mn-ea"/>
                          <a:cs typeface="+mn-cs"/>
                        </a:rPr>
                        <a:t/>
                      </a:r>
                      <a:r>
                        <a:rPr lang="ru-RU" sz="720" kern="1200" spc="-30" dirty="0">
                          <a:solidFill>
                            <a:schemeClr val="tx1"/>
                          </a:solidFill>
                          <a:latin typeface="+mn-lt"/>
                          <a:ea typeface="+mn-ea"/>
                          <a:cs typeface="+mn-cs"/>
                        </a:rPr>
                        <a:t/>
                      </a:r>
                      <a:r>
                        <a:rPr lang="ru-RU" sz="720" kern="1200" spc="-30" dirty="0" err="1">
                          <a:solidFill>
                            <a:schemeClr val="tx1"/>
                          </a:solidFill>
                          <a:latin typeface="+mn-lt"/>
                          <a:ea typeface="+mn-ea"/>
                          <a:cs typeface="+mn-cs"/>
                        </a:rPr>
                        <a:t/>
                      </a:r>
                      <a:r>
                        <a:rPr lang="ru-RU" sz="720" kern="1200" spc="-30" dirty="0">
                          <a:solidFill>
                            <a:schemeClr val="tx1"/>
                          </a:solidFill>
                          <a:latin typeface="+mn-lt"/>
                          <a:ea typeface="+mn-ea"/>
                          <a:cs typeface="+mn-cs"/>
                        </a:rPr>
                        <a:t/>
                      </a:r>
                      <a:r>
                        <a:rPr lang="en-US" sz="720" kern="1200" spc="-30" dirty="0">
                          <a:solidFill>
                            <a:schemeClr val="tx1"/>
                          </a:solidFill>
                          <a:latin typeface="+mn-lt"/>
                          <a:ea typeface="+mn-ea"/>
                          <a:cs typeface="+mn-cs"/>
                        </a:rPr>
                        <a:t/>
                      </a:r>
                      <a:r>
                        <a:rPr lang="ru-RU" sz="720" kern="1200" spc="-30" dirty="0">
                          <a:solidFill>
                            <a:schemeClr val="tx1"/>
                          </a:solidFill>
                          <a:latin typeface="+mn-lt"/>
                          <a:ea typeface="+mn-ea"/>
                          <a:cs typeface="+mn-cs"/>
                        </a:rPr>
                        <a:t/>
                      </a:r>
                      <a:r>
                        <a:rPr lang="en-US" sz="720" kern="1200" spc="-30" dirty="0">
                          <a:solidFill>
                            <a:schemeClr val="tx1"/>
                          </a:solidFill>
                          <a:latin typeface="+mn-lt"/>
                          <a:ea typeface="+mn-ea"/>
                          <a:cs typeface="+mn-cs"/>
                        </a:rPr>
                        <a:t/>
                      </a:r>
                      <a:r>
                        <a:rPr lang="ru-RU" sz="720" kern="1200" spc="-30" dirty="0">
                          <a:solidFill>
                            <a:schemeClr val="tx1"/>
                          </a:solidFill>
                          <a:latin typeface="+mn-lt"/>
                          <a:ea typeface="+mn-ea"/>
                          <a:cs typeface="+mn-cs"/>
                        </a:rPr>
                        <a:t/>
                      </a:r>
                    </a:p>
                    <a:p>
                      <a:pPr marL="171450" indent="-171450">
                        <a:spcBef>
                          <a:spcPts val="100"/>
                        </a:spcBef>
                        <a:spcAft>
                          <a:spcPts val="100"/>
                        </a:spcAft>
                        <a:buClr>
                          <a:schemeClr val="accent1"/>
                        </a:buClr>
                        <a:buFont typeface="Arial" panose="020B0604020202020204" pitchFamily="34" charset="0"/>
                        <a:buChar char="•"/>
                      </a:pPr>
                      <a:r>
                        <a:rPr lang="ru-RU" sz="720" kern="1200" spc="-30" dirty="0">
                          <a:solidFill>
                            <a:schemeClr val="tx1"/>
                          </a:solidFill>
                          <a:latin typeface="+mn-lt"/>
                          <a:ea typeface="+mn-ea"/>
                          <a:cs typeface="+mn-cs"/>
                        </a:rPr>
                        <a:t xml:space="preserve">The largest number of requests received fall into the category “Business Integrity” (purchases, cooperation with counterparties, customers, etc.) – 40%, “Sustainability” (HR, social issues, HSE, etc.) – 31% and “Fraud, corruption and AML/CFT” (risks of fraud, theft, embezzlement) - 24%.</a:t>
                      </a:r>
                    </a:p>
                    <a:p>
                      <a:pPr marL="171450" indent="-171450">
                        <a:spcBef>
                          <a:spcPts val="100"/>
                        </a:spcBef>
                        <a:spcAft>
                          <a:spcPts val="100"/>
                        </a:spcAft>
                        <a:buClr>
                          <a:schemeClr val="accent1"/>
                        </a:buClr>
                        <a:buFont typeface="Arial" panose="020B0604020202020204" pitchFamily="34" charset="0"/>
                        <a:buChar char="•"/>
                      </a:pPr>
                      <a:r>
                        <a:rPr lang="ru-RU" sz="720" kern="1200" spc="-30" dirty="0">
                          <a:solidFill>
                            <a:schemeClr val="tx1"/>
                          </a:solidFill>
                          <a:latin typeface="+mn-lt"/>
                          <a:ea typeface="+mn-ea"/>
                          <a:cs typeface="+mn-cs"/>
                        </a:rPr>
                        <a:t xml:space="preserve">In 2025, there is an increase in the number of received applications compared to the same period in 2024. by 13%. Growth in the number of applications received in 2025 due to the growth of cases in the category “Fraud, corruption and AML/CFT” (+56%). For other categories, the number of requests received for the reporting periods of 2025 and 2024 is at a comparable level.</a:t>
                      </a:r>
                    </a:p>
                    <a:p>
                      <a:pPr marL="171450" indent="-171450">
                        <a:spcBef>
                          <a:spcPts val="100"/>
                        </a:spcBef>
                        <a:spcAft>
                          <a:spcPts val="100"/>
                        </a:spcAft>
                        <a:buClr>
                          <a:schemeClr val="accent1"/>
                        </a:buClr>
                        <a:buFont typeface="Arial" panose="020B0604020202020204" pitchFamily="34" charset="0"/>
                        <a:buChar char="•"/>
                      </a:pPr>
                      <a:r>
                        <a:rPr lang="ru-RU" sz="720" kern="1200" spc="-30" dirty="0">
                          <a:solidFill>
                            <a:schemeClr val="tx1"/>
                          </a:solidFill>
                          <a:latin typeface="+mn-lt"/>
                          <a:ea typeface="+mn-ea"/>
                          <a:cs typeface="+mn-cs"/>
                        </a:rPr>
                        <a:t xml:space="preserve">Increase in the number of cases in the category “Fraud, corruption and AML/CFT” in 2025. due to a number of activities of the Department of Economic Development and Trade, within the framework of testing employees of the purchasing function of ERG enterprises, using software and hardware equipment, in order to identify possible precedents of dishonest behavior and violations of the principles of business integrity.</a:t>
                      </a:r>
                      <a:r>
                        <a:rPr lang="ru-RU" sz="720" kern="1200" spc="-30" dirty="0" err="1">
                          <a:solidFill>
                            <a:schemeClr val="tx1"/>
                          </a:solidFill>
                          <a:latin typeface="+mn-lt"/>
                          <a:ea typeface="+mn-ea"/>
                          <a:cs typeface="+mn-cs"/>
                        </a:rPr>
                        <a:t/>
                      </a:r>
                      <a:r>
                        <a:rPr lang="ru-RU" sz="720" kern="1200" spc="-30" dirty="0">
                          <a:solidFill>
                            <a:schemeClr val="tx1"/>
                          </a:solidFill>
                          <a:latin typeface="+mn-lt"/>
                          <a:ea typeface="+mn-ea"/>
                          <a:cs typeface="+mn-cs"/>
                        </a:rPr>
                        <a:t/>
                      </a:r>
                    </a:p>
                    <a:p>
                      <a:pPr marL="171450" indent="-171450">
                        <a:spcBef>
                          <a:spcPts val="100"/>
                        </a:spcBef>
                        <a:spcAft>
                          <a:spcPts val="100"/>
                        </a:spcAft>
                        <a:buClr>
                          <a:schemeClr val="accent1"/>
                        </a:buClr>
                        <a:buFont typeface="Arial" panose="020B0604020202020204" pitchFamily="34" charset="0"/>
                        <a:buChar char="•"/>
                      </a:pPr>
                      <a:r>
                        <a:rPr lang="ru-RU" sz="720" kern="1200" spc="-30" dirty="0">
                          <a:solidFill>
                            <a:schemeClr val="tx1"/>
                          </a:solidFill>
                          <a:latin typeface="+mn-lt"/>
                          <a:ea typeface="+mn-ea"/>
                          <a:cs typeface="+mn-cs"/>
                        </a:rPr>
                        <a:t xml:space="preserve">25% of requests in 2025 came from anonymous sources. On average for the period 2023–2025. the share of anonymous calls was in the range of 23–25%. According to Navex analytics, international. Anonymous referral rates in 2024 averaged 56%. The low level of the share of anonymous requests indicates a high level of trust in GL channels - both from employees and from third parties.</a:t>
                      </a:r>
                      <a:r>
                        <a:rPr lang="ru-RU" sz="720" kern="1200" spc="-30" dirty="0" err="1">
                          <a:solidFill>
                            <a:schemeClr val="tx1"/>
                          </a:solidFill>
                          <a:latin typeface="+mn-lt"/>
                          <a:ea typeface="+mn-ea"/>
                          <a:cs typeface="+mn-cs"/>
                        </a:rPr>
                        <a:t/>
                      </a:r>
                      <a:r>
                        <a:rPr lang="ru-RU" sz="720" kern="1200" spc="-30" dirty="0">
                          <a:solidFill>
                            <a:schemeClr val="tx1"/>
                          </a:solidFill>
                          <a:latin typeface="+mn-lt"/>
                          <a:ea typeface="+mn-ea"/>
                          <a:cs typeface="+mn-cs"/>
                        </a:rPr>
                        <a:t/>
                      </a:r>
                      <a:r>
                        <a:rPr lang="ru-RU" sz="720" kern="1200" spc="-30" dirty="0" err="1">
                          <a:solidFill>
                            <a:schemeClr val="tx1"/>
                          </a:solidFill>
                          <a:latin typeface="+mn-lt"/>
                          <a:ea typeface="+mn-ea"/>
                          <a:cs typeface="+mn-cs"/>
                        </a:rPr>
                        <a:t/>
                      </a:r>
                      <a:r>
                        <a:rPr lang="ru-RU" sz="720" kern="1200" spc="-30" dirty="0">
                          <a:solidFill>
                            <a:schemeClr val="tx1"/>
                          </a:solidFill>
                          <a:latin typeface="+mn-lt"/>
                          <a:ea typeface="+mn-ea"/>
                          <a:cs typeface="+mn-cs"/>
                        </a:rPr>
                        <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h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3" h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1000" b="1" u="none" strike="noStrike" kern="1200" dirty="0">
                        <a:solidFill>
                          <a:schemeClr val="tx1"/>
                        </a:solidFill>
                        <a:effectLst/>
                        <a:latin typeface="+mn-lt"/>
                        <a:ea typeface="+mn-ea"/>
                        <a:cs typeface="+mn-cs"/>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ru-RU" sz="720" b="1" i="0" kern="1200" dirty="0">
                          <a:solidFill>
                            <a:schemeClr val="accent1"/>
                          </a:solidFill>
                          <a:effectLst/>
                          <a:latin typeface="+mn-lt"/>
                          <a:ea typeface="+mn-ea"/>
                          <a:cs typeface="+mn-cs"/>
                        </a:rPr>
                        <a:t xml:space="preserve">Measures taken</a:t>
                      </a:r>
                    </a:p>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ru-RU" sz="720" i="0" kern="1200" dirty="0">
                          <a:solidFill>
                            <a:schemeClr val="tx1"/>
                          </a:solidFill>
                          <a:effectLst/>
                          <a:latin typeface="+mn-lt"/>
                          <a:ea typeface="+mn-ea"/>
                          <a:cs typeface="+mn-cs"/>
                        </a:rPr>
                        <a:t xml:space="preserve">Based on the results of inspections for 12 months of 2025, including confirmed complaints in the “Fraud, Corruption and AML/CFT” category, measures were implemented to strengthen controls:</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i="0" kern="1200" dirty="0">
                          <a:solidFill>
                            <a:schemeClr val="tx1"/>
                          </a:solidFill>
                          <a:effectLst/>
                          <a:latin typeface="+mn-lt"/>
                          <a:ea typeface="+mn-ea"/>
                          <a:cs typeface="+mn-cs"/>
                        </a:rPr>
                        <a:t xml:space="preserve">Inclusion of counterparties in the SNK/Grey Suppliers list in order to limit further cooperation and/or strengthen controls in the event of further cooperation (30 cases).</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i="0" kern="1200" dirty="0">
                          <a:solidFill>
                            <a:schemeClr val="tx1"/>
                          </a:solidFill>
                          <a:effectLst/>
                          <a:latin typeface="+mn-lt"/>
                          <a:ea typeface="+mn-ea"/>
                          <a:cs typeface="+mn-cs"/>
                        </a:rPr>
                        <a:t xml:space="preserve">Termination of employment relationships and/or application of disciplinary measures (28 cases).</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i="0" kern="1200" dirty="0">
                          <a:solidFill>
                            <a:schemeClr val="tx1"/>
                          </a:solidFill>
                          <a:effectLst/>
                          <a:latin typeface="+mn-lt"/>
                          <a:ea typeface="+mn-ea"/>
                          <a:cs typeface="+mn-cs"/>
                        </a:rPr>
                        <a:t xml:space="preserve">Strengthening controls within procurement procedures, as well as input/output controls, acceptance of goods and materials, internal access control, recommendations for making changes to existing processes (23 cases).</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i="0" kern="1200" dirty="0">
                          <a:solidFill>
                            <a:schemeClr val="tx1"/>
                          </a:solidFill>
                          <a:effectLst/>
                          <a:latin typeface="+mn-lt"/>
                          <a:ea typeface="+mn-ea"/>
                          <a:cs typeface="+mn-cs"/>
                        </a:rPr>
                        <a:t xml:space="preserve">Recommendations for additional analysis/verification of the correctness of financial planning, budgeting and justification of expenses, measures to implement the principle of direct supply (excluding unscrupulous intermediaries from the supply chain, establishing direct cooperation directly with manufacturers, in order to eliminate the risks of supplying counterfeit products, reducing the cost of purchases, etc.) – 12 cases.</a:t>
                      </a:r>
                    </a:p>
                    <a:p>
                      <a:pPr marL="171450" marR="0" lvl="0" indent="-17145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i="0" kern="1200" dirty="0">
                          <a:solidFill>
                            <a:schemeClr val="tx1"/>
                          </a:solidFill>
                          <a:effectLst/>
                          <a:latin typeface="+mn-lt"/>
                          <a:ea typeface="+mn-ea"/>
                          <a:cs typeface="+mn-cs"/>
                        </a:rPr>
                        <a:t xml:space="preserve">Termination of contractual relations, revision of the terms of existing contracts, conducting claims work (8 cases).</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2209583"/>
                  </a:ext>
                </a:extLst>
              </a:tr>
              <a:tr h="997886">
                <a:tc rowSpan="2">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i="1" u="none" strike="noStrike" kern="1200" dirty="0">
                        <a:solidFill>
                          <a:schemeClr val="tx1"/>
                        </a:solidFill>
                        <a:effectLst/>
                        <a:latin typeface="+mn-lt"/>
                        <a:ea typeface="+mn-ea"/>
                        <a:cs typeface="+mn-cs"/>
                      </a:endParaRPr>
                    </a:p>
                    <a:p>
                      <a:pPr marL="0" marR="0" lvl="0" indent="0" algn="l" defTabSz="583170" rtl="0" eaLnBrk="1" fontAlgn="t" latinLnBrk="0" hangingPunct="1">
                        <a:lnSpc>
                          <a:spcPct val="100000"/>
                        </a:lnSpc>
                        <a:spcBef>
                          <a:spcPts val="0"/>
                        </a:spcBef>
                        <a:spcAft>
                          <a:spcPts val="0"/>
                        </a:spcAft>
                        <a:buClrTx/>
                        <a:buSzTx/>
                        <a:buFontTx/>
                        <a:buNone/>
                        <a:tabLst/>
                        <a:defRPr/>
                      </a:pPr>
                      <a:endParaRPr lang="ru-RU" sz="700" b="1" i="1" u="none" strike="noStrike" kern="1200" dirty="0">
                        <a:solidFill>
                          <a:schemeClr val="tx1"/>
                        </a:solidFill>
                        <a:effectLst/>
                        <a:latin typeface="+mn-lt"/>
                        <a:ea typeface="+mn-ea"/>
                        <a:cs typeface="+mn-cs"/>
                      </a:endParaRPr>
                    </a:p>
                  </a:txBody>
                  <a:tcPr marL="36000" marR="36000" marT="36000" marB="36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3" vMerge="1">
                  <a:txBody>
                    <a:bodyPr/>
                    <a:lstStyle/>
                    <a:p>
                      <a:endParaRPr lang="ru-RU"/>
                    </a:p>
                  </a:txBody>
                  <a:tcPr/>
                </a:tc>
                <a:tc hMerge="1" vMerge="1">
                  <a:txBody>
                    <a:bodyPr/>
                    <a:lstStyle/>
                    <a:p>
                      <a:endParaRPr lang="ru-RU"/>
                    </a:p>
                  </a:txBody>
                  <a:tcPr/>
                </a:tc>
                <a:tc hMerge="1" vMerge="1">
                  <a:txBody>
                    <a:bodyPr/>
                    <a:lstStyle/>
                    <a:p>
                      <a:endParaRPr lang="ru-RU"/>
                    </a:p>
                  </a:txBody>
                  <a:tcPr/>
                </a:tc>
                <a:tc vMerge="1">
                  <a:txBody>
                    <a:bodyPr/>
                    <a:lstStyle/>
                    <a:p>
                      <a:endParaRPr lang="ru-RU" dirty="0"/>
                    </a:p>
                  </a:txBody>
                  <a:tcPr/>
                </a:tc>
                <a:extLst>
                  <a:ext uri="{0D108BD9-81ED-4DB2-BD59-A6C34878D82A}">
                    <a16:rowId xmlns:a16="http://schemas.microsoft.com/office/drawing/2014/main" val="266127388"/>
                  </a:ext>
                </a:extLst>
              </a:tr>
              <a:tr h="0">
                <a:tc vMerge="1">
                  <a:txBody>
                    <a:bodyPr/>
                    <a:lstStyle/>
                    <a:p>
                      <a:endParaRPr lang="ru-RU"/>
                    </a:p>
                  </a:txBody>
                  <a:tcPr/>
                </a:tc>
                <a:tc vMerge="1">
                  <a:txBody>
                    <a:bodyPr/>
                    <a:lstStyle/>
                    <a:p>
                      <a:endParaRPr lang="ru-RU"/>
                    </a:p>
                  </a:txBody>
                  <a:tcPr/>
                </a:tc>
                <a:tc gridSpan="3" vMerge="1">
                  <a:txBody>
                    <a:bodyPr/>
                    <a:lstStyle/>
                    <a:p>
                      <a:endParaRPr lang="ru-RU"/>
                    </a:p>
                  </a:txBody>
                  <a:tcPr/>
                </a:tc>
                <a:tc hMerge="1" vMerge="1">
                  <a:txBody>
                    <a:bodyPr/>
                    <a:lstStyle/>
                    <a:p>
                      <a:endParaRPr lang="ru-RU"/>
                    </a:p>
                  </a:txBody>
                  <a:tcPr/>
                </a:tc>
                <a:tc hMerge="1" vMerge="1">
                  <a:txBody>
                    <a:bodyPr/>
                    <a:lstStyle/>
                    <a:p>
                      <a:endParaRPr lang="ru-RU"/>
                    </a:p>
                  </a:txBody>
                  <a:tcPr/>
                </a:tc>
                <a:tc>
                  <a:txBody>
                    <a:bodyPr/>
                    <a:lstStyle/>
                    <a:p>
                      <a:pPr marL="0" marR="0" lvl="0" indent="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None/>
                        <a:tabLst/>
                        <a:defRPr/>
                      </a:pPr>
                      <a:r>
                        <a:rPr lang="ru-RU" sz="720" b="1" i="0" kern="1200" dirty="0">
                          <a:solidFill>
                            <a:schemeClr val="accent1"/>
                          </a:solidFill>
                          <a:effectLst/>
                          <a:latin typeface="+mn-lt"/>
                          <a:ea typeface="+mn-ea"/>
                          <a:cs typeface="+mn-cs"/>
                        </a:rPr>
                        <a:t xml:space="preserve">Further development</a:t>
                      </a:r>
                    </a:p>
                    <a:p>
                      <a:pPr marL="180975" marR="0" lvl="1" indent="-180975"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kern="1200" spc="-30" dirty="0">
                          <a:solidFill>
                            <a:schemeClr val="tx1"/>
                          </a:solidFill>
                          <a:latin typeface="+mn-lt"/>
                          <a:ea typeface="+mn-ea"/>
                          <a:cs typeface="+mn-cs"/>
                        </a:rPr>
                        <a:t xml:space="preserve">At the end of 2025, as part of an HR survey, an assessment of awareness of GL channels was carried out: 10.5 thousand employees (18% of Perimeter personnel) took part, which is 63% higher than the coverage in 2024. The results confirm a high and stable level of awareness and accessibility of GL channels: 77% know about the presence of GL, 69% know where to find GL contacts; more than 75% assess the availability of GL channels as sufficient or high; the average rating is 4.14 for online and 4.09 for offline channels (on a scale of 1 to 5).</a:t>
                      </a:r>
                    </a:p>
                    <a:p>
                      <a:pPr marL="180975" marR="0" lvl="1" indent="-180975"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kern="1200" spc="-30" dirty="0">
                          <a:solidFill>
                            <a:schemeClr val="tx1"/>
                          </a:solidFill>
                          <a:latin typeface="+mn-lt"/>
                          <a:ea typeface="+mn-ea"/>
                          <a:cs typeface="+mn-cs"/>
                        </a:rPr>
                        <a:t xml:space="preserve">In 2026, it is planned to continue activities to raise awareness of ERG employees and partners about the culture of open communication and GL channels, including compliance communications and posting updated GL contacts on all available communication platforms.</a:t>
                      </a:r>
                    </a:p>
                    <a:p>
                      <a:pPr marL="180975" marR="0" lvl="1" indent="-180975"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kern="1200" spc="-30" dirty="0">
                          <a:solidFill>
                            <a:schemeClr val="tx1"/>
                          </a:solidFill>
                          <a:latin typeface="+mn-lt"/>
                          <a:ea typeface="+mn-ea"/>
                          <a:cs typeface="+mn-cs"/>
                        </a:rPr>
                        <a:t xml:space="preserve">During the reporting period, regular analysis of WBS requests continued to identify systemic problems and compare indicators with international practices; the results were presented to the CEO of Perimeter.</a:t>
                      </a:r>
                    </a:p>
                    <a:p>
                      <a:pPr marL="180975" marR="0" lvl="1" indent="-180975"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720" b="0" kern="1200" spc="-30" dirty="0">
                          <a:solidFill>
                            <a:schemeClr val="tx1"/>
                          </a:solidFill>
                          <a:latin typeface="+mn-lt"/>
                          <a:ea typeface="+mn-ea"/>
                          <a:cs typeface="+mn-cs"/>
                        </a:rPr>
                        <a:t xml:space="preserve">More detailed information about the survey results and analysis of the typology of requests can be found in Appendix 9.</a:t>
                      </a:r>
                      <a:r>
                        <a:rPr lang="ru-RU" sz="720" b="0" kern="1200" spc="-30" dirty="0" smtClean="0">
                          <a:solidFill>
                            <a:schemeClr val="tx1"/>
                          </a:solidFill>
                          <a:latin typeface="+mn-lt"/>
                          <a:ea typeface="+mn-ea"/>
                          <a:cs typeface="+mn-cs"/>
                        </a:rPr>
                        <a:t/>
                      </a:r>
                      <a:endParaRPr lang="ru-RU" sz="720" b="0" kern="1200" spc="-30" dirty="0">
                        <a:solidFill>
                          <a:schemeClr val="tx1"/>
                        </a:solidFill>
                        <a:latin typeface="+mn-lt"/>
                        <a:ea typeface="+mn-ea"/>
                        <a:cs typeface="+mn-cs"/>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5853323"/>
                  </a:ext>
                </a:extLst>
              </a:tr>
            </a:tbl>
          </a:graphicData>
        </a:graphic>
      </p:graphicFrame>
      <p:sp>
        <p:nvSpPr>
          <p:cNvPr id="38" name="Прямоугольник 37"/>
          <p:cNvSpPr/>
          <p:nvPr/>
        </p:nvSpPr>
        <p:spPr>
          <a:xfrm>
            <a:off x="77018" y="6610078"/>
            <a:ext cx="9914894" cy="200055"/>
          </a:xfrm>
          <a:prstGeom prst="rect">
            <a:avLst/>
          </a:prstGeom>
        </p:spPr>
        <p:txBody>
          <a:bodyPr wrap="none">
            <a:spAutoFit/>
          </a:bodyPr>
          <a:lstStyle/>
          <a:p>
            <a:pPr>
              <a:spcAft>
                <a:spcPts val="300"/>
              </a:spcAft>
            </a:pPr>
            <a:r>
              <a:rPr lang="ru-RU" sz="700" i="1" dirty="0">
                <a:solidFill>
                  <a:schemeClr val="accent1"/>
                </a:solidFill>
              </a:rPr>
              <a:t xml:space="preserve">In addition to the report, see Appendix 8 (List of confirmed WBS requests for 1-4 quarters of 2025 - separate Excel file) and Appendix 9 (Analysis of the typology of WBS requests for 12 months of 2025 - separate PDF file).</a:t>
            </a:r>
            <a:r>
              <a:rPr lang="ru-RU" sz="700" i="1" dirty="0" smtClean="0">
                <a:solidFill>
                  <a:schemeClr val="accent1"/>
                </a:solidFill>
              </a:rPr>
              <a:t/>
            </a:r>
            <a:r>
              <a:rPr lang="ru-RU" sz="700" i="1" dirty="0">
                <a:solidFill>
                  <a:schemeClr val="accent1"/>
                </a:solidFill>
              </a:rPr>
              <a:t/>
            </a:r>
            <a:r>
              <a:rPr lang="ru-RU" sz="700" i="1" dirty="0" smtClean="0">
                <a:solidFill>
                  <a:schemeClr val="accent1"/>
                </a:solidFill>
              </a:rPr>
              <a:t/>
            </a:r>
            <a:r>
              <a:rPr lang="en-US" sz="700" i="1" dirty="0" smtClean="0">
                <a:solidFill>
                  <a:schemeClr val="accent1"/>
                </a:solidFill>
              </a:rPr>
              <a:t/>
            </a:r>
            <a:r>
              <a:rPr lang="ru-RU" sz="700" i="1" dirty="0" smtClean="0">
                <a:solidFill>
                  <a:schemeClr val="accent1"/>
                </a:solidFill>
              </a:rPr>
              <a:t/>
            </a:r>
            <a:r>
              <a:rPr lang="ru-RU" sz="700" i="1" dirty="0">
                <a:solidFill>
                  <a:schemeClr val="accent1"/>
                </a:solidFill>
              </a:rPr>
              <a:t/>
            </a:r>
            <a:r>
              <a:rPr lang="en-US" sz="700" i="1" dirty="0">
                <a:solidFill>
                  <a:schemeClr val="accent1"/>
                </a:solidFill>
              </a:rPr>
              <a:t/>
            </a:r>
            <a:r>
              <a:rPr lang="en-US" sz="700" i="1" dirty="0" smtClean="0">
                <a:solidFill>
                  <a:schemeClr val="accent1"/>
                </a:solidFill>
              </a:rPr>
              <a:t/>
            </a:r>
            <a:r>
              <a:rPr lang="ru-RU" sz="700" i="1" dirty="0" smtClean="0">
                <a:solidFill>
                  <a:schemeClr val="accent1"/>
                </a:solidFill>
              </a:rPr>
              <a:t/>
            </a:r>
            <a:r>
              <a:rPr lang="en-US" sz="700" i="1" dirty="0" smtClean="0">
                <a:solidFill>
                  <a:schemeClr val="accent1"/>
                </a:solidFill>
              </a:rPr>
              <a:t/>
            </a:r>
            <a:r>
              <a:rPr lang="ru-RU" sz="700" i="1" dirty="0" smtClean="0">
                <a:solidFill>
                  <a:schemeClr val="accent1"/>
                </a:solidFill>
              </a:rPr>
              <a:t/>
            </a:r>
            <a:r>
              <a:rPr lang="en-US" sz="700" i="1" dirty="0" smtClean="0">
                <a:solidFill>
                  <a:schemeClr val="accent1"/>
                </a:solidFill>
              </a:rPr>
              <a:t/>
            </a:r>
            <a:endParaRPr lang="ru-RU" sz="700" i="1" dirty="0">
              <a:solidFill>
                <a:schemeClr val="accent1"/>
              </a:solidFill>
            </a:endParaRPr>
          </a:p>
        </p:txBody>
      </p:sp>
      <p:graphicFrame>
        <p:nvGraphicFramePr>
          <p:cNvPr id="8" name="Диаграмма 7">
            <a:extLst>
              <a:ext uri="{FF2B5EF4-FFF2-40B4-BE49-F238E27FC236}">
                <a16:creationId xmlns:a16="http://schemas.microsoft.com/office/drawing/2014/main" id="{10B62749-B156-4E5E-9643-30C1B8D41616}"/>
              </a:ext>
            </a:extLst>
          </p:cNvPr>
          <p:cNvGraphicFramePr/>
          <p:nvPr>
            <p:extLst/>
          </p:nvPr>
        </p:nvGraphicFramePr>
        <p:xfrm>
          <a:off x="5054349" y="1387974"/>
          <a:ext cx="2087033" cy="1548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9" name="Диаграмма 8">
            <a:extLst>
              <a:ext uri="{FF2B5EF4-FFF2-40B4-BE49-F238E27FC236}">
                <a16:creationId xmlns:a16="http://schemas.microsoft.com/office/drawing/2014/main" id="{9322A6AF-3597-4EE4-836E-CD65EA5DA1D7}"/>
              </a:ext>
            </a:extLst>
          </p:cNvPr>
          <p:cNvGraphicFramePr/>
          <p:nvPr>
            <p:extLst/>
          </p:nvPr>
        </p:nvGraphicFramePr>
        <p:xfrm>
          <a:off x="2602022" y="1421534"/>
          <a:ext cx="2088000" cy="1548000"/>
        </p:xfrm>
        <a:graphic>
          <a:graphicData uri="http://schemas.openxmlformats.org/drawingml/2006/chart">
            <c:chart xmlns:c="http://schemas.openxmlformats.org/drawingml/2006/chart" xmlns:r="http://schemas.openxmlformats.org/officeDocument/2006/relationships" r:id="rId8"/>
          </a:graphicData>
        </a:graphic>
      </p:graphicFrame>
      <p:sp>
        <p:nvSpPr>
          <p:cNvPr id="10" name="Rectangle 63">
            <a:extLst>
              <a:ext uri="{FF2B5EF4-FFF2-40B4-BE49-F238E27FC236}">
                <a16:creationId xmlns:a16="http://schemas.microsoft.com/office/drawing/2014/main" id="{833866A6-2E96-4820-A006-9B8177C3A3E4}"/>
              </a:ext>
            </a:extLst>
          </p:cNvPr>
          <p:cNvSpPr/>
          <p:nvPr/>
        </p:nvSpPr>
        <p:spPr>
          <a:xfrm>
            <a:off x="3151738" y="3053691"/>
            <a:ext cx="4381004" cy="592470"/>
          </a:xfrm>
          <a:prstGeom prst="rect">
            <a:avLst/>
          </a:prstGeom>
        </p:spPr>
        <p:txBody>
          <a:bodyPr wrap="square">
            <a:spAutoFit/>
          </a:bodyPr>
          <a:lstStyle/>
          <a:p>
            <a:pPr marL="88900" indent="-88900">
              <a:buFont typeface="Arial" panose="020B0604020202020204" pitchFamily="34" charset="0"/>
              <a:buChar char="•"/>
            </a:pPr>
            <a:r>
              <a:rPr lang="ru-RU" sz="650" dirty="0"/>
              <a:t xml:space="preserve">Increase in the number of received requests: 208 –2025, 184 –2024 ↑13%.</a:t>
            </a:r>
            <a:r>
              <a:rPr lang="en-US" sz="650" dirty="0"/>
              <a:t/>
            </a:r>
            <a:r>
              <a:rPr lang="ru-RU" sz="650" dirty="0"/>
              <a:t/>
            </a:r>
            <a:r>
              <a:rPr lang="en-US" sz="650" dirty="0"/>
              <a:t/>
            </a:r>
            <a:r>
              <a:rPr lang="ru-RU" sz="650" dirty="0"/>
              <a:t/>
            </a:r>
            <a:r>
              <a:rPr lang="en-US" sz="650" dirty="0"/>
              <a:t/>
            </a:r>
            <a:r>
              <a:rPr lang="ru-RU" sz="650" dirty="0"/>
              <a:t/>
            </a:r>
            <a:r>
              <a:rPr lang="en-US" sz="650" dirty="0"/>
              <a:t/>
            </a:r>
            <a:r>
              <a:rPr lang="ru-RU" sz="650" dirty="0"/>
              <a:t/>
            </a:r>
            <a:r>
              <a:rPr lang="ru-RU" sz="650" dirty="0" smtClean="0">
                <a:solidFill>
                  <a:schemeClr val="accent1"/>
                </a:solidFill>
              </a:rPr>
              <a:t/>
            </a:r>
            <a:r>
              <a:rPr lang="ru-RU" sz="650" dirty="0">
                <a:solidFill>
                  <a:schemeClr val="accent1"/>
                </a:solidFill>
              </a:rPr>
              <a:t/>
            </a:r>
            <a:endParaRPr lang="en-US" sz="650" dirty="0">
              <a:solidFill>
                <a:schemeClr val="accent1"/>
              </a:solidFill>
            </a:endParaRPr>
          </a:p>
          <a:p>
            <a:pPr marL="88900" indent="-88900">
              <a:buFont typeface="Arial" panose="020B0604020202020204" pitchFamily="34" charset="0"/>
              <a:buChar char="•"/>
            </a:pPr>
            <a:r>
              <a:rPr lang="ru-RU" sz="650" dirty="0"/>
              <a:t xml:space="preserve">Increase in anonymity level: 25% - 2025, 22% - 2024 ↑ 3%</a:t>
            </a:r>
            <a:r>
              <a:rPr lang="en-US" sz="650" dirty="0"/>
              <a:t/>
            </a:r>
            <a:r>
              <a:rPr lang="ru-RU" sz="650" dirty="0"/>
              <a:t/>
            </a:r>
            <a:r>
              <a:rPr lang="en-US" sz="650" dirty="0"/>
              <a:t/>
            </a:r>
            <a:r>
              <a:rPr lang="ru-RU" sz="650" dirty="0"/>
              <a:t/>
            </a:r>
            <a:r>
              <a:rPr lang="en-US" sz="650" dirty="0"/>
              <a:t/>
            </a:r>
            <a:r>
              <a:rPr lang="ru-RU" sz="650" dirty="0"/>
              <a:t/>
            </a:r>
            <a:r>
              <a:rPr lang="en-US" sz="650" dirty="0"/>
              <a:t/>
            </a:r>
            <a:r>
              <a:rPr lang="ru-RU" sz="650" dirty="0"/>
              <a:t/>
            </a:r>
            <a:r>
              <a:rPr lang="ru-RU" sz="650" dirty="0">
                <a:solidFill>
                  <a:schemeClr val="accent1"/>
                </a:solidFill>
              </a:rPr>
              <a:t/>
            </a:r>
          </a:p>
          <a:p>
            <a:pPr marL="88900" indent="-88900">
              <a:buFont typeface="Arial" panose="020B0604020202020204" pitchFamily="34" charset="0"/>
              <a:buChar char="•"/>
            </a:pPr>
            <a:r>
              <a:rPr lang="ru-RU" sz="650" dirty="0" smtClean="0"/>
              <a:t xml:space="preserve">Increase in the share of confirmed requests: 59% - 2025, 54% - 2024 ↑ 5%</a:t>
            </a:r>
            <a:r>
              <a:rPr lang="ru-RU" sz="650" dirty="0"/>
              <a:t/>
            </a:r>
            <a:r>
              <a:rPr lang="ru-RU" sz="650" dirty="0" smtClean="0"/>
              <a:t/>
            </a:r>
            <a:r>
              <a:rPr lang="ru-RU" sz="650" dirty="0"/>
              <a:t/>
            </a:r>
            <a:r>
              <a:rPr lang="ru-RU" sz="650" dirty="0">
                <a:solidFill>
                  <a:schemeClr val="accent1"/>
                </a:solidFill>
              </a:rPr>
              <a:t/>
            </a:r>
            <a:r>
              <a:rPr lang="ru-RU" sz="650" dirty="0" smtClean="0">
                <a:solidFill>
                  <a:schemeClr val="accent1"/>
                </a:solidFill>
              </a:rPr>
              <a:t/>
            </a:r>
            <a:endParaRPr lang="ru-RU" sz="650" dirty="0">
              <a:solidFill>
                <a:schemeClr val="accent1"/>
              </a:solidFill>
            </a:endParaRPr>
          </a:p>
          <a:p>
            <a:pPr marL="88900" indent="-88900">
              <a:buFont typeface="Arial" panose="020B0604020202020204" pitchFamily="34" charset="0"/>
              <a:buChar char="•"/>
            </a:pPr>
            <a:r>
              <a:rPr lang="ru-RU" sz="650" dirty="0"/>
              <a:t xml:space="preserve">Increased processing time for applications: 65 k.d. – 2025; 52 k.d. – 2024 ↓13k.d.</a:t>
            </a:r>
            <a:r>
              <a:rPr lang="ru-RU" sz="650" dirty="0" err="1"/>
              <a:t/>
            </a:r>
            <a:r>
              <a:rPr lang="ru-RU" sz="650" dirty="0"/>
              <a:t/>
            </a:r>
            <a:r>
              <a:rPr lang="ru-RU" sz="650" dirty="0" err="1"/>
              <a:t/>
            </a:r>
            <a:r>
              <a:rPr lang="ru-RU" sz="650" dirty="0"/>
              <a:t/>
            </a:r>
            <a:r>
              <a:rPr lang="ru-RU" sz="650" dirty="0" smtClean="0"/>
              <a:t/>
            </a:r>
            <a:r>
              <a:rPr lang="ru-RU" sz="650" dirty="0" smtClean="0">
                <a:solidFill>
                  <a:schemeClr val="accent6"/>
                </a:solidFill>
              </a:rPr>
              <a:t/>
            </a:r>
            <a:r>
              <a:rPr lang="ru-RU" sz="650" dirty="0" smtClean="0">
                <a:solidFill>
                  <a:schemeClr val="accent1"/>
                </a:solidFill>
              </a:rPr>
              <a:t/>
            </a:r>
            <a:endParaRPr lang="en-US" sz="650" dirty="0">
              <a:solidFill>
                <a:schemeClr val="accent1"/>
              </a:solidFill>
            </a:endParaRPr>
          </a:p>
          <a:p>
            <a:endParaRPr lang="ru-RU" sz="650" dirty="0">
              <a:solidFill>
                <a:schemeClr val="accent1"/>
              </a:solidFill>
            </a:endParaRPr>
          </a:p>
        </p:txBody>
      </p:sp>
      <p:graphicFrame>
        <p:nvGraphicFramePr>
          <p:cNvPr id="12" name="Table 102">
            <a:extLst>
              <a:ext uri="{FF2B5EF4-FFF2-40B4-BE49-F238E27FC236}">
                <a16:creationId xmlns:a16="http://schemas.microsoft.com/office/drawing/2014/main" id="{7BC48C4D-1551-42FE-996A-E5925E088DC6}"/>
              </a:ext>
            </a:extLst>
          </p:cNvPr>
          <p:cNvGraphicFramePr>
            <a:graphicFrameLocks noGrp="1" noChangeAspect="1"/>
          </p:cNvGraphicFramePr>
          <p:nvPr>
            <p:extLst/>
          </p:nvPr>
        </p:nvGraphicFramePr>
        <p:xfrm>
          <a:off x="7055259" y="1502142"/>
          <a:ext cx="4708901" cy="1765673"/>
        </p:xfrm>
        <a:graphic>
          <a:graphicData uri="http://schemas.openxmlformats.org/drawingml/2006/table">
            <a:tbl>
              <a:tblPr firstRow="1" bandRow="1">
                <a:tableStyleId>{72833802-FEF1-4C79-8D5D-14CF1EAF98D9}</a:tableStyleId>
              </a:tblPr>
              <a:tblGrid>
                <a:gridCol w="1405727">
                  <a:extLst>
                    <a:ext uri="{9D8B030D-6E8A-4147-A177-3AD203B41FA5}">
                      <a16:colId xmlns:a16="http://schemas.microsoft.com/office/drawing/2014/main" val="1690249397"/>
                    </a:ext>
                  </a:extLst>
                </a:gridCol>
                <a:gridCol w="490027">
                  <a:extLst>
                    <a:ext uri="{9D8B030D-6E8A-4147-A177-3AD203B41FA5}">
                      <a16:colId xmlns:a16="http://schemas.microsoft.com/office/drawing/2014/main" val="2615739961"/>
                    </a:ext>
                  </a:extLst>
                </a:gridCol>
                <a:gridCol w="573904">
                  <a:extLst>
                    <a:ext uri="{9D8B030D-6E8A-4147-A177-3AD203B41FA5}">
                      <a16:colId xmlns:a16="http://schemas.microsoft.com/office/drawing/2014/main" val="2352252696"/>
                    </a:ext>
                  </a:extLst>
                </a:gridCol>
                <a:gridCol w="573904">
                  <a:extLst>
                    <a:ext uri="{9D8B030D-6E8A-4147-A177-3AD203B41FA5}">
                      <a16:colId xmlns:a16="http://schemas.microsoft.com/office/drawing/2014/main" val="3972677712"/>
                    </a:ext>
                  </a:extLst>
                </a:gridCol>
                <a:gridCol w="517531">
                  <a:extLst>
                    <a:ext uri="{9D8B030D-6E8A-4147-A177-3AD203B41FA5}">
                      <a16:colId xmlns:a16="http://schemas.microsoft.com/office/drawing/2014/main" val="1159712448"/>
                    </a:ext>
                  </a:extLst>
                </a:gridCol>
                <a:gridCol w="573904">
                  <a:extLst>
                    <a:ext uri="{9D8B030D-6E8A-4147-A177-3AD203B41FA5}">
                      <a16:colId xmlns:a16="http://schemas.microsoft.com/office/drawing/2014/main" val="1346064216"/>
                    </a:ext>
                  </a:extLst>
                </a:gridCol>
                <a:gridCol w="573904">
                  <a:extLst>
                    <a:ext uri="{9D8B030D-6E8A-4147-A177-3AD203B41FA5}">
                      <a16:colId xmlns:a16="http://schemas.microsoft.com/office/drawing/2014/main" val="2871226742"/>
                    </a:ext>
                  </a:extLst>
                </a:gridCol>
              </a:tblGrid>
              <a:tr h="252239">
                <a:tc rowSpan="2">
                  <a:txBody>
                    <a:bodyPr/>
                    <a:lstStyle/>
                    <a:p>
                      <a:r>
                        <a:rPr lang="ru-RU" sz="700" b="1" kern="1200" dirty="0">
                          <a:solidFill>
                            <a:schemeClr val="tx1"/>
                          </a:solidFill>
                          <a:latin typeface="+mn-lt"/>
                          <a:ea typeface="+mn-ea"/>
                          <a:cs typeface="+mn-cs"/>
                        </a:rPr>
                        <a:t xml:space="preserve">Category</a:t>
                      </a:r>
                      <a:endParaRPr lang="en-US" sz="700" b="1" kern="1200" dirty="0">
                        <a:solidFill>
                          <a:schemeClr val="tx1"/>
                        </a:solidFill>
                        <a:latin typeface="+mn-lt"/>
                        <a:ea typeface="+mn-ea"/>
                        <a:cs typeface="+mn-cs"/>
                      </a:endParaRPr>
                    </a:p>
                  </a:txBody>
                  <a:tcPr marL="72000" marR="72000" marT="18000" marB="18000" anchor="ctr">
                    <a:lnL w="6350" cap="flat" cmpd="sng" algn="ctr">
                      <a:noFill/>
                      <a:prstDash val="solid"/>
                      <a:miter lim="800000"/>
                    </a:lnL>
                    <a:lnR w="9525" cap="flat" cmpd="sng" algn="ctr">
                      <a:solidFill>
                        <a:schemeClr val="bg1"/>
                      </a:solidFill>
                      <a:prstDash val="solid"/>
                      <a:round/>
                      <a:headEnd type="none" w="med" len="med"/>
                      <a:tailEnd type="none" w="med" len="med"/>
                    </a:lnR>
                    <a:lnT w="6350" cap="flat" cmpd="sng" algn="ctr">
                      <a:noFill/>
                      <a:prstDash val="solid"/>
                      <a:miter lim="800000"/>
                    </a:lnT>
                    <a:lnB>
                      <a:noFill/>
                    </a:lnB>
                    <a:lnTlToBr w="12700" cmpd="sng">
                      <a:noFill/>
                      <a:prstDash val="solid"/>
                    </a:lnTlToBr>
                    <a:lnBlToTr w="12700" cmpd="sng">
                      <a:noFill/>
                      <a:prstDash val="solid"/>
                    </a:lnBlToTr>
                    <a:solidFill>
                      <a:schemeClr val="accent2">
                        <a:lumMod val="40000"/>
                        <a:lumOff val="60000"/>
                      </a:schemeClr>
                    </a:solidFill>
                  </a:tcPr>
                </a:tc>
                <a:tc gridSpan="3">
                  <a:txBody>
                    <a:bodyPr/>
                    <a:lstStyle/>
                    <a:p>
                      <a:pPr algn="ctr"/>
                      <a:r>
                        <a:rPr lang="ru-RU" sz="700" b="1" kern="1200" dirty="0">
                          <a:solidFill>
                            <a:schemeClr val="tx1"/>
                          </a:solidFill>
                          <a:latin typeface="+mn-lt"/>
                          <a:ea typeface="+mn-ea"/>
                          <a:cs typeface="+mn-cs"/>
                        </a:rPr>
                        <a:t xml:space="preserve">Total admissions</a:t>
                      </a:r>
                      <a:r>
                        <a:rPr lang="ru-RU" sz="700" b="1" kern="1200" baseline="0" dirty="0">
                          <a:solidFill>
                            <a:schemeClr val="tx1"/>
                          </a:solidFill>
                          <a:latin typeface="+mn-lt"/>
                          <a:ea typeface="+mn-ea"/>
                          <a:cs typeface="+mn-cs"/>
                        </a:rPr>
                        <a:t/>
                      </a:r>
                      <a:endParaRPr lang="en-US" sz="700" b="1" kern="1200" dirty="0">
                        <a:solidFill>
                          <a:schemeClr val="tx1"/>
                        </a:solidFill>
                        <a:latin typeface="+mn-lt"/>
                        <a:ea typeface="+mn-ea"/>
                        <a:cs typeface="+mn-cs"/>
                      </a:endParaRPr>
                    </a:p>
                  </a:txBody>
                  <a:tcPr marL="72000" marR="72000" marT="18000" marB="18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6350" cap="flat" cmpd="sng" algn="ctr">
                      <a:noFill/>
                      <a:prstDash val="solid"/>
                      <a:miter lim="800000"/>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hMerge="1">
                  <a:txBody>
                    <a:bodyPr/>
                    <a:lstStyle/>
                    <a:p>
                      <a:endParaRPr lang="en-US" sz="800" b="1" kern="1200" dirty="0">
                        <a:solidFill>
                          <a:schemeClr val="bg1"/>
                        </a:solidFill>
                        <a:latin typeface="+mn-lt"/>
                        <a:ea typeface="+mn-ea"/>
                        <a:cs typeface="+mn-cs"/>
                      </a:endParaRPr>
                    </a:p>
                  </a:txBody>
                  <a:tcPr/>
                </a:tc>
                <a:tc hMerge="1">
                  <a:txBody>
                    <a:bodyPr/>
                    <a:lstStyle/>
                    <a:p>
                      <a:endParaRPr lang="ru-RU"/>
                    </a:p>
                  </a:txBody>
                  <a:tcPr/>
                </a:tc>
                <a:tc gridSpan="3">
                  <a:txBody>
                    <a:bodyPr/>
                    <a:lstStyle/>
                    <a:p>
                      <a:pPr algn="ctr"/>
                      <a:r>
                        <a:rPr lang="ru-RU" sz="700" b="1" kern="1200" dirty="0">
                          <a:solidFill>
                            <a:schemeClr val="tx1"/>
                          </a:solidFill>
                          <a:latin typeface="+mn-lt"/>
                          <a:ea typeface="+mn-ea"/>
                          <a:cs typeface="+mn-cs"/>
                        </a:rPr>
                        <a:t xml:space="preserve">Confirmed</a:t>
                      </a:r>
                      <a:endParaRPr lang="en-US" sz="700" b="1" kern="1200" dirty="0">
                        <a:solidFill>
                          <a:schemeClr val="tx1"/>
                        </a:solidFill>
                        <a:latin typeface="+mn-lt"/>
                        <a:ea typeface="+mn-ea"/>
                        <a:cs typeface="+mn-cs"/>
                      </a:endParaRPr>
                    </a:p>
                  </a:txBody>
                  <a:tcPr marL="72000" marR="72000" marT="18000" marB="18000" anchor="ctr">
                    <a:lnL w="9525" cap="flat" cmpd="sng" algn="ctr">
                      <a:solidFill>
                        <a:schemeClr val="bg1"/>
                      </a:solidFill>
                      <a:prstDash val="solid"/>
                      <a:round/>
                      <a:headEnd type="none" w="med" len="med"/>
                      <a:tailEnd type="none" w="med" len="med"/>
                    </a:lnL>
                    <a:lnR w="6350" cap="flat" cmpd="sng" algn="ctr">
                      <a:noFill/>
                      <a:prstDash val="solid"/>
                      <a:miter lim="800000"/>
                    </a:lnR>
                    <a:lnT w="6350" cap="flat" cmpd="sng" algn="ctr">
                      <a:noFill/>
                      <a:prstDash val="solid"/>
                      <a:miter lim="800000"/>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hMerge="1">
                  <a:txBody>
                    <a:bodyPr/>
                    <a:lstStyle/>
                    <a:p>
                      <a:endParaRPr lang="en-US" sz="800" b="1" kern="1200" dirty="0">
                        <a:solidFill>
                          <a:schemeClr val="bg1"/>
                        </a:solidFill>
                        <a:latin typeface="+mn-lt"/>
                        <a:ea typeface="+mn-ea"/>
                        <a:cs typeface="+mn-cs"/>
                      </a:endParaRPr>
                    </a:p>
                  </a:txBody>
                  <a:tcPr/>
                </a:tc>
                <a:tc hMerge="1">
                  <a:txBody>
                    <a:bodyPr/>
                    <a:lstStyle/>
                    <a:p>
                      <a:endParaRPr lang="ru-RU"/>
                    </a:p>
                  </a:txBody>
                  <a:tcPr/>
                </a:tc>
                <a:extLst>
                  <a:ext uri="{0D108BD9-81ED-4DB2-BD59-A6C34878D82A}">
                    <a16:rowId xmlns:a16="http://schemas.microsoft.com/office/drawing/2014/main" val="424859040"/>
                  </a:ext>
                </a:extLst>
              </a:tr>
              <a:tr h="252239">
                <a:tc vMerge="1">
                  <a:txBody>
                    <a:bodyPr/>
                    <a:lstStyle/>
                    <a:p>
                      <a:endParaRPr lang="en-US" sz="800" b="1" kern="1200" dirty="0">
                        <a:solidFill>
                          <a:schemeClr val="bg1"/>
                        </a:solidFill>
                        <a:latin typeface="+mn-lt"/>
                        <a:ea typeface="+mn-ea"/>
                        <a:cs typeface="+mn-cs"/>
                      </a:endParaRPr>
                    </a:p>
                  </a:txBody>
                  <a:tcPr>
                    <a:lnR w="12700" cap="flat" cmpd="sng" algn="ctr">
                      <a:solidFill>
                        <a:schemeClr val="bg1"/>
                      </a:solidFill>
                      <a:prstDash val="solid"/>
                      <a:round/>
                      <a:headEnd type="none" w="med" len="med"/>
                      <a:tailEnd type="none" w="med" len="med"/>
                    </a:lnR>
                    <a:solidFill>
                      <a:schemeClr val="accent2"/>
                    </a:solidFill>
                  </a:tcPr>
                </a:tc>
                <a:tc>
                  <a:txBody>
                    <a:bodyPr/>
                    <a:lstStyle/>
                    <a:p>
                      <a:pPr algn="ctr"/>
                      <a:r>
                        <a:rPr lang="en-US" sz="700" b="1" kern="1200" baseline="0" dirty="0">
                          <a:solidFill>
                            <a:schemeClr val="tx1"/>
                          </a:solidFill>
                          <a:latin typeface="+mn-lt"/>
                          <a:ea typeface="+mn-ea"/>
                          <a:cs typeface="+mn-cs"/>
                        </a:rPr>
                        <a:t>202</a:t>
                      </a:r>
                      <a:r>
                        <a:rPr lang="ru-RU" sz="700" b="1" kern="1200" baseline="0" dirty="0">
                          <a:solidFill>
                            <a:schemeClr val="tx1"/>
                          </a:solidFill>
                          <a:latin typeface="+mn-lt"/>
                          <a:ea typeface="+mn-ea"/>
                          <a:cs typeface="+mn-cs"/>
                        </a:rPr>
                        <a:t>4</a:t>
                      </a:r>
                      <a:endParaRPr lang="en-US" sz="700" b="1" kern="1200" dirty="0">
                        <a:solidFill>
                          <a:schemeClr val="tx1"/>
                        </a:solidFill>
                        <a:latin typeface="+mn-lt"/>
                        <a:ea typeface="+mn-ea"/>
                        <a:cs typeface="+mn-cs"/>
                      </a:endParaRPr>
                    </a:p>
                  </a:txBody>
                  <a:tcPr marL="72000" marR="72000" marT="18000" marB="18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ru-RU" sz="700" b="1" kern="1200" dirty="0">
                          <a:solidFill>
                            <a:schemeClr val="tx1"/>
                          </a:solidFill>
                          <a:latin typeface="+mn-lt"/>
                          <a:ea typeface="+mn-ea"/>
                          <a:cs typeface="+mn-cs"/>
                        </a:rPr>
                        <a:t>2025</a:t>
                      </a:r>
                      <a:endParaRPr lang="en-US" sz="700" b="1" kern="1200" dirty="0">
                        <a:solidFill>
                          <a:schemeClr val="tx1"/>
                        </a:solidFill>
                        <a:latin typeface="+mn-lt"/>
                        <a:ea typeface="+mn-ea"/>
                        <a:cs typeface="+mn-cs"/>
                      </a:endParaRPr>
                    </a:p>
                  </a:txBody>
                  <a:tcPr marL="72000" marR="72000" marT="18000" marB="18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700" b="1" kern="1200" dirty="0">
                          <a:solidFill>
                            <a:schemeClr val="tx1"/>
                          </a:solidFill>
                          <a:latin typeface="+mn-lt"/>
                          <a:ea typeface="+mn-ea"/>
                          <a:cs typeface="+mn-cs"/>
                        </a:rPr>
                        <a:t xml:space="preserve">2025 vs 2024*</a:t>
                      </a:r>
                      <a:r>
                        <a:rPr lang="en-US" sz="700" b="1" kern="1200" baseline="0" dirty="0">
                          <a:solidFill>
                            <a:schemeClr val="tx1"/>
                          </a:solidFill>
                          <a:latin typeface="+mn-lt"/>
                          <a:ea typeface="+mn-ea"/>
                          <a:cs typeface="+mn-cs"/>
                        </a:rPr>
                        <a:t/>
                      </a:r>
                      <a:r>
                        <a:rPr lang="ru-RU" sz="700" b="1" kern="1200" baseline="0" dirty="0">
                          <a:solidFill>
                            <a:schemeClr val="tx1"/>
                          </a:solidFill>
                          <a:latin typeface="+mn-lt"/>
                          <a:ea typeface="+mn-ea"/>
                          <a:cs typeface="+mn-cs"/>
                        </a:rPr>
                        <a:t/>
                      </a:r>
                      <a:endParaRPr lang="en-US" sz="700" b="1" kern="1200" dirty="0">
                        <a:solidFill>
                          <a:schemeClr val="tx1"/>
                        </a:solidFill>
                        <a:latin typeface="+mn-lt"/>
                        <a:ea typeface="+mn-ea"/>
                        <a:cs typeface="+mn-cs"/>
                      </a:endParaRPr>
                    </a:p>
                  </a:txBody>
                  <a:tcPr marL="72000" marR="72000" marT="18000" marB="18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ru-RU" sz="700" b="1" kern="1200" baseline="0" dirty="0">
                          <a:solidFill>
                            <a:schemeClr val="tx1"/>
                          </a:solidFill>
                          <a:latin typeface="+mn-lt"/>
                          <a:ea typeface="+mn-ea"/>
                          <a:cs typeface="+mn-cs"/>
                        </a:rPr>
                        <a:t>2024</a:t>
                      </a:r>
                      <a:endParaRPr lang="en-US" sz="700" b="1" kern="1200" dirty="0">
                        <a:solidFill>
                          <a:schemeClr val="tx1"/>
                        </a:solidFill>
                        <a:latin typeface="+mn-lt"/>
                        <a:ea typeface="+mn-ea"/>
                        <a:cs typeface="+mn-cs"/>
                      </a:endParaRPr>
                    </a:p>
                  </a:txBody>
                  <a:tcPr marL="72000" marR="72000" marT="18000" marB="18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ru-RU" sz="700" b="1" kern="1200" dirty="0">
                          <a:solidFill>
                            <a:schemeClr val="tx1"/>
                          </a:solidFill>
                          <a:latin typeface="+mn-lt"/>
                          <a:ea typeface="+mn-ea"/>
                          <a:cs typeface="+mn-cs"/>
                        </a:rPr>
                        <a:t>2025</a:t>
                      </a:r>
                      <a:endParaRPr lang="en-US" sz="700" b="1" kern="1200" dirty="0">
                        <a:solidFill>
                          <a:schemeClr val="tx1"/>
                        </a:solidFill>
                        <a:latin typeface="+mn-lt"/>
                        <a:ea typeface="+mn-ea"/>
                        <a:cs typeface="+mn-cs"/>
                      </a:endParaRPr>
                    </a:p>
                  </a:txBody>
                  <a:tcPr marL="72000" marR="72000" marT="18000" marB="18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ru-RU" sz="700" b="1" kern="1200" dirty="0">
                          <a:solidFill>
                            <a:schemeClr val="tx1"/>
                          </a:solidFill>
                          <a:latin typeface="+mn-lt"/>
                          <a:ea typeface="+mn-ea"/>
                          <a:cs typeface="+mn-cs"/>
                        </a:rPr>
                        <a:t xml:space="preserve">2025 vs 2024*</a:t>
                      </a:r>
                      <a:r>
                        <a:rPr lang="en-US" sz="700" b="1" kern="1200" dirty="0">
                          <a:solidFill>
                            <a:schemeClr val="tx1"/>
                          </a:solidFill>
                          <a:latin typeface="+mn-lt"/>
                          <a:ea typeface="+mn-ea"/>
                          <a:cs typeface="+mn-cs"/>
                        </a:rPr>
                        <a:t/>
                      </a:r>
                      <a:r>
                        <a:rPr lang="ru-RU" sz="700" b="1" kern="1200" dirty="0">
                          <a:solidFill>
                            <a:schemeClr val="tx1"/>
                          </a:solidFill>
                          <a:latin typeface="+mn-lt"/>
                          <a:ea typeface="+mn-ea"/>
                          <a:cs typeface="+mn-cs"/>
                        </a:rPr>
                        <a:t/>
                      </a:r>
                      <a:endParaRPr lang="en-US" sz="700" b="1" kern="1200" dirty="0">
                        <a:solidFill>
                          <a:schemeClr val="tx1"/>
                        </a:solidFill>
                        <a:latin typeface="+mn-lt"/>
                        <a:ea typeface="+mn-ea"/>
                        <a:cs typeface="+mn-cs"/>
                      </a:endParaRPr>
                    </a:p>
                  </a:txBody>
                  <a:tcPr marL="72000" marR="72000" marT="18000" marB="18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409000307"/>
                  </a:ext>
                </a:extLst>
              </a:tr>
              <a:tr h="252239">
                <a:tc>
                  <a:txBody>
                    <a:bodyPr/>
                    <a:lstStyle/>
                    <a:p>
                      <a:pPr marL="0" marR="0" lvl="0" indent="0" algn="l" defTabSz="842388" rtl="0" eaLnBrk="1" fontAlgn="auto"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 xml:space="preserve">Business integrity</a:t>
                      </a:r>
                      <a:endParaRPr lang="en-US" sz="700" b="0" i="0" u="none" strike="noStrike" dirty="0">
                        <a:solidFill>
                          <a:schemeClr val="tx1"/>
                        </a:solidFill>
                        <a:effectLst/>
                        <a:latin typeface="+mn-lt"/>
                      </a:endParaRPr>
                    </a:p>
                  </a:txBody>
                  <a:tcPr marL="72000" marR="72000" marT="18000" marB="18000" anchor="ctr">
                    <a:lnL w="6350" cap="flat" cmpd="sng" algn="ctr">
                      <a:noFill/>
                      <a:prstDash val="solid"/>
                      <a:miter lim="800000"/>
                    </a:lnL>
                    <a:lnR>
                      <a:noFill/>
                    </a:lnR>
                    <a:lnT>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77</a:t>
                      </a:r>
                      <a:endParaRPr lang="en-US" sz="700" dirty="0">
                        <a:solidFill>
                          <a:schemeClr val="tx1"/>
                        </a:solidFill>
                        <a:latin typeface="+mn-lt"/>
                      </a:endParaRPr>
                    </a:p>
                  </a:txBody>
                  <a:tcPr marL="72000" marR="72000" marT="18000" marB="18000" anchor="ctr">
                    <a:lnL>
                      <a:noFill/>
                    </a:lnL>
                    <a:lnR>
                      <a:noFill/>
                    </a:lnR>
                    <a:lnT w="6350" cap="flat" cmpd="sng" algn="ctr">
                      <a:noFill/>
                      <a:prstDash val="solid"/>
                      <a:miter lim="800000"/>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83</a:t>
                      </a:r>
                      <a:endParaRPr lang="en-US" sz="700" dirty="0">
                        <a:solidFill>
                          <a:schemeClr val="tx1"/>
                        </a:solidFill>
                        <a:latin typeface="+mn-lt"/>
                      </a:endParaRPr>
                    </a:p>
                  </a:txBody>
                  <a:tcPr marL="72000" marR="72000" marT="18000" marB="18000" anchor="ctr">
                    <a:lnL>
                      <a:noFill/>
                    </a:lnL>
                    <a:lnR>
                      <a:noFill/>
                    </a:lnR>
                    <a:lnT w="6350" cap="flat" cmpd="sng" algn="ctr">
                      <a:noFill/>
                      <a:prstDash val="solid"/>
                      <a:miter lim="800000"/>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+8%</a:t>
                      </a:r>
                      <a:endParaRPr lang="en-US" sz="700" dirty="0">
                        <a:solidFill>
                          <a:schemeClr val="tx1"/>
                        </a:solidFill>
                        <a:latin typeface="+mn-lt"/>
                      </a:endParaRPr>
                    </a:p>
                  </a:txBody>
                  <a:tcPr marL="72000" marR="72000" marT="18000" marB="18000" anchor="ctr">
                    <a:lnL>
                      <a:noFill/>
                    </a:lnL>
                    <a:lnR>
                      <a:noFill/>
                    </a:lnR>
                    <a:lnT w="6350" cap="flat" cmpd="sng" algn="ctr">
                      <a:noFill/>
                      <a:prstDash val="solid"/>
                      <a:miter lim="800000"/>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kern="1200" dirty="0">
                          <a:solidFill>
                            <a:schemeClr val="tx1"/>
                          </a:solidFill>
                          <a:latin typeface="+mn-lt"/>
                          <a:ea typeface="+mn-ea"/>
                          <a:cs typeface="+mn-cs"/>
                        </a:rPr>
                        <a:t>48</a:t>
                      </a:r>
                      <a:endParaRPr lang="en-US" sz="700" kern="1200" dirty="0">
                        <a:solidFill>
                          <a:schemeClr val="tx1"/>
                        </a:solidFill>
                        <a:latin typeface="+mn-lt"/>
                        <a:ea typeface="+mn-ea"/>
                        <a:cs typeface="+mn-cs"/>
                      </a:endParaRPr>
                    </a:p>
                  </a:txBody>
                  <a:tcPr marL="72000" marR="72000" marT="18000" marB="18000" anchor="ctr">
                    <a:lnL>
                      <a:noFill/>
                    </a:lnL>
                    <a:lnR>
                      <a:noFill/>
                    </a:lnR>
                    <a:lnT w="6350" cap="flat" cmpd="sng" algn="ctr">
                      <a:noFill/>
                      <a:prstDash val="solid"/>
                      <a:miter lim="800000"/>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kern="1200" dirty="0">
                          <a:solidFill>
                            <a:schemeClr val="tx1"/>
                          </a:solidFill>
                          <a:latin typeface="+mn-lt"/>
                          <a:ea typeface="+mn-ea"/>
                          <a:cs typeface="+mn-cs"/>
                        </a:rPr>
                        <a:t>43</a:t>
                      </a:r>
                      <a:endParaRPr lang="en-US" sz="700" kern="1200" dirty="0">
                        <a:solidFill>
                          <a:schemeClr val="tx1"/>
                        </a:solidFill>
                        <a:latin typeface="+mn-lt"/>
                        <a:ea typeface="+mn-ea"/>
                        <a:cs typeface="+mn-cs"/>
                      </a:endParaRPr>
                    </a:p>
                  </a:txBody>
                  <a:tcPr marL="72000" marR="72000" marT="18000" marB="18000" anchor="ctr">
                    <a:lnL>
                      <a:noFill/>
                    </a:lnL>
                    <a:lnR>
                      <a:noFill/>
                    </a:lnR>
                    <a:lnT w="6350" cap="flat" cmpd="sng" algn="ctr">
                      <a:noFill/>
                      <a:prstDash val="solid"/>
                      <a:miter lim="800000"/>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-5%</a:t>
                      </a:r>
                      <a:endParaRPr lang="en-US" sz="700" dirty="0">
                        <a:solidFill>
                          <a:schemeClr val="tx1"/>
                        </a:solidFill>
                        <a:latin typeface="+mn-lt"/>
                      </a:endParaRPr>
                    </a:p>
                  </a:txBody>
                  <a:tcPr marL="72000" marR="72000" marT="18000" marB="18000" anchor="ctr">
                    <a:lnL>
                      <a:noFill/>
                    </a:lnL>
                    <a:lnR w="6350" cap="flat" cmpd="sng" algn="ctr">
                      <a:noFill/>
                      <a:prstDash val="solid"/>
                      <a:miter lim="800000"/>
                    </a:lnR>
                    <a:lnT w="6350" cap="flat" cmpd="sng" algn="ctr">
                      <a:noFill/>
                      <a:prstDash val="solid"/>
                      <a:miter lim="800000"/>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61991576"/>
                  </a:ext>
                </a:extLst>
              </a:tr>
              <a:tr h="252239">
                <a:tc>
                  <a:txBody>
                    <a:bodyPr/>
                    <a:lstStyle/>
                    <a:p>
                      <a:pPr marL="0" marR="0" lvl="0" indent="0" algn="l" defTabSz="842388" rtl="0" eaLnBrk="1" fontAlgn="auto"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 xml:space="preserve">Sustainability</a:t>
                      </a:r>
                      <a:endParaRPr lang="en-US" sz="700" b="0" i="0" u="none" strike="noStrike" dirty="0">
                        <a:solidFill>
                          <a:schemeClr val="tx1"/>
                        </a:solidFill>
                        <a:effectLst/>
                        <a:latin typeface="+mn-lt"/>
                      </a:endParaRPr>
                    </a:p>
                  </a:txBody>
                  <a:tcPr marL="72000" marR="72000" marT="18000" marB="18000" anchor="ctr">
                    <a:lnL w="6350" cap="flat" cmpd="sng" algn="ctr">
                      <a:noFill/>
                      <a:prstDash val="solid"/>
                      <a:miter lim="800000"/>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67</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64</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-4%</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kern="1200" dirty="0">
                          <a:solidFill>
                            <a:schemeClr val="tx1"/>
                          </a:solidFill>
                          <a:latin typeface="+mn-lt"/>
                          <a:ea typeface="+mn-ea"/>
                          <a:cs typeface="+mn-cs"/>
                        </a:rPr>
                        <a:t>22</a:t>
                      </a:r>
                      <a:endParaRPr lang="en-US" sz="700"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kern="1200" dirty="0">
                          <a:solidFill>
                            <a:schemeClr val="tx1"/>
                          </a:solidFill>
                          <a:latin typeface="+mn-lt"/>
                          <a:ea typeface="+mn-ea"/>
                          <a:cs typeface="+mn-cs"/>
                        </a:rPr>
                        <a:t>22</a:t>
                      </a:r>
                      <a:endParaRPr lang="en-US" sz="700"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+8%</a:t>
                      </a:r>
                      <a:endParaRPr lang="en-US" sz="700" dirty="0">
                        <a:solidFill>
                          <a:schemeClr val="tx1"/>
                        </a:solidFill>
                        <a:latin typeface="+mn-lt"/>
                      </a:endParaRPr>
                    </a:p>
                  </a:txBody>
                  <a:tcPr marL="72000" marR="72000" marT="18000" marB="18000" anchor="ctr">
                    <a:lnL>
                      <a:noFill/>
                    </a:lnL>
                    <a:lnR w="6350" cap="flat" cmpd="sng" algn="ctr">
                      <a:noFill/>
                      <a:prstDash val="solid"/>
                      <a:miter lim="800000"/>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03160694"/>
                  </a:ext>
                </a:extLst>
              </a:tr>
              <a:tr h="252239">
                <a:tc>
                  <a:txBody>
                    <a:bodyPr/>
                    <a:lstStyle/>
                    <a:p>
                      <a:pPr marL="0" marR="0" lvl="0" indent="0" algn="l" defTabSz="842388" rtl="0" eaLnBrk="1" fontAlgn="auto"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 xml:space="preserve">Fraud, corruption and AML/CFT</a:t>
                      </a:r>
                      <a:r>
                        <a:rPr lang="ru-RU" sz="700" b="0" i="0" u="none" strike="noStrike" baseline="0" dirty="0">
                          <a:solidFill>
                            <a:schemeClr val="tx1"/>
                          </a:solidFill>
                          <a:effectLst/>
                          <a:latin typeface="+mn-lt"/>
                        </a:rPr>
                        <a:t/>
                      </a:r>
                      <a:endParaRPr lang="en-US" sz="700" b="0" i="0" u="none" strike="noStrike" dirty="0">
                        <a:solidFill>
                          <a:schemeClr val="tx1"/>
                        </a:solidFill>
                        <a:effectLst/>
                        <a:latin typeface="+mn-lt"/>
                      </a:endParaRPr>
                    </a:p>
                  </a:txBody>
                  <a:tcPr marL="72000" marR="72000" marT="18000" marB="18000" anchor="ctr">
                    <a:lnL w="6350" cap="flat" cmpd="sng" algn="ctr">
                      <a:noFill/>
                      <a:prstDash val="solid"/>
                      <a:miter lim="800000"/>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32</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50</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+56%</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kern="1200" dirty="0">
                          <a:solidFill>
                            <a:schemeClr val="tx1"/>
                          </a:solidFill>
                          <a:latin typeface="+mn-lt"/>
                          <a:ea typeface="+mn-ea"/>
                          <a:cs typeface="+mn-cs"/>
                        </a:rPr>
                        <a:t>15</a:t>
                      </a:r>
                      <a:endParaRPr lang="en-US" sz="700"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kern="1200" dirty="0">
                          <a:solidFill>
                            <a:schemeClr val="tx1"/>
                          </a:solidFill>
                          <a:latin typeface="+mn-lt"/>
                          <a:ea typeface="+mn-ea"/>
                          <a:cs typeface="+mn-cs"/>
                        </a:rPr>
                        <a:t>30</a:t>
                      </a:r>
                      <a:endParaRPr lang="en-US" sz="700"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+11%</a:t>
                      </a:r>
                      <a:endParaRPr lang="en-US" sz="700" dirty="0">
                        <a:solidFill>
                          <a:schemeClr val="tx1"/>
                        </a:solidFill>
                        <a:latin typeface="+mn-lt"/>
                      </a:endParaRPr>
                    </a:p>
                  </a:txBody>
                  <a:tcPr marL="72000" marR="72000" marT="18000" marB="18000" anchor="ctr">
                    <a:lnL>
                      <a:noFill/>
                    </a:lnL>
                    <a:lnR w="6350" cap="flat" cmpd="sng" algn="ctr">
                      <a:noFill/>
                      <a:prstDash val="solid"/>
                      <a:miter lim="800000"/>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49845"/>
                  </a:ext>
                </a:extLst>
              </a:tr>
              <a:tr h="252239">
                <a:tc>
                  <a:txBody>
                    <a:bodyPr/>
                    <a:lstStyle/>
                    <a:p>
                      <a:pPr marL="0" marR="0" lvl="0" indent="0" algn="l" defTabSz="842388" rtl="0" eaLnBrk="1" fontAlgn="auto"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 xml:space="preserve">General</a:t>
                      </a:r>
                      <a:endParaRPr lang="en-US" sz="700" b="0" i="0" u="none" strike="noStrike" dirty="0">
                        <a:solidFill>
                          <a:schemeClr val="tx1"/>
                        </a:solidFill>
                        <a:effectLst/>
                        <a:latin typeface="+mn-lt"/>
                      </a:endParaRPr>
                    </a:p>
                  </a:txBody>
                  <a:tcPr marL="72000" marR="72000" marT="18000" marB="18000" anchor="ctr">
                    <a:lnL w="6350" cap="flat" cmpd="sng" algn="ctr">
                      <a:noFill/>
                      <a:prstDash val="solid"/>
                      <a:miter lim="800000"/>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8</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11</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+38%</a:t>
                      </a:r>
                      <a:endParaRPr lang="en-US" sz="700"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kern="1200" dirty="0">
                          <a:solidFill>
                            <a:schemeClr val="tx1"/>
                          </a:solidFill>
                          <a:latin typeface="+mn-lt"/>
                          <a:ea typeface="+mn-ea"/>
                          <a:cs typeface="+mn-cs"/>
                        </a:rPr>
                        <a:t>4</a:t>
                      </a:r>
                      <a:endParaRPr lang="en-US" sz="700"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kern="1200" dirty="0">
                          <a:solidFill>
                            <a:schemeClr val="tx1"/>
                          </a:solidFill>
                          <a:latin typeface="+mn-lt"/>
                          <a:ea typeface="+mn-ea"/>
                          <a:cs typeface="+mn-cs"/>
                        </a:rPr>
                        <a:t>7</a:t>
                      </a:r>
                      <a:endParaRPr lang="en-US" sz="700"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dirty="0">
                          <a:solidFill>
                            <a:schemeClr val="tx1"/>
                          </a:solidFill>
                          <a:latin typeface="+mn-lt"/>
                        </a:rPr>
                        <a:t>+11%</a:t>
                      </a:r>
                      <a:endParaRPr lang="en-US" sz="700" dirty="0">
                        <a:solidFill>
                          <a:schemeClr val="tx1"/>
                        </a:solidFill>
                        <a:latin typeface="+mn-lt"/>
                      </a:endParaRPr>
                    </a:p>
                  </a:txBody>
                  <a:tcPr marL="72000" marR="72000" marT="18000" marB="18000" anchor="ctr">
                    <a:lnL>
                      <a:noFill/>
                    </a:lnL>
                    <a:lnR w="6350" cap="flat" cmpd="sng" algn="ctr">
                      <a:noFill/>
                      <a:prstDash val="solid"/>
                      <a:miter lim="800000"/>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42736426"/>
                  </a:ext>
                </a:extLst>
              </a:tr>
              <a:tr h="252239">
                <a:tc>
                  <a:txBody>
                    <a:bodyPr/>
                    <a:lstStyle/>
                    <a:p>
                      <a:pPr marL="0" marR="0" lvl="0" indent="0" algn="l" defTabSz="842388" rtl="0" eaLnBrk="1" fontAlgn="auto" latinLnBrk="0" hangingPunct="1">
                        <a:lnSpc>
                          <a:spcPct val="100000"/>
                        </a:lnSpc>
                        <a:spcBef>
                          <a:spcPts val="0"/>
                        </a:spcBef>
                        <a:spcAft>
                          <a:spcPts val="0"/>
                        </a:spcAft>
                        <a:buClrTx/>
                        <a:buSzTx/>
                        <a:buFontTx/>
                        <a:buNone/>
                        <a:tabLst/>
                        <a:defRPr/>
                      </a:pPr>
                      <a:r>
                        <a:rPr lang="ru-RU" sz="700" b="1" i="0" u="none" strike="noStrike" dirty="0">
                          <a:solidFill>
                            <a:schemeClr val="tx1"/>
                          </a:solidFill>
                          <a:effectLst/>
                          <a:latin typeface="+mn-lt"/>
                        </a:rPr>
                        <a:t xml:space="preserve">Total</a:t>
                      </a:r>
                      <a:endParaRPr lang="en-US" sz="700" b="1" i="0" u="none" strike="noStrike" dirty="0">
                        <a:solidFill>
                          <a:schemeClr val="tx1"/>
                        </a:solidFill>
                        <a:effectLst/>
                        <a:latin typeface="+mn-lt"/>
                      </a:endParaRPr>
                    </a:p>
                  </a:txBody>
                  <a:tcPr marL="72000" marR="72000" marT="18000" marB="18000" anchor="ctr">
                    <a:lnL w="6350" cap="flat" cmpd="sng" algn="ctr">
                      <a:noFill/>
                      <a:prstDash val="solid"/>
                      <a:miter lim="800000"/>
                    </a:lnL>
                    <a:lnR>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b="1" kern="1200" dirty="0">
                          <a:solidFill>
                            <a:schemeClr val="tx1"/>
                          </a:solidFill>
                          <a:latin typeface="+mn-lt"/>
                          <a:ea typeface="+mn-ea"/>
                          <a:cs typeface="+mn-cs"/>
                        </a:rPr>
                        <a:t>184</a:t>
                      </a:r>
                      <a:endParaRPr lang="en-US" sz="700" b="1"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b="1" kern="1200" dirty="0">
                          <a:solidFill>
                            <a:schemeClr val="tx1"/>
                          </a:solidFill>
                          <a:latin typeface="+mn-lt"/>
                          <a:ea typeface="+mn-ea"/>
                          <a:cs typeface="+mn-cs"/>
                        </a:rPr>
                        <a:t>208</a:t>
                      </a:r>
                      <a:endParaRPr lang="en-US" sz="700" b="1"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ru-RU" sz="700" b="1" dirty="0">
                          <a:solidFill>
                            <a:schemeClr val="tx1"/>
                          </a:solidFill>
                          <a:latin typeface="+mn-lt"/>
                        </a:rPr>
                        <a:t>+13%</a:t>
                      </a:r>
                      <a:endParaRPr lang="en-US" sz="700" b="1" dirty="0">
                        <a:solidFill>
                          <a:schemeClr val="tx1"/>
                        </a:solidFill>
                        <a:latin typeface="+mn-lt"/>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b="1" kern="1200" dirty="0">
                          <a:solidFill>
                            <a:schemeClr val="tx1"/>
                          </a:solidFill>
                          <a:latin typeface="+mn-lt"/>
                          <a:ea typeface="+mn-ea"/>
                          <a:cs typeface="+mn-cs"/>
                        </a:rPr>
                        <a:t>89</a:t>
                      </a:r>
                      <a:endParaRPr lang="en-US" sz="700" b="1"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b="1" kern="1200" dirty="0">
                          <a:solidFill>
                            <a:schemeClr val="tx1"/>
                          </a:solidFill>
                          <a:latin typeface="+mn-lt"/>
                          <a:ea typeface="+mn-ea"/>
                          <a:cs typeface="+mn-cs"/>
                        </a:rPr>
                        <a:t>102</a:t>
                      </a:r>
                      <a:endParaRPr lang="en-US" sz="700" b="1" kern="1200" dirty="0">
                        <a:solidFill>
                          <a:schemeClr val="tx1"/>
                        </a:solidFill>
                        <a:latin typeface="+mn-lt"/>
                        <a:ea typeface="+mn-ea"/>
                        <a:cs typeface="+mn-cs"/>
                      </a:endParaRPr>
                    </a:p>
                  </a:txBody>
                  <a:tcPr marL="72000" marR="72000" marT="18000" marB="18000" anchor="ctr">
                    <a:lnL>
                      <a:noFill/>
                    </a:lnL>
                    <a:lnR>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583170" rtl="0" eaLnBrk="1" latinLnBrk="0" hangingPunct="1"/>
                      <a:r>
                        <a:rPr lang="ru-RU" sz="700" b="1" kern="1200" dirty="0">
                          <a:solidFill>
                            <a:schemeClr val="tx1"/>
                          </a:solidFill>
                          <a:latin typeface="+mn-lt"/>
                          <a:ea typeface="+mn-ea"/>
                          <a:cs typeface="+mn-cs"/>
                        </a:rPr>
                        <a:t>+4%</a:t>
                      </a:r>
                      <a:endParaRPr lang="en-US" sz="700" b="1" kern="1200" dirty="0">
                        <a:solidFill>
                          <a:schemeClr val="tx1"/>
                        </a:solidFill>
                        <a:latin typeface="+mn-lt"/>
                        <a:ea typeface="+mn-ea"/>
                        <a:cs typeface="+mn-cs"/>
                      </a:endParaRPr>
                    </a:p>
                  </a:txBody>
                  <a:tcPr marL="72000" marR="72000" marT="18000" marB="18000" anchor="ctr">
                    <a:lnL>
                      <a:noFill/>
                    </a:lnL>
                    <a:lnR w="6350" cap="flat" cmpd="sng" algn="ctr">
                      <a:noFill/>
                      <a:prstDash val="solid"/>
                      <a:miter lim="800000"/>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9237197"/>
                  </a:ext>
                </a:extLst>
              </a:tr>
            </a:tbl>
          </a:graphicData>
        </a:graphic>
      </p:graphicFrame>
      <p:sp>
        <p:nvSpPr>
          <p:cNvPr id="13" name="TextBox 12">
            <a:extLst>
              <a:ext uri="{FF2B5EF4-FFF2-40B4-BE49-F238E27FC236}">
                <a16:creationId xmlns:a16="http://schemas.microsoft.com/office/drawing/2014/main" id="{44E14431-2FDD-428F-8F94-B1D4602C7328}"/>
              </a:ext>
            </a:extLst>
          </p:cNvPr>
          <p:cNvSpPr txBox="1"/>
          <p:nvPr/>
        </p:nvSpPr>
        <p:spPr>
          <a:xfrm>
            <a:off x="7064760" y="3350364"/>
            <a:ext cx="4987941" cy="276999"/>
          </a:xfrm>
          <a:prstGeom prst="rect">
            <a:avLst/>
          </a:prstGeom>
        </p:spPr>
        <p:txBody>
          <a:bodyPr wrap="square" lIns="0" tIns="0" rIns="0" bIns="0" rtlCol="0">
            <a:spAutoFit/>
          </a:bodyPr>
          <a:lstStyle/>
          <a:p>
            <a:r>
              <a:rPr lang="ru-RU" sz="600" i="1" dirty="0"/>
              <a:t xml:space="preserve">* The percentage of confirmed requests is calculated from the ratio of all received requests, minus requests in progress and requests that are not possible, to completed confirmed requests (slide 11)</a:t>
            </a:r>
            <a:r>
              <a:rPr lang="ru-RU" sz="600" i="1" dirty="0" smtClean="0"/>
              <a:t/>
            </a:r>
            <a:endParaRPr lang="ru-RU" sz="600" i="1" dirty="0"/>
          </a:p>
          <a:p>
            <a:endParaRPr lang="ru-RU" sz="600" i="1" dirty="0"/>
          </a:p>
        </p:txBody>
      </p:sp>
      <p:sp>
        <p:nvSpPr>
          <p:cNvPr id="14" name="Rectangle 46">
            <a:extLst>
              <a:ext uri="{FF2B5EF4-FFF2-40B4-BE49-F238E27FC236}">
                <a16:creationId xmlns:a16="http://schemas.microsoft.com/office/drawing/2014/main" id="{B174D7A1-D58A-4771-90FF-27AF634C5C6E}"/>
              </a:ext>
            </a:extLst>
          </p:cNvPr>
          <p:cNvSpPr/>
          <p:nvPr/>
        </p:nvSpPr>
        <p:spPr>
          <a:xfrm>
            <a:off x="4302303" y="2404439"/>
            <a:ext cx="1008163" cy="323165"/>
          </a:xfrm>
          <a:prstGeom prst="rect">
            <a:avLst/>
          </a:prstGeom>
        </p:spPr>
        <p:txBody>
          <a:bodyPr wrap="square" lIns="0" tIns="0" rIns="0" bIns="0">
            <a:spAutoFit/>
          </a:bodyPr>
          <a:lstStyle/>
          <a:p>
            <a:pPr algn="ctr" fontAlgn="ctr"/>
            <a:r>
              <a:rPr lang="ru-RU" sz="700" dirty="0"/>
              <a:t xml:space="preserve">Total cases and proportion of confirmed claims</a:t>
            </a:r>
            <a:endParaRPr lang="en-US" sz="700" dirty="0"/>
          </a:p>
        </p:txBody>
      </p:sp>
      <p:cxnSp>
        <p:nvCxnSpPr>
          <p:cNvPr id="15" name="Прямая соединительная линия 14">
            <a:extLst>
              <a:ext uri="{FF2B5EF4-FFF2-40B4-BE49-F238E27FC236}">
                <a16:creationId xmlns:a16="http://schemas.microsoft.com/office/drawing/2014/main" id="{CB498603-DF7D-4171-A1A2-168121CE6063}"/>
              </a:ext>
            </a:extLst>
          </p:cNvPr>
          <p:cNvCxnSpPr>
            <a:cxnSpLocks/>
          </p:cNvCxnSpPr>
          <p:nvPr/>
        </p:nvCxnSpPr>
        <p:spPr>
          <a:xfrm flipH="1" flipV="1">
            <a:off x="3756932" y="2162765"/>
            <a:ext cx="669968" cy="403257"/>
          </a:xfrm>
          <a:prstGeom prst="line">
            <a:avLst/>
          </a:prstGeom>
          <a:no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Прямая соединительная линия 15">
            <a:extLst>
              <a:ext uri="{FF2B5EF4-FFF2-40B4-BE49-F238E27FC236}">
                <a16:creationId xmlns:a16="http://schemas.microsoft.com/office/drawing/2014/main" id="{627C3E76-26EC-4378-8EAB-E80BD74DF57A}"/>
              </a:ext>
            </a:extLst>
          </p:cNvPr>
          <p:cNvCxnSpPr>
            <a:cxnSpLocks/>
          </p:cNvCxnSpPr>
          <p:nvPr/>
        </p:nvCxnSpPr>
        <p:spPr>
          <a:xfrm flipV="1">
            <a:off x="5185422" y="2183619"/>
            <a:ext cx="824782" cy="382403"/>
          </a:xfrm>
          <a:prstGeom prst="line">
            <a:avLst/>
          </a:prstGeom>
          <a:no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grpSp>
        <p:nvGrpSpPr>
          <p:cNvPr id="18" name="Группа 17">
            <a:extLst>
              <a:ext uri="{FF2B5EF4-FFF2-40B4-BE49-F238E27FC236}">
                <a16:creationId xmlns:a16="http://schemas.microsoft.com/office/drawing/2014/main" id="{AB6EF070-D782-4610-9EC4-40ED67FE9843}"/>
              </a:ext>
            </a:extLst>
          </p:cNvPr>
          <p:cNvGrpSpPr/>
          <p:nvPr/>
        </p:nvGrpSpPr>
        <p:grpSpPr>
          <a:xfrm>
            <a:off x="5951376" y="2035300"/>
            <a:ext cx="316483" cy="264787"/>
            <a:chOff x="5893854" y="2173372"/>
            <a:chExt cx="316483" cy="264787"/>
          </a:xfrm>
        </p:grpSpPr>
        <p:sp>
          <p:nvSpPr>
            <p:cNvPr id="19" name="Text Placeholder 39">
              <a:extLst>
                <a:ext uri="{FF2B5EF4-FFF2-40B4-BE49-F238E27FC236}">
                  <a16:creationId xmlns:a16="http://schemas.microsoft.com/office/drawing/2014/main" id="{7496C15A-24A2-4F93-A5AC-01F8E2C7A5E9}"/>
                </a:ext>
              </a:extLst>
            </p:cNvPr>
            <p:cNvSpPr txBox="1">
              <a:spLocks/>
            </p:cNvSpPr>
            <p:nvPr/>
          </p:nvSpPr>
          <p:spPr>
            <a:xfrm>
              <a:off x="5893854" y="2173372"/>
              <a:ext cx="296082" cy="107722"/>
            </a:xfrm>
            <a:prstGeom prst="rect">
              <a:avLst/>
            </a:prstGeom>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ru-RU" sz="700" b="1" dirty="0">
                  <a:solidFill>
                    <a:schemeClr val="tx1">
                      <a:lumMod val="60000"/>
                      <a:lumOff val="40000"/>
                    </a:schemeClr>
                  </a:solidFill>
                </a:rPr>
                <a:t>208</a:t>
              </a:r>
              <a:endParaRPr lang="en-US" sz="700" b="1" dirty="0">
                <a:solidFill>
                  <a:schemeClr val="tx1">
                    <a:lumMod val="60000"/>
                    <a:lumOff val="40000"/>
                  </a:schemeClr>
                </a:solidFill>
              </a:endParaRPr>
            </a:p>
          </p:txBody>
        </p:sp>
        <p:sp>
          <p:nvSpPr>
            <p:cNvPr id="20" name="Text Placeholder 39">
              <a:extLst>
                <a:ext uri="{FF2B5EF4-FFF2-40B4-BE49-F238E27FC236}">
                  <a16:creationId xmlns:a16="http://schemas.microsoft.com/office/drawing/2014/main" id="{ED279D58-3103-498C-943F-C480EA4186C5}"/>
                </a:ext>
              </a:extLst>
            </p:cNvPr>
            <p:cNvSpPr txBox="1">
              <a:spLocks/>
            </p:cNvSpPr>
            <p:nvPr/>
          </p:nvSpPr>
          <p:spPr>
            <a:xfrm>
              <a:off x="5914255" y="2330437"/>
              <a:ext cx="296082" cy="107722"/>
            </a:xfrm>
            <a:prstGeom prst="rect">
              <a:avLst/>
            </a:prstGeom>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700" b="1" dirty="0">
                  <a:solidFill>
                    <a:schemeClr val="tx1">
                      <a:lumMod val="60000"/>
                      <a:lumOff val="40000"/>
                    </a:schemeClr>
                  </a:solidFill>
                </a:rPr>
                <a:t>5</a:t>
              </a:r>
              <a:r>
                <a:rPr lang="ru-RU" sz="700" b="1" dirty="0">
                  <a:solidFill>
                    <a:schemeClr val="tx1">
                      <a:lumMod val="60000"/>
                      <a:lumOff val="40000"/>
                    </a:schemeClr>
                  </a:solidFill>
                </a:rPr>
                <a:t>9%</a:t>
              </a:r>
              <a:endParaRPr lang="en-US" sz="700" b="1" dirty="0">
                <a:solidFill>
                  <a:schemeClr val="tx2"/>
                </a:solidFill>
              </a:endParaRPr>
            </a:p>
          </p:txBody>
        </p:sp>
        <p:cxnSp>
          <p:nvCxnSpPr>
            <p:cNvPr id="21" name="Straight Connector 55">
              <a:extLst>
                <a:ext uri="{FF2B5EF4-FFF2-40B4-BE49-F238E27FC236}">
                  <a16:creationId xmlns:a16="http://schemas.microsoft.com/office/drawing/2014/main" id="{23F9FEBB-C7D4-4CD5-A5D3-F50255732348}"/>
                </a:ext>
              </a:extLst>
            </p:cNvPr>
            <p:cNvCxnSpPr>
              <a:cxnSpLocks/>
            </p:cNvCxnSpPr>
            <p:nvPr/>
          </p:nvCxnSpPr>
          <p:spPr>
            <a:xfrm>
              <a:off x="5940126" y="2316668"/>
              <a:ext cx="210481" cy="0"/>
            </a:xfrm>
            <a:prstGeom prst="line">
              <a:avLst/>
            </a:prstGeom>
            <a:noFill/>
            <a:ln w="15875" cmpd="sng">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22" name="Группа 21">
            <a:extLst>
              <a:ext uri="{FF2B5EF4-FFF2-40B4-BE49-F238E27FC236}">
                <a16:creationId xmlns:a16="http://schemas.microsoft.com/office/drawing/2014/main" id="{E9A71EF0-7A6F-4EAB-8802-89C603A04814}"/>
              </a:ext>
            </a:extLst>
          </p:cNvPr>
          <p:cNvGrpSpPr/>
          <p:nvPr/>
        </p:nvGrpSpPr>
        <p:grpSpPr>
          <a:xfrm>
            <a:off x="3495967" y="2036254"/>
            <a:ext cx="311876" cy="257363"/>
            <a:chOff x="3438445" y="2174326"/>
            <a:chExt cx="311876" cy="257363"/>
          </a:xfrm>
        </p:grpSpPr>
        <p:sp>
          <p:nvSpPr>
            <p:cNvPr id="23" name="Text Placeholder 39">
              <a:extLst>
                <a:ext uri="{FF2B5EF4-FFF2-40B4-BE49-F238E27FC236}">
                  <a16:creationId xmlns:a16="http://schemas.microsoft.com/office/drawing/2014/main" id="{06D87AAC-03DD-470A-A70F-4594CFE0F514}"/>
                </a:ext>
              </a:extLst>
            </p:cNvPr>
            <p:cNvSpPr txBox="1">
              <a:spLocks/>
            </p:cNvSpPr>
            <p:nvPr/>
          </p:nvSpPr>
          <p:spPr>
            <a:xfrm>
              <a:off x="3438445" y="2174326"/>
              <a:ext cx="296082" cy="107722"/>
            </a:xfrm>
            <a:prstGeom prst="rect">
              <a:avLst/>
            </a:prstGeom>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ru-RU" sz="700" b="1" dirty="0">
                  <a:solidFill>
                    <a:schemeClr val="tx1">
                      <a:lumMod val="60000"/>
                      <a:lumOff val="40000"/>
                    </a:schemeClr>
                  </a:solidFill>
                </a:rPr>
                <a:t>184</a:t>
              </a:r>
              <a:endParaRPr lang="en-US" sz="700" b="1" dirty="0">
                <a:solidFill>
                  <a:schemeClr val="tx1">
                    <a:lumMod val="60000"/>
                    <a:lumOff val="40000"/>
                  </a:schemeClr>
                </a:solidFill>
              </a:endParaRPr>
            </a:p>
          </p:txBody>
        </p:sp>
        <p:sp>
          <p:nvSpPr>
            <p:cNvPr id="24" name="Text Placeholder 39">
              <a:extLst>
                <a:ext uri="{FF2B5EF4-FFF2-40B4-BE49-F238E27FC236}">
                  <a16:creationId xmlns:a16="http://schemas.microsoft.com/office/drawing/2014/main" id="{8B3A6815-4522-4A35-8FCC-9F6DD764C819}"/>
                </a:ext>
              </a:extLst>
            </p:cNvPr>
            <p:cNvSpPr txBox="1">
              <a:spLocks/>
            </p:cNvSpPr>
            <p:nvPr/>
          </p:nvSpPr>
          <p:spPr>
            <a:xfrm>
              <a:off x="3454239" y="2323967"/>
              <a:ext cx="296082" cy="107722"/>
            </a:xfrm>
            <a:prstGeom prst="rect">
              <a:avLst/>
            </a:prstGeom>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ru-RU" sz="700" b="1" dirty="0">
                  <a:solidFill>
                    <a:schemeClr val="tx1">
                      <a:lumMod val="60000"/>
                      <a:lumOff val="40000"/>
                    </a:schemeClr>
                  </a:solidFill>
                </a:rPr>
                <a:t>54%</a:t>
              </a:r>
              <a:endParaRPr lang="en-US" sz="700" b="1" dirty="0">
                <a:solidFill>
                  <a:schemeClr val="tx1">
                    <a:lumMod val="60000"/>
                    <a:lumOff val="40000"/>
                  </a:schemeClr>
                </a:solidFill>
              </a:endParaRPr>
            </a:p>
          </p:txBody>
        </p:sp>
        <p:cxnSp>
          <p:nvCxnSpPr>
            <p:cNvPr id="25" name="Straight Connector 55">
              <a:extLst>
                <a:ext uri="{FF2B5EF4-FFF2-40B4-BE49-F238E27FC236}">
                  <a16:creationId xmlns:a16="http://schemas.microsoft.com/office/drawing/2014/main" id="{B67BE859-85BF-4F73-BEA3-2D1A716B9831}"/>
                </a:ext>
              </a:extLst>
            </p:cNvPr>
            <p:cNvCxnSpPr>
              <a:cxnSpLocks/>
            </p:cNvCxnSpPr>
            <p:nvPr/>
          </p:nvCxnSpPr>
          <p:spPr>
            <a:xfrm>
              <a:off x="3468448" y="2300837"/>
              <a:ext cx="210481" cy="0"/>
            </a:xfrm>
            <a:prstGeom prst="line">
              <a:avLst/>
            </a:prstGeom>
            <a:noFill/>
            <a:ln w="15875" cmpd="sng">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26" name="Группа 25">
            <a:extLst>
              <a:ext uri="{FF2B5EF4-FFF2-40B4-BE49-F238E27FC236}">
                <a16:creationId xmlns:a16="http://schemas.microsoft.com/office/drawing/2014/main" id="{0964A5AF-B054-40AA-8F50-B23F6D7B4F82}"/>
              </a:ext>
            </a:extLst>
          </p:cNvPr>
          <p:cNvGrpSpPr/>
          <p:nvPr/>
        </p:nvGrpSpPr>
        <p:grpSpPr>
          <a:xfrm>
            <a:off x="3646323" y="2899914"/>
            <a:ext cx="2134545" cy="97019"/>
            <a:chOff x="3511215" y="3055121"/>
            <a:chExt cx="2134545" cy="97019"/>
          </a:xfrm>
        </p:grpSpPr>
        <p:grpSp>
          <p:nvGrpSpPr>
            <p:cNvPr id="27" name="Группа 26">
              <a:extLst>
                <a:ext uri="{FF2B5EF4-FFF2-40B4-BE49-F238E27FC236}">
                  <a16:creationId xmlns:a16="http://schemas.microsoft.com/office/drawing/2014/main" id="{9C25A9ED-FB9C-445C-827E-F234519A31EB}"/>
                </a:ext>
              </a:extLst>
            </p:cNvPr>
            <p:cNvGrpSpPr/>
            <p:nvPr/>
          </p:nvGrpSpPr>
          <p:grpSpPr>
            <a:xfrm>
              <a:off x="3511215" y="3059807"/>
              <a:ext cx="761023" cy="92333"/>
              <a:chOff x="4703377" y="3564442"/>
              <a:chExt cx="773838" cy="92333"/>
            </a:xfrm>
          </p:grpSpPr>
          <p:sp>
            <p:nvSpPr>
              <p:cNvPr id="34" name="Прямоугольник 33">
                <a:extLst>
                  <a:ext uri="{FF2B5EF4-FFF2-40B4-BE49-F238E27FC236}">
                    <a16:creationId xmlns:a16="http://schemas.microsoft.com/office/drawing/2014/main" id="{699CCFCD-1E98-48E9-9E57-063403C8E739}"/>
                  </a:ext>
                </a:extLst>
              </p:cNvPr>
              <p:cNvSpPr/>
              <p:nvPr/>
            </p:nvSpPr>
            <p:spPr>
              <a:xfrm>
                <a:off x="4703377" y="3587750"/>
                <a:ext cx="45719" cy="45719"/>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600" dirty="0">
                  <a:solidFill>
                    <a:schemeClr val="tx1"/>
                  </a:solidFill>
                </a:endParaRPr>
              </a:p>
            </p:txBody>
          </p:sp>
          <p:sp>
            <p:nvSpPr>
              <p:cNvPr id="35" name="TextBox 34">
                <a:extLst>
                  <a:ext uri="{FF2B5EF4-FFF2-40B4-BE49-F238E27FC236}">
                    <a16:creationId xmlns:a16="http://schemas.microsoft.com/office/drawing/2014/main" id="{40AE3D3A-3C37-4CB6-8A97-292DE0AA3A89}"/>
                  </a:ext>
                </a:extLst>
              </p:cNvPr>
              <p:cNvSpPr txBox="1"/>
              <p:nvPr/>
            </p:nvSpPr>
            <p:spPr>
              <a:xfrm>
                <a:off x="4758077" y="3564442"/>
                <a:ext cx="719138" cy="92333"/>
              </a:xfrm>
              <a:prstGeom prst="rect">
                <a:avLst/>
              </a:prstGeom>
            </p:spPr>
            <p:txBody>
              <a:bodyPr wrap="square" lIns="0" tIns="0" rIns="0" bIns="0" rtlCol="0">
                <a:spAutoFit/>
              </a:bodyPr>
              <a:lstStyle/>
              <a:p>
                <a:r>
                  <a:rPr lang="ru-RU" sz="600" dirty="0"/>
                  <a:t xml:space="preserve">Confirmed</a:t>
                </a:r>
              </a:p>
            </p:txBody>
          </p:sp>
        </p:grpSp>
        <p:grpSp>
          <p:nvGrpSpPr>
            <p:cNvPr id="28" name="Группа 27">
              <a:extLst>
                <a:ext uri="{FF2B5EF4-FFF2-40B4-BE49-F238E27FC236}">
                  <a16:creationId xmlns:a16="http://schemas.microsoft.com/office/drawing/2014/main" id="{6DB27525-8CDE-4CF4-BC99-9029BF01632F}"/>
                </a:ext>
              </a:extLst>
            </p:cNvPr>
            <p:cNvGrpSpPr/>
            <p:nvPr/>
          </p:nvGrpSpPr>
          <p:grpSpPr>
            <a:xfrm>
              <a:off x="4144225" y="3059806"/>
              <a:ext cx="766575" cy="92333"/>
              <a:chOff x="4703377" y="3556375"/>
              <a:chExt cx="779484" cy="92333"/>
            </a:xfrm>
          </p:grpSpPr>
          <p:sp>
            <p:nvSpPr>
              <p:cNvPr id="32" name="Прямоугольник 31">
                <a:extLst>
                  <a:ext uri="{FF2B5EF4-FFF2-40B4-BE49-F238E27FC236}">
                    <a16:creationId xmlns:a16="http://schemas.microsoft.com/office/drawing/2014/main" id="{84BB18BE-1308-4D0A-B76A-FC5B8045B873}"/>
                  </a:ext>
                </a:extLst>
              </p:cNvPr>
              <p:cNvSpPr/>
              <p:nvPr/>
            </p:nvSpPr>
            <p:spPr>
              <a:xfrm>
                <a:off x="4703377" y="3587750"/>
                <a:ext cx="45719" cy="45719"/>
              </a:xfrm>
              <a:prstGeom prst="rect">
                <a:avLst/>
              </a:prstGeom>
              <a:solidFill>
                <a:schemeClr val="accent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600" dirty="0">
                  <a:solidFill>
                    <a:schemeClr val="tx1"/>
                  </a:solidFill>
                </a:endParaRPr>
              </a:p>
            </p:txBody>
          </p:sp>
          <p:sp>
            <p:nvSpPr>
              <p:cNvPr id="33" name="TextBox 32">
                <a:extLst>
                  <a:ext uri="{FF2B5EF4-FFF2-40B4-BE49-F238E27FC236}">
                    <a16:creationId xmlns:a16="http://schemas.microsoft.com/office/drawing/2014/main" id="{4CF5B6E8-1FE8-4A65-B0AC-F119F38BF0CC}"/>
                  </a:ext>
                </a:extLst>
              </p:cNvPr>
              <p:cNvSpPr txBox="1"/>
              <p:nvPr/>
            </p:nvSpPr>
            <p:spPr>
              <a:xfrm>
                <a:off x="4763723" y="3556375"/>
                <a:ext cx="719138" cy="92333"/>
              </a:xfrm>
              <a:prstGeom prst="rect">
                <a:avLst/>
              </a:prstGeom>
            </p:spPr>
            <p:txBody>
              <a:bodyPr wrap="square" lIns="0" tIns="0" rIns="0" bIns="0" rtlCol="0">
                <a:spAutoFit/>
              </a:bodyPr>
              <a:lstStyle/>
              <a:p>
                <a:r>
                  <a:rPr lang="ru-RU" sz="600" dirty="0"/>
                  <a:t xml:space="preserve">Not confirmed</a:t>
                </a:r>
              </a:p>
            </p:txBody>
          </p:sp>
        </p:grpSp>
        <p:grpSp>
          <p:nvGrpSpPr>
            <p:cNvPr id="29" name="Группа 28">
              <a:extLst>
                <a:ext uri="{FF2B5EF4-FFF2-40B4-BE49-F238E27FC236}">
                  <a16:creationId xmlns:a16="http://schemas.microsoft.com/office/drawing/2014/main" id="{822B575D-30CE-4AD5-9F68-442AA8AF6D9C}"/>
                </a:ext>
              </a:extLst>
            </p:cNvPr>
            <p:cNvGrpSpPr/>
            <p:nvPr/>
          </p:nvGrpSpPr>
          <p:grpSpPr>
            <a:xfrm>
              <a:off x="4879185" y="3055121"/>
              <a:ext cx="766575" cy="92333"/>
              <a:chOff x="4703377" y="3556375"/>
              <a:chExt cx="779484" cy="92333"/>
            </a:xfrm>
          </p:grpSpPr>
          <p:sp>
            <p:nvSpPr>
              <p:cNvPr id="30" name="Прямоугольник 29">
                <a:extLst>
                  <a:ext uri="{FF2B5EF4-FFF2-40B4-BE49-F238E27FC236}">
                    <a16:creationId xmlns:a16="http://schemas.microsoft.com/office/drawing/2014/main" id="{D9F229F6-EBF1-4360-8E58-9064459B177E}"/>
                  </a:ext>
                </a:extLst>
              </p:cNvPr>
              <p:cNvSpPr/>
              <p:nvPr/>
            </p:nvSpPr>
            <p:spPr>
              <a:xfrm>
                <a:off x="4703377" y="3587750"/>
                <a:ext cx="45719" cy="45719"/>
              </a:xfrm>
              <a:prstGeom prst="rect">
                <a:avLst/>
              </a:prstGeom>
              <a:solidFill>
                <a:schemeClr val="tx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600" dirty="0">
                  <a:solidFill>
                    <a:schemeClr val="tx1"/>
                  </a:solidFill>
                </a:endParaRPr>
              </a:p>
            </p:txBody>
          </p:sp>
          <p:sp>
            <p:nvSpPr>
              <p:cNvPr id="31" name="TextBox 30">
                <a:extLst>
                  <a:ext uri="{FF2B5EF4-FFF2-40B4-BE49-F238E27FC236}">
                    <a16:creationId xmlns:a16="http://schemas.microsoft.com/office/drawing/2014/main" id="{5EDD46BD-F0A9-402C-95BC-7D009A76BB80}"/>
                  </a:ext>
                </a:extLst>
              </p:cNvPr>
              <p:cNvSpPr txBox="1"/>
              <p:nvPr/>
            </p:nvSpPr>
            <p:spPr>
              <a:xfrm>
                <a:off x="4763723" y="3556375"/>
                <a:ext cx="719138" cy="92333"/>
              </a:xfrm>
              <a:prstGeom prst="rect">
                <a:avLst/>
              </a:prstGeom>
            </p:spPr>
            <p:txBody>
              <a:bodyPr wrap="square" lIns="0" tIns="0" rIns="0" bIns="0" rtlCol="0">
                <a:spAutoFit/>
              </a:bodyPr>
              <a:lstStyle/>
              <a:p>
                <a:r>
                  <a:rPr lang="ru-RU" sz="600" dirty="0"/>
                  <a:t xml:space="preserve">In progress</a:t>
                </a:r>
              </a:p>
            </p:txBody>
          </p:sp>
        </p:grpSp>
      </p:grpSp>
      <p:grpSp>
        <p:nvGrpSpPr>
          <p:cNvPr id="36" name="Группа 35">
            <a:extLst>
              <a:ext uri="{FF2B5EF4-FFF2-40B4-BE49-F238E27FC236}">
                <a16:creationId xmlns:a16="http://schemas.microsoft.com/office/drawing/2014/main" id="{A824408F-885F-4F7E-AD1D-EE9F89496101}"/>
              </a:ext>
            </a:extLst>
          </p:cNvPr>
          <p:cNvGrpSpPr/>
          <p:nvPr/>
        </p:nvGrpSpPr>
        <p:grpSpPr>
          <a:xfrm>
            <a:off x="5509606" y="2897272"/>
            <a:ext cx="779632" cy="92333"/>
            <a:chOff x="4703377" y="3560745"/>
            <a:chExt cx="779632" cy="92333"/>
          </a:xfrm>
        </p:grpSpPr>
        <p:sp>
          <p:nvSpPr>
            <p:cNvPr id="37" name="Прямоугольник 36">
              <a:extLst>
                <a:ext uri="{FF2B5EF4-FFF2-40B4-BE49-F238E27FC236}">
                  <a16:creationId xmlns:a16="http://schemas.microsoft.com/office/drawing/2014/main" id="{7540A422-D4D9-4D61-9578-158D43AF5370}"/>
                </a:ext>
              </a:extLst>
            </p:cNvPr>
            <p:cNvSpPr/>
            <p:nvPr/>
          </p:nvSpPr>
          <p:spPr>
            <a:xfrm>
              <a:off x="4703377" y="3587750"/>
              <a:ext cx="45719" cy="45719"/>
            </a:xfrm>
            <a:prstGeom prst="rect">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400" dirty="0">
                <a:solidFill>
                  <a:schemeClr val="tx1"/>
                </a:solidFill>
              </a:endParaRPr>
            </a:p>
          </p:txBody>
        </p:sp>
        <p:sp>
          <p:nvSpPr>
            <p:cNvPr id="39" name="TextBox 38">
              <a:extLst>
                <a:ext uri="{FF2B5EF4-FFF2-40B4-BE49-F238E27FC236}">
                  <a16:creationId xmlns:a16="http://schemas.microsoft.com/office/drawing/2014/main" id="{B492A81A-0654-403F-BAB9-6232308ADE92}"/>
                </a:ext>
              </a:extLst>
            </p:cNvPr>
            <p:cNvSpPr txBox="1"/>
            <p:nvPr/>
          </p:nvSpPr>
          <p:spPr>
            <a:xfrm>
              <a:off x="4763871" y="3560745"/>
              <a:ext cx="719138" cy="92333"/>
            </a:xfrm>
            <a:prstGeom prst="rect">
              <a:avLst/>
            </a:prstGeom>
          </p:spPr>
          <p:txBody>
            <a:bodyPr wrap="square" lIns="0" tIns="0" rIns="0" bIns="0" rtlCol="0">
              <a:spAutoFit/>
            </a:bodyPr>
            <a:lstStyle/>
            <a:p>
              <a:r>
                <a:rPr lang="en-US" sz="600" dirty="0"/>
                <a:t xml:space="preserve">N/A</a:t>
              </a:r>
              <a:endParaRPr lang="ru-RU" sz="600" dirty="0"/>
            </a:p>
          </p:txBody>
        </p:sp>
      </p:grpSp>
      <p:sp>
        <p:nvSpPr>
          <p:cNvPr id="40" name="TextBox 39">
            <a:extLst>
              <a:ext uri="{FF2B5EF4-FFF2-40B4-BE49-F238E27FC236}">
                <a16:creationId xmlns:a16="http://schemas.microsoft.com/office/drawing/2014/main" id="{E229A5D1-A3DD-49D6-863A-A072607EB8BC}"/>
              </a:ext>
            </a:extLst>
          </p:cNvPr>
          <p:cNvSpPr txBox="1"/>
          <p:nvPr/>
        </p:nvSpPr>
        <p:spPr>
          <a:xfrm>
            <a:off x="5623207" y="1360435"/>
            <a:ext cx="1289304" cy="123111"/>
          </a:xfrm>
          <a:prstGeom prst="rect">
            <a:avLst/>
          </a:prstGeom>
        </p:spPr>
        <p:txBody>
          <a:bodyPr wrap="square" lIns="0" tIns="0" rIns="0" bIns="0" rtlCol="0">
            <a:spAutoFit/>
          </a:bodyPr>
          <a:lstStyle/>
          <a:p>
            <a:r>
              <a:rPr lang="ru-RU" sz="800" b="1" dirty="0"/>
              <a:t xml:space="preserve">Review 12 months 2025</a:t>
            </a:r>
            <a:r>
              <a:rPr lang="ru-RU" sz="800" b="1" dirty="0" err="1"/>
              <a:t/>
            </a:r>
            <a:r>
              <a:rPr lang="ru-RU" sz="800" b="1" dirty="0"/>
              <a:t/>
            </a:r>
          </a:p>
        </p:txBody>
      </p:sp>
    </p:spTree>
    <p:extLst>
      <p:ext uri="{BB962C8B-B14F-4D97-AF65-F5344CB8AC3E}">
        <p14:creationId xmlns:p14="http://schemas.microsoft.com/office/powerpoint/2010/main" val="475671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99F1D-2BA9-571B-7B2D-6C4FB2885B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7DF6FB-E6C5-331D-516B-3AD6B8215F94}"/>
              </a:ext>
            </a:extLst>
          </p:cNvPr>
          <p:cNvSpPr>
            <a:spLocks noGrp="1"/>
          </p:cNvSpPr>
          <p:nvPr>
            <p:ph type="title"/>
          </p:nvPr>
        </p:nvSpPr>
        <p:spPr/>
        <p:txBody>
          <a:bodyPr rtlCol="0"/>
          <a:lstStyle/>
          <a:p>
            <a:pPr rtl="0"/>
            <a:r>
              <a:rPr lang="ru" noProof="0" dirty="0" smtClean="0"/>
              <a:t>Дашборд </a:t>
            </a:r>
            <a:r>
              <a:rPr lang="ru" noProof="0" dirty="0"/>
              <a:t>за </a:t>
            </a:r>
            <a:r>
              <a:rPr lang="ru" dirty="0"/>
              <a:t>4</a:t>
            </a:r>
            <a:r>
              <a:rPr lang="ru" noProof="0" dirty="0" smtClean="0"/>
              <a:t> </a:t>
            </a:r>
            <a:r>
              <a:rPr lang="ru" noProof="0" dirty="0"/>
              <a:t>кв. 2025 г.: </a:t>
            </a:r>
            <a:r>
              <a:rPr lang="en-US" noProof="0" dirty="0"/>
              <a:t/>
            </a:r>
            <a:br>
              <a:rPr lang="en-US" noProof="0" dirty="0"/>
            </a:br>
            <a:r>
              <a:rPr lang="ru" noProof="0" dirty="0">
                <a:solidFill>
                  <a:schemeClr val="tx1"/>
                </a:solidFill>
              </a:rPr>
              <a:t>Ресурсы службы комплаенс (персонал и бюджет, ИТ-решения)</a:t>
            </a:r>
          </a:p>
        </p:txBody>
      </p:sp>
      <p:sp>
        <p:nvSpPr>
          <p:cNvPr id="24" name="Text Placeholder 9">
            <a:extLst>
              <a:ext uri="{FF2B5EF4-FFF2-40B4-BE49-F238E27FC236}">
                <a16:creationId xmlns:a16="http://schemas.microsoft.com/office/drawing/2014/main" id="{40EA35F8-77C9-4DF1-8E08-11D4FF7DD2B2}"/>
              </a:ext>
            </a:extLst>
          </p:cNvPr>
          <p:cNvSpPr txBox="1">
            <a:spLocks/>
          </p:cNvSpPr>
          <p:nvPr/>
        </p:nvSpPr>
        <p:spPr>
          <a:xfrm>
            <a:off x="317499" y="1055012"/>
            <a:ext cx="1806576" cy="369332"/>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200" noProof="0" dirty="0"/>
              <a:t xml:space="preserve">Number</a:t>
            </a:r>
          </a:p>
          <a:p>
            <a:pPr rtl="0"/>
            <a:r>
              <a:rPr lang="ru-RU" sz="1200" noProof="0" dirty="0"/>
              <a:t xml:space="preserve">Personnel and budget</a:t>
            </a:r>
            <a:r>
              <a:rPr lang="ru" sz="1200" noProof="0" dirty="0"/>
              <a:t/>
            </a:r>
          </a:p>
        </p:txBody>
      </p:sp>
      <p:sp>
        <p:nvSpPr>
          <p:cNvPr id="25" name="Text Placeholder 9">
            <a:extLst>
              <a:ext uri="{FF2B5EF4-FFF2-40B4-BE49-F238E27FC236}">
                <a16:creationId xmlns:a16="http://schemas.microsoft.com/office/drawing/2014/main" id="{3E2101D4-4393-4A3E-AF31-204D0C408952}"/>
              </a:ext>
            </a:extLst>
          </p:cNvPr>
          <p:cNvSpPr txBox="1">
            <a:spLocks/>
          </p:cNvSpPr>
          <p:nvPr/>
        </p:nvSpPr>
        <p:spPr>
          <a:xfrm>
            <a:off x="5305953" y="1223648"/>
            <a:ext cx="1803600" cy="215444"/>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400" noProof="0" dirty="0">
                <a:solidFill>
                  <a:schemeClr val="accent5">
                    <a:lumMod val="75000"/>
                    <a:lumOff val="25000"/>
                  </a:schemeClr>
                </a:solidFill>
              </a:rPr>
              <a:t xml:space="preserve">Trends</a:t>
            </a:r>
          </a:p>
        </p:txBody>
      </p:sp>
      <p:sp>
        <p:nvSpPr>
          <p:cNvPr id="28" name="Text Placeholder 9">
            <a:extLst>
              <a:ext uri="{FF2B5EF4-FFF2-40B4-BE49-F238E27FC236}">
                <a16:creationId xmlns:a16="http://schemas.microsoft.com/office/drawing/2014/main" id="{6775D9AF-F712-443F-A395-37086067278F}"/>
              </a:ext>
            </a:extLst>
          </p:cNvPr>
          <p:cNvSpPr txBox="1">
            <a:spLocks/>
          </p:cNvSpPr>
          <p:nvPr/>
        </p:nvSpPr>
        <p:spPr>
          <a:xfrm>
            <a:off x="7525015" y="1114060"/>
            <a:ext cx="1803600" cy="215444"/>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400" noProof="0" dirty="0">
                <a:solidFill>
                  <a:schemeClr val="accent5">
                    <a:lumMod val="75000"/>
                    <a:lumOff val="25000"/>
                  </a:schemeClr>
                </a:solidFill>
              </a:rPr>
              <a:t xml:space="preserve">Issues identified</a:t>
            </a:r>
            <a:r>
              <a:rPr lang="ru" sz="1400" dirty="0">
                <a:solidFill>
                  <a:schemeClr val="accent5">
                    <a:lumMod val="75000"/>
                    <a:lumOff val="25000"/>
                  </a:schemeClr>
                </a:solidFill>
              </a:rPr>
              <a:t/>
            </a:r>
          </a:p>
        </p:txBody>
      </p:sp>
      <p:sp>
        <p:nvSpPr>
          <p:cNvPr id="29" name="Text Placeholder 9">
            <a:extLst>
              <a:ext uri="{FF2B5EF4-FFF2-40B4-BE49-F238E27FC236}">
                <a16:creationId xmlns:a16="http://schemas.microsoft.com/office/drawing/2014/main" id="{12C94115-99C9-4743-BFAD-1DF337FACCDD}"/>
              </a:ext>
            </a:extLst>
          </p:cNvPr>
          <p:cNvSpPr txBox="1">
            <a:spLocks/>
          </p:cNvSpPr>
          <p:nvPr/>
        </p:nvSpPr>
        <p:spPr>
          <a:xfrm>
            <a:off x="9686151" y="1120289"/>
            <a:ext cx="1804987" cy="430887"/>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400" noProof="0" dirty="0">
                <a:solidFill>
                  <a:schemeClr val="accent5">
                    <a:lumMod val="75000"/>
                    <a:lumOff val="25000"/>
                  </a:schemeClr>
                </a:solidFill>
              </a:rPr>
              <a:t xml:space="preserve">Impact on GP 2025</a:t>
            </a:r>
          </a:p>
          <a:p>
            <a:pPr rtl="0"/>
            <a:r>
              <a:rPr lang="ru" sz="1400" noProof="0" dirty="0">
                <a:solidFill>
                  <a:schemeClr val="accent5">
                    <a:lumMod val="75000"/>
                    <a:lumOff val="25000"/>
                  </a:schemeClr>
                </a:solidFill>
              </a:rPr>
              <a:t xml:space="preserve">(lessons learned)</a:t>
            </a:r>
          </a:p>
        </p:txBody>
      </p:sp>
      <p:sp>
        <p:nvSpPr>
          <p:cNvPr id="30" name="Text Placeholder 9">
            <a:extLst>
              <a:ext uri="{FF2B5EF4-FFF2-40B4-BE49-F238E27FC236}">
                <a16:creationId xmlns:a16="http://schemas.microsoft.com/office/drawing/2014/main" id="{5A459493-4750-4B2D-A071-CBBE9E65CEA7}"/>
              </a:ext>
            </a:extLst>
          </p:cNvPr>
          <p:cNvSpPr txBox="1">
            <a:spLocks/>
          </p:cNvSpPr>
          <p:nvPr/>
        </p:nvSpPr>
        <p:spPr>
          <a:xfrm>
            <a:off x="2236682" y="1221782"/>
            <a:ext cx="3754437" cy="215444"/>
          </a:xfrm>
          <a:prstGeom prst="rect">
            <a:avLst/>
          </a:prstGeom>
        </p:spPr>
        <p:txBody>
          <a:bodyPr wrap="square" lIns="0" tIns="0" rIns="0" bIns="0" rtlCol="0" anchor="t">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rtl="0"/>
            <a:r>
              <a:rPr lang="ru" sz="1400" noProof="0" dirty="0">
                <a:solidFill>
                  <a:schemeClr val="accent5">
                    <a:lumMod val="75000"/>
                    <a:lumOff val="25000"/>
                  </a:schemeClr>
                </a:solidFill>
              </a:rPr>
              <a:t xml:space="preserve">IT solutions</a:t>
            </a:r>
          </a:p>
        </p:txBody>
      </p:sp>
      <p:sp>
        <p:nvSpPr>
          <p:cNvPr id="31" name="Rectangle: Rounded Corners 30">
            <a:extLst>
              <a:ext uri="{FF2B5EF4-FFF2-40B4-BE49-F238E27FC236}">
                <a16:creationId xmlns:a16="http://schemas.microsoft.com/office/drawing/2014/main" id="{3959BA55-81F5-4CB4-9D61-48BB03117BAA}"/>
              </a:ext>
            </a:extLst>
          </p:cNvPr>
          <p:cNvSpPr/>
          <p:nvPr/>
        </p:nvSpPr>
        <p:spPr>
          <a:xfrm>
            <a:off x="2236682" y="1623210"/>
            <a:ext cx="2991668" cy="4448911"/>
          </a:xfrm>
          <a:prstGeom prst="roundRect">
            <a:avLst>
              <a:gd name="adj" fmla="val 2896"/>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en-US" sz="900" noProof="0" dirty="0">
              <a:solidFill>
                <a:schemeClr val="tx1"/>
              </a:solidFill>
            </a:endParaRPr>
          </a:p>
        </p:txBody>
      </p:sp>
      <p:sp>
        <p:nvSpPr>
          <p:cNvPr id="32" name="Rectangle: Rounded Corners 31">
            <a:extLst>
              <a:ext uri="{FF2B5EF4-FFF2-40B4-BE49-F238E27FC236}">
                <a16:creationId xmlns:a16="http://schemas.microsoft.com/office/drawing/2014/main" id="{E3F31E50-BC3A-4951-B8CC-C25656D733F4}"/>
              </a:ext>
            </a:extLst>
          </p:cNvPr>
          <p:cNvSpPr/>
          <p:nvPr/>
        </p:nvSpPr>
        <p:spPr>
          <a:xfrm>
            <a:off x="5305953" y="1614487"/>
            <a:ext cx="2112496" cy="4457634"/>
          </a:xfrm>
          <a:prstGeom prst="roundRect">
            <a:avLst>
              <a:gd name="adj" fmla="val 8030"/>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850" b="1" noProof="0" dirty="0">
                <a:solidFill>
                  <a:schemeClr val="tx1"/>
                </a:solidFill>
              </a:rPr>
              <a:t xml:space="preserve">Q4 2025 vs Q3 2025</a:t>
            </a:r>
            <a:r>
              <a:rPr lang="en-US" sz="850" b="1" i="1" dirty="0">
                <a:solidFill>
                  <a:schemeClr val="tx1"/>
                </a:solidFill>
              </a:rPr>
              <a:t/>
            </a:r>
            <a:r>
              <a:rPr lang="ru" sz="850" b="1" noProof="0" dirty="0">
                <a:solidFill>
                  <a:schemeClr val="tx1"/>
                </a:solidFill>
              </a:rPr>
              <a:t/>
            </a:r>
            <a:r>
              <a:rPr lang="ru" sz="850" b="1" dirty="0">
                <a:solidFill>
                  <a:schemeClr val="tx1"/>
                </a:solidFill>
              </a:rPr>
              <a:t/>
            </a:r>
            <a:r>
              <a:rPr lang="ru" sz="850" b="1" noProof="0" dirty="0">
                <a:solidFill>
                  <a:schemeClr val="tx1"/>
                </a:solidFill>
              </a:rPr>
              <a:t/>
            </a:r>
            <a:r>
              <a:rPr lang="ru" sz="850" b="1" noProof="0" dirty="0" smtClean="0">
                <a:solidFill>
                  <a:schemeClr val="tx1"/>
                </a:solidFill>
              </a:rPr>
              <a:t/>
            </a:r>
            <a:r>
              <a:rPr lang="ru" sz="850" b="1" noProof="0" dirty="0">
                <a:solidFill>
                  <a:schemeClr val="tx1"/>
                </a:solidFill>
              </a:rPr>
              <a:t/>
            </a:r>
          </a:p>
          <a:p>
            <a:pPr rtl="0"/>
            <a:endParaRPr lang="ru" sz="850" b="1" noProof="0" dirty="0" smtClean="0">
              <a:solidFill>
                <a:schemeClr val="tx1"/>
              </a:solidFill>
            </a:endParaRPr>
          </a:p>
          <a:p>
            <a:pPr rtl="0"/>
            <a:r>
              <a:rPr lang="ru" sz="850" b="1" noProof="0" dirty="0" smtClean="0">
                <a:solidFill>
                  <a:schemeClr val="tx1"/>
                </a:solidFill>
              </a:rPr>
              <a:t xml:space="preserve">Budget</a:t>
            </a:r>
            <a:endParaRPr lang="ru" sz="850" b="1" noProof="0" dirty="0">
              <a:solidFill>
                <a:schemeClr val="tx1"/>
              </a:solidFill>
            </a:endParaRPr>
          </a:p>
          <a:p>
            <a:pPr marL="171450" indent="-171450">
              <a:buClr>
                <a:schemeClr val="accent1"/>
              </a:buClr>
              <a:buFont typeface="Arial" panose="020B0604020202020204" pitchFamily="34" charset="0"/>
              <a:buChar char="•"/>
            </a:pPr>
            <a:r>
              <a:rPr lang="ru" sz="850" dirty="0">
                <a:solidFill>
                  <a:schemeClr val="tx1"/>
                </a:solidFill>
              </a:rPr>
              <a:t xml:space="preserve">The budget is implemented within the planned volumes.</a:t>
            </a:r>
            <a:r>
              <a:rPr lang="ru" sz="850" dirty="0" smtClean="0">
                <a:solidFill>
                  <a:schemeClr val="tx1"/>
                </a:solidFill>
              </a:rPr>
              <a:t/>
            </a:r>
            <a:endParaRPr lang="ru" sz="850" dirty="0">
              <a:solidFill>
                <a:schemeClr val="tx1"/>
              </a:solidFill>
            </a:endParaRPr>
          </a:p>
          <a:p>
            <a:pPr rtl="0"/>
            <a:endParaRPr lang="ru-RU" sz="850" noProof="0" dirty="0" smtClean="0">
              <a:solidFill>
                <a:schemeClr val="tx1"/>
              </a:solidFill>
            </a:endParaRPr>
          </a:p>
          <a:p>
            <a:pPr rtl="0"/>
            <a:endParaRPr lang="ru-RU" sz="850" dirty="0">
              <a:solidFill>
                <a:schemeClr val="tx1"/>
              </a:solidFill>
            </a:endParaRPr>
          </a:p>
          <a:p>
            <a:pPr rtl="0"/>
            <a:endParaRPr lang="ru-RU" sz="850" noProof="0" dirty="0" smtClean="0">
              <a:solidFill>
                <a:schemeClr val="tx1"/>
              </a:solidFill>
            </a:endParaRPr>
          </a:p>
          <a:p>
            <a:pPr rtl="0"/>
            <a:r>
              <a:rPr lang="ru" sz="850" b="1" noProof="0" dirty="0" smtClean="0">
                <a:solidFill>
                  <a:schemeClr val="tx1"/>
                </a:solidFill>
              </a:rPr>
              <a:t xml:space="preserve">Resources</a:t>
            </a:r>
            <a:endParaRPr lang="ru" sz="850" b="1" noProof="0" dirty="0">
              <a:solidFill>
                <a:schemeClr val="tx1"/>
              </a:solidFill>
            </a:endParaRPr>
          </a:p>
          <a:p>
            <a:pPr marL="180975" indent="-180975" rtl="0"/>
            <a:r>
              <a:rPr lang="ru" sz="850" noProof="0" dirty="0">
                <a:solidFill>
                  <a:schemeClr val="accent6"/>
                </a:solidFill>
              </a:rPr>
              <a:t xml:space="preserve">▼ As of December 31, 2025 3 vacancies not filled.</a:t>
            </a:r>
            <a:r>
              <a:rPr lang="ru" sz="850" noProof="0" dirty="0">
                <a:solidFill>
                  <a:schemeClr val="tx1"/>
                </a:solidFill>
              </a:rPr>
              <a:t/>
            </a:r>
            <a:r>
              <a:rPr lang="ru" sz="850" noProof="0" dirty="0" smtClean="0">
                <a:solidFill>
                  <a:schemeClr val="tx1"/>
                </a:solidFill>
              </a:rPr>
              <a:t/>
            </a:r>
          </a:p>
          <a:p>
            <a:pPr marL="180975" indent="-180975"/>
            <a:r>
              <a:rPr lang="ru" sz="850" dirty="0">
                <a:solidFill>
                  <a:srgbClr val="00BC2D"/>
                </a:solidFill>
              </a:rPr>
              <a:t xml:space="preserve">▲ During 2025, it was possible to reduce the duration of the CPC by an average of 3.7 days since the beginning of the year due to the closure of CPC vacancies in Q1. 2025 and effective team work.</a:t>
            </a:r>
            <a:r>
              <a:rPr lang="ru-RU" sz="850" dirty="0">
                <a:solidFill>
                  <a:schemeClr val="tx1"/>
                </a:solidFill>
              </a:rPr>
              <a:t/>
            </a:r>
            <a:r>
              <a:rPr lang="ru" sz="850" dirty="0">
                <a:solidFill>
                  <a:schemeClr val="tx1"/>
                </a:solidFill>
              </a:rPr>
              <a:t/>
            </a:r>
            <a:r>
              <a:rPr lang="en-US" sz="850" dirty="0">
                <a:solidFill>
                  <a:schemeClr val="tx1"/>
                </a:solidFill>
              </a:rPr>
              <a:t/>
            </a:r>
            <a:r>
              <a:rPr lang="ru-RU" sz="850" dirty="0">
                <a:solidFill>
                  <a:schemeClr val="tx1"/>
                </a:solidFill>
              </a:rPr>
              <a:t/>
            </a:r>
            <a:r>
              <a:rPr lang="ru" sz="850" dirty="0">
                <a:solidFill>
                  <a:schemeClr val="tx1"/>
                </a:solidFill>
              </a:rPr>
              <a:t/>
            </a:r>
            <a:r>
              <a:rPr lang="ru-RU" sz="850" dirty="0">
                <a:solidFill>
                  <a:schemeClr val="tx1"/>
                </a:solidFill>
              </a:rPr>
              <a:t/>
            </a:r>
          </a:p>
          <a:p>
            <a:pPr marL="180975" indent="-180975" rtl="0"/>
            <a:endParaRPr lang="en-US" sz="850" noProof="0" dirty="0">
              <a:solidFill>
                <a:schemeClr val="tx1"/>
              </a:solidFill>
            </a:endParaRPr>
          </a:p>
          <a:p>
            <a:pPr rtl="0"/>
            <a:endParaRPr lang="ru" sz="850" b="1" noProof="0" dirty="0" smtClean="0">
              <a:solidFill>
                <a:schemeClr val="tx1"/>
              </a:solidFill>
            </a:endParaRPr>
          </a:p>
          <a:p>
            <a:pPr rtl="0"/>
            <a:endParaRPr lang="ru" sz="850" b="1" dirty="0">
              <a:solidFill>
                <a:schemeClr val="tx1"/>
              </a:solidFill>
            </a:endParaRPr>
          </a:p>
          <a:p>
            <a:pPr rtl="0"/>
            <a:r>
              <a:rPr lang="ru" sz="850" b="1" noProof="0" dirty="0" smtClean="0">
                <a:solidFill>
                  <a:schemeClr val="tx1"/>
                </a:solidFill>
              </a:rPr>
              <a:t xml:space="preserve">Projects</a:t>
            </a:r>
            <a:endParaRPr lang="ru" sz="850" b="1" noProof="0" dirty="0">
              <a:solidFill>
                <a:schemeClr val="tx1"/>
              </a:solidFill>
            </a:endParaRPr>
          </a:p>
          <a:p>
            <a:pPr marL="171450" indent="-171450">
              <a:buClr>
                <a:schemeClr val="accent1"/>
              </a:buClr>
              <a:buFont typeface="Arial" panose="020B0604020202020204" pitchFamily="34" charset="0"/>
              <a:buChar char="•"/>
            </a:pPr>
            <a:r>
              <a:rPr lang="ru" sz="850" dirty="0">
                <a:solidFill>
                  <a:schemeClr val="tx1"/>
                </a:solidFill>
              </a:rPr>
              <a:t xml:space="preserve">Participation in Perimeter sustainable development projects is carried out in accordance with the GP (for example, in the 4th quarter, an active participation was taken in the assessment of EcoVadis (the process owner noted the contribution of Compliance), Bettercoal (the external auditor noted the contribution of Compliance).</a:t>
            </a:r>
            <a:r>
              <a:rPr lang="ru-RU" sz="850" dirty="0" smtClean="0">
                <a:solidFill>
                  <a:schemeClr val="tx1"/>
                </a:solidFill>
              </a:rPr>
              <a:t/>
            </a:r>
            <a:r>
              <a:rPr lang="ru-RU" sz="850" dirty="0">
                <a:solidFill>
                  <a:schemeClr val="tx1"/>
                </a:solidFill>
              </a:rPr>
              <a:t/>
            </a:r>
            <a:r>
              <a:rPr lang="ru-RU" sz="850" dirty="0" smtClean="0">
                <a:solidFill>
                  <a:schemeClr val="tx1"/>
                </a:solidFill>
              </a:rPr>
              <a:t/>
            </a:r>
            <a:r>
              <a:rPr lang="ru-RU" sz="850" dirty="0">
                <a:solidFill>
                  <a:schemeClr val="tx1"/>
                </a:solidFill>
              </a:rPr>
              <a:t/>
            </a:r>
            <a:r>
              <a:rPr lang="ru-RU" sz="850" dirty="0" err="1" smtClean="0">
                <a:solidFill>
                  <a:schemeClr val="tx1"/>
                </a:solidFill>
              </a:rPr>
              <a:t/>
            </a:r>
            <a:r>
              <a:rPr lang="ru-RU" sz="850" dirty="0" smtClean="0">
                <a:solidFill>
                  <a:schemeClr val="tx1"/>
                </a:solidFill>
              </a:rPr>
              <a:t/>
            </a:r>
            <a:r>
              <a:rPr lang="ru-RU" sz="850" dirty="0">
                <a:solidFill>
                  <a:schemeClr val="tx1"/>
                </a:solidFill>
              </a:rPr>
              <a:t/>
            </a:r>
            <a:r>
              <a:rPr lang="ru-RU" sz="850" dirty="0" smtClean="0">
                <a:solidFill>
                  <a:schemeClr val="tx1"/>
                </a:solidFill>
              </a:rPr>
              <a:t/>
            </a:r>
            <a:r>
              <a:rPr lang="ru-RU" sz="850" dirty="0" err="1" smtClean="0">
                <a:solidFill>
                  <a:schemeClr val="tx1"/>
                </a:solidFill>
              </a:rPr>
              <a:t/>
            </a:r>
            <a:r>
              <a:rPr lang="ru-RU" sz="850" dirty="0" smtClean="0">
                <a:solidFill>
                  <a:schemeClr val="tx1"/>
                </a:solidFill>
              </a:rPr>
              <a:t/>
            </a:r>
            <a:r>
              <a:rPr lang="ru-RU" sz="850" dirty="0">
                <a:solidFill>
                  <a:schemeClr val="tx1"/>
                </a:solidFill>
              </a:rPr>
              <a:t/>
            </a:r>
            <a:r>
              <a:rPr lang="ru-RU" sz="850" dirty="0" smtClean="0">
                <a:solidFill>
                  <a:schemeClr val="tx1"/>
                </a:solidFill>
              </a:rPr>
              <a:t/>
            </a:r>
            <a:endParaRPr lang="en-US" sz="850" noProof="0" dirty="0">
              <a:solidFill>
                <a:srgbClr val="FF0000"/>
              </a:solidFill>
            </a:endParaRPr>
          </a:p>
        </p:txBody>
      </p:sp>
      <p:sp>
        <p:nvSpPr>
          <p:cNvPr id="33" name="Rectangle: Rounded Corners 32">
            <a:extLst>
              <a:ext uri="{FF2B5EF4-FFF2-40B4-BE49-F238E27FC236}">
                <a16:creationId xmlns:a16="http://schemas.microsoft.com/office/drawing/2014/main" id="{FE19C412-D794-43C4-A2C6-E9E313BC3BA4}"/>
              </a:ext>
            </a:extLst>
          </p:cNvPr>
          <p:cNvSpPr/>
          <p:nvPr/>
        </p:nvSpPr>
        <p:spPr>
          <a:xfrm>
            <a:off x="7496052" y="1623212"/>
            <a:ext cx="2088000" cy="4448909"/>
          </a:xfrm>
          <a:prstGeom prst="roundRect">
            <a:avLst>
              <a:gd name="adj" fmla="val 8003"/>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ru" sz="850" b="1" noProof="0" dirty="0" smtClean="0">
              <a:solidFill>
                <a:schemeClr val="tx1"/>
              </a:solidFill>
            </a:endParaRPr>
          </a:p>
          <a:p>
            <a:pPr rtl="0"/>
            <a:endParaRPr lang="ru" sz="850" b="1" noProof="0" dirty="0" smtClean="0">
              <a:solidFill>
                <a:schemeClr val="tx1"/>
              </a:solidFill>
            </a:endParaRPr>
          </a:p>
          <a:p>
            <a:pPr rtl="0"/>
            <a:r>
              <a:rPr lang="ru" sz="850" b="1" noProof="0" dirty="0" smtClean="0">
                <a:solidFill>
                  <a:schemeClr val="tx1"/>
                </a:solidFill>
              </a:rPr>
              <a:t xml:space="preserve">Budget</a:t>
            </a:r>
            <a:endParaRPr lang="ru" sz="850" b="1" noProof="0" dirty="0">
              <a:solidFill>
                <a:schemeClr val="tx1"/>
              </a:solidFill>
            </a:endParaRPr>
          </a:p>
          <a:p>
            <a:pPr marL="171450" indent="-171450">
              <a:buClr>
                <a:schemeClr val="accent1"/>
              </a:buClr>
              <a:buFont typeface="Arial" panose="020B0604020202020204" pitchFamily="34" charset="0"/>
              <a:buChar char="•"/>
            </a:pPr>
            <a:r>
              <a:rPr lang="ru-RU" sz="850" noProof="0" dirty="0">
                <a:solidFill>
                  <a:schemeClr val="tx1"/>
                </a:solidFill>
              </a:rPr>
              <a:t xml:space="preserve">The suspension of funding for IT projects has postponed tasks for further automation of compliance processes to 2026+</a:t>
            </a:r>
            <a:r>
              <a:rPr lang="ru-RU" sz="850" dirty="0">
                <a:solidFill>
                  <a:schemeClr val="tx1"/>
                </a:solidFill>
              </a:rPr>
              <a:t/>
            </a:r>
          </a:p>
          <a:p>
            <a:pPr marL="171450" indent="-171450" rtl="0">
              <a:buClr>
                <a:schemeClr val="accent1"/>
              </a:buClr>
              <a:buFont typeface="Arial" panose="020B0604020202020204" pitchFamily="34" charset="0"/>
              <a:buChar char="•"/>
            </a:pPr>
            <a:endParaRPr lang="en-US" sz="850" noProof="0" dirty="0">
              <a:solidFill>
                <a:srgbClr val="FF0000"/>
              </a:solidFill>
            </a:endParaRPr>
          </a:p>
          <a:p>
            <a:pPr rtl="0">
              <a:buClr>
                <a:schemeClr val="accent1"/>
              </a:buClr>
            </a:pPr>
            <a:r>
              <a:rPr lang="ru" sz="850" b="1" noProof="0" dirty="0">
                <a:solidFill>
                  <a:schemeClr val="tx1"/>
                </a:solidFill>
              </a:rPr>
              <a:t xml:space="preserve">Resources</a:t>
            </a:r>
          </a:p>
          <a:p>
            <a:pPr marL="180975" indent="-180975">
              <a:buClr>
                <a:schemeClr val="accent1"/>
              </a:buClr>
            </a:pPr>
            <a:r>
              <a:rPr lang="ru" sz="850" dirty="0" smtClean="0">
                <a:solidFill>
                  <a:srgbClr val="FF0000"/>
                </a:solidFill>
              </a:rPr>
              <a:t xml:space="preserve">▼ In 2025, the increased workload on the team remains - according to ManicTime data, overwork for 2025. in total amounted to 6316 hours.</a:t>
            </a:r>
            <a:r>
              <a:rPr lang="ru" sz="850" dirty="0" smtClean="0">
                <a:solidFill>
                  <a:schemeClr val="tx1"/>
                </a:solidFill>
              </a:rPr>
              <a:t/>
            </a:r>
            <a:r>
              <a:rPr lang="ru-RU" sz="850" dirty="0" smtClean="0">
                <a:solidFill>
                  <a:schemeClr val="tx1"/>
                </a:solidFill>
              </a:rPr>
              <a:t/>
            </a:r>
            <a:r>
              <a:rPr lang="ru" sz="850" dirty="0" smtClean="0">
                <a:solidFill>
                  <a:schemeClr val="tx1"/>
                </a:solidFill>
              </a:rPr>
              <a:t/>
            </a:r>
            <a:r>
              <a:rPr lang="en-US" sz="850" dirty="0" err="1" smtClean="0">
                <a:solidFill>
                  <a:schemeClr val="tx1"/>
                </a:solidFill>
              </a:rPr>
              <a:t/>
            </a:r>
            <a:r>
              <a:rPr lang="ru-RU" sz="850" dirty="0" smtClean="0">
                <a:solidFill>
                  <a:schemeClr val="tx1"/>
                </a:solidFill>
              </a:rPr>
              <a:t/>
            </a:r>
            <a:r>
              <a:rPr lang="ru" sz="850" dirty="0" smtClean="0">
                <a:solidFill>
                  <a:schemeClr val="tx1"/>
                </a:solidFill>
              </a:rPr>
              <a:t/>
            </a:r>
            <a:r>
              <a:rPr lang="ru-RU" sz="850" dirty="0" smtClean="0">
                <a:solidFill>
                  <a:schemeClr val="tx1"/>
                </a:solidFill>
              </a:rPr>
              <a:t/>
            </a:r>
            <a:endParaRPr lang="ru" sz="850" dirty="0">
              <a:solidFill>
                <a:schemeClr val="tx1"/>
              </a:solidFill>
            </a:endParaRPr>
          </a:p>
          <a:p>
            <a:pPr marL="171450" indent="-171450" rtl="0">
              <a:buClr>
                <a:schemeClr val="accent1"/>
              </a:buClr>
              <a:buFont typeface="Arial" panose="020B0604020202020204" pitchFamily="34" charset="0"/>
              <a:buChar char="•"/>
            </a:pPr>
            <a:endParaRPr lang="ru" sz="850" noProof="0" dirty="0">
              <a:solidFill>
                <a:schemeClr val="tx1"/>
              </a:solidFill>
            </a:endParaRPr>
          </a:p>
          <a:p>
            <a:pPr rtl="0">
              <a:buClr>
                <a:schemeClr val="accent1"/>
              </a:buClr>
            </a:pPr>
            <a:endParaRPr lang="ru" sz="850" b="1" noProof="0" dirty="0" smtClean="0">
              <a:solidFill>
                <a:schemeClr val="tx1"/>
              </a:solidFill>
            </a:endParaRPr>
          </a:p>
          <a:p>
            <a:pPr rtl="0">
              <a:buClr>
                <a:schemeClr val="accent1"/>
              </a:buClr>
            </a:pPr>
            <a:endParaRPr lang="ru" sz="850" b="1" dirty="0">
              <a:solidFill>
                <a:schemeClr val="tx1"/>
              </a:solidFill>
            </a:endParaRPr>
          </a:p>
          <a:p>
            <a:pPr rtl="0">
              <a:buClr>
                <a:schemeClr val="accent1"/>
              </a:buClr>
            </a:pPr>
            <a:endParaRPr lang="ru" sz="850" b="1" noProof="0" dirty="0" smtClean="0">
              <a:solidFill>
                <a:schemeClr val="tx1"/>
              </a:solidFill>
            </a:endParaRPr>
          </a:p>
          <a:p>
            <a:pPr rtl="0">
              <a:buClr>
                <a:schemeClr val="accent1"/>
              </a:buClr>
            </a:pPr>
            <a:endParaRPr lang="ru" sz="850" b="1" dirty="0">
              <a:solidFill>
                <a:schemeClr val="tx1"/>
              </a:solidFill>
            </a:endParaRPr>
          </a:p>
          <a:p>
            <a:pPr rtl="0">
              <a:buClr>
                <a:schemeClr val="accent1"/>
              </a:buClr>
            </a:pPr>
            <a:endParaRPr lang="ru" sz="850" b="1" noProof="0" dirty="0" smtClean="0">
              <a:solidFill>
                <a:schemeClr val="tx1"/>
              </a:solidFill>
            </a:endParaRPr>
          </a:p>
          <a:p>
            <a:pPr rtl="0">
              <a:buClr>
                <a:schemeClr val="accent1"/>
              </a:buClr>
            </a:pPr>
            <a:endParaRPr lang="ru" sz="850" b="1" noProof="0" dirty="0" smtClean="0">
              <a:solidFill>
                <a:schemeClr val="tx1"/>
              </a:solidFill>
            </a:endParaRPr>
          </a:p>
          <a:p>
            <a:pPr rtl="0">
              <a:buClr>
                <a:schemeClr val="accent1"/>
              </a:buClr>
            </a:pPr>
            <a:endParaRPr lang="ru" sz="850" b="1" dirty="0">
              <a:solidFill>
                <a:schemeClr val="tx1"/>
              </a:solidFill>
            </a:endParaRPr>
          </a:p>
          <a:p>
            <a:pPr rtl="0">
              <a:buClr>
                <a:schemeClr val="accent1"/>
              </a:buClr>
            </a:pPr>
            <a:r>
              <a:rPr lang="ru" sz="850" b="1" noProof="0" dirty="0" smtClean="0">
                <a:solidFill>
                  <a:schemeClr val="tx1"/>
                </a:solidFill>
              </a:rPr>
              <a:t xml:space="preserve">Projects</a:t>
            </a:r>
            <a:endParaRPr lang="ru" sz="850" b="1" noProof="0" dirty="0">
              <a:solidFill>
                <a:schemeClr val="tx1"/>
              </a:solidFill>
            </a:endParaRPr>
          </a:p>
          <a:p>
            <a:pPr marL="180975" indent="-180975">
              <a:buClr>
                <a:schemeClr val="accent1"/>
              </a:buClr>
            </a:pPr>
            <a:r>
              <a:rPr lang="ru" sz="850" dirty="0">
                <a:solidFill>
                  <a:srgbClr val="FF0000"/>
                </a:solidFill>
              </a:rPr>
              <a:t xml:space="preserve">▼ Funding for IT projects was suspended (at the same time, in the 3rd quarter, 1 project was implemented to develop an additional resource for informing businesses about current sanctions restrictions).</a:t>
            </a:r>
            <a:r>
              <a:rPr lang="ru" sz="850" dirty="0">
                <a:solidFill>
                  <a:schemeClr val="tx1"/>
                </a:solidFill>
              </a:rPr>
              <a:t/>
            </a:r>
            <a:r>
              <a:rPr lang="ru" sz="850" dirty="0" smtClean="0">
                <a:solidFill>
                  <a:schemeClr val="tx1"/>
                </a:solidFill>
              </a:rPr>
              <a:t/>
            </a:r>
            <a:r>
              <a:rPr lang="ru-RU" sz="850" dirty="0" smtClean="0">
                <a:solidFill>
                  <a:schemeClr val="tx1"/>
                </a:solidFill>
              </a:rPr>
              <a:t/>
            </a:r>
            <a:r>
              <a:rPr lang="ru-RU" sz="850" dirty="0">
                <a:solidFill>
                  <a:schemeClr val="tx1"/>
                </a:solidFill>
              </a:rPr>
              <a:t/>
            </a:r>
            <a:r>
              <a:rPr lang="ru-RU" sz="850" dirty="0" smtClean="0">
                <a:solidFill>
                  <a:schemeClr val="tx1"/>
                </a:solidFill>
              </a:rPr>
              <a:t/>
            </a:r>
            <a:endParaRPr lang="ru" sz="850" dirty="0">
              <a:solidFill>
                <a:schemeClr val="tx1"/>
              </a:solidFill>
            </a:endParaRPr>
          </a:p>
        </p:txBody>
      </p:sp>
      <p:sp>
        <p:nvSpPr>
          <p:cNvPr id="34" name="Rectangle: Rounded Corners 33">
            <a:extLst>
              <a:ext uri="{FF2B5EF4-FFF2-40B4-BE49-F238E27FC236}">
                <a16:creationId xmlns:a16="http://schemas.microsoft.com/office/drawing/2014/main" id="{6DF2EA11-5C26-4103-A058-FB702939BDE8}"/>
              </a:ext>
            </a:extLst>
          </p:cNvPr>
          <p:cNvSpPr/>
          <p:nvPr/>
        </p:nvSpPr>
        <p:spPr>
          <a:xfrm>
            <a:off x="9652916" y="1614487"/>
            <a:ext cx="2317032" cy="4457634"/>
          </a:xfrm>
          <a:prstGeom prst="roundRect">
            <a:avLst>
              <a:gd name="adj" fmla="val 6607"/>
            </a:avLst>
          </a:prstGeom>
          <a:solidFill>
            <a:schemeClr val="accent5">
              <a:lumMod val="10000"/>
              <a:lumOff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ru" sz="850" b="1" noProof="0" dirty="0" smtClean="0">
              <a:solidFill>
                <a:schemeClr val="tx1"/>
              </a:solidFill>
            </a:endParaRPr>
          </a:p>
          <a:p>
            <a:pPr rtl="0"/>
            <a:endParaRPr lang="ru" sz="850" b="1" dirty="0">
              <a:solidFill>
                <a:schemeClr val="tx1"/>
              </a:solidFill>
            </a:endParaRPr>
          </a:p>
          <a:p>
            <a:pPr rtl="0"/>
            <a:r>
              <a:rPr lang="ru" sz="850" b="1" noProof="0" dirty="0" smtClean="0">
                <a:solidFill>
                  <a:schemeClr val="tx1"/>
                </a:solidFill>
              </a:rPr>
              <a:t xml:space="preserve">Budget</a:t>
            </a:r>
            <a:endParaRPr lang="ru" sz="850" b="1" noProof="0" dirty="0">
              <a:solidFill>
                <a:schemeClr val="tx1"/>
              </a:solidFill>
            </a:endParaRPr>
          </a:p>
          <a:p>
            <a:pPr marL="171450" indent="-171450">
              <a:buClr>
                <a:schemeClr val="accent1"/>
              </a:buClr>
              <a:buFont typeface="Arial" panose="020B0604020202020204" pitchFamily="34" charset="0"/>
              <a:buChar char="•"/>
            </a:pPr>
            <a:r>
              <a:rPr lang="ru" sz="850" dirty="0">
                <a:solidFill>
                  <a:schemeClr val="tx1"/>
                </a:solidFill>
              </a:rPr>
              <a:t xml:space="preserve">No budget revision is required at this stage</a:t>
            </a:r>
          </a:p>
          <a:p>
            <a:pPr rtl="0"/>
            <a:endParaRPr lang="en-US" sz="850" noProof="0" dirty="0">
              <a:solidFill>
                <a:srgbClr val="FF0000"/>
              </a:solidFill>
            </a:endParaRPr>
          </a:p>
          <a:p>
            <a:pPr rtl="0"/>
            <a:endParaRPr lang="en-US" sz="850" noProof="0" dirty="0">
              <a:solidFill>
                <a:srgbClr val="FF0000"/>
              </a:solidFill>
            </a:endParaRPr>
          </a:p>
          <a:p>
            <a:pPr rtl="0"/>
            <a:endParaRPr lang="ru" sz="850" b="1" noProof="0" dirty="0" smtClean="0">
              <a:solidFill>
                <a:schemeClr val="tx1"/>
              </a:solidFill>
            </a:endParaRPr>
          </a:p>
          <a:p>
            <a:pPr rtl="0"/>
            <a:r>
              <a:rPr lang="ru" sz="850" b="1" noProof="0" dirty="0" smtClean="0">
                <a:solidFill>
                  <a:schemeClr val="tx1"/>
                </a:solidFill>
              </a:rPr>
              <a:t xml:space="preserve">Resources</a:t>
            </a:r>
            <a:endParaRPr lang="ru" sz="850" b="1" noProof="0" dirty="0">
              <a:solidFill>
                <a:schemeClr val="tx1"/>
              </a:solidFill>
            </a:endParaRPr>
          </a:p>
          <a:p>
            <a:pPr marL="180975" indent="-180975"/>
            <a:r>
              <a:rPr lang="ru" sz="850" dirty="0">
                <a:solidFill>
                  <a:srgbClr val="00BC2D"/>
                </a:solidFill>
              </a:rPr>
              <a:t xml:space="preserve">▲ Recruitment planned for 3 open vacancies in Q1. 2026:</a:t>
            </a:r>
            <a:r>
              <a:rPr lang="ru" sz="850" dirty="0" smtClean="0">
                <a:solidFill>
                  <a:srgbClr val="FF0000"/>
                </a:solidFill>
              </a:rPr>
              <a:t/>
            </a:r>
            <a:r>
              <a:rPr lang="ru" sz="850" dirty="0">
                <a:solidFill>
                  <a:schemeClr val="tx1"/>
                </a:solidFill>
              </a:rPr>
              <a:t/>
            </a:r>
            <a:r>
              <a:rPr lang="ru" sz="850" dirty="0" smtClean="0">
                <a:solidFill>
                  <a:schemeClr val="tx1"/>
                </a:solidFill>
              </a:rPr>
              <a:t/>
            </a:r>
            <a:r>
              <a:rPr lang="ru" sz="850" dirty="0">
                <a:solidFill>
                  <a:schemeClr val="tx1"/>
                </a:solidFill>
              </a:rPr>
              <a:t/>
            </a:r>
            <a:r>
              <a:rPr lang="ru-RU" sz="850" dirty="0">
                <a:solidFill>
                  <a:schemeClr val="tx1"/>
                </a:solidFill>
              </a:rPr>
              <a:t/>
            </a:r>
          </a:p>
          <a:p>
            <a:pPr marL="268288" indent="-90488">
              <a:buFont typeface="Arial" panose="020B0604020202020204" pitchFamily="34" charset="0"/>
              <a:buChar char="•"/>
            </a:pPr>
            <a:r>
              <a:rPr lang="ru-RU" sz="850" dirty="0">
                <a:solidFill>
                  <a:schemeClr val="tx1"/>
                </a:solidFill>
              </a:rPr>
              <a:t xml:space="preserve">01/05/2026 – vacancy “Compliance officer for CCP – ABC, HR” is closed</a:t>
            </a:r>
            <a:r>
              <a:rPr lang="en-US" sz="850" dirty="0">
                <a:solidFill>
                  <a:schemeClr val="tx1"/>
                </a:solidFill>
              </a:rPr>
              <a:t/>
            </a:r>
            <a:r>
              <a:rPr lang="ru-RU" sz="850" dirty="0">
                <a:solidFill>
                  <a:schemeClr val="tx1"/>
                </a:solidFill>
              </a:rPr>
              <a:t/>
            </a:r>
          </a:p>
          <a:p>
            <a:pPr marL="268288" indent="-90488">
              <a:buFont typeface="Arial" panose="020B0604020202020204" pitchFamily="34" charset="0"/>
              <a:buChar char="•"/>
            </a:pPr>
            <a:r>
              <a:rPr lang="ru-RU" sz="850" dirty="0">
                <a:solidFill>
                  <a:schemeClr val="tx1"/>
                </a:solidFill>
              </a:rPr>
              <a:t xml:space="preserve">02/11/2026 – the vacancy for “Compliance Risk Compliance Officer” has been filled.</a:t>
            </a:r>
            <a:endParaRPr lang="en-US" sz="850" dirty="0">
              <a:solidFill>
                <a:schemeClr val="tx1"/>
              </a:solidFill>
            </a:endParaRPr>
          </a:p>
          <a:p>
            <a:pPr marL="268288" indent="-90488">
              <a:buFont typeface="Arial" panose="020B0604020202020204" pitchFamily="34" charset="0"/>
              <a:buChar char="•"/>
            </a:pPr>
            <a:r>
              <a:rPr lang="en-US" sz="850" dirty="0">
                <a:solidFill>
                  <a:schemeClr val="tx1"/>
                </a:solidFill>
              </a:rPr>
              <a:t xml:space="preserve">03/02/2026 – it is planned to fill the vacancy “Compliance Officer for Compliance Risk Management and Controls”</a:t>
            </a:r>
            <a:r>
              <a:rPr lang="ru-RU" sz="850" dirty="0" smtClean="0">
                <a:solidFill>
                  <a:schemeClr val="tx1"/>
                </a:solidFill>
              </a:rPr>
              <a:t/>
            </a:r>
            <a:r>
              <a:rPr lang="ru-RU" sz="850" dirty="0">
                <a:solidFill>
                  <a:schemeClr val="tx1"/>
                </a:solidFill>
              </a:rPr>
              <a:t/>
            </a:r>
            <a:r>
              <a:rPr lang="ru-RU" sz="850" dirty="0" smtClean="0">
                <a:solidFill>
                  <a:schemeClr val="tx1"/>
                </a:solidFill>
              </a:rPr>
              <a:t/>
            </a:r>
            <a:r>
              <a:rPr lang="ru-RU" sz="850" dirty="0">
                <a:solidFill>
                  <a:schemeClr val="tx1"/>
                </a:solidFill>
              </a:rPr>
              <a:t/>
            </a:r>
          </a:p>
          <a:p>
            <a:pPr rtl="0"/>
            <a:endParaRPr lang="en-US" sz="850" noProof="0" dirty="0">
              <a:solidFill>
                <a:srgbClr val="FF0000"/>
              </a:solidFill>
            </a:endParaRPr>
          </a:p>
          <a:p>
            <a:pPr rtl="0"/>
            <a:r>
              <a:rPr lang="ru" sz="850" b="1" noProof="0" dirty="0" smtClean="0">
                <a:solidFill>
                  <a:schemeClr val="tx1"/>
                </a:solidFill>
              </a:rPr>
              <a:t xml:space="preserve">Projects</a:t>
            </a:r>
            <a:endParaRPr lang="ru" sz="850" b="1" noProof="0" dirty="0">
              <a:solidFill>
                <a:schemeClr val="tx1"/>
              </a:solidFill>
            </a:endParaRPr>
          </a:p>
          <a:p>
            <a:pPr marL="180975" indent="-180975">
              <a:buClr>
                <a:schemeClr val="accent1"/>
              </a:buClr>
            </a:pPr>
            <a:r>
              <a:rPr lang="ru" sz="850" dirty="0">
                <a:solidFill>
                  <a:srgbClr val="00BC2D"/>
                </a:solidFill>
              </a:rPr>
              <a:t xml:space="preserve">▲ The possibility of resuming financing of IT projects in 2026 was discussed with the CEO of Perimeter. upon confirmation of their effectiveness.</a:t>
            </a:r>
            <a:r>
              <a:rPr lang="ru" sz="850" dirty="0" smtClean="0">
                <a:solidFill>
                  <a:srgbClr val="FF0000"/>
                </a:solidFill>
              </a:rPr>
              <a:t/>
            </a:r>
            <a:r>
              <a:rPr lang="ru-RU" sz="850" dirty="0">
                <a:solidFill>
                  <a:schemeClr val="tx1"/>
                </a:solidFill>
              </a:rPr>
              <a:t/>
            </a:r>
            <a:r>
              <a:rPr lang="ru-RU" sz="850" dirty="0" smtClean="0">
                <a:solidFill>
                  <a:schemeClr val="tx1"/>
                </a:solidFill>
              </a:rPr>
              <a:t/>
            </a:r>
            <a:r>
              <a:rPr lang="ru-RU" sz="850" dirty="0">
                <a:solidFill>
                  <a:schemeClr val="tx1"/>
                </a:solidFill>
              </a:rPr>
              <a:t/>
            </a:r>
          </a:p>
        </p:txBody>
      </p:sp>
      <p:grpSp>
        <p:nvGrpSpPr>
          <p:cNvPr id="3" name="Group 2">
            <a:extLst>
              <a:ext uri="{FF2B5EF4-FFF2-40B4-BE49-F238E27FC236}">
                <a16:creationId xmlns:a16="http://schemas.microsoft.com/office/drawing/2014/main" id="{D529B13E-93DE-4F8C-84DE-1EE4D992F8D0}"/>
              </a:ext>
            </a:extLst>
          </p:cNvPr>
          <p:cNvGrpSpPr/>
          <p:nvPr/>
        </p:nvGrpSpPr>
        <p:grpSpPr>
          <a:xfrm>
            <a:off x="663969" y="2223945"/>
            <a:ext cx="1175412" cy="811741"/>
            <a:chOff x="663969" y="2223945"/>
            <a:chExt cx="1175412" cy="811741"/>
          </a:xfrm>
        </p:grpSpPr>
        <p:sp>
          <p:nvSpPr>
            <p:cNvPr id="36" name="Text Placeholder 39">
              <a:extLst>
                <a:ext uri="{FF2B5EF4-FFF2-40B4-BE49-F238E27FC236}">
                  <a16:creationId xmlns:a16="http://schemas.microsoft.com/office/drawing/2014/main" id="{B5D02FE9-0854-4A99-B062-D27984D28C35}"/>
                </a:ext>
              </a:extLst>
            </p:cNvPr>
            <p:cNvSpPr txBox="1">
              <a:spLocks/>
            </p:cNvSpPr>
            <p:nvPr/>
          </p:nvSpPr>
          <p:spPr>
            <a:xfrm>
              <a:off x="817568" y="2789465"/>
              <a:ext cx="65" cy="24622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endParaRPr lang="ru" sz="1600" noProof="0" dirty="0">
                <a:solidFill>
                  <a:schemeClr val="accent1"/>
                </a:solidFill>
              </a:endParaRPr>
            </a:p>
          </p:txBody>
        </p:sp>
        <p:sp>
          <p:nvSpPr>
            <p:cNvPr id="37" name="Text Placeholder 39">
              <a:extLst>
                <a:ext uri="{FF2B5EF4-FFF2-40B4-BE49-F238E27FC236}">
                  <a16:creationId xmlns:a16="http://schemas.microsoft.com/office/drawing/2014/main" id="{63748D94-DA86-435E-84B3-E98ADE1F0EB9}"/>
                </a:ext>
              </a:extLst>
            </p:cNvPr>
            <p:cNvSpPr txBox="1">
              <a:spLocks/>
            </p:cNvSpPr>
            <p:nvPr/>
          </p:nvSpPr>
          <p:spPr>
            <a:xfrm>
              <a:off x="663969" y="2223945"/>
              <a:ext cx="65" cy="24622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endParaRPr lang="ru" sz="1600" noProof="0" dirty="0">
                <a:solidFill>
                  <a:schemeClr val="accent1"/>
                </a:solidFill>
              </a:endParaRPr>
            </a:p>
          </p:txBody>
        </p:sp>
        <p:cxnSp>
          <p:nvCxnSpPr>
            <p:cNvPr id="38" name="Straight Connector 37">
              <a:extLst>
                <a:ext uri="{FF2B5EF4-FFF2-40B4-BE49-F238E27FC236}">
                  <a16:creationId xmlns:a16="http://schemas.microsoft.com/office/drawing/2014/main" id="{B679D862-11D7-45D7-8705-56B3B37C8F5A}"/>
                </a:ext>
              </a:extLst>
            </p:cNvPr>
            <p:cNvCxnSpPr>
              <a:cxnSpLocks/>
            </p:cNvCxnSpPr>
            <p:nvPr/>
          </p:nvCxnSpPr>
          <p:spPr>
            <a:xfrm>
              <a:off x="939381" y="2777943"/>
              <a:ext cx="900000" cy="0"/>
            </a:xfrm>
            <a:prstGeom prst="line">
              <a:avLst/>
            </a:prstGeom>
            <a:ln/>
          </p:spPr>
          <p:style>
            <a:lnRef idx="3">
              <a:schemeClr val="accent1"/>
            </a:lnRef>
            <a:fillRef idx="0">
              <a:schemeClr val="accent1"/>
            </a:fillRef>
            <a:effectRef idx="2">
              <a:schemeClr val="accent1"/>
            </a:effectRef>
            <a:fontRef idx="minor">
              <a:schemeClr val="tx1"/>
            </a:fontRef>
          </p:style>
        </p:cxnSp>
      </p:grpSp>
      <p:sp>
        <p:nvSpPr>
          <p:cNvPr id="35" name="Rectangle: Rounded Corners 34">
            <a:extLst>
              <a:ext uri="{FF2B5EF4-FFF2-40B4-BE49-F238E27FC236}">
                <a16:creationId xmlns:a16="http://schemas.microsoft.com/office/drawing/2014/main" id="{CC86ED37-A545-4401-84A2-6727B3B64DEC}"/>
              </a:ext>
            </a:extLst>
          </p:cNvPr>
          <p:cNvSpPr/>
          <p:nvPr/>
        </p:nvSpPr>
        <p:spPr>
          <a:xfrm>
            <a:off x="325600" y="1623202"/>
            <a:ext cx="1806576" cy="2050211"/>
          </a:xfrm>
          <a:prstGeom prst="roundRect">
            <a:avLst>
              <a:gd name="adj" fmla="val 6438"/>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1000" b="1" noProof="0" dirty="0">
                <a:solidFill>
                  <a:schemeClr val="tx1"/>
                </a:solidFill>
              </a:rPr>
              <a:t xml:space="preserve">Budget for 2025,</a:t>
            </a:r>
          </a:p>
          <a:p>
            <a:pPr rtl="0"/>
            <a:r>
              <a:rPr lang="ru" sz="1000" b="1" noProof="0" dirty="0">
                <a:solidFill>
                  <a:schemeClr val="tx1"/>
                </a:solidFill>
              </a:rPr>
              <a:t xml:space="preserve">General and factual</a:t>
            </a:r>
          </a:p>
          <a:p>
            <a:pPr rtl="0"/>
            <a:r>
              <a:rPr lang="ru" sz="1000" b="1" noProof="0" dirty="0">
                <a:solidFill>
                  <a:schemeClr val="tx1"/>
                </a:solidFill>
              </a:rPr>
              <a:t xml:space="preserve">expenses ($)</a:t>
            </a:r>
          </a:p>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p:txBody>
      </p:sp>
      <p:sp>
        <p:nvSpPr>
          <p:cNvPr id="39" name="Rectangle: Rounded Corners 38">
            <a:extLst>
              <a:ext uri="{FF2B5EF4-FFF2-40B4-BE49-F238E27FC236}">
                <a16:creationId xmlns:a16="http://schemas.microsoft.com/office/drawing/2014/main" id="{7F79B98D-0D99-4107-A6E9-B3AEA1E37D50}"/>
              </a:ext>
            </a:extLst>
          </p:cNvPr>
          <p:cNvSpPr/>
          <p:nvPr/>
        </p:nvSpPr>
        <p:spPr>
          <a:xfrm>
            <a:off x="325600" y="3826714"/>
            <a:ext cx="1806576" cy="2245408"/>
          </a:xfrm>
          <a:prstGeom prst="roundRect">
            <a:avLst>
              <a:gd name="adj" fmla="val 6438"/>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r>
              <a:rPr lang="ru" sz="1000" b="1" noProof="0" dirty="0">
                <a:solidFill>
                  <a:schemeClr val="tx1"/>
                </a:solidFill>
              </a:rPr>
              <a:t xml:space="preserve">Resources –</a:t>
            </a:r>
          </a:p>
          <a:p>
            <a:pPr rtl="0"/>
            <a:r>
              <a:rPr lang="ru" sz="1000" b="1" noProof="0" dirty="0">
                <a:solidFill>
                  <a:schemeClr val="tx1"/>
                </a:solidFill>
              </a:rPr>
              <a:t xml:space="preserve">Actual headcount and open positions as of 12/31/2025 (state)</a:t>
            </a:r>
            <a:r>
              <a:rPr lang="ru" sz="1000" b="1" noProof="0" dirty="0" smtClean="0">
                <a:solidFill>
                  <a:schemeClr val="tx1"/>
                </a:solidFill>
              </a:rPr>
              <a:t/>
            </a:r>
            <a:r>
              <a:rPr lang="en-US" sz="1000" b="1" noProof="0" dirty="0" smtClean="0">
                <a:solidFill>
                  <a:schemeClr val="tx1"/>
                </a:solidFill>
              </a:rPr>
              <a:t/>
            </a:r>
            <a:r>
              <a:rPr lang="ru-RU" sz="1000" b="1" noProof="0" dirty="0" smtClean="0">
                <a:solidFill>
                  <a:schemeClr val="tx1"/>
                </a:solidFill>
              </a:rPr>
              <a:t/>
            </a:r>
            <a:r>
              <a:rPr lang="ru" sz="1000" b="1" noProof="0" dirty="0" smtClean="0">
                <a:solidFill>
                  <a:schemeClr val="tx1"/>
                </a:solidFill>
              </a:rPr>
              <a:t/>
            </a:r>
            <a:r>
              <a:rPr lang="ru" sz="1000" b="1" noProof="0" dirty="0">
                <a:solidFill>
                  <a:schemeClr val="tx1"/>
                </a:solidFill>
              </a:rPr>
              <a:t/>
            </a:r>
          </a:p>
        </p:txBody>
      </p:sp>
      <p:grpSp>
        <p:nvGrpSpPr>
          <p:cNvPr id="40" name="Group 39">
            <a:extLst>
              <a:ext uri="{FF2B5EF4-FFF2-40B4-BE49-F238E27FC236}">
                <a16:creationId xmlns:a16="http://schemas.microsoft.com/office/drawing/2014/main" id="{262DEE72-BF33-465E-A00E-F23C6AE4EBAD}"/>
              </a:ext>
            </a:extLst>
          </p:cNvPr>
          <p:cNvGrpSpPr/>
          <p:nvPr/>
        </p:nvGrpSpPr>
        <p:grpSpPr>
          <a:xfrm>
            <a:off x="529134" y="2310571"/>
            <a:ext cx="1649201" cy="934852"/>
            <a:chOff x="663969" y="2223945"/>
            <a:chExt cx="1649201" cy="934852"/>
          </a:xfrm>
        </p:grpSpPr>
        <p:sp>
          <p:nvSpPr>
            <p:cNvPr id="41" name="Text Placeholder 39">
              <a:extLst>
                <a:ext uri="{FF2B5EF4-FFF2-40B4-BE49-F238E27FC236}">
                  <a16:creationId xmlns:a16="http://schemas.microsoft.com/office/drawing/2014/main" id="{1CAD256B-85BE-4966-BB44-4F663C358A56}"/>
                </a:ext>
              </a:extLst>
            </p:cNvPr>
            <p:cNvSpPr txBox="1">
              <a:spLocks/>
            </p:cNvSpPr>
            <p:nvPr/>
          </p:nvSpPr>
          <p:spPr>
            <a:xfrm>
              <a:off x="663969" y="2789465"/>
              <a:ext cx="1649201" cy="369332"/>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defRPr/>
              </a:pPr>
              <a:r>
                <a:rPr lang="ru" sz="2400" dirty="0">
                  <a:solidFill>
                    <a:schemeClr val="accent1"/>
                  </a:solidFill>
                </a:rPr>
                <a:t xml:space="preserve">$51.8 thousand</a:t>
              </a:r>
            </a:p>
          </p:txBody>
        </p:sp>
        <p:sp>
          <p:nvSpPr>
            <p:cNvPr id="42" name="Text Placeholder 39">
              <a:extLst>
                <a:ext uri="{FF2B5EF4-FFF2-40B4-BE49-F238E27FC236}">
                  <a16:creationId xmlns:a16="http://schemas.microsoft.com/office/drawing/2014/main" id="{1D888400-F117-4FAF-97DE-C4A0E3DD3CCE}"/>
                </a:ext>
              </a:extLst>
            </p:cNvPr>
            <p:cNvSpPr txBox="1">
              <a:spLocks/>
            </p:cNvSpPr>
            <p:nvPr/>
          </p:nvSpPr>
          <p:spPr>
            <a:xfrm>
              <a:off x="663969" y="2223945"/>
              <a:ext cx="1530868"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2400" noProof="0" dirty="0">
                  <a:solidFill>
                    <a:schemeClr val="accent1"/>
                  </a:solidFill>
                </a:rPr>
                <a:t xml:space="preserve">$124 thousand*</a:t>
              </a:r>
              <a:r>
                <a:rPr lang="ru" sz="2400" dirty="0">
                  <a:solidFill>
                    <a:schemeClr val="accent1"/>
                  </a:solidFill>
                </a:rPr>
                <a:t/>
              </a:r>
              <a:r>
                <a:rPr lang="ru" sz="2400" noProof="0" dirty="0">
                  <a:solidFill>
                    <a:schemeClr val="accent1"/>
                  </a:solidFill>
                </a:rPr>
                <a:t/>
              </a:r>
              <a:r>
                <a:rPr lang="ru" noProof="0" dirty="0">
                  <a:solidFill>
                    <a:schemeClr val="accent1"/>
                  </a:solidFill>
                </a:rPr>
                <a:t/>
              </a:r>
            </a:p>
          </p:txBody>
        </p:sp>
        <p:cxnSp>
          <p:nvCxnSpPr>
            <p:cNvPr id="43" name="Straight Connector 42">
              <a:extLst>
                <a:ext uri="{FF2B5EF4-FFF2-40B4-BE49-F238E27FC236}">
                  <a16:creationId xmlns:a16="http://schemas.microsoft.com/office/drawing/2014/main" id="{427C3BCA-311B-4F81-AE42-F77665F4271F}"/>
                </a:ext>
              </a:extLst>
            </p:cNvPr>
            <p:cNvCxnSpPr>
              <a:cxnSpLocks/>
            </p:cNvCxnSpPr>
            <p:nvPr/>
          </p:nvCxnSpPr>
          <p:spPr>
            <a:xfrm>
              <a:off x="939381" y="2777943"/>
              <a:ext cx="900000" cy="0"/>
            </a:xfrm>
            <a:prstGeom prst="line">
              <a:avLst/>
            </a:prstGeom>
            <a:ln/>
          </p:spPr>
          <p:style>
            <a:lnRef idx="3">
              <a:schemeClr val="accent1"/>
            </a:lnRef>
            <a:fillRef idx="0">
              <a:schemeClr val="accent1"/>
            </a:fillRef>
            <a:effectRef idx="2">
              <a:schemeClr val="accent1"/>
            </a:effectRef>
            <a:fontRef idx="minor">
              <a:schemeClr val="tx1"/>
            </a:fontRef>
          </p:style>
        </p:cxnSp>
      </p:grpSp>
      <p:grpSp>
        <p:nvGrpSpPr>
          <p:cNvPr id="44" name="Group 43">
            <a:extLst>
              <a:ext uri="{FF2B5EF4-FFF2-40B4-BE49-F238E27FC236}">
                <a16:creationId xmlns:a16="http://schemas.microsoft.com/office/drawing/2014/main" id="{0FCD327E-1094-4937-B813-F0D82A7A250A}"/>
              </a:ext>
            </a:extLst>
          </p:cNvPr>
          <p:cNvGrpSpPr/>
          <p:nvPr/>
        </p:nvGrpSpPr>
        <p:grpSpPr>
          <a:xfrm>
            <a:off x="939381" y="4926375"/>
            <a:ext cx="539325" cy="765884"/>
            <a:chOff x="1022556" y="4621794"/>
            <a:chExt cx="539325" cy="765884"/>
          </a:xfrm>
        </p:grpSpPr>
        <p:sp>
          <p:nvSpPr>
            <p:cNvPr id="45" name="Text Placeholder 39">
              <a:extLst>
                <a:ext uri="{FF2B5EF4-FFF2-40B4-BE49-F238E27FC236}">
                  <a16:creationId xmlns:a16="http://schemas.microsoft.com/office/drawing/2014/main" id="{27479914-20AE-4590-A96A-94CB5352FBA3}"/>
                </a:ext>
              </a:extLst>
            </p:cNvPr>
            <p:cNvSpPr txBox="1">
              <a:spLocks/>
            </p:cNvSpPr>
            <p:nvPr/>
          </p:nvSpPr>
          <p:spPr>
            <a:xfrm>
              <a:off x="1022556" y="4621794"/>
              <a:ext cx="515838" cy="369332"/>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en-US" sz="2400" dirty="0">
                  <a:solidFill>
                    <a:schemeClr val="accent1"/>
                  </a:solidFill>
                </a:rPr>
                <a:t>15</a:t>
              </a:r>
              <a:endParaRPr lang="ru" sz="2400" dirty="0">
                <a:solidFill>
                  <a:schemeClr val="accent1"/>
                </a:solidFill>
              </a:endParaRPr>
            </a:p>
          </p:txBody>
        </p:sp>
        <p:cxnSp>
          <p:nvCxnSpPr>
            <p:cNvPr id="46" name="Straight Connector 45">
              <a:extLst>
                <a:ext uri="{FF2B5EF4-FFF2-40B4-BE49-F238E27FC236}">
                  <a16:creationId xmlns:a16="http://schemas.microsoft.com/office/drawing/2014/main" id="{A8EDA807-6B60-40BA-8DA4-BC118BBECBE8}"/>
                </a:ext>
              </a:extLst>
            </p:cNvPr>
            <p:cNvCxnSpPr>
              <a:cxnSpLocks/>
            </p:cNvCxnSpPr>
            <p:nvPr/>
          </p:nvCxnSpPr>
          <p:spPr>
            <a:xfrm>
              <a:off x="1093881" y="5033156"/>
              <a:ext cx="468000" cy="0"/>
            </a:xfrm>
            <a:prstGeom prst="line">
              <a:avLst/>
            </a:prstGeom>
            <a:ln/>
          </p:spPr>
          <p:style>
            <a:lnRef idx="3">
              <a:schemeClr val="accent1"/>
            </a:lnRef>
            <a:fillRef idx="0">
              <a:schemeClr val="accent1"/>
            </a:fillRef>
            <a:effectRef idx="2">
              <a:schemeClr val="accent1"/>
            </a:effectRef>
            <a:fontRef idx="minor">
              <a:schemeClr val="tx1"/>
            </a:fontRef>
          </p:style>
        </p:cxnSp>
        <p:sp>
          <p:nvSpPr>
            <p:cNvPr id="47" name="Text Placeholder 39">
              <a:extLst>
                <a:ext uri="{FF2B5EF4-FFF2-40B4-BE49-F238E27FC236}">
                  <a16:creationId xmlns:a16="http://schemas.microsoft.com/office/drawing/2014/main" id="{9C9D64CB-E94E-4CB3-A5C6-58A9979A4682}"/>
                </a:ext>
              </a:extLst>
            </p:cNvPr>
            <p:cNvSpPr txBox="1">
              <a:spLocks/>
            </p:cNvSpPr>
            <p:nvPr/>
          </p:nvSpPr>
          <p:spPr>
            <a:xfrm>
              <a:off x="1199641" y="5018346"/>
              <a:ext cx="171522"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r>
                <a:rPr lang="ru" sz="2400" dirty="0">
                  <a:solidFill>
                    <a:schemeClr val="accent1"/>
                  </a:solidFill>
                </a:rPr>
                <a:t>3</a:t>
              </a:r>
            </a:p>
          </p:txBody>
        </p:sp>
      </p:grpSp>
      <p:graphicFrame>
        <p:nvGraphicFramePr>
          <p:cNvPr id="49" name="Table 48">
            <a:extLst>
              <a:ext uri="{FF2B5EF4-FFF2-40B4-BE49-F238E27FC236}">
                <a16:creationId xmlns:a16="http://schemas.microsoft.com/office/drawing/2014/main" id="{93EC1595-10AD-444F-A31E-B2B62ED9812A}"/>
              </a:ext>
            </a:extLst>
          </p:cNvPr>
          <p:cNvGraphicFramePr>
            <a:graphicFrameLocks noGrp="1"/>
          </p:cNvGraphicFramePr>
          <p:nvPr>
            <p:extLst>
              <p:ext uri="{D42A27DB-BD31-4B8C-83A1-F6EECF244321}">
                <p14:modId xmlns:p14="http://schemas.microsoft.com/office/powerpoint/2010/main" val="11310513"/>
              </p:ext>
            </p:extLst>
          </p:nvPr>
        </p:nvGraphicFramePr>
        <p:xfrm>
          <a:off x="2318328" y="1709354"/>
          <a:ext cx="2826591" cy="637652"/>
        </p:xfrm>
        <a:graphic>
          <a:graphicData uri="http://schemas.openxmlformats.org/drawingml/2006/table">
            <a:tbl>
              <a:tblPr firstRow="1" bandRow="1">
                <a:tableStyleId>{5C22544A-7EE6-4342-B048-85BDC9FD1C3A}</a:tableStyleId>
              </a:tblPr>
              <a:tblGrid>
                <a:gridCol w="827371">
                  <a:extLst>
                    <a:ext uri="{9D8B030D-6E8A-4147-A177-3AD203B41FA5}">
                      <a16:colId xmlns:a16="http://schemas.microsoft.com/office/drawing/2014/main" val="3085055012"/>
                    </a:ext>
                  </a:extLst>
                </a:gridCol>
                <a:gridCol w="1107901">
                  <a:extLst>
                    <a:ext uri="{9D8B030D-6E8A-4147-A177-3AD203B41FA5}">
                      <a16:colId xmlns:a16="http://schemas.microsoft.com/office/drawing/2014/main" val="367449626"/>
                    </a:ext>
                  </a:extLst>
                </a:gridCol>
                <a:gridCol w="891319">
                  <a:extLst>
                    <a:ext uri="{9D8B030D-6E8A-4147-A177-3AD203B41FA5}">
                      <a16:colId xmlns:a16="http://schemas.microsoft.com/office/drawing/2014/main" val="2928140346"/>
                    </a:ext>
                  </a:extLst>
                </a:gridCol>
              </a:tblGrid>
              <a:tr h="123381">
                <a:tc>
                  <a:txBody>
                    <a:bodyPr/>
                    <a:lstStyle/>
                    <a:p>
                      <a:pPr rtl="0"/>
                      <a:r>
                        <a:rPr lang="ru" sz="1200" b="0" noProof="0" dirty="0">
                          <a:solidFill>
                            <a:schemeClr val="accent1"/>
                          </a:solidFill>
                        </a:rPr>
                        <a:t xml:space="preserve">Project</a:t>
                      </a:r>
                    </a:p>
                  </a:txBody>
                  <a:tcPr marL="36000" marR="36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 sz="1200" b="0" noProof="0" dirty="0">
                          <a:solidFill>
                            <a:schemeClr val="accent1"/>
                          </a:solidFill>
                        </a:rPr>
                        <a:t xml:space="preserve">Description</a:t>
                      </a:r>
                    </a:p>
                  </a:txBody>
                  <a:tcPr marL="36000" marR="36000" marT="36000" marB="36000">
                    <a:lnL w="12700" cmpd="sng">
                      <a:noFill/>
                    </a:lnL>
                    <a:lnR w="12700" cmpd="sng">
                      <a:noFill/>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 sz="1200" b="0" noProof="0" dirty="0">
                          <a:solidFill>
                            <a:schemeClr val="accent1"/>
                          </a:solidFill>
                        </a:rPr>
                        <a:t xml:space="preserve">Status</a:t>
                      </a:r>
                    </a:p>
                  </a:txBody>
                  <a:tcPr marL="36000" marR="36000" marT="36000" marB="36000">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0475509"/>
                  </a:ext>
                </a:extLst>
              </a:tr>
              <a:tr h="382772">
                <a:tc gridSpan="3">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900" dirty="0" smtClean="0">
                          <a:solidFill>
                            <a:schemeClr val="tx1"/>
                          </a:solidFill>
                        </a:rPr>
                        <a:t xml:space="preserve">In 4th quarter IT projects were not planned for implementation.</a:t>
                      </a:r>
                    </a:p>
                  </a:txBody>
                  <a:tcPr marL="36000" marR="36000" marT="36000" marB="36000">
                    <a:lnL w="9525" cap="flat" cmpd="sng" algn="ctr">
                      <a:noFill/>
                      <a:prstDash val="solid"/>
                      <a:round/>
                      <a:headEnd type="none" w="med" len="med"/>
                      <a:tailEnd type="none" w="med" len="med"/>
                    </a:lnL>
                    <a:lnR w="12700" cmpd="sng">
                      <a:noFill/>
                    </a:lnR>
                    <a:lnT w="952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sz="900" dirty="0">
                        <a:solidFill>
                          <a:schemeClr val="tx1"/>
                        </a:solidFill>
                      </a:endParaRPr>
                    </a:p>
                  </a:txBody>
                  <a:tcPr marL="36000" marR="36000" marT="36000" marB="36000">
                    <a:lnL w="12700" cmpd="sng">
                      <a:noFill/>
                    </a:lnL>
                    <a:lnR w="12700" cmpd="sng">
                      <a:noFill/>
                    </a:lnR>
                    <a:lnT w="952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900" dirty="0" smtClean="0">
                        <a:solidFill>
                          <a:schemeClr val="tx1"/>
                        </a:solidFill>
                      </a:endParaRPr>
                    </a:p>
                  </a:txBody>
                  <a:tcPr marL="36000" marR="36000" marT="36000" marB="36000">
                    <a:lnL w="12700" cmpd="sng">
                      <a:noFill/>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9104410"/>
                  </a:ext>
                </a:extLst>
              </a:tr>
            </a:tbl>
          </a:graphicData>
        </a:graphic>
      </p:graphicFrame>
      <p:sp>
        <p:nvSpPr>
          <p:cNvPr id="4" name="Прямоугольник 3"/>
          <p:cNvSpPr/>
          <p:nvPr/>
        </p:nvSpPr>
        <p:spPr>
          <a:xfrm>
            <a:off x="241592" y="6231447"/>
            <a:ext cx="6096000" cy="230832"/>
          </a:xfrm>
          <a:prstGeom prst="rect">
            <a:avLst/>
          </a:prstGeom>
        </p:spPr>
        <p:txBody>
          <a:bodyPr>
            <a:spAutoFit/>
          </a:bodyPr>
          <a:lstStyle/>
          <a:p>
            <a:r>
              <a:rPr lang="ru" sz="900" i="1" dirty="0" smtClean="0">
                <a:solidFill>
                  <a:schemeClr val="accent1"/>
                </a:solidFill>
              </a:rPr>
              <a:t xml:space="preserve">* Budget of the Compliance Directorate ($101,329) + IT budget for the database ($22,731)</a:t>
            </a:r>
            <a:r>
              <a:rPr lang="ru" sz="900" i="1" dirty="0">
                <a:solidFill>
                  <a:schemeClr val="accent1"/>
                </a:solidFill>
              </a:rPr>
              <a:t/>
            </a:r>
            <a:r>
              <a:rPr lang="en-US" sz="900" i="1" dirty="0">
                <a:solidFill>
                  <a:schemeClr val="accent1"/>
                </a:solidFill>
              </a:rPr>
              <a:t/>
            </a:r>
            <a:r>
              <a:rPr lang="ru-RU" sz="900" i="1" dirty="0">
                <a:solidFill>
                  <a:schemeClr val="accent1"/>
                </a:solidFill>
              </a:rPr>
              <a:t/>
            </a:r>
            <a:r>
              <a:rPr lang="en-US" sz="900" i="1" dirty="0">
                <a:solidFill>
                  <a:schemeClr val="accent1"/>
                </a:solidFill>
              </a:rPr>
              <a:t/>
            </a:r>
            <a:r>
              <a:rPr lang="ru-RU" sz="900" i="1" dirty="0">
                <a:solidFill>
                  <a:schemeClr val="accent1"/>
                </a:solidFill>
              </a:rPr>
              <a:t/>
            </a:r>
            <a:r>
              <a:rPr lang="en-US" sz="900" i="1" dirty="0">
                <a:solidFill>
                  <a:schemeClr val="accent1"/>
                </a:solidFill>
              </a:rPr>
              <a:t/>
            </a:r>
            <a:r>
              <a:rPr lang="ru-RU" sz="900" i="1" dirty="0">
                <a:solidFill>
                  <a:schemeClr val="accent1"/>
                </a:solidFill>
              </a:rPr>
              <a:t/>
            </a:r>
            <a:r>
              <a:rPr lang="en-US" sz="900" i="1" dirty="0">
                <a:solidFill>
                  <a:schemeClr val="accent1"/>
                </a:solidFill>
              </a:rPr>
              <a:t/>
            </a:r>
            <a:r>
              <a:rPr lang="ru-RU" sz="900" i="1" dirty="0">
                <a:solidFill>
                  <a:schemeClr val="accent1"/>
                </a:solidFill>
              </a:rPr>
              <a:t/>
            </a:r>
            <a:endParaRPr lang="ru" sz="900" i="1" dirty="0">
              <a:solidFill>
                <a:schemeClr val="accent1"/>
              </a:solidFill>
            </a:endParaRPr>
          </a:p>
        </p:txBody>
      </p:sp>
    </p:spTree>
    <p:extLst>
      <p:ext uri="{BB962C8B-B14F-4D97-AF65-F5344CB8AC3E}">
        <p14:creationId xmlns:p14="http://schemas.microsoft.com/office/powerpoint/2010/main" val="3665785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9F7B1-F9E9-16D9-162D-128E143342F4}"/>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70D7F1D6-DD13-08B1-F969-075D699A9C7E}"/>
              </a:ext>
            </a:extLst>
          </p:cNvPr>
          <p:cNvSpPr>
            <a:spLocks noGrp="1"/>
          </p:cNvSpPr>
          <p:nvPr>
            <p:ph type="body" sz="quarter" idx="13"/>
          </p:nvPr>
        </p:nvSpPr>
        <p:spPr>
          <a:xfrm>
            <a:off x="347098" y="3737810"/>
            <a:ext cx="4728390" cy="278753"/>
          </a:xfrm>
        </p:spPr>
        <p:txBody>
          <a:bodyPr rtlCol="0"/>
          <a:lstStyle/>
          <a:p>
            <a:pPr rtl="0"/>
            <a:r>
              <a:rPr lang="ru" noProof="0"/>
              <a:t xml:space="preserve">Applications</a:t>
            </a:r>
          </a:p>
        </p:txBody>
      </p:sp>
    </p:spTree>
    <p:extLst>
      <p:ext uri="{BB962C8B-B14F-4D97-AF65-F5344CB8AC3E}">
        <p14:creationId xmlns:p14="http://schemas.microsoft.com/office/powerpoint/2010/main" val="3752408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016D0-380D-777B-5FB2-003D93A8411A}"/>
            </a:ext>
          </a:extLst>
        </p:cNvPr>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8A5D452E-57F8-4528-494B-1D375C225B5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1385"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8A5D452E-57F8-4528-494B-1D375C225B5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FE1A2F1-9CA1-B3EE-1B87-54F1999162D3}"/>
              </a:ext>
            </a:extLst>
          </p:cNvPr>
          <p:cNvSpPr>
            <a:spLocks noGrp="1"/>
          </p:cNvSpPr>
          <p:nvPr>
            <p:ph type="title"/>
          </p:nvPr>
        </p:nvSpPr>
        <p:spPr/>
        <p:txBody>
          <a:bodyPr vert="horz" rtlCol="0"/>
          <a:lstStyle/>
          <a:p>
            <a:pPr rtl="0"/>
            <a:r>
              <a:rPr lang="ru" noProof="0" dirty="0" smtClean="0"/>
              <a:t>Прил.1: Управление рисками третьих </a:t>
            </a:r>
            <a:r>
              <a:rPr lang="ru" noProof="0" dirty="0"/>
              <a:t>сторон</a:t>
            </a:r>
            <a:r>
              <a:rPr lang="en-US" noProof="0" dirty="0"/>
              <a:t/>
            </a:r>
            <a:br>
              <a:rPr lang="en-US" noProof="0" dirty="0"/>
            </a:br>
            <a:r>
              <a:rPr lang="ru-RU" dirty="0" smtClean="0">
                <a:solidFill>
                  <a:schemeClr val="tx1"/>
                </a:solidFill>
              </a:rPr>
              <a:t>Самотестирование</a:t>
            </a:r>
            <a:r>
              <a:rPr lang="ru" noProof="0" dirty="0" smtClean="0">
                <a:solidFill>
                  <a:schemeClr val="tx1"/>
                </a:solidFill>
              </a:rPr>
              <a:t> КПК - 4</a:t>
            </a:r>
            <a:r>
              <a:rPr lang="ru" noProof="0" dirty="0">
                <a:solidFill>
                  <a:schemeClr val="tx1"/>
                </a:solidFill>
              </a:rPr>
              <a:t> кв. 2025 г.</a:t>
            </a:r>
          </a:p>
        </p:txBody>
      </p:sp>
      <p:sp>
        <p:nvSpPr>
          <p:cNvPr id="3" name="Text Placeholder 9">
            <a:extLst>
              <a:ext uri="{FF2B5EF4-FFF2-40B4-BE49-F238E27FC236}">
                <a16:creationId xmlns:a16="http://schemas.microsoft.com/office/drawing/2014/main" id="{7AC09F5A-822E-CCF1-CA02-B42735369C68}"/>
              </a:ext>
            </a:extLst>
          </p:cNvPr>
          <p:cNvSpPr txBox="1">
            <a:spLocks/>
          </p:cNvSpPr>
          <p:nvPr/>
        </p:nvSpPr>
        <p:spPr>
          <a:xfrm>
            <a:off x="317499" y="810090"/>
            <a:ext cx="7987950" cy="215444"/>
          </a:xfrm>
          <a:prstGeom prst="rect">
            <a:avLst/>
          </a:prstGeom>
        </p:spPr>
        <p:txBody>
          <a:bodyPr wrap="square" lIns="0" tIns="0" rIns="0" bIns="0" rtlCol="0" anchor="b">
            <a:spAutoFit/>
          </a:bodyPr>
          <a:lstStyle>
            <a:defPPr>
              <a:defRPr lang="en-US"/>
            </a:defPPr>
            <a:lvl1pPr marR="0" lvl="0" indent="0" defTabSz="583170" fontAlgn="auto">
              <a:lnSpc>
                <a:spcPct val="100000"/>
              </a:lnSpc>
              <a:spcBef>
                <a:spcPts val="0"/>
              </a:spcBef>
              <a:spcAft>
                <a:spcPts val="0"/>
              </a:spcAft>
              <a:buClrTx/>
              <a:buSzTx/>
              <a:buFont typeface="Arial" panose="020B0604020202020204" pitchFamily="34" charset="0"/>
              <a:buNone/>
              <a:tabLst/>
              <a:defRPr kumimoji="0" sz="1400" b="0" i="0" u="none" strike="noStrike" cap="none" spc="0" normalizeH="0" baseline="0">
                <a:ln>
                  <a:noFill/>
                </a:ln>
                <a:solidFill>
                  <a:schemeClr val="accent5">
                    <a:lumMod val="75000"/>
                    <a:lumOff val="25000"/>
                  </a:schemeClr>
                </a:solidFill>
                <a:effectLst/>
                <a:uLnTx/>
                <a:uFillTx/>
                <a:latin typeface="Arial" panose="020B0604020202020204"/>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r>
              <a:rPr lang="ru-RU" dirty="0"/>
              <a:t xml:space="preserve">List of transactions concluded without CPC during the 4th quarter. 2025</a:t>
            </a:r>
            <a:r>
              <a:rPr lang="ru-RU" dirty="0" smtClean="0"/>
              <a:t/>
            </a:r>
            <a:r>
              <a:rPr lang="ru-RU" dirty="0"/>
              <a:t/>
            </a:r>
            <a:r>
              <a:rPr lang="ru-RU" dirty="0" smtClean="0"/>
              <a:t/>
            </a:r>
            <a:endParaRPr lang="ru-RU" dirty="0"/>
          </a:p>
        </p:txBody>
      </p:sp>
      <p:graphicFrame>
        <p:nvGraphicFramePr>
          <p:cNvPr id="9" name="Таблица 8">
            <a:extLst>
              <a:ext uri="{FF2B5EF4-FFF2-40B4-BE49-F238E27FC236}">
                <a16:creationId xmlns:a16="http://schemas.microsoft.com/office/drawing/2014/main" id="{12592606-D663-439C-8554-AC74ED9AD2B3}"/>
              </a:ext>
            </a:extLst>
          </p:cNvPr>
          <p:cNvGraphicFramePr>
            <a:graphicFrameLocks noGrp="1"/>
          </p:cNvGraphicFramePr>
          <p:nvPr>
            <p:extLst>
              <p:ext uri="{D42A27DB-BD31-4B8C-83A1-F6EECF244321}">
                <p14:modId xmlns:p14="http://schemas.microsoft.com/office/powerpoint/2010/main" val="4214283382"/>
              </p:ext>
            </p:extLst>
          </p:nvPr>
        </p:nvGraphicFramePr>
        <p:xfrm>
          <a:off x="317499" y="1130772"/>
          <a:ext cx="11498874" cy="4974954"/>
        </p:xfrm>
        <a:graphic>
          <a:graphicData uri="http://schemas.openxmlformats.org/drawingml/2006/table">
            <a:tbl>
              <a:tblPr>
                <a:tableStyleId>{9DCAF9ED-07DC-4A11-8D7F-57B35C25682E}</a:tableStyleId>
              </a:tblPr>
              <a:tblGrid>
                <a:gridCol w="228366">
                  <a:extLst>
                    <a:ext uri="{9D8B030D-6E8A-4147-A177-3AD203B41FA5}">
                      <a16:colId xmlns:a16="http://schemas.microsoft.com/office/drawing/2014/main" val="71386341"/>
                    </a:ext>
                  </a:extLst>
                </a:gridCol>
                <a:gridCol w="782213">
                  <a:extLst>
                    <a:ext uri="{9D8B030D-6E8A-4147-A177-3AD203B41FA5}">
                      <a16:colId xmlns:a16="http://schemas.microsoft.com/office/drawing/2014/main" val="4072425883"/>
                    </a:ext>
                  </a:extLst>
                </a:gridCol>
                <a:gridCol w="972000">
                  <a:extLst>
                    <a:ext uri="{9D8B030D-6E8A-4147-A177-3AD203B41FA5}">
                      <a16:colId xmlns:a16="http://schemas.microsoft.com/office/drawing/2014/main" val="1407490457"/>
                    </a:ext>
                  </a:extLst>
                </a:gridCol>
                <a:gridCol w="1368000">
                  <a:extLst>
                    <a:ext uri="{9D8B030D-6E8A-4147-A177-3AD203B41FA5}">
                      <a16:colId xmlns:a16="http://schemas.microsoft.com/office/drawing/2014/main" val="795514479"/>
                    </a:ext>
                  </a:extLst>
                </a:gridCol>
                <a:gridCol w="714711">
                  <a:extLst>
                    <a:ext uri="{9D8B030D-6E8A-4147-A177-3AD203B41FA5}">
                      <a16:colId xmlns:a16="http://schemas.microsoft.com/office/drawing/2014/main" val="3686822732"/>
                    </a:ext>
                  </a:extLst>
                </a:gridCol>
                <a:gridCol w="900000">
                  <a:extLst>
                    <a:ext uri="{9D8B030D-6E8A-4147-A177-3AD203B41FA5}">
                      <a16:colId xmlns:a16="http://schemas.microsoft.com/office/drawing/2014/main" val="2579736943"/>
                    </a:ext>
                  </a:extLst>
                </a:gridCol>
                <a:gridCol w="720000">
                  <a:extLst>
                    <a:ext uri="{9D8B030D-6E8A-4147-A177-3AD203B41FA5}">
                      <a16:colId xmlns:a16="http://schemas.microsoft.com/office/drawing/2014/main" val="2720248791"/>
                    </a:ext>
                  </a:extLst>
                </a:gridCol>
                <a:gridCol w="1044000">
                  <a:extLst>
                    <a:ext uri="{9D8B030D-6E8A-4147-A177-3AD203B41FA5}">
                      <a16:colId xmlns:a16="http://schemas.microsoft.com/office/drawing/2014/main" val="2371894053"/>
                    </a:ext>
                  </a:extLst>
                </a:gridCol>
                <a:gridCol w="789487">
                  <a:extLst>
                    <a:ext uri="{9D8B030D-6E8A-4147-A177-3AD203B41FA5}">
                      <a16:colId xmlns:a16="http://schemas.microsoft.com/office/drawing/2014/main" val="370409004"/>
                    </a:ext>
                  </a:extLst>
                </a:gridCol>
                <a:gridCol w="1460851">
                  <a:extLst>
                    <a:ext uri="{9D8B030D-6E8A-4147-A177-3AD203B41FA5}">
                      <a16:colId xmlns:a16="http://schemas.microsoft.com/office/drawing/2014/main" val="1136383641"/>
                    </a:ext>
                  </a:extLst>
                </a:gridCol>
                <a:gridCol w="1259623">
                  <a:extLst>
                    <a:ext uri="{9D8B030D-6E8A-4147-A177-3AD203B41FA5}">
                      <a16:colId xmlns:a16="http://schemas.microsoft.com/office/drawing/2014/main" val="4190150575"/>
                    </a:ext>
                  </a:extLst>
                </a:gridCol>
                <a:gridCol w="1259623">
                  <a:extLst>
                    <a:ext uri="{9D8B030D-6E8A-4147-A177-3AD203B41FA5}">
                      <a16:colId xmlns:a16="http://schemas.microsoft.com/office/drawing/2014/main" val="195547756"/>
                    </a:ext>
                  </a:extLst>
                </a:gridCol>
              </a:tblGrid>
              <a:tr h="893573">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a:t>
                      </a:r>
                      <a:endParaRPr lang="ru-RU" sz="800" u="none" strike="noStrike" dirty="0" smtClean="0">
                        <a:solidFill>
                          <a:schemeClr val="bg2"/>
                        </a:solidFill>
                        <a:effectLst/>
                        <a:latin typeface="+mn-lt"/>
                        <a:ea typeface="Calibri" panose="020F0502020204030204" pitchFamily="34" charset="0"/>
                        <a:cs typeface="Arial" panose="020B0604020202020204" pitchFamily="34" charset="0"/>
                      </a:endParaRPr>
                    </a:p>
                    <a:p>
                      <a:pPr algn="l" rtl="0" fontAlgn="ctr"/>
                      <a:r>
                        <a:rPr lang="ru-RU" sz="800" u="none" strike="noStrike" dirty="0" smtClean="0">
                          <a:solidFill>
                            <a:schemeClr val="bg2"/>
                          </a:solidFill>
                          <a:effectLst/>
                          <a:latin typeface="+mn-lt"/>
                          <a:ea typeface="Calibri" panose="020F0502020204030204" pitchFamily="34" charset="0"/>
                          <a:cs typeface="Arial" panose="020B0604020202020204" pitchFamily="34" charset="0"/>
                        </a:rPr>
                        <a:t xml:space="preserve">p/p</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w="12700" cmpd="sng">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The company organizing the transaction</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Contractor's name</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Subject of the transaction</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Transaction date</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Transaction amount in contract currency</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Transaction amount in US dollars</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Reason for initiating the CCP</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Information on the availability of a valid CCP in relation to the Counterparty</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Reasons for allowing space</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Mitigation measures</a:t>
                      </a:r>
                      <a:r>
                        <a:rPr lang="ru-RU" sz="800" u="none" strike="noStrike" dirty="0" smtClean="0">
                          <a:solidFill>
                            <a:schemeClr val="bg2"/>
                          </a:solidFill>
                          <a:effectLst/>
                          <a:latin typeface="+mn-lt"/>
                          <a:ea typeface="Calibri" panose="020F0502020204030204" pitchFamily="34" charset="0"/>
                          <a:cs typeface="Arial" panose="020B0604020202020204" pitchFamily="34" charset="0"/>
                        </a:rPr>
                        <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b="0" i="0" u="none" strike="noStrike" dirty="0" smtClean="0">
                          <a:solidFill>
                            <a:schemeClr val="bg2"/>
                          </a:solidFill>
                          <a:effectLst/>
                          <a:latin typeface="+mn-lt"/>
                          <a:ea typeface="Calibri" panose="020F0502020204030204" pitchFamily="34" charset="0"/>
                          <a:cs typeface="Arial" panose="020B0604020202020204" pitchFamily="34" charset="0"/>
                        </a:rPr>
                        <a:t xml:space="preserve">Status of implementation of measures as of February 20, 2026.</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extLst>
                  <a:ext uri="{0D108BD9-81ED-4DB2-BD59-A6C34878D82A}">
                    <a16:rowId xmlns:a16="http://schemas.microsoft.com/office/drawing/2014/main" val="2026719946"/>
                  </a:ext>
                </a:extLst>
              </a:tr>
              <a:tr h="1346998">
                <a:tc rowSpan="2">
                  <a:txBody>
                    <a:bodyPr/>
                    <a:lstStyle/>
                    <a:p>
                      <a:pPr algn="ctr"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1</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w="12700" cmpd="sng">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"ERG Reporting Services" LLP</a:t>
                      </a:r>
                      <a:r>
                        <a:rPr lang="en-US"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FL Ohanyan Gayk Araevich</a:t>
                      </a:r>
                      <a:r>
                        <a:rPr lang="ru-RU" sz="800" u="none" strike="noStrike"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
                      </a: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a:r>
                      <a:r>
                        <a:rPr lang="ru-RU" sz="800" u="none" strike="noStrike"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Purchasing services for setting up a project management system</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10.11.2025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7,332,000 rubles</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92 810</a:t>
                      </a: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The transaction amount exceeds the equivalent of $50 thousand.</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No</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1. IT reason (incorrect actions of the initiator when generating a card in the ESED - selection of an impersonal FL)</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lgn="l" fontAlgn="ctr"/>
                      <a:endPar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2. Lack of awareness of the initiator</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w="6350" cap="flat" cmpd="sng" algn="ctr">
                      <a:solidFill>
                        <a:schemeClr val="accent5">
                          <a:lumMod val="50000"/>
                          <a:lumOff val="50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7800" indent="-177800" algn="l" fontAlgn="ctr">
                        <a:buFont typeface="+mj-lt"/>
                        <a:buAutoNum type="arabicPeriod"/>
                      </a:pPr>
                      <a:r>
                        <a:rPr lang="ru-RU" sz="800" u="none" strike="noStrike" dirty="0" smtClean="0">
                          <a:solidFill>
                            <a:schemeClr val="tx1"/>
                          </a:solidFill>
                          <a:effectLst/>
                          <a:latin typeface="+mn-lt"/>
                          <a:ea typeface="Calibri" panose="020F0502020204030204" pitchFamily="34" charset="0"/>
                          <a:cs typeface="Arial" panose="020B0604020202020204" pitchFamily="34" charset="0"/>
                        </a:rPr>
                        <a:t xml:space="preserve">Notification of CEOs of enterprises, heads of divisions, divisions about the missed CCP and the importance of timely initiation of CCP</a:t>
                      </a: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 xml:space="preserve">Completed (01/13/2026)</a:t>
                      </a:r>
                    </a:p>
                    <a:p>
                      <a:pPr algn="l" fontAlgn="ctr">
                        <a:buClr>
                          <a:schemeClr val="accent5">
                            <a:lumMod val="75000"/>
                            <a:lumOff val="25000"/>
                          </a:schemeClr>
                        </a:buClr>
                      </a:pPr>
                      <a:endParaRPr lang="ru-RU" sz="800" b="0" i="0" u="none" strike="noStrike" dirty="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74354158"/>
                  </a:ext>
                </a:extLst>
              </a:tr>
              <a:tr h="711707">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177800" marR="0" lvl="0" indent="-177800" algn="l" defTabSz="583170" rtl="0" eaLnBrk="1" fontAlgn="ctr" latinLnBrk="0" hangingPunct="1">
                        <a:lnSpc>
                          <a:spcPct val="100000"/>
                        </a:lnSpc>
                        <a:spcBef>
                          <a:spcPts val="0"/>
                        </a:spcBef>
                        <a:spcAft>
                          <a:spcPts val="0"/>
                        </a:spcAft>
                        <a:buClrTx/>
                        <a:buSzTx/>
                        <a:buFont typeface="+mj-lt"/>
                        <a:buAutoNum type="arabicPeriod" startAt="2"/>
                        <a:tabLst/>
                        <a:defRPr/>
                      </a:pP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The IT reason has been eliminated (the technical ability to select impersonal personal financial statements has been eliminated)</a:t>
                      </a:r>
                      <a:endParaRPr lang="ru-RU" sz="800" u="none" strike="noStrike" dirty="0" smtClean="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 xml:space="preserve">Completed (01/12/2026)</a:t>
                      </a:r>
                    </a:p>
                    <a:p>
                      <a:pPr algn="l" fontAlgn="ctr">
                        <a:buClr>
                          <a:schemeClr val="accent5">
                            <a:lumMod val="75000"/>
                            <a:lumOff val="25000"/>
                          </a:schemeClr>
                        </a:buClr>
                      </a:pPr>
                      <a:endParaRPr lang="ru-RU" sz="800" b="0" i="0" u="none" strike="noStrike" dirty="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92838624"/>
                  </a:ext>
                </a:extLst>
              </a:tr>
              <a:tr h="711054">
                <a:tc rowSpan="2">
                  <a:txBody>
                    <a:bodyPr/>
                    <a:lstStyle/>
                    <a:p>
                      <a:pPr algn="ctr" fontAlgn="ctr"/>
                      <a:r>
                        <a:rPr lang="ru-RU" sz="800" u="none" strike="noStrike" dirty="0">
                          <a:solidFill>
                            <a:schemeClr val="tx1"/>
                          </a:solidFill>
                          <a:effectLst/>
                          <a:latin typeface="+mn-lt"/>
                          <a:ea typeface="Calibri" panose="020F0502020204030204" pitchFamily="34" charset="0"/>
                          <a:cs typeface="Arial" panose="020B0604020202020204" pitchFamily="34" charset="0"/>
                        </a:rPr>
                        <a:t>2</a:t>
                      </a:r>
                      <a:endParaRPr lang="ru-RU" sz="800" b="0" i="0" u="none" strike="noStrike" dirty="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w="12700" cmpd="sng">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"ERG Service Center" LLP</a:t>
                      </a:r>
                      <a:r>
                        <a:rPr lang="en-US"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FL Khamitova Meruert Shokhanovna</a:t>
                      </a:r>
                      <a:r>
                        <a:rPr lang="ru-RU" sz="800" b="0" i="0" u="none" strike="noStrike" dirty="0" err="1"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r>
                        <a:rPr lang="ru-RU" sz="800" b="0" i="0" u="none" strike="noStrike" dirty="0" err="1"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r>
                        <a:rPr lang="ru-RU" sz="800" b="0" i="0" u="none" strike="noStrike" dirty="0" err="1"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l" fontAlgn="ctr"/>
                      <a:r>
                        <a:rPr lang="ru-RU" sz="800" b="0" i="0" u="none" strike="noStrike"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Purchase of services for the development of the project “Construction of external drainage facilities for the HBI plant”</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01.11.2025</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54,415,750 tenge</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97 934</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The transaction amount exceeds the equivalent of $50 thousand.</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l" fontAlgn="ctr"/>
                      <a:r>
                        <a:rPr lang="ru-RU" sz="800" u="none" strike="noStrike" dirty="0">
                          <a:solidFill>
                            <a:schemeClr val="tx1"/>
                          </a:solidFill>
                          <a:effectLst/>
                          <a:latin typeface="+mn-lt"/>
                          <a:ea typeface="Calibri" panose="020F0502020204030204" pitchFamily="34" charset="0"/>
                          <a:cs typeface="Arial" panose="020B0604020202020204" pitchFamily="34" charset="0"/>
                        </a:rPr>
                        <a:t xml:space="preserve">No</a:t>
                      </a:r>
                      <a:r>
                        <a:rPr lang="ru-RU" sz="800" u="none" strike="noStrike" dirty="0" smtClean="0">
                          <a:solidFill>
                            <a:schemeClr val="tx1"/>
                          </a:solidFill>
                          <a:effectLst/>
                          <a:latin typeface="+mn-lt"/>
                          <a:ea typeface="Calibri" panose="020F0502020204030204" pitchFamily="34" charset="0"/>
                          <a:cs typeface="Arial" panose="020B0604020202020204" pitchFamily="34" charset="0"/>
                        </a:rPr>
                        <a:t/>
                      </a:r>
                      <a:endParaRPr lang="ru-RU" sz="800" b="0" i="0" u="none" strike="noStrike" dirty="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rowSpan="2">
                  <a:txBody>
                    <a:bodyPr/>
                    <a:lstStyle/>
                    <a:p>
                      <a:pPr algn="l" fontAlgn="ct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1. IT reason (incorrect actions of the initiator when generating a card in the ESED - selection of an impersonal FL)</a:t>
                      </a:r>
                    </a:p>
                    <a:p>
                      <a:pPr algn="l" fontAlgn="ctr"/>
                      <a:endPar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lgn="l" fontAlgn="ct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2. Lack of awareness of the initiator</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w="6350" cap="flat" cmpd="sng" algn="ctr">
                      <a:solidFill>
                        <a:schemeClr val="accent5">
                          <a:lumMod val="50000"/>
                          <a:lumOff val="50000"/>
                        </a:schemeClr>
                      </a:solidFill>
                      <a:prstDash val="solid"/>
                      <a:round/>
                      <a:headEnd type="none" w="med" len="med"/>
                      <a:tailEnd type="none" w="med" len="med"/>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177800" marR="0" lvl="0" indent="-177800" algn="l" defTabSz="583170" rtl="0" eaLnBrk="1" fontAlgn="ctr" latinLnBrk="0" hangingPunct="1">
                        <a:lnSpc>
                          <a:spcPct val="100000"/>
                        </a:lnSpc>
                        <a:spcBef>
                          <a:spcPts val="0"/>
                        </a:spcBef>
                        <a:spcAft>
                          <a:spcPts val="0"/>
                        </a:spcAft>
                        <a:buClrTx/>
                        <a:buSzTx/>
                        <a:buFont typeface="+mj-lt"/>
                        <a:buAutoNum type="arabicPeriod" startAt="3"/>
                        <a:tabLst/>
                        <a:defRPr/>
                      </a:pPr>
                      <a:r>
                        <a:rPr lang="ru-RU" sz="800" u="none" strike="noStrike" dirty="0" smtClean="0">
                          <a:solidFill>
                            <a:schemeClr val="tx1"/>
                          </a:solidFill>
                          <a:effectLst/>
                          <a:latin typeface="+mn-lt"/>
                          <a:ea typeface="Calibri" panose="020F0502020204030204" pitchFamily="34" charset="0"/>
                          <a:cs typeface="Arial" panose="020B0604020202020204" pitchFamily="34" charset="0"/>
                        </a:rPr>
                        <a:t xml:space="preserve">Additional clarification/training on the purposes of conducting CPC for employees</a:t>
                      </a: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 xml:space="preserve">Completed (01/22/2026)</a:t>
                      </a:r>
                      <a:endParaRPr lang="ru-RU" dirty="0"/>
                    </a:p>
                  </a:txBody>
                  <a:tcPr marL="36000" marR="36000" marT="36000" marB="36000" anchor="ctr">
                    <a:lnL>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34430132"/>
                  </a:ext>
                </a:extLst>
              </a:tr>
              <a:tr h="1219809">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177800" marR="0" lvl="0" indent="-177800" algn="l" defTabSz="583170" rtl="0" eaLnBrk="1" fontAlgn="ctr" latinLnBrk="0" hangingPunct="1">
                        <a:lnSpc>
                          <a:spcPct val="100000"/>
                        </a:lnSpc>
                        <a:spcBef>
                          <a:spcPts val="0"/>
                        </a:spcBef>
                        <a:spcAft>
                          <a:spcPts val="0"/>
                        </a:spcAft>
                        <a:buClrTx/>
                        <a:buSzTx/>
                        <a:buFont typeface="+mj-lt"/>
                        <a:buAutoNum type="arabicPeriod" startAt="4"/>
                        <a:tabLst/>
                        <a:defRPr/>
                      </a:pPr>
                      <a:r>
                        <a:rPr lang="ru-RU" sz="800" u="none" strike="noStrike" dirty="0" smtClean="0">
                          <a:solidFill>
                            <a:schemeClr val="tx1"/>
                          </a:solidFill>
                          <a:effectLst/>
                          <a:latin typeface="+mn-lt"/>
                          <a:ea typeface="Calibri" panose="020F0502020204030204" pitchFamily="34" charset="0"/>
                          <a:cs typeface="Arial" panose="020B0604020202020204" pitchFamily="34" charset="0"/>
                        </a:rPr>
                        <a:t xml:space="preserve">Initiating and conducting post-facto CPCs regarding identified gaps</a:t>
                      </a:r>
                    </a:p>
                    <a:p>
                      <a:pPr marL="88900" marR="0" lvl="0" indent="-88900" algn="l" defTabSz="583170" rtl="0" eaLnBrk="1" fontAlgn="ctr" latinLnBrk="0" hangingPunct="1">
                        <a:lnSpc>
                          <a:spcPct val="100000"/>
                        </a:lnSpc>
                        <a:spcBef>
                          <a:spcPts val="0"/>
                        </a:spcBef>
                        <a:spcAft>
                          <a:spcPts val="0"/>
                        </a:spcAft>
                        <a:buClrTx/>
                        <a:buSzTx/>
                        <a:buFont typeface="+mj-lt"/>
                        <a:buAutoNum type="arabicPeriod" startAt="4"/>
                        <a:tabLst/>
                        <a:defRPr/>
                      </a:pPr>
                      <a:endParaRPr lang="ru-RU" sz="800" u="none" strike="noStrike" dirty="0" smtClean="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 xml:space="preserve">Completed (01/22/2026, 02/05/2026; no compliance risks identified)</a:t>
                      </a:r>
                    </a:p>
                  </a:txBody>
                  <a:tcPr marL="36000" marR="36000" marT="36000" marB="36000" anchor="ctr">
                    <a:lnL>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73926470"/>
                  </a:ext>
                </a:extLst>
              </a:tr>
            </a:tbl>
          </a:graphicData>
        </a:graphic>
      </p:graphicFrame>
      <p:sp>
        <p:nvSpPr>
          <p:cNvPr id="10" name="Прямоугольник 9"/>
          <p:cNvSpPr/>
          <p:nvPr/>
        </p:nvSpPr>
        <p:spPr>
          <a:xfrm>
            <a:off x="225168" y="6364538"/>
            <a:ext cx="5346335"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 xml:space="preserve">Storage of supporting materials: Compliance 2.2 system / folders on OMEGA (Perimeter Kazakhstan server)</a:t>
            </a:r>
            <a:r>
              <a:rPr lang="en-US" sz="700" i="1" dirty="0">
                <a:solidFill>
                  <a:schemeClr val="accent5">
                    <a:lumMod val="75000"/>
                    <a:lumOff val="25000"/>
                  </a:schemeClr>
                </a:solidFill>
              </a:rPr>
              <a:t/>
            </a:r>
            <a:r>
              <a:rPr lang="ru-RU" sz="700" i="1" dirty="0">
                <a:solidFill>
                  <a:schemeClr val="accent5">
                    <a:lumMod val="75000"/>
                    <a:lumOff val="25000"/>
                  </a:schemeClr>
                </a:solidFill>
              </a:rPr>
              <a:t/>
            </a:r>
          </a:p>
        </p:txBody>
      </p:sp>
    </p:spTree>
    <p:extLst>
      <p:ext uri="{BB962C8B-B14F-4D97-AF65-F5344CB8AC3E}">
        <p14:creationId xmlns:p14="http://schemas.microsoft.com/office/powerpoint/2010/main" val="1399142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016D0-380D-777B-5FB2-003D93A8411A}"/>
            </a:ext>
          </a:extLst>
        </p:cNvPr>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8A5D452E-57F8-4528-494B-1D375C225B5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0564"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8A5D452E-57F8-4528-494B-1D375C225B5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FE1A2F1-9CA1-B3EE-1B87-54F1999162D3}"/>
              </a:ext>
            </a:extLst>
          </p:cNvPr>
          <p:cNvSpPr>
            <a:spLocks noGrp="1"/>
          </p:cNvSpPr>
          <p:nvPr>
            <p:ph type="title"/>
          </p:nvPr>
        </p:nvSpPr>
        <p:spPr/>
        <p:txBody>
          <a:bodyPr vert="horz" rtlCol="0"/>
          <a:lstStyle/>
          <a:p>
            <a:pPr rtl="0"/>
            <a:r>
              <a:rPr lang="ru" noProof="0" dirty="0" smtClean="0"/>
              <a:t>Прил.1: Управление рисками третьих </a:t>
            </a:r>
            <a:r>
              <a:rPr lang="ru" noProof="0" dirty="0"/>
              <a:t>сторон</a:t>
            </a:r>
            <a:r>
              <a:rPr lang="en-US" noProof="0" dirty="0"/>
              <a:t/>
            </a:r>
            <a:br>
              <a:rPr lang="en-US" noProof="0" dirty="0"/>
            </a:br>
            <a:r>
              <a:rPr lang="ru-RU" dirty="0" smtClean="0">
                <a:solidFill>
                  <a:schemeClr val="tx1"/>
                </a:solidFill>
              </a:rPr>
              <a:t>Самотестирование</a:t>
            </a:r>
            <a:r>
              <a:rPr lang="ru" noProof="0" dirty="0" smtClean="0">
                <a:solidFill>
                  <a:schemeClr val="tx1"/>
                </a:solidFill>
              </a:rPr>
              <a:t> КПК - 4</a:t>
            </a:r>
            <a:r>
              <a:rPr lang="ru" noProof="0" dirty="0">
                <a:solidFill>
                  <a:schemeClr val="tx1"/>
                </a:solidFill>
              </a:rPr>
              <a:t> кв. 2025 г</a:t>
            </a:r>
            <a:r>
              <a:rPr lang="ru" noProof="0" dirty="0" smtClean="0">
                <a:solidFill>
                  <a:schemeClr val="tx1"/>
                </a:solidFill>
              </a:rPr>
              <a:t>. </a:t>
            </a:r>
            <a:r>
              <a:rPr lang="ru" i="1" noProof="0" dirty="0" smtClean="0">
                <a:solidFill>
                  <a:schemeClr val="tx1"/>
                </a:solidFill>
              </a:rPr>
              <a:t>(продолжение)</a:t>
            </a:r>
            <a:endParaRPr lang="ru" i="1" noProof="0" dirty="0">
              <a:solidFill>
                <a:schemeClr val="tx1"/>
              </a:solidFill>
            </a:endParaRPr>
          </a:p>
        </p:txBody>
      </p:sp>
      <p:sp>
        <p:nvSpPr>
          <p:cNvPr id="3" name="Text Placeholder 9">
            <a:extLst>
              <a:ext uri="{FF2B5EF4-FFF2-40B4-BE49-F238E27FC236}">
                <a16:creationId xmlns:a16="http://schemas.microsoft.com/office/drawing/2014/main" id="{7AC09F5A-822E-CCF1-CA02-B42735369C68}"/>
              </a:ext>
            </a:extLst>
          </p:cNvPr>
          <p:cNvSpPr txBox="1">
            <a:spLocks/>
          </p:cNvSpPr>
          <p:nvPr/>
        </p:nvSpPr>
        <p:spPr>
          <a:xfrm>
            <a:off x="317499" y="810090"/>
            <a:ext cx="7987950" cy="215444"/>
          </a:xfrm>
          <a:prstGeom prst="rect">
            <a:avLst/>
          </a:prstGeom>
        </p:spPr>
        <p:txBody>
          <a:bodyPr wrap="square" lIns="0" tIns="0" rIns="0" bIns="0" rtlCol="0" anchor="b">
            <a:spAutoFit/>
          </a:bodyPr>
          <a:lstStyle>
            <a:defPPr>
              <a:defRPr lang="en-US"/>
            </a:defPPr>
            <a:lvl1pPr marR="0" lvl="0" indent="0" defTabSz="583170" fontAlgn="auto">
              <a:lnSpc>
                <a:spcPct val="100000"/>
              </a:lnSpc>
              <a:spcBef>
                <a:spcPts val="0"/>
              </a:spcBef>
              <a:spcAft>
                <a:spcPts val="0"/>
              </a:spcAft>
              <a:buClrTx/>
              <a:buSzTx/>
              <a:buFont typeface="Arial" panose="020B0604020202020204" pitchFamily="34" charset="0"/>
              <a:buNone/>
              <a:tabLst/>
              <a:defRPr kumimoji="0" sz="1400" b="0" i="0" u="none" strike="noStrike" cap="none" spc="0" normalizeH="0" baseline="0">
                <a:ln>
                  <a:noFill/>
                </a:ln>
                <a:solidFill>
                  <a:schemeClr val="accent5">
                    <a:lumMod val="75000"/>
                    <a:lumOff val="25000"/>
                  </a:schemeClr>
                </a:solidFill>
                <a:effectLst/>
                <a:uLnTx/>
                <a:uFillTx/>
                <a:latin typeface="Arial" panose="020B0604020202020204"/>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r>
              <a:rPr lang="ru-RU" dirty="0"/>
              <a:t xml:space="preserve">List of transactions concluded without CPC during the 4th quarter. 2025 (continued)</a:t>
            </a:r>
            <a:r>
              <a:rPr lang="ru-RU" dirty="0" smtClean="0"/>
              <a:t/>
            </a:r>
            <a:r>
              <a:rPr lang="ru-RU" dirty="0"/>
              <a:t/>
            </a:r>
            <a:r>
              <a:rPr lang="ru-RU" dirty="0" smtClean="0"/>
              <a:t/>
            </a:r>
            <a:endParaRPr lang="ru-RU" dirty="0"/>
          </a:p>
        </p:txBody>
      </p:sp>
      <p:graphicFrame>
        <p:nvGraphicFramePr>
          <p:cNvPr id="9" name="Таблица 8">
            <a:extLst>
              <a:ext uri="{FF2B5EF4-FFF2-40B4-BE49-F238E27FC236}">
                <a16:creationId xmlns:a16="http://schemas.microsoft.com/office/drawing/2014/main" id="{12592606-D663-439C-8554-AC74ED9AD2B3}"/>
              </a:ext>
            </a:extLst>
          </p:cNvPr>
          <p:cNvGraphicFramePr>
            <a:graphicFrameLocks noGrp="1"/>
          </p:cNvGraphicFramePr>
          <p:nvPr>
            <p:extLst>
              <p:ext uri="{D42A27DB-BD31-4B8C-83A1-F6EECF244321}">
                <p14:modId xmlns:p14="http://schemas.microsoft.com/office/powerpoint/2010/main" val="4144063773"/>
              </p:ext>
            </p:extLst>
          </p:nvPr>
        </p:nvGraphicFramePr>
        <p:xfrm>
          <a:off x="317499" y="1130774"/>
          <a:ext cx="11498874" cy="5029076"/>
        </p:xfrm>
        <a:graphic>
          <a:graphicData uri="http://schemas.openxmlformats.org/drawingml/2006/table">
            <a:tbl>
              <a:tblPr>
                <a:tableStyleId>{9DCAF9ED-07DC-4A11-8D7F-57B35C25682E}</a:tableStyleId>
              </a:tblPr>
              <a:tblGrid>
                <a:gridCol w="228366">
                  <a:extLst>
                    <a:ext uri="{9D8B030D-6E8A-4147-A177-3AD203B41FA5}">
                      <a16:colId xmlns:a16="http://schemas.microsoft.com/office/drawing/2014/main" val="71386341"/>
                    </a:ext>
                  </a:extLst>
                </a:gridCol>
                <a:gridCol w="834202">
                  <a:extLst>
                    <a:ext uri="{9D8B030D-6E8A-4147-A177-3AD203B41FA5}">
                      <a16:colId xmlns:a16="http://schemas.microsoft.com/office/drawing/2014/main" val="4072425883"/>
                    </a:ext>
                  </a:extLst>
                </a:gridCol>
                <a:gridCol w="920011">
                  <a:extLst>
                    <a:ext uri="{9D8B030D-6E8A-4147-A177-3AD203B41FA5}">
                      <a16:colId xmlns:a16="http://schemas.microsoft.com/office/drawing/2014/main" val="1407490457"/>
                    </a:ext>
                  </a:extLst>
                </a:gridCol>
                <a:gridCol w="1368000">
                  <a:extLst>
                    <a:ext uri="{9D8B030D-6E8A-4147-A177-3AD203B41FA5}">
                      <a16:colId xmlns:a16="http://schemas.microsoft.com/office/drawing/2014/main" val="795514479"/>
                    </a:ext>
                  </a:extLst>
                </a:gridCol>
                <a:gridCol w="714711">
                  <a:extLst>
                    <a:ext uri="{9D8B030D-6E8A-4147-A177-3AD203B41FA5}">
                      <a16:colId xmlns:a16="http://schemas.microsoft.com/office/drawing/2014/main" val="3686822732"/>
                    </a:ext>
                  </a:extLst>
                </a:gridCol>
                <a:gridCol w="900000">
                  <a:extLst>
                    <a:ext uri="{9D8B030D-6E8A-4147-A177-3AD203B41FA5}">
                      <a16:colId xmlns:a16="http://schemas.microsoft.com/office/drawing/2014/main" val="2579736943"/>
                    </a:ext>
                  </a:extLst>
                </a:gridCol>
                <a:gridCol w="720000">
                  <a:extLst>
                    <a:ext uri="{9D8B030D-6E8A-4147-A177-3AD203B41FA5}">
                      <a16:colId xmlns:a16="http://schemas.microsoft.com/office/drawing/2014/main" val="2720248791"/>
                    </a:ext>
                  </a:extLst>
                </a:gridCol>
                <a:gridCol w="1044000">
                  <a:extLst>
                    <a:ext uri="{9D8B030D-6E8A-4147-A177-3AD203B41FA5}">
                      <a16:colId xmlns:a16="http://schemas.microsoft.com/office/drawing/2014/main" val="2371894053"/>
                    </a:ext>
                  </a:extLst>
                </a:gridCol>
                <a:gridCol w="789487">
                  <a:extLst>
                    <a:ext uri="{9D8B030D-6E8A-4147-A177-3AD203B41FA5}">
                      <a16:colId xmlns:a16="http://schemas.microsoft.com/office/drawing/2014/main" val="370409004"/>
                    </a:ext>
                  </a:extLst>
                </a:gridCol>
                <a:gridCol w="1544791">
                  <a:extLst>
                    <a:ext uri="{9D8B030D-6E8A-4147-A177-3AD203B41FA5}">
                      <a16:colId xmlns:a16="http://schemas.microsoft.com/office/drawing/2014/main" val="1136383641"/>
                    </a:ext>
                  </a:extLst>
                </a:gridCol>
                <a:gridCol w="1175683">
                  <a:extLst>
                    <a:ext uri="{9D8B030D-6E8A-4147-A177-3AD203B41FA5}">
                      <a16:colId xmlns:a16="http://schemas.microsoft.com/office/drawing/2014/main" val="4190150575"/>
                    </a:ext>
                  </a:extLst>
                </a:gridCol>
                <a:gridCol w="1259623">
                  <a:extLst>
                    <a:ext uri="{9D8B030D-6E8A-4147-A177-3AD203B41FA5}">
                      <a16:colId xmlns:a16="http://schemas.microsoft.com/office/drawing/2014/main" val="195547756"/>
                    </a:ext>
                  </a:extLst>
                </a:gridCol>
              </a:tblGrid>
              <a:tr h="642992">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a:t>
                      </a:r>
                      <a:endParaRPr lang="ru-RU" sz="800" u="none" strike="noStrike" dirty="0" smtClean="0">
                        <a:solidFill>
                          <a:schemeClr val="bg2"/>
                        </a:solidFill>
                        <a:effectLst/>
                        <a:latin typeface="+mn-lt"/>
                        <a:ea typeface="Calibri" panose="020F0502020204030204" pitchFamily="34" charset="0"/>
                        <a:cs typeface="Arial" panose="020B0604020202020204" pitchFamily="34" charset="0"/>
                      </a:endParaRPr>
                    </a:p>
                    <a:p>
                      <a:pPr algn="l" rtl="0" fontAlgn="ctr"/>
                      <a:r>
                        <a:rPr lang="ru-RU" sz="800" u="none" strike="noStrike" dirty="0" smtClean="0">
                          <a:solidFill>
                            <a:schemeClr val="bg2"/>
                          </a:solidFill>
                          <a:effectLst/>
                          <a:latin typeface="+mn-lt"/>
                          <a:ea typeface="Calibri" panose="020F0502020204030204" pitchFamily="34" charset="0"/>
                          <a:cs typeface="Arial" panose="020B0604020202020204" pitchFamily="34" charset="0"/>
                        </a:rPr>
                        <a:t xml:space="preserve">p/p</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w="12700" cmpd="sng">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The company organizing the transaction</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Contractor's name</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Subject of the transaction</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Transaction date</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Transaction amount in contract currency</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Transaction amount in US dollars</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Reason for initiating the CCP</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Information on the availability of a valid CCP in relation to the Counterparty</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Reasons for allowing space</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u="none" strike="noStrike" dirty="0">
                          <a:solidFill>
                            <a:schemeClr val="bg2"/>
                          </a:solidFill>
                          <a:effectLst/>
                          <a:latin typeface="+mn-lt"/>
                          <a:ea typeface="Calibri" panose="020F0502020204030204" pitchFamily="34" charset="0"/>
                          <a:cs typeface="Arial" panose="020B0604020202020204" pitchFamily="34" charset="0"/>
                        </a:rPr>
                        <a:t xml:space="preserve">Mitigation measures</a:t>
                      </a:r>
                      <a:r>
                        <a:rPr lang="ru-RU" sz="800" u="none" strike="noStrike" dirty="0" smtClean="0">
                          <a:solidFill>
                            <a:schemeClr val="bg2"/>
                          </a:solidFill>
                          <a:effectLst/>
                          <a:latin typeface="+mn-lt"/>
                          <a:ea typeface="Calibri" panose="020F0502020204030204" pitchFamily="34" charset="0"/>
                          <a:cs typeface="Arial" panose="020B0604020202020204" pitchFamily="34" charset="0"/>
                        </a:rPr>
                        <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tc>
                  <a:txBody>
                    <a:bodyPr/>
                    <a:lstStyle/>
                    <a:p>
                      <a:pPr algn="l" rtl="0" fontAlgn="ctr"/>
                      <a:r>
                        <a:rPr lang="ru-RU" sz="800" b="0" i="0" u="none" strike="noStrike" dirty="0" smtClean="0">
                          <a:solidFill>
                            <a:schemeClr val="bg2"/>
                          </a:solidFill>
                          <a:effectLst/>
                          <a:latin typeface="+mn-lt"/>
                          <a:ea typeface="Calibri" panose="020F0502020204030204" pitchFamily="34" charset="0"/>
                          <a:cs typeface="Arial" panose="020B0604020202020204" pitchFamily="34" charset="0"/>
                        </a:rPr>
                        <a:t xml:space="preserve">Status of implementation of measures as of February 20, 2026.</a:t>
                      </a:r>
                      <a:endParaRPr lang="ru-RU" sz="800" b="0" i="0" u="none" strike="noStrike" dirty="0">
                        <a:solidFill>
                          <a:schemeClr val="bg2"/>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50000"/>
                        <a:lumOff val="50000"/>
                      </a:schemeClr>
                    </a:solidFill>
                  </a:tcPr>
                </a:tc>
                <a:extLst>
                  <a:ext uri="{0D108BD9-81ED-4DB2-BD59-A6C34878D82A}">
                    <a16:rowId xmlns:a16="http://schemas.microsoft.com/office/drawing/2014/main" val="2026719946"/>
                  </a:ext>
                </a:extLst>
              </a:tr>
              <a:tr h="1172973">
                <a:tc>
                  <a:txBody>
                    <a:bodyPr/>
                    <a:lstStyle/>
                    <a:p>
                      <a:pPr algn="ctr"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3</a:t>
                      </a:r>
                    </a:p>
                  </a:txBody>
                  <a:tcPr marL="36000" marR="36000" marT="36000" marB="36000" anchor="ctr">
                    <a:lnL w="12700" cmpd="sng">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LLP "Commercial Center ERG"</a:t>
                      </a:r>
                      <a:r>
                        <a:rPr lang="en-US"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THE BOSTON CONSULTING GROUP UK LLP</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Procurement of consulting services</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12/05/2025 (in fact, services are provided from 09/22/2025)</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627 683 264 tenge</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1 195 930</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The transaction amount exceeds the equivalent of $50 thousand.</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No</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Negligence of the initiator (the provision of services began on September 22, 2025 on the basis of a letter of guarantee, while the initiator does not have information about the reasons for not initiating the CCP in relation to the letter of guarantee)</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w="6350" cap="flat" cmpd="sng" algn="ctr">
                      <a:solidFill>
                        <a:schemeClr val="accent5">
                          <a:lumMod val="50000"/>
                          <a:lumOff val="50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177800" indent="-177800" algn="l" fontAlgn="ctr">
                        <a:buFont typeface="+mj-lt"/>
                        <a:buAutoNum type="arabicPeriod"/>
                      </a:pPr>
                      <a:r>
                        <a:rPr lang="ru-RU" sz="800" u="none" strike="noStrike" dirty="0" smtClean="0">
                          <a:solidFill>
                            <a:schemeClr val="tx1"/>
                          </a:solidFill>
                          <a:effectLst/>
                          <a:latin typeface="+mn-lt"/>
                          <a:ea typeface="Calibri" panose="020F0502020204030204" pitchFamily="34" charset="0"/>
                          <a:cs typeface="Arial" panose="020B0604020202020204" pitchFamily="34" charset="0"/>
                        </a:rPr>
                        <a:t xml:space="preserve">Notification of CEOs of enterprises, heads of divisions, divisions about the missed CCP and the importance of timely initiation of CCP</a:t>
                      </a: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 xml:space="preserve">Completed (01/13/2026)</a:t>
                      </a:r>
                    </a:p>
                    <a:p>
                      <a:pPr algn="l" fontAlgn="ctr">
                        <a:buClr>
                          <a:schemeClr val="accent5">
                            <a:lumMod val="75000"/>
                            <a:lumOff val="25000"/>
                          </a:schemeClr>
                        </a:buClr>
                      </a:pPr>
                      <a:endParaRPr lang="ru-RU" sz="800" b="0" i="0" u="none" strike="noStrike" dirty="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74354158"/>
                  </a:ext>
                </a:extLst>
              </a:tr>
              <a:tr h="82303">
                <a:tc rowSpan="2">
                  <a:txBody>
                    <a:bodyPr/>
                    <a:lstStyle/>
                    <a:p>
                      <a:pPr algn="ctr" fontAlgn="ctr"/>
                      <a:r>
                        <a:rPr lang="ru-RU" sz="800" b="0" i="0" u="none" strike="noStrike" dirty="0">
                          <a:solidFill>
                            <a:schemeClr val="tx1"/>
                          </a:solidFill>
                          <a:effectLst/>
                          <a:latin typeface="+mn-lt"/>
                          <a:ea typeface="Calibri" panose="020F0502020204030204" pitchFamily="34" charset="0"/>
                          <a:cs typeface="Arial" panose="020B0604020202020204" pitchFamily="34" charset="0"/>
                        </a:rPr>
                        <a:t>4</a:t>
                      </a:r>
                    </a:p>
                  </a:txBody>
                  <a:tcPr marL="36000" marR="36000" marT="36000" marB="36000" anchor="ctr">
                    <a:lnL w="12700" cmpd="sng">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LLP "Commercial Center ERG"</a:t>
                      </a:r>
                      <a:r>
                        <a:rPr lang="en-US"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u="none" strike="noStrike" dirty="0" err="1"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Promosnastka LLC</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r>
                        <a:rPr lang="ru-RU" sz="800" u="none" strike="noStrike" dirty="0" err="1"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AGREEMENT No. PC/KZC-AU/25-62607 dated 02/13/2025, for the supply of goods (replacement of manufacturer without PDA)</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13.02.2025</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$1,246,938</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1 246 938</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The transaction amount exceeds the equivalent of $50 thousand.</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u="none" strike="noStrike" dirty="0">
                          <a:solidFill>
                            <a:schemeClr val="tx1"/>
                          </a:solidFill>
                          <a:effectLst/>
                          <a:latin typeface="+mn-lt"/>
                          <a:ea typeface="Calibri" panose="020F0502020204030204" pitchFamily="34" charset="0"/>
                          <a:cs typeface="Arial" panose="020B0604020202020204" pitchFamily="34" charset="0"/>
                        </a:rPr>
                        <a:t> </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307/25</a:t>
                      </a:r>
                      <a:endParaRPr lang="ru-RU" sz="800" b="0" i="0" u="none" strike="noStrike" dirty="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fontAlgn="ct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Insufficient diligence of the initiator (in the draft contract the manufacturing company was indicated erroneously; when adjusting the draft, compliance approval was not obtained)</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w="6350" cap="flat" cmpd="sng" algn="ctr">
                      <a:solidFill>
                        <a:schemeClr val="accent5">
                          <a:lumMod val="50000"/>
                          <a:lumOff val="50000"/>
                        </a:schemeClr>
                      </a:solidFill>
                      <a:prstDash val="solid"/>
                      <a:round/>
                      <a:headEnd type="none" w="med" len="med"/>
                      <a:tailEnd type="none" w="med" len="med"/>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800" u="none" strike="noStrike" dirty="0" smtClean="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ru-RU" sz="800" b="0" i="0" u="none" strike="noStrike" dirty="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3904692"/>
                  </a:ext>
                </a:extLst>
              </a:tr>
              <a:tr h="837236">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177800" marR="0" lvl="0" indent="-177800" algn="l" defTabSz="583170" rtl="0" eaLnBrk="1" fontAlgn="ctr" latinLnBrk="0" hangingPunct="1">
                        <a:lnSpc>
                          <a:spcPct val="100000"/>
                        </a:lnSpc>
                        <a:spcBef>
                          <a:spcPts val="0"/>
                        </a:spcBef>
                        <a:spcAft>
                          <a:spcPts val="0"/>
                        </a:spcAft>
                        <a:buClrTx/>
                        <a:buSzTx/>
                        <a:buFont typeface="+mj-lt"/>
                        <a:buAutoNum type="arabicPeriod" startAt="2"/>
                        <a:tabLst/>
                        <a:defRPr/>
                      </a:pPr>
                      <a:r>
                        <a:rPr lang="ru-RU" sz="800" u="none" strike="noStrike" dirty="0" smtClean="0">
                          <a:solidFill>
                            <a:schemeClr val="tx1"/>
                          </a:solidFill>
                          <a:effectLst/>
                          <a:latin typeface="+mn-lt"/>
                          <a:ea typeface="Calibri" panose="020F0502020204030204" pitchFamily="34" charset="0"/>
                          <a:cs typeface="Arial" panose="020B0604020202020204" pitchFamily="34" charset="0"/>
                        </a:rPr>
                        <a:t xml:space="preserve">Additional clarification/training on the purposes of conducting CPC for employees</a:t>
                      </a: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 xml:space="preserve">Completed (01/22/2026)</a:t>
                      </a:r>
                      <a:endParaRPr lang="ru-RU" dirty="0"/>
                    </a:p>
                  </a:txBody>
                  <a:tcPr marL="36000" marR="36000" marT="36000" marB="36000" anchor="ctr">
                    <a:lnL>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34430132"/>
                  </a:ext>
                </a:extLst>
              </a:tr>
              <a:tr h="528286">
                <a:tc>
                  <a:txBody>
                    <a:bodyPr/>
                    <a:lstStyle/>
                    <a:p>
                      <a:pPr algn="ctr"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5</a:t>
                      </a:r>
                    </a:p>
                  </a:txBody>
                  <a:tcPr marL="36000" marR="36000" marT="36000" marB="36000" anchor="ctr">
                    <a:lnL w="12700" cmpd="sng">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JSC TNK Kazchrome</a:t>
                      </a:r>
                      <a:r>
                        <a:rPr lang="ru-RU" sz="800" u="none" strike="noStrike"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
                      </a: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TECHNOSTROY GROUP COMPANY LLP</a:t>
                      </a: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Contract No. PD/KZC-AU/25-64891 for the supply of goods and materials</a:t>
                      </a:r>
                      <a:r>
                        <a:rPr lang="en-US"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a: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20.11.2025</a:t>
                      </a: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116,000,000 tenge</a:t>
                      </a: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220 952</a:t>
                      </a: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smtClean="0">
                          <a:ln>
                            <a:noFill/>
                          </a:ln>
                          <a:solidFill>
                            <a:srgbClr val="32373C"/>
                          </a:solidFill>
                          <a:effectLst/>
                          <a:uLnTx/>
                          <a:uFillTx/>
                          <a:latin typeface="Arial" panose="020B0604020202020204" pitchFamily="34" charset="0"/>
                          <a:ea typeface="Calibri" panose="020F0502020204030204" pitchFamily="34" charset="0"/>
                          <a:cs typeface="Arial" panose="020B0604020202020204" pitchFamily="34" charset="0"/>
                        </a:rPr>
                        <a:t xml:space="preserve">The transaction amount exceeds the equivalent of $50 thousand.</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12082/25</a:t>
                      </a:r>
                      <a:b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b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Failure to timely carry out the procedure for approving the involvement of subcontractors (insufficient diligence of the responsible person)</a:t>
                      </a:r>
                      <a:r>
                        <a:rPr lang="ru-RU" sz="80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w="6350" cap="flat" cmpd="sng" algn="ctr">
                      <a:solidFill>
                        <a:schemeClr val="accent5">
                          <a:lumMod val="50000"/>
                          <a:lumOff val="50000"/>
                        </a:schemeClr>
                      </a:solidFill>
                      <a:prstDash val="solid"/>
                      <a:round/>
                      <a:headEnd type="none" w="med" len="med"/>
                      <a:tailEnd type="none" w="med" len="med"/>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rowSpan="3">
                  <a:txBody>
                    <a:bodyPr/>
                    <a:lstStyle/>
                    <a:p>
                      <a:pPr marL="177800" marR="0" lvl="0" indent="-177800" algn="l" defTabSz="583170" rtl="0" eaLnBrk="1" fontAlgn="ctr" latinLnBrk="0" hangingPunct="1">
                        <a:lnSpc>
                          <a:spcPct val="100000"/>
                        </a:lnSpc>
                        <a:spcBef>
                          <a:spcPts val="0"/>
                        </a:spcBef>
                        <a:spcAft>
                          <a:spcPts val="0"/>
                        </a:spcAft>
                        <a:buClrTx/>
                        <a:buSzTx/>
                        <a:buFont typeface="+mj-lt"/>
                        <a:buAutoNum type="arabicPeriod" startAt="3"/>
                        <a:tabLst/>
                        <a:defRPr/>
                      </a:pPr>
                      <a:r>
                        <a:rPr lang="ru-RU" sz="800" u="none" strike="noStrike" dirty="0" smtClean="0">
                          <a:solidFill>
                            <a:schemeClr val="tx1"/>
                          </a:solidFill>
                          <a:effectLst/>
                          <a:latin typeface="+mn-lt"/>
                          <a:ea typeface="Calibri" panose="020F0502020204030204" pitchFamily="34" charset="0"/>
                          <a:cs typeface="Arial" panose="020B0604020202020204" pitchFamily="34" charset="0"/>
                        </a:rPr>
                        <a:t xml:space="preserve">Initiating and conducting post-facto CPCs regarding identified gaps</a:t>
                      </a:r>
                    </a:p>
                    <a:p>
                      <a:pPr marL="88900" marR="0" lvl="0" indent="-88900" algn="l" defTabSz="583170" rtl="0" eaLnBrk="1" fontAlgn="ctr" latinLnBrk="0" hangingPunct="1">
                        <a:lnSpc>
                          <a:spcPct val="100000"/>
                        </a:lnSpc>
                        <a:spcBef>
                          <a:spcPts val="0"/>
                        </a:spcBef>
                        <a:spcAft>
                          <a:spcPts val="0"/>
                        </a:spcAft>
                        <a:buClrTx/>
                        <a:buSzTx/>
                        <a:buFont typeface="+mj-lt"/>
                        <a:buAutoNum type="arabicPeriod" startAt="3"/>
                        <a:tabLst/>
                        <a:defRPr/>
                      </a:pPr>
                      <a:endParaRPr lang="ru-RU" sz="800" u="none" strike="noStrike" dirty="0" smtClean="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rowSpan="3">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 xml:space="preserve">Completed (12/04/2025, 12/25/2025, 12/26/2025; no compliance risks identified)</a:t>
                      </a:r>
                      <a:endParaRPr kumimoji="0" lang="ru-RU" sz="800" b="0" i="0" u="none" strike="noStrike" kern="1200" cap="none" spc="0" normalizeH="0" baseline="0" dirty="0" smtClean="0">
                        <a:ln>
                          <a:noFill/>
                        </a:ln>
                        <a:solidFill>
                          <a:srgbClr val="32373C"/>
                        </a:solidFill>
                        <a:effectLst/>
                        <a:uLnTx/>
                        <a:uFillTx/>
                        <a:latin typeface="+mn-lt"/>
                        <a:ea typeface="+mn-ea"/>
                        <a:cs typeface="+mn-cs"/>
                      </a:endParaRPr>
                    </a:p>
                  </a:txBody>
                  <a:tcPr marL="36000" marR="36000" marT="36000" marB="36000" anchor="ctr">
                    <a:lnL>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73926470"/>
                  </a:ext>
                </a:extLst>
              </a:tr>
              <a:tr h="0">
                <a:tc>
                  <a:txBody>
                    <a:bodyPr/>
                    <a:lstStyle/>
                    <a:p>
                      <a:pPr algn="ctr"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6</a:t>
                      </a:r>
                    </a:p>
                  </a:txBody>
                  <a:tcPr marL="36000" marR="36000" marT="36000" marB="36000" anchor="ctr">
                    <a:lnL w="12700" cmpd="sng">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"ERG Service Center" LLP</a:t>
                      </a:r>
                      <a:r>
                        <a:rPr lang="en-US"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JSC "DEVELOPMENT BANK OF KAZAKHSTAN"</a:t>
                      </a: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Agreement on opening a credit line No. SKL-646-25</a:t>
                      </a:r>
                      <a:r>
                        <a:rPr lang="en-US"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27.11.2025</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$200,000,000</a:t>
                      </a: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200 </a:t>
                      </a: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000 000</a:t>
                      </a: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kumimoji="0" lang="ru-RU" sz="800" b="0" i="0" u="none" strike="noStrike" kern="1200" cap="none" spc="0" normalizeH="0" baseline="0" noProof="0" smtClean="0">
                          <a:ln>
                            <a:noFill/>
                          </a:ln>
                          <a:solidFill>
                            <a:srgbClr val="32373C"/>
                          </a:solidFill>
                          <a:effectLst/>
                          <a:uLnTx/>
                          <a:uFillTx/>
                          <a:latin typeface="Arial" panose="020B0604020202020204" pitchFamily="34" charset="0"/>
                          <a:ea typeface="Calibri" panose="020F0502020204030204" pitchFamily="34" charset="0"/>
                          <a:cs typeface="Arial" panose="020B0604020202020204" pitchFamily="34" charset="0"/>
                        </a:rPr>
                        <a:t xml:space="preserve">The transaction amount exceeds the equivalent of $50 thousand.</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12839/25</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Urgency of concluding a transaction (business need to attract borrowed funds)</a:t>
                      </a: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w="6350" cap="flat" cmpd="sng" algn="ctr">
                      <a:solidFill>
                        <a:schemeClr val="accent5">
                          <a:lumMod val="50000"/>
                          <a:lumOff val="50000"/>
                        </a:schemeClr>
                      </a:solidFill>
                      <a:prstDash val="solid"/>
                      <a:round/>
                      <a:headEnd type="none" w="med" len="med"/>
                      <a:tailEnd type="none" w="med" len="med"/>
                    </a:lnR>
                    <a:lnT w="6350" cap="flat" cmpd="sng" algn="ctr">
                      <a:solidFill>
                        <a:schemeClr val="accent5">
                          <a:lumMod val="50000"/>
                          <a:lumOff val="50000"/>
                        </a:schemeClr>
                      </a:solidFill>
                      <a:prstDash val="solid"/>
                      <a:round/>
                      <a:headEnd type="none" w="med" len="med"/>
                      <a:tailEnd type="none" w="med" len="med"/>
                    </a:lnT>
                    <a:lnB w="6350" cap="flat" cmpd="sng" algn="ctr">
                      <a:solidFill>
                        <a:schemeClr val="accent5">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88900" marR="0" lvl="0" indent="-88900" algn="l" defTabSz="583170" rtl="0" eaLnBrk="1" fontAlgn="ctr" latinLnBrk="0" hangingPunct="1">
                        <a:lnSpc>
                          <a:spcPct val="100000"/>
                        </a:lnSpc>
                        <a:spcBef>
                          <a:spcPts val="0"/>
                        </a:spcBef>
                        <a:spcAft>
                          <a:spcPts val="0"/>
                        </a:spcAft>
                        <a:buClrTx/>
                        <a:buSzTx/>
                        <a:buFont typeface="+mj-lt"/>
                        <a:buAutoNum type="arabicPeriod" startAt="4"/>
                        <a:tabLst/>
                        <a:defRPr/>
                      </a:pPr>
                      <a:endParaRPr lang="ru-RU" sz="800" u="none" strike="noStrike" dirty="0" smtClean="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88900" marR="0" lvl="0" indent="-88900" algn="l" defTabSz="583170" rtl="0" eaLnBrk="1" fontAlgn="auto" latinLnBrk="0" hangingPunct="1">
                        <a:lnSpc>
                          <a:spcPct val="100000"/>
                        </a:lnSpc>
                        <a:spcBef>
                          <a:spcPts val="0"/>
                        </a:spcBef>
                        <a:spcAft>
                          <a:spcPts val="0"/>
                        </a:spcAft>
                        <a:buClr>
                          <a:srgbClr val="EF7F1A"/>
                        </a:buClr>
                        <a:buSzTx/>
                        <a:buFont typeface="Wingdings" panose="05000000000000000000" pitchFamily="2" charset="2"/>
                        <a:buChar char="ü"/>
                        <a:tabLst/>
                        <a:defRPr/>
                      </a:pPr>
                      <a:endParaRPr kumimoji="0" lang="ru-RU" sz="800" b="0" i="0" u="none" strike="noStrike" kern="1200" cap="none" spc="0" normalizeH="0" baseline="0" dirty="0" smtClean="0">
                        <a:ln>
                          <a:noFill/>
                        </a:ln>
                        <a:solidFill>
                          <a:srgbClr val="32373C"/>
                        </a:solidFill>
                        <a:effectLst/>
                        <a:uLnTx/>
                        <a:uFillTx/>
                        <a:latin typeface="+mn-lt"/>
                        <a:ea typeface="+mn-ea"/>
                        <a:cs typeface="+mn-cs"/>
                      </a:endParaRPr>
                    </a:p>
                  </a:txBody>
                  <a:tcPr marL="36000" marR="36000" marT="36000" marB="36000">
                    <a:lnL>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030226"/>
                  </a:ext>
                </a:extLst>
              </a:tr>
              <a:tr h="612000">
                <a:tc>
                  <a:txBody>
                    <a:bodyPr/>
                    <a:lstStyle/>
                    <a:p>
                      <a:pPr algn="ctr"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7</a:t>
                      </a:r>
                    </a:p>
                  </a:txBody>
                  <a:tcPr marL="36000" marR="36000" marT="36000" marB="36000" anchor="ctr">
                    <a:lnL w="12700" cmpd="sng">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"ERG Service Center" LLP</a:t>
                      </a:r>
                      <a:r>
                        <a:rPr lang="en-US"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JSC "DEVELOPMENT BANK OF KAZAKHSTAN"</a:t>
                      </a: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Contract No. PD/KZC-AU/25-64891 for the supply of goods and materials</a:t>
                      </a:r>
                      <a:r>
                        <a:rPr lang="en-US"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a: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28.11.2025</a:t>
                      </a: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$200,000,000</a:t>
                      </a: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200 000 000</a:t>
                      </a: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smtClean="0">
                          <a:ln>
                            <a:noFill/>
                          </a:ln>
                          <a:solidFill>
                            <a:srgbClr val="32373C"/>
                          </a:solidFill>
                          <a:effectLst/>
                          <a:uLnTx/>
                          <a:uFillTx/>
                          <a:latin typeface="Arial" panose="020B0604020202020204" pitchFamily="34" charset="0"/>
                          <a:ea typeface="Calibri" panose="020F0502020204030204" pitchFamily="34" charset="0"/>
                          <a:cs typeface="Arial" panose="020B0604020202020204" pitchFamily="34" charset="0"/>
                        </a:rPr>
                        <a:t xml:space="preserve">The transaction amount exceeds the equivalent of $50 thousand.</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ctr"/>
                      <a: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12839/25</a:t>
                      </a:r>
                      <a:br>
                        <a:rPr lang="ru-RU" sz="80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b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a:noFill/>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ctr"/>
                      <a:r>
                        <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rPr>
                        <a:t xml:space="preserve">Urgency of concluding a transaction (business need to attract borrowed funds)</a:t>
                      </a:r>
                      <a:r>
                        <a:rPr lang="ru-RU" sz="800" b="0" i="0" u="none" strike="noStrike"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r>
                      <a:endParaRPr lang="ru-RU" sz="800" b="0" i="0" u="none" strike="noStrike"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36000" marR="36000" marT="36000" marB="36000" anchor="ctr">
                    <a:lnL>
                      <a:noFill/>
                    </a:lnL>
                    <a:lnR w="6350" cap="flat" cmpd="sng" algn="ctr">
                      <a:solidFill>
                        <a:schemeClr val="accent5">
                          <a:lumMod val="50000"/>
                          <a:lumOff val="50000"/>
                        </a:schemeClr>
                      </a:solidFill>
                      <a:prstDash val="solid"/>
                      <a:round/>
                      <a:headEnd type="none" w="med" len="med"/>
                      <a:tailEnd type="none" w="med" len="med"/>
                    </a:lnR>
                    <a:lnT w="6350" cap="flat" cmpd="sng" algn="ctr">
                      <a:solidFill>
                        <a:schemeClr val="accent5">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vMerge="1">
                  <a:txBody>
                    <a:bodyPr/>
                    <a:lstStyle/>
                    <a:p>
                      <a:pPr marL="88900" marR="0" lvl="0" indent="-88900" algn="l" defTabSz="583170" rtl="0" eaLnBrk="1" fontAlgn="ctr" latinLnBrk="0" hangingPunct="1">
                        <a:lnSpc>
                          <a:spcPct val="100000"/>
                        </a:lnSpc>
                        <a:spcBef>
                          <a:spcPts val="0"/>
                        </a:spcBef>
                        <a:spcAft>
                          <a:spcPts val="0"/>
                        </a:spcAft>
                        <a:buClrTx/>
                        <a:buSzTx/>
                        <a:buFont typeface="+mj-lt"/>
                        <a:buAutoNum type="arabicPeriod" startAt="4"/>
                        <a:tabLst/>
                        <a:defRPr/>
                      </a:pPr>
                      <a:endParaRPr lang="ru-RU" sz="800" u="none" strike="noStrike" dirty="0" smtClean="0">
                        <a:solidFill>
                          <a:schemeClr val="tx1"/>
                        </a:solidFill>
                        <a:effectLst/>
                        <a:latin typeface="+mn-lt"/>
                        <a:ea typeface="Calibri" panose="020F0502020204030204" pitchFamily="34" charset="0"/>
                        <a:cs typeface="Arial" panose="020B0604020202020204" pitchFamily="34" charset="0"/>
                      </a:endParaRPr>
                    </a:p>
                  </a:txBody>
                  <a:tcPr marL="36000" marR="36000" marT="36000" marB="36000" anchor="ctr">
                    <a:lnL w="6350" cap="flat" cmpd="sng" algn="ctr">
                      <a:solidFill>
                        <a:schemeClr val="accent5">
                          <a:lumMod val="50000"/>
                          <a:lumOff val="50000"/>
                        </a:schemeClr>
                      </a:solidFill>
                      <a:prstDash val="solid"/>
                      <a:round/>
                      <a:headEnd type="none" w="med" len="med"/>
                      <a:tailEnd type="none" w="med" len="med"/>
                    </a:lnL>
                    <a:lnR w="12700" cmpd="sng">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88900" marR="0" lvl="0" indent="-88900" algn="l" defTabSz="583170" rtl="0" eaLnBrk="1" fontAlgn="auto" latinLnBrk="0" hangingPunct="1">
                        <a:lnSpc>
                          <a:spcPct val="100000"/>
                        </a:lnSpc>
                        <a:spcBef>
                          <a:spcPts val="0"/>
                        </a:spcBef>
                        <a:spcAft>
                          <a:spcPts val="0"/>
                        </a:spcAft>
                        <a:buClr>
                          <a:srgbClr val="EF7F1A"/>
                        </a:buClr>
                        <a:buSzTx/>
                        <a:buFont typeface="Wingdings" panose="05000000000000000000" pitchFamily="2" charset="2"/>
                        <a:buChar char="ü"/>
                        <a:tabLst/>
                        <a:defRPr/>
                      </a:pPr>
                      <a:endParaRPr kumimoji="0" lang="ru-RU" sz="800" b="0" i="0" u="none" strike="noStrike" kern="1200" cap="none" spc="0" normalizeH="0" baseline="0" dirty="0" smtClean="0">
                        <a:ln>
                          <a:noFill/>
                        </a:ln>
                        <a:solidFill>
                          <a:srgbClr val="32373C"/>
                        </a:solidFill>
                        <a:effectLst/>
                        <a:uLnTx/>
                        <a:uFillTx/>
                        <a:latin typeface="+mn-lt"/>
                        <a:ea typeface="+mn-ea"/>
                        <a:cs typeface="+mn-cs"/>
                      </a:endParaRPr>
                    </a:p>
                  </a:txBody>
                  <a:tcPr marL="36000" marR="36000" marT="36000" marB="36000">
                    <a:lnL>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17790848"/>
                  </a:ext>
                </a:extLst>
              </a:tr>
            </a:tbl>
          </a:graphicData>
        </a:graphic>
      </p:graphicFrame>
      <p:sp>
        <p:nvSpPr>
          <p:cNvPr id="10" name="Прямоугольник 9"/>
          <p:cNvSpPr/>
          <p:nvPr/>
        </p:nvSpPr>
        <p:spPr>
          <a:xfrm>
            <a:off x="225168" y="6364538"/>
            <a:ext cx="5346335"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 xml:space="preserve">Storage of supporting materials: Compliance 2.2 system / folders on OMEGA (Perimeter Kazakhstan server)</a:t>
            </a:r>
            <a:r>
              <a:rPr lang="en-US" sz="700" i="1" dirty="0">
                <a:solidFill>
                  <a:schemeClr val="accent5">
                    <a:lumMod val="75000"/>
                    <a:lumOff val="25000"/>
                  </a:schemeClr>
                </a:solidFill>
              </a:rPr>
              <a:t/>
            </a:r>
            <a:r>
              <a:rPr lang="ru-RU" sz="700" i="1" dirty="0">
                <a:solidFill>
                  <a:schemeClr val="accent5">
                    <a:lumMod val="75000"/>
                    <a:lumOff val="25000"/>
                  </a:schemeClr>
                </a:solidFill>
              </a:rPr>
              <a:t/>
            </a:r>
          </a:p>
        </p:txBody>
      </p:sp>
    </p:spTree>
    <p:extLst>
      <p:ext uri="{BB962C8B-B14F-4D97-AF65-F5344CB8AC3E}">
        <p14:creationId xmlns:p14="http://schemas.microsoft.com/office/powerpoint/2010/main" val="3393734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Table 3">
            <a:extLst>
              <a:ext uri="{FF2B5EF4-FFF2-40B4-BE49-F238E27FC236}">
                <a16:creationId xmlns:a16="http://schemas.microsoft.com/office/drawing/2014/main" id="{37F28E89-C8B4-4240-9ECE-1DA70C5E405A}"/>
              </a:ext>
            </a:extLst>
          </p:cNvPr>
          <p:cNvGraphicFramePr>
            <a:graphicFrameLocks noGrp="1"/>
          </p:cNvGraphicFramePr>
          <p:nvPr>
            <p:extLst>
              <p:ext uri="{D42A27DB-BD31-4B8C-83A1-F6EECF244321}">
                <p14:modId xmlns:p14="http://schemas.microsoft.com/office/powerpoint/2010/main" val="3471402027"/>
              </p:ext>
            </p:extLst>
          </p:nvPr>
        </p:nvGraphicFramePr>
        <p:xfrm>
          <a:off x="289097" y="1318710"/>
          <a:ext cx="11519999" cy="4476104"/>
        </p:xfrm>
        <a:graphic>
          <a:graphicData uri="http://schemas.openxmlformats.org/drawingml/2006/table">
            <a:tbl>
              <a:tblPr>
                <a:tableStyleId>{5C22544A-7EE6-4342-B048-85BDC9FD1C3A}</a:tableStyleId>
              </a:tblPr>
              <a:tblGrid>
                <a:gridCol w="251415">
                  <a:extLst>
                    <a:ext uri="{9D8B030D-6E8A-4147-A177-3AD203B41FA5}">
                      <a16:colId xmlns:a16="http://schemas.microsoft.com/office/drawing/2014/main" val="2320202936"/>
                    </a:ext>
                  </a:extLst>
                </a:gridCol>
                <a:gridCol w="2154995">
                  <a:extLst>
                    <a:ext uri="{9D8B030D-6E8A-4147-A177-3AD203B41FA5}">
                      <a16:colId xmlns:a16="http://schemas.microsoft.com/office/drawing/2014/main" val="3877538008"/>
                    </a:ext>
                  </a:extLst>
                </a:gridCol>
                <a:gridCol w="278110">
                  <a:extLst>
                    <a:ext uri="{9D8B030D-6E8A-4147-A177-3AD203B41FA5}">
                      <a16:colId xmlns:a16="http://schemas.microsoft.com/office/drawing/2014/main" val="2843318062"/>
                    </a:ext>
                  </a:extLst>
                </a:gridCol>
                <a:gridCol w="8835479">
                  <a:extLst>
                    <a:ext uri="{9D8B030D-6E8A-4147-A177-3AD203B41FA5}">
                      <a16:colId xmlns:a16="http://schemas.microsoft.com/office/drawing/2014/main" val="2807727080"/>
                    </a:ext>
                  </a:extLst>
                </a:gridCol>
              </a:tblGrid>
              <a:tr h="418051">
                <a:tc>
                  <a:txBody>
                    <a:bodyPr/>
                    <a:lstStyle/>
                    <a:p>
                      <a:pPr algn="l" fontAlgn="t"/>
                      <a:endParaRPr lang="en-US" sz="800" b="0" i="0" u="none" strike="noStrike" dirty="0">
                        <a:solidFill>
                          <a:schemeClr val="accent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ru-RU" sz="800" b="1" u="none" strike="noStrike" dirty="0">
                        <a:solidFill>
                          <a:schemeClr val="accent1"/>
                        </a:solidFill>
                        <a:effectLst/>
                      </a:endParaRPr>
                    </a:p>
                    <a:p>
                      <a:pPr algn="l" fontAlgn="t"/>
                      <a:endParaRPr lang="ru-RU" sz="800" b="1" u="none" strike="noStrike" dirty="0">
                        <a:solidFill>
                          <a:schemeClr val="accent1"/>
                        </a:solidFill>
                        <a:effectLst/>
                      </a:endParaRPr>
                    </a:p>
                    <a:p>
                      <a:pPr algn="l" fontAlgn="t"/>
                      <a:r>
                        <a:rPr lang="ru-RU" sz="800" b="1" u="none" strike="noStrike" dirty="0">
                          <a:solidFill>
                            <a:schemeClr val="accent5">
                              <a:lumMod val="75000"/>
                              <a:lumOff val="25000"/>
                            </a:schemeClr>
                          </a:solidFill>
                          <a:effectLst/>
                        </a:rPr>
                        <a:t xml:space="preserve">Risk management</a:t>
                      </a:r>
                    </a:p>
                    <a:p>
                      <a:pPr algn="l" fontAlgn="t"/>
                      <a:r>
                        <a:rPr lang="ru-RU" sz="800" b="1" u="none" strike="noStrike" dirty="0">
                          <a:solidFill>
                            <a:schemeClr val="accent5">
                              <a:lumMod val="75000"/>
                              <a:lumOff val="25000"/>
                            </a:schemeClr>
                          </a:solidFill>
                          <a:effectLst/>
                        </a:rPr>
                        <a:t xml:space="preserve">third parties</a:t>
                      </a:r>
                      <a:endParaRPr lang="en-US" sz="800" b="1" i="0" u="none" strike="noStrike" dirty="0">
                        <a:solidFill>
                          <a:schemeClr val="accent5">
                            <a:lumMod val="75000"/>
                            <a:lumOff val="25000"/>
                          </a:schemeClr>
                        </a:solidFill>
                        <a:effectLst/>
                        <a:latin typeface="Calibri" panose="020F0502020204030204" pitchFamily="34" charset="0"/>
                      </a:endParaRPr>
                    </a:p>
                  </a:txBody>
                  <a:tcPr marL="72000" marR="72000" marT="36000" marB="36000">
                    <a:lnL w="12700" cmpd="sng">
                      <a:noFill/>
                    </a:lnL>
                    <a:lnR w="9525" cap="flat" cmpd="sng" algn="ctr">
                      <a:noFill/>
                      <a:prstDash val="solid"/>
                      <a:round/>
                      <a:headEnd type="none" w="med" len="med"/>
                      <a:tailEnd type="none" w="med" len="med"/>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800" b="1" i="0" u="none" strike="noStrike" dirty="0">
                        <a:solidFill>
                          <a:schemeClr val="accent1"/>
                        </a:solidFill>
                        <a:effectLst/>
                        <a:latin typeface="Calibri" panose="020F0502020204030204" pitchFamily="34" charset="0"/>
                      </a:endParaRPr>
                    </a:p>
                  </a:txBody>
                  <a:tcPr marL="72000" marR="72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975" lvl="1" indent="-180975" algn="l" defTabSz="457200" rtl="0" eaLnBrk="1" fontAlgn="t" latinLnBrk="0" hangingPunct="1">
                        <a:spcBef>
                          <a:spcPts val="600"/>
                        </a:spcBef>
                        <a:buClr>
                          <a:schemeClr val="accent5">
                            <a:lumMod val="50000"/>
                            <a:lumOff val="50000"/>
                          </a:schemeClr>
                        </a:buClr>
                        <a:buFont typeface="Wingdings" panose="05000000000000000000" pitchFamily="2" charset="2"/>
                        <a:buChar char="§"/>
                        <a:defRPr sz="1050" b="0" i="0" u="none" strike="noStrike" kern="1200" spc="0" baseline="0">
                          <a:solidFill>
                            <a:srgbClr val="32373C"/>
                          </a:solidFill>
                          <a:latin typeface="+mn-lt"/>
                          <a:ea typeface="+mn-ea"/>
                          <a:cs typeface="+mn-cs"/>
                        </a:defRPr>
                      </a:pPr>
                      <a:endParaRPr lang="en-US" sz="800" b="0" i="0" u="none" strike="noStrike" kern="1200" spc="0" baseline="0" dirty="0">
                        <a:solidFill>
                          <a:srgbClr val="32373C"/>
                        </a:solidFill>
                        <a:latin typeface="+mn-lt"/>
                        <a:ea typeface="+mn-ea"/>
                        <a:cs typeface="+mn-cs"/>
                      </a:endParaRPr>
                    </a:p>
                  </a:txBody>
                  <a:tcPr marL="72000" marR="72000" marT="36000" marB="36000">
                    <a:lnL w="952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950988"/>
                  </a:ext>
                </a:extLst>
              </a:tr>
              <a:tr h="248966">
                <a:tc>
                  <a:txBody>
                    <a:bodyPr/>
                    <a:lstStyle/>
                    <a:p>
                      <a:pPr algn="l" fontAlgn="t"/>
                      <a:endParaRPr lang="en-US" sz="8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800" b="1" i="0" u="none" strike="noStrike" dirty="0">
                          <a:solidFill>
                            <a:schemeClr val="tx1"/>
                          </a:solidFill>
                          <a:effectLst/>
                          <a:latin typeface="+mn-lt"/>
                        </a:rPr>
                        <a:t xml:space="preserve">S. “Compliance Sheet” (Mining)</a:t>
                      </a:r>
                      <a:r>
                        <a:rPr lang="en-US" sz="800" b="1" i="0" u="none" strike="noStrike" dirty="0">
                          <a:solidFill>
                            <a:schemeClr val="tx1"/>
                          </a:solidFill>
                          <a:effectLst/>
                          <a:latin typeface="+mn-lt"/>
                        </a:rPr>
                        <a:t/>
                      </a:r>
                      <a:r>
                        <a:rPr lang="ru-RU" sz="800" b="1" i="0" u="none" strike="noStrike" dirty="0">
                          <a:solidFill>
                            <a:schemeClr val="tx1"/>
                          </a:solidFill>
                          <a:effectLst/>
                          <a:latin typeface="+mn-lt"/>
                        </a:rPr>
                        <a:t/>
                      </a:r>
                      <a:r>
                        <a:rPr lang="ru-RU" sz="800" b="1" i="0" u="none" strike="noStrike" baseline="0" dirty="0">
                          <a:solidFill>
                            <a:schemeClr val="tx1"/>
                          </a:solidFill>
                          <a:effectLst/>
                          <a:latin typeface="+mn-lt"/>
                        </a:rPr>
                        <a:t/>
                      </a:r>
                      <a:r>
                        <a:rPr lang="en-US" sz="800" b="1" i="0" u="none" strike="noStrike" baseline="0" dirty="0">
                          <a:solidFill>
                            <a:schemeClr val="tx1"/>
                          </a:solidFill>
                          <a:effectLst/>
                          <a:latin typeface="+mn-lt"/>
                        </a:rPr>
                        <a:t/>
                      </a:r>
                      <a:endParaRPr lang="en-US" sz="800" b="1" i="0" u="none" strike="noStrike" dirty="0">
                        <a:solidFill>
                          <a:schemeClr val="tx1"/>
                        </a:solidFill>
                        <a:effectLst/>
                        <a:latin typeface="+mn-lt"/>
                      </a:endParaRPr>
                    </a:p>
                  </a:txBody>
                  <a:tcPr marL="72000" marR="72000" marT="36000" marB="36000">
                    <a:lnL w="12700" cmpd="sng">
                      <a:noFill/>
                    </a:lnL>
                    <a:lnR w="9525" cap="flat" cmpd="sng" algn="ctr">
                      <a:noFill/>
                      <a:prstDash val="solid"/>
                      <a:round/>
                      <a:headEnd type="none" w="med" len="med"/>
                      <a:tailEnd type="none" w="med" len="med"/>
                    </a:lnR>
                    <a:lnT w="12700" cmpd="sng">
                      <a:noFill/>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800" b="1" i="0" u="none" strike="noStrike" dirty="0">
                        <a:solidFill>
                          <a:schemeClr val="tx1"/>
                        </a:solidFill>
                        <a:effectLst/>
                        <a:latin typeface="+mn-lt"/>
                      </a:endParaRPr>
                    </a:p>
                  </a:txBody>
                  <a:tcPr marL="72000" marR="72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800" b="1" i="0" u="none" strike="noStrike" dirty="0">
                        <a:solidFill>
                          <a:schemeClr val="tx1"/>
                        </a:solidFill>
                        <a:effectLst/>
                        <a:latin typeface="+mn-lt"/>
                      </a:endParaRPr>
                    </a:p>
                  </a:txBody>
                  <a:tcPr marL="72000" marR="72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6973678"/>
                  </a:ext>
                </a:extLst>
              </a:tr>
              <a:tr h="248966">
                <a:tc>
                  <a:txBody>
                    <a:bodyPr/>
                    <a:lstStyle/>
                    <a:p>
                      <a:pPr algn="l" fontAlgn="t"/>
                      <a:endParaRPr lang="en-US" sz="800" b="1" i="0" u="none" strike="noStrike" dirty="0">
                        <a:solidFill>
                          <a:schemeClr val="tx1"/>
                        </a:solidFill>
                        <a:effectLst/>
                        <a:latin typeface="+mn-lt"/>
                      </a:endParaRPr>
                    </a:p>
                  </a:txBody>
                  <a:tcPr marL="0" marR="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spcBef>
                          <a:spcPts val="600"/>
                        </a:spcBef>
                        <a:buClr>
                          <a:schemeClr val="accent1"/>
                        </a:buClr>
                        <a:defRPr sz="1050" b="0" i="0" u="none" strike="noStrike" kern="1200" spc="0" baseline="0">
                          <a:solidFill>
                            <a:srgbClr val="32373C"/>
                          </a:solidFill>
                          <a:latin typeface="+mn-lt"/>
                          <a:ea typeface="+mn-ea"/>
                          <a:cs typeface="+mn-cs"/>
                        </a:defRPr>
                      </a:pPr>
                      <a:endParaRPr lang="ru-RU" sz="800" dirty="0"/>
                    </a:p>
                    <a:p>
                      <a:pPr marL="171450" indent="-171450">
                        <a:spcBef>
                          <a:spcPts val="600"/>
                        </a:spcBef>
                        <a:buClr>
                          <a:schemeClr val="accent5">
                            <a:lumMod val="75000"/>
                            <a:lumOff val="25000"/>
                          </a:schemeClr>
                        </a:buClr>
                        <a:buFont typeface="Wingdings" panose="05000000000000000000" pitchFamily="2" charset="2"/>
                        <a:buChar char="§"/>
                        <a:defRPr sz="1050" b="0" i="0" u="none" strike="noStrike" kern="1200" spc="0" baseline="0">
                          <a:solidFill>
                            <a:srgbClr val="32373C"/>
                          </a:solidFill>
                          <a:latin typeface="+mn-lt"/>
                          <a:ea typeface="+mn-ea"/>
                          <a:cs typeface="+mn-cs"/>
                        </a:defRPr>
                      </a:pPr>
                      <a:r>
                        <a:rPr lang="ru-RU" sz="800" dirty="0" smtClean="0"/>
                        <a:t xml:space="preserve">As of December 31, 2025, the Compliance List included 463 counterparties, as well as 34 banks and 95 manufacturing companies for the “Intermediaries” category.</a:t>
                      </a:r>
                      <a:r>
                        <a:rPr lang="ru-RU" sz="800" dirty="0" smtClean="0">
                          <a:solidFill>
                            <a:schemeClr val="tx1"/>
                          </a:solidFill>
                        </a:rPr>
                        <a:t/>
                      </a:r>
                      <a:r>
                        <a:rPr lang="ru-RU" sz="800" b="1" dirty="0" smtClean="0">
                          <a:solidFill>
                            <a:schemeClr val="tx1"/>
                          </a:solidFill>
                        </a:rPr>
                        <a:t/>
                      </a:r>
                      <a:r>
                        <a:rPr lang="ru-RU" sz="800" dirty="0" smtClean="0">
                          <a:solidFill>
                            <a:schemeClr val="tx1"/>
                          </a:solidFill>
                        </a:rPr>
                        <a:t/>
                      </a:r>
                      <a:r>
                        <a:rPr lang="en-US" sz="800" dirty="0" smtClean="0">
                          <a:solidFill>
                            <a:schemeClr val="tx1"/>
                          </a:solidFill>
                        </a:rPr>
                        <a:t/>
                      </a:r>
                      <a:r>
                        <a:rPr lang="ru-RU" sz="800" dirty="0" smtClean="0">
                          <a:solidFill>
                            <a:schemeClr val="tx1"/>
                          </a:solidFill>
                        </a:rPr>
                        <a:t/>
                      </a:r>
                      <a:endParaRPr lang="en-US" sz="800" b="1" i="0" u="none" strike="noStrike" dirty="0">
                        <a:solidFill>
                          <a:schemeClr val="tx1"/>
                        </a:solidFill>
                        <a:effectLst/>
                        <a:latin typeface="+mn-lt"/>
                      </a:endParaRPr>
                    </a:p>
                  </a:txBody>
                  <a:tcPr marL="72000" marR="72000" marT="36000" marB="36000">
                    <a:lnL w="12700" cmpd="sng">
                      <a:noFill/>
                    </a:lnL>
                    <a:lnR w="9525" cap="flat" cmpd="sng" algn="ctr">
                      <a:no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171450" indent="-171450">
                        <a:spcBef>
                          <a:spcPts val="600"/>
                        </a:spcBef>
                        <a:buClr>
                          <a:schemeClr val="accent1"/>
                        </a:buClr>
                        <a:buFont typeface="Wingdings" panose="05000000000000000000" pitchFamily="2" charset="2"/>
                        <a:buChar char="§"/>
                        <a:defRPr sz="1050" b="0" i="0" u="none" strike="noStrike" kern="1200" spc="0" baseline="0">
                          <a:solidFill>
                            <a:srgbClr val="32373C"/>
                          </a:solidFill>
                          <a:latin typeface="+mn-lt"/>
                          <a:ea typeface="+mn-ea"/>
                          <a:cs typeface="+mn-cs"/>
                        </a:defRPr>
                      </a:pPr>
                      <a:endParaRPr lang="en-US" sz="800" b="1" i="0" u="none" strike="noStrike" dirty="0">
                        <a:solidFill>
                          <a:schemeClr val="tx1"/>
                        </a:solidFill>
                        <a:effectLst/>
                        <a:latin typeface="+mn-lt"/>
                      </a:endParaRPr>
                    </a:p>
                  </a:txBody>
                  <a:tcPr marL="72000" marR="72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171450" indent="-171450">
                        <a:spcBef>
                          <a:spcPts val="600"/>
                        </a:spcBef>
                        <a:buClr>
                          <a:schemeClr val="accent1"/>
                        </a:buClr>
                        <a:buFont typeface="Wingdings" panose="05000000000000000000" pitchFamily="2" charset="2"/>
                        <a:buChar char="§"/>
                        <a:defRPr sz="1050" b="0" i="0" u="none" strike="noStrike" kern="1200" spc="0" baseline="0">
                          <a:solidFill>
                            <a:srgbClr val="32373C"/>
                          </a:solidFill>
                          <a:latin typeface="+mn-lt"/>
                          <a:ea typeface="+mn-ea"/>
                          <a:cs typeface="+mn-cs"/>
                        </a:defRPr>
                      </a:pPr>
                      <a:endParaRPr lang="en-US" sz="800" b="1" i="0" u="none" strike="noStrike" dirty="0">
                        <a:solidFill>
                          <a:schemeClr val="tx1"/>
                        </a:solidFill>
                        <a:effectLst/>
                        <a:latin typeface="+mn-lt"/>
                      </a:endParaRPr>
                    </a:p>
                  </a:txBody>
                  <a:tcPr marL="72000" marR="72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1461243"/>
                  </a:ext>
                </a:extLst>
              </a:tr>
              <a:tr h="248966">
                <a:tc>
                  <a:txBody>
                    <a:bodyPr/>
                    <a:lstStyle/>
                    <a:p>
                      <a:pPr algn="l" fontAlgn="t"/>
                      <a:endParaRPr lang="en-US" sz="8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vMerge="1">
                  <a:txBody>
                    <a:bodyPr/>
                    <a:lstStyle/>
                    <a:p>
                      <a:endParaRPr lang="ru-RU"/>
                    </a:p>
                  </a:txBody>
                  <a:tcPr/>
                </a:tc>
                <a:extLst>
                  <a:ext uri="{0D108BD9-81ED-4DB2-BD59-A6C34878D82A}">
                    <a16:rowId xmlns:a16="http://schemas.microsoft.com/office/drawing/2014/main" val="2996761245"/>
                  </a:ext>
                </a:extLst>
              </a:tr>
              <a:tr h="1007084">
                <a:tc>
                  <a:txBody>
                    <a:bodyPr/>
                    <a:lstStyle/>
                    <a:p>
                      <a:pPr algn="l" fontAlgn="t"/>
                      <a:endParaRPr lang="en-US" sz="8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vMerge="1">
                  <a:txBody>
                    <a:bodyPr/>
                    <a:lstStyle/>
                    <a:p>
                      <a:endParaRPr lang="ru-RU"/>
                    </a:p>
                  </a:txBody>
                  <a:tcPr/>
                </a:tc>
                <a:extLst>
                  <a:ext uri="{0D108BD9-81ED-4DB2-BD59-A6C34878D82A}">
                    <a16:rowId xmlns:a16="http://schemas.microsoft.com/office/drawing/2014/main" val="1120618130"/>
                  </a:ext>
                </a:extLst>
              </a:tr>
              <a:tr h="2162442">
                <a:tc>
                  <a:txBody>
                    <a:bodyPr/>
                    <a:lstStyle/>
                    <a:p>
                      <a:pPr algn="l" fontAlgn="t"/>
                      <a:endParaRPr lang="en-US" sz="8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583170" rtl="0" eaLnBrk="1" fontAlgn="auto" latinLnBrk="0" hangingPunct="1">
                        <a:lnSpc>
                          <a:spcPct val="100000"/>
                        </a:lnSpc>
                        <a:spcBef>
                          <a:spcPts val="600"/>
                        </a:spcBef>
                        <a:spcAft>
                          <a:spcPts val="0"/>
                        </a:spcAft>
                        <a:buClr>
                          <a:schemeClr val="accent1"/>
                        </a:buClr>
                        <a:buSzTx/>
                        <a:buFont typeface="Wingdings" panose="05000000000000000000" pitchFamily="2" charset="2"/>
                        <a:buChar char="§"/>
                        <a:tabLst/>
                        <a:defRPr sz="1050" b="0" i="0" u="none" strike="noStrike" kern="1200" spc="0" baseline="0">
                          <a:solidFill>
                            <a:srgbClr val="32373C"/>
                          </a:solidFill>
                          <a:latin typeface="+mn-lt"/>
                          <a:ea typeface="+mn-ea"/>
                          <a:cs typeface="+mn-cs"/>
                        </a:defRPr>
                      </a:pPr>
                      <a:endParaRPr lang="ru-RU" sz="800" b="1" dirty="0"/>
                    </a:p>
                    <a:p>
                      <a:pPr marL="171450" marR="0" lvl="0" indent="-171450" algn="l" defTabSz="583170" rtl="0" eaLnBrk="1" fontAlgn="auto" latinLnBrk="0" hangingPunct="1">
                        <a:lnSpc>
                          <a:spcPct val="100000"/>
                        </a:lnSpc>
                        <a:spcBef>
                          <a:spcPts val="600"/>
                        </a:spcBef>
                        <a:spcAft>
                          <a:spcPts val="0"/>
                        </a:spcAft>
                        <a:buClr>
                          <a:schemeClr val="accent5">
                            <a:lumMod val="75000"/>
                            <a:lumOff val="25000"/>
                          </a:schemeClr>
                        </a:buClr>
                        <a:buSzTx/>
                        <a:buFont typeface="Wingdings" panose="05000000000000000000" pitchFamily="2" charset="2"/>
                        <a:buChar char="§"/>
                        <a:tabLst/>
                        <a:defRPr sz="1050" b="0" i="0" u="none" strike="noStrike" kern="1200" spc="0" baseline="0">
                          <a:solidFill>
                            <a:srgbClr val="32373C"/>
                          </a:solidFill>
                          <a:latin typeface="+mn-lt"/>
                          <a:ea typeface="+mn-ea"/>
                          <a:cs typeface="+mn-cs"/>
                        </a:defRPr>
                      </a:pPr>
                      <a:r>
                        <a:rPr lang="ru-RU" sz="800" b="1" dirty="0" smtClean="0"/>
                        <a:t xml:space="preserve">452 transactions during the reporting period were carried out within the Compliance List for a total amount of $249,140 thousand.</a:t>
                      </a:r>
                      <a:r>
                        <a:rPr lang="ru-RU" sz="800" b="0" dirty="0" smtClean="0"/>
                        <a:t/>
                      </a:r>
                      <a:r>
                        <a:rPr lang="ru-RU" sz="800" b="0" baseline="0" dirty="0" smtClean="0"/>
                        <a:t/>
                      </a:r>
                      <a:r>
                        <a:rPr lang="en-US" sz="800" b="1" baseline="0" dirty="0" smtClean="0">
                          <a:solidFill>
                            <a:schemeClr val="tx1"/>
                          </a:solidFill>
                        </a:rPr>
                        <a:t/>
                      </a:r>
                      <a:r>
                        <a:rPr lang="ru-RU" sz="800" b="1" baseline="0" dirty="0" smtClean="0">
                          <a:solidFill>
                            <a:schemeClr val="tx1"/>
                          </a:solidFill>
                        </a:rPr>
                        <a:t/>
                      </a:r>
                      <a:endParaRPr lang="ru-RU" sz="800" b="1" dirty="0">
                        <a:solidFill>
                          <a:schemeClr val="tx1"/>
                        </a:solidFill>
                      </a:endParaRPr>
                    </a:p>
                  </a:txBody>
                  <a:tcPr marL="72000" marR="72000" marT="36000" marB="36000">
                    <a:lnL w="12700" cmpd="sng">
                      <a:noFill/>
                    </a:lnL>
                    <a:lnR w="9525"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583170" rtl="0" eaLnBrk="1" fontAlgn="auto" latinLnBrk="0" hangingPunct="1">
                        <a:lnSpc>
                          <a:spcPct val="100000"/>
                        </a:lnSpc>
                        <a:spcBef>
                          <a:spcPts val="600"/>
                        </a:spcBef>
                        <a:spcAft>
                          <a:spcPts val="0"/>
                        </a:spcAft>
                        <a:buClr>
                          <a:schemeClr val="accent1"/>
                        </a:buClr>
                        <a:buSzTx/>
                        <a:buFont typeface="Wingdings" panose="05000000000000000000" pitchFamily="2" charset="2"/>
                        <a:buChar char="§"/>
                        <a:tabLst/>
                        <a:defRPr sz="1050" b="0" i="0" u="none" strike="noStrike" kern="1200" spc="0" baseline="0">
                          <a:solidFill>
                            <a:srgbClr val="32373C"/>
                          </a:solidFill>
                          <a:latin typeface="+mn-lt"/>
                          <a:ea typeface="+mn-ea"/>
                          <a:cs typeface="+mn-cs"/>
                        </a:defRPr>
                      </a:pPr>
                      <a:endParaRPr lang="ru-RU" sz="800" dirty="0"/>
                    </a:p>
                  </a:txBody>
                  <a:tcPr marL="72000" marR="72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600"/>
                        </a:spcBef>
                        <a:spcAft>
                          <a:spcPts val="0"/>
                        </a:spcAft>
                        <a:buClr>
                          <a:schemeClr val="accent1"/>
                        </a:buClr>
                        <a:buSzTx/>
                        <a:buFont typeface="Wingdings" panose="05000000000000000000" pitchFamily="2" charset="2"/>
                        <a:buNone/>
                        <a:tabLst/>
                        <a:defRPr sz="1050" b="0" i="0" u="none" strike="noStrike" kern="1200" spc="0" baseline="0">
                          <a:solidFill>
                            <a:srgbClr val="32373C"/>
                          </a:solidFill>
                          <a:latin typeface="+mn-lt"/>
                          <a:ea typeface="+mn-ea"/>
                          <a:cs typeface="+mn-cs"/>
                        </a:defRPr>
                      </a:pPr>
                      <a:endParaRPr lang="ru-RU" sz="800" dirty="0"/>
                    </a:p>
                  </a:txBody>
                  <a:tcPr marL="72000" marR="72000" marT="36000" marB="36000">
                    <a:lnL w="9525" cap="flat" cmpd="sng" algn="ctr">
                      <a:noFill/>
                      <a:prstDash val="solid"/>
                      <a:round/>
                      <a:headEnd type="none" w="med" len="med"/>
                      <a:tailEnd type="none" w="med" len="med"/>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1287218"/>
                  </a:ext>
                </a:extLst>
              </a:tr>
            </a:tbl>
          </a:graphicData>
        </a:graphic>
      </p:graphicFrame>
      <p:graphicFrame>
        <p:nvGraphicFramePr>
          <p:cNvPr id="19" name="Object 18" hidden="1">
            <a:extLst>
              <a:ext uri="{FF2B5EF4-FFF2-40B4-BE49-F238E27FC236}">
                <a16:creationId xmlns:a16="http://schemas.microsoft.com/office/drawing/2014/main" id="{95B3345D-96AC-411A-A36E-40E778055E66}"/>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2411"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95B3345D-96AC-411A-A36E-40E778055E6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BF7278A-CA96-4FB6-A399-7DB15658E771}"/>
              </a:ext>
            </a:extLst>
          </p:cNvPr>
          <p:cNvSpPr>
            <a:spLocks noGrp="1"/>
          </p:cNvSpPr>
          <p:nvPr>
            <p:ph type="title"/>
          </p:nvPr>
        </p:nvSpPr>
        <p:spPr/>
        <p:txBody>
          <a:bodyPr vert="horz"/>
          <a:lstStyle/>
          <a:p>
            <a:r>
              <a:rPr lang="ru" dirty="0"/>
              <a:t>Прил.</a:t>
            </a:r>
            <a:r>
              <a:rPr lang="en-US" dirty="0"/>
              <a:t> </a:t>
            </a:r>
            <a:r>
              <a:rPr lang="en-US" dirty="0" smtClean="0"/>
              <a:t>2</a:t>
            </a:r>
            <a:r>
              <a:rPr lang="ru" dirty="0" smtClean="0"/>
              <a:t>: </a:t>
            </a:r>
            <a:r>
              <a:rPr lang="ru" dirty="0"/>
              <a:t>Управление рисками третьих сторон</a:t>
            </a:r>
            <a:r>
              <a:rPr lang="ru-RU" dirty="0"/>
              <a:t/>
            </a:r>
            <a:br>
              <a:rPr lang="ru-RU" dirty="0"/>
            </a:br>
            <a:r>
              <a:rPr lang="ru" dirty="0">
                <a:solidFill>
                  <a:schemeClr val="tx1"/>
                </a:solidFill>
              </a:rPr>
              <a:t>Результаты самотестирования Комплаенс Листа (на основе </a:t>
            </a:r>
            <a:r>
              <a:rPr lang="ru-RU" dirty="0">
                <a:solidFill>
                  <a:schemeClr val="tx1"/>
                </a:solidFill>
              </a:rPr>
              <a:t>Схемы</a:t>
            </a:r>
            <a:r>
              <a:rPr lang="ru" dirty="0">
                <a:solidFill>
                  <a:schemeClr val="tx1"/>
                </a:solidFill>
              </a:rPr>
              <a:t> гарантий</a:t>
            </a:r>
            <a:r>
              <a:rPr lang="ru" dirty="0" smtClean="0">
                <a:solidFill>
                  <a:schemeClr val="tx1"/>
                </a:solidFill>
              </a:rPr>
              <a:t>) – 4 кв. 2025 </a:t>
            </a:r>
            <a:endParaRPr lang="en-US" dirty="0"/>
          </a:p>
        </p:txBody>
      </p:sp>
      <p:sp>
        <p:nvSpPr>
          <p:cNvPr id="22" name="Прямоугольник 21"/>
          <p:cNvSpPr/>
          <p:nvPr/>
        </p:nvSpPr>
        <p:spPr>
          <a:xfrm>
            <a:off x="289097" y="6308646"/>
            <a:ext cx="5346335"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 xml:space="preserve">Storage of supporting materials: Compliance 2.2 system / folders on OMEGA (Perimeter Kazakhstan server)</a:t>
            </a:r>
            <a:r>
              <a:rPr lang="en-US" sz="700" i="1" dirty="0">
                <a:solidFill>
                  <a:schemeClr val="accent5">
                    <a:lumMod val="75000"/>
                    <a:lumOff val="25000"/>
                  </a:schemeClr>
                </a:solidFill>
              </a:rPr>
              <a:t/>
            </a:r>
            <a:r>
              <a:rPr lang="ru-RU" sz="700" i="1" dirty="0">
                <a:solidFill>
                  <a:schemeClr val="accent5">
                    <a:lumMod val="75000"/>
                    <a:lumOff val="25000"/>
                  </a:schemeClr>
                </a:solidFill>
              </a:rPr>
              <a:t/>
            </a:r>
          </a:p>
        </p:txBody>
      </p:sp>
      <p:sp>
        <p:nvSpPr>
          <p:cNvPr id="25" name="Freeform: Shape 209">
            <a:extLst>
              <a:ext uri="{FF2B5EF4-FFF2-40B4-BE49-F238E27FC236}">
                <a16:creationId xmlns:a16="http://schemas.microsoft.com/office/drawing/2014/main" id="{06F9A77C-134A-403E-958B-E143A443E78B}"/>
              </a:ext>
            </a:extLst>
          </p:cNvPr>
          <p:cNvSpPr/>
          <p:nvPr/>
        </p:nvSpPr>
        <p:spPr>
          <a:xfrm flipV="1">
            <a:off x="4357077" y="4170621"/>
            <a:ext cx="2567354" cy="304786"/>
          </a:xfrm>
          <a:custGeom>
            <a:avLst/>
            <a:gdLst>
              <a:gd name="connsiteX0" fmla="*/ 0 w 2176780"/>
              <a:gd name="connsiteY0" fmla="*/ 0 h 215900"/>
              <a:gd name="connsiteX1" fmla="*/ 0 w 2176780"/>
              <a:gd name="connsiteY1" fmla="*/ 215900 h 215900"/>
              <a:gd name="connsiteX2" fmla="*/ 2176780 w 2176780"/>
              <a:gd name="connsiteY2" fmla="*/ 215900 h 215900"/>
              <a:gd name="connsiteX3" fmla="*/ 2176780 w 2176780"/>
              <a:gd name="connsiteY3" fmla="*/ 58420 h 215900"/>
              <a:gd name="connsiteX0" fmla="*/ 0 w 2176780"/>
              <a:gd name="connsiteY0" fmla="*/ 0 h 215900"/>
              <a:gd name="connsiteX1" fmla="*/ 0 w 2176780"/>
              <a:gd name="connsiteY1" fmla="*/ 215900 h 215900"/>
              <a:gd name="connsiteX2" fmla="*/ 2176780 w 2176780"/>
              <a:gd name="connsiteY2" fmla="*/ 215900 h 215900"/>
              <a:gd name="connsiteX3" fmla="*/ 2176780 w 2176780"/>
              <a:gd name="connsiteY3" fmla="*/ 58420 h 215900"/>
              <a:gd name="connsiteX0" fmla="*/ 0 w 2176780"/>
              <a:gd name="connsiteY0" fmla="*/ 0 h 179434"/>
              <a:gd name="connsiteX1" fmla="*/ 0 w 2176780"/>
              <a:gd name="connsiteY1" fmla="*/ 179434 h 179434"/>
              <a:gd name="connsiteX2" fmla="*/ 2176780 w 2176780"/>
              <a:gd name="connsiteY2" fmla="*/ 179434 h 179434"/>
              <a:gd name="connsiteX3" fmla="*/ 2176780 w 2176780"/>
              <a:gd name="connsiteY3" fmla="*/ 21954 h 179434"/>
              <a:gd name="connsiteX0" fmla="*/ 0 w 2176780"/>
              <a:gd name="connsiteY0" fmla="*/ 0 h 159798"/>
              <a:gd name="connsiteX1" fmla="*/ 0 w 2176780"/>
              <a:gd name="connsiteY1" fmla="*/ 159798 h 159798"/>
              <a:gd name="connsiteX2" fmla="*/ 2176780 w 2176780"/>
              <a:gd name="connsiteY2" fmla="*/ 159798 h 159798"/>
              <a:gd name="connsiteX3" fmla="*/ 2176780 w 2176780"/>
              <a:gd name="connsiteY3" fmla="*/ 2318 h 159798"/>
            </a:gdLst>
            <a:ahLst/>
            <a:cxnLst>
              <a:cxn ang="0">
                <a:pos x="connsiteX0" y="connsiteY0"/>
              </a:cxn>
              <a:cxn ang="0">
                <a:pos x="connsiteX1" y="connsiteY1"/>
              </a:cxn>
              <a:cxn ang="0">
                <a:pos x="connsiteX2" y="connsiteY2"/>
              </a:cxn>
              <a:cxn ang="0">
                <a:pos x="connsiteX3" y="connsiteY3"/>
              </a:cxn>
            </a:cxnLst>
            <a:rect l="l" t="t" r="r" b="b"/>
            <a:pathLst>
              <a:path w="2176780" h="159798">
                <a:moveTo>
                  <a:pt x="0" y="0"/>
                </a:moveTo>
                <a:lnTo>
                  <a:pt x="0" y="159798"/>
                </a:lnTo>
                <a:lnTo>
                  <a:pt x="2176780" y="159798"/>
                </a:lnTo>
                <a:lnTo>
                  <a:pt x="2176780" y="2318"/>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26" name="Диаграмма 25"/>
          <p:cNvGraphicFramePr/>
          <p:nvPr>
            <p:extLst>
              <p:ext uri="{D42A27DB-BD31-4B8C-83A1-F6EECF244321}">
                <p14:modId xmlns:p14="http://schemas.microsoft.com/office/powerpoint/2010/main" val="1806534322"/>
              </p:ext>
            </p:extLst>
          </p:nvPr>
        </p:nvGraphicFramePr>
        <p:xfrm>
          <a:off x="5900594" y="3761989"/>
          <a:ext cx="2811600" cy="1893949"/>
        </p:xfrm>
        <a:graphic>
          <a:graphicData uri="http://schemas.openxmlformats.org/drawingml/2006/chart">
            <c:chart xmlns:c="http://schemas.openxmlformats.org/drawingml/2006/chart" xmlns:r="http://schemas.openxmlformats.org/officeDocument/2006/relationships" r:id="rId7"/>
          </a:graphicData>
        </a:graphic>
      </p:graphicFrame>
      <p:sp>
        <p:nvSpPr>
          <p:cNvPr id="28" name="Freeform: Shape 209">
            <a:extLst>
              <a:ext uri="{FF2B5EF4-FFF2-40B4-BE49-F238E27FC236}">
                <a16:creationId xmlns:a16="http://schemas.microsoft.com/office/drawing/2014/main" id="{06F9A77C-134A-403E-958B-E143A443E78B}"/>
              </a:ext>
            </a:extLst>
          </p:cNvPr>
          <p:cNvSpPr/>
          <p:nvPr/>
        </p:nvSpPr>
        <p:spPr>
          <a:xfrm>
            <a:off x="3694048" y="5159750"/>
            <a:ext cx="3858220" cy="78733"/>
          </a:xfrm>
          <a:custGeom>
            <a:avLst/>
            <a:gdLst>
              <a:gd name="connsiteX0" fmla="*/ 0 w 2176780"/>
              <a:gd name="connsiteY0" fmla="*/ 0 h 215900"/>
              <a:gd name="connsiteX1" fmla="*/ 0 w 2176780"/>
              <a:gd name="connsiteY1" fmla="*/ 215900 h 215900"/>
              <a:gd name="connsiteX2" fmla="*/ 2176780 w 2176780"/>
              <a:gd name="connsiteY2" fmla="*/ 215900 h 215900"/>
              <a:gd name="connsiteX3" fmla="*/ 2176780 w 2176780"/>
              <a:gd name="connsiteY3" fmla="*/ 58420 h 215900"/>
              <a:gd name="connsiteX0" fmla="*/ 0 w 2176780"/>
              <a:gd name="connsiteY0" fmla="*/ 0 h 215900"/>
              <a:gd name="connsiteX1" fmla="*/ 0 w 2176780"/>
              <a:gd name="connsiteY1" fmla="*/ 215900 h 215900"/>
              <a:gd name="connsiteX2" fmla="*/ 2176780 w 2176780"/>
              <a:gd name="connsiteY2" fmla="*/ 215900 h 215900"/>
              <a:gd name="connsiteX3" fmla="*/ 2176780 w 2176780"/>
              <a:gd name="connsiteY3" fmla="*/ 58420 h 215900"/>
              <a:gd name="connsiteX0" fmla="*/ 0 w 2176780"/>
              <a:gd name="connsiteY0" fmla="*/ 0 h 179434"/>
              <a:gd name="connsiteX1" fmla="*/ 0 w 2176780"/>
              <a:gd name="connsiteY1" fmla="*/ 179434 h 179434"/>
              <a:gd name="connsiteX2" fmla="*/ 2176780 w 2176780"/>
              <a:gd name="connsiteY2" fmla="*/ 179434 h 179434"/>
              <a:gd name="connsiteX3" fmla="*/ 2176780 w 2176780"/>
              <a:gd name="connsiteY3" fmla="*/ 21954 h 179434"/>
              <a:gd name="connsiteX0" fmla="*/ 0 w 2176780"/>
              <a:gd name="connsiteY0" fmla="*/ 0 h 159798"/>
              <a:gd name="connsiteX1" fmla="*/ 0 w 2176780"/>
              <a:gd name="connsiteY1" fmla="*/ 159798 h 159798"/>
              <a:gd name="connsiteX2" fmla="*/ 2176780 w 2176780"/>
              <a:gd name="connsiteY2" fmla="*/ 159798 h 159798"/>
              <a:gd name="connsiteX3" fmla="*/ 2176780 w 2176780"/>
              <a:gd name="connsiteY3" fmla="*/ 2318 h 159798"/>
            </a:gdLst>
            <a:ahLst/>
            <a:cxnLst>
              <a:cxn ang="0">
                <a:pos x="connsiteX0" y="connsiteY0"/>
              </a:cxn>
              <a:cxn ang="0">
                <a:pos x="connsiteX1" y="connsiteY1"/>
              </a:cxn>
              <a:cxn ang="0">
                <a:pos x="connsiteX2" y="connsiteY2"/>
              </a:cxn>
              <a:cxn ang="0">
                <a:pos x="connsiteX3" y="connsiteY3"/>
              </a:cxn>
            </a:cxnLst>
            <a:rect l="l" t="t" r="r" b="b"/>
            <a:pathLst>
              <a:path w="2176780" h="159798">
                <a:moveTo>
                  <a:pt x="0" y="0"/>
                </a:moveTo>
                <a:lnTo>
                  <a:pt x="0" y="159798"/>
                </a:lnTo>
                <a:lnTo>
                  <a:pt x="2176780" y="159798"/>
                </a:lnTo>
                <a:lnTo>
                  <a:pt x="2176780" y="2318"/>
                </a:lnTo>
              </a:path>
            </a:pathLst>
          </a:custGeom>
          <a:noFill/>
          <a:ln w="9525">
            <a:solidFill>
              <a:schemeClr val="accent4">
                <a:lumMod val="40000"/>
                <a:lumOff val="6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30" name="Straight Connector 5">
            <a:extLst>
              <a:ext uri="{FF2B5EF4-FFF2-40B4-BE49-F238E27FC236}">
                <a16:creationId xmlns:a16="http://schemas.microsoft.com/office/drawing/2014/main" id="{37AC65D3-3B11-4467-826F-EFB845FF8115}"/>
              </a:ext>
            </a:extLst>
          </p:cNvPr>
          <p:cNvCxnSpPr/>
          <p:nvPr/>
        </p:nvCxnSpPr>
        <p:spPr>
          <a:xfrm>
            <a:off x="317497" y="1113482"/>
            <a:ext cx="11520000" cy="0"/>
          </a:xfrm>
          <a:prstGeom prst="line">
            <a:avLst/>
          </a:prstGeom>
          <a:noFill/>
          <a:ln w="952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33" name="Прямоугольник 32"/>
          <p:cNvSpPr/>
          <p:nvPr/>
        </p:nvSpPr>
        <p:spPr>
          <a:xfrm>
            <a:off x="2476336" y="3325930"/>
            <a:ext cx="6427556" cy="230832"/>
          </a:xfrm>
          <a:prstGeom prst="rect">
            <a:avLst/>
          </a:prstGeom>
        </p:spPr>
        <p:txBody>
          <a:bodyPr wrap="square">
            <a:spAutoFit/>
          </a:bodyPr>
          <a:lstStyle/>
          <a:p>
            <a:pPr marL="171450" indent="-171450">
              <a:buClr>
                <a:schemeClr val="accent1"/>
              </a:buClr>
              <a:buFont typeface="Wingdings" panose="05000000000000000000" pitchFamily="2" charset="2"/>
              <a:buChar char="Ø"/>
              <a:defRPr sz="1050" b="0" i="0" u="none" strike="noStrike" kern="1200" spc="0" baseline="0">
                <a:solidFill>
                  <a:srgbClr val="32373C"/>
                </a:solidFill>
                <a:latin typeface="+mn-lt"/>
                <a:ea typeface="+mn-ea"/>
                <a:cs typeface="+mn-cs"/>
              </a:defRPr>
            </a:pPr>
            <a:endParaRPr lang="ru-RU" sz="900" dirty="0">
              <a:solidFill>
                <a:schemeClr val="accent1"/>
              </a:solidFill>
            </a:endParaRPr>
          </a:p>
        </p:txBody>
      </p:sp>
      <p:cxnSp>
        <p:nvCxnSpPr>
          <p:cNvPr id="35" name="Straight Connector 5">
            <a:extLst>
              <a:ext uri="{FF2B5EF4-FFF2-40B4-BE49-F238E27FC236}">
                <a16:creationId xmlns:a16="http://schemas.microsoft.com/office/drawing/2014/main" id="{37AC65D3-3B11-4467-826F-EFB845FF8115}"/>
              </a:ext>
            </a:extLst>
          </p:cNvPr>
          <p:cNvCxnSpPr/>
          <p:nvPr/>
        </p:nvCxnSpPr>
        <p:spPr>
          <a:xfrm>
            <a:off x="317497" y="1113482"/>
            <a:ext cx="11520000" cy="0"/>
          </a:xfrm>
          <a:prstGeom prst="line">
            <a:avLst/>
          </a:prstGeom>
          <a:noFill/>
          <a:ln w="952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39" name="Прямоугольник 38"/>
          <p:cNvSpPr/>
          <p:nvPr/>
        </p:nvSpPr>
        <p:spPr>
          <a:xfrm>
            <a:off x="8316506" y="1454098"/>
            <a:ext cx="3644151" cy="1938992"/>
          </a:xfrm>
          <a:prstGeom prst="rect">
            <a:avLst/>
          </a:prstGeom>
        </p:spPr>
        <p:txBody>
          <a:bodyPr wrap="square">
            <a:spAutoFit/>
          </a:bodyPr>
          <a:lstStyle/>
          <a:p>
            <a:pPr marL="0" lvl="1">
              <a:buClr>
                <a:schemeClr val="accent5">
                  <a:lumMod val="50000"/>
                  <a:lumOff val="50000"/>
                </a:schemeClr>
              </a:buClr>
              <a:defRPr sz="1050" b="0" i="0" u="none" strike="noStrike" kern="1200" spc="0" baseline="0">
                <a:solidFill>
                  <a:srgbClr val="32373C"/>
                </a:solidFill>
                <a:latin typeface="+mn-lt"/>
                <a:ea typeface="+mn-ea"/>
                <a:cs typeface="+mn-cs"/>
              </a:defRPr>
            </a:pPr>
            <a:r>
              <a:rPr lang="ru-RU" sz="800" dirty="0">
                <a:solidFill>
                  <a:srgbClr val="32373C"/>
                </a:solidFill>
              </a:rPr>
              <a:t xml:space="preserve">During the reporting period, the following changes were made to the Compliance List:</a:t>
            </a:r>
          </a:p>
          <a:p>
            <a:pPr marL="180975" lvl="1" indent="-180975">
              <a:buClr>
                <a:schemeClr val="accent5">
                  <a:lumMod val="75000"/>
                  <a:lumOff val="25000"/>
                </a:schemeClr>
              </a:buClr>
              <a:buFont typeface="Wingdings" panose="05000000000000000000" pitchFamily="2" charset="2"/>
              <a:buChar char="§"/>
              <a:defRPr sz="1050" b="0" i="0" u="none" strike="noStrike" kern="1200" spc="0" baseline="0">
                <a:solidFill>
                  <a:srgbClr val="32373C"/>
                </a:solidFill>
                <a:latin typeface="+mn-lt"/>
                <a:ea typeface="+mn-ea"/>
                <a:cs typeface="+mn-cs"/>
              </a:defRPr>
            </a:pPr>
            <a:r>
              <a:rPr lang="ru-RU" sz="800" dirty="0" smtClean="0">
                <a:solidFill>
                  <a:srgbClr val="32373C"/>
                </a:solidFill>
              </a:rPr>
              <a:t xml:space="preserve">Based on the results of updating the CL, carried out jointly with the business, and taking into account the results of self-testing of the CL for the 3rd quarter. 2025, the following were excluded from the CL:</a:t>
            </a:r>
            <a:r>
              <a:rPr lang="ru-RU" sz="800" dirty="0">
                <a:solidFill>
                  <a:srgbClr val="32373C"/>
                </a:solidFill>
              </a:rPr>
              <a:t/>
            </a:r>
            <a:r>
              <a:rPr lang="ru-RU" sz="800" dirty="0" smtClean="0">
                <a:solidFill>
                  <a:srgbClr val="32373C"/>
                </a:solidFill>
              </a:rPr>
              <a:t/>
            </a:r>
            <a:r>
              <a:rPr lang="ru-RU" sz="800" dirty="0">
                <a:solidFill>
                  <a:srgbClr val="32373C"/>
                </a:solidFill>
              </a:rPr>
              <a:t/>
            </a:r>
            <a:r>
              <a:rPr lang="ru-RU" sz="800" dirty="0" smtClean="0">
                <a:solidFill>
                  <a:srgbClr val="32373C"/>
                </a:solidFill>
              </a:rPr>
              <a:t/>
            </a:r>
            <a:r>
              <a:rPr lang="ru-RU" sz="800" dirty="0">
                <a:solidFill>
                  <a:srgbClr val="32373C"/>
                </a:solidFill>
              </a:rPr>
              <a:t/>
            </a:r>
            <a:r>
              <a:rPr lang="ru-RU" sz="800" dirty="0" smtClean="0">
                <a:solidFill>
                  <a:srgbClr val="32373C"/>
                </a:solidFill>
              </a:rPr>
              <a:t/>
            </a:r>
            <a:r>
              <a:rPr lang="ru-RU" sz="800" dirty="0">
                <a:solidFill>
                  <a:srgbClr val="32373C"/>
                </a:solidFill>
              </a:rPr>
              <a:t/>
            </a:r>
          </a:p>
          <a:p>
            <a:pPr marL="360363" lvl="2" indent="-182563">
              <a:buClr>
                <a:schemeClr val="accent5">
                  <a:lumMod val="75000"/>
                  <a:lumOff val="25000"/>
                </a:schemeClr>
              </a:buClr>
              <a:buFont typeface="Arial" panose="020B0604020202020204" pitchFamily="34" charset="0"/>
              <a:buChar char="-"/>
              <a:defRPr sz="1050" b="0" i="0" u="none" strike="noStrike" kern="1200" spc="0" baseline="0">
                <a:solidFill>
                  <a:srgbClr val="32373C"/>
                </a:solidFill>
                <a:latin typeface="+mn-lt"/>
                <a:ea typeface="+mn-ea"/>
                <a:cs typeface="+mn-cs"/>
              </a:defRPr>
            </a:pPr>
            <a:r>
              <a:rPr lang="ru-RU" sz="800" dirty="0">
                <a:solidFill>
                  <a:srgbClr val="32373C"/>
                </a:solidFill>
              </a:rPr>
              <a:t xml:space="preserve">category “C” - 70 counterparties</a:t>
            </a:r>
            <a:r>
              <a:rPr lang="ru-RU" sz="800" dirty="0" smtClean="0">
                <a:solidFill>
                  <a:srgbClr val="32373C"/>
                </a:solidFill>
              </a:rPr>
              <a:t/>
            </a:r>
            <a:endParaRPr lang="ru-RU" sz="800" dirty="0">
              <a:solidFill>
                <a:srgbClr val="32373C"/>
              </a:solidFill>
            </a:endParaRPr>
          </a:p>
          <a:p>
            <a:pPr marL="360363" lvl="2" indent="-182563">
              <a:buClr>
                <a:schemeClr val="accent5">
                  <a:lumMod val="75000"/>
                  <a:lumOff val="25000"/>
                </a:schemeClr>
              </a:buClr>
              <a:buFont typeface="Arial" panose="020B0604020202020204" pitchFamily="34" charset="0"/>
              <a:buChar char="-"/>
              <a:defRPr sz="1050" b="0" i="0" u="none" strike="noStrike" kern="1200" spc="0" baseline="0">
                <a:solidFill>
                  <a:srgbClr val="32373C"/>
                </a:solidFill>
                <a:latin typeface="+mn-lt"/>
                <a:ea typeface="+mn-ea"/>
                <a:cs typeface="+mn-cs"/>
              </a:defRPr>
            </a:pPr>
            <a:r>
              <a:rPr lang="ru-RU" sz="800" dirty="0">
                <a:solidFill>
                  <a:srgbClr val="32373C"/>
                </a:solidFill>
              </a:rPr>
              <a:t xml:space="preserve">in the “Intermediaries” category - 28 intermediaries and 73 manufacturers “tied” to intermediaries</a:t>
            </a:r>
            <a:r>
              <a:rPr lang="ru-RU" sz="800" dirty="0" smtClean="0">
                <a:solidFill>
                  <a:srgbClr val="32373C"/>
                </a:solidFill>
              </a:rPr>
              <a:t/>
            </a:r>
            <a:r>
              <a:rPr lang="ru-RU" sz="800" dirty="0">
                <a:solidFill>
                  <a:srgbClr val="32373C"/>
                </a:solidFill>
              </a:rPr>
              <a:t/>
            </a:r>
          </a:p>
          <a:p>
            <a:pPr marL="180975" lvl="1" indent="-180975">
              <a:buClr>
                <a:schemeClr val="accent5">
                  <a:lumMod val="75000"/>
                  <a:lumOff val="25000"/>
                </a:schemeClr>
              </a:buClr>
              <a:buFont typeface="Wingdings" panose="05000000000000000000" pitchFamily="2" charset="2"/>
              <a:buChar char="§"/>
              <a:defRPr sz="1050" b="0" i="0" u="none" strike="noStrike" kern="1200" spc="0" baseline="0">
                <a:solidFill>
                  <a:srgbClr val="32373C"/>
                </a:solidFill>
                <a:latin typeface="+mn-lt"/>
                <a:ea typeface="+mn-ea"/>
                <a:cs typeface="+mn-cs"/>
              </a:defRPr>
            </a:pPr>
            <a:r>
              <a:rPr lang="ru-RU" sz="800" dirty="0">
                <a:solidFill>
                  <a:srgbClr val="32373C"/>
                </a:solidFill>
              </a:rPr>
              <a:t xml:space="preserve">Based on the results of the analysis carried out jointly with the business and assessment of compliance with the CL criteria, the following were added to the CL:</a:t>
            </a:r>
          </a:p>
          <a:p>
            <a:pPr marL="360363" lvl="2" indent="-182563">
              <a:buClr>
                <a:schemeClr val="accent5">
                  <a:lumMod val="75000"/>
                  <a:lumOff val="25000"/>
                </a:schemeClr>
              </a:buClr>
              <a:buFont typeface="Arial" panose="020B0604020202020204" pitchFamily="34" charset="0"/>
              <a:buChar char="-"/>
              <a:defRPr sz="1050" b="0" i="0" u="none" strike="noStrike" kern="1200" spc="0" baseline="0">
                <a:solidFill>
                  <a:srgbClr val="32373C"/>
                </a:solidFill>
                <a:latin typeface="+mn-lt"/>
                <a:ea typeface="+mn-ea"/>
                <a:cs typeface="+mn-cs"/>
              </a:defRPr>
            </a:pPr>
            <a:r>
              <a:rPr lang="ru-RU" sz="800" dirty="0">
                <a:solidFill>
                  <a:srgbClr val="32373C"/>
                </a:solidFill>
              </a:rPr>
              <a:t xml:space="preserve">in category “C” – 33 counterparties</a:t>
            </a:r>
            <a:r>
              <a:rPr lang="ru-RU" sz="800" dirty="0" smtClean="0">
                <a:solidFill>
                  <a:srgbClr val="32373C"/>
                </a:solidFill>
              </a:rPr>
              <a:t/>
            </a:r>
            <a:r>
              <a:rPr lang="ru-RU" sz="800" dirty="0">
                <a:solidFill>
                  <a:srgbClr val="32373C"/>
                </a:solidFill>
              </a:rPr>
              <a:t/>
            </a:r>
            <a:r>
              <a:rPr lang="ru-RU" sz="800" dirty="0" smtClean="0">
                <a:solidFill>
                  <a:srgbClr val="32373C"/>
                </a:solidFill>
              </a:rPr>
              <a:t/>
            </a:r>
            <a:endParaRPr lang="ru-RU" sz="800" dirty="0">
              <a:solidFill>
                <a:srgbClr val="32373C"/>
              </a:solidFill>
            </a:endParaRPr>
          </a:p>
          <a:p>
            <a:pPr marL="360363" lvl="2" indent="-182563">
              <a:buClr>
                <a:schemeClr val="accent5">
                  <a:lumMod val="75000"/>
                  <a:lumOff val="25000"/>
                </a:schemeClr>
              </a:buClr>
              <a:buFont typeface="Arial" panose="020B0604020202020204" pitchFamily="34" charset="0"/>
              <a:buChar char="-"/>
              <a:defRPr sz="1050" b="0" i="0" u="none" strike="noStrike" kern="1200" spc="0" baseline="0">
                <a:solidFill>
                  <a:srgbClr val="32373C"/>
                </a:solidFill>
                <a:latin typeface="+mn-lt"/>
                <a:ea typeface="+mn-ea"/>
                <a:cs typeface="+mn-cs"/>
              </a:defRPr>
            </a:pPr>
            <a:r>
              <a:rPr lang="ru-RU" sz="800" dirty="0">
                <a:solidFill>
                  <a:srgbClr val="32373C"/>
                </a:solidFill>
              </a:rPr>
              <a:t xml:space="preserve">category “D” - 21 counterparties</a:t>
            </a:r>
            <a:r>
              <a:rPr lang="ru-RU" sz="800" dirty="0" smtClean="0">
                <a:solidFill>
                  <a:srgbClr val="32373C"/>
                </a:solidFill>
              </a:rPr>
              <a:t/>
            </a:r>
            <a:r>
              <a:rPr lang="ru-RU" sz="800" dirty="0">
                <a:solidFill>
                  <a:srgbClr val="32373C"/>
                </a:solidFill>
              </a:rPr>
              <a:t/>
            </a:r>
            <a:r>
              <a:rPr lang="en-US" sz="800" dirty="0">
                <a:solidFill>
                  <a:srgbClr val="32373C"/>
                </a:solidFill>
              </a:rPr>
              <a:t/>
            </a:r>
            <a:r>
              <a:rPr lang="ru-RU" sz="800" dirty="0">
                <a:solidFill>
                  <a:srgbClr val="32373C"/>
                </a:solidFill>
              </a:rPr>
              <a:t/>
            </a:r>
            <a:r>
              <a:rPr lang="ru-RU" sz="800" dirty="0" smtClean="0">
                <a:solidFill>
                  <a:srgbClr val="32373C"/>
                </a:solidFill>
              </a:rPr>
              <a:t/>
            </a:r>
            <a:endParaRPr lang="ru-RU" sz="800" dirty="0">
              <a:solidFill>
                <a:srgbClr val="32373C"/>
              </a:solidFill>
            </a:endParaRPr>
          </a:p>
          <a:p>
            <a:pPr marL="360363" lvl="2" indent="-182563">
              <a:buClr>
                <a:schemeClr val="accent5">
                  <a:lumMod val="75000"/>
                  <a:lumOff val="25000"/>
                </a:schemeClr>
              </a:buClr>
              <a:buFont typeface="Arial" panose="020B0604020202020204" pitchFamily="34" charset="0"/>
              <a:buChar char="-"/>
              <a:defRPr sz="1050" b="0" i="0" u="none" strike="noStrike" kern="1200" spc="0" baseline="0">
                <a:solidFill>
                  <a:srgbClr val="32373C"/>
                </a:solidFill>
                <a:latin typeface="+mn-lt"/>
                <a:ea typeface="+mn-ea"/>
                <a:cs typeface="+mn-cs"/>
              </a:defRPr>
            </a:pPr>
            <a:r>
              <a:rPr lang="ru-RU" sz="800" dirty="0">
                <a:solidFill>
                  <a:srgbClr val="32373C"/>
                </a:solidFill>
              </a:rPr>
              <a:t xml:space="preserve">in the “Intermediaries” category – 6 new intermediaries with 9 manufacturers “linked” to them and 9 manufacturers “linked” to existing intermediaries</a:t>
            </a:r>
            <a:r>
              <a:rPr lang="ru-RU" sz="800" dirty="0" smtClean="0">
                <a:solidFill>
                  <a:srgbClr val="32373C"/>
                </a:solidFill>
              </a:rPr>
              <a:t/>
            </a:r>
            <a:r>
              <a:rPr lang="ru-RU" sz="800" dirty="0">
                <a:solidFill>
                  <a:srgbClr val="32373C"/>
                </a:solidFill>
              </a:rPr>
              <a:t/>
            </a:r>
            <a:r>
              <a:rPr lang="ru-RU" sz="800" dirty="0" smtClean="0">
                <a:solidFill>
                  <a:srgbClr val="32373C"/>
                </a:solidFill>
              </a:rPr>
              <a:t/>
            </a:r>
            <a:endParaRPr lang="ru-RU" sz="800" dirty="0">
              <a:solidFill>
                <a:srgbClr val="32373C"/>
              </a:solidFill>
            </a:endParaRPr>
          </a:p>
        </p:txBody>
      </p:sp>
      <p:cxnSp>
        <p:nvCxnSpPr>
          <p:cNvPr id="40" name="Прямая соединительная линия 39"/>
          <p:cNvCxnSpPr/>
          <p:nvPr/>
        </p:nvCxnSpPr>
        <p:spPr>
          <a:xfrm>
            <a:off x="6631236" y="1513202"/>
            <a:ext cx="0" cy="1008000"/>
          </a:xfrm>
          <a:prstGeom prst="line">
            <a:avLst/>
          </a:prstGeom>
          <a:noFill/>
          <a:ln w="952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41" name="Прямоугольник 40"/>
          <p:cNvSpPr/>
          <p:nvPr/>
        </p:nvSpPr>
        <p:spPr>
          <a:xfrm>
            <a:off x="2476336" y="3325930"/>
            <a:ext cx="6427556" cy="230832"/>
          </a:xfrm>
          <a:prstGeom prst="rect">
            <a:avLst/>
          </a:prstGeom>
        </p:spPr>
        <p:txBody>
          <a:bodyPr wrap="square">
            <a:spAutoFit/>
          </a:bodyPr>
          <a:lstStyle/>
          <a:p>
            <a:pPr marL="171450" indent="-171450">
              <a:buClr>
                <a:schemeClr val="accent1"/>
              </a:buClr>
              <a:buFont typeface="Wingdings" panose="05000000000000000000" pitchFamily="2" charset="2"/>
              <a:buChar char="Ø"/>
              <a:defRPr sz="1050" b="0" i="0" u="none" strike="noStrike" kern="1200" spc="0" baseline="0">
                <a:solidFill>
                  <a:srgbClr val="32373C"/>
                </a:solidFill>
                <a:latin typeface="+mn-lt"/>
                <a:ea typeface="+mn-ea"/>
                <a:cs typeface="+mn-cs"/>
              </a:defRPr>
            </a:pPr>
            <a:endParaRPr lang="ru-RU" sz="900" dirty="0">
              <a:solidFill>
                <a:schemeClr val="accent1"/>
              </a:solidFill>
            </a:endParaRPr>
          </a:p>
        </p:txBody>
      </p:sp>
      <p:sp>
        <p:nvSpPr>
          <p:cNvPr id="49" name="Rectangle 195">
            <a:extLst>
              <a:ext uri="{FF2B5EF4-FFF2-40B4-BE49-F238E27FC236}">
                <a16:creationId xmlns:a16="http://schemas.microsoft.com/office/drawing/2014/main" id="{D3239B64-3702-4301-946D-ECEE5060DF0F}"/>
              </a:ext>
            </a:extLst>
          </p:cNvPr>
          <p:cNvSpPr/>
          <p:nvPr/>
        </p:nvSpPr>
        <p:spPr>
          <a:xfrm>
            <a:off x="4847356" y="3989217"/>
            <a:ext cx="1558090" cy="107722"/>
          </a:xfrm>
          <a:prstGeom prst="rect">
            <a:avLst/>
          </a:prstGeom>
        </p:spPr>
        <p:txBody>
          <a:bodyPr wrap="square" lIns="0" tIns="0" rIns="0" bIns="0" anchor="t">
            <a:spAutoFit/>
          </a:bodyPr>
          <a:lstStyle/>
          <a:p>
            <a:pPr algn="ctr">
              <a:spcAft>
                <a:spcPts val="300"/>
              </a:spcAft>
            </a:pPr>
            <a:r>
              <a:rPr lang="ru-RU" sz="700" i="1" dirty="0">
                <a:solidFill>
                  <a:schemeClr val="accent1"/>
                </a:solidFill>
              </a:rPr>
              <a:t xml:space="preserve">Special compliance regime</a:t>
            </a:r>
            <a:endParaRPr lang="en-US" sz="700" i="1" dirty="0">
              <a:solidFill>
                <a:schemeClr val="accent1"/>
              </a:solidFill>
            </a:endParaRPr>
          </a:p>
        </p:txBody>
      </p:sp>
      <p:sp>
        <p:nvSpPr>
          <p:cNvPr id="50" name="Rectangle 203">
            <a:extLst>
              <a:ext uri="{FF2B5EF4-FFF2-40B4-BE49-F238E27FC236}">
                <a16:creationId xmlns:a16="http://schemas.microsoft.com/office/drawing/2014/main" id="{2CA6E9BA-BB20-41D6-AB04-897813AB2B70}"/>
              </a:ext>
            </a:extLst>
          </p:cNvPr>
          <p:cNvSpPr/>
          <p:nvPr/>
        </p:nvSpPr>
        <p:spPr>
          <a:xfrm>
            <a:off x="4461941" y="5052028"/>
            <a:ext cx="2381070" cy="107722"/>
          </a:xfrm>
          <a:prstGeom prst="rect">
            <a:avLst/>
          </a:prstGeom>
        </p:spPr>
        <p:txBody>
          <a:bodyPr wrap="square" lIns="0" tIns="0" rIns="0" bIns="0" anchor="t">
            <a:spAutoFit/>
          </a:bodyPr>
          <a:lstStyle/>
          <a:p>
            <a:pPr algn="ctr">
              <a:spcAft>
                <a:spcPts val="300"/>
              </a:spcAft>
            </a:pPr>
            <a:r>
              <a:rPr lang="ru-RU" sz="700" i="1" dirty="0"/>
              <a:t xml:space="preserve">According to the Compliance 2.2 System (Kazakhstan)</a:t>
            </a:r>
            <a:r>
              <a:rPr lang="en-US" sz="700" i="1" dirty="0"/>
              <a:t/>
            </a:r>
            <a:r>
              <a:rPr lang="ru-RU" sz="700" i="1" dirty="0"/>
              <a:t/>
            </a:r>
            <a:endParaRPr lang="en-US" sz="700" i="1" dirty="0"/>
          </a:p>
        </p:txBody>
      </p:sp>
      <p:graphicFrame>
        <p:nvGraphicFramePr>
          <p:cNvPr id="51" name="Диаграмма 50"/>
          <p:cNvGraphicFramePr/>
          <p:nvPr>
            <p:extLst>
              <p:ext uri="{D42A27DB-BD31-4B8C-83A1-F6EECF244321}">
                <p14:modId xmlns:p14="http://schemas.microsoft.com/office/powerpoint/2010/main" val="3672725909"/>
              </p:ext>
            </p:extLst>
          </p:nvPr>
        </p:nvGraphicFramePr>
        <p:xfrm>
          <a:off x="2484091" y="3723694"/>
          <a:ext cx="2809975" cy="1896007"/>
        </p:xfrm>
        <a:graphic>
          <a:graphicData uri="http://schemas.openxmlformats.org/drawingml/2006/chart">
            <c:chart xmlns:c="http://schemas.openxmlformats.org/drawingml/2006/chart" xmlns:r="http://schemas.openxmlformats.org/officeDocument/2006/relationships" r:id="rId8"/>
          </a:graphicData>
        </a:graphic>
      </p:graphicFrame>
      <p:sp>
        <p:nvSpPr>
          <p:cNvPr id="52" name="Правая фигурная скобка 51"/>
          <p:cNvSpPr/>
          <p:nvPr/>
        </p:nvSpPr>
        <p:spPr>
          <a:xfrm>
            <a:off x="4443135" y="4427358"/>
            <a:ext cx="110279" cy="612000"/>
          </a:xfrm>
          <a:prstGeom prst="rightBrace">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Rectangle 195">
            <a:extLst>
              <a:ext uri="{FF2B5EF4-FFF2-40B4-BE49-F238E27FC236}">
                <a16:creationId xmlns:a16="http://schemas.microsoft.com/office/drawing/2014/main" id="{D3239B64-3702-4301-946D-ECEE5060DF0F}"/>
              </a:ext>
            </a:extLst>
          </p:cNvPr>
          <p:cNvSpPr/>
          <p:nvPr/>
        </p:nvSpPr>
        <p:spPr>
          <a:xfrm>
            <a:off x="4508775" y="4641095"/>
            <a:ext cx="695807" cy="215444"/>
          </a:xfrm>
          <a:prstGeom prst="rect">
            <a:avLst/>
          </a:prstGeom>
        </p:spPr>
        <p:txBody>
          <a:bodyPr wrap="square" lIns="0" tIns="0" rIns="0" bIns="0" anchor="t">
            <a:spAutoFit/>
          </a:bodyPr>
          <a:lstStyle/>
          <a:p>
            <a:pPr algn="ctr">
              <a:spcAft>
                <a:spcPts val="300"/>
              </a:spcAft>
            </a:pPr>
            <a:r>
              <a:rPr lang="ru-RU" sz="700" i="1" dirty="0" smtClean="0">
                <a:solidFill>
                  <a:schemeClr val="accent1"/>
                </a:solidFill>
              </a:rPr>
              <a:t xml:space="preserve">463 counterparties</a:t>
            </a:r>
            <a:endParaRPr lang="en-US" sz="700" i="1" dirty="0">
              <a:solidFill>
                <a:schemeClr val="accent1"/>
              </a:solidFill>
            </a:endParaRPr>
          </a:p>
        </p:txBody>
      </p:sp>
      <p:sp>
        <p:nvSpPr>
          <p:cNvPr id="54" name="Прямоугольник 53"/>
          <p:cNvSpPr/>
          <p:nvPr/>
        </p:nvSpPr>
        <p:spPr>
          <a:xfrm>
            <a:off x="8316506" y="3874783"/>
            <a:ext cx="3575440" cy="461665"/>
          </a:xfrm>
          <a:prstGeom prst="rect">
            <a:avLst/>
          </a:prstGeom>
        </p:spPr>
        <p:txBody>
          <a:bodyPr wrap="square">
            <a:spAutoFit/>
          </a:bodyPr>
          <a:lstStyle/>
          <a:p>
            <a:pPr marL="180975" lvl="1" indent="-180975">
              <a:spcBef>
                <a:spcPts val="600"/>
              </a:spcBef>
              <a:buClr>
                <a:schemeClr val="accent5">
                  <a:lumMod val="75000"/>
                  <a:lumOff val="25000"/>
                </a:schemeClr>
              </a:buClr>
              <a:buFont typeface="Wingdings" panose="05000000000000000000" pitchFamily="2" charset="2"/>
              <a:buChar char="§"/>
              <a:defRPr sz="1050" b="0" i="0" u="none" strike="noStrike" kern="1200" spc="0" baseline="0">
                <a:solidFill>
                  <a:srgbClr val="32373C"/>
                </a:solidFill>
                <a:latin typeface="+mn-lt"/>
                <a:ea typeface="+mn-ea"/>
                <a:cs typeface="+mn-cs"/>
              </a:defRPr>
            </a:pPr>
            <a:r>
              <a:rPr lang="ru-RU" sz="800" dirty="0"/>
              <a:t xml:space="preserve">Since the beginning of the introduction of the Compliance List (06/01/2023 – 12/31/2025), 3,200 transactions have been carried out for a total amount of $1.408 billion using this special compliance regime.</a:t>
            </a:r>
            <a:r>
              <a:rPr lang="ru-RU" sz="800" b="1" dirty="0"/>
              <a:t/>
            </a:r>
            <a:r>
              <a:rPr lang="ru-RU" sz="800" dirty="0"/>
              <a:t/>
            </a:r>
            <a:r>
              <a:rPr lang="en-US" sz="800" b="1" dirty="0"/>
              <a:t/>
            </a:r>
            <a:r>
              <a:rPr lang="ru-RU" sz="800" b="1" dirty="0"/>
              <a:t/>
            </a:r>
            <a:r>
              <a:rPr lang="ru-RU" sz="800" dirty="0"/>
              <a:t/>
            </a:r>
          </a:p>
        </p:txBody>
      </p:sp>
      <p:graphicFrame>
        <p:nvGraphicFramePr>
          <p:cNvPr id="55" name="Диаграмма 54"/>
          <p:cNvGraphicFramePr/>
          <p:nvPr>
            <p:extLst>
              <p:ext uri="{D42A27DB-BD31-4B8C-83A1-F6EECF244321}">
                <p14:modId xmlns:p14="http://schemas.microsoft.com/office/powerpoint/2010/main" val="1758680750"/>
              </p:ext>
            </p:extLst>
          </p:nvPr>
        </p:nvGraphicFramePr>
        <p:xfrm>
          <a:off x="3073589" y="1751386"/>
          <a:ext cx="5063066" cy="1539632"/>
        </p:xfrm>
        <a:graphic>
          <a:graphicData uri="http://schemas.openxmlformats.org/drawingml/2006/chart">
            <c:chart xmlns:c="http://schemas.openxmlformats.org/drawingml/2006/chart" xmlns:r="http://schemas.openxmlformats.org/officeDocument/2006/relationships" r:id="rId9"/>
          </a:graphicData>
        </a:graphic>
      </p:graphicFrame>
      <p:sp>
        <p:nvSpPr>
          <p:cNvPr id="24" name="TextBox 1"/>
          <p:cNvSpPr txBox="1"/>
          <p:nvPr/>
        </p:nvSpPr>
        <p:spPr>
          <a:xfrm>
            <a:off x="5427706" y="1975551"/>
            <a:ext cx="449540" cy="107722"/>
          </a:xfrm>
          <a:prstGeom prst="rect">
            <a:avLst/>
          </a:prstGeom>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ru-RU" sz="700" dirty="0" smtClean="0">
                <a:solidFill>
                  <a:schemeClr val="accent5">
                    <a:lumMod val="75000"/>
                    <a:lumOff val="25000"/>
                  </a:schemeClr>
                </a:solidFill>
              </a:rPr>
              <a:t xml:space="preserve">Total 131</a:t>
            </a:r>
            <a:endParaRPr lang="ru-RU" sz="700" dirty="0">
              <a:solidFill>
                <a:schemeClr val="accent5">
                  <a:lumMod val="75000"/>
                  <a:lumOff val="25000"/>
                </a:schemeClr>
              </a:solidFill>
            </a:endParaRPr>
          </a:p>
        </p:txBody>
      </p:sp>
      <p:sp>
        <p:nvSpPr>
          <p:cNvPr id="29" name="TextBox 1"/>
          <p:cNvSpPr txBox="1"/>
          <p:nvPr/>
        </p:nvSpPr>
        <p:spPr>
          <a:xfrm>
            <a:off x="6077497" y="2110489"/>
            <a:ext cx="449540" cy="107722"/>
          </a:xfrm>
          <a:prstGeom prst="rect">
            <a:avLst/>
          </a:prstGeom>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ru-RU" sz="700" dirty="0" smtClean="0">
                <a:solidFill>
                  <a:schemeClr val="accent5">
                    <a:lumMod val="75000"/>
                    <a:lumOff val="25000"/>
                  </a:schemeClr>
                </a:solidFill>
              </a:rPr>
              <a:t xml:space="preserve">Total 56</a:t>
            </a:r>
            <a:endParaRPr lang="ru-RU" sz="700" dirty="0">
              <a:solidFill>
                <a:schemeClr val="accent5">
                  <a:lumMod val="75000"/>
                  <a:lumOff val="25000"/>
                </a:schemeClr>
              </a:solidFill>
            </a:endParaRPr>
          </a:p>
        </p:txBody>
      </p:sp>
      <p:sp>
        <p:nvSpPr>
          <p:cNvPr id="31" name="TextBox 1"/>
          <p:cNvSpPr txBox="1"/>
          <p:nvPr/>
        </p:nvSpPr>
        <p:spPr>
          <a:xfrm>
            <a:off x="7369722" y="1867829"/>
            <a:ext cx="449540" cy="107722"/>
          </a:xfrm>
          <a:prstGeom prst="rect">
            <a:avLst/>
          </a:prstGeom>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ru-RU" sz="700" dirty="0" smtClean="0">
                <a:solidFill>
                  <a:schemeClr val="accent5">
                    <a:lumMod val="75000"/>
                    <a:lumOff val="25000"/>
                  </a:schemeClr>
                </a:solidFill>
              </a:rPr>
              <a:t xml:space="preserve">Total 95</a:t>
            </a:r>
            <a:endParaRPr lang="ru-RU" sz="700" dirty="0">
              <a:solidFill>
                <a:schemeClr val="accent5">
                  <a:lumMod val="75000"/>
                  <a:lumOff val="25000"/>
                </a:schemeClr>
              </a:solidFill>
            </a:endParaRPr>
          </a:p>
        </p:txBody>
      </p:sp>
      <p:sp>
        <p:nvSpPr>
          <p:cNvPr id="34" name="TextBox 1"/>
          <p:cNvSpPr txBox="1"/>
          <p:nvPr/>
        </p:nvSpPr>
        <p:spPr>
          <a:xfrm>
            <a:off x="3767263" y="2375483"/>
            <a:ext cx="87187" cy="107722"/>
          </a:xfrm>
          <a:prstGeom prst="rect">
            <a:avLst/>
          </a:prstGeom>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ru-RU" sz="700" dirty="0" smtClean="0">
                <a:solidFill>
                  <a:schemeClr val="accent1"/>
                </a:solidFill>
              </a:rPr>
              <a:t>4</a:t>
            </a:r>
            <a:endParaRPr lang="ru-RU" sz="700" dirty="0">
              <a:solidFill>
                <a:schemeClr val="accent1"/>
              </a:solidFill>
            </a:endParaRPr>
          </a:p>
        </p:txBody>
      </p:sp>
    </p:spTree>
    <p:extLst>
      <p:ext uri="{BB962C8B-B14F-4D97-AF65-F5344CB8AC3E}">
        <p14:creationId xmlns:p14="http://schemas.microsoft.com/office/powerpoint/2010/main" val="2995669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95B3345D-96AC-411A-A36E-40E778055E66}"/>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3432"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95B3345D-96AC-411A-A36E-40E778055E6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BF7278A-CA96-4FB6-A399-7DB15658E771}"/>
              </a:ext>
            </a:extLst>
          </p:cNvPr>
          <p:cNvSpPr>
            <a:spLocks noGrp="1"/>
          </p:cNvSpPr>
          <p:nvPr>
            <p:ph type="title"/>
          </p:nvPr>
        </p:nvSpPr>
        <p:spPr/>
        <p:txBody>
          <a:bodyPr vert="horz"/>
          <a:lstStyle/>
          <a:p>
            <a:r>
              <a:rPr lang="ru" dirty="0"/>
              <a:t>Прил.</a:t>
            </a:r>
            <a:r>
              <a:rPr lang="en-US" dirty="0"/>
              <a:t> </a:t>
            </a:r>
            <a:r>
              <a:rPr lang="en-US" dirty="0" smtClean="0"/>
              <a:t>2</a:t>
            </a:r>
            <a:r>
              <a:rPr lang="ru" dirty="0" smtClean="0"/>
              <a:t>: </a:t>
            </a:r>
            <a:r>
              <a:rPr lang="ru" dirty="0"/>
              <a:t>Управление рисками третьих сторон</a:t>
            </a:r>
            <a:r>
              <a:rPr lang="en-US" dirty="0"/>
              <a:t/>
            </a:r>
            <a:br>
              <a:rPr lang="en-US" dirty="0"/>
            </a:br>
            <a:r>
              <a:rPr lang="ru" dirty="0">
                <a:solidFill>
                  <a:schemeClr val="tx1"/>
                </a:solidFill>
              </a:rPr>
              <a:t>Результаты самотестирования Комплаенс Листа (на основе </a:t>
            </a:r>
            <a:r>
              <a:rPr lang="ru-RU" dirty="0">
                <a:solidFill>
                  <a:schemeClr val="tx1"/>
                </a:solidFill>
              </a:rPr>
              <a:t>Схемы</a:t>
            </a:r>
            <a:r>
              <a:rPr lang="ru" dirty="0">
                <a:solidFill>
                  <a:schemeClr val="tx1"/>
                </a:solidFill>
              </a:rPr>
              <a:t> гарантий) - </a:t>
            </a:r>
            <a:r>
              <a:rPr lang="ru" i="1" dirty="0">
                <a:solidFill>
                  <a:schemeClr val="tx1"/>
                </a:solidFill>
              </a:rPr>
              <a:t>продолжение</a:t>
            </a:r>
            <a:endParaRPr lang="en-US" dirty="0"/>
          </a:p>
        </p:txBody>
      </p:sp>
      <p:sp>
        <p:nvSpPr>
          <p:cNvPr id="13" name="Прямоугольник 12"/>
          <p:cNvSpPr/>
          <p:nvPr/>
        </p:nvSpPr>
        <p:spPr>
          <a:xfrm>
            <a:off x="317497" y="6161338"/>
            <a:ext cx="5346335"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 xml:space="preserve">Storage of supporting materials: Compliance 2.2 system / folders on OMEGA (Perimeter Kazakhstan server)</a:t>
            </a:r>
            <a:r>
              <a:rPr lang="en-US" sz="700" i="1" dirty="0">
                <a:solidFill>
                  <a:schemeClr val="accent5">
                    <a:lumMod val="75000"/>
                    <a:lumOff val="25000"/>
                  </a:schemeClr>
                </a:solidFill>
              </a:rPr>
              <a:t/>
            </a:r>
            <a:r>
              <a:rPr lang="ru-RU" sz="700" i="1" dirty="0">
                <a:solidFill>
                  <a:schemeClr val="accent5">
                    <a:lumMod val="75000"/>
                    <a:lumOff val="25000"/>
                  </a:schemeClr>
                </a:solidFill>
              </a:rPr>
              <a:t/>
            </a:r>
          </a:p>
        </p:txBody>
      </p:sp>
      <p:cxnSp>
        <p:nvCxnSpPr>
          <p:cNvPr id="14" name="Straight Connector 5">
            <a:extLst>
              <a:ext uri="{FF2B5EF4-FFF2-40B4-BE49-F238E27FC236}">
                <a16:creationId xmlns:a16="http://schemas.microsoft.com/office/drawing/2014/main" id="{37AC65D3-3B11-4467-826F-EFB845FF8115}"/>
              </a:ext>
            </a:extLst>
          </p:cNvPr>
          <p:cNvCxnSpPr/>
          <p:nvPr/>
        </p:nvCxnSpPr>
        <p:spPr>
          <a:xfrm>
            <a:off x="317497" y="1113482"/>
            <a:ext cx="11520000" cy="0"/>
          </a:xfrm>
          <a:prstGeom prst="line">
            <a:avLst/>
          </a:prstGeom>
          <a:noFill/>
          <a:ln w="952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graphicFrame>
        <p:nvGraphicFramePr>
          <p:cNvPr id="15" name="Table 3">
            <a:extLst>
              <a:ext uri="{FF2B5EF4-FFF2-40B4-BE49-F238E27FC236}">
                <a16:creationId xmlns:a16="http://schemas.microsoft.com/office/drawing/2014/main" id="{37F28E89-C8B4-4240-9ECE-1DA70C5E405A}"/>
              </a:ext>
            </a:extLst>
          </p:cNvPr>
          <p:cNvGraphicFramePr>
            <a:graphicFrameLocks noGrp="1"/>
          </p:cNvGraphicFramePr>
          <p:nvPr>
            <p:extLst>
              <p:ext uri="{D42A27DB-BD31-4B8C-83A1-F6EECF244321}">
                <p14:modId xmlns:p14="http://schemas.microsoft.com/office/powerpoint/2010/main" val="1865068515"/>
              </p:ext>
            </p:extLst>
          </p:nvPr>
        </p:nvGraphicFramePr>
        <p:xfrm>
          <a:off x="317497" y="1287706"/>
          <a:ext cx="11519313" cy="4506154"/>
        </p:xfrm>
        <a:graphic>
          <a:graphicData uri="http://schemas.openxmlformats.org/drawingml/2006/table">
            <a:tbl>
              <a:tblPr>
                <a:tableStyleId>{5C22544A-7EE6-4342-B048-85BDC9FD1C3A}</a:tableStyleId>
              </a:tblPr>
              <a:tblGrid>
                <a:gridCol w="252000">
                  <a:extLst>
                    <a:ext uri="{9D8B030D-6E8A-4147-A177-3AD203B41FA5}">
                      <a16:colId xmlns:a16="http://schemas.microsoft.com/office/drawing/2014/main" val="2320202936"/>
                    </a:ext>
                  </a:extLst>
                </a:gridCol>
                <a:gridCol w="2051313">
                  <a:extLst>
                    <a:ext uri="{9D8B030D-6E8A-4147-A177-3AD203B41FA5}">
                      <a16:colId xmlns:a16="http://schemas.microsoft.com/office/drawing/2014/main" val="3877538008"/>
                    </a:ext>
                  </a:extLst>
                </a:gridCol>
                <a:gridCol w="252000">
                  <a:extLst>
                    <a:ext uri="{9D8B030D-6E8A-4147-A177-3AD203B41FA5}">
                      <a16:colId xmlns:a16="http://schemas.microsoft.com/office/drawing/2014/main" val="3245716687"/>
                    </a:ext>
                  </a:extLst>
                </a:gridCol>
                <a:gridCol w="8964000">
                  <a:extLst>
                    <a:ext uri="{9D8B030D-6E8A-4147-A177-3AD203B41FA5}">
                      <a16:colId xmlns:a16="http://schemas.microsoft.com/office/drawing/2014/main" val="4039076697"/>
                    </a:ext>
                  </a:extLst>
                </a:gridCol>
              </a:tblGrid>
              <a:tr h="432856">
                <a:tc>
                  <a:txBody>
                    <a:bodyPr/>
                    <a:lstStyle/>
                    <a:p>
                      <a:pPr algn="l" fontAlgn="t"/>
                      <a:endParaRPr lang="en-US" sz="1000" b="0" i="0" u="none" strike="noStrike" dirty="0">
                        <a:solidFill>
                          <a:schemeClr val="accent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ru-RU" sz="1000" b="1" u="none" strike="noStrike" dirty="0">
                          <a:solidFill>
                            <a:schemeClr val="accent5">
                              <a:lumMod val="75000"/>
                              <a:lumOff val="25000"/>
                            </a:schemeClr>
                          </a:solidFill>
                          <a:effectLst/>
                        </a:rPr>
                        <a:t xml:space="preserve">Third Party Risk Management</a:t>
                      </a:r>
                      <a:endParaRPr lang="en-US" sz="1000" b="1" i="0" u="none" strike="noStrike" dirty="0">
                        <a:solidFill>
                          <a:schemeClr val="accent5">
                            <a:lumMod val="75000"/>
                            <a:lumOff val="25000"/>
                          </a:schemeClr>
                        </a:solidFill>
                        <a:effectLst/>
                        <a:latin typeface="Calibri" panose="020F0502020204030204" pitchFamily="34" charset="0"/>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1000" b="1" i="0" u="none" strike="noStrike" dirty="0">
                        <a:solidFill>
                          <a:schemeClr val="accent1"/>
                        </a:solidFill>
                        <a:effectLst/>
                        <a:latin typeface="Calibri" panose="020F0502020204030204" pitchFamily="34" charset="0"/>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1000" b="1" i="0" u="none" strike="noStrike" dirty="0">
                        <a:solidFill>
                          <a:schemeClr val="accent1"/>
                        </a:solidFill>
                        <a:effectLst/>
                        <a:latin typeface="Calibri" panose="020F0502020204030204" pitchFamily="34" charset="0"/>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950988"/>
                  </a:ext>
                </a:extLst>
              </a:tr>
              <a:tr h="257784">
                <a:tc>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1000" b="1" i="0" u="none" strike="noStrike" dirty="0">
                          <a:solidFill>
                            <a:schemeClr val="tx1"/>
                          </a:solidFill>
                          <a:effectLst/>
                          <a:latin typeface="+mn-lt"/>
                        </a:rPr>
                        <a:t xml:space="preserve">S. “Compliance Sheet” (Mining)</a:t>
                      </a:r>
                      <a:r>
                        <a:rPr lang="en-US" sz="1000" b="1" i="0" u="none" strike="noStrike" dirty="0">
                          <a:solidFill>
                            <a:schemeClr val="tx1"/>
                          </a:solidFill>
                          <a:effectLst/>
                          <a:latin typeface="+mn-lt"/>
                        </a:rPr>
                        <a:t/>
                      </a:r>
                      <a:r>
                        <a:rPr lang="ru-RU" sz="1000" b="1" i="0" u="none" strike="noStrike" dirty="0">
                          <a:solidFill>
                            <a:schemeClr val="tx1"/>
                          </a:solidFill>
                          <a:effectLst/>
                          <a:latin typeface="+mn-lt"/>
                        </a:rPr>
                        <a:t/>
                      </a:r>
                      <a:r>
                        <a:rPr lang="ru-RU" sz="1000" b="1" i="0" u="none" strike="noStrike" baseline="0" dirty="0">
                          <a:solidFill>
                            <a:schemeClr val="tx1"/>
                          </a:solidFill>
                          <a:effectLst/>
                          <a:latin typeface="+mn-lt"/>
                        </a:rPr>
                        <a:t/>
                      </a:r>
                      <a:r>
                        <a:rPr lang="en-US" sz="1000" b="1" i="0" u="none" strike="noStrike" baseline="0" dirty="0">
                          <a:solidFill>
                            <a:schemeClr val="tx1"/>
                          </a:solidFill>
                          <a:effectLst/>
                          <a:latin typeface="+mn-lt"/>
                        </a:rPr>
                        <a:t/>
                      </a: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6973678"/>
                  </a:ext>
                </a:extLst>
              </a:tr>
              <a:tr h="362227">
                <a:tc>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spcBef>
                          <a:spcPts val="600"/>
                        </a:spcBef>
                        <a:buClr>
                          <a:schemeClr val="accent1"/>
                        </a:buClr>
                        <a:defRPr sz="1050" b="0" i="0" u="none" strike="noStrike" kern="1200" spc="0" baseline="0">
                          <a:solidFill>
                            <a:srgbClr val="32373C"/>
                          </a:solidFill>
                          <a:latin typeface="+mn-lt"/>
                          <a:ea typeface="+mn-ea"/>
                          <a:cs typeface="+mn-cs"/>
                        </a:defRPr>
                      </a:pPr>
                      <a:r>
                        <a:rPr lang="ru-RU" sz="800" i="1" dirty="0"/>
                        <a:t xml:space="preserve">(continuation)</a:t>
                      </a:r>
                    </a:p>
                    <a:p>
                      <a:endParaRPr lang="ru-RU" sz="800" dirty="0"/>
                    </a:p>
                    <a:p>
                      <a:endParaRPr lang="ru-RU" sz="800" b="1" dirty="0"/>
                    </a:p>
                    <a:p>
                      <a:endParaRPr lang="ru-RU" sz="800" b="1" dirty="0"/>
                    </a:p>
                    <a:p>
                      <a:r>
                        <a:rPr lang="ru-RU" sz="800" b="1" dirty="0"/>
                        <a:t xml:space="preserve">Self-testing of controls</a:t>
                      </a:r>
                      <a:r>
                        <a:rPr lang="ru-RU" sz="800" b="1" baseline="0" dirty="0"/>
                        <a:t/>
                      </a:r>
                      <a:endParaRPr lang="ru-RU" sz="800" b="1" dirty="0"/>
                    </a:p>
                    <a:p>
                      <a:pPr marL="171450" indent="-171450" algn="l" defTabSz="583170" rtl="0" eaLnBrk="1" latinLnBrk="0" hangingPunct="1">
                        <a:spcBef>
                          <a:spcPts val="600"/>
                        </a:spcBef>
                        <a:buClr>
                          <a:schemeClr val="accent5">
                            <a:lumMod val="75000"/>
                            <a:lumOff val="25000"/>
                          </a:schemeClr>
                        </a:buClr>
                        <a:buFont typeface="Wingdings" panose="05000000000000000000" pitchFamily="2" charset="2"/>
                        <a:buChar char="§"/>
                        <a:defRPr sz="1050" b="0" i="0" u="none" strike="noStrike" kern="1200" spc="0" baseline="0">
                          <a:solidFill>
                            <a:srgbClr val="32373C"/>
                          </a:solidFill>
                          <a:latin typeface="+mn-lt"/>
                          <a:ea typeface="+mn-ea"/>
                          <a:cs typeface="+mn-cs"/>
                        </a:defRPr>
                      </a:pPr>
                      <a:r>
                        <a:rPr lang="ru-RU" sz="800" b="0" i="0" u="none" strike="noStrike" kern="1200" spc="0" baseline="0" dirty="0" smtClean="0">
                          <a:solidFill>
                            <a:schemeClr val="tx1"/>
                          </a:solidFill>
                          <a:latin typeface="+mn-lt"/>
                          <a:ea typeface="+mn-ea"/>
                          <a:cs typeface="+mn-cs"/>
                        </a:rPr>
                        <a:t xml:space="preserve">Period: 10/01/2025 – December 31, 2025</a:t>
                      </a:r>
                      <a:r>
                        <a:rPr lang="ru-RU" sz="800" b="0" i="0" u="none" strike="noStrike" kern="1200" spc="0" baseline="0" dirty="0" smtClean="0">
                          <a:solidFill>
                            <a:srgbClr val="32373C"/>
                          </a:solidFill>
                          <a:latin typeface="+mn-lt"/>
                          <a:ea typeface="+mn-ea"/>
                          <a:cs typeface="+mn-cs"/>
                        </a:rPr>
                        <a:t/>
                      </a:r>
                    </a:p>
                    <a:p>
                      <a:pPr marL="171450" indent="-171450" algn="l" defTabSz="583170" rtl="0" eaLnBrk="1" latinLnBrk="0" hangingPunct="1">
                        <a:spcBef>
                          <a:spcPts val="600"/>
                        </a:spcBef>
                        <a:buClr>
                          <a:schemeClr val="accent5">
                            <a:lumMod val="75000"/>
                            <a:lumOff val="25000"/>
                          </a:schemeClr>
                        </a:buClr>
                        <a:buFont typeface="Wingdings" panose="05000000000000000000" pitchFamily="2" charset="2"/>
                        <a:buChar char="§"/>
                        <a:defRPr sz="1050" b="0" i="0" u="none" strike="noStrike" kern="1200" spc="0" baseline="0">
                          <a:solidFill>
                            <a:srgbClr val="32373C"/>
                          </a:solidFill>
                          <a:latin typeface="+mn-lt"/>
                          <a:ea typeface="+mn-ea"/>
                          <a:cs typeface="+mn-cs"/>
                        </a:defRPr>
                      </a:pPr>
                      <a:r>
                        <a:rPr lang="ru-RU" sz="800" b="0" i="0" u="none" strike="noStrike" kern="1200" spc="0" baseline="0" dirty="0" smtClean="0">
                          <a:solidFill>
                            <a:srgbClr val="32373C"/>
                          </a:solidFill>
                          <a:latin typeface="+mn-lt"/>
                          <a:ea typeface="+mn-ea"/>
                          <a:cs typeface="+mn-cs"/>
                        </a:rPr>
                        <a:t xml:space="preserve">Self-testing performed in accordance with the requirements of the Compliance Sheet Guarantee Scheme</a:t>
                      </a:r>
                      <a:endParaRPr lang="ru-RU" sz="800" b="0" i="0" u="none" strike="noStrike" kern="1200" spc="0" baseline="0" dirty="0">
                        <a:solidFill>
                          <a:schemeClr val="tx1"/>
                        </a:solidFill>
                        <a:latin typeface="+mn-lt"/>
                        <a:ea typeface="+mn-ea"/>
                        <a:cs typeface="+mn-cs"/>
                      </a:endParaRPr>
                    </a:p>
                  </a:txBody>
                  <a:tcPr marL="72000" marR="72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171450" indent="-171450" algn="l" defTabSz="583170" rtl="0" eaLnBrk="1" latinLnBrk="0" hangingPunct="1">
                        <a:spcBef>
                          <a:spcPts val="600"/>
                        </a:spcBef>
                        <a:buClr>
                          <a:schemeClr val="accent1"/>
                        </a:buClr>
                        <a:buFont typeface="Wingdings" panose="05000000000000000000" pitchFamily="2" charset="2"/>
                        <a:buChar char="§"/>
                        <a:defRPr sz="1050" b="0" i="0" u="none" strike="noStrike" kern="1200" spc="0" baseline="0">
                          <a:solidFill>
                            <a:srgbClr val="32373C"/>
                          </a:solidFill>
                          <a:latin typeface="+mn-lt"/>
                          <a:ea typeface="+mn-ea"/>
                          <a:cs typeface="+mn-cs"/>
                        </a:defRPr>
                      </a:pPr>
                      <a:endParaRPr lang="ru-RU" sz="800" b="0" i="0" u="none" strike="noStrike" kern="1200" spc="0" baseline="0" dirty="0">
                        <a:solidFill>
                          <a:schemeClr val="tx1"/>
                        </a:solidFill>
                        <a:latin typeface="+mn-lt"/>
                        <a:ea typeface="+mn-ea"/>
                        <a:cs typeface="+mn-cs"/>
                      </a:endParaRP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171450" indent="-171450" algn="l" defTabSz="583170" rtl="0" eaLnBrk="1" latinLnBrk="0" hangingPunct="1">
                        <a:spcBef>
                          <a:spcPts val="600"/>
                        </a:spcBef>
                        <a:buClr>
                          <a:schemeClr val="accent1"/>
                        </a:buClr>
                        <a:buFont typeface="Wingdings" panose="05000000000000000000" pitchFamily="2" charset="2"/>
                        <a:buChar char="§"/>
                        <a:defRPr sz="1050" b="0" i="0" u="none" strike="noStrike" kern="1200" spc="0" baseline="0">
                          <a:solidFill>
                            <a:srgbClr val="32373C"/>
                          </a:solidFill>
                          <a:latin typeface="+mn-lt"/>
                          <a:ea typeface="+mn-ea"/>
                          <a:cs typeface="+mn-cs"/>
                        </a:defRPr>
                      </a:pPr>
                      <a:endParaRPr lang="ru-RU" sz="800" b="0" i="0" u="none" strike="noStrike" kern="1200" spc="0" baseline="0" dirty="0">
                        <a:solidFill>
                          <a:schemeClr val="tx1"/>
                        </a:solidFill>
                        <a:latin typeface="+mn-lt"/>
                        <a:ea typeface="+mn-ea"/>
                        <a:cs typeface="+mn-cs"/>
                      </a:endParaRP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1461243"/>
                  </a:ext>
                </a:extLst>
              </a:tr>
              <a:tr h="362227">
                <a:tc>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vMerge="1">
                  <a:txBody>
                    <a:bodyPr/>
                    <a:lstStyle/>
                    <a:p>
                      <a:endParaRPr lang="ru-RU"/>
                    </a:p>
                  </a:txBody>
                  <a:tcPr/>
                </a:tc>
                <a:extLst>
                  <a:ext uri="{0D108BD9-81ED-4DB2-BD59-A6C34878D82A}">
                    <a16:rowId xmlns:a16="http://schemas.microsoft.com/office/drawing/2014/main" val="2996761245"/>
                  </a:ext>
                </a:extLst>
              </a:tr>
              <a:tr h="721336">
                <a:tc>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vMerge="1">
                  <a:txBody>
                    <a:bodyPr/>
                    <a:lstStyle/>
                    <a:p>
                      <a:endParaRPr lang="ru-RU"/>
                    </a:p>
                  </a:txBody>
                  <a:tcPr/>
                </a:tc>
                <a:extLst>
                  <a:ext uri="{0D108BD9-81ED-4DB2-BD59-A6C34878D82A}">
                    <a16:rowId xmlns:a16="http://schemas.microsoft.com/office/drawing/2014/main" val="1120618130"/>
                  </a:ext>
                </a:extLst>
              </a:tr>
              <a:tr h="2369724">
                <a:tc>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800" b="1" dirty="0">
                        <a:solidFill>
                          <a:schemeClr val="accent1"/>
                        </a:solidFill>
                      </a:endParaRPr>
                    </a:p>
                    <a:p>
                      <a:r>
                        <a:rPr lang="ru-RU" sz="800" b="1" dirty="0">
                          <a:solidFill>
                            <a:schemeClr val="accent5">
                              <a:lumMod val="75000"/>
                              <a:lumOff val="25000"/>
                            </a:schemeClr>
                          </a:solidFill>
                        </a:rPr>
                        <a:t xml:space="preserve">Stage 1. Transaction monitoring</a:t>
                      </a:r>
                    </a:p>
                    <a:p>
                      <a:pPr marL="171450" indent="-171450" algn="l" defTabSz="583170" rtl="0" eaLnBrk="1" latinLnBrk="0" hangingPunct="1">
                        <a:spcBef>
                          <a:spcPts val="600"/>
                        </a:spcBef>
                        <a:buClr>
                          <a:schemeClr val="accent5">
                            <a:lumMod val="75000"/>
                            <a:lumOff val="25000"/>
                          </a:schemeClr>
                        </a:buClr>
                        <a:buFont typeface="Wingdings" panose="05000000000000000000" pitchFamily="2" charset="2"/>
                        <a:buChar char="§"/>
                        <a:defRPr sz="1050" b="0" i="0" u="none" strike="noStrike" kern="1200" spc="0" baseline="0">
                          <a:solidFill>
                            <a:srgbClr val="32373C"/>
                          </a:solidFill>
                          <a:latin typeface="+mn-lt"/>
                          <a:ea typeface="+mn-ea"/>
                          <a:cs typeface="+mn-cs"/>
                        </a:defRPr>
                      </a:pPr>
                      <a:r>
                        <a:rPr lang="ru-RU" sz="800" b="0" i="0" u="none" strike="noStrike" kern="1200" spc="0" baseline="0" dirty="0">
                          <a:solidFill>
                            <a:schemeClr val="tx1"/>
                          </a:solidFill>
                          <a:latin typeface="+mn-lt"/>
                          <a:ea typeface="+mn-ea"/>
                          <a:cs typeface="+mn-cs"/>
                        </a:rPr>
                        <a:t xml:space="preserve">Analysis of completed transactions revealed:</a:t>
                      </a:r>
                    </a:p>
                    <a:p>
                      <a:pPr marL="349250" marR="0" lvl="1" indent="-17145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q"/>
                        <a:tabLst/>
                        <a:defRPr/>
                      </a:pPr>
                      <a:r>
                        <a:rPr lang="ru-RU" sz="800" b="1" dirty="0" smtClean="0">
                          <a:solidFill>
                            <a:schemeClr val="tx1"/>
                          </a:solidFill>
                        </a:rPr>
                        <a:t xml:space="preserve">4 sq. 2025 - 3 violations of CL criteria (0.66% of 452 transactions carried out using CL)</a:t>
                      </a:r>
                      <a:r>
                        <a:rPr lang="ru-RU" sz="800" b="0" i="0" u="none" strike="noStrike" kern="1200" spc="0" baseline="0" dirty="0" smtClean="0">
                          <a:solidFill>
                            <a:schemeClr val="tx1"/>
                          </a:solidFill>
                          <a:latin typeface="+mn-lt"/>
                          <a:ea typeface="+mn-ea"/>
                          <a:cs typeface="+mn-cs"/>
                        </a:rPr>
                        <a:t/>
                      </a:r>
                      <a:endParaRPr lang="ru-RU" sz="800" b="0" dirty="0" smtClean="0">
                        <a:solidFill>
                          <a:schemeClr val="tx1"/>
                        </a:solidFill>
                      </a:endParaRPr>
                    </a:p>
                    <a:p>
                      <a:pPr marL="171450" marR="0" lvl="0" indent="-171450" algn="l" defTabSz="583170" rtl="0" eaLnBrk="1" fontAlgn="auto" latinLnBrk="0" hangingPunct="1">
                        <a:lnSpc>
                          <a:spcPct val="100000"/>
                        </a:lnSpc>
                        <a:spcBef>
                          <a:spcPts val="600"/>
                        </a:spcBef>
                        <a:spcAft>
                          <a:spcPts val="0"/>
                        </a:spcAft>
                        <a:buClr>
                          <a:schemeClr val="accent5">
                            <a:lumMod val="75000"/>
                            <a:lumOff val="25000"/>
                          </a:schemeClr>
                        </a:buClr>
                        <a:buSzTx/>
                        <a:buFont typeface="Wingdings" panose="05000000000000000000" pitchFamily="2" charset="2"/>
                        <a:buChar char="§"/>
                        <a:tabLst/>
                        <a:defRPr sz="1050" b="0" i="0" u="none" strike="noStrike" kern="1200" spc="0" baseline="0">
                          <a:solidFill>
                            <a:srgbClr val="32373C"/>
                          </a:solidFill>
                          <a:latin typeface="+mn-lt"/>
                          <a:ea typeface="+mn-ea"/>
                          <a:cs typeface="+mn-cs"/>
                        </a:defRPr>
                      </a:pPr>
                      <a:r>
                        <a:rPr lang="ru-RU" sz="800" b="0" i="0" u="none" strike="noStrike" kern="1200" spc="0" baseline="0" dirty="0" smtClean="0">
                          <a:solidFill>
                            <a:schemeClr val="tx1"/>
                          </a:solidFill>
                          <a:latin typeface="+mn-lt"/>
                          <a:ea typeface="+mn-ea"/>
                          <a:cs typeface="+mn-cs"/>
                        </a:rPr>
                        <a:t xml:space="preserve">Mitigation measures against identified violations in the 4th quarter. 2025 presented on the next slide.</a:t>
                      </a:r>
                      <a:r>
                        <a:rPr lang="ru-RU" sz="800" b="0" i="0" u="none" strike="noStrike" kern="1200" spc="0" baseline="0" dirty="0">
                          <a:solidFill>
                            <a:schemeClr val="tx1"/>
                          </a:solidFill>
                          <a:latin typeface="+mn-lt"/>
                          <a:ea typeface="+mn-ea"/>
                          <a:cs typeface="+mn-cs"/>
                        </a:rPr>
                        <a:t/>
                      </a:r>
                      <a:r>
                        <a:rPr lang="ru-RU" sz="800" b="0" i="0" u="none" strike="noStrike" kern="1200" spc="0" baseline="0" dirty="0" smtClean="0">
                          <a:solidFill>
                            <a:schemeClr val="tx1"/>
                          </a:solidFill>
                          <a:latin typeface="+mn-lt"/>
                          <a:ea typeface="+mn-ea"/>
                          <a:cs typeface="+mn-cs"/>
                        </a:rPr>
                        <a:t/>
                      </a:r>
                      <a:r>
                        <a:rPr lang="ru-RU" sz="800" b="0" i="0" u="none" strike="noStrike" kern="1200" spc="0" baseline="0" dirty="0">
                          <a:solidFill>
                            <a:schemeClr val="tx1"/>
                          </a:solidFill>
                          <a:latin typeface="+mn-lt"/>
                          <a:ea typeface="+mn-ea"/>
                          <a:cs typeface="+mn-cs"/>
                        </a:rPr>
                        <a:t/>
                      </a: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66700" indent="-177800">
                        <a:spcBef>
                          <a:spcPts val="600"/>
                        </a:spcBef>
                        <a:buClr>
                          <a:schemeClr val="accent1"/>
                        </a:buClr>
                        <a:buFont typeface="Wingdings" panose="05000000000000000000" pitchFamily="2" charset="2"/>
                        <a:buChar char="§"/>
                      </a:pPr>
                      <a:endParaRPr lang="ru-RU" sz="800" dirty="0">
                        <a:cs typeface="Arial" panose="020B0604020202020204" pitchFamily="34" charset="0"/>
                      </a:endParaRP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indent="0">
                        <a:spcBef>
                          <a:spcPts val="600"/>
                        </a:spcBef>
                        <a:buClr>
                          <a:schemeClr val="accent1"/>
                        </a:buClr>
                        <a:buFont typeface="Wingdings" panose="05000000000000000000" pitchFamily="2" charset="2"/>
                        <a:buNone/>
                      </a:pPr>
                      <a:endParaRPr lang="ru-RU" sz="800" dirty="0">
                        <a:cs typeface="Arial" panose="020B0604020202020204" pitchFamily="34" charset="0"/>
                      </a:endParaRP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8829011"/>
                  </a:ext>
                </a:extLst>
              </a:tr>
            </a:tbl>
          </a:graphicData>
        </a:graphic>
      </p:graphicFrame>
      <p:cxnSp>
        <p:nvCxnSpPr>
          <p:cNvPr id="16" name="Straight Connector 5">
            <a:extLst>
              <a:ext uri="{FF2B5EF4-FFF2-40B4-BE49-F238E27FC236}">
                <a16:creationId xmlns:a16="http://schemas.microsoft.com/office/drawing/2014/main" id="{37AC65D3-3B11-4467-826F-EFB845FF8115}"/>
              </a:ext>
            </a:extLst>
          </p:cNvPr>
          <p:cNvCxnSpPr/>
          <p:nvPr/>
        </p:nvCxnSpPr>
        <p:spPr>
          <a:xfrm>
            <a:off x="317497" y="1113482"/>
            <a:ext cx="11520000" cy="0"/>
          </a:xfrm>
          <a:prstGeom prst="line">
            <a:avLst/>
          </a:prstGeom>
          <a:noFill/>
          <a:ln w="952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graphicFrame>
        <p:nvGraphicFramePr>
          <p:cNvPr id="17" name="Таблица 16"/>
          <p:cNvGraphicFramePr>
            <a:graphicFrameLocks noGrp="1"/>
          </p:cNvGraphicFramePr>
          <p:nvPr>
            <p:extLst>
              <p:ext uri="{D42A27DB-BD31-4B8C-83A1-F6EECF244321}">
                <p14:modId xmlns:p14="http://schemas.microsoft.com/office/powerpoint/2010/main" val="3414056743"/>
              </p:ext>
            </p:extLst>
          </p:nvPr>
        </p:nvGraphicFramePr>
        <p:xfrm>
          <a:off x="2904482" y="1287706"/>
          <a:ext cx="8932327" cy="2072640"/>
        </p:xfrm>
        <a:graphic>
          <a:graphicData uri="http://schemas.openxmlformats.org/drawingml/2006/table">
            <a:tbl>
              <a:tblPr/>
              <a:tblGrid>
                <a:gridCol w="255442">
                  <a:extLst>
                    <a:ext uri="{9D8B030D-6E8A-4147-A177-3AD203B41FA5}">
                      <a16:colId xmlns:a16="http://schemas.microsoft.com/office/drawing/2014/main" val="3310980098"/>
                    </a:ext>
                  </a:extLst>
                </a:gridCol>
                <a:gridCol w="1912613">
                  <a:extLst>
                    <a:ext uri="{9D8B030D-6E8A-4147-A177-3AD203B41FA5}">
                      <a16:colId xmlns:a16="http://schemas.microsoft.com/office/drawing/2014/main" val="1332648285"/>
                    </a:ext>
                  </a:extLst>
                </a:gridCol>
                <a:gridCol w="2558812">
                  <a:extLst>
                    <a:ext uri="{9D8B030D-6E8A-4147-A177-3AD203B41FA5}">
                      <a16:colId xmlns:a16="http://schemas.microsoft.com/office/drawing/2014/main" val="3701381222"/>
                    </a:ext>
                  </a:extLst>
                </a:gridCol>
                <a:gridCol w="4205460">
                  <a:extLst>
                    <a:ext uri="{9D8B030D-6E8A-4147-A177-3AD203B41FA5}">
                      <a16:colId xmlns:a16="http://schemas.microsoft.com/office/drawing/2014/main" val="3936255873"/>
                    </a:ext>
                  </a:extLst>
                </a:gridCol>
              </a:tblGrid>
              <a:tr h="205489">
                <a:tc>
                  <a:txBody>
                    <a:bodyPr/>
                    <a:lstStyle/>
                    <a:p>
                      <a:pPr algn="ctr"/>
                      <a:endParaRPr lang="ru-RU" sz="800" b="1" dirty="0">
                        <a:solidFill>
                          <a:schemeClr val="bg1"/>
                        </a:solidFill>
                      </a:endParaRPr>
                    </a:p>
                  </a:txBody>
                  <a:tcPr>
                    <a:lnL w="12700" cmpd="sng">
                      <a:noFill/>
                      <a:prstDash val="solid"/>
                    </a:lnL>
                    <a:lnR w="6350" cap="flat" cmpd="sng" algn="ctr">
                      <a:solidFill>
                        <a:schemeClr val="bg1"/>
                      </a:solidFill>
                      <a:prstDash val="solid"/>
                      <a:round/>
                      <a:headEnd type="none" w="med" len="med"/>
                      <a:tailEnd type="none" w="med" len="med"/>
                    </a:lnR>
                    <a:lnT w="12700" cmpd="sng">
                      <a:noFill/>
                      <a:prstDash val="soli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ru-RU" sz="800" b="1" dirty="0">
                          <a:solidFill>
                            <a:schemeClr val="bg1"/>
                          </a:solidFill>
                        </a:rPr>
                        <a:t xml:space="preserve">Stage</a:t>
                      </a: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prstDash val="soli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ru-RU" sz="800" b="1" dirty="0">
                          <a:solidFill>
                            <a:schemeClr val="bg1"/>
                          </a:solidFill>
                        </a:rPr>
                        <a:t xml:space="preserve">Action</a:t>
                      </a: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ru-RU" sz="800" b="1" dirty="0">
                          <a:solidFill>
                            <a:schemeClr val="bg1"/>
                          </a:solidFill>
                        </a:rPr>
                        <a:t xml:space="preserve">Scan depth</a:t>
                      </a:r>
                    </a:p>
                  </a:txBody>
                  <a:tcPr>
                    <a:lnL w="6350" cap="flat" cmpd="sng" algn="ctr">
                      <a:solidFill>
                        <a:schemeClr val="bg1"/>
                      </a:solidFill>
                      <a:prstDash val="solid"/>
                      <a:round/>
                      <a:headEnd type="none" w="med" len="med"/>
                      <a:tailEnd type="none" w="med" len="med"/>
                    </a:lnL>
                    <a:lnR w="12700" cmpd="sng">
                      <a:noFill/>
                      <a:prstDash val="solid"/>
                    </a:lnR>
                    <a:lnT w="12700" cap="flat" cmpd="sng" algn="ctr">
                      <a:no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021405005"/>
                  </a:ext>
                </a:extLst>
              </a:tr>
              <a:tr h="9100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800" b="0" dirty="0">
                          <a:solidFill>
                            <a:schemeClr val="accent5">
                              <a:lumMod val="75000"/>
                              <a:lumOff val="25000"/>
                            </a:schemeClr>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800" b="0" baseline="0" dirty="0"/>
                        <a:t xml:space="preserve">Transaction monitoring</a:t>
                      </a:r>
                      <a:endParaRPr lang="ru-RU" sz="800" b="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rPr>
                        <a:t xml:space="preserve">Verification of the data specified by the Initiator in the Compliance 2.2 system with the data of the actual contract posted in the ESED</a:t>
                      </a:r>
                      <a:r>
                        <a:rPr lang="ru-RU" sz="800" baseline="0" dirty="0">
                          <a:solidFill>
                            <a:schemeClr val="tx1"/>
                          </a:solidFill>
                        </a:rPr>
                        <a:t/>
                      </a:r>
                      <a:r>
                        <a:rPr lang="en-US" sz="800" baseline="0" dirty="0">
                          <a:solidFill>
                            <a:schemeClr val="tx1"/>
                          </a:solidFill>
                        </a:rPr>
                        <a:t/>
                      </a:r>
                      <a:r>
                        <a:rPr lang="ru-RU" sz="800" baseline="0" dirty="0">
                          <a:solidFill>
                            <a:schemeClr val="tx1"/>
                          </a:solidFill>
                        </a:rPr>
                        <a:t/>
                      </a:r>
                      <a:r>
                        <a:rPr lang="en-US" sz="800" baseline="0" dirty="0">
                          <a:solidFill>
                            <a:schemeClr val="tx1"/>
                          </a:solidFill>
                        </a:rPr>
                        <a:t/>
                      </a:r>
                      <a:r>
                        <a:rPr lang="ru-RU" sz="800" baseline="0" dirty="0">
                          <a:solidFill>
                            <a:schemeClr val="tx1"/>
                          </a:solidFill>
                        </a:rPr>
                        <a:t/>
                      </a:r>
                      <a:r>
                        <a:rPr lang="ru-RU" sz="800" b="0" i="0" u="none" strike="noStrike" kern="1200" dirty="0">
                          <a:solidFill>
                            <a:schemeClr val="tx1"/>
                          </a:solidFill>
                          <a:effectLst/>
                          <a:latin typeface="+mn-lt"/>
                          <a:ea typeface="+mn-ea"/>
                          <a:cs typeface="+mn-cs"/>
                        </a:rPr>
                        <a:t/>
                      </a:r>
                      <a:r>
                        <a:rPr lang="ru-RU" sz="800" baseline="0" dirty="0">
                          <a:solidFill>
                            <a:schemeClr val="tx1"/>
                          </a:solidFill>
                        </a:rPr>
                        <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Clr>
                          <a:schemeClr val="accent5">
                            <a:lumMod val="50000"/>
                            <a:lumOff val="50000"/>
                          </a:schemeClr>
                        </a:buClr>
                        <a:buFont typeface="Arial" panose="020B0604020202020204" pitchFamily="34" charset="0"/>
                        <a:buChar char="•"/>
                      </a:pPr>
                      <a:r>
                        <a:rPr lang="ru-RU" sz="800" dirty="0"/>
                        <a:t xml:space="preserve">Contractor's name</a:t>
                      </a:r>
                    </a:p>
                    <a:p>
                      <a:pPr marL="171450" indent="-171450">
                        <a:buClr>
                          <a:schemeClr val="accent5">
                            <a:lumMod val="50000"/>
                            <a:lumOff val="50000"/>
                          </a:schemeClr>
                        </a:buClr>
                        <a:buFont typeface="Arial" panose="020B0604020202020204" pitchFamily="34" charset="0"/>
                        <a:buChar char="•"/>
                      </a:pPr>
                      <a:r>
                        <a:rPr lang="ru-RU" sz="800" dirty="0"/>
                        <a:t xml:space="preserve">Status of the counterparty under the agreement</a:t>
                      </a:r>
                    </a:p>
                    <a:p>
                      <a:pPr marL="171450" indent="-171450">
                        <a:buClr>
                          <a:schemeClr val="accent5">
                            <a:lumMod val="50000"/>
                            <a:lumOff val="50000"/>
                          </a:schemeClr>
                        </a:buClr>
                        <a:buFont typeface="Arial" panose="020B0604020202020204" pitchFamily="34" charset="0"/>
                        <a:buChar char="•"/>
                      </a:pPr>
                      <a:r>
                        <a:rPr lang="ru-RU" sz="800" dirty="0"/>
                        <a:t xml:space="preserve">Counterparty bank under the agreement</a:t>
                      </a:r>
                    </a:p>
                    <a:p>
                      <a:pPr marL="171450" indent="-171450">
                        <a:buClr>
                          <a:schemeClr val="accent5">
                            <a:lumMod val="50000"/>
                            <a:lumOff val="50000"/>
                          </a:schemeClr>
                        </a:buClr>
                        <a:buFont typeface="Arial" panose="020B0604020202020204" pitchFamily="34" charset="0"/>
                        <a:buChar char="•"/>
                      </a:pPr>
                      <a:r>
                        <a:rPr lang="ru-RU" sz="800" dirty="0"/>
                        <a:t xml:space="preserve">Contract amount</a:t>
                      </a:r>
                    </a:p>
                    <a:p>
                      <a:pPr marL="171450" indent="-171450">
                        <a:buClr>
                          <a:schemeClr val="accent5">
                            <a:lumMod val="50000"/>
                            <a:lumOff val="50000"/>
                          </a:schemeClr>
                        </a:buClr>
                        <a:buFont typeface="Arial" panose="020B0604020202020204" pitchFamily="34" charset="0"/>
                        <a:buChar char="•"/>
                      </a:pPr>
                      <a:r>
                        <a:rPr lang="ru-RU" sz="800" dirty="0"/>
                        <a:t xml:space="preserve">Availability of compliance provisions</a:t>
                      </a:r>
                    </a:p>
                    <a:p>
                      <a:pPr marL="171450" indent="-171450">
                        <a:buClr>
                          <a:schemeClr val="accent5">
                            <a:lumMod val="50000"/>
                            <a:lumOff val="50000"/>
                          </a:schemeClr>
                        </a:buClr>
                        <a:buFont typeface="Arial" panose="020B0604020202020204" pitchFamily="34" charset="0"/>
                        <a:buChar char="•"/>
                      </a:pPr>
                      <a:r>
                        <a:rPr lang="ru-RU" sz="800" dirty="0"/>
                        <a:t xml:space="preserve">Competitiveness of procurement procedures (for the “Intermediaries” category)</a:t>
                      </a:r>
                    </a:p>
                    <a:p>
                      <a:pPr marL="171450" indent="-171450">
                        <a:buClr>
                          <a:schemeClr val="accent5">
                            <a:lumMod val="50000"/>
                            <a:lumOff val="50000"/>
                          </a:schemeClr>
                        </a:buClr>
                        <a:buFont typeface="Arial" panose="020B0604020202020204" pitchFamily="34" charset="0"/>
                        <a:buChar char="•"/>
                      </a:pPr>
                      <a:r>
                        <a:rPr lang="ru-RU" sz="800" dirty="0"/>
                        <a:t xml:space="preserve">Manufacturer included in the Compliance List for the “Intermediaries” Category.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86271"/>
                  </a:ext>
                </a:extLst>
              </a:tr>
              <a:tr h="3229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800" b="0" dirty="0">
                          <a:solidFill>
                            <a:schemeClr val="accent5">
                              <a:lumMod val="75000"/>
                              <a:lumOff val="25000"/>
                            </a:schemeClr>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800" b="0" dirty="0"/>
                        <a:t xml:space="preserve">Monitoring sanctions and other restrictions</a:t>
                      </a:r>
                      <a:r>
                        <a:rPr lang="ru-RU" sz="800" b="0" baseline="0" dirty="0"/>
                        <a:t/>
                      </a:r>
                      <a:endParaRPr lang="ru-RU" sz="800" b="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800" dirty="0">
                          <a:solidFill>
                            <a:schemeClr val="tx1"/>
                          </a:solidFill>
                        </a:rPr>
                        <a:t xml:space="preserve">Checking counterparties, banks, manufacturers (for the “Intermediaries” category) included in the Compliance List for the presence of a risk of violating sanctions, negative information, incl. SNK</a:t>
                      </a:r>
                      <a:r>
                        <a:rPr lang="ru-RU" sz="800" baseline="0" dirty="0">
                          <a:solidFill>
                            <a:schemeClr val="tx1"/>
                          </a:solidFill>
                        </a:rPr>
                        <a:t/>
                      </a:r>
                      <a:endParaRPr lang="ru-RU" sz="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buClr>
                          <a:schemeClr val="accent5">
                            <a:lumMod val="50000"/>
                            <a:lumOff val="50000"/>
                          </a:schemeClr>
                        </a:buClr>
                        <a:buFont typeface="Arial" panose="020B0604020202020204" pitchFamily="34" charset="0"/>
                        <a:buChar char="•"/>
                      </a:pPr>
                      <a:r>
                        <a:rPr lang="ru-RU" sz="800" dirty="0"/>
                        <a:t xml:space="preserve">Counterparties</a:t>
                      </a:r>
                    </a:p>
                    <a:p>
                      <a:pPr marL="171450" indent="-171450">
                        <a:buClr>
                          <a:schemeClr val="accent5">
                            <a:lumMod val="50000"/>
                            <a:lumOff val="50000"/>
                          </a:schemeClr>
                        </a:buClr>
                        <a:buFont typeface="Arial" panose="020B0604020202020204" pitchFamily="34" charset="0"/>
                        <a:buChar char="•"/>
                      </a:pPr>
                      <a:r>
                        <a:rPr lang="ru-RU" sz="800" dirty="0"/>
                        <a:t xml:space="preserve">Banks included in the Compliance List</a:t>
                      </a:r>
                    </a:p>
                    <a:p>
                      <a:pPr marL="171450" indent="-171450">
                        <a:buClr>
                          <a:schemeClr val="accent5">
                            <a:lumMod val="50000"/>
                            <a:lumOff val="50000"/>
                          </a:schemeClr>
                        </a:buClr>
                        <a:buFont typeface="Arial" panose="020B0604020202020204" pitchFamily="34" charset="0"/>
                        <a:buChar char="•"/>
                      </a:pPr>
                      <a:r>
                        <a:rPr lang="ru-RU" sz="800" dirty="0"/>
                        <a:t xml:space="preserve">Manufacturers included in the Compliance List for the “Intermediaries” Category.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22905956"/>
                  </a:ext>
                </a:extLst>
              </a:tr>
              <a:tr h="3229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800" b="0" dirty="0">
                          <a:solidFill>
                            <a:schemeClr val="accent5">
                              <a:lumMod val="75000"/>
                              <a:lumOff val="25000"/>
                            </a:schemeClr>
                          </a:solidFill>
                        </a:rPr>
                        <a:t>3</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ru-RU" sz="800" b="0" dirty="0">
                        <a:solidFill>
                          <a:schemeClr val="accent5">
                            <a:lumMod val="75000"/>
                            <a:lumOff val="25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800" b="0" dirty="0"/>
                        <a:t xml:space="preserve">Monitoring changes in the beneficial ownership structure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ru-RU" sz="800" dirty="0">
                          <a:solidFill>
                            <a:schemeClr val="tx1"/>
                          </a:solidFill>
                        </a:rPr>
                        <a:t xml:space="preserve">Spot check of the beneficiary structure of counterparties included in the Compliance List</a:t>
                      </a:r>
                      <a:r>
                        <a:rPr lang="ru-RU" sz="800" baseline="0" dirty="0">
                          <a:solidFill>
                            <a:schemeClr val="tx1"/>
                          </a:solidFill>
                        </a:rPr>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400" rtl="0" eaLnBrk="1" fontAlgn="auto" latinLnBrk="0" hangingPunct="1">
                        <a:lnSpc>
                          <a:spcPct val="100000"/>
                        </a:lnSpc>
                        <a:spcBef>
                          <a:spcPts val="0"/>
                        </a:spcBef>
                        <a:spcAft>
                          <a:spcPts val="0"/>
                        </a:spcAft>
                        <a:buClr>
                          <a:schemeClr val="accent5">
                            <a:lumMod val="50000"/>
                            <a:lumOff val="50000"/>
                          </a:schemeClr>
                        </a:buClr>
                        <a:buSzTx/>
                        <a:buFont typeface="Arial" panose="020B0604020202020204" pitchFamily="34" charset="0"/>
                        <a:buChar char="•"/>
                        <a:tabLst/>
                        <a:defRPr/>
                      </a:pPr>
                      <a:r>
                        <a:rPr lang="ru-RU" sz="800" dirty="0"/>
                        <a:t xml:space="preserve">Beneficial ownership structure of the counterparty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01211435"/>
                  </a:ext>
                </a:extLst>
              </a:tr>
            </a:tbl>
          </a:graphicData>
        </a:graphic>
      </p:graphicFrame>
      <p:graphicFrame>
        <p:nvGraphicFramePr>
          <p:cNvPr id="18" name="Таблица 17">
            <a:extLst>
              <a:ext uri="{FF2B5EF4-FFF2-40B4-BE49-F238E27FC236}">
                <a16:creationId xmlns:a16="http://schemas.microsoft.com/office/drawing/2014/main" id="{9B8E05FB-05D8-4DD1-8CEE-C47FEE38BFC4}"/>
              </a:ext>
            </a:extLst>
          </p:cNvPr>
          <p:cNvGraphicFramePr>
            <a:graphicFrameLocks noGrp="1"/>
          </p:cNvGraphicFramePr>
          <p:nvPr>
            <p:extLst>
              <p:ext uri="{D42A27DB-BD31-4B8C-83A1-F6EECF244321}">
                <p14:modId xmlns:p14="http://schemas.microsoft.com/office/powerpoint/2010/main" val="1668463521"/>
              </p:ext>
            </p:extLst>
          </p:nvPr>
        </p:nvGraphicFramePr>
        <p:xfrm>
          <a:off x="2904481" y="3761691"/>
          <a:ext cx="8932328" cy="1332752"/>
        </p:xfrm>
        <a:graphic>
          <a:graphicData uri="http://schemas.openxmlformats.org/drawingml/2006/table">
            <a:tbl>
              <a:tblPr/>
              <a:tblGrid>
                <a:gridCol w="291358">
                  <a:extLst>
                    <a:ext uri="{9D8B030D-6E8A-4147-A177-3AD203B41FA5}">
                      <a16:colId xmlns:a16="http://schemas.microsoft.com/office/drawing/2014/main" val="306542334"/>
                    </a:ext>
                  </a:extLst>
                </a:gridCol>
                <a:gridCol w="4491487">
                  <a:extLst>
                    <a:ext uri="{9D8B030D-6E8A-4147-A177-3AD203B41FA5}">
                      <a16:colId xmlns:a16="http://schemas.microsoft.com/office/drawing/2014/main" val="3598686756"/>
                    </a:ext>
                  </a:extLst>
                </a:gridCol>
                <a:gridCol w="1487245">
                  <a:extLst>
                    <a:ext uri="{9D8B030D-6E8A-4147-A177-3AD203B41FA5}">
                      <a16:colId xmlns:a16="http://schemas.microsoft.com/office/drawing/2014/main" val="283082889"/>
                    </a:ext>
                  </a:extLst>
                </a:gridCol>
                <a:gridCol w="1333219">
                  <a:extLst>
                    <a:ext uri="{9D8B030D-6E8A-4147-A177-3AD203B41FA5}">
                      <a16:colId xmlns:a16="http://schemas.microsoft.com/office/drawing/2014/main" val="2299406434"/>
                    </a:ext>
                  </a:extLst>
                </a:gridCol>
                <a:gridCol w="1329019">
                  <a:extLst>
                    <a:ext uri="{9D8B030D-6E8A-4147-A177-3AD203B41FA5}">
                      <a16:colId xmlns:a16="http://schemas.microsoft.com/office/drawing/2014/main" val="2895945320"/>
                    </a:ext>
                  </a:extLst>
                </a:gridCol>
              </a:tblGrid>
              <a:tr h="295275">
                <a:tc>
                  <a:txBody>
                    <a:bodyPr/>
                    <a:lstStyle/>
                    <a:p>
                      <a:pPr algn="ctr" fontAlgn="t"/>
                      <a:r>
                        <a:rPr lang="ru-RU" sz="1800" b="0" i="0" u="none" strike="noStrike" dirty="0">
                          <a:solidFill>
                            <a:srgbClr val="000000"/>
                          </a:solidFill>
                          <a:effectLst/>
                          <a:latin typeface="Arial" panose="020B0604020202020204" pitchFamily="34" charset="0"/>
                        </a:rPr>
                        <a:t> </a:t>
                      </a:r>
                    </a:p>
                  </a:txBody>
                  <a:tcPr marL="9525" marR="9525" marT="9525" marB="0">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0B0F0"/>
                    </a:solidFill>
                  </a:tcPr>
                </a:tc>
                <a:tc>
                  <a:txBody>
                    <a:bodyPr/>
                    <a:lstStyle/>
                    <a:p>
                      <a:pPr algn="ctr" rtl="0" fontAlgn="ctr"/>
                      <a:r>
                        <a:rPr lang="ru-RU" sz="800" b="1" i="0" u="none" strike="noStrike" dirty="0">
                          <a:solidFill>
                            <a:srgbClr val="FFFFFF"/>
                          </a:solidFill>
                          <a:effectLst/>
                          <a:latin typeface="Arial" panose="020B0604020202020204" pitchFamily="34" charset="0"/>
                        </a:rPr>
                        <a:t xml:space="preserve">Types of violations of CL criteria identified based on the results of the 4th quarter. 2025</a:t>
                      </a:r>
                      <a:r>
                        <a:rPr lang="ru-RU" sz="800" b="1" i="0" u="none" strike="noStrike" dirty="0" smtClean="0">
                          <a:solidFill>
                            <a:srgbClr val="FFFFFF"/>
                          </a:solidFill>
                          <a:effectLst/>
                          <a:latin typeface="Arial" panose="020B0604020202020204" pitchFamily="34" charset="0"/>
                        </a:rPr>
                        <a:t/>
                      </a:r>
                      <a:r>
                        <a:rPr lang="ru-RU" sz="800" b="1" i="0" u="none" strike="noStrike" dirty="0">
                          <a:solidFill>
                            <a:srgbClr val="FFFFFF"/>
                          </a:solidFill>
                          <a:effectLst/>
                          <a:latin typeface="Arial" panose="020B0604020202020204" pitchFamily="34" charset="0"/>
                        </a:rPr>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0B0F0"/>
                    </a:solidFill>
                  </a:tcPr>
                </a:tc>
                <a:tc>
                  <a:txBody>
                    <a:bodyPr/>
                    <a:lstStyle/>
                    <a:p>
                      <a:pPr algn="ctr" rtl="0" fontAlgn="ctr"/>
                      <a:r>
                        <a:rPr lang="ru-RU" sz="800" b="1" i="0" u="none" strike="noStrike" dirty="0">
                          <a:solidFill>
                            <a:srgbClr val="FFFFFF"/>
                          </a:solidFill>
                          <a:effectLst/>
                          <a:latin typeface="Arial" panose="020B0604020202020204" pitchFamily="34" charset="0"/>
                        </a:rPr>
                        <a:t xml:space="preserve">Amount,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0B0F0"/>
                    </a:solidFill>
                  </a:tcPr>
                </a:tc>
                <a:tc>
                  <a:txBody>
                    <a:bodyPr/>
                    <a:lstStyle/>
                    <a:p>
                      <a:pPr algn="ctr" rtl="0" fontAlgn="ctr"/>
                      <a:r>
                        <a:rPr lang="ru-RU" sz="800" b="1" i="0" u="none" strike="noStrike" dirty="0">
                          <a:solidFill>
                            <a:srgbClr val="FFFFFF"/>
                          </a:solidFill>
                          <a:effectLst/>
                          <a:latin typeface="Arial" panose="020B0604020202020204" pitchFamily="34" charset="0"/>
                        </a:rPr>
                        <a: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0B0F0"/>
                    </a:solidFill>
                  </a:tcPr>
                </a:tc>
                <a:tc>
                  <a:txBody>
                    <a:bodyPr/>
                    <a:lstStyle/>
                    <a:p>
                      <a:pPr algn="ctr" rtl="0" fontAlgn="ctr"/>
                      <a:r>
                        <a:rPr lang="ru-RU" sz="800" b="1" i="0" u="none" strike="noStrike" dirty="0">
                          <a:solidFill>
                            <a:srgbClr val="FFFFFF"/>
                          </a:solidFill>
                          <a:effectLst/>
                          <a:latin typeface="Arial" panose="020B0604020202020204" pitchFamily="34" charset="0"/>
                        </a:rPr>
                        <a:t xml:space="preserve">Number of contracts</a:t>
                      </a:r>
                    </a:p>
                  </a:txBody>
                  <a:tcPr marL="9525" marR="9525" marT="9525"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3790927678"/>
                  </a:ext>
                </a:extLst>
              </a:tr>
              <a:tr h="371101">
                <a:tc>
                  <a:txBody>
                    <a:bodyPr/>
                    <a:lstStyle/>
                    <a:p>
                      <a:pPr algn="ctr" rtl="0" fontAlgn="ctr"/>
                      <a:r>
                        <a:rPr lang="ru-RU" sz="800" b="0" i="0" u="none" strike="noStrike" dirty="0" smtClean="0">
                          <a:solidFill>
                            <a:schemeClr val="accent5">
                              <a:lumMod val="75000"/>
                              <a:lumOff val="25000"/>
                            </a:schemeClr>
                          </a:solidFill>
                          <a:effectLst/>
                          <a:latin typeface="Arial" panose="020B0604020202020204" pitchFamily="34" charset="0"/>
                        </a:rPr>
                        <a:t>1</a:t>
                      </a:r>
                      <a:endParaRPr lang="ru-RU" sz="800" b="0" i="0" u="none" strike="noStrike" dirty="0">
                        <a:solidFill>
                          <a:schemeClr val="accent5">
                            <a:lumMod val="75000"/>
                            <a:lumOff val="25000"/>
                          </a:schemeClr>
                        </a:solidFill>
                        <a:effectLst/>
                        <a:latin typeface="Arial" panose="020B0604020202020204" pitchFamily="34" charset="0"/>
                      </a:endParaRP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rtl="0" fontAlgn="ctr"/>
                      <a:r>
                        <a:rPr lang="ru-RU" sz="800" b="0" i="0" u="none" strike="noStrike" dirty="0">
                          <a:solidFill>
                            <a:srgbClr val="32373C"/>
                          </a:solidFill>
                          <a:effectLst/>
                          <a:latin typeface="Arial" panose="020B0604020202020204" pitchFamily="34" charset="0"/>
                        </a:rPr>
                        <a:t xml:space="preserve">Inappropriate version of the compliance provisions in the contract (an outdated version of the compliance provisions was applied)</a:t>
                      </a: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rtl="0" fontAlgn="ctr"/>
                      <a:r>
                        <a:rPr lang="ru-RU" sz="800" b="0" i="0" u="none" strike="noStrike" dirty="0">
                          <a:solidFill>
                            <a:srgbClr val="32373C"/>
                          </a:solidFill>
                          <a:effectLst/>
                          <a:latin typeface="Arial" panose="020B0604020202020204" pitchFamily="34" charset="0"/>
                        </a:rPr>
                        <a:t> 467 229, 09</a:t>
                      </a: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rtl="0" fontAlgn="ctr"/>
                      <a:r>
                        <a:rPr lang="ru-RU" sz="800" b="0" i="0" u="none" strike="noStrike" dirty="0" smtClean="0">
                          <a:solidFill>
                            <a:srgbClr val="32373C"/>
                          </a:solidFill>
                          <a:effectLst/>
                          <a:latin typeface="Arial" panose="020B0604020202020204" pitchFamily="34" charset="0"/>
                        </a:rPr>
                        <a:t>66,67%</a:t>
                      </a:r>
                      <a:endParaRPr lang="ru-RU" sz="800" b="0" i="0" u="none" strike="noStrike" dirty="0">
                        <a:solidFill>
                          <a:srgbClr val="32373C"/>
                        </a:solidFill>
                        <a:effectLst/>
                        <a:latin typeface="Arial" panose="020B0604020202020204" pitchFamily="34" charset="0"/>
                      </a:endParaRP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rtl="0" fontAlgn="ctr"/>
                      <a:r>
                        <a:rPr lang="ru-RU" sz="800" b="0" i="0" u="none" strike="noStrike" dirty="0">
                          <a:solidFill>
                            <a:srgbClr val="32373C"/>
                          </a:solidFill>
                          <a:effectLst/>
                          <a:latin typeface="Arial" panose="020B0604020202020204" pitchFamily="34" charset="0"/>
                        </a:rPr>
                        <a:t>2</a:t>
                      </a: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523383766"/>
                  </a:ext>
                </a:extLst>
              </a:tr>
              <a:tr h="371101">
                <a:tc>
                  <a:txBody>
                    <a:bodyPr/>
                    <a:lstStyle/>
                    <a:p>
                      <a:pPr algn="ctr" rtl="0" fontAlgn="ctr"/>
                      <a:r>
                        <a:rPr lang="ru-RU" sz="800" b="0" i="0" u="none" strike="noStrike" dirty="0" smtClean="0">
                          <a:solidFill>
                            <a:schemeClr val="accent5">
                              <a:lumMod val="75000"/>
                              <a:lumOff val="25000"/>
                            </a:schemeClr>
                          </a:solidFill>
                          <a:effectLst/>
                          <a:latin typeface="Arial" panose="020B0604020202020204" pitchFamily="34" charset="0"/>
                        </a:rPr>
                        <a:t>2</a:t>
                      </a:r>
                      <a:endParaRPr lang="ru-RU" sz="800" b="0" i="0" u="none" strike="noStrike" dirty="0">
                        <a:solidFill>
                          <a:schemeClr val="accent5">
                            <a:lumMod val="75000"/>
                            <a:lumOff val="25000"/>
                          </a:schemeClr>
                        </a:solidFill>
                        <a:effectLst/>
                        <a:latin typeface="Arial" panose="020B0604020202020204" pitchFamily="34" charset="0"/>
                      </a:endParaRPr>
                    </a:p>
                  </a:txBody>
                  <a:tcPr marL="9525" marR="9525" marT="9525" marB="0" anchor="ctr">
                    <a:lnL>
                      <a:noFill/>
                    </a:lnL>
                    <a:lnR>
                      <a:noFill/>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rtl="0" fontAlgn="ctr"/>
                      <a:r>
                        <a:rPr lang="ru-RU" sz="800" b="0" i="0" u="none" strike="noStrike" dirty="0">
                          <a:solidFill>
                            <a:srgbClr val="32373C"/>
                          </a:solidFill>
                          <a:effectLst/>
                          <a:latin typeface="Arial" panose="020B0604020202020204" pitchFamily="34" charset="0"/>
                        </a:rPr>
                        <a:t xml:space="preserve">There is no compliance provision in the contract</a:t>
                      </a:r>
                    </a:p>
                  </a:txBody>
                  <a:tcPr marL="9525" marR="9525" marT="9525" marB="0" anchor="ctr">
                    <a:lnL>
                      <a:noFill/>
                    </a:lnL>
                    <a:lnR>
                      <a:noFill/>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rtl="0" fontAlgn="ctr"/>
                      <a:r>
                        <a:rPr lang="ru-RU" sz="800" b="0" i="0" u="none" strike="noStrike" dirty="0">
                          <a:solidFill>
                            <a:srgbClr val="32373C"/>
                          </a:solidFill>
                          <a:effectLst/>
                          <a:latin typeface="Arial" panose="020B0604020202020204" pitchFamily="34" charset="0"/>
                        </a:rPr>
                        <a:t>50 521, 63</a:t>
                      </a:r>
                    </a:p>
                  </a:txBody>
                  <a:tcPr marL="9525" marR="9525" marT="9525" marB="0" anchor="ctr">
                    <a:lnL>
                      <a:noFill/>
                    </a:lnL>
                    <a:lnR>
                      <a:noFill/>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rtl="0" fontAlgn="ctr"/>
                      <a:r>
                        <a:rPr lang="ru-RU" sz="800" b="0" i="0" u="none" strike="noStrike" dirty="0">
                          <a:solidFill>
                            <a:srgbClr val="32373C"/>
                          </a:solidFill>
                          <a:effectLst/>
                          <a:latin typeface="Arial" panose="020B0604020202020204" pitchFamily="34" charset="0"/>
                        </a:rPr>
                        <a:t>33,33%</a:t>
                      </a:r>
                    </a:p>
                  </a:txBody>
                  <a:tcPr marL="9525" marR="9525" marT="9525" marB="0" anchor="ctr">
                    <a:lnL>
                      <a:noFill/>
                    </a:lnL>
                    <a:lnR>
                      <a:noFill/>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rtl="0" fontAlgn="ctr"/>
                      <a:r>
                        <a:rPr lang="ru-RU" sz="800" b="0" i="0" u="none" strike="noStrike" dirty="0">
                          <a:solidFill>
                            <a:srgbClr val="32373C"/>
                          </a:solidFill>
                          <a:effectLst/>
                          <a:latin typeface="Arial" panose="020B0604020202020204" pitchFamily="34" charset="0"/>
                        </a:rPr>
                        <a:t>1</a:t>
                      </a:r>
                    </a:p>
                  </a:txBody>
                  <a:tcPr marL="9525" marR="9525" marT="9525" marB="0" anchor="ctr">
                    <a:lnL>
                      <a:noFill/>
                    </a:lnL>
                    <a:lnR>
                      <a:noFill/>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783187184"/>
                  </a:ext>
                </a:extLst>
              </a:tr>
              <a:tr h="295275">
                <a:tc>
                  <a:txBody>
                    <a:bodyPr/>
                    <a:lstStyle/>
                    <a:p>
                      <a:pPr algn="l" fontAlgn="t"/>
                      <a:r>
                        <a:rPr lang="ru-RU" sz="1800" b="0" i="0" u="none" strike="noStrike" dirty="0">
                          <a:solidFill>
                            <a:srgbClr val="000000"/>
                          </a:solidFill>
                          <a:effectLst/>
                          <a:latin typeface="Arial" panose="020B0604020202020204" pitchFamily="34" charset="0"/>
                        </a:rPr>
                        <a:t> </a:t>
                      </a:r>
                    </a:p>
                  </a:txBody>
                  <a:tcPr marL="9525" marR="9525" marT="9525" marB="0">
                    <a:lnL>
                      <a:noFill/>
                    </a:lnL>
                    <a:lnR>
                      <a:noFill/>
                    </a:lnR>
                    <a:lnT w="6350" cap="flat" cmpd="sng" algn="ctr">
                      <a:solidFill>
                        <a:srgbClr val="00B0F0"/>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fontAlgn="t"/>
                      <a:r>
                        <a:rPr lang="ru-RU" sz="1800" b="0" i="0" u="none" strike="noStrike" dirty="0">
                          <a:solidFill>
                            <a:srgbClr val="000000"/>
                          </a:solidFill>
                          <a:effectLst/>
                          <a:latin typeface="Arial" panose="020B0604020202020204" pitchFamily="34" charset="0"/>
                        </a:rPr>
                        <a:t> </a:t>
                      </a:r>
                    </a:p>
                  </a:txBody>
                  <a:tcPr marL="9525" marR="9525" marT="9525" marB="0">
                    <a:lnL>
                      <a:noFill/>
                    </a:lnL>
                    <a:lnR>
                      <a:noFill/>
                    </a:lnR>
                    <a:lnT w="6350" cap="flat" cmpd="sng" algn="ctr">
                      <a:solidFill>
                        <a:srgbClr val="00B0F0"/>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rtl="0" fontAlgn="ctr"/>
                      <a:r>
                        <a:rPr lang="ru-RU" sz="800" b="1" i="0" u="none" strike="noStrike" dirty="0">
                          <a:solidFill>
                            <a:srgbClr val="32373C"/>
                          </a:solidFill>
                          <a:effectLst/>
                          <a:latin typeface="Arial" panose="020B0604020202020204" pitchFamily="34" charset="0"/>
                        </a:rPr>
                        <a:t>517 750,72</a:t>
                      </a:r>
                    </a:p>
                  </a:txBody>
                  <a:tcPr marL="9525" marR="9525" marT="9525" marB="0" anchor="ctr">
                    <a:lnL>
                      <a:noFill/>
                    </a:lnL>
                    <a:lnR>
                      <a:noFill/>
                    </a:lnR>
                    <a:lnT w="6350" cap="flat" cmpd="sng" algn="ctr">
                      <a:solidFill>
                        <a:srgbClr val="00B0F0"/>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rtl="0" fontAlgn="ctr"/>
                      <a:r>
                        <a:rPr lang="ru-RU" sz="800" b="1" i="0" u="none" strike="noStrike" dirty="0">
                          <a:solidFill>
                            <a:srgbClr val="32373C"/>
                          </a:solidFill>
                          <a:effectLst/>
                          <a:latin typeface="Arial" panose="020B0604020202020204" pitchFamily="34" charset="0"/>
                        </a:rPr>
                        <a:t>100</a:t>
                      </a:r>
                    </a:p>
                  </a:txBody>
                  <a:tcPr marL="9525" marR="9525" marT="9525" marB="0" anchor="ctr">
                    <a:lnL>
                      <a:noFill/>
                    </a:lnL>
                    <a:lnR>
                      <a:noFill/>
                    </a:lnR>
                    <a:lnT w="6350" cap="flat" cmpd="sng" algn="ctr">
                      <a:solidFill>
                        <a:srgbClr val="00B0F0"/>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rtl="0" fontAlgn="ctr"/>
                      <a:r>
                        <a:rPr lang="ru-RU" sz="800" b="1" i="0" u="none" strike="noStrike" dirty="0">
                          <a:solidFill>
                            <a:srgbClr val="32373C"/>
                          </a:solidFill>
                          <a:effectLst/>
                          <a:latin typeface="Arial" panose="020B0604020202020204" pitchFamily="34" charset="0"/>
                        </a:rPr>
                        <a:t>3</a:t>
                      </a:r>
                    </a:p>
                  </a:txBody>
                  <a:tcPr marL="9525" marR="9525" marT="9525" marB="0" anchor="ctr">
                    <a:lnL>
                      <a:noFill/>
                    </a:lnL>
                    <a:lnR>
                      <a:noFill/>
                    </a:lnR>
                    <a:lnT w="6350" cap="flat" cmpd="sng" algn="ctr">
                      <a:solidFill>
                        <a:srgbClr val="00B0F0"/>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4099707294"/>
                  </a:ext>
                </a:extLst>
              </a:tr>
            </a:tbl>
          </a:graphicData>
        </a:graphic>
      </p:graphicFrame>
    </p:spTree>
    <p:extLst>
      <p:ext uri="{BB962C8B-B14F-4D97-AF65-F5344CB8AC3E}">
        <p14:creationId xmlns:p14="http://schemas.microsoft.com/office/powerpoint/2010/main" val="29661997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95B3345D-96AC-411A-A36E-40E778055E66}"/>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4456"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95B3345D-96AC-411A-A36E-40E778055E6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BF7278A-CA96-4FB6-A399-7DB15658E771}"/>
              </a:ext>
            </a:extLst>
          </p:cNvPr>
          <p:cNvSpPr>
            <a:spLocks noGrp="1"/>
          </p:cNvSpPr>
          <p:nvPr>
            <p:ph type="title"/>
          </p:nvPr>
        </p:nvSpPr>
        <p:spPr/>
        <p:txBody>
          <a:bodyPr vert="horz"/>
          <a:lstStyle/>
          <a:p>
            <a:r>
              <a:rPr lang="ru" dirty="0"/>
              <a:t>Прил.</a:t>
            </a:r>
            <a:r>
              <a:rPr lang="en-US" dirty="0"/>
              <a:t> </a:t>
            </a:r>
            <a:r>
              <a:rPr lang="en-US" dirty="0" smtClean="0"/>
              <a:t>2</a:t>
            </a:r>
            <a:r>
              <a:rPr lang="ru" dirty="0" smtClean="0"/>
              <a:t>: </a:t>
            </a:r>
            <a:r>
              <a:rPr lang="ru" dirty="0"/>
              <a:t>Управление рисками третьих сторон</a:t>
            </a:r>
            <a:r>
              <a:rPr lang="en-US" dirty="0"/>
              <a:t/>
            </a:r>
            <a:br>
              <a:rPr lang="en-US" dirty="0"/>
            </a:br>
            <a:r>
              <a:rPr lang="ru" dirty="0">
                <a:solidFill>
                  <a:schemeClr val="tx1"/>
                </a:solidFill>
              </a:rPr>
              <a:t>Результаты самотестирования Комплаенс Листа (на основе </a:t>
            </a:r>
            <a:r>
              <a:rPr lang="ru-RU" dirty="0">
                <a:solidFill>
                  <a:schemeClr val="tx1"/>
                </a:solidFill>
              </a:rPr>
              <a:t>Схемы</a:t>
            </a:r>
            <a:r>
              <a:rPr lang="ru" dirty="0">
                <a:solidFill>
                  <a:schemeClr val="tx1"/>
                </a:solidFill>
              </a:rPr>
              <a:t> гарантий) - </a:t>
            </a:r>
            <a:r>
              <a:rPr lang="ru" i="1" dirty="0">
                <a:solidFill>
                  <a:schemeClr val="tx1"/>
                </a:solidFill>
              </a:rPr>
              <a:t>продолжение</a:t>
            </a:r>
            <a:endParaRPr lang="en-US" dirty="0"/>
          </a:p>
        </p:txBody>
      </p:sp>
      <p:sp>
        <p:nvSpPr>
          <p:cNvPr id="13" name="Прямоугольник 12"/>
          <p:cNvSpPr/>
          <p:nvPr/>
        </p:nvSpPr>
        <p:spPr>
          <a:xfrm>
            <a:off x="317497" y="6303490"/>
            <a:ext cx="5346335"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 xml:space="preserve">Storage of supporting materials: Compliance 2.2 system / folders on OMEGA (Perimeter Kazakhstan server)</a:t>
            </a:r>
            <a:r>
              <a:rPr lang="en-US" sz="700" i="1" dirty="0">
                <a:solidFill>
                  <a:schemeClr val="accent5">
                    <a:lumMod val="75000"/>
                    <a:lumOff val="25000"/>
                  </a:schemeClr>
                </a:solidFill>
              </a:rPr>
              <a:t/>
            </a:r>
            <a:r>
              <a:rPr lang="ru-RU" sz="700" i="1" dirty="0">
                <a:solidFill>
                  <a:schemeClr val="accent5">
                    <a:lumMod val="75000"/>
                    <a:lumOff val="25000"/>
                  </a:schemeClr>
                </a:solidFill>
              </a:rPr>
              <a:t/>
            </a:r>
          </a:p>
        </p:txBody>
      </p:sp>
      <p:graphicFrame>
        <p:nvGraphicFramePr>
          <p:cNvPr id="16" name="Table 3">
            <a:extLst>
              <a:ext uri="{FF2B5EF4-FFF2-40B4-BE49-F238E27FC236}">
                <a16:creationId xmlns:a16="http://schemas.microsoft.com/office/drawing/2014/main" id="{37F28E89-C8B4-4240-9ECE-1DA70C5E405A}"/>
              </a:ext>
            </a:extLst>
          </p:cNvPr>
          <p:cNvGraphicFramePr>
            <a:graphicFrameLocks noGrp="1"/>
          </p:cNvGraphicFramePr>
          <p:nvPr>
            <p:extLst>
              <p:ext uri="{D42A27DB-BD31-4B8C-83A1-F6EECF244321}">
                <p14:modId xmlns:p14="http://schemas.microsoft.com/office/powerpoint/2010/main" val="3713889718"/>
              </p:ext>
            </p:extLst>
          </p:nvPr>
        </p:nvGraphicFramePr>
        <p:xfrm>
          <a:off x="317497" y="1132139"/>
          <a:ext cx="11574994" cy="5151436"/>
        </p:xfrm>
        <a:graphic>
          <a:graphicData uri="http://schemas.openxmlformats.org/drawingml/2006/table">
            <a:tbl>
              <a:tblPr>
                <a:tableStyleId>{5C22544A-7EE6-4342-B048-85BDC9FD1C3A}</a:tableStyleId>
              </a:tblPr>
              <a:tblGrid>
                <a:gridCol w="247362">
                  <a:extLst>
                    <a:ext uri="{9D8B030D-6E8A-4147-A177-3AD203B41FA5}">
                      <a16:colId xmlns:a16="http://schemas.microsoft.com/office/drawing/2014/main" val="2320202936"/>
                    </a:ext>
                  </a:extLst>
                </a:gridCol>
                <a:gridCol w="2332270">
                  <a:extLst>
                    <a:ext uri="{9D8B030D-6E8A-4147-A177-3AD203B41FA5}">
                      <a16:colId xmlns:a16="http://schemas.microsoft.com/office/drawing/2014/main" val="3877538008"/>
                    </a:ext>
                  </a:extLst>
                </a:gridCol>
                <a:gridCol w="247362">
                  <a:extLst>
                    <a:ext uri="{9D8B030D-6E8A-4147-A177-3AD203B41FA5}">
                      <a16:colId xmlns:a16="http://schemas.microsoft.com/office/drawing/2014/main" val="4115641953"/>
                    </a:ext>
                  </a:extLst>
                </a:gridCol>
                <a:gridCol w="5976000">
                  <a:extLst>
                    <a:ext uri="{9D8B030D-6E8A-4147-A177-3AD203B41FA5}">
                      <a16:colId xmlns:a16="http://schemas.microsoft.com/office/drawing/2014/main" val="3397285987"/>
                    </a:ext>
                  </a:extLst>
                </a:gridCol>
                <a:gridCol w="2772000">
                  <a:extLst>
                    <a:ext uri="{9D8B030D-6E8A-4147-A177-3AD203B41FA5}">
                      <a16:colId xmlns:a16="http://schemas.microsoft.com/office/drawing/2014/main" val="3227194291"/>
                    </a:ext>
                  </a:extLst>
                </a:gridCol>
              </a:tblGrid>
              <a:tr h="360344">
                <a:tc>
                  <a:txBody>
                    <a:bodyPr/>
                    <a:lstStyle/>
                    <a:p>
                      <a:pPr algn="l" fontAlgn="t"/>
                      <a:endParaRPr lang="en-US" sz="1000" b="0" i="0" u="none" strike="noStrike" dirty="0">
                        <a:solidFill>
                          <a:schemeClr val="accent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ru-RU" sz="1000" b="1" u="none" strike="noStrike" dirty="0">
                          <a:solidFill>
                            <a:schemeClr val="accent5">
                              <a:lumMod val="75000"/>
                              <a:lumOff val="25000"/>
                            </a:schemeClr>
                          </a:solidFill>
                          <a:effectLst/>
                        </a:rPr>
                        <a:t xml:space="preserve">Third Party Risk Management</a:t>
                      </a:r>
                      <a:endParaRPr lang="en-US" sz="1000" b="1" i="0" u="none" strike="noStrike" dirty="0">
                        <a:solidFill>
                          <a:schemeClr val="accent5">
                            <a:lumMod val="75000"/>
                            <a:lumOff val="25000"/>
                          </a:schemeClr>
                        </a:solidFill>
                        <a:effectLst/>
                        <a:latin typeface="Calibri" panose="020F0502020204030204" pitchFamily="34" charset="0"/>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1000" b="1" i="0" u="none" strike="noStrike" dirty="0">
                        <a:solidFill>
                          <a:schemeClr val="accent1"/>
                        </a:solidFill>
                        <a:effectLst/>
                        <a:latin typeface="Calibri" panose="020F0502020204030204" pitchFamily="34" charset="0"/>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fontAlgn="t"/>
                      <a:endParaRPr lang="en-US" sz="1000" b="1" i="0" u="none" strike="noStrike" dirty="0">
                        <a:solidFill>
                          <a:schemeClr val="accent1"/>
                        </a:solidFill>
                        <a:effectLst/>
                        <a:latin typeface="Calibri" panose="020F0502020204030204" pitchFamily="34" charset="0"/>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extLst>
                  <a:ext uri="{0D108BD9-81ED-4DB2-BD59-A6C34878D82A}">
                    <a16:rowId xmlns:a16="http://schemas.microsoft.com/office/drawing/2014/main" val="188950988"/>
                  </a:ext>
                </a:extLst>
              </a:tr>
              <a:tr h="214600">
                <a:tc rowSpan="2">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1000" b="1" i="0" u="none" strike="noStrike" dirty="0">
                          <a:solidFill>
                            <a:schemeClr val="tx1"/>
                          </a:solidFill>
                          <a:effectLst/>
                          <a:latin typeface="+mn-lt"/>
                        </a:rPr>
                        <a:t xml:space="preserve">S. “Compliance Sheet” (Mining)</a:t>
                      </a:r>
                      <a:r>
                        <a:rPr lang="en-US" sz="1000" b="1" i="0" u="none" strike="noStrike" dirty="0">
                          <a:solidFill>
                            <a:schemeClr val="tx1"/>
                          </a:solidFill>
                          <a:effectLst/>
                          <a:latin typeface="+mn-lt"/>
                        </a:rPr>
                        <a:t/>
                      </a:r>
                      <a:r>
                        <a:rPr lang="ru-RU" sz="1000" b="1" i="0" u="none" strike="noStrike" dirty="0">
                          <a:solidFill>
                            <a:schemeClr val="tx1"/>
                          </a:solidFill>
                          <a:effectLst/>
                          <a:latin typeface="+mn-lt"/>
                        </a:rPr>
                        <a:t/>
                      </a:r>
                      <a:r>
                        <a:rPr lang="ru-RU" sz="1000" b="1" i="0" u="none" strike="noStrike" baseline="0" dirty="0">
                          <a:solidFill>
                            <a:schemeClr val="tx1"/>
                          </a:solidFill>
                          <a:effectLst/>
                          <a:latin typeface="+mn-lt"/>
                        </a:rPr>
                        <a:t/>
                      </a:r>
                      <a:r>
                        <a:rPr lang="en-US" sz="1000" b="1" i="0" u="none" strike="noStrike" baseline="0" dirty="0">
                          <a:solidFill>
                            <a:schemeClr val="tx1"/>
                          </a:solidFill>
                          <a:effectLst/>
                          <a:latin typeface="+mn-lt"/>
                        </a:rPr>
                        <a:t/>
                      </a: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1000" b="1" i="0" u="none" strike="noStrike" dirty="0">
                        <a:solidFill>
                          <a:schemeClr val="tx1"/>
                        </a:solidFill>
                        <a:effectLst/>
                        <a:latin typeface="+mn-lt"/>
                      </a:endParaRPr>
                    </a:p>
                  </a:txBody>
                  <a:tcPr marL="72000" marR="7200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1000" b="1" i="0" u="none" strike="noStrike" dirty="0">
                        <a:solidFill>
                          <a:schemeClr val="tx1"/>
                        </a:solidFill>
                        <a:effectLst/>
                        <a:latin typeface="+mn-lt"/>
                      </a:endParaRP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extLst>
                  <a:ext uri="{0D108BD9-81ED-4DB2-BD59-A6C34878D82A}">
                    <a16:rowId xmlns:a16="http://schemas.microsoft.com/office/drawing/2014/main" val="836973678"/>
                  </a:ext>
                </a:extLst>
              </a:tr>
              <a:tr h="199914">
                <a:tc vMerge="1">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Bef>
                          <a:spcPts val="600"/>
                        </a:spcBef>
                        <a:buClr>
                          <a:schemeClr val="accent1"/>
                        </a:buClr>
                        <a:defRPr sz="1050" b="0" i="0" u="none" strike="noStrike" kern="1200" spc="0" baseline="0">
                          <a:solidFill>
                            <a:srgbClr val="32373C"/>
                          </a:solidFill>
                          <a:latin typeface="+mn-lt"/>
                          <a:ea typeface="+mn-ea"/>
                          <a:cs typeface="+mn-cs"/>
                        </a:defRPr>
                      </a:pPr>
                      <a:r>
                        <a:rPr lang="ru-RU" sz="800" i="1" dirty="0"/>
                        <a:t xml:space="preserve">(continuation)</a:t>
                      </a:r>
                      <a:endParaRPr lang="ru-RU" sz="800" dirty="0"/>
                    </a:p>
                  </a:txBody>
                  <a:tcPr marL="72000" marR="72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spcBef>
                          <a:spcPts val="600"/>
                        </a:spcBef>
                        <a:buClr>
                          <a:schemeClr val="accent1"/>
                        </a:buClr>
                        <a:buFont typeface="Wingdings" panose="05000000000000000000" pitchFamily="2" charset="2"/>
                        <a:buChar char="§"/>
                      </a:pPr>
                      <a:endParaRPr lang="ru-RU" sz="800" b="1" dirty="0"/>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spcBef>
                          <a:spcPts val="600"/>
                        </a:spcBef>
                        <a:buClr>
                          <a:schemeClr val="accent1"/>
                        </a:buClr>
                        <a:buFont typeface="Wingdings" panose="05000000000000000000" pitchFamily="2" charset="2"/>
                        <a:buNone/>
                      </a:pPr>
                      <a:r>
                        <a:rPr lang="ru-RU" sz="800" b="1" baseline="0" dirty="0">
                          <a:solidFill>
                            <a:schemeClr val="tx1"/>
                          </a:solidFill>
                        </a:rPr>
                        <a:t xml:space="preserve">Monitoring results:</a:t>
                      </a:r>
                      <a:endParaRPr lang="ru-RU" sz="800" b="1" dirty="0">
                        <a:solidFill>
                          <a:schemeClr val="tx1"/>
                        </a:solidFill>
                      </a:endParaRP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583170" rtl="0" eaLnBrk="1" latinLnBrk="0" hangingPunct="1">
                        <a:spcBef>
                          <a:spcPts val="600"/>
                        </a:spcBef>
                        <a:buClr>
                          <a:schemeClr val="accent1"/>
                        </a:buClr>
                        <a:buFont typeface="Wingdings" panose="05000000000000000000" pitchFamily="2" charset="2"/>
                        <a:buNone/>
                      </a:pPr>
                      <a:r>
                        <a:rPr lang="ru-RU" sz="800" b="1" kern="1200" dirty="0">
                          <a:solidFill>
                            <a:schemeClr val="tx1"/>
                          </a:solidFill>
                          <a:latin typeface="+mn-lt"/>
                          <a:ea typeface="+mn-ea"/>
                          <a:cs typeface="+mn-cs"/>
                        </a:rPr>
                        <a:t xml:space="preserve">Actions:</a:t>
                      </a: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1461243"/>
                  </a:ext>
                </a:extLst>
              </a:tr>
              <a:tr h="1482575">
                <a:tc>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b="1" dirty="0">
                          <a:solidFill>
                            <a:schemeClr val="accent5">
                              <a:lumMod val="75000"/>
                              <a:lumOff val="25000"/>
                            </a:schemeClr>
                          </a:solidFill>
                        </a:rPr>
                        <a:t xml:space="preserve">Stage 2. Monitoring sanctions and other restrictions</a:t>
                      </a:r>
                    </a:p>
                    <a:p>
                      <a:pPr marL="171450" indent="-171450">
                        <a:spcBef>
                          <a:spcPts val="600"/>
                        </a:spcBef>
                        <a:buClr>
                          <a:schemeClr val="accent5">
                            <a:lumMod val="75000"/>
                            <a:lumOff val="25000"/>
                          </a:schemeClr>
                        </a:buClr>
                        <a:buFont typeface="Wingdings" panose="05000000000000000000" pitchFamily="2" charset="2"/>
                        <a:buChar char="§"/>
                      </a:pPr>
                      <a:r>
                        <a:rPr lang="ru-RU" sz="800" dirty="0" smtClean="0"/>
                        <a:t xml:space="preserve">463 counterparties (13.8% registered in jurisdictions subject to OFAC sanctions restrictions)</a:t>
                      </a: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spcBef>
                          <a:spcPts val="600"/>
                        </a:spcBef>
                        <a:buClr>
                          <a:schemeClr val="accent1"/>
                        </a:buClr>
                        <a:buFont typeface="Wingdings" panose="05000000000000000000" pitchFamily="2" charset="2"/>
                        <a:buNone/>
                        <a:defRPr sz="1050" b="0" i="0" u="none" strike="noStrike" kern="1200" spc="0" baseline="0">
                          <a:solidFill>
                            <a:srgbClr val="32373C"/>
                          </a:solidFill>
                          <a:latin typeface="+mn-lt"/>
                          <a:ea typeface="+mn-ea"/>
                          <a:cs typeface="+mn-cs"/>
                        </a:defRPr>
                      </a:pPr>
                      <a:endParaRPr lang="ru-RU" sz="800" b="1" dirty="0"/>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spcBef>
                          <a:spcPts val="600"/>
                        </a:spcBef>
                        <a:buClr>
                          <a:schemeClr val="accent5">
                            <a:lumMod val="75000"/>
                            <a:lumOff val="25000"/>
                          </a:schemeClr>
                        </a:buClr>
                        <a:buFont typeface="Wingdings" panose="05000000000000000000" pitchFamily="2" charset="2"/>
                        <a:buChar char="§"/>
                      </a:pPr>
                      <a:r>
                        <a:rPr lang="ru-RU" sz="800" dirty="0" smtClean="0"/>
                        <a:t xml:space="preserve">As part of the monitoring, no sanctions restrictions were identified.</a:t>
                      </a:r>
                      <a:r>
                        <a:rPr lang="ru-RU" sz="800" baseline="0" dirty="0" smtClean="0"/>
                        <a:t/>
                      </a:r>
                      <a:r>
                        <a:rPr lang="ru-RU" sz="800" dirty="0" smtClean="0"/>
                        <a:t/>
                      </a:r>
                      <a:r>
                        <a:rPr lang="ru-RU" sz="800" baseline="0" dirty="0" smtClean="0"/>
                        <a:t/>
                      </a:r>
                      <a:endParaRPr lang="ru-RU" sz="800" baseline="0" dirty="0"/>
                    </a:p>
                    <a:p>
                      <a:pPr marL="0" indent="0">
                        <a:spcBef>
                          <a:spcPts val="600"/>
                        </a:spcBef>
                        <a:buClr>
                          <a:schemeClr val="accent1"/>
                        </a:buClr>
                        <a:buFont typeface="Wingdings" panose="05000000000000000000" pitchFamily="2" charset="2"/>
                        <a:buNone/>
                      </a:pPr>
                      <a:r>
                        <a:rPr lang="ru-RU" sz="800" baseline="0" dirty="0"/>
                        <a:t> </a:t>
                      </a:r>
                      <a:endParaRPr lang="ru-RU" sz="800" dirty="0"/>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583170" rtl="0" eaLnBrk="1" fontAlgn="auto" latinLnBrk="0" hangingPunct="1">
                        <a:lnSpc>
                          <a:spcPct val="100000"/>
                        </a:lnSpc>
                        <a:spcBef>
                          <a:spcPts val="600"/>
                        </a:spcBef>
                        <a:spcAft>
                          <a:spcPts val="0"/>
                        </a:spcAft>
                        <a:buClr>
                          <a:schemeClr val="accent5">
                            <a:lumMod val="75000"/>
                            <a:lumOff val="25000"/>
                          </a:schemeClr>
                        </a:buClr>
                        <a:buSzTx/>
                        <a:buFont typeface="Wingdings" panose="05000000000000000000" pitchFamily="2" charset="2"/>
                        <a:buChar char="§"/>
                        <a:tabLst/>
                        <a:defRPr/>
                      </a:pPr>
                      <a:r>
                        <a:rPr lang="ru-RU" sz="800" kern="1200" dirty="0" smtClean="0">
                          <a:solidFill>
                            <a:schemeClr val="dk1"/>
                          </a:solidFill>
                          <a:latin typeface="+mn-lt"/>
                          <a:ea typeface="+mn-ea"/>
                          <a:cs typeface="+mn-cs"/>
                        </a:rPr>
                        <a:t xml:space="preserve">No additional action is required.</a:t>
                      </a:r>
                      <a:endParaRPr lang="ru-RU" sz="800" kern="1200" dirty="0">
                        <a:solidFill>
                          <a:schemeClr val="dk1"/>
                        </a:solidFill>
                        <a:latin typeface="+mn-lt"/>
                        <a:ea typeface="+mn-ea"/>
                        <a:cs typeface="+mn-cs"/>
                      </a:endParaRPr>
                    </a:p>
                    <a:p>
                      <a:pPr marL="0" marR="0" lvl="0" indent="0" algn="l" defTabSz="583170" rtl="0" eaLnBrk="1" fontAlgn="auto" latinLnBrk="0" hangingPunct="1">
                        <a:lnSpc>
                          <a:spcPct val="100000"/>
                        </a:lnSpc>
                        <a:spcBef>
                          <a:spcPts val="600"/>
                        </a:spcBef>
                        <a:spcAft>
                          <a:spcPts val="0"/>
                        </a:spcAft>
                        <a:buClr>
                          <a:schemeClr val="accent1"/>
                        </a:buClr>
                        <a:buSzTx/>
                        <a:buFont typeface="Wingdings" panose="05000000000000000000" pitchFamily="2" charset="2"/>
                        <a:buNone/>
                        <a:tabLst/>
                        <a:defRPr/>
                      </a:pPr>
                      <a:endParaRPr lang="ru-RU" sz="800" dirty="0"/>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5279648"/>
                  </a:ext>
                </a:extLst>
              </a:tr>
              <a:tr h="1307681">
                <a:tc>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Bef>
                          <a:spcPts val="1200"/>
                        </a:spcBef>
                      </a:pPr>
                      <a:endParaRPr lang="ru-RU" sz="800" b="1" dirty="0">
                        <a:solidFill>
                          <a:schemeClr val="accent1"/>
                        </a:solidFill>
                      </a:endParaRPr>
                    </a:p>
                    <a:p>
                      <a:r>
                        <a:rPr lang="ru-RU" sz="800" b="1" dirty="0">
                          <a:solidFill>
                            <a:schemeClr val="accent5">
                              <a:lumMod val="75000"/>
                              <a:lumOff val="25000"/>
                            </a:schemeClr>
                          </a:solidFill>
                        </a:rPr>
                        <a:t xml:space="preserve">Stage 3. Monitoring changes in the structure of beneficiaries</a:t>
                      </a:r>
                    </a:p>
                    <a:p>
                      <a:pPr marL="171450" indent="-171450" algn="l" defTabSz="583170" rtl="0" eaLnBrk="1" latinLnBrk="0" hangingPunct="1">
                        <a:spcBef>
                          <a:spcPts val="600"/>
                        </a:spcBef>
                        <a:buClr>
                          <a:schemeClr val="accent5">
                            <a:lumMod val="75000"/>
                            <a:lumOff val="25000"/>
                          </a:schemeClr>
                        </a:buClr>
                        <a:buFont typeface="Wingdings" panose="05000000000000000000" pitchFamily="2" charset="2"/>
                        <a:buChar char="§"/>
                      </a:pPr>
                      <a:r>
                        <a:rPr lang="ru-RU" sz="800" kern="1200" dirty="0" smtClean="0">
                          <a:solidFill>
                            <a:schemeClr val="dk1"/>
                          </a:solidFill>
                          <a:latin typeface="+mn-lt"/>
                          <a:ea typeface="+mn-ea"/>
                          <a:cs typeface="+mn-cs"/>
                        </a:rPr>
                        <a:t xml:space="preserve">463 counterparties (13.8% registered in jurisdictions subject to OFAC sanctions restrictions) from the Compliance List were checked for the relevance of beneficiary structure data</a:t>
                      </a:r>
                    </a:p>
                  </a:txBody>
                  <a:tcPr marL="72000" marR="72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spcBef>
                          <a:spcPts val="600"/>
                        </a:spcBef>
                        <a:buClr>
                          <a:schemeClr val="accent1"/>
                        </a:buClr>
                        <a:buFont typeface="Wingdings" panose="05000000000000000000" pitchFamily="2" charset="2"/>
                        <a:buChar char="§"/>
                      </a:pPr>
                      <a:endParaRPr lang="ru-RU" sz="800" dirty="0">
                        <a:cs typeface="Arial" panose="020B0604020202020204" pitchFamily="34" charset="0"/>
                      </a:endParaRP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spcBef>
                          <a:spcPts val="600"/>
                        </a:spcBef>
                        <a:buClr>
                          <a:schemeClr val="accent1"/>
                        </a:buClr>
                        <a:buFont typeface="Wingdings" panose="05000000000000000000" pitchFamily="2" charset="2"/>
                        <a:buChar char="§"/>
                      </a:pPr>
                      <a:endParaRPr lang="ru-RU" sz="800" dirty="0">
                        <a:cs typeface="Arial" panose="020B0604020202020204" pitchFamily="34" charset="0"/>
                      </a:endParaRPr>
                    </a:p>
                  </a:txBody>
                  <a:tcPr marL="72000" marR="72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lvl="1" indent="-171450" algn="l" defTabSz="583170" rtl="0" eaLnBrk="1" latinLnBrk="0" hangingPunct="1">
                        <a:spcBef>
                          <a:spcPts val="600"/>
                        </a:spcBef>
                        <a:buClr>
                          <a:schemeClr val="accent1"/>
                        </a:buClr>
                        <a:buFont typeface="Wingdings" panose="05000000000000000000" pitchFamily="2" charset="2"/>
                        <a:buChar char="§"/>
                      </a:pPr>
                      <a:endParaRPr lang="ru-RU" sz="800" kern="1200" dirty="0">
                        <a:solidFill>
                          <a:schemeClr val="dk1"/>
                        </a:solidFill>
                        <a:latin typeface="+mn-lt"/>
                        <a:ea typeface="+mn-ea"/>
                        <a:cs typeface="+mn-cs"/>
                      </a:endParaRPr>
                    </a:p>
                    <a:p>
                      <a:pPr marL="171450" marR="0" lvl="0" indent="-171450" algn="l" defTabSz="583170" rtl="0" eaLnBrk="1" fontAlgn="auto" latinLnBrk="0" hangingPunct="1">
                        <a:lnSpc>
                          <a:spcPct val="100000"/>
                        </a:lnSpc>
                        <a:spcBef>
                          <a:spcPts val="600"/>
                        </a:spcBef>
                        <a:spcAft>
                          <a:spcPts val="0"/>
                        </a:spcAft>
                        <a:buClr>
                          <a:schemeClr val="accent5">
                            <a:lumMod val="75000"/>
                            <a:lumOff val="25000"/>
                          </a:schemeClr>
                        </a:buClr>
                        <a:buSzTx/>
                        <a:buFont typeface="Wingdings" panose="05000000000000000000" pitchFamily="2" charset="2"/>
                        <a:buChar char="§"/>
                        <a:tabLst/>
                        <a:defRPr/>
                      </a:pPr>
                      <a:r>
                        <a:rPr lang="ru-RU" sz="800" kern="1200" dirty="0" smtClean="0">
                          <a:solidFill>
                            <a:schemeClr val="dk1"/>
                          </a:solidFill>
                          <a:latin typeface="+mn-lt"/>
                          <a:ea typeface="+mn-ea"/>
                          <a:cs typeface="+mn-cs"/>
                        </a:rPr>
                        <a:t xml:space="preserve">No additional action is required.</a:t>
                      </a:r>
                      <a:endParaRPr lang="ru-RU" sz="800" kern="1200" dirty="0">
                        <a:solidFill>
                          <a:schemeClr val="dk1"/>
                        </a:solidFill>
                        <a:latin typeface="+mn-lt"/>
                        <a:ea typeface="+mn-ea"/>
                        <a:cs typeface="+mn-cs"/>
                      </a:endParaRPr>
                    </a:p>
                  </a:txBody>
                  <a:tcPr marL="72000" marR="72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8829011"/>
                  </a:ext>
                </a:extLst>
              </a:tr>
              <a:tr h="1500347">
                <a:tc>
                  <a:txBody>
                    <a:bodyPr/>
                    <a:lstStyle/>
                    <a:p>
                      <a:pPr algn="l" fontAlgn="t"/>
                      <a:endParaRPr lang="en-US" sz="1000" b="1" i="0" u="none" strike="noStrike" dirty="0">
                        <a:solidFill>
                          <a:schemeClr val="tx1"/>
                        </a:solidFill>
                        <a:effectLst/>
                        <a:latin typeface="+mn-lt"/>
                      </a:endParaRPr>
                    </a:p>
                  </a:txBody>
                  <a:tcPr marL="0" marR="0" marT="36000" marB="36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600"/>
                        </a:spcBef>
                        <a:spcAft>
                          <a:spcPts val="0"/>
                        </a:spcAft>
                        <a:buClr>
                          <a:schemeClr val="accent1"/>
                        </a:buClr>
                        <a:buSzTx/>
                        <a:buFont typeface="Wingdings" panose="05000000000000000000" pitchFamily="2" charset="2"/>
                        <a:buNone/>
                        <a:tabLst/>
                        <a:defRPr/>
                      </a:pPr>
                      <a:endParaRPr lang="ru-RU" sz="600" b="1" dirty="0">
                        <a:solidFill>
                          <a:schemeClr val="accent1"/>
                        </a:solidFill>
                      </a:endParaRPr>
                    </a:p>
                    <a:p>
                      <a:pPr marL="0" marR="0" lvl="0" indent="0" algn="l" defTabSz="583170" rtl="0" eaLnBrk="1" fontAlgn="auto" latinLnBrk="0" hangingPunct="1">
                        <a:lnSpc>
                          <a:spcPct val="100000"/>
                        </a:lnSpc>
                        <a:spcBef>
                          <a:spcPts val="0"/>
                        </a:spcBef>
                        <a:spcAft>
                          <a:spcPts val="0"/>
                        </a:spcAft>
                        <a:buClr>
                          <a:schemeClr val="accent1"/>
                        </a:buClr>
                        <a:buSzTx/>
                        <a:buFont typeface="Wingdings" panose="05000000000000000000" pitchFamily="2" charset="2"/>
                        <a:buNone/>
                        <a:tabLst/>
                        <a:defRPr/>
                      </a:pPr>
                      <a:r>
                        <a:rPr lang="ru-RU" sz="800" b="1" dirty="0">
                          <a:solidFill>
                            <a:schemeClr val="accent5">
                              <a:lumMod val="75000"/>
                              <a:lumOff val="25000"/>
                            </a:schemeClr>
                          </a:solidFill>
                        </a:rPr>
                        <a:t xml:space="preserve">Mitigation measures based on self-test results</a:t>
                      </a:r>
                    </a:p>
                  </a:txBody>
                  <a:tcPr marL="72000" marR="72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600"/>
                        </a:spcBef>
                        <a:spcAft>
                          <a:spcPts val="0"/>
                        </a:spcAft>
                        <a:buClr>
                          <a:schemeClr val="accent1"/>
                        </a:buClr>
                        <a:buSzTx/>
                        <a:buFont typeface="Wingdings" panose="05000000000000000000" pitchFamily="2" charset="2"/>
                        <a:buNone/>
                        <a:tabLst/>
                        <a:defRPr/>
                      </a:pPr>
                      <a:endParaRPr lang="ru-RU" sz="800" dirty="0">
                        <a:cs typeface="Arial" panose="020B0604020202020204" pitchFamily="34" charset="0"/>
                      </a:endParaRPr>
                    </a:p>
                  </a:txBody>
                  <a:tcPr marL="72000" marR="72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583170" rtl="0" eaLnBrk="1" fontAlgn="auto" latinLnBrk="0" hangingPunct="1">
                        <a:lnSpc>
                          <a:spcPct val="100000"/>
                        </a:lnSpc>
                        <a:spcBef>
                          <a:spcPts val="600"/>
                        </a:spcBef>
                        <a:spcAft>
                          <a:spcPts val="0"/>
                        </a:spcAft>
                        <a:buClr>
                          <a:schemeClr val="accent1"/>
                        </a:buClr>
                        <a:buSzTx/>
                        <a:buFont typeface="Wingdings" panose="05000000000000000000" pitchFamily="2" charset="2"/>
                        <a:buNone/>
                        <a:tabLst/>
                        <a:defRPr/>
                      </a:pPr>
                      <a:endParaRPr lang="ru-RU" sz="800" dirty="0">
                        <a:cs typeface="Arial" panose="020B0604020202020204" pitchFamily="34" charset="0"/>
                      </a:endParaRPr>
                    </a:p>
                  </a:txBody>
                  <a:tcPr marL="72000" marR="72000" marT="36000" marB="36000">
                    <a:lnL w="12700" cmpd="sng">
                      <a:noFill/>
                    </a:lnL>
                    <a:lnR w="12700" cmpd="sng">
                      <a:noFill/>
                    </a:lnR>
                    <a:lnT w="9525" cap="flat" cmpd="sng" algn="ctr">
                      <a:solidFill>
                        <a:schemeClr val="accent4"/>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extLst>
                  <a:ext uri="{0D108BD9-81ED-4DB2-BD59-A6C34878D82A}">
                    <a16:rowId xmlns:a16="http://schemas.microsoft.com/office/drawing/2014/main" val="370421626"/>
                  </a:ext>
                </a:extLst>
              </a:tr>
            </a:tbl>
          </a:graphicData>
        </a:graphic>
      </p:graphicFrame>
      <p:cxnSp>
        <p:nvCxnSpPr>
          <p:cNvPr id="17" name="Straight Connector 5">
            <a:extLst>
              <a:ext uri="{FF2B5EF4-FFF2-40B4-BE49-F238E27FC236}">
                <a16:creationId xmlns:a16="http://schemas.microsoft.com/office/drawing/2014/main" id="{37AC65D3-3B11-4467-826F-EFB845FF8115}"/>
              </a:ext>
            </a:extLst>
          </p:cNvPr>
          <p:cNvCxnSpPr/>
          <p:nvPr/>
        </p:nvCxnSpPr>
        <p:spPr>
          <a:xfrm>
            <a:off x="317497" y="1004668"/>
            <a:ext cx="11520000" cy="0"/>
          </a:xfrm>
          <a:prstGeom prst="line">
            <a:avLst/>
          </a:prstGeom>
          <a:noFill/>
          <a:ln w="952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graphicFrame>
        <p:nvGraphicFramePr>
          <p:cNvPr id="18" name="Диаграмма 17"/>
          <p:cNvGraphicFramePr/>
          <p:nvPr>
            <p:extLst>
              <p:ext uri="{D42A27DB-BD31-4B8C-83A1-F6EECF244321}">
                <p14:modId xmlns:p14="http://schemas.microsoft.com/office/powerpoint/2010/main" val="3583788790"/>
              </p:ext>
            </p:extLst>
          </p:nvPr>
        </p:nvGraphicFramePr>
        <p:xfrm>
          <a:off x="3075331" y="3525403"/>
          <a:ext cx="5375150" cy="99133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0" name="Таблица 19"/>
          <p:cNvGraphicFramePr>
            <a:graphicFrameLocks noGrp="1"/>
          </p:cNvGraphicFramePr>
          <p:nvPr>
            <p:extLst>
              <p:ext uri="{D42A27DB-BD31-4B8C-83A1-F6EECF244321}">
                <p14:modId xmlns:p14="http://schemas.microsoft.com/office/powerpoint/2010/main" val="3992332668"/>
              </p:ext>
            </p:extLst>
          </p:nvPr>
        </p:nvGraphicFramePr>
        <p:xfrm>
          <a:off x="3150009" y="4822322"/>
          <a:ext cx="8742482" cy="825600"/>
        </p:xfrm>
        <a:graphic>
          <a:graphicData uri="http://schemas.openxmlformats.org/drawingml/2006/table">
            <a:tbl>
              <a:tblPr/>
              <a:tblGrid>
                <a:gridCol w="390482">
                  <a:extLst>
                    <a:ext uri="{9D8B030D-6E8A-4147-A177-3AD203B41FA5}">
                      <a16:colId xmlns:a16="http://schemas.microsoft.com/office/drawing/2014/main" val="3310980098"/>
                    </a:ext>
                  </a:extLst>
                </a:gridCol>
                <a:gridCol w="5580000">
                  <a:extLst>
                    <a:ext uri="{9D8B030D-6E8A-4147-A177-3AD203B41FA5}">
                      <a16:colId xmlns:a16="http://schemas.microsoft.com/office/drawing/2014/main" val="1332648285"/>
                    </a:ext>
                  </a:extLst>
                </a:gridCol>
                <a:gridCol w="2772000">
                  <a:extLst>
                    <a:ext uri="{9D8B030D-6E8A-4147-A177-3AD203B41FA5}">
                      <a16:colId xmlns:a16="http://schemas.microsoft.com/office/drawing/2014/main" val="3858787338"/>
                    </a:ext>
                  </a:extLst>
                </a:gridCol>
              </a:tblGrid>
              <a:tr h="193351">
                <a:tc>
                  <a:txBody>
                    <a:bodyPr/>
                    <a:lstStyle/>
                    <a:p>
                      <a:pPr algn="ctr"/>
                      <a:endParaRPr lang="ru-RU" sz="800" b="1" dirty="0">
                        <a:solidFill>
                          <a:schemeClr val="tx1"/>
                        </a:solidFill>
                        <a:latin typeface="+mn-lt"/>
                      </a:endParaRPr>
                    </a:p>
                  </a:txBody>
                  <a:tcPr marL="36000" marR="36000" marT="36000" marB="36000">
                    <a:lnL w="12700" cmpd="sng">
                      <a:noFill/>
                      <a:prstDash val="solid"/>
                    </a:lnL>
                    <a:lnR w="6350" cap="flat" cmpd="sng" algn="ctr">
                      <a:solidFill>
                        <a:schemeClr val="bg1"/>
                      </a:solidFill>
                      <a:prstDash val="solid"/>
                      <a:round/>
                      <a:headEnd type="none" w="med" len="med"/>
                      <a:tailEnd type="none" w="med" len="med"/>
                    </a:lnR>
                    <a:lnT w="12700" cmpd="sng">
                      <a:noFill/>
                      <a:prstDash val="solid"/>
                    </a:lnT>
                    <a:lnB w="9525" cap="flat" cmpd="sng" algn="ctr">
                      <a:solidFill>
                        <a:schemeClr val="accent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ru-RU" sz="800" b="1" dirty="0">
                          <a:solidFill>
                            <a:schemeClr val="bg1"/>
                          </a:solidFill>
                          <a:latin typeface="+mn-lt"/>
                        </a:rPr>
                        <a:t xml:space="preserve">Measures</a:t>
                      </a: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prstDash val="solid"/>
                    </a:lnT>
                    <a:lnB w="9525" cap="flat" cmpd="sng" algn="ctr">
                      <a:solidFill>
                        <a:schemeClr val="accent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ru-RU" sz="800" b="1" kern="1200" dirty="0">
                          <a:solidFill>
                            <a:schemeClr val="bg1"/>
                          </a:solidFill>
                          <a:latin typeface="+mn-lt"/>
                          <a:ea typeface="+mn-ea"/>
                          <a:cs typeface="+mn-cs"/>
                        </a:rPr>
                        <a:t xml:space="preserve">Status as of 02/20/2026</a:t>
                      </a:r>
                      <a:r>
                        <a:rPr lang="ru-RU" sz="800" b="1" kern="1200" dirty="0" smtClean="0">
                          <a:solidFill>
                            <a:schemeClr val="bg1"/>
                          </a:solidFill>
                          <a:latin typeface="+mn-lt"/>
                          <a:ea typeface="+mn-ea"/>
                          <a:cs typeface="+mn-cs"/>
                        </a:rPr>
                        <a:t/>
                      </a:r>
                      <a:endParaRPr lang="ru-RU" sz="800" b="1" kern="1200" dirty="0">
                        <a:solidFill>
                          <a:schemeClr val="bg1"/>
                        </a:solidFill>
                        <a:latin typeface="+mn-lt"/>
                        <a:ea typeface="+mn-ea"/>
                        <a:cs typeface="+mn-cs"/>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mpd="sng">
                      <a:noFill/>
                      <a:prstDash val="solid"/>
                    </a:lnT>
                    <a:lnB w="9525" cap="flat" cmpd="sng" algn="ctr">
                      <a:solidFill>
                        <a:schemeClr val="accent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021405005"/>
                  </a:ext>
                </a:extLst>
              </a:tr>
              <a:tr h="252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800" b="0" dirty="0">
                          <a:solidFill>
                            <a:schemeClr val="accent5">
                              <a:lumMod val="50000"/>
                              <a:lumOff val="50000"/>
                            </a:schemeClr>
                          </a:solidFill>
                          <a:latin typeface="+mn-lt"/>
                        </a:rPr>
                        <a:t>1</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accent2">
                          <a:lumMod val="40000"/>
                          <a:lumOff val="60000"/>
                        </a:schemeClr>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ru-RU" sz="800" b="0" dirty="0">
                          <a:solidFill>
                            <a:schemeClr val="tx1"/>
                          </a:solidFill>
                          <a:latin typeface="+mn-lt"/>
                        </a:rPr>
                        <a:t xml:space="preserve">Informing business (CEO of Perimeter, first managers of enterprises / heads of Divisions) about the results of self-testing of the Compliance List, identified violations and inconsistencies</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accent2">
                          <a:lumMod val="40000"/>
                          <a:lumOff val="60000"/>
                        </a:schemeClr>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 xml:space="preserve">Completed (01/21/2026)</a:t>
                      </a:r>
                      <a:endParaRPr lang="ru-RU" sz="800" dirty="0"/>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accent2">
                          <a:lumMod val="40000"/>
                          <a:lumOff val="60000"/>
                        </a:schemeClr>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86271"/>
                  </a:ext>
                </a:extLst>
              </a:tr>
              <a:tr h="252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800" b="0" dirty="0">
                          <a:solidFill>
                            <a:schemeClr val="accent5">
                              <a:lumMod val="50000"/>
                              <a:lumOff val="50000"/>
                            </a:schemeClr>
                          </a:solidFill>
                          <a:latin typeface="+mn-lt"/>
                        </a:rPr>
                        <a:t>2</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ru-RU" sz="800" b="0" dirty="0">
                          <a:solidFill>
                            <a:schemeClr val="tx1"/>
                          </a:solidFill>
                          <a:latin typeface="+mn-lt"/>
                        </a:rPr>
                        <a:t xml:space="preserve">Conducting additional training on the rules of the Compliance List and the CCP for employees who committed violations</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8900" marR="0" lvl="0" indent="-88900" algn="l" defTabSz="583170" rtl="0" eaLnBrk="1" fontAlgn="auto" latinLnBrk="0" hangingPunct="1">
                        <a:lnSpc>
                          <a:spcPct val="100000"/>
                        </a:lnSpc>
                        <a:spcBef>
                          <a:spcPts val="0"/>
                        </a:spcBef>
                        <a:spcAft>
                          <a:spcPts val="0"/>
                        </a:spcAft>
                        <a:buClr>
                          <a:schemeClr val="accent5">
                            <a:lumMod val="75000"/>
                            <a:lumOff val="25000"/>
                          </a:schemeClr>
                        </a:buClr>
                        <a:buSzTx/>
                        <a:buFont typeface="Wingdings" panose="05000000000000000000" pitchFamily="2" charset="2"/>
                        <a:buChar char="ü"/>
                        <a:tabLst/>
                        <a:defRPr/>
                      </a:pPr>
                      <a:r>
                        <a:rPr kumimoji="0" lang="ru-RU" sz="800" b="0" i="0" u="none" strike="noStrike" kern="1200" cap="none" spc="0" normalizeH="0" baseline="0" noProof="0" dirty="0" smtClean="0">
                          <a:ln>
                            <a:noFill/>
                          </a:ln>
                          <a:solidFill>
                            <a:srgbClr val="32373C"/>
                          </a:solidFill>
                          <a:effectLst/>
                          <a:uLnTx/>
                          <a:uFillTx/>
                          <a:latin typeface="+mn-lt"/>
                          <a:ea typeface="+mn-ea"/>
                          <a:cs typeface="+mn-cs"/>
                        </a:rPr>
                        <a:t xml:space="preserve">Completed (02/05/2026)</a:t>
                      </a:r>
                      <a:r>
                        <a:rPr kumimoji="0" lang="ru-RU" sz="800" b="0" i="0" u="none" strike="noStrike" kern="1200" cap="none" spc="0" normalizeH="0" baseline="0" dirty="0" smtClean="0">
                          <a:ln>
                            <a:noFill/>
                          </a:ln>
                          <a:solidFill>
                            <a:srgbClr val="32373C"/>
                          </a:solidFill>
                          <a:effectLst/>
                          <a:uLnTx/>
                          <a:uFillTx/>
                          <a:latin typeface="+mn-lt"/>
                          <a:ea typeface="+mn-ea"/>
                          <a:cs typeface="+mn-cs"/>
                        </a:rPr>
                        <a:t/>
                      </a:r>
                      <a:endParaRPr kumimoji="0" lang="ru-RU" sz="800" b="0" i="0" u="none" strike="noStrike" kern="1200" cap="none" spc="0" normalizeH="0" baseline="0" dirty="0">
                        <a:ln>
                          <a:noFill/>
                        </a:ln>
                        <a:solidFill>
                          <a:srgbClr val="32373C"/>
                        </a:solidFill>
                        <a:effectLst/>
                        <a:uLnTx/>
                        <a:uFillTx/>
                        <a:latin typeface="+mn-lt"/>
                        <a:ea typeface="+mn-ea"/>
                        <a:cs typeface="+mn-cs"/>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1726810"/>
                  </a:ext>
                </a:extLst>
              </a:tr>
            </a:tbl>
          </a:graphicData>
        </a:graphic>
      </p:graphicFrame>
      <p:sp>
        <p:nvSpPr>
          <p:cNvPr id="21" name="TextBox 20">
            <a:extLst>
              <a:ext uri="{FF2B5EF4-FFF2-40B4-BE49-F238E27FC236}">
                <a16:creationId xmlns:a16="http://schemas.microsoft.com/office/drawing/2014/main" id="{63A2C1E7-5338-4FDD-9331-B6B8B867A8B8}"/>
              </a:ext>
            </a:extLst>
          </p:cNvPr>
          <p:cNvSpPr txBox="1"/>
          <p:nvPr/>
        </p:nvSpPr>
        <p:spPr>
          <a:xfrm>
            <a:off x="4574540" y="3836403"/>
            <a:ext cx="4023360" cy="369332"/>
          </a:xfrm>
          <a:prstGeom prst="rect">
            <a:avLst/>
          </a:prstGeom>
        </p:spPr>
        <p:txBody>
          <a:bodyPr wrap="square" lIns="0" tIns="0" rIns="0" bIns="0" rtlCol="0">
            <a:spAutoFit/>
          </a:bodyPr>
          <a:lstStyle/>
          <a:p>
            <a:pPr marL="88900" indent="-88900">
              <a:buClr>
                <a:schemeClr val="accent5">
                  <a:lumMod val="75000"/>
                  <a:lumOff val="25000"/>
                </a:schemeClr>
              </a:buClr>
              <a:buFont typeface="Arial" panose="020B0604020202020204" pitchFamily="34" charset="0"/>
              <a:buChar char="•"/>
            </a:pPr>
            <a:r>
              <a:rPr lang="ru-RU" sz="800" dirty="0"/>
              <a:t xml:space="preserve">There are changes in the UBO structure [0]</a:t>
            </a:r>
            <a:r>
              <a:rPr lang="en-US" sz="800" dirty="0"/>
              <a:t/>
            </a:r>
            <a:r>
              <a:rPr lang="ru-RU" sz="800" dirty="0"/>
              <a:t/>
            </a:r>
            <a:r>
              <a:rPr lang="en-US" sz="800" dirty="0"/>
              <a:t/>
            </a:r>
            <a:endParaRPr lang="ru-RU" sz="800" dirty="0"/>
          </a:p>
          <a:p>
            <a:pPr marL="285750" indent="-285750">
              <a:buClr>
                <a:schemeClr val="accent5">
                  <a:lumMod val="50000"/>
                  <a:lumOff val="50000"/>
                </a:schemeClr>
              </a:buClr>
              <a:buFont typeface="Arial" panose="020B0604020202020204" pitchFamily="34" charset="0"/>
              <a:buChar char="•"/>
            </a:pPr>
            <a:endParaRPr lang="ru-RU" sz="800" dirty="0"/>
          </a:p>
          <a:p>
            <a:pPr marL="88900" indent="-88900">
              <a:buClr>
                <a:schemeClr val="accent5">
                  <a:lumMod val="75000"/>
                  <a:lumOff val="25000"/>
                </a:schemeClr>
              </a:buClr>
              <a:buFont typeface="Arial" panose="020B0604020202020204" pitchFamily="34" charset="0"/>
              <a:buChar char="•"/>
            </a:pPr>
            <a:r>
              <a:rPr lang="ru-RU" sz="800" dirty="0" smtClean="0"/>
              <a:t xml:space="preserve">No changes to UBO structure [463]</a:t>
            </a:r>
            <a:r>
              <a:rPr lang="ru-RU" sz="800" dirty="0"/>
              <a:t/>
            </a:r>
            <a:r>
              <a:rPr lang="en-US" sz="800" dirty="0"/>
              <a:t/>
            </a:r>
            <a:r>
              <a:rPr lang="ru-RU" sz="800" dirty="0"/>
              <a:t/>
            </a:r>
            <a:r>
              <a:rPr lang="en-US" sz="800" dirty="0" smtClean="0"/>
              <a:t/>
            </a:r>
            <a:r>
              <a:rPr lang="ru-RU" sz="800" dirty="0" smtClean="0"/>
              <a:t/>
            </a:r>
            <a:r>
              <a:rPr lang="en-US" sz="800" dirty="0" smtClean="0"/>
              <a:t/>
            </a:r>
            <a:endParaRPr lang="ru-RU" sz="800" dirty="0"/>
          </a:p>
        </p:txBody>
      </p:sp>
    </p:spTree>
    <p:extLst>
      <p:ext uri="{BB962C8B-B14F-4D97-AF65-F5344CB8AC3E}">
        <p14:creationId xmlns:p14="http://schemas.microsoft.com/office/powerpoint/2010/main" val="1528574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 dirty="0"/>
              <a:t>Прил.</a:t>
            </a:r>
            <a:r>
              <a:rPr lang="en-US" dirty="0"/>
              <a:t> </a:t>
            </a:r>
            <a:r>
              <a:rPr lang="ru-RU" dirty="0" smtClean="0"/>
              <a:t>3</a:t>
            </a:r>
            <a:r>
              <a:rPr lang="ru" dirty="0" smtClean="0"/>
              <a:t>: </a:t>
            </a:r>
            <a:r>
              <a:rPr lang="ru" dirty="0"/>
              <a:t>Управление рисками третьих сторон</a:t>
            </a:r>
            <a:r>
              <a:rPr lang="en-US" dirty="0"/>
              <a:t/>
            </a:r>
            <a:br>
              <a:rPr lang="en-US" dirty="0"/>
            </a:br>
            <a:r>
              <a:rPr lang="ru-RU" dirty="0" smtClean="0">
                <a:solidFill>
                  <a:schemeClr val="tx1"/>
                </a:solidFill>
              </a:rPr>
              <a:t>Дополнительные самотестирования процесса КПК </a:t>
            </a:r>
            <a:endParaRPr lang="ru-RU" dirty="0">
              <a:solidFill>
                <a:schemeClr val="tx1"/>
              </a:solidFill>
            </a:endParaRPr>
          </a:p>
        </p:txBody>
      </p:sp>
      <p:sp>
        <p:nvSpPr>
          <p:cNvPr id="4" name="Заголовок 1"/>
          <p:cNvSpPr txBox="1">
            <a:spLocks/>
          </p:cNvSpPr>
          <p:nvPr/>
        </p:nvSpPr>
        <p:spPr>
          <a:xfrm>
            <a:off x="314707" y="844596"/>
            <a:ext cx="11452540" cy="609173"/>
          </a:xfrm>
          <a:prstGeom prst="rect">
            <a:avLst/>
          </a:prstGeom>
        </p:spPr>
        <p:txBody>
          <a:bodyPr vert="horz" lIns="0" tIns="0" rIns="0" bIns="0" rtlCol="0" anchor="t">
            <a:noAutofit/>
          </a:bodyPr>
          <a:lstStyle>
            <a:lvl1pPr algn="l" defTabSz="583170" rtl="0" eaLnBrk="1" latinLnBrk="0" hangingPunct="1">
              <a:lnSpc>
                <a:spcPct val="100000"/>
              </a:lnSpc>
              <a:spcBef>
                <a:spcPct val="0"/>
              </a:spcBef>
              <a:buNone/>
              <a:defRPr lang="ru-RU" sz="1800" b="0" kern="1200">
                <a:solidFill>
                  <a:schemeClr val="accent1"/>
                </a:solidFill>
                <a:latin typeface="+mj-lt"/>
                <a:ea typeface="+mj-ea"/>
                <a:cs typeface="+mj-cs"/>
              </a:defRPr>
            </a:lvl1pPr>
          </a:lstStyle>
          <a:p>
            <a:pPr marL="228600" indent="-228600" algn="just">
              <a:buFont typeface="+mj-lt"/>
              <a:buAutoNum type="arabicPeriod"/>
            </a:pPr>
            <a:r>
              <a:rPr lang="ru-RU" sz="1200" dirty="0">
                <a:solidFill>
                  <a:schemeClr val="accent5">
                    <a:lumMod val="75000"/>
                    <a:lumOff val="25000"/>
                  </a:schemeClr>
                </a:solidFill>
              </a:rPr>
              <a:t xml:space="preserve">Self-testing of framework agreements for compliance with the requirements for them, including verification of additional agreements subject to compliance verification</a:t>
            </a:r>
            <a:r>
              <a:rPr lang="ru-RU" sz="1200" dirty="0" smtClean="0">
                <a:solidFill>
                  <a:schemeClr val="accent5">
                    <a:lumMod val="75000"/>
                    <a:lumOff val="25000"/>
                  </a:schemeClr>
                </a:solidFill>
              </a:rPr>
              <a:t/>
            </a:r>
            <a:r>
              <a:rPr lang="ru-RU" sz="1200" dirty="0">
                <a:solidFill>
                  <a:schemeClr val="accent5">
                    <a:lumMod val="75000"/>
                    <a:lumOff val="25000"/>
                  </a:schemeClr>
                </a:solidFill>
              </a:rPr>
              <a:t/>
            </a:r>
            <a:endParaRPr lang="ru-RU" sz="1200" kern="0" dirty="0">
              <a:solidFill>
                <a:schemeClr val="accent5">
                  <a:lumMod val="75000"/>
                  <a:lumOff val="25000"/>
                </a:schemeClr>
              </a:solidFill>
            </a:endParaRPr>
          </a:p>
        </p:txBody>
      </p:sp>
      <p:sp>
        <p:nvSpPr>
          <p:cNvPr id="5" name="Прямоугольник 4"/>
          <p:cNvSpPr/>
          <p:nvPr/>
        </p:nvSpPr>
        <p:spPr>
          <a:xfrm>
            <a:off x="314707" y="6398234"/>
            <a:ext cx="5123518"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 xml:space="preserve">Storage of supporting materials for self-testing: folders on OMEGA (Perimeter Kazakhstan server)</a:t>
            </a:r>
            <a:r>
              <a:rPr lang="en-US" sz="700" i="1" dirty="0">
                <a:solidFill>
                  <a:schemeClr val="accent5">
                    <a:lumMod val="75000"/>
                    <a:lumOff val="25000"/>
                  </a:schemeClr>
                </a:solidFill>
              </a:rPr>
              <a:t/>
            </a:r>
            <a:r>
              <a:rPr lang="ru-RU" sz="700" i="1" dirty="0">
                <a:solidFill>
                  <a:schemeClr val="accent5">
                    <a:lumMod val="75000"/>
                    <a:lumOff val="25000"/>
                  </a:schemeClr>
                </a:solidFill>
              </a:rPr>
              <a:t/>
            </a:r>
          </a:p>
        </p:txBody>
      </p:sp>
      <p:sp>
        <p:nvSpPr>
          <p:cNvPr id="14" name="Текст 2"/>
          <p:cNvSpPr>
            <a:spLocks noGrp="1"/>
          </p:cNvSpPr>
          <p:nvPr>
            <p:ph type="body" sz="quarter" idx="4294967295"/>
          </p:nvPr>
        </p:nvSpPr>
        <p:spPr>
          <a:xfrm>
            <a:off x="314707" y="1385784"/>
            <a:ext cx="11452540" cy="459012"/>
          </a:xfrm>
          <a:prstGeom prst="rect">
            <a:avLst/>
          </a:prstGeom>
        </p:spPr>
        <p:txBody>
          <a:bodyPr/>
          <a:lstStyle/>
          <a:p>
            <a:pPr marL="0" indent="0">
              <a:lnSpc>
                <a:spcPct val="100000"/>
              </a:lnSpc>
              <a:spcBef>
                <a:spcPts val="0"/>
              </a:spcBef>
              <a:spcAft>
                <a:spcPts val="0"/>
              </a:spcAft>
              <a:buClr>
                <a:schemeClr val="accent1"/>
              </a:buClr>
              <a:buNone/>
            </a:pPr>
            <a:r>
              <a:rPr lang="ru-RU" sz="800" u="sng" dirty="0">
                <a:solidFill>
                  <a:schemeClr val="accent5">
                    <a:lumMod val="75000"/>
                    <a:lumOff val="25000"/>
                  </a:schemeClr>
                </a:solidFill>
              </a:rPr>
              <a:t xml:space="preserve">Sample for analysis:</a:t>
            </a:r>
            <a:r>
              <a:rPr lang="ru-RU" sz="800" u="sng" dirty="0" smtClean="0">
                <a:solidFill>
                  <a:schemeClr val="accent5">
                    <a:lumMod val="75000"/>
                    <a:lumOff val="25000"/>
                  </a:schemeClr>
                </a:solidFill>
              </a:rPr>
              <a:t/>
            </a:r>
          </a:p>
          <a:p>
            <a:pPr marL="87313" indent="-87313">
              <a:lnSpc>
                <a:spcPct val="100000"/>
              </a:lnSpc>
              <a:spcBef>
                <a:spcPts val="0"/>
              </a:spcBef>
              <a:spcAft>
                <a:spcPts val="0"/>
              </a:spcAft>
              <a:buClr>
                <a:schemeClr val="accent5">
                  <a:lumMod val="75000"/>
                  <a:lumOff val="25000"/>
                </a:schemeClr>
              </a:buClr>
            </a:pPr>
            <a:r>
              <a:rPr lang="ru-RU" sz="800" dirty="0" smtClean="0"/>
              <a:t xml:space="preserve">Total number of framework agreements for the period December 2024 – November 2025 – 4,900 (according to the Compliance 2.2. system), of which 20 framework agreements (189 specifications/applications) were selected for self-testing using a random sampling method.</a:t>
            </a:r>
            <a:r>
              <a:rPr lang="ru-RU" sz="800" dirty="0"/>
              <a:t/>
            </a:r>
            <a:r>
              <a:rPr lang="ru-RU" sz="800" dirty="0" smtClean="0"/>
              <a:t/>
            </a:r>
            <a:r>
              <a:rPr lang="ru-RU" sz="800" dirty="0"/>
              <a:t/>
            </a:r>
            <a:r>
              <a:rPr lang="ru-RU" sz="800" dirty="0" smtClean="0"/>
              <a:t/>
            </a:r>
            <a:r>
              <a:rPr lang="en-US" sz="800" dirty="0" smtClean="0"/>
              <a:t/>
            </a:r>
            <a:r>
              <a:rPr lang="ru-RU" sz="800" dirty="0"/>
              <a:t/>
            </a:r>
            <a:r>
              <a:rPr lang="en-US" sz="800" dirty="0"/>
              <a:t/>
            </a:r>
            <a:r>
              <a:rPr lang="ru-RU" sz="800" dirty="0"/>
              <a:t/>
            </a:r>
            <a:r>
              <a:rPr lang="ru-RU" sz="800" dirty="0" smtClean="0"/>
              <a:t/>
            </a:r>
            <a:r>
              <a:rPr lang="ru-RU" sz="800" dirty="0"/>
              <a:t/>
            </a:r>
            <a:r>
              <a:rPr lang="ru-RU" sz="800" dirty="0" smtClean="0"/>
              <a:t/>
            </a:r>
            <a:r>
              <a:rPr lang="en-US" sz="800" dirty="0" smtClean="0"/>
              <a:t/>
            </a:r>
            <a:r>
              <a:rPr lang="ru-RU" sz="800" dirty="0" smtClean="0"/>
              <a:t/>
            </a:r>
            <a:r>
              <a:rPr lang="en-US" sz="800" dirty="0" smtClean="0"/>
              <a:t/>
            </a:r>
          </a:p>
        </p:txBody>
      </p:sp>
      <p:sp>
        <p:nvSpPr>
          <p:cNvPr id="15" name="Текст 3"/>
          <p:cNvSpPr txBox="1">
            <a:spLocks/>
          </p:cNvSpPr>
          <p:nvPr/>
        </p:nvSpPr>
        <p:spPr>
          <a:xfrm>
            <a:off x="303095" y="5634567"/>
            <a:ext cx="11453474" cy="829733"/>
          </a:xfrm>
          <a:prstGeom prst="rect">
            <a:avLst/>
          </a:prstGeom>
        </p:spPr>
        <p:txBody>
          <a:bodyPr lIns="0" tIns="0" rIns="0" bIns="0"/>
          <a:lstStyle>
            <a:lvl1pPr marL="0" indent="0" algn="l" defTabSz="583170" rtl="0" eaLnBrk="1" latinLnBrk="0" hangingPunct="1">
              <a:lnSpc>
                <a:spcPct val="90000"/>
              </a:lnSpc>
              <a:spcBef>
                <a:spcPts val="638"/>
              </a:spcBef>
              <a:spcAft>
                <a:spcPts val="300"/>
              </a:spcAft>
              <a:buFont typeface="Arial" panose="020B0604020202020204" pitchFamily="34" charset="0"/>
              <a:buNone/>
              <a:defRPr lang="en-US" sz="1600" b="0" kern="1200" dirty="0">
                <a:solidFill>
                  <a:schemeClr val="tx1"/>
                </a:solidFill>
                <a:latin typeface="+mn-lt"/>
                <a:ea typeface="+mn-ea"/>
                <a:cs typeface="+mn-cs"/>
              </a:defRPr>
            </a:lvl1pPr>
            <a:lvl2pPr marL="437378" indent="-145792" algn="l" defTabSz="583170" rtl="0" eaLnBrk="1" latinLnBrk="0" hangingPunct="1">
              <a:lnSpc>
                <a:spcPct val="90000"/>
              </a:lnSpc>
              <a:spcBef>
                <a:spcPts val="319"/>
              </a:spcBef>
              <a:buFont typeface="Arial" panose="020B0604020202020204" pitchFamily="34" charset="0"/>
              <a:buChar char="•"/>
              <a:defRPr sz="1531" kern="1200">
                <a:solidFill>
                  <a:schemeClr val="tx1"/>
                </a:solidFill>
                <a:latin typeface="+mn-lt"/>
                <a:ea typeface="+mn-ea"/>
                <a:cs typeface="+mn-cs"/>
              </a:defRPr>
            </a:lvl2pPr>
            <a:lvl3pPr marL="728963" indent="-145792" algn="l" defTabSz="583170" rtl="0" eaLnBrk="1" latinLnBrk="0" hangingPunct="1">
              <a:lnSpc>
                <a:spcPct val="90000"/>
              </a:lnSpc>
              <a:spcBef>
                <a:spcPts val="319"/>
              </a:spcBef>
              <a:buFont typeface="Arial" panose="020B0604020202020204" pitchFamily="34" charset="0"/>
              <a:buChar char="•"/>
              <a:defRPr sz="1275" kern="1200">
                <a:solidFill>
                  <a:schemeClr val="tx1"/>
                </a:solidFill>
                <a:latin typeface="+mn-lt"/>
                <a:ea typeface="+mn-ea"/>
                <a:cs typeface="+mn-cs"/>
              </a:defRPr>
            </a:lvl3pPr>
            <a:lvl4pPr marL="102054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4pPr>
            <a:lvl5pPr marL="1312133"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5pPr>
            <a:lvl6pPr marL="160371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6pPr>
            <a:lvl7pPr marL="1895303"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7pPr>
            <a:lvl8pPr marL="218688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8pPr>
            <a:lvl9pPr marL="2478472"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9pPr>
          </a:lstStyle>
          <a:p>
            <a:pPr>
              <a:lnSpc>
                <a:spcPct val="100000"/>
              </a:lnSpc>
              <a:spcBef>
                <a:spcPts val="0"/>
              </a:spcBef>
              <a:spcAft>
                <a:spcPts val="0"/>
              </a:spcAft>
              <a:buClr>
                <a:schemeClr val="accent1"/>
              </a:buClr>
            </a:pPr>
            <a:r>
              <a:rPr lang="ru-RU" sz="800" u="sng" dirty="0">
                <a:solidFill>
                  <a:schemeClr val="accent5">
                    <a:lumMod val="75000"/>
                    <a:lumOff val="25000"/>
                  </a:schemeClr>
                </a:solidFill>
              </a:rPr>
              <a:t xml:space="preserve">Check result:</a:t>
            </a:r>
            <a:r>
              <a:rPr lang="ru-RU" sz="800" u="sng" dirty="0" smtClean="0">
                <a:solidFill>
                  <a:schemeClr val="accent5">
                    <a:lumMod val="75000"/>
                    <a:lumOff val="25000"/>
                  </a:schemeClr>
                </a:solidFill>
              </a:rPr>
              <a:t/>
            </a:r>
            <a:endParaRPr lang="ru-RU" sz="800" u="sng" dirty="0">
              <a:solidFill>
                <a:schemeClr val="accent5">
                  <a:lumMod val="75000"/>
                  <a:lumOff val="25000"/>
                </a:schemeClr>
              </a:solidFill>
            </a:endParaRPr>
          </a:p>
          <a:p>
            <a:pPr marL="87313" indent="-87313">
              <a:lnSpc>
                <a:spcPct val="100000"/>
              </a:lnSpc>
              <a:spcBef>
                <a:spcPts val="0"/>
              </a:spcBef>
              <a:spcAft>
                <a:spcPts val="0"/>
              </a:spcAft>
              <a:buClr>
                <a:schemeClr val="accent5">
                  <a:lumMod val="75000"/>
                  <a:lumOff val="25000"/>
                </a:schemeClr>
              </a:buClr>
              <a:buFont typeface="Arial" panose="020B0604020202020204" pitchFamily="34" charset="0"/>
              <a:buChar char="•"/>
            </a:pPr>
            <a:r>
              <a:rPr lang="ru-RU" sz="800" dirty="0"/>
              <a:t xml:space="preserve">Based on the results of self-testing of 20 framework agreements, it was established that the requirements of the CCP were met for all 20 framework agreements. During the analysis of specifications and additional agreements, no violations or inconsistencies with the requirements of the CCP were identified.</a:t>
            </a:r>
            <a:r>
              <a:rPr lang="ru-RU" sz="800" dirty="0" smtClean="0"/>
              <a:t/>
            </a:r>
          </a:p>
          <a:p>
            <a:pPr marL="87313" indent="-87313">
              <a:lnSpc>
                <a:spcPct val="100000"/>
              </a:lnSpc>
              <a:spcBef>
                <a:spcPts val="0"/>
              </a:spcBef>
              <a:spcAft>
                <a:spcPts val="0"/>
              </a:spcAft>
              <a:buClr>
                <a:schemeClr val="accent5">
                  <a:lumMod val="75000"/>
                  <a:lumOff val="25000"/>
                </a:schemeClr>
              </a:buClr>
              <a:buFont typeface="Arial" panose="020B0604020202020204" pitchFamily="34" charset="0"/>
              <a:buChar char="•"/>
            </a:pPr>
            <a:r>
              <a:rPr lang="ru-RU" sz="800" dirty="0" smtClean="0"/>
              <a:t xml:space="preserve">In order to comply with the requirements of the CPC, systematic monitoring of framework agreements and counterparties will be continued for the timely identification of transactions subject to mandatory compliance verification.</a:t>
            </a:r>
            <a:r>
              <a:rPr lang="ru-RU" sz="800" dirty="0"/>
              <a:t/>
            </a:r>
          </a:p>
        </p:txBody>
      </p:sp>
      <p:graphicFrame>
        <p:nvGraphicFramePr>
          <p:cNvPr id="16" name="Таблица 15"/>
          <p:cNvGraphicFramePr>
            <a:graphicFrameLocks noGrp="1"/>
          </p:cNvGraphicFramePr>
          <p:nvPr>
            <p:extLst>
              <p:ext uri="{D42A27DB-BD31-4B8C-83A1-F6EECF244321}">
                <p14:modId xmlns:p14="http://schemas.microsoft.com/office/powerpoint/2010/main" val="98278347"/>
              </p:ext>
            </p:extLst>
          </p:nvPr>
        </p:nvGraphicFramePr>
        <p:xfrm>
          <a:off x="314707" y="1978784"/>
          <a:ext cx="3389596" cy="360000"/>
        </p:xfrm>
        <a:graphic>
          <a:graphicData uri="http://schemas.openxmlformats.org/drawingml/2006/table">
            <a:tbl>
              <a:tblPr firstRow="1" bandRow="1">
                <a:tableStyleId>{0E3FDE45-AF77-4B5C-9715-49D594BDF05E}</a:tableStyleId>
              </a:tblPr>
              <a:tblGrid>
                <a:gridCol w="2318426">
                  <a:extLst>
                    <a:ext uri="{9D8B030D-6E8A-4147-A177-3AD203B41FA5}">
                      <a16:colId xmlns:a16="http://schemas.microsoft.com/office/drawing/2014/main" val="1422470546"/>
                    </a:ext>
                  </a:extLst>
                </a:gridCol>
                <a:gridCol w="1071170">
                  <a:extLst>
                    <a:ext uri="{9D8B030D-6E8A-4147-A177-3AD203B41FA5}">
                      <a16:colId xmlns:a16="http://schemas.microsoft.com/office/drawing/2014/main" val="2407136012"/>
                    </a:ext>
                  </a:extLst>
                </a:gridCol>
              </a:tblGrid>
              <a:tr h="360000">
                <a:tc>
                  <a:txBody>
                    <a:bodyPr/>
                    <a:lstStyle/>
                    <a:p>
                      <a:pPr algn="ctr"/>
                      <a:r>
                        <a:rPr lang="ru-RU" sz="800" dirty="0" smtClean="0">
                          <a:solidFill>
                            <a:schemeClr val="accent5">
                              <a:lumMod val="75000"/>
                              <a:lumOff val="25000"/>
                            </a:schemeClr>
                          </a:solidFill>
                        </a:rPr>
                        <a:t xml:space="preserve">Total number of specifications for framework contracts</a:t>
                      </a:r>
                      <a:r>
                        <a:rPr lang="ru-RU" sz="800" baseline="0" dirty="0" smtClean="0">
                          <a:solidFill>
                            <a:schemeClr val="accent5">
                              <a:lumMod val="75000"/>
                              <a:lumOff val="25000"/>
                            </a:schemeClr>
                          </a:solidFill>
                        </a:rPr>
                        <a:t/>
                      </a:r>
                      <a:endParaRPr lang="ru-RU" sz="800" dirty="0">
                        <a:solidFill>
                          <a:schemeClr val="accent5">
                            <a:lumMod val="75000"/>
                            <a:lumOff val="25000"/>
                          </a:schemeClr>
                        </a:solidFill>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tcPr>
                </a:tc>
                <a:tc>
                  <a:txBody>
                    <a:bodyPr/>
                    <a:lstStyle/>
                    <a:p>
                      <a:pPr algn="ctr"/>
                      <a:r>
                        <a:rPr lang="ru-RU" sz="800" dirty="0" smtClean="0"/>
                        <a:t>189</a:t>
                      </a:r>
                      <a:endParaRPr lang="ru-RU" sz="800" dirty="0"/>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tcPr>
                </a:tc>
                <a:extLst>
                  <a:ext uri="{0D108BD9-81ED-4DB2-BD59-A6C34878D82A}">
                    <a16:rowId xmlns:a16="http://schemas.microsoft.com/office/drawing/2014/main" val="1934217276"/>
                  </a:ext>
                </a:extLst>
              </a:tr>
            </a:tbl>
          </a:graphicData>
        </a:graphic>
      </p:graphicFrame>
      <p:graphicFrame>
        <p:nvGraphicFramePr>
          <p:cNvPr id="17" name="Таблица 16"/>
          <p:cNvGraphicFramePr>
            <a:graphicFrameLocks noGrp="1"/>
          </p:cNvGraphicFramePr>
          <p:nvPr>
            <p:extLst>
              <p:ext uri="{D42A27DB-BD31-4B8C-83A1-F6EECF244321}">
                <p14:modId xmlns:p14="http://schemas.microsoft.com/office/powerpoint/2010/main" val="3623836701"/>
              </p:ext>
            </p:extLst>
          </p:nvPr>
        </p:nvGraphicFramePr>
        <p:xfrm>
          <a:off x="3853259" y="1978782"/>
          <a:ext cx="3852000" cy="3234265"/>
        </p:xfrm>
        <a:graphic>
          <a:graphicData uri="http://schemas.openxmlformats.org/drawingml/2006/table">
            <a:tbl>
              <a:tblPr firstRow="1" bandRow="1">
                <a:tableStyleId>{0E3FDE45-AF77-4B5C-9715-49D594BDF05E}</a:tableStyleId>
              </a:tblPr>
              <a:tblGrid>
                <a:gridCol w="1836000">
                  <a:extLst>
                    <a:ext uri="{9D8B030D-6E8A-4147-A177-3AD203B41FA5}">
                      <a16:colId xmlns:a16="http://schemas.microsoft.com/office/drawing/2014/main" val="73739984"/>
                    </a:ext>
                  </a:extLst>
                </a:gridCol>
                <a:gridCol w="720000">
                  <a:extLst>
                    <a:ext uri="{9D8B030D-6E8A-4147-A177-3AD203B41FA5}">
                      <a16:colId xmlns:a16="http://schemas.microsoft.com/office/drawing/2014/main" val="1395198343"/>
                    </a:ext>
                  </a:extLst>
                </a:gridCol>
                <a:gridCol w="1296000">
                  <a:extLst>
                    <a:ext uri="{9D8B030D-6E8A-4147-A177-3AD203B41FA5}">
                      <a16:colId xmlns:a16="http://schemas.microsoft.com/office/drawing/2014/main" val="1060233187"/>
                    </a:ext>
                  </a:extLst>
                </a:gridCol>
              </a:tblGrid>
              <a:tr h="361643">
                <a:tc gridSpan="3">
                  <a:txBody>
                    <a:bodyPr/>
                    <a:lstStyle/>
                    <a:p>
                      <a:pPr algn="ctr"/>
                      <a:r>
                        <a:rPr lang="ru-RU" sz="800" dirty="0" smtClean="0">
                          <a:solidFill>
                            <a:schemeClr val="accent5">
                              <a:lumMod val="75000"/>
                              <a:lumOff val="25000"/>
                            </a:schemeClr>
                          </a:solidFill>
                          <a:latin typeface="+mj-lt"/>
                        </a:rPr>
                        <a:t xml:space="preserve">Details of significant changes</a:t>
                      </a:r>
                      <a:endParaRPr lang="ru-RU" sz="800" dirty="0">
                        <a:solidFill>
                          <a:schemeClr val="accent5">
                            <a:lumMod val="75000"/>
                            <a:lumOff val="25000"/>
                          </a:schemeClr>
                        </a:solidFill>
                        <a:latin typeface="+mj-lt"/>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tcPr>
                </a:tc>
                <a:tc hMerge="1">
                  <a:txBody>
                    <a:bodyPr/>
                    <a:lstStyle/>
                    <a:p>
                      <a:endParaRPr lang="ru-RU" dirty="0"/>
                    </a:p>
                  </a:txBody>
                  <a:tcPr/>
                </a:tc>
                <a:tc hMerge="1">
                  <a:txBody>
                    <a:bodyPr/>
                    <a:lstStyle/>
                    <a:p>
                      <a:endParaRPr lang="ru-RU" dirty="0"/>
                    </a:p>
                  </a:txBody>
                  <a:tcPr/>
                </a:tc>
                <a:extLst>
                  <a:ext uri="{0D108BD9-81ED-4DB2-BD59-A6C34878D82A}">
                    <a16:rowId xmlns:a16="http://schemas.microsoft.com/office/drawing/2014/main" val="505308125"/>
                  </a:ext>
                </a:extLst>
              </a:tr>
              <a:tr h="336810">
                <a:tc>
                  <a:txBody>
                    <a:bodyPr/>
                    <a:lstStyle/>
                    <a:p>
                      <a:pPr algn="ctr"/>
                      <a:r>
                        <a:rPr lang="ru-RU" sz="800" b="1" dirty="0" smtClean="0">
                          <a:solidFill>
                            <a:schemeClr val="tx1"/>
                          </a:solidFill>
                          <a:latin typeface="+mj-lt"/>
                        </a:rPr>
                        <a:t xml:space="preserve">Type of changes</a:t>
                      </a:r>
                      <a:endParaRPr lang="ru-RU" sz="800" b="1" dirty="0">
                        <a:solidFill>
                          <a:schemeClr val="tx1"/>
                        </a:solidFill>
                        <a:latin typeface="+mj-lt"/>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a:r>
                        <a:rPr lang="ru-RU" sz="800" b="1" dirty="0" smtClean="0">
                          <a:solidFill>
                            <a:schemeClr val="tx1"/>
                          </a:solidFill>
                          <a:latin typeface="+mj-lt"/>
                        </a:rPr>
                        <a:t xml:space="preserve">Qty</a:t>
                      </a:r>
                      <a:endParaRPr lang="ru-RU" sz="800" b="1" dirty="0">
                        <a:solidFill>
                          <a:schemeClr val="tx1"/>
                        </a:solidFill>
                        <a:latin typeface="+mj-lt"/>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a:r>
                        <a:rPr lang="ru-RU" sz="800" b="1" dirty="0" smtClean="0">
                          <a:solidFill>
                            <a:schemeClr val="tx1"/>
                          </a:solidFill>
                          <a:latin typeface="+mj-lt"/>
                        </a:rPr>
                        <a:t xml:space="preserve">Share in significant</a:t>
                      </a:r>
                      <a:endParaRPr lang="ru-RU" sz="800" b="1" dirty="0">
                        <a:solidFill>
                          <a:schemeClr val="tx1"/>
                        </a:solidFill>
                        <a:latin typeface="+mj-lt"/>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711242800"/>
                  </a:ext>
                </a:extLst>
              </a:tr>
              <a:tr h="724723">
                <a:tc>
                  <a:txBody>
                    <a:bodyPr/>
                    <a:lstStyle/>
                    <a:p>
                      <a:pPr algn="l" fontAlgn="b"/>
                      <a:r>
                        <a:rPr lang="ru-RU" sz="800" b="0" i="0" u="none" strike="noStrike" dirty="0">
                          <a:solidFill>
                            <a:srgbClr val="000000"/>
                          </a:solidFill>
                          <a:effectLst/>
                          <a:latin typeface="+mj-lt"/>
                        </a:rPr>
                        <a:t xml:space="preserve">Adding a shipper and/or manufacturer</a:t>
                      </a:r>
                      <a:r>
                        <a:rPr lang="ru-RU" sz="800" b="0" i="0" u="none" strike="noStrike" dirty="0" smtClean="0">
                          <a:solidFill>
                            <a:srgbClr val="000000"/>
                          </a:solidFill>
                          <a:effectLst/>
                          <a:latin typeface="+mj-lt"/>
                        </a:rPr>
                        <a:t/>
                      </a:r>
                      <a:r>
                        <a:rPr lang="ru-RU" sz="800" b="0" i="0" u="none" strike="noStrike" dirty="0">
                          <a:solidFill>
                            <a:srgbClr val="000000"/>
                          </a:solidFill>
                          <a:effectLst/>
                          <a:latin typeface="+mj-lt"/>
                        </a:rPr>
                        <a:t/>
                      </a:r>
                    </a:p>
                  </a:txBody>
                  <a:tcPr marL="7620" marR="7620" marT="7620" marB="0" anchor="ctr">
                    <a:lnT w="6350" cap="flat" cmpd="sng" algn="ctr">
                      <a:solidFill>
                        <a:schemeClr val="accent5">
                          <a:lumMod val="75000"/>
                          <a:lumOff val="25000"/>
                        </a:schemeClr>
                      </a:solidFill>
                      <a:prstDash val="solid"/>
                      <a:round/>
                      <a:headEnd type="none" w="med" len="med"/>
                      <a:tailEnd type="none" w="med" len="med"/>
                    </a:lnT>
                  </a:tcPr>
                </a:tc>
                <a:tc>
                  <a:txBody>
                    <a:bodyPr/>
                    <a:lstStyle/>
                    <a:p>
                      <a:pPr algn="ctr" fontAlgn="b"/>
                      <a:r>
                        <a:rPr lang="ru-RU" sz="800" b="0" i="0" u="none" strike="noStrike" dirty="0" smtClean="0">
                          <a:solidFill>
                            <a:srgbClr val="000000"/>
                          </a:solidFill>
                          <a:effectLst/>
                          <a:latin typeface="+mj-lt"/>
                        </a:rPr>
                        <a:t>50</a:t>
                      </a:r>
                      <a:endParaRPr lang="ru-RU" sz="800" b="0" i="0" u="none" strike="noStrike" dirty="0">
                        <a:solidFill>
                          <a:srgbClr val="000000"/>
                        </a:solidFill>
                        <a:effectLst/>
                        <a:latin typeface="+mj-lt"/>
                      </a:endParaRPr>
                    </a:p>
                  </a:txBody>
                  <a:tcPr marL="7620" marR="7620" marT="7620" marB="0" anchor="ctr">
                    <a:lnT w="6350" cap="flat" cmpd="sng" algn="ctr">
                      <a:solidFill>
                        <a:schemeClr val="accent5">
                          <a:lumMod val="75000"/>
                          <a:lumOff val="25000"/>
                        </a:schemeClr>
                      </a:solidFill>
                      <a:prstDash val="solid"/>
                      <a:round/>
                      <a:headEnd type="none" w="med" len="med"/>
                      <a:tailEnd type="none" w="med" len="med"/>
                    </a:lnT>
                  </a:tcPr>
                </a:tc>
                <a:tc>
                  <a:txBody>
                    <a:bodyPr/>
                    <a:lstStyle/>
                    <a:p>
                      <a:pPr algn="ctr"/>
                      <a:r>
                        <a:rPr lang="ru-RU" sz="800" dirty="0" smtClean="0">
                          <a:latin typeface="+mj-lt"/>
                        </a:rPr>
                        <a:t>66%</a:t>
                      </a:r>
                      <a:endParaRPr lang="ru-RU" sz="800" dirty="0">
                        <a:latin typeface="+mj-lt"/>
                      </a:endParaRPr>
                    </a:p>
                  </a:txBody>
                  <a:tcPr anchor="ctr">
                    <a:lnT w="6350" cap="flat" cmpd="sng" algn="ctr">
                      <a:solidFill>
                        <a:schemeClr val="accent5">
                          <a:lumMod val="75000"/>
                          <a:lumOff val="25000"/>
                        </a:schemeClr>
                      </a:solidFill>
                      <a:prstDash val="solid"/>
                      <a:round/>
                      <a:headEnd type="none" w="med" len="med"/>
                      <a:tailEnd type="none" w="med" len="med"/>
                    </a:lnT>
                  </a:tcPr>
                </a:tc>
                <a:extLst>
                  <a:ext uri="{0D108BD9-81ED-4DB2-BD59-A6C34878D82A}">
                    <a16:rowId xmlns:a16="http://schemas.microsoft.com/office/drawing/2014/main" val="2561660883"/>
                  </a:ext>
                </a:extLst>
              </a:tr>
              <a:tr h="724723">
                <a:tc>
                  <a:txBody>
                    <a:bodyPr/>
                    <a:lstStyle/>
                    <a:p>
                      <a:pPr algn="l" fontAlgn="b"/>
                      <a:r>
                        <a:rPr lang="ru-RU" sz="800" b="0" i="0" u="none" strike="noStrike" dirty="0">
                          <a:solidFill>
                            <a:srgbClr val="000000"/>
                          </a:solidFill>
                          <a:effectLst/>
                          <a:latin typeface="+mj-lt"/>
                        </a:rPr>
                        <a:t xml:space="preserve">Increase in AP amount</a:t>
                      </a:r>
                    </a:p>
                  </a:txBody>
                  <a:tcPr marL="7620" marR="7620" marT="7620" marB="0" anchor="ctr">
                    <a:noFill/>
                  </a:tcPr>
                </a:tc>
                <a:tc>
                  <a:txBody>
                    <a:bodyPr/>
                    <a:lstStyle/>
                    <a:p>
                      <a:pPr algn="ctr" fontAlgn="b"/>
                      <a:r>
                        <a:rPr lang="ru-RU" sz="800" b="0" i="0" u="none" strike="noStrike" dirty="0">
                          <a:solidFill>
                            <a:srgbClr val="000000"/>
                          </a:solidFill>
                          <a:effectLst/>
                          <a:latin typeface="+mj-lt"/>
                        </a:rPr>
                        <a:t>24</a:t>
                      </a:r>
                    </a:p>
                  </a:txBody>
                  <a:tcPr marL="7620" marR="7620" marT="7620" marB="0" anchor="ctr">
                    <a:noFill/>
                  </a:tcPr>
                </a:tc>
                <a:tc>
                  <a:txBody>
                    <a:bodyPr/>
                    <a:lstStyle/>
                    <a:p>
                      <a:pPr algn="ctr"/>
                      <a:r>
                        <a:rPr lang="ru-RU" sz="800" dirty="0" smtClean="0">
                          <a:latin typeface="+mj-lt"/>
                        </a:rPr>
                        <a:t>32%</a:t>
                      </a:r>
                      <a:endParaRPr lang="ru-RU" sz="800" dirty="0">
                        <a:latin typeface="+mj-lt"/>
                      </a:endParaRPr>
                    </a:p>
                  </a:txBody>
                  <a:tcPr anchor="ctr">
                    <a:noFill/>
                  </a:tcPr>
                </a:tc>
                <a:extLst>
                  <a:ext uri="{0D108BD9-81ED-4DB2-BD59-A6C34878D82A}">
                    <a16:rowId xmlns:a16="http://schemas.microsoft.com/office/drawing/2014/main" val="908440638"/>
                  </a:ext>
                </a:extLst>
              </a:tr>
              <a:tr h="724723">
                <a:tc>
                  <a:txBody>
                    <a:bodyPr/>
                    <a:lstStyle/>
                    <a:p>
                      <a:pPr algn="l" fontAlgn="b"/>
                      <a:r>
                        <a:rPr lang="ru-RU" sz="800" b="0" i="0" u="none" strike="noStrike" dirty="0">
                          <a:solidFill>
                            <a:srgbClr val="000000"/>
                          </a:solidFill>
                          <a:effectLst/>
                          <a:latin typeface="+mj-lt"/>
                        </a:rPr>
                        <a:t xml:space="preserve">Changing the counterparty's bank details</a:t>
                      </a:r>
                    </a:p>
                  </a:txBody>
                  <a:tcPr marL="7620" marR="7620" marT="7620" marB="0" anchor="ctr"/>
                </a:tc>
                <a:tc>
                  <a:txBody>
                    <a:bodyPr/>
                    <a:lstStyle/>
                    <a:p>
                      <a:pPr algn="ctr" fontAlgn="b"/>
                      <a:r>
                        <a:rPr lang="ru-RU" sz="800" b="0" i="0" u="none" strike="noStrike" dirty="0">
                          <a:solidFill>
                            <a:srgbClr val="000000"/>
                          </a:solidFill>
                          <a:effectLst/>
                          <a:latin typeface="+mj-lt"/>
                        </a:rPr>
                        <a:t>2</a:t>
                      </a:r>
                    </a:p>
                  </a:txBody>
                  <a:tcPr marL="7620" marR="7620" marT="7620" marB="0" anchor="ctr"/>
                </a:tc>
                <a:tc>
                  <a:txBody>
                    <a:bodyPr/>
                    <a:lstStyle/>
                    <a:p>
                      <a:pPr algn="ctr"/>
                      <a:r>
                        <a:rPr lang="ru-RU" sz="800" dirty="0" smtClean="0">
                          <a:latin typeface="+mj-lt"/>
                        </a:rPr>
                        <a:t>2%</a:t>
                      </a:r>
                      <a:endParaRPr lang="ru-RU" sz="800" dirty="0">
                        <a:latin typeface="+mj-lt"/>
                      </a:endParaRPr>
                    </a:p>
                  </a:txBody>
                  <a:tcPr anchor="ctr"/>
                </a:tc>
                <a:extLst>
                  <a:ext uri="{0D108BD9-81ED-4DB2-BD59-A6C34878D82A}">
                    <a16:rowId xmlns:a16="http://schemas.microsoft.com/office/drawing/2014/main" val="139587755"/>
                  </a:ext>
                </a:extLst>
              </a:tr>
              <a:tr h="361643">
                <a:tc>
                  <a:txBody>
                    <a:bodyPr/>
                    <a:lstStyle/>
                    <a:p>
                      <a:pPr algn="l" fontAlgn="b"/>
                      <a:r>
                        <a:rPr lang="ru-RU" sz="800" b="1" i="0" u="none" strike="noStrike" dirty="0" smtClean="0">
                          <a:solidFill>
                            <a:srgbClr val="000000"/>
                          </a:solidFill>
                          <a:effectLst/>
                          <a:latin typeface="+mj-lt"/>
                        </a:rPr>
                        <a:t xml:space="preserve">Total</a:t>
                      </a:r>
                      <a:endParaRPr lang="ru-RU" sz="800" b="1" i="0" u="none" strike="noStrike" dirty="0">
                        <a:solidFill>
                          <a:srgbClr val="000000"/>
                        </a:solidFill>
                        <a:effectLst/>
                        <a:latin typeface="+mj-lt"/>
                      </a:endParaRPr>
                    </a:p>
                  </a:txBody>
                  <a:tcPr marL="7620" marR="7620" marT="7620" marB="0" anchor="ctr">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b"/>
                      <a:r>
                        <a:rPr lang="ru-RU" sz="800" b="1" i="0" u="none" strike="noStrike" dirty="0" smtClean="0">
                          <a:solidFill>
                            <a:srgbClr val="000000"/>
                          </a:solidFill>
                          <a:effectLst/>
                          <a:latin typeface="+mj-lt"/>
                        </a:rPr>
                        <a:t>76</a:t>
                      </a:r>
                      <a:endParaRPr lang="ru-RU" sz="800" b="1" i="0" u="none" strike="noStrike" dirty="0">
                        <a:solidFill>
                          <a:srgbClr val="000000"/>
                        </a:solidFill>
                        <a:effectLst/>
                        <a:latin typeface="+mj-lt"/>
                      </a:endParaRPr>
                    </a:p>
                  </a:txBody>
                  <a:tcPr marL="7620" marR="7620" marT="7620" marB="0" anchor="ctr">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a:r>
                        <a:rPr lang="ru-RU" sz="800" b="1" dirty="0" smtClean="0">
                          <a:latin typeface="+mj-lt"/>
                        </a:rPr>
                        <a:t>100%</a:t>
                      </a:r>
                      <a:endParaRPr lang="ru-RU" sz="800" b="1" dirty="0">
                        <a:latin typeface="+mj-lt"/>
                      </a:endParaRPr>
                    </a:p>
                  </a:txBody>
                  <a:tcPr anchor="ctr">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188222505"/>
                  </a:ext>
                </a:extLst>
              </a:tr>
            </a:tbl>
          </a:graphicData>
        </a:graphic>
      </p:graphicFrame>
      <p:graphicFrame>
        <p:nvGraphicFramePr>
          <p:cNvPr id="18" name="Таблица 17"/>
          <p:cNvGraphicFramePr>
            <a:graphicFrameLocks noGrp="1"/>
          </p:cNvGraphicFramePr>
          <p:nvPr>
            <p:extLst>
              <p:ext uri="{D42A27DB-BD31-4B8C-83A1-F6EECF244321}">
                <p14:modId xmlns:p14="http://schemas.microsoft.com/office/powerpoint/2010/main" val="841667323"/>
              </p:ext>
            </p:extLst>
          </p:nvPr>
        </p:nvGraphicFramePr>
        <p:xfrm>
          <a:off x="7981619" y="1978788"/>
          <a:ext cx="3852000" cy="3234260"/>
        </p:xfrm>
        <a:graphic>
          <a:graphicData uri="http://schemas.openxmlformats.org/drawingml/2006/table">
            <a:tbl>
              <a:tblPr firstRow="1" bandRow="1">
                <a:tableStyleId>{0E3FDE45-AF77-4B5C-9715-49D594BDF05E}</a:tableStyleId>
              </a:tblPr>
              <a:tblGrid>
                <a:gridCol w="1836000">
                  <a:extLst>
                    <a:ext uri="{9D8B030D-6E8A-4147-A177-3AD203B41FA5}">
                      <a16:colId xmlns:a16="http://schemas.microsoft.com/office/drawing/2014/main" val="73739984"/>
                    </a:ext>
                  </a:extLst>
                </a:gridCol>
                <a:gridCol w="720000">
                  <a:extLst>
                    <a:ext uri="{9D8B030D-6E8A-4147-A177-3AD203B41FA5}">
                      <a16:colId xmlns:a16="http://schemas.microsoft.com/office/drawing/2014/main" val="1395198343"/>
                    </a:ext>
                  </a:extLst>
                </a:gridCol>
                <a:gridCol w="1296000">
                  <a:extLst>
                    <a:ext uri="{9D8B030D-6E8A-4147-A177-3AD203B41FA5}">
                      <a16:colId xmlns:a16="http://schemas.microsoft.com/office/drawing/2014/main" val="1060233187"/>
                    </a:ext>
                  </a:extLst>
                </a:gridCol>
              </a:tblGrid>
              <a:tr h="360000">
                <a:tc gridSpan="3">
                  <a:txBody>
                    <a:bodyPr/>
                    <a:lstStyle/>
                    <a:p>
                      <a:pPr algn="ctr"/>
                      <a:r>
                        <a:rPr lang="ru-RU" sz="800" dirty="0" smtClean="0">
                          <a:solidFill>
                            <a:schemeClr val="accent5">
                              <a:lumMod val="75000"/>
                              <a:lumOff val="25000"/>
                            </a:schemeClr>
                          </a:solidFill>
                          <a:latin typeface="+mj-lt"/>
                        </a:rPr>
                        <a:t xml:space="preserve">Detailing of minor changes</a:t>
                      </a:r>
                      <a:endParaRPr lang="ru-RU" sz="800" dirty="0">
                        <a:solidFill>
                          <a:schemeClr val="accent5">
                            <a:lumMod val="75000"/>
                            <a:lumOff val="25000"/>
                          </a:schemeClr>
                        </a:solidFill>
                        <a:latin typeface="+mj-lt"/>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tcPr>
                </a:tc>
                <a:tc hMerge="1">
                  <a:txBody>
                    <a:bodyPr/>
                    <a:lstStyle/>
                    <a:p>
                      <a:endParaRPr lang="ru-RU" dirty="0"/>
                    </a:p>
                  </a:txBody>
                  <a:tcPr/>
                </a:tc>
                <a:tc hMerge="1">
                  <a:txBody>
                    <a:bodyPr/>
                    <a:lstStyle/>
                    <a:p>
                      <a:endParaRPr lang="ru-RU" dirty="0"/>
                    </a:p>
                  </a:txBody>
                  <a:tcPr/>
                </a:tc>
                <a:extLst>
                  <a:ext uri="{0D108BD9-81ED-4DB2-BD59-A6C34878D82A}">
                    <a16:rowId xmlns:a16="http://schemas.microsoft.com/office/drawing/2014/main" val="505308125"/>
                  </a:ext>
                </a:extLst>
              </a:tr>
              <a:tr h="324000">
                <a:tc>
                  <a:txBody>
                    <a:bodyPr/>
                    <a:lstStyle/>
                    <a:p>
                      <a:pPr algn="ctr"/>
                      <a:r>
                        <a:rPr lang="ru-RU" sz="800" b="1" dirty="0" smtClean="0">
                          <a:solidFill>
                            <a:schemeClr val="tx1"/>
                          </a:solidFill>
                          <a:latin typeface="+mj-lt"/>
                        </a:rPr>
                        <a:t xml:space="preserve">Type of changes</a:t>
                      </a:r>
                      <a:endParaRPr lang="ru-RU" sz="800" b="1" dirty="0">
                        <a:solidFill>
                          <a:schemeClr val="tx1"/>
                        </a:solidFill>
                        <a:latin typeface="+mj-lt"/>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a:r>
                        <a:rPr lang="ru-RU" sz="800" b="1" dirty="0" smtClean="0">
                          <a:solidFill>
                            <a:schemeClr val="tx1"/>
                          </a:solidFill>
                          <a:latin typeface="+mj-lt"/>
                        </a:rPr>
                        <a:t xml:space="preserve">Qty</a:t>
                      </a:r>
                      <a:endParaRPr lang="ru-RU" sz="800" b="1" dirty="0">
                        <a:solidFill>
                          <a:schemeClr val="tx1"/>
                        </a:solidFill>
                        <a:latin typeface="+mj-lt"/>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a:r>
                        <a:rPr lang="ru-RU" sz="800" b="1" dirty="0" smtClean="0">
                          <a:solidFill>
                            <a:schemeClr val="tx1"/>
                          </a:solidFill>
                          <a:latin typeface="+mj-lt"/>
                        </a:rPr>
                        <a:t xml:space="preserve">Share in non-essential</a:t>
                      </a:r>
                      <a:endParaRPr lang="ru-RU" sz="800" b="1" dirty="0">
                        <a:solidFill>
                          <a:schemeClr val="tx1"/>
                        </a:solidFill>
                        <a:latin typeface="+mj-lt"/>
                      </a:endParaRPr>
                    </a:p>
                  </a:txBody>
                  <a:tcPr anchor="ct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711242800"/>
                  </a:ext>
                </a:extLst>
              </a:tr>
              <a:tr h="252000">
                <a:tc>
                  <a:txBody>
                    <a:bodyPr/>
                    <a:lstStyle/>
                    <a:p>
                      <a:pPr algn="l" fontAlgn="b"/>
                      <a:r>
                        <a:rPr lang="ru-RU" sz="800" b="0" i="0" u="none" strike="noStrike" dirty="0" smtClean="0">
                          <a:solidFill>
                            <a:srgbClr val="000000"/>
                          </a:solidFill>
                          <a:effectLst/>
                          <a:latin typeface="+mj-lt"/>
                        </a:rPr>
                        <a:t xml:space="preserve">Determination of the product lot</a:t>
                      </a:r>
                      <a:r>
                        <a:rPr lang="ru-RU" sz="800" b="0" i="0" u="none" strike="noStrike" baseline="0" dirty="0" smtClean="0">
                          <a:solidFill>
                            <a:srgbClr val="000000"/>
                          </a:solidFill>
                          <a:effectLst/>
                          <a:latin typeface="+mj-lt"/>
                        </a:rPr>
                        <a:t/>
                      </a:r>
                      <a:endParaRPr lang="ru-RU" sz="800" b="0" i="0" u="none" strike="noStrike" dirty="0">
                        <a:solidFill>
                          <a:srgbClr val="000000"/>
                        </a:solidFill>
                        <a:effectLst/>
                        <a:latin typeface="+mj-lt"/>
                      </a:endParaRPr>
                    </a:p>
                  </a:txBody>
                  <a:tcPr marL="7620" marR="7620" marT="7620" marB="0" anchor="ctr">
                    <a:lnT w="6350" cap="flat" cmpd="sng" algn="ctr">
                      <a:solidFill>
                        <a:schemeClr val="accent5">
                          <a:lumMod val="75000"/>
                          <a:lumOff val="25000"/>
                        </a:schemeClr>
                      </a:solidFill>
                      <a:prstDash val="solid"/>
                      <a:round/>
                      <a:headEnd type="none" w="med" len="med"/>
                      <a:tailEnd type="none" w="med" len="med"/>
                    </a:lnT>
                  </a:tcPr>
                </a:tc>
                <a:tc>
                  <a:txBody>
                    <a:bodyPr/>
                    <a:lstStyle/>
                    <a:p>
                      <a:pPr algn="ctr" fontAlgn="b"/>
                      <a:r>
                        <a:rPr lang="ru-RU" sz="800" b="0" i="0" u="none" strike="noStrike" dirty="0" smtClean="0">
                          <a:solidFill>
                            <a:srgbClr val="000000"/>
                          </a:solidFill>
                          <a:effectLst/>
                          <a:latin typeface="+mj-lt"/>
                        </a:rPr>
                        <a:t>82</a:t>
                      </a:r>
                      <a:endParaRPr lang="ru-RU" sz="800" b="0" i="0" u="none" strike="noStrike" dirty="0">
                        <a:solidFill>
                          <a:srgbClr val="000000"/>
                        </a:solidFill>
                        <a:effectLst/>
                        <a:latin typeface="+mj-lt"/>
                      </a:endParaRPr>
                    </a:p>
                  </a:txBody>
                  <a:tcPr marL="7620" marR="7620" marT="7620" marB="0" anchor="ctr">
                    <a:lnT w="6350" cap="flat" cmpd="sng" algn="ctr">
                      <a:solidFill>
                        <a:schemeClr val="accent5">
                          <a:lumMod val="75000"/>
                          <a:lumOff val="25000"/>
                        </a:schemeClr>
                      </a:solidFill>
                      <a:prstDash val="solid"/>
                      <a:round/>
                      <a:headEnd type="none" w="med" len="med"/>
                      <a:tailEnd type="none" w="med" len="med"/>
                    </a:lnT>
                  </a:tcPr>
                </a:tc>
                <a:tc>
                  <a:txBody>
                    <a:bodyPr/>
                    <a:lstStyle/>
                    <a:p>
                      <a:pPr algn="ctr"/>
                      <a:r>
                        <a:rPr lang="ru-RU" sz="800" dirty="0" smtClean="0">
                          <a:latin typeface="+mj-lt"/>
                        </a:rPr>
                        <a:t>73%</a:t>
                      </a:r>
                      <a:endParaRPr lang="ru-RU" sz="800" dirty="0">
                        <a:latin typeface="+mj-lt"/>
                      </a:endParaRPr>
                    </a:p>
                  </a:txBody>
                  <a:tcPr anchor="ctr">
                    <a:lnT w="6350" cap="flat" cmpd="sng" algn="ctr">
                      <a:solidFill>
                        <a:schemeClr val="accent5">
                          <a:lumMod val="75000"/>
                          <a:lumOff val="25000"/>
                        </a:schemeClr>
                      </a:solidFill>
                      <a:prstDash val="solid"/>
                      <a:round/>
                      <a:headEnd type="none" w="med" len="med"/>
                      <a:tailEnd type="none" w="med" len="med"/>
                    </a:lnT>
                  </a:tcPr>
                </a:tc>
                <a:extLst>
                  <a:ext uri="{0D108BD9-81ED-4DB2-BD59-A6C34878D82A}">
                    <a16:rowId xmlns:a16="http://schemas.microsoft.com/office/drawing/2014/main" val="4097120766"/>
                  </a:ext>
                </a:extLst>
              </a:tr>
              <a:tr h="499257">
                <a:tc>
                  <a:txBody>
                    <a:bodyPr/>
                    <a:lstStyle/>
                    <a:p>
                      <a:pPr algn="l" fontAlgn="b"/>
                      <a:r>
                        <a:rPr lang="ru-RU" sz="800" b="0" i="0" u="none" strike="noStrike" dirty="0" smtClean="0">
                          <a:solidFill>
                            <a:srgbClr val="000000"/>
                          </a:solidFill>
                          <a:effectLst/>
                          <a:latin typeface="+mj-lt"/>
                        </a:rPr>
                        <a:t xml:space="preserve">Changing the contract amount (reducing the OA amount, redistributing the contract amount)</a:t>
                      </a:r>
                    </a:p>
                  </a:txBody>
                  <a:tcPr marL="7620" marR="7620" marT="7620" marB="0" anchor="ctr">
                    <a:noFill/>
                  </a:tcPr>
                </a:tc>
                <a:tc>
                  <a:txBody>
                    <a:bodyPr/>
                    <a:lstStyle/>
                    <a:p>
                      <a:pPr algn="ctr" fontAlgn="b"/>
                      <a:r>
                        <a:rPr lang="ru-RU" sz="800" b="0" i="0" u="none" strike="noStrike" dirty="0" smtClean="0">
                          <a:solidFill>
                            <a:srgbClr val="000000"/>
                          </a:solidFill>
                          <a:effectLst/>
                          <a:latin typeface="+mj-lt"/>
                        </a:rPr>
                        <a:t>14</a:t>
                      </a:r>
                      <a:endParaRPr lang="ru-RU" sz="800" b="0" i="0" u="none" strike="noStrike" dirty="0">
                        <a:solidFill>
                          <a:srgbClr val="000000"/>
                        </a:solidFill>
                        <a:effectLst/>
                        <a:latin typeface="+mj-lt"/>
                      </a:endParaRPr>
                    </a:p>
                  </a:txBody>
                  <a:tcPr marL="7620" marR="7620" marT="7620" marB="0" anchor="ctr">
                    <a:noFill/>
                  </a:tcPr>
                </a:tc>
                <a:tc>
                  <a:txBody>
                    <a:bodyPr/>
                    <a:lstStyle/>
                    <a:p>
                      <a:pPr algn="ctr"/>
                      <a:r>
                        <a:rPr lang="ru-RU" sz="800" dirty="0" smtClean="0">
                          <a:latin typeface="+mj-lt"/>
                        </a:rPr>
                        <a:t>12%</a:t>
                      </a:r>
                      <a:endParaRPr lang="ru-RU" sz="800" dirty="0">
                        <a:latin typeface="+mj-lt"/>
                      </a:endParaRPr>
                    </a:p>
                  </a:txBody>
                  <a:tcPr anchor="ctr">
                    <a:noFill/>
                  </a:tcPr>
                </a:tc>
                <a:extLst>
                  <a:ext uri="{0D108BD9-81ED-4DB2-BD59-A6C34878D82A}">
                    <a16:rowId xmlns:a16="http://schemas.microsoft.com/office/drawing/2014/main" val="2033077336"/>
                  </a:ext>
                </a:extLst>
              </a:tr>
              <a:tr h="622151">
                <a:tc>
                  <a:txBody>
                    <a:bodyPr/>
                    <a:lstStyle/>
                    <a:p>
                      <a:pPr algn="l" fontAlgn="b"/>
                      <a:r>
                        <a:rPr lang="ru-RU" sz="800" b="0" i="0" u="none" strike="noStrike" dirty="0" smtClean="0">
                          <a:solidFill>
                            <a:srgbClr val="000000"/>
                          </a:solidFill>
                          <a:effectLst/>
                          <a:latin typeface="+mj-lt"/>
                        </a:rPr>
                        <a:t xml:space="preserve">Technical changes under the contract (changes in the name of the product, the address of the ERG company, etc. that do not require a CCP application)</a:t>
                      </a:r>
                      <a:endParaRPr lang="ru-RU" sz="800" b="0" i="0" u="none" strike="noStrike" dirty="0">
                        <a:solidFill>
                          <a:srgbClr val="000000"/>
                        </a:solidFill>
                        <a:effectLst/>
                        <a:latin typeface="+mj-lt"/>
                      </a:endParaRPr>
                    </a:p>
                  </a:txBody>
                  <a:tcPr marL="7620" marR="7620" marT="7620" marB="0" anchor="ctr"/>
                </a:tc>
                <a:tc>
                  <a:txBody>
                    <a:bodyPr/>
                    <a:lstStyle/>
                    <a:p>
                      <a:pPr algn="ctr" fontAlgn="b"/>
                      <a:r>
                        <a:rPr lang="ru-RU" sz="800" b="0" i="0" u="none" strike="noStrike" dirty="0" smtClean="0">
                          <a:solidFill>
                            <a:srgbClr val="000000"/>
                          </a:solidFill>
                          <a:effectLst/>
                          <a:latin typeface="+mj-lt"/>
                        </a:rPr>
                        <a:t>11</a:t>
                      </a:r>
                      <a:endParaRPr lang="ru-RU" sz="800" b="0" i="0" u="none" strike="noStrike" dirty="0">
                        <a:solidFill>
                          <a:srgbClr val="000000"/>
                        </a:solidFill>
                        <a:effectLst/>
                        <a:latin typeface="+mj-lt"/>
                      </a:endParaRPr>
                    </a:p>
                  </a:txBody>
                  <a:tcPr marL="7620" marR="7620" marT="7620" marB="0" anchor="ctr"/>
                </a:tc>
                <a:tc>
                  <a:txBody>
                    <a:bodyPr/>
                    <a:lstStyle/>
                    <a:p>
                      <a:pPr algn="ctr"/>
                      <a:r>
                        <a:rPr lang="ru-RU" sz="800" dirty="0" smtClean="0">
                          <a:latin typeface="+mj-lt"/>
                        </a:rPr>
                        <a:t>10%</a:t>
                      </a:r>
                      <a:endParaRPr lang="ru-RU" sz="800" dirty="0">
                        <a:latin typeface="+mj-lt"/>
                      </a:endParaRPr>
                    </a:p>
                  </a:txBody>
                  <a:tcPr anchor="ctr"/>
                </a:tc>
                <a:extLst>
                  <a:ext uri="{0D108BD9-81ED-4DB2-BD59-A6C34878D82A}">
                    <a16:rowId xmlns:a16="http://schemas.microsoft.com/office/drawing/2014/main" val="2561660883"/>
                  </a:ext>
                </a:extLst>
              </a:tr>
              <a:tr h="306315">
                <a:tc>
                  <a:txBody>
                    <a:bodyPr/>
                    <a:lstStyle/>
                    <a:p>
                      <a:pPr algn="l" fontAlgn="b"/>
                      <a:r>
                        <a:rPr lang="ru-RU" sz="800" b="0" i="0" u="none" strike="noStrike" dirty="0" smtClean="0">
                          <a:solidFill>
                            <a:srgbClr val="000000"/>
                          </a:solidFill>
                          <a:effectLst/>
                          <a:latin typeface="+mj-lt"/>
                        </a:rPr>
                        <a:t xml:space="preserve">Changes related to payment (change of payment method)</a:t>
                      </a:r>
                    </a:p>
                  </a:txBody>
                  <a:tcPr marL="7620" marR="7620" marT="7620" marB="0" anchor="ctr">
                    <a:noFill/>
                  </a:tcPr>
                </a:tc>
                <a:tc>
                  <a:txBody>
                    <a:bodyPr/>
                    <a:lstStyle/>
                    <a:p>
                      <a:pPr algn="ctr" fontAlgn="b"/>
                      <a:r>
                        <a:rPr lang="ru-RU" sz="800" b="0" i="0" u="none" strike="noStrike" dirty="0" smtClean="0">
                          <a:solidFill>
                            <a:srgbClr val="000000"/>
                          </a:solidFill>
                          <a:effectLst/>
                          <a:latin typeface="+mj-lt"/>
                        </a:rPr>
                        <a:t>4</a:t>
                      </a:r>
                      <a:endParaRPr lang="ru-RU" sz="800" b="0" i="0" u="none" strike="noStrike" dirty="0">
                        <a:solidFill>
                          <a:srgbClr val="000000"/>
                        </a:solidFill>
                        <a:effectLst/>
                        <a:latin typeface="+mj-lt"/>
                      </a:endParaRPr>
                    </a:p>
                  </a:txBody>
                  <a:tcPr marL="7620" marR="7620" marT="7620" marB="0" anchor="ctr">
                    <a:noFill/>
                  </a:tcPr>
                </a:tc>
                <a:tc>
                  <a:txBody>
                    <a:bodyPr/>
                    <a:lstStyle/>
                    <a:p>
                      <a:pPr algn="ctr"/>
                      <a:r>
                        <a:rPr lang="ru-RU" sz="800" dirty="0" smtClean="0">
                          <a:latin typeface="+mj-lt"/>
                        </a:rPr>
                        <a:t>3%</a:t>
                      </a:r>
                      <a:endParaRPr lang="ru-RU" sz="800" dirty="0">
                        <a:latin typeface="+mj-lt"/>
                      </a:endParaRPr>
                    </a:p>
                  </a:txBody>
                  <a:tcPr anchor="ctr">
                    <a:noFill/>
                  </a:tcPr>
                </a:tc>
                <a:extLst>
                  <a:ext uri="{0D108BD9-81ED-4DB2-BD59-A6C34878D82A}">
                    <a16:rowId xmlns:a16="http://schemas.microsoft.com/office/drawing/2014/main" val="139587755"/>
                  </a:ext>
                </a:extLst>
              </a:tr>
              <a:tr h="499257">
                <a:tc>
                  <a:txBody>
                    <a:bodyPr/>
                    <a:lstStyle/>
                    <a:p>
                      <a:pPr algn="l" fontAlgn="b"/>
                      <a:r>
                        <a:rPr lang="ru-RU" sz="800" b="0" i="0" u="none" strike="noStrike" dirty="0" smtClean="0">
                          <a:solidFill>
                            <a:srgbClr val="000000"/>
                          </a:solidFill>
                          <a:effectLst/>
                          <a:latin typeface="+mj-lt"/>
                        </a:rPr>
                        <a:t xml:space="preserve">Changes in the term of the contract (extension of the contract term, change in the delivery date)</a:t>
                      </a:r>
                    </a:p>
                  </a:txBody>
                  <a:tcPr marL="7620" marR="7620" marT="7620" marB="0" anchor="ctr"/>
                </a:tc>
                <a:tc>
                  <a:txBody>
                    <a:bodyPr/>
                    <a:lstStyle/>
                    <a:p>
                      <a:pPr algn="ctr" fontAlgn="b"/>
                      <a:r>
                        <a:rPr lang="ru-RU" sz="800" b="0" i="0" u="none" strike="noStrike" dirty="0" smtClean="0">
                          <a:solidFill>
                            <a:srgbClr val="000000"/>
                          </a:solidFill>
                          <a:effectLst/>
                          <a:latin typeface="+mj-lt"/>
                        </a:rPr>
                        <a:t>2</a:t>
                      </a:r>
                      <a:endParaRPr lang="ru-RU" sz="800" b="0" i="0" u="none" strike="noStrike" dirty="0">
                        <a:solidFill>
                          <a:srgbClr val="000000"/>
                        </a:solidFill>
                        <a:effectLst/>
                        <a:latin typeface="+mj-lt"/>
                      </a:endParaRPr>
                    </a:p>
                  </a:txBody>
                  <a:tcPr marL="7620" marR="7620" marT="7620" marB="0" anchor="ctr"/>
                </a:tc>
                <a:tc>
                  <a:txBody>
                    <a:bodyPr/>
                    <a:lstStyle/>
                    <a:p>
                      <a:pPr algn="ctr"/>
                      <a:r>
                        <a:rPr lang="ru-RU" sz="800" dirty="0" smtClean="0">
                          <a:latin typeface="+mj-lt"/>
                        </a:rPr>
                        <a:t>2%</a:t>
                      </a:r>
                      <a:endParaRPr lang="ru-RU" sz="800" dirty="0">
                        <a:latin typeface="+mj-lt"/>
                      </a:endParaRPr>
                    </a:p>
                  </a:txBody>
                  <a:tcPr anchor="ctr"/>
                </a:tc>
                <a:extLst>
                  <a:ext uri="{0D108BD9-81ED-4DB2-BD59-A6C34878D82A}">
                    <a16:rowId xmlns:a16="http://schemas.microsoft.com/office/drawing/2014/main" val="2284110812"/>
                  </a:ext>
                </a:extLst>
              </a:tr>
              <a:tr h="360000">
                <a:tc>
                  <a:txBody>
                    <a:bodyPr/>
                    <a:lstStyle/>
                    <a:p>
                      <a:pPr algn="l" fontAlgn="b"/>
                      <a:r>
                        <a:rPr lang="ru-RU" sz="800" b="1" i="0" u="none" strike="noStrike" dirty="0" smtClean="0">
                          <a:solidFill>
                            <a:srgbClr val="000000"/>
                          </a:solidFill>
                          <a:effectLst/>
                          <a:latin typeface="+mj-lt"/>
                        </a:rPr>
                        <a:t xml:space="preserve">Total</a:t>
                      </a:r>
                      <a:endParaRPr lang="ru-RU" sz="800" b="1" i="0" u="none" strike="noStrike" dirty="0">
                        <a:solidFill>
                          <a:srgbClr val="000000"/>
                        </a:solidFill>
                        <a:effectLst/>
                        <a:latin typeface="+mj-lt"/>
                      </a:endParaRPr>
                    </a:p>
                  </a:txBody>
                  <a:tcPr marL="7620" marR="7620" marT="7620" marB="0" anchor="ctr">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b"/>
                      <a:r>
                        <a:rPr lang="ru-RU" sz="800" b="1" i="0" u="none" strike="noStrike" dirty="0" smtClean="0">
                          <a:solidFill>
                            <a:srgbClr val="000000"/>
                          </a:solidFill>
                          <a:effectLst/>
                          <a:latin typeface="+mj-lt"/>
                        </a:rPr>
                        <a:t>113</a:t>
                      </a:r>
                      <a:endParaRPr lang="ru-RU" sz="800" b="1" i="0" u="none" strike="noStrike" dirty="0">
                        <a:solidFill>
                          <a:srgbClr val="000000"/>
                        </a:solidFill>
                        <a:effectLst/>
                        <a:latin typeface="+mj-lt"/>
                      </a:endParaRPr>
                    </a:p>
                  </a:txBody>
                  <a:tcPr marL="7620" marR="7620" marT="7620" marB="0" anchor="ctr">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a:r>
                        <a:rPr lang="ru-RU" sz="800" b="1" dirty="0" smtClean="0">
                          <a:latin typeface="+mj-lt"/>
                        </a:rPr>
                        <a:t>100%</a:t>
                      </a:r>
                      <a:endParaRPr lang="ru-RU" sz="800" b="1" dirty="0">
                        <a:latin typeface="+mj-lt"/>
                      </a:endParaRPr>
                    </a:p>
                  </a:txBody>
                  <a:tcPr anchor="ctr">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41885550"/>
                  </a:ext>
                </a:extLst>
              </a:tr>
            </a:tbl>
          </a:graphicData>
        </a:graphic>
      </p:graphicFrame>
      <p:graphicFrame>
        <p:nvGraphicFramePr>
          <p:cNvPr id="19" name="Диаграмма 18"/>
          <p:cNvGraphicFramePr>
            <a:graphicFrameLocks/>
          </p:cNvGraphicFramePr>
          <p:nvPr>
            <p:extLst>
              <p:ext uri="{D42A27DB-BD31-4B8C-83A1-F6EECF244321}">
                <p14:modId xmlns:p14="http://schemas.microsoft.com/office/powerpoint/2010/main" val="1471732648"/>
              </p:ext>
            </p:extLst>
          </p:nvPr>
        </p:nvGraphicFramePr>
        <p:xfrm>
          <a:off x="314707" y="2504316"/>
          <a:ext cx="3444494" cy="270873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04448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 dirty="0"/>
              <a:t>Прил.</a:t>
            </a:r>
            <a:r>
              <a:rPr lang="en-US" dirty="0"/>
              <a:t> </a:t>
            </a:r>
            <a:r>
              <a:rPr lang="ru-RU" dirty="0" smtClean="0"/>
              <a:t>3</a:t>
            </a:r>
            <a:r>
              <a:rPr lang="ru" dirty="0" smtClean="0"/>
              <a:t>: </a:t>
            </a:r>
            <a:r>
              <a:rPr lang="ru" dirty="0"/>
              <a:t>Управление рисками третьих сторон</a:t>
            </a:r>
            <a:r>
              <a:rPr lang="en-US" dirty="0"/>
              <a:t/>
            </a:r>
            <a:br>
              <a:rPr lang="en-US" dirty="0"/>
            </a:br>
            <a:r>
              <a:rPr lang="ru-RU" dirty="0" smtClean="0">
                <a:solidFill>
                  <a:schemeClr val="tx1"/>
                </a:solidFill>
              </a:rPr>
              <a:t>Дополнительные самотестирования процесса КПК </a:t>
            </a:r>
            <a:r>
              <a:rPr lang="ru-RU" i="1" dirty="0" smtClean="0">
                <a:solidFill>
                  <a:schemeClr val="tx1"/>
                </a:solidFill>
              </a:rPr>
              <a:t> (продолжение)</a:t>
            </a:r>
            <a:endParaRPr lang="ru-RU" i="1" dirty="0">
              <a:solidFill>
                <a:schemeClr val="tx1"/>
              </a:solidFill>
            </a:endParaRPr>
          </a:p>
        </p:txBody>
      </p:sp>
      <p:sp>
        <p:nvSpPr>
          <p:cNvPr id="4" name="Заголовок 1"/>
          <p:cNvSpPr txBox="1">
            <a:spLocks/>
          </p:cNvSpPr>
          <p:nvPr/>
        </p:nvSpPr>
        <p:spPr>
          <a:xfrm>
            <a:off x="314707" y="844596"/>
            <a:ext cx="11452540" cy="609173"/>
          </a:xfrm>
          <a:prstGeom prst="rect">
            <a:avLst/>
          </a:prstGeom>
        </p:spPr>
        <p:txBody>
          <a:bodyPr vert="horz" lIns="0" tIns="0" rIns="0" bIns="0" rtlCol="0" anchor="t">
            <a:noAutofit/>
          </a:bodyPr>
          <a:lstStyle>
            <a:lvl1pPr algn="l" defTabSz="583170" rtl="0" eaLnBrk="1" latinLnBrk="0" hangingPunct="1">
              <a:lnSpc>
                <a:spcPct val="100000"/>
              </a:lnSpc>
              <a:spcBef>
                <a:spcPct val="0"/>
              </a:spcBef>
              <a:buNone/>
              <a:defRPr lang="ru-RU" sz="1800" b="0" kern="1200">
                <a:solidFill>
                  <a:schemeClr val="accent1"/>
                </a:solidFill>
                <a:latin typeface="+mj-lt"/>
                <a:ea typeface="+mj-ea"/>
                <a:cs typeface="+mj-cs"/>
              </a:defRPr>
            </a:lvl1pPr>
          </a:lstStyle>
          <a:p>
            <a:pPr marL="228600" indent="-228600" algn="just">
              <a:buFont typeface="+mj-lt"/>
              <a:buAutoNum type="arabicPeriod" startAt="2"/>
            </a:pPr>
            <a:r>
              <a:rPr lang="ru-RU" sz="1200" dirty="0">
                <a:solidFill>
                  <a:schemeClr val="accent5">
                    <a:lumMod val="75000"/>
                    <a:lumOff val="25000"/>
                  </a:schemeClr>
                </a:solidFill>
              </a:rPr>
              <a:t xml:space="preserve">Monitoring the implementation of compliance recommendations in the CPC conclusions by business units, including the availability of current compliance provisions in existing Perimeter agreements</a:t>
            </a:r>
          </a:p>
        </p:txBody>
      </p:sp>
      <p:sp>
        <p:nvSpPr>
          <p:cNvPr id="5" name="Прямоугольник 4"/>
          <p:cNvSpPr/>
          <p:nvPr/>
        </p:nvSpPr>
        <p:spPr>
          <a:xfrm>
            <a:off x="314707" y="6459038"/>
            <a:ext cx="5123518"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 xml:space="preserve">Storage of supporting materials for self-testing: folders on OMEGA (Perimeter Kazakhstan server)</a:t>
            </a:r>
            <a:r>
              <a:rPr lang="en-US" sz="700" i="1" dirty="0">
                <a:solidFill>
                  <a:schemeClr val="accent5">
                    <a:lumMod val="75000"/>
                    <a:lumOff val="25000"/>
                  </a:schemeClr>
                </a:solidFill>
              </a:rPr>
              <a:t/>
            </a:r>
            <a:r>
              <a:rPr lang="ru-RU" sz="700" i="1" dirty="0">
                <a:solidFill>
                  <a:schemeClr val="accent5">
                    <a:lumMod val="75000"/>
                    <a:lumOff val="25000"/>
                  </a:schemeClr>
                </a:solidFill>
              </a:rPr>
              <a:t/>
            </a:r>
          </a:p>
        </p:txBody>
      </p:sp>
      <p:sp>
        <p:nvSpPr>
          <p:cNvPr id="11" name="Текст 2"/>
          <p:cNvSpPr txBox="1">
            <a:spLocks/>
          </p:cNvSpPr>
          <p:nvPr/>
        </p:nvSpPr>
        <p:spPr>
          <a:xfrm>
            <a:off x="314707" y="5362273"/>
            <a:ext cx="11688345" cy="1031279"/>
          </a:xfrm>
          <a:prstGeom prst="rect">
            <a:avLst/>
          </a:prstGeom>
        </p:spPr>
        <p:txBody>
          <a:bodyPr/>
          <a:lstStyle>
            <a:lvl1pPr marL="145792" indent="-145792" algn="l" defTabSz="583170" rtl="0" eaLnBrk="1" latinLnBrk="0" hangingPunct="1">
              <a:lnSpc>
                <a:spcPct val="90000"/>
              </a:lnSpc>
              <a:spcBef>
                <a:spcPts val="638"/>
              </a:spcBef>
              <a:buFont typeface="Arial" panose="020B0604020202020204" pitchFamily="34" charset="0"/>
              <a:buChar char="•"/>
              <a:defRPr sz="1785" kern="1200">
                <a:solidFill>
                  <a:schemeClr val="tx1"/>
                </a:solidFill>
                <a:latin typeface="+mn-lt"/>
                <a:ea typeface="+mn-ea"/>
                <a:cs typeface="+mn-cs"/>
              </a:defRPr>
            </a:lvl1pPr>
            <a:lvl2pPr marL="437378" indent="-145792" algn="l" defTabSz="583170" rtl="0" eaLnBrk="1" latinLnBrk="0" hangingPunct="1">
              <a:lnSpc>
                <a:spcPct val="90000"/>
              </a:lnSpc>
              <a:spcBef>
                <a:spcPts val="319"/>
              </a:spcBef>
              <a:buFont typeface="Arial" panose="020B0604020202020204" pitchFamily="34" charset="0"/>
              <a:buChar char="•"/>
              <a:defRPr sz="1531" kern="1200">
                <a:solidFill>
                  <a:schemeClr val="tx1"/>
                </a:solidFill>
                <a:latin typeface="+mn-lt"/>
                <a:ea typeface="+mn-ea"/>
                <a:cs typeface="+mn-cs"/>
              </a:defRPr>
            </a:lvl2pPr>
            <a:lvl3pPr marL="728963" indent="-145792" algn="l" defTabSz="583170" rtl="0" eaLnBrk="1" latinLnBrk="0" hangingPunct="1">
              <a:lnSpc>
                <a:spcPct val="90000"/>
              </a:lnSpc>
              <a:spcBef>
                <a:spcPts val="319"/>
              </a:spcBef>
              <a:buFont typeface="Arial" panose="020B0604020202020204" pitchFamily="34" charset="0"/>
              <a:buChar char="•"/>
              <a:defRPr sz="1275" kern="1200">
                <a:solidFill>
                  <a:schemeClr val="tx1"/>
                </a:solidFill>
                <a:latin typeface="+mn-lt"/>
                <a:ea typeface="+mn-ea"/>
                <a:cs typeface="+mn-cs"/>
              </a:defRPr>
            </a:lvl3pPr>
            <a:lvl4pPr marL="102054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4pPr>
            <a:lvl5pPr marL="1312133"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5pPr>
            <a:lvl6pPr marL="160371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6pPr>
            <a:lvl7pPr marL="1895303"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7pPr>
            <a:lvl8pPr marL="2186888"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8pPr>
            <a:lvl9pPr marL="2478472" indent="-145792" algn="l" defTabSz="58317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9pPr>
          </a:lstStyle>
          <a:p>
            <a:pPr marL="0" indent="0">
              <a:lnSpc>
                <a:spcPct val="100000"/>
              </a:lnSpc>
              <a:spcBef>
                <a:spcPts val="0"/>
              </a:spcBef>
              <a:buClr>
                <a:schemeClr val="accent1"/>
              </a:buClr>
              <a:buNone/>
            </a:pPr>
            <a:r>
              <a:rPr lang="ru-RU" sz="800" u="sng" dirty="0" smtClean="0">
                <a:solidFill>
                  <a:schemeClr val="accent5">
                    <a:lumMod val="75000"/>
                    <a:lumOff val="25000"/>
                  </a:schemeClr>
                </a:solidFill>
              </a:rPr>
              <a:t xml:space="preserve">Check result:</a:t>
            </a:r>
            <a:r>
              <a:rPr lang="ru-RU" sz="800" u="sng" dirty="0">
                <a:solidFill>
                  <a:schemeClr val="accent5">
                    <a:lumMod val="75000"/>
                    <a:lumOff val="25000"/>
                  </a:schemeClr>
                </a:solidFill>
              </a:rPr>
              <a:t/>
            </a:r>
          </a:p>
          <a:p>
            <a:pPr marL="87313" indent="-87313">
              <a:lnSpc>
                <a:spcPct val="100000"/>
              </a:lnSpc>
              <a:spcBef>
                <a:spcPts val="0"/>
              </a:spcBef>
              <a:buClr>
                <a:schemeClr val="accent5">
                  <a:lumMod val="75000"/>
                  <a:lumOff val="25000"/>
                </a:schemeClr>
              </a:buClr>
            </a:pPr>
            <a:r>
              <a:rPr lang="ru-RU" sz="800" dirty="0"/>
              <a:t xml:space="preserve">Based on the results of self-testing of 208 CPC applications, the following was revealed:</a:t>
            </a:r>
            <a:r>
              <a:rPr lang="ru-RU" sz="800" dirty="0" smtClean="0"/>
              <a:t/>
            </a:r>
            <a:endParaRPr lang="en-US" sz="800" dirty="0"/>
          </a:p>
          <a:p>
            <a:pPr marL="177800" lvl="3" indent="-90488">
              <a:lnSpc>
                <a:spcPct val="100000"/>
              </a:lnSpc>
              <a:spcBef>
                <a:spcPts val="0"/>
              </a:spcBef>
              <a:buClr>
                <a:schemeClr val="accent5">
                  <a:lumMod val="75000"/>
                  <a:lumOff val="25000"/>
                </a:schemeClr>
              </a:buClr>
              <a:buFont typeface="Courier New" panose="02070309020205020404" pitchFamily="49" charset="0"/>
              <a:buChar char="o"/>
            </a:pPr>
            <a:r>
              <a:rPr lang="ru-RU" sz="800" dirty="0"/>
              <a:t xml:space="preserve">30 KPK applications - duplicates of KPK (BiS) applications identified</a:t>
            </a:r>
            <a:r>
              <a:rPr lang="ru-RU" sz="800" dirty="0" smtClean="0"/>
              <a:t/>
            </a:r>
            <a:r>
              <a:rPr lang="ru-RU" sz="800" dirty="0"/>
              <a:t/>
            </a:r>
            <a:r>
              <a:rPr lang="ru-RU" sz="800" dirty="0" err="1"/>
              <a:t/>
            </a:r>
            <a:r>
              <a:rPr lang="ru-RU" sz="800" dirty="0" smtClean="0"/>
              <a:t/>
            </a:r>
            <a:endParaRPr lang="en-US" sz="800" dirty="0"/>
          </a:p>
          <a:p>
            <a:pPr marL="177800" lvl="3" indent="-90488">
              <a:lnSpc>
                <a:spcPct val="100000"/>
              </a:lnSpc>
              <a:spcBef>
                <a:spcPts val="0"/>
              </a:spcBef>
              <a:buClr>
                <a:schemeClr val="accent5">
                  <a:lumMod val="75000"/>
                  <a:lumOff val="25000"/>
                </a:schemeClr>
              </a:buClr>
              <a:buFont typeface="Courier New" panose="02070309020205020404" pitchFamily="49" charset="0"/>
              <a:buChar char="o"/>
            </a:pPr>
            <a:r>
              <a:rPr lang="ru-RU" sz="800" dirty="0"/>
              <a:t xml:space="preserve">175 KPK applications - compliance recommendations implemented</a:t>
            </a:r>
            <a:r>
              <a:rPr lang="ru-RU" sz="800" dirty="0" smtClean="0"/>
              <a:t/>
            </a:r>
            <a:r>
              <a:rPr lang="ru-RU" sz="800" dirty="0"/>
              <a:t/>
            </a:r>
            <a:r>
              <a:rPr lang="ru-RU" sz="800" dirty="0" smtClean="0"/>
              <a:t/>
            </a:r>
            <a:endParaRPr lang="ru-RU" sz="800" dirty="0"/>
          </a:p>
          <a:p>
            <a:pPr marL="177800" lvl="3" indent="-90488">
              <a:lnSpc>
                <a:spcPct val="100000"/>
              </a:lnSpc>
              <a:spcBef>
                <a:spcPts val="0"/>
              </a:spcBef>
              <a:buClr>
                <a:schemeClr val="accent5">
                  <a:lumMod val="75000"/>
                  <a:lumOff val="25000"/>
                </a:schemeClr>
              </a:buClr>
              <a:buFont typeface="Courier New" panose="02070309020205020404" pitchFamily="49" charset="0"/>
              <a:buChar char="o"/>
            </a:pPr>
            <a:r>
              <a:rPr lang="ru-RU" sz="800" dirty="0"/>
              <a:t xml:space="preserve">3 KPC applications - recommendations were partially implemented (2 contracts have already been executed (involvement of subcontractors); in 1 current contract, irrelevant compliance clauses were identified, recommendations were sent to the initiator)</a:t>
            </a:r>
            <a:r>
              <a:rPr lang="ru-RU" sz="800" dirty="0" smtClean="0"/>
              <a:t/>
            </a:r>
            <a:r>
              <a:rPr lang="ru-RU" sz="800" dirty="0"/>
              <a:t/>
            </a:r>
            <a:r>
              <a:rPr lang="ru-RU" sz="800" dirty="0" smtClean="0"/>
              <a:t/>
            </a:r>
            <a:r>
              <a:rPr lang="ru-RU" sz="800" dirty="0"/>
              <a:t/>
            </a:r>
            <a:r>
              <a:rPr lang="ru-RU" sz="800" dirty="0" smtClean="0"/>
              <a:t/>
            </a:r>
            <a:endParaRPr lang="ru-RU" sz="800" dirty="0"/>
          </a:p>
          <a:p>
            <a:pPr marL="0" indent="0">
              <a:lnSpc>
                <a:spcPct val="100000"/>
              </a:lnSpc>
              <a:spcBef>
                <a:spcPts val="0"/>
              </a:spcBef>
              <a:buClr>
                <a:schemeClr val="accent1"/>
              </a:buClr>
              <a:buNone/>
            </a:pPr>
            <a:r>
              <a:rPr lang="ru-RU" sz="800" u="sng" dirty="0" smtClean="0">
                <a:solidFill>
                  <a:schemeClr val="accent5">
                    <a:lumMod val="75000"/>
                    <a:lumOff val="25000"/>
                  </a:schemeClr>
                </a:solidFill>
              </a:rPr>
              <a:t xml:space="preserve">Next steps:</a:t>
            </a:r>
            <a:endParaRPr lang="ru-RU" sz="800" u="sng" dirty="0">
              <a:solidFill>
                <a:schemeClr val="accent5">
                  <a:lumMod val="75000"/>
                  <a:lumOff val="25000"/>
                </a:schemeClr>
              </a:solidFill>
            </a:endParaRPr>
          </a:p>
          <a:p>
            <a:pPr marL="87313" indent="-87313">
              <a:lnSpc>
                <a:spcPct val="100000"/>
              </a:lnSpc>
              <a:spcBef>
                <a:spcPts val="0"/>
              </a:spcBef>
              <a:buClr>
                <a:schemeClr val="accent5">
                  <a:lumMod val="75000"/>
                  <a:lumOff val="25000"/>
                </a:schemeClr>
              </a:buClr>
            </a:pPr>
            <a:r>
              <a:rPr lang="ru-RU" sz="800" dirty="0"/>
              <a:t xml:space="preserve">As part of the ongoing on-site trainings, the CPC reminds businesses of the importance and need to follow the recommendations provided by compliance.</a:t>
            </a:r>
            <a:r>
              <a:rPr lang="ru-RU" sz="800" dirty="0" smtClean="0"/>
              <a:t/>
            </a:r>
            <a:r>
              <a:rPr lang="ru-RU" sz="800" dirty="0"/>
              <a:t/>
            </a:r>
            <a:r>
              <a:rPr lang="ru-RU" sz="800" dirty="0" smtClean="0"/>
              <a:t/>
            </a:r>
            <a:r>
              <a:rPr lang="ru-RU" sz="800" dirty="0"/>
              <a:t/>
            </a:r>
            <a:r>
              <a:rPr lang="ru-RU" sz="800" dirty="0" smtClean="0"/>
              <a:t/>
            </a:r>
            <a:r>
              <a:rPr lang="ru-RU" sz="800" dirty="0"/>
              <a:t/>
            </a:r>
          </a:p>
          <a:p>
            <a:pPr marL="87313" indent="-87313">
              <a:lnSpc>
                <a:spcPct val="100000"/>
              </a:lnSpc>
              <a:spcBef>
                <a:spcPts val="0"/>
              </a:spcBef>
              <a:buClr>
                <a:schemeClr val="accent5">
                  <a:lumMod val="75000"/>
                  <a:lumOff val="25000"/>
                </a:schemeClr>
              </a:buClr>
            </a:pPr>
            <a:r>
              <a:rPr lang="ru-RU" sz="800" dirty="0"/>
              <a:t xml:space="preserve">Carry out systematic monitoring of the implementation of the key recommendations of the CPC within the framework of applications for the CPC (applicable to transactions with “high risk” and where the conclusion of the CPC is “approved with conditions”).</a:t>
            </a:r>
            <a:r>
              <a:rPr lang="ru-RU" sz="800" dirty="0" smtClean="0"/>
              <a:t/>
            </a:r>
            <a:r>
              <a:rPr lang="ru-RU" sz="800" dirty="0"/>
              <a:t/>
            </a:r>
          </a:p>
        </p:txBody>
      </p:sp>
      <p:sp>
        <p:nvSpPr>
          <p:cNvPr id="12" name="Текст 2"/>
          <p:cNvSpPr>
            <a:spLocks noGrp="1"/>
          </p:cNvSpPr>
          <p:nvPr>
            <p:ph type="body" sz="quarter" idx="4294967295"/>
          </p:nvPr>
        </p:nvSpPr>
        <p:spPr>
          <a:xfrm>
            <a:off x="317498" y="1318611"/>
            <a:ext cx="11309643" cy="849911"/>
          </a:xfrm>
          <a:prstGeom prst="rect">
            <a:avLst/>
          </a:prstGeom>
        </p:spPr>
        <p:txBody>
          <a:bodyPr/>
          <a:lstStyle/>
          <a:p>
            <a:pPr marL="0" indent="0">
              <a:lnSpc>
                <a:spcPct val="100000"/>
              </a:lnSpc>
              <a:spcBef>
                <a:spcPts val="0"/>
              </a:spcBef>
              <a:buClr>
                <a:schemeClr val="accent1"/>
              </a:buClr>
              <a:buNone/>
            </a:pPr>
            <a:r>
              <a:rPr lang="ru-RU" sz="800" u="sng" dirty="0">
                <a:solidFill>
                  <a:schemeClr val="accent5">
                    <a:lumMod val="75000"/>
                    <a:lumOff val="25000"/>
                  </a:schemeClr>
                </a:solidFill>
              </a:rPr>
              <a:t xml:space="preserve">Sample for analysis:</a:t>
            </a:r>
          </a:p>
          <a:p>
            <a:pPr marL="0" indent="0">
              <a:lnSpc>
                <a:spcPct val="100000"/>
              </a:lnSpc>
              <a:spcBef>
                <a:spcPts val="0"/>
              </a:spcBef>
              <a:buClr>
                <a:schemeClr val="accent5">
                  <a:lumMod val="75000"/>
                  <a:lumOff val="25000"/>
                </a:schemeClr>
              </a:buClr>
              <a:buNone/>
            </a:pPr>
            <a:r>
              <a:rPr lang="ru-RU" sz="800" dirty="0"/>
              <a:t xml:space="preserve">The total number of CPCs for the period 2024 is 13,300 CPCs (according to the Compliance 2.2 system), of which:</a:t>
            </a:r>
            <a:r>
              <a:rPr lang="en-US" sz="800" dirty="0"/>
              <a:t/>
            </a:r>
            <a:r>
              <a:rPr lang="ru-RU" sz="800" dirty="0"/>
              <a:t/>
            </a:r>
            <a:r>
              <a:rPr lang="en-US" sz="800" dirty="0"/>
              <a:t/>
            </a:r>
            <a:r>
              <a:rPr lang="ru-RU" sz="800" dirty="0"/>
              <a:t/>
            </a:r>
          </a:p>
          <a:p>
            <a:pPr marL="87313" lvl="2" indent="-87313">
              <a:lnSpc>
                <a:spcPct val="100000"/>
              </a:lnSpc>
              <a:spcBef>
                <a:spcPts val="0"/>
              </a:spcBef>
              <a:buClr>
                <a:schemeClr val="accent5">
                  <a:lumMod val="75000"/>
                  <a:lumOff val="25000"/>
                </a:schemeClr>
              </a:buClr>
            </a:pPr>
            <a:r>
              <a:rPr lang="ru-RU" sz="800" dirty="0"/>
              <a:t xml:space="preserve">High-risk PDAs – 984; Of these, 208 PDAs (~20%) were selected for self-testing by random sampling based on the following criteria:</a:t>
            </a:r>
            <a:r>
              <a:rPr lang="en-US" sz="800" dirty="0"/>
              <a:t/>
            </a:r>
            <a:r>
              <a:rPr lang="ru-RU" sz="800" dirty="0"/>
              <a:t/>
            </a:r>
            <a:r>
              <a:rPr lang="en-US" sz="800" dirty="0"/>
              <a:t/>
            </a:r>
            <a:endParaRPr lang="ru-RU" sz="800" dirty="0"/>
          </a:p>
          <a:p>
            <a:pPr marL="177800" lvl="3" indent="-90488">
              <a:lnSpc>
                <a:spcPct val="100000"/>
              </a:lnSpc>
              <a:spcBef>
                <a:spcPts val="0"/>
              </a:spcBef>
              <a:buClr>
                <a:schemeClr val="accent5">
                  <a:lumMod val="75000"/>
                  <a:lumOff val="25000"/>
                </a:schemeClr>
              </a:buClr>
              <a:buFont typeface="Courier New" panose="02070309020205020404" pitchFamily="49" charset="0"/>
              <a:buChar char="o"/>
            </a:pPr>
            <a:r>
              <a:rPr lang="ru-RU" sz="800" dirty="0"/>
              <a:t xml:space="preserve">transactions worth the equivalent of USD 5 million or more</a:t>
            </a:r>
          </a:p>
          <a:p>
            <a:pPr marL="177800" lvl="3" indent="-90488">
              <a:lnSpc>
                <a:spcPct val="100000"/>
              </a:lnSpc>
              <a:spcBef>
                <a:spcPts val="0"/>
              </a:spcBef>
              <a:buClr>
                <a:schemeClr val="accent5">
                  <a:lumMod val="75000"/>
                  <a:lumOff val="25000"/>
                </a:schemeClr>
              </a:buClr>
              <a:buFont typeface="Courier New" panose="02070309020205020404" pitchFamily="49" charset="0"/>
              <a:buChar char="o"/>
            </a:pPr>
            <a:r>
              <a:rPr lang="ru-RU" sz="800" dirty="0"/>
              <a:t xml:space="preserve">transactions containing the terms of a success fee agreement</a:t>
            </a:r>
          </a:p>
          <a:p>
            <a:pPr marL="177800" lvl="3" indent="-90488">
              <a:lnSpc>
                <a:spcPct val="100000"/>
              </a:lnSpc>
              <a:spcBef>
                <a:spcPts val="0"/>
              </a:spcBef>
              <a:buClr>
                <a:schemeClr val="accent5">
                  <a:lumMod val="75000"/>
                  <a:lumOff val="25000"/>
                </a:schemeClr>
              </a:buClr>
              <a:buFont typeface="Courier New" panose="02070309020205020404" pitchFamily="49" charset="0"/>
              <a:buChar char="o"/>
            </a:pPr>
            <a:r>
              <a:rPr lang="ru-RU" sz="800" dirty="0"/>
              <a:t xml:space="preserve">BiS / CSR projects</a:t>
            </a:r>
          </a:p>
        </p:txBody>
      </p:sp>
      <p:graphicFrame>
        <p:nvGraphicFramePr>
          <p:cNvPr id="20" name="Диаграмма 19"/>
          <p:cNvGraphicFramePr>
            <a:graphicFrameLocks/>
          </p:cNvGraphicFramePr>
          <p:nvPr>
            <p:extLst>
              <p:ext uri="{D42A27DB-BD31-4B8C-83A1-F6EECF244321}">
                <p14:modId xmlns:p14="http://schemas.microsoft.com/office/powerpoint/2010/main" val="2932058083"/>
              </p:ext>
            </p:extLst>
          </p:nvPr>
        </p:nvGraphicFramePr>
        <p:xfrm>
          <a:off x="314707" y="2245587"/>
          <a:ext cx="3665621" cy="21205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1" name="Таблица 20"/>
          <p:cNvGraphicFramePr>
            <a:graphicFrameLocks noGrp="1"/>
          </p:cNvGraphicFramePr>
          <p:nvPr>
            <p:extLst>
              <p:ext uri="{D42A27DB-BD31-4B8C-83A1-F6EECF244321}">
                <p14:modId xmlns:p14="http://schemas.microsoft.com/office/powerpoint/2010/main" val="817401707"/>
              </p:ext>
            </p:extLst>
          </p:nvPr>
        </p:nvGraphicFramePr>
        <p:xfrm>
          <a:off x="3914129" y="2224787"/>
          <a:ext cx="5291934" cy="2059567"/>
        </p:xfrm>
        <a:graphic>
          <a:graphicData uri="http://schemas.openxmlformats.org/drawingml/2006/table">
            <a:tbl>
              <a:tblPr firstRow="1" bandRow="1">
                <a:tableStyleId>{0E3FDE45-AF77-4B5C-9715-49D594BDF05E}</a:tableStyleId>
              </a:tblPr>
              <a:tblGrid>
                <a:gridCol w="1286295">
                  <a:extLst>
                    <a:ext uri="{9D8B030D-6E8A-4147-A177-3AD203B41FA5}">
                      <a16:colId xmlns:a16="http://schemas.microsoft.com/office/drawing/2014/main" val="1422470546"/>
                    </a:ext>
                  </a:extLst>
                </a:gridCol>
                <a:gridCol w="977922">
                  <a:extLst>
                    <a:ext uri="{9D8B030D-6E8A-4147-A177-3AD203B41FA5}">
                      <a16:colId xmlns:a16="http://schemas.microsoft.com/office/drawing/2014/main" val="2555932142"/>
                    </a:ext>
                  </a:extLst>
                </a:gridCol>
                <a:gridCol w="1053967">
                  <a:extLst>
                    <a:ext uri="{9D8B030D-6E8A-4147-A177-3AD203B41FA5}">
                      <a16:colId xmlns:a16="http://schemas.microsoft.com/office/drawing/2014/main" val="2558841157"/>
                    </a:ext>
                  </a:extLst>
                </a:gridCol>
                <a:gridCol w="760606">
                  <a:extLst>
                    <a:ext uri="{9D8B030D-6E8A-4147-A177-3AD203B41FA5}">
                      <a16:colId xmlns:a16="http://schemas.microsoft.com/office/drawing/2014/main" val="3289135577"/>
                    </a:ext>
                  </a:extLst>
                </a:gridCol>
                <a:gridCol w="1213144">
                  <a:extLst>
                    <a:ext uri="{9D8B030D-6E8A-4147-A177-3AD203B41FA5}">
                      <a16:colId xmlns:a16="http://schemas.microsoft.com/office/drawing/2014/main" val="4140523888"/>
                    </a:ext>
                  </a:extLst>
                </a:gridCol>
              </a:tblGrid>
              <a:tr h="203206">
                <a:tc gridSpan="5">
                  <a:txBody>
                    <a:bodyPr/>
                    <a:lstStyle/>
                    <a:p>
                      <a:pPr algn="ctr"/>
                      <a:r>
                        <a:rPr lang="ru-RU" sz="800" dirty="0">
                          <a:solidFill>
                            <a:schemeClr val="accent5">
                              <a:lumMod val="75000"/>
                              <a:lumOff val="25000"/>
                            </a:schemeClr>
                          </a:solidFill>
                          <a:latin typeface="+mn-lt"/>
                        </a:rPr>
                        <a:t xml:space="preserve">Division by groups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ru-RU" sz="700" dirty="0"/>
                    </a:p>
                  </a:txBody>
                  <a:tcPr anchor="ctr"/>
                </a:tc>
                <a:tc hMerge="1">
                  <a:txBody>
                    <a:bodyPr/>
                    <a:lstStyle/>
                    <a:p>
                      <a:pPr algn="ctr"/>
                      <a:endParaRPr lang="ru-RU" sz="700" dirty="0"/>
                    </a:p>
                  </a:txBody>
                  <a:tcPr anchor="ctr"/>
                </a:tc>
                <a:tc hMerge="1">
                  <a:txBody>
                    <a:bodyPr/>
                    <a:lstStyle/>
                    <a:p>
                      <a:pPr algn="ctr"/>
                      <a:endParaRPr lang="ru-RU" sz="700" dirty="0"/>
                    </a:p>
                  </a:txBody>
                  <a:tcPr anchor="ctr"/>
                </a:tc>
                <a:tc hMerge="1">
                  <a:txBody>
                    <a:bodyPr/>
                    <a:lstStyle/>
                    <a:p>
                      <a:pPr algn="ctr"/>
                      <a:endParaRPr lang="ru-RU" sz="700" dirty="0"/>
                    </a:p>
                  </a:txBody>
                  <a:tcPr anchor="ctr"/>
                </a:tc>
                <a:extLst>
                  <a:ext uri="{0D108BD9-81ED-4DB2-BD59-A6C34878D82A}">
                    <a16:rowId xmlns:a16="http://schemas.microsoft.com/office/drawing/2014/main" val="1934217276"/>
                  </a:ext>
                </a:extLst>
              </a:tr>
              <a:tr h="391897">
                <a:tc>
                  <a:txBody>
                    <a:bodyPr/>
                    <a:lstStyle/>
                    <a:p>
                      <a:pPr algn="ctr"/>
                      <a:r>
                        <a:rPr lang="ru-RU" sz="700" b="1" dirty="0">
                          <a:solidFill>
                            <a:schemeClr val="tx1"/>
                          </a:solidFill>
                          <a:latin typeface="+mn-lt"/>
                        </a:rPr>
                        <a:t xml:space="preserve">Checking compliance provisions</a:t>
                      </a:r>
                      <a:r>
                        <a:rPr lang="ru-RU" sz="700" b="1" baseline="0" dirty="0">
                          <a:solidFill>
                            <a:schemeClr val="tx1"/>
                          </a:solidFill>
                          <a:latin typeface="+mn-lt"/>
                        </a:rPr>
                        <a:t/>
                      </a:r>
                      <a:endParaRPr lang="ru-RU" sz="700" b="1" dirty="0">
                        <a:solidFill>
                          <a:schemeClr val="tx1"/>
                        </a:solidFill>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b="1" dirty="0">
                          <a:solidFill>
                            <a:schemeClr val="tx1"/>
                          </a:solidFill>
                          <a:latin typeface="+mn-lt"/>
                        </a:rPr>
                        <a:t xml:space="preserve">Sanctions risk mitigation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b="1" dirty="0">
                          <a:solidFill>
                            <a:schemeClr val="tx1"/>
                          </a:solidFill>
                          <a:latin typeface="+mn-lt"/>
                        </a:rPr>
                        <a:t xml:space="preserve">Documents and permits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b="1" dirty="0">
                          <a:solidFill>
                            <a:schemeClr val="tx1"/>
                          </a:solidFill>
                          <a:latin typeface="+mn-lt"/>
                        </a:rPr>
                        <a:t xml:space="preserve">Product quality</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b="1" dirty="0">
                          <a:solidFill>
                            <a:schemeClr val="tx1"/>
                          </a:solidFill>
                          <a:latin typeface="+mn-lt"/>
                        </a:rPr>
                        <a:t xml:space="preserve">Targeted use of funds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5384963"/>
                  </a:ext>
                </a:extLst>
              </a:tr>
              <a:tr h="702562">
                <a:tc>
                  <a:txBody>
                    <a:bodyPr/>
                    <a:lstStyle/>
                    <a:p>
                      <a:pPr algn="l" fontAlgn="b"/>
                      <a:r>
                        <a:rPr lang="ru-RU" sz="700" b="0" i="0" u="none" strike="noStrike" dirty="0">
                          <a:solidFill>
                            <a:srgbClr val="000000"/>
                          </a:solidFill>
                          <a:effectLst/>
                          <a:latin typeface="+mn-lt"/>
                        </a:rPr>
                        <a:t xml:space="preserve">Update and adjustment of compliance provisions in the agreement (14)</a:t>
                      </a:r>
                      <a:r>
                        <a:rPr lang="en-US" sz="700" b="0" i="0" u="none" strike="noStrike" dirty="0">
                          <a:solidFill>
                            <a:srgbClr val="000000"/>
                          </a:solidFill>
                          <a:effectLst/>
                          <a:latin typeface="+mn-lt"/>
                        </a:rPr>
                        <a:t/>
                      </a:r>
                      <a:r>
                        <a:rPr lang="ru-RU" sz="700" b="0" i="0" u="none" strike="noStrike" dirty="0">
                          <a:solidFill>
                            <a:srgbClr val="000000"/>
                          </a:solidFill>
                          <a:effectLst/>
                          <a:latin typeface="+mn-lt"/>
                        </a:rPr>
                        <a:t/>
                      </a:r>
                      <a:r>
                        <a:rPr lang="en-US" sz="700" b="0" i="0" u="none" strike="noStrike" dirty="0">
                          <a:solidFill>
                            <a:srgbClr val="000000"/>
                          </a:solidFill>
                          <a:effectLst/>
                          <a:latin typeface="+mn-lt"/>
                        </a:rPr>
                        <a:t/>
                      </a:r>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ru-RU" sz="700" b="0" i="0" u="none" strike="noStrike" dirty="0">
                          <a:solidFill>
                            <a:srgbClr val="000000"/>
                          </a:solidFill>
                          <a:effectLst/>
                          <a:latin typeface="+mn-lt"/>
                        </a:rPr>
                        <a:t xml:space="preserve">Control of exclusion of EU and/or UK jurisdictions (5)</a:t>
                      </a:r>
                      <a:r>
                        <a:rPr lang="en-US" sz="700" b="0" i="0" u="none" strike="noStrike" baseline="0" dirty="0">
                          <a:solidFill>
                            <a:srgbClr val="000000"/>
                          </a:solidFill>
                          <a:effectLst/>
                          <a:latin typeface="+mn-lt"/>
                        </a:rPr>
                        <a:t/>
                      </a:r>
                      <a:r>
                        <a:rPr lang="ru-RU" sz="700" b="0" i="0" u="none" strike="noStrike" dirty="0">
                          <a:solidFill>
                            <a:srgbClr val="000000"/>
                          </a:solidFill>
                          <a:effectLst/>
                          <a:latin typeface="+mn-lt"/>
                        </a:rPr>
                        <a:t/>
                      </a:r>
                      <a:r>
                        <a:rPr lang="en-US" sz="700" b="0" i="0" u="none" strike="noStrike" baseline="0" dirty="0">
                          <a:solidFill>
                            <a:srgbClr val="000000"/>
                          </a:solidFill>
                          <a:effectLst/>
                          <a:latin typeface="+mn-lt"/>
                        </a:rPr>
                        <a:t/>
                      </a:r>
                      <a:r>
                        <a:rPr lang="ru-RU" sz="700" b="0" i="0" u="none" strike="noStrike" dirty="0">
                          <a:solidFill>
                            <a:srgbClr val="000000"/>
                          </a:solidFill>
                          <a:effectLst/>
                          <a:latin typeface="+mn-lt"/>
                        </a:rPr>
                        <a:t/>
                      </a:r>
                      <a:r>
                        <a:rPr lang="en-US" sz="700" b="0" i="0" u="none" strike="noStrike" dirty="0">
                          <a:solidFill>
                            <a:srgbClr val="000000"/>
                          </a:solidFill>
                          <a:effectLst/>
                          <a:latin typeface="+mn-lt"/>
                        </a:rPr>
                        <a:t/>
                      </a:r>
                      <a:r>
                        <a:rPr lang="ru-RU" sz="700" b="0" i="0" u="none" strike="noStrike" dirty="0">
                          <a:solidFill>
                            <a:srgbClr val="000000"/>
                          </a:solidFill>
                          <a:effectLst/>
                          <a:latin typeface="+mn-lt"/>
                        </a:rPr>
                        <a:t/>
                      </a:r>
                      <a:r>
                        <a:rPr lang="en-US" sz="700" b="0" i="0" u="none" strike="noStrike" dirty="0">
                          <a:solidFill>
                            <a:srgbClr val="000000"/>
                          </a:solidFill>
                          <a:effectLst/>
                          <a:latin typeface="+mn-lt"/>
                        </a:rPr>
                        <a:t/>
                      </a:r>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ru-RU" sz="700" b="0" i="0" u="none" strike="noStrike" dirty="0">
                          <a:solidFill>
                            <a:srgbClr val="000000"/>
                          </a:solidFill>
                          <a:effectLst/>
                          <a:latin typeface="+mn-lt"/>
                        </a:rPr>
                        <a:t xml:space="preserve">Control of maintenance and systematization of primary documentation (11)</a:t>
                      </a:r>
                      <a:r>
                        <a:rPr lang="en-US" sz="700" b="0" i="0" u="none" strike="noStrike" dirty="0">
                          <a:solidFill>
                            <a:srgbClr val="000000"/>
                          </a:solidFill>
                          <a:effectLst/>
                          <a:latin typeface="+mn-lt"/>
                        </a:rPr>
                        <a:t/>
                      </a:r>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ru-RU" sz="700" b="0" i="0" u="none" strike="noStrike" dirty="0">
                          <a:solidFill>
                            <a:srgbClr val="000000"/>
                          </a:solidFill>
                          <a:effectLst/>
                          <a:latin typeface="+mn-lt"/>
                        </a:rPr>
                        <a:t xml:space="preserve">Quality control and confirmed origin of products (2)</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r>
                        <a:rPr lang="en-US" sz="700" b="0" i="0" u="none" strike="noStrike" dirty="0">
                          <a:solidFill>
                            <a:srgbClr val="000000"/>
                          </a:solidFill>
                          <a:effectLst/>
                          <a:latin typeface="+mn-lt"/>
                        </a:rPr>
                        <a:t/>
                      </a:r>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kern="1200" dirty="0">
                          <a:solidFill>
                            <a:srgbClr val="000000"/>
                          </a:solidFill>
                          <a:effectLst/>
                          <a:latin typeface="+mn-lt"/>
                          <a:ea typeface="+mn-ea"/>
                          <a:cs typeface="+mn-cs"/>
                        </a:rPr>
                        <a:t xml:space="preserve">Ensuring proper control over the intended use of assistance and the maintenance and systematization of primary documentation (49)</a:t>
                      </a:r>
                      <a:r>
                        <a:rPr lang="en-US" sz="700" b="0" i="0" u="none" strike="noStrike" kern="1200" dirty="0">
                          <a:solidFill>
                            <a:srgbClr val="000000"/>
                          </a:solidFill>
                          <a:effectLst/>
                          <a:latin typeface="+mn-lt"/>
                          <a:ea typeface="+mn-ea"/>
                          <a:cs typeface="+mn-cs"/>
                        </a:rPr>
                        <a:t/>
                      </a:r>
                      <a:r>
                        <a:rPr lang="kk-KZ" sz="700" b="0" i="0" u="none" strike="noStrike" kern="1200" dirty="0">
                          <a:solidFill>
                            <a:srgbClr val="000000"/>
                          </a:solidFill>
                          <a:effectLst/>
                          <a:latin typeface="+mn-lt"/>
                          <a:ea typeface="+mn-ea"/>
                          <a:cs typeface="+mn-cs"/>
                        </a:rPr>
                        <a:t/>
                      </a:r>
                      <a:r>
                        <a:rPr lang="en-US" sz="700" b="0" i="0" u="none" strike="noStrike" kern="1200" dirty="0">
                          <a:solidFill>
                            <a:srgbClr val="000000"/>
                          </a:solidFill>
                          <a:effectLst/>
                          <a:latin typeface="+mn-lt"/>
                          <a:ea typeface="+mn-ea"/>
                          <a:cs typeface="+mn-cs"/>
                        </a:rPr>
                        <a:t/>
                      </a:r>
                      <a:endParaRPr lang="ru-RU" sz="700" b="0" i="0" u="none" strike="noStrike" kern="1200" dirty="0">
                        <a:solidFill>
                          <a:srgbClr val="000000"/>
                        </a:solidFill>
                        <a:effectLst/>
                        <a:latin typeface="+mn-lt"/>
                        <a:ea typeface="+mn-ea"/>
                        <a:cs typeface="+mn-cs"/>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95077531"/>
                  </a:ext>
                </a:extLst>
              </a:tr>
              <a:tr h="404505">
                <a:tc>
                  <a:txBody>
                    <a:bodyPr/>
                    <a:lstStyle/>
                    <a:p>
                      <a:pPr algn="l" fontAlgn="b"/>
                      <a:r>
                        <a:rPr lang="ru-RU" sz="700" b="0" i="0" u="none" strike="noStrike" dirty="0">
                          <a:solidFill>
                            <a:srgbClr val="000000"/>
                          </a:solidFill>
                          <a:effectLst/>
                          <a:latin typeface="+mn-lt"/>
                        </a:rPr>
                        <a:t xml:space="preserve">Ensuring the completion of the CCP in relation to transaction participants/subcontractors (19)</a:t>
                      </a:r>
                      <a:r>
                        <a:rPr lang="en-US" sz="700" b="0" i="0" u="none" strike="noStrike" dirty="0">
                          <a:solidFill>
                            <a:srgbClr val="000000"/>
                          </a:solidFill>
                          <a:effectLst/>
                          <a:latin typeface="+mn-lt"/>
                        </a:rPr>
                        <a:t/>
                      </a:r>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kern="1200" dirty="0">
                          <a:solidFill>
                            <a:srgbClr val="000000"/>
                          </a:solidFill>
                          <a:effectLst/>
                          <a:latin typeface="+mn-lt"/>
                          <a:ea typeface="+mn-ea"/>
                          <a:cs typeface="+mn-cs"/>
                        </a:rPr>
                        <a:t xml:space="preserve">Exclusion of transfer of goods to sanctioned persons (4)</a:t>
                      </a:r>
                      <a:r>
                        <a:rPr lang="en-US" sz="700" b="0" i="0" u="none" strike="noStrike" kern="1200" dirty="0">
                          <a:solidFill>
                            <a:srgbClr val="000000"/>
                          </a:solidFill>
                          <a:effectLst/>
                          <a:latin typeface="+mn-lt"/>
                          <a:ea typeface="+mn-ea"/>
                          <a:cs typeface="+mn-cs"/>
                        </a:rPr>
                        <a:t/>
                      </a:r>
                      <a:endParaRPr lang="ru-RU" sz="700" b="0" i="0" u="none" strike="noStrike" kern="1200" dirty="0">
                        <a:solidFill>
                          <a:srgbClr val="000000"/>
                        </a:solidFill>
                        <a:effectLst/>
                        <a:latin typeface="+mn-lt"/>
                        <a:ea typeface="+mn-ea"/>
                        <a:cs typeface="+mn-cs"/>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700" b="0" i="0" u="none" strike="noStrike" dirty="0">
                          <a:solidFill>
                            <a:srgbClr val="000000"/>
                          </a:solidFill>
                          <a:effectLst/>
                          <a:latin typeface="+mn-lt"/>
                        </a:rPr>
                        <a:t xml:space="preserve">Availability and relevance of permitting documentation (4)</a:t>
                      </a:r>
                      <a:r>
                        <a:rPr lang="en-US" sz="700" b="0" i="0" u="none" strike="noStrike" dirty="0">
                          <a:solidFill>
                            <a:srgbClr val="000000"/>
                          </a:solidFill>
                          <a:effectLst/>
                          <a:latin typeface="+mn-lt"/>
                        </a:rPr>
                        <a:t/>
                      </a:r>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209436"/>
                  </a:ext>
                </a:extLst>
              </a:tr>
              <a:tr h="305153">
                <a:tc>
                  <a:txBody>
                    <a:bodyPr/>
                    <a:lstStyle/>
                    <a:p>
                      <a:pPr algn="l" fontAlgn="b"/>
                      <a:r>
                        <a:rPr lang="ru-RU" sz="700" b="0" i="0" u="none" strike="noStrike" dirty="0">
                          <a:solidFill>
                            <a:srgbClr val="000000"/>
                          </a:solidFill>
                          <a:effectLst/>
                          <a:latin typeface="+mn-lt"/>
                        </a:rPr>
                        <a:t xml:space="preserve">Ensuring compliance in accordance with DoA (7)</a:t>
                      </a:r>
                      <a:r>
                        <a:rPr lang="ru-RU" sz="700" b="0" i="0" u="none" strike="noStrike" baseline="0" dirty="0">
                          <a:solidFill>
                            <a:srgbClr val="000000"/>
                          </a:solidFill>
                          <a:effectLst/>
                          <a:latin typeface="+mn-lt"/>
                        </a:rPr>
                        <a:t/>
                      </a:r>
                      <a:r>
                        <a:rPr lang="ru-RU" sz="700" b="0" i="0" u="none" strike="noStrike" dirty="0" err="1">
                          <a:solidFill>
                            <a:srgbClr val="000000"/>
                          </a:solidFill>
                          <a:effectLst/>
                          <a:latin typeface="+mn-lt"/>
                        </a:rPr>
                        <a:t/>
                      </a:r>
                      <a:r>
                        <a:rPr lang="en-US" sz="700" b="0" i="0" u="none" strike="noStrike" dirty="0">
                          <a:solidFill>
                            <a:srgbClr val="000000"/>
                          </a:solidFill>
                          <a:effectLst/>
                          <a:latin typeface="+mn-lt"/>
                        </a:rPr>
                        <a:t/>
                      </a:r>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ru-RU" sz="700" b="0" i="0" u="none" strike="noStrike" dirty="0">
                          <a:solidFill>
                            <a:srgbClr val="000000"/>
                          </a:solidFill>
                          <a:effectLst/>
                          <a:latin typeface="+mn-lt"/>
                        </a:rPr>
                        <a:t xml:space="preserve">Other compliance recommendations for transaction structure (2)</a:t>
                      </a:r>
                      <a:r>
                        <a:rPr lang="ru-RU" sz="700" b="0" i="0" u="none" strike="noStrike" baseline="0" dirty="0">
                          <a:solidFill>
                            <a:srgbClr val="000000"/>
                          </a:solidFill>
                          <a:effectLst/>
                          <a:latin typeface="+mn-lt"/>
                        </a:rPr>
                        <a:t/>
                      </a:r>
                      <a:r>
                        <a:rPr lang="en-US" sz="700" b="0" i="0" u="none" strike="noStrike" dirty="0">
                          <a:solidFill>
                            <a:srgbClr val="000000"/>
                          </a:solidFill>
                          <a:effectLst/>
                          <a:latin typeface="+mn-lt"/>
                        </a:rPr>
                        <a:t/>
                      </a:r>
                      <a:endParaRPr lang="ru-RU" sz="700" b="0" i="0" u="none" strike="noStrike" dirty="0">
                        <a:solidFill>
                          <a:srgbClr val="000000"/>
                        </a:solidFill>
                        <a:effectLst/>
                        <a:latin typeface="+mn-lt"/>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ru-RU" sz="700" dirty="0">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ru-RU" sz="700" dirty="0">
                        <a:latin typeface="+mn-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3256801"/>
                  </a:ext>
                </a:extLst>
              </a:tr>
            </a:tbl>
          </a:graphicData>
        </a:graphic>
      </p:graphicFrame>
      <p:graphicFrame>
        <p:nvGraphicFramePr>
          <p:cNvPr id="7" name="Диаграмма 6"/>
          <p:cNvGraphicFramePr/>
          <p:nvPr>
            <p:extLst>
              <p:ext uri="{D42A27DB-BD31-4B8C-83A1-F6EECF244321}">
                <p14:modId xmlns:p14="http://schemas.microsoft.com/office/powerpoint/2010/main" val="3449087768"/>
              </p:ext>
            </p:extLst>
          </p:nvPr>
        </p:nvGraphicFramePr>
        <p:xfrm>
          <a:off x="9247440" y="2229534"/>
          <a:ext cx="2664586" cy="2059567"/>
        </p:xfrm>
        <a:graphic>
          <a:graphicData uri="http://schemas.openxmlformats.org/drawingml/2006/chart">
            <c:chart xmlns:c="http://schemas.openxmlformats.org/drawingml/2006/chart" xmlns:r="http://schemas.openxmlformats.org/officeDocument/2006/relationships" r:id="rId3"/>
          </a:graphicData>
        </a:graphic>
      </p:graphicFrame>
      <p:sp>
        <p:nvSpPr>
          <p:cNvPr id="8" name="Прямоугольник 7"/>
          <p:cNvSpPr/>
          <p:nvPr/>
        </p:nvSpPr>
        <p:spPr>
          <a:xfrm>
            <a:off x="10129346" y="4514074"/>
            <a:ext cx="1497795" cy="388679"/>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400" dirty="0">
              <a:solidFill>
                <a:schemeClr val="tx1"/>
              </a:solidFill>
            </a:endParaRPr>
          </a:p>
        </p:txBody>
      </p:sp>
      <p:graphicFrame>
        <p:nvGraphicFramePr>
          <p:cNvPr id="17" name="Диаграмма 16"/>
          <p:cNvGraphicFramePr/>
          <p:nvPr>
            <p:extLst>
              <p:ext uri="{D42A27DB-BD31-4B8C-83A1-F6EECF244321}">
                <p14:modId xmlns:p14="http://schemas.microsoft.com/office/powerpoint/2010/main" val="4119082167"/>
              </p:ext>
            </p:extLst>
          </p:nvPr>
        </p:nvGraphicFramePr>
        <p:xfrm>
          <a:off x="314707" y="4431653"/>
          <a:ext cx="11688345" cy="93062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616256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 dirty="0"/>
              <a:t>Прил.</a:t>
            </a:r>
            <a:r>
              <a:rPr lang="en-US" dirty="0"/>
              <a:t> </a:t>
            </a:r>
            <a:r>
              <a:rPr lang="ru-RU" dirty="0" smtClean="0"/>
              <a:t>3</a:t>
            </a:r>
            <a:r>
              <a:rPr lang="ru" dirty="0" smtClean="0"/>
              <a:t>: </a:t>
            </a:r>
            <a:r>
              <a:rPr lang="ru" dirty="0"/>
              <a:t>Управление рисками третьих сторон</a:t>
            </a:r>
            <a:r>
              <a:rPr lang="en-US" dirty="0"/>
              <a:t/>
            </a:r>
            <a:br>
              <a:rPr lang="en-US" dirty="0"/>
            </a:br>
            <a:r>
              <a:rPr lang="ru-RU" dirty="0" smtClean="0">
                <a:solidFill>
                  <a:schemeClr val="tx1"/>
                </a:solidFill>
              </a:rPr>
              <a:t>Дополнительные самотестирования процесса КПК </a:t>
            </a:r>
            <a:r>
              <a:rPr lang="ru-RU" i="1" dirty="0" smtClean="0">
                <a:solidFill>
                  <a:schemeClr val="tx1"/>
                </a:solidFill>
              </a:rPr>
              <a:t>- продолжение</a:t>
            </a:r>
            <a:endParaRPr lang="ru-RU" i="1" dirty="0">
              <a:solidFill>
                <a:schemeClr val="tx1"/>
              </a:solidFill>
            </a:endParaRPr>
          </a:p>
        </p:txBody>
      </p:sp>
      <p:sp>
        <p:nvSpPr>
          <p:cNvPr id="4" name="Заголовок 1"/>
          <p:cNvSpPr txBox="1">
            <a:spLocks/>
          </p:cNvSpPr>
          <p:nvPr/>
        </p:nvSpPr>
        <p:spPr>
          <a:xfrm>
            <a:off x="314707" y="844596"/>
            <a:ext cx="11452540" cy="609173"/>
          </a:xfrm>
          <a:prstGeom prst="rect">
            <a:avLst/>
          </a:prstGeom>
        </p:spPr>
        <p:txBody>
          <a:bodyPr vert="horz" lIns="0" tIns="0" rIns="0" bIns="0" rtlCol="0" anchor="t">
            <a:noAutofit/>
          </a:bodyPr>
          <a:lstStyle>
            <a:lvl1pPr algn="l" defTabSz="583170" rtl="0" eaLnBrk="1" latinLnBrk="0" hangingPunct="1">
              <a:lnSpc>
                <a:spcPct val="100000"/>
              </a:lnSpc>
              <a:spcBef>
                <a:spcPct val="0"/>
              </a:spcBef>
              <a:buNone/>
              <a:defRPr lang="ru-RU" sz="1800" b="0" kern="1200">
                <a:solidFill>
                  <a:schemeClr val="accent1"/>
                </a:solidFill>
                <a:latin typeface="+mj-lt"/>
                <a:ea typeface="+mj-ea"/>
                <a:cs typeface="+mj-cs"/>
              </a:defRPr>
            </a:lvl1pPr>
          </a:lstStyle>
          <a:p>
            <a:pPr marL="228600" indent="-228600" algn="just">
              <a:buFont typeface="+mj-lt"/>
              <a:buAutoNum type="arabicPeriod" startAt="3"/>
            </a:pPr>
            <a:r>
              <a:rPr lang="ru-RU" sz="1200" dirty="0">
                <a:solidFill>
                  <a:schemeClr val="accent5">
                    <a:lumMod val="75000"/>
                    <a:lumOff val="25000"/>
                  </a:schemeClr>
                </a:solidFill>
              </a:rPr>
              <a:t xml:space="preserve">Monitoring the controls of the Compliance List in accordance with the Compliance List Guarantee Scheme</a:t>
            </a:r>
            <a:r>
              <a:rPr lang="ru-RU" sz="1200" dirty="0" smtClean="0">
                <a:solidFill>
                  <a:schemeClr val="accent5">
                    <a:lumMod val="75000"/>
                    <a:lumOff val="25000"/>
                  </a:schemeClr>
                </a:solidFill>
              </a:rPr>
              <a:t/>
            </a:r>
            <a:r>
              <a:rPr lang="ru-RU" sz="1200" dirty="0">
                <a:solidFill>
                  <a:schemeClr val="accent5">
                    <a:lumMod val="75000"/>
                    <a:lumOff val="25000"/>
                  </a:schemeClr>
                </a:solidFill>
              </a:rPr>
              <a:t/>
            </a:r>
            <a:r>
              <a:rPr lang="ru-RU" sz="1200" dirty="0" smtClean="0">
                <a:solidFill>
                  <a:schemeClr val="accent5">
                    <a:lumMod val="75000"/>
                    <a:lumOff val="25000"/>
                  </a:schemeClr>
                </a:solidFill>
              </a:rPr>
              <a:t/>
            </a:r>
            <a:endParaRPr lang="ru-RU" sz="1200" dirty="0">
              <a:solidFill>
                <a:schemeClr val="accent5">
                  <a:lumMod val="75000"/>
                  <a:lumOff val="25000"/>
                </a:schemeClr>
              </a:solidFill>
            </a:endParaRPr>
          </a:p>
        </p:txBody>
      </p:sp>
      <p:sp>
        <p:nvSpPr>
          <p:cNvPr id="5" name="Прямоугольник 4"/>
          <p:cNvSpPr/>
          <p:nvPr/>
        </p:nvSpPr>
        <p:spPr>
          <a:xfrm>
            <a:off x="219543" y="6542669"/>
            <a:ext cx="5123518"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 xml:space="preserve">Storage of supporting materials for self-testing: folders on OMEGA (Perimeter Kazakhstan server)</a:t>
            </a:r>
            <a:r>
              <a:rPr lang="en-US" sz="700" i="1" dirty="0">
                <a:solidFill>
                  <a:schemeClr val="accent5">
                    <a:lumMod val="75000"/>
                    <a:lumOff val="25000"/>
                  </a:schemeClr>
                </a:solidFill>
              </a:rPr>
              <a:t/>
            </a:r>
            <a:r>
              <a:rPr lang="ru-RU" sz="700" i="1" dirty="0">
                <a:solidFill>
                  <a:schemeClr val="accent5">
                    <a:lumMod val="75000"/>
                    <a:lumOff val="25000"/>
                  </a:schemeClr>
                </a:solidFill>
              </a:rPr>
              <a:t/>
            </a:r>
          </a:p>
        </p:txBody>
      </p:sp>
      <p:graphicFrame>
        <p:nvGraphicFramePr>
          <p:cNvPr id="8" name="Таблица 7"/>
          <p:cNvGraphicFramePr>
            <a:graphicFrameLocks noGrp="1"/>
          </p:cNvGraphicFramePr>
          <p:nvPr>
            <p:extLst>
              <p:ext uri="{D42A27DB-BD31-4B8C-83A1-F6EECF244321}">
                <p14:modId xmlns:p14="http://schemas.microsoft.com/office/powerpoint/2010/main" val="2201923190"/>
              </p:ext>
            </p:extLst>
          </p:nvPr>
        </p:nvGraphicFramePr>
        <p:xfrm>
          <a:off x="314707" y="1084869"/>
          <a:ext cx="11581424" cy="502920"/>
        </p:xfrm>
        <a:graphic>
          <a:graphicData uri="http://schemas.openxmlformats.org/drawingml/2006/table">
            <a:tbl>
              <a:tblPr firstRow="1" bandRow="1">
                <a:tableStyleId>{5940675A-B579-460E-94D1-54222C63F5DA}</a:tableStyleId>
              </a:tblPr>
              <a:tblGrid>
                <a:gridCol w="1263048">
                  <a:extLst>
                    <a:ext uri="{9D8B030D-6E8A-4147-A177-3AD203B41FA5}">
                      <a16:colId xmlns:a16="http://schemas.microsoft.com/office/drawing/2014/main" val="1949152585"/>
                    </a:ext>
                  </a:extLst>
                </a:gridCol>
                <a:gridCol w="10318376">
                  <a:extLst>
                    <a:ext uri="{9D8B030D-6E8A-4147-A177-3AD203B41FA5}">
                      <a16:colId xmlns:a16="http://schemas.microsoft.com/office/drawing/2014/main" val="334808981"/>
                    </a:ext>
                  </a:extLst>
                </a:gridCol>
              </a:tblGrid>
              <a:tr h="116864">
                <a:tc>
                  <a:txBody>
                    <a:bodyPr/>
                    <a:lstStyle/>
                    <a:p>
                      <a:pPr marL="0" marR="0" lvl="0" indent="0" algn="l" defTabSz="842388" rtl="0" eaLnBrk="1" fontAlgn="auto" latinLnBrk="0" hangingPunct="1">
                        <a:lnSpc>
                          <a:spcPct val="100000"/>
                        </a:lnSpc>
                        <a:spcBef>
                          <a:spcPts val="600"/>
                        </a:spcBef>
                        <a:spcAft>
                          <a:spcPts val="0"/>
                        </a:spcAft>
                        <a:buClrTx/>
                        <a:buSzTx/>
                        <a:buFontTx/>
                        <a:buNone/>
                        <a:tabLst/>
                        <a:defRPr/>
                      </a:pPr>
                      <a:r>
                        <a:rPr lang="ru-RU" sz="700" b="1" kern="1200" dirty="0">
                          <a:solidFill>
                            <a:schemeClr val="accent5">
                              <a:lumMod val="75000"/>
                              <a:lumOff val="25000"/>
                            </a:schemeClr>
                          </a:solidFill>
                          <a:latin typeface="+mn-lt"/>
                          <a:ea typeface="+mn-ea"/>
                          <a:cs typeface="+mn-cs"/>
                        </a:rPr>
                        <a:t xml:space="preserve">Testing period: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just">
                        <a:lnSpc>
                          <a:spcPct val="100000"/>
                        </a:lnSpc>
                        <a:spcBef>
                          <a:spcPts val="300"/>
                        </a:spcBef>
                        <a:spcAft>
                          <a:spcPts val="0"/>
                        </a:spcAft>
                        <a:buClr>
                          <a:schemeClr val="accent1"/>
                        </a:buClr>
                        <a:buFont typeface="Arial" panose="020B0604020202020204" pitchFamily="34" charset="0"/>
                        <a:buNone/>
                      </a:pPr>
                      <a:r>
                        <a:rPr lang="ru-RU" sz="700" kern="1200" dirty="0">
                          <a:solidFill>
                            <a:schemeClr val="tx1"/>
                          </a:solidFill>
                          <a:latin typeface="+mn-lt"/>
                          <a:ea typeface="+mn-ea"/>
                          <a:cs typeface="+mn-cs"/>
                        </a:rPr>
                        <a:t xml:space="preserve">January – December 2025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7238618"/>
                  </a:ext>
                </a:extLst>
              </a:tr>
              <a:tr h="237554">
                <a:tc>
                  <a:txBody>
                    <a:bodyPr/>
                    <a:lstStyle/>
                    <a:p>
                      <a:pPr>
                        <a:lnSpc>
                          <a:spcPct val="100000"/>
                        </a:lnSpc>
                        <a:spcBef>
                          <a:spcPts val="0"/>
                        </a:spcBef>
                        <a:spcAft>
                          <a:spcPts val="0"/>
                        </a:spcAft>
                      </a:pPr>
                      <a:r>
                        <a:rPr lang="ru-RU" sz="700" b="1" kern="1200" dirty="0">
                          <a:solidFill>
                            <a:schemeClr val="accent5">
                              <a:lumMod val="75000"/>
                              <a:lumOff val="25000"/>
                            </a:schemeClr>
                          </a:solidFill>
                          <a:effectLst/>
                          <a:latin typeface="+mn-lt"/>
                          <a:ea typeface="+mn-ea"/>
                          <a:cs typeface="+mn-cs"/>
                        </a:rPr>
                        <a:t xml:space="preserve">Conclusion: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just">
                        <a:buFont typeface="Arial" panose="020B0604020202020204" pitchFamily="34" charset="0"/>
                        <a:buNone/>
                      </a:pPr>
                      <a:r>
                        <a:rPr lang="ru-RU" sz="700" dirty="0">
                          <a:latin typeface="+mn-lt"/>
                        </a:rPr>
                        <a:t xml:space="preserve">The use of the Compliance Sheet (a special compliance regime) in the process of comprehensive verification of counterparties meets the stated goals and requirements, effectively responding to changes and maintaining its functionality. At the same time, the results of the self-testing of the Compliance Sheet Guarantee Scheme have identified areas that require improvements to improve overall efficiency and optimize the use of resources.</a:t>
                      </a:r>
                      <a:r>
                        <a:rPr lang="ru-RU" sz="700" kern="1200" dirty="0">
                          <a:solidFill>
                            <a:schemeClr val="tx1"/>
                          </a:solidFill>
                          <a:effectLst/>
                          <a:latin typeface="+mn-lt"/>
                          <a:ea typeface="+mn-ea"/>
                          <a:cs typeface="+mn-cs"/>
                        </a:rPr>
                        <a:t/>
                      </a:r>
                      <a:r>
                        <a:rPr lang="ru-RU" sz="700" dirty="0">
                          <a:latin typeface="+mn-lt"/>
                        </a:rPr>
                        <a:t/>
                      </a:r>
                      <a:r>
                        <a:rPr lang="ru-RU" sz="700" baseline="0" dirty="0">
                          <a:latin typeface="+mn-lt"/>
                        </a:rPr>
                        <a:t/>
                      </a:r>
                      <a:r>
                        <a:rPr lang="ru-RU" sz="700" kern="1200" dirty="0">
                          <a:solidFill>
                            <a:schemeClr val="tx1"/>
                          </a:solidFill>
                          <a:effectLst/>
                          <a:latin typeface="+mn-lt"/>
                          <a:ea typeface="+mn-ea"/>
                          <a:cs typeface="+mn-cs"/>
                        </a:rPr>
                        <a:t/>
                      </a:r>
                      <a:r>
                        <a:rPr lang="ru-RU" sz="700" dirty="0">
                          <a:latin typeface="+mn-lt"/>
                        </a:rPr>
                        <a:t/>
                      </a:r>
                      <a:r>
                        <a:rPr lang="ru-RU" sz="700" dirty="0" smtClean="0">
                          <a:latin typeface="+mn-lt"/>
                        </a:rPr>
                        <a:t/>
                      </a:r>
                      <a:endParaRPr lang="ru-RU" sz="7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6396201"/>
                  </a:ext>
                </a:extLst>
              </a:tr>
            </a:tbl>
          </a:graphicData>
        </a:graphic>
      </p:graphicFrame>
      <p:graphicFrame>
        <p:nvGraphicFramePr>
          <p:cNvPr id="9" name="Таблица 8"/>
          <p:cNvGraphicFramePr>
            <a:graphicFrameLocks noGrp="1"/>
          </p:cNvGraphicFramePr>
          <p:nvPr>
            <p:extLst>
              <p:ext uri="{D42A27DB-BD31-4B8C-83A1-F6EECF244321}">
                <p14:modId xmlns:p14="http://schemas.microsoft.com/office/powerpoint/2010/main" val="3514764224"/>
              </p:ext>
            </p:extLst>
          </p:nvPr>
        </p:nvGraphicFramePr>
        <p:xfrm>
          <a:off x="314707" y="1621781"/>
          <a:ext cx="11645462" cy="4852904"/>
        </p:xfrm>
        <a:graphic>
          <a:graphicData uri="http://schemas.openxmlformats.org/drawingml/2006/table">
            <a:tbl>
              <a:tblPr>
                <a:tableStyleId>{5C22544A-7EE6-4342-B048-85BDC9FD1C3A}</a:tableStyleId>
              </a:tblPr>
              <a:tblGrid>
                <a:gridCol w="792000">
                  <a:extLst>
                    <a:ext uri="{9D8B030D-6E8A-4147-A177-3AD203B41FA5}">
                      <a16:colId xmlns:a16="http://schemas.microsoft.com/office/drawing/2014/main" val="3541219994"/>
                    </a:ext>
                  </a:extLst>
                </a:gridCol>
                <a:gridCol w="2628000">
                  <a:extLst>
                    <a:ext uri="{9D8B030D-6E8A-4147-A177-3AD203B41FA5}">
                      <a16:colId xmlns:a16="http://schemas.microsoft.com/office/drawing/2014/main" val="1242912936"/>
                    </a:ext>
                  </a:extLst>
                </a:gridCol>
                <a:gridCol w="1133690">
                  <a:extLst>
                    <a:ext uri="{9D8B030D-6E8A-4147-A177-3AD203B41FA5}">
                      <a16:colId xmlns:a16="http://schemas.microsoft.com/office/drawing/2014/main" val="3521787165"/>
                    </a:ext>
                  </a:extLst>
                </a:gridCol>
                <a:gridCol w="4292104">
                  <a:extLst>
                    <a:ext uri="{9D8B030D-6E8A-4147-A177-3AD203B41FA5}">
                      <a16:colId xmlns:a16="http://schemas.microsoft.com/office/drawing/2014/main" val="2527534200"/>
                    </a:ext>
                  </a:extLst>
                </a:gridCol>
                <a:gridCol w="2799668">
                  <a:extLst>
                    <a:ext uri="{9D8B030D-6E8A-4147-A177-3AD203B41FA5}">
                      <a16:colId xmlns:a16="http://schemas.microsoft.com/office/drawing/2014/main" val="726468076"/>
                    </a:ext>
                  </a:extLst>
                </a:gridCol>
              </a:tblGrid>
              <a:tr h="124187">
                <a:tc>
                  <a:txBody>
                    <a:bodyPr/>
                    <a:lstStyle/>
                    <a:p>
                      <a:pPr marL="0" algn="ctr" defTabSz="583170" rtl="0" eaLnBrk="1" fontAlgn="ctr" latinLnBrk="0" hangingPunct="1">
                        <a:lnSpc>
                          <a:spcPct val="100000"/>
                        </a:lnSpc>
                        <a:spcBef>
                          <a:spcPts val="0"/>
                        </a:spcBef>
                        <a:spcAft>
                          <a:spcPts val="0"/>
                        </a:spcAft>
                      </a:pPr>
                      <a:r>
                        <a:rPr lang="ru-RU" sz="650" b="1" u="none" strike="noStrike" kern="1200" dirty="0">
                          <a:solidFill>
                            <a:schemeClr val="accent5">
                              <a:lumMod val="75000"/>
                              <a:lumOff val="25000"/>
                            </a:schemeClr>
                          </a:solidFill>
                          <a:effectLst/>
                          <a:latin typeface="+mn-lt"/>
                          <a:ea typeface="+mn-ea"/>
                          <a:cs typeface="+mn-cs"/>
                        </a:rPr>
                        <a:t xml:space="preserve">Description of process risk</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 xml:space="preserve">Description of control</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 xml:space="preserve">Summary of control attributes for self-test</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 xml:space="preserve">Self-test results</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 xml:space="preserve">Recommendations</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020841703"/>
                  </a:ext>
                </a:extLst>
              </a:tr>
              <a:tr h="849287">
                <a:tc>
                  <a:txBody>
                    <a:bodyPr/>
                    <a:lstStyle/>
                    <a:p>
                      <a:pPr algn="l" fontAlgn="ctr">
                        <a:lnSpc>
                          <a:spcPct val="100000"/>
                        </a:lnSpc>
                        <a:spcBef>
                          <a:spcPts val="0"/>
                        </a:spcBef>
                        <a:spcAft>
                          <a:spcPts val="0"/>
                        </a:spcAft>
                      </a:pPr>
                      <a:r>
                        <a:rPr lang="en-US" sz="650" u="none" strike="noStrike" dirty="0">
                          <a:effectLst/>
                          <a:latin typeface="+mn-lt"/>
                        </a:rPr>
                        <a:t xml:space="preserve">1. The criteria and rules of the Perimeter Compliance Sheet do not comply with the Group’s methodology</a:t>
                      </a:r>
                      <a:r>
                        <a:rPr lang="ru-RU" sz="650" u="none" strike="noStrike" dirty="0">
                          <a:effectLst/>
                          <a:latin typeface="+mn-lt"/>
                        </a:rPr>
                        <a:t/>
                      </a:r>
                      <a:r>
                        <a:rPr lang="en-US" sz="650" u="none" strike="noStrike" dirty="0">
                          <a:effectLst/>
                          <a:latin typeface="+mn-lt"/>
                        </a:rPr>
                        <a:t/>
                      </a:r>
                      <a:r>
                        <a:rPr lang="ru-RU" sz="650" u="none" strike="noStrike" dirty="0">
                          <a:effectLst/>
                          <a:latin typeface="+mn-lt"/>
                        </a:rPr>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lnSpc>
                          <a:spcPct val="100000"/>
                        </a:lnSpc>
                        <a:spcBef>
                          <a:spcPts val="0"/>
                        </a:spcBef>
                        <a:spcAft>
                          <a:spcPts val="0"/>
                        </a:spcAft>
                      </a:pPr>
                      <a:r>
                        <a:rPr lang="ru-RU" sz="650" u="none" strike="noStrike" dirty="0">
                          <a:effectLst/>
                          <a:latin typeface="+mn-lt"/>
                        </a:rPr>
                        <a:t xml:space="preserve">1.1. The Compliance List methodology, including criteria, was developed by the Compliance Group with the participation of the KZ Perimeter Compliance (based on analysis with the KZ business) and approved by the Compliance Committee. The Compliance Sheet methodology should be reviewed by the Compliance Group at least once a year, and, if necessary, updated with notification of changes to interested parties.</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lnSpc>
                          <a:spcPct val="100000"/>
                        </a:lnSpc>
                        <a:spcBef>
                          <a:spcPts val="0"/>
                        </a:spcBef>
                        <a:spcAft>
                          <a:spcPts val="0"/>
                        </a:spcAft>
                      </a:pPr>
                      <a:r>
                        <a:rPr lang="ru-RU" sz="650" u="none" strike="noStrike" dirty="0">
                          <a:effectLst/>
                          <a:latin typeface="+mn-lt"/>
                        </a:rPr>
                        <a:t xml:space="preserve">Review of the minutes of the Compliance Committee.</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lnSpc>
                          <a:spcPct val="100000"/>
                        </a:lnSpc>
                        <a:spcBef>
                          <a:spcPts val="0"/>
                        </a:spcBef>
                        <a:spcAft>
                          <a:spcPts val="0"/>
                        </a:spcAft>
                      </a:pPr>
                      <a:r>
                        <a:rPr lang="ru-RU" sz="650" b="1" u="none" strike="noStrike" dirty="0" smtClean="0">
                          <a:solidFill>
                            <a:schemeClr val="tx1"/>
                          </a:solidFill>
                          <a:effectLst/>
                          <a:latin typeface="+mn-lt"/>
                        </a:rPr>
                        <a:t xml:space="preserve">No deviations were found.</a:t>
                      </a:r>
                    </a:p>
                    <a:p>
                      <a:pPr algn="just" fontAlgn="ctr">
                        <a:lnSpc>
                          <a:spcPct val="100000"/>
                        </a:lnSpc>
                        <a:spcBef>
                          <a:spcPts val="0"/>
                        </a:spcBef>
                        <a:spcAft>
                          <a:spcPts val="0"/>
                        </a:spcAft>
                      </a:pPr>
                      <a:r>
                        <a:rPr lang="ru-RU" sz="650" u="none" strike="noStrike" dirty="0" smtClean="0">
                          <a:solidFill>
                            <a:schemeClr val="tx1"/>
                          </a:solidFill>
                          <a:effectLst/>
                          <a:latin typeface="+mn-lt"/>
                        </a:rPr>
                        <a:t xml:space="preserve">Timely updating of the criteria and rules of the Compliance List is established in accordance with the Group’s methodology:</a:t>
                      </a:r>
                      <a:r>
                        <a:rPr lang="ru-RU" sz="650" u="none" strike="noStrike" dirty="0">
                          <a:solidFill>
                            <a:schemeClr val="tx1"/>
                          </a:solidFill>
                          <a:effectLst/>
                          <a:latin typeface="+mn-lt"/>
                        </a:rPr>
                        <a:t/>
                      </a:r>
                      <a:r>
                        <a:rPr lang="ru-RU" sz="650" u="none" strike="noStrike" baseline="0" dirty="0">
                          <a:solidFill>
                            <a:schemeClr val="tx1"/>
                          </a:solidFill>
                          <a:effectLst/>
                          <a:latin typeface="+mn-lt"/>
                        </a:rPr>
                        <a:t/>
                      </a:r>
                      <a:r>
                        <a:rPr lang="ru-RU" sz="650" u="none" strike="noStrike" baseline="0" dirty="0" smtClean="0">
                          <a:solidFill>
                            <a:schemeClr val="tx1"/>
                          </a:solidFill>
                          <a:effectLst/>
                          <a:latin typeface="+mn-lt"/>
                        </a:rPr>
                        <a:t/>
                      </a:r>
                      <a:r>
                        <a:rPr lang="ru-RU" sz="650" u="none" strike="noStrike" baseline="0" dirty="0">
                          <a:solidFill>
                            <a:schemeClr val="tx1"/>
                          </a:solidFill>
                          <a:effectLst/>
                          <a:latin typeface="+mn-lt"/>
                        </a:rPr>
                        <a:t/>
                      </a:r>
                      <a:endParaRPr lang="en-US" sz="650" u="none" strike="noStrike" baseline="0" dirty="0">
                        <a:solidFill>
                          <a:schemeClr val="tx1"/>
                        </a:solidFill>
                        <a:effectLst/>
                        <a:latin typeface="+mn-lt"/>
                      </a:endParaRPr>
                    </a:p>
                    <a:p>
                      <a:pPr marL="171450" indent="-171450" algn="just" defTabSz="583170" rtl="0" eaLnBrk="1" fontAlgn="ctr" latinLnBrk="0" hangingPunct="1">
                        <a:lnSpc>
                          <a:spcPct val="100000"/>
                        </a:lnSpc>
                        <a:spcBef>
                          <a:spcPts val="0"/>
                        </a:spcBef>
                        <a:spcAft>
                          <a:spcPts val="0"/>
                        </a:spcAft>
                        <a:buFont typeface="Arial" panose="020B0604020202020204" pitchFamily="34" charset="0"/>
                        <a:buChar char="•"/>
                      </a:pPr>
                      <a:r>
                        <a:rPr lang="ru-RU" sz="650" u="none" strike="noStrike" dirty="0" smtClean="0">
                          <a:solidFill>
                            <a:schemeClr val="tx1"/>
                          </a:solidFill>
                          <a:effectLst/>
                          <a:latin typeface="+mn-lt"/>
                        </a:rPr>
                        <a:t xml:space="preserve">The Compliance List project was approved by the decision of the Compliance Committee dated May 12, 2023. And will be implemented from 06/01/2023.</a:t>
                      </a:r>
                      <a:r>
                        <a:rPr lang="ru-RU" sz="650" u="none" strike="noStrike" dirty="0">
                          <a:solidFill>
                            <a:schemeClr val="tx1"/>
                          </a:solidFill>
                          <a:effectLst/>
                          <a:latin typeface="+mn-lt"/>
                        </a:rPr>
                        <a:t/>
                      </a:r>
                      <a:r>
                        <a:rPr lang="ru-RU" sz="650" u="none" strike="noStrike" dirty="0" smtClean="0">
                          <a:solidFill>
                            <a:schemeClr val="tx1"/>
                          </a:solidFill>
                          <a:effectLst/>
                          <a:latin typeface="+mn-lt"/>
                        </a:rPr>
                        <a:t/>
                      </a:r>
                      <a:r>
                        <a:rPr lang="ru-RU" sz="650" u="none" strike="noStrike" kern="1200" baseline="0" dirty="0" smtClean="0">
                          <a:solidFill>
                            <a:schemeClr val="tx1"/>
                          </a:solidFill>
                          <a:effectLst/>
                          <a:latin typeface="+mn-lt"/>
                          <a:ea typeface="+mn-ea"/>
                          <a:cs typeface="+mn-cs"/>
                        </a:rPr>
                        <a:t/>
                      </a:r>
                      <a:endParaRPr lang="en-US" sz="650" u="none" strike="noStrike" kern="1200" baseline="0" dirty="0">
                        <a:solidFill>
                          <a:schemeClr val="tx1"/>
                        </a:solidFill>
                        <a:effectLst/>
                        <a:latin typeface="+mn-lt"/>
                        <a:ea typeface="+mn-ea"/>
                        <a:cs typeface="+mn-cs"/>
                      </a:endParaRPr>
                    </a:p>
                    <a:p>
                      <a:pPr marL="171450" indent="-171450" algn="just" defTabSz="583170" rtl="0" eaLnBrk="1" fontAlgn="ctr" latinLnBrk="0" hangingPunct="1">
                        <a:lnSpc>
                          <a:spcPct val="100000"/>
                        </a:lnSpc>
                        <a:spcBef>
                          <a:spcPts val="0"/>
                        </a:spcBef>
                        <a:spcAft>
                          <a:spcPts val="0"/>
                        </a:spcAft>
                        <a:buFont typeface="Arial" panose="020B0604020202020204" pitchFamily="34" charset="0"/>
                        <a:buChar char="•"/>
                      </a:pPr>
                      <a:r>
                        <a:rPr lang="ru-RU" sz="650" u="none" strike="noStrike" kern="1200" baseline="0" dirty="0">
                          <a:solidFill>
                            <a:schemeClr val="tx1"/>
                          </a:solidFill>
                          <a:effectLst/>
                          <a:latin typeface="+mn-lt"/>
                          <a:ea typeface="+mn-ea"/>
                          <a:cs typeface="+mn-cs"/>
                        </a:rPr>
                        <a:t xml:space="preserve">By decision of the Compliance Committee dated November 28, 2025. changes to the CL criteria were approved based on the risk-based analysis (updating):</a:t>
                      </a:r>
                      <a:r>
                        <a:rPr lang="ru-RU" sz="650" u="none" strike="noStrike" kern="1200" baseline="0" dirty="0" smtClean="0">
                          <a:solidFill>
                            <a:schemeClr val="tx1"/>
                          </a:solidFill>
                          <a:effectLst/>
                          <a:latin typeface="+mn-lt"/>
                          <a:ea typeface="+mn-ea"/>
                          <a:cs typeface="+mn-cs"/>
                        </a:rPr>
                        <a:t/>
                      </a:r>
                      <a:endParaRPr lang="ru-RU" sz="650" u="none" strike="noStrike" kern="1200" baseline="0" dirty="0">
                        <a:solidFill>
                          <a:schemeClr val="tx1"/>
                        </a:solidFill>
                        <a:effectLst/>
                        <a:latin typeface="+mn-lt"/>
                        <a:ea typeface="+mn-ea"/>
                        <a:cs typeface="+mn-cs"/>
                      </a:endParaRPr>
                    </a:p>
                    <a:p>
                      <a:pPr marL="360363" lvl="1" indent="-182563" algn="just" defTabSz="583170" rtl="0" eaLnBrk="1" fontAlgn="ctr" latinLnBrk="0" hangingPunct="1">
                        <a:lnSpc>
                          <a:spcPct val="100000"/>
                        </a:lnSpc>
                        <a:spcBef>
                          <a:spcPts val="0"/>
                        </a:spcBef>
                        <a:spcAft>
                          <a:spcPts val="0"/>
                        </a:spcAft>
                        <a:buFont typeface="Arial" panose="020B0604020202020204" pitchFamily="34" charset="0"/>
                        <a:buChar char="-"/>
                      </a:pPr>
                      <a:r>
                        <a:rPr lang="ru-RU" sz="650" u="none" strike="noStrike" kern="1200" baseline="0" dirty="0" smtClean="0">
                          <a:solidFill>
                            <a:schemeClr val="tx1"/>
                          </a:solidFill>
                          <a:effectLst/>
                          <a:latin typeface="+mn-lt"/>
                          <a:ea typeface="+mn-ea"/>
                          <a:cs typeface="+mn-cs"/>
                        </a:rPr>
                        <a:t xml:space="preserve">the duration of cooperation experience for counterparties-buyers (category D) was reduced from 3 to 2 years;</a:t>
                      </a:r>
                      <a:r>
                        <a:rPr lang="ru-RU" sz="650" u="none" strike="noStrike" kern="1200" baseline="0" dirty="0">
                          <a:solidFill>
                            <a:schemeClr val="tx1"/>
                          </a:solidFill>
                          <a:effectLst/>
                          <a:latin typeface="+mn-lt"/>
                          <a:ea typeface="+mn-ea"/>
                          <a:cs typeface="+mn-cs"/>
                        </a:rPr>
                        <a:t/>
                      </a:r>
                      <a:r>
                        <a:rPr lang="ru-RU" sz="650" u="none" strike="noStrike" kern="1200" baseline="0" dirty="0" smtClean="0">
                          <a:solidFill>
                            <a:schemeClr val="tx1"/>
                          </a:solidFill>
                          <a:effectLst/>
                          <a:latin typeface="+mn-lt"/>
                          <a:ea typeface="+mn-ea"/>
                          <a:cs typeface="+mn-cs"/>
                        </a:rPr>
                        <a:t/>
                      </a:r>
                      <a:r>
                        <a:rPr lang="ru-RU" sz="650" u="none" strike="noStrike" kern="1200" baseline="0" dirty="0">
                          <a:solidFill>
                            <a:schemeClr val="tx1"/>
                          </a:solidFill>
                          <a:effectLst/>
                          <a:latin typeface="+mn-lt"/>
                          <a:ea typeface="+mn-ea"/>
                          <a:cs typeface="+mn-cs"/>
                        </a:rPr>
                        <a:t/>
                      </a:r>
                      <a:r>
                        <a:rPr lang="en-US" sz="650" u="none" strike="noStrike" kern="1200" baseline="0" dirty="0">
                          <a:solidFill>
                            <a:schemeClr val="tx1"/>
                          </a:solidFill>
                          <a:effectLst/>
                          <a:latin typeface="+mn-lt"/>
                          <a:ea typeface="+mn-ea"/>
                          <a:cs typeface="+mn-cs"/>
                        </a:rPr>
                        <a:t/>
                      </a:r>
                      <a:r>
                        <a:rPr lang="ru-RU" sz="650" u="none" strike="noStrike" kern="1200" baseline="0" dirty="0">
                          <a:solidFill>
                            <a:schemeClr val="tx1"/>
                          </a:solidFill>
                          <a:effectLst/>
                          <a:latin typeface="+mn-lt"/>
                          <a:ea typeface="+mn-ea"/>
                          <a:cs typeface="+mn-cs"/>
                        </a:rPr>
                        <a:t/>
                      </a:r>
                    </a:p>
                    <a:p>
                      <a:pPr marL="360363" marR="0" lvl="1" indent="-182563"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baseline="0" dirty="0" smtClean="0">
                          <a:solidFill>
                            <a:schemeClr val="tx1"/>
                          </a:solidFill>
                          <a:effectLst/>
                          <a:latin typeface="+mn-lt"/>
                          <a:ea typeface="+mn-ea"/>
                          <a:cs typeface="+mn-cs"/>
                        </a:rPr>
                        <a:t xml:space="preserve">The criterion for “repetition” of transactions with an intermediary for the “Intermediaries” category in the methodology for maintaining the Compliance List has been reduced from 5 to 3 per year.</a:t>
                      </a:r>
                      <a:r>
                        <a:rPr lang="ru-RU" sz="650" u="none" strike="noStrike" kern="1200" baseline="0" dirty="0">
                          <a:solidFill>
                            <a:schemeClr val="tx1"/>
                          </a:solidFill>
                          <a:effectLst/>
                          <a:latin typeface="+mn-lt"/>
                          <a:ea typeface="+mn-ea"/>
                          <a:cs typeface="+mn-cs"/>
                        </a:rPr>
                        <a:t/>
                      </a:r>
                      <a:r>
                        <a:rPr lang="ru-RU" sz="650" u="none" strike="noStrike" kern="1200" baseline="0" dirty="0" smtClean="0">
                          <a:solidFill>
                            <a:schemeClr val="tx1"/>
                          </a:solidFill>
                          <a:effectLst/>
                          <a:latin typeface="+mn-lt"/>
                          <a:ea typeface="+mn-ea"/>
                          <a:cs typeface="+mn-cs"/>
                        </a:rPr>
                        <a:t/>
                      </a:r>
                      <a:r>
                        <a:rPr lang="ru-RU" sz="650" u="none" strike="noStrike" kern="1200" baseline="0" dirty="0">
                          <a:solidFill>
                            <a:schemeClr val="tx1"/>
                          </a:solidFill>
                          <a:effectLst/>
                          <a:latin typeface="+mn-lt"/>
                          <a:ea typeface="+mn-ea"/>
                          <a:cs typeface="+mn-cs"/>
                        </a:rPr>
                        <a:t/>
                      </a:r>
                      <a:r>
                        <a:rPr lang="ru-RU" sz="650" u="none" strike="noStrike" kern="1200" baseline="0" dirty="0" smtClean="0">
                          <a:solidFill>
                            <a:schemeClr val="tx1"/>
                          </a:solidFill>
                          <a:effectLst/>
                          <a:latin typeface="+mn-lt"/>
                          <a:ea typeface="+mn-ea"/>
                          <a:cs typeface="+mn-cs"/>
                        </a:rPr>
                        <a:t/>
                      </a:r>
                      <a:r>
                        <a:rPr lang="ru-RU" sz="650" u="none" strike="noStrike" kern="1200" baseline="0" dirty="0">
                          <a:solidFill>
                            <a:schemeClr val="tx1"/>
                          </a:solidFill>
                          <a:effectLst/>
                          <a:latin typeface="+mn-lt"/>
                          <a:ea typeface="+mn-ea"/>
                          <a:cs typeface="+mn-cs"/>
                        </a:rPr>
                        <a:t/>
                      </a:r>
                      <a:endParaRPr lang="en-US" sz="650" u="none" strike="noStrike" kern="1200" baseline="0" dirty="0">
                        <a:solidFill>
                          <a:schemeClr val="tx1"/>
                        </a:solidFill>
                        <a:effectLst/>
                        <a:latin typeface="+mn-lt"/>
                        <a:ea typeface="+mn-ea"/>
                        <a:cs typeface="+mn-cs"/>
                      </a:endParaRPr>
                    </a:p>
                    <a:p>
                      <a:pPr marL="171450" indent="-171450" algn="just" defTabSz="583170" rtl="0" eaLnBrk="1" fontAlgn="ctr" latinLnBrk="0" hangingPunct="1">
                        <a:lnSpc>
                          <a:spcPct val="100000"/>
                        </a:lnSpc>
                        <a:spcBef>
                          <a:spcPts val="0"/>
                        </a:spcBef>
                        <a:spcAft>
                          <a:spcPts val="0"/>
                        </a:spcAft>
                        <a:buFont typeface="Arial" panose="020B0604020202020204" pitchFamily="34" charset="0"/>
                        <a:buChar char="•"/>
                      </a:pPr>
                      <a:r>
                        <a:rPr lang="ru-RU" sz="650" u="none" strike="noStrike" kern="1200" baseline="0" dirty="0">
                          <a:solidFill>
                            <a:schemeClr val="tx1"/>
                          </a:solidFill>
                          <a:effectLst/>
                          <a:latin typeface="+mn-lt"/>
                          <a:ea typeface="+mn-ea"/>
                          <a:cs typeface="+mn-cs"/>
                        </a:rPr>
                        <a:t xml:space="preserve">12/31/2025 communication was sent from the Compliance Directorate of Eurasian Group LLP to ERG Commercial Center LLP and the heads of procurement functions of industrial and industrial equipment of the Perimeter of the Republic of Kazakhstan regarding changes in the CL methodology.</a:t>
                      </a:r>
                      <a:r>
                        <a:rPr lang="ru-RU" sz="650" u="none" strike="noStrike" kern="1200" baseline="0" dirty="0" smtClean="0">
                          <a:solidFill>
                            <a:schemeClr val="tx1"/>
                          </a:solidFill>
                          <a:effectLst/>
                          <a:latin typeface="+mn-lt"/>
                          <a:ea typeface="+mn-ea"/>
                          <a:cs typeface="+mn-cs"/>
                        </a:rPr>
                        <a:t/>
                      </a:r>
                      <a:r>
                        <a:rPr lang="ru-RU" sz="650" u="none" strike="noStrike" kern="1200" baseline="0" dirty="0">
                          <a:solidFill>
                            <a:schemeClr val="tx1"/>
                          </a:solidFill>
                          <a:effectLst/>
                          <a:latin typeface="+mn-lt"/>
                          <a:ea typeface="+mn-ea"/>
                          <a:cs typeface="+mn-cs"/>
                        </a:rPr>
                        <a:t/>
                      </a:r>
                      <a:r>
                        <a:rPr lang="ru-RU" sz="650" u="none" strike="noStrike" kern="1200" baseline="0" dirty="0" smtClean="0">
                          <a:solidFill>
                            <a:schemeClr val="tx1"/>
                          </a:solidFill>
                          <a:effectLst/>
                          <a:latin typeface="+mn-lt"/>
                          <a:ea typeface="+mn-ea"/>
                          <a:cs typeface="+mn-cs"/>
                        </a:rPr>
                        <a:t/>
                      </a:r>
                      <a:endParaRPr lang="ru-RU" sz="650" b="0" i="0" u="none" strike="noStrike" dirty="0">
                        <a:solidFill>
                          <a:schemeClr val="tx1"/>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lnSpc>
                          <a:spcPct val="100000"/>
                        </a:lnSpc>
                        <a:spcBef>
                          <a:spcPts val="0"/>
                        </a:spcBef>
                        <a:spcAft>
                          <a:spcPts val="0"/>
                        </a:spcAft>
                      </a:pPr>
                      <a:r>
                        <a:rPr lang="en-US" sz="650" u="none" strike="noStrike" dirty="0">
                          <a:effectLst/>
                          <a:latin typeface="+mn-lt"/>
                        </a:rPr>
                        <a:t xml:space="preserve">n/a</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374317063"/>
                  </a:ext>
                </a:extLst>
              </a:tr>
              <a:tr h="567347">
                <a:tc>
                  <a:txBody>
                    <a:bodyPr/>
                    <a:lstStyle/>
                    <a:p>
                      <a:pPr algn="l" fontAlgn="ctr">
                        <a:lnSpc>
                          <a:spcPct val="100000"/>
                        </a:lnSpc>
                        <a:spcBef>
                          <a:spcPts val="0"/>
                        </a:spcBef>
                        <a:spcAft>
                          <a:spcPts val="0"/>
                        </a:spcAft>
                      </a:pPr>
                      <a:r>
                        <a:rPr lang="ru-RU" sz="650" u="none" strike="noStrike" dirty="0">
                          <a:effectLst/>
                          <a:latin typeface="+mn-lt"/>
                        </a:rPr>
                        <a:t xml:space="preserve">2. The Compliance List criteria do not correspond to the current business model</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lnSpc>
                          <a:spcPct val="100000"/>
                        </a:lnSpc>
                        <a:spcBef>
                          <a:spcPts val="0"/>
                        </a:spcBef>
                        <a:spcAft>
                          <a:spcPts val="0"/>
                        </a:spcAft>
                      </a:pPr>
                      <a:r>
                        <a:rPr lang="ru-RU" sz="650" u="none" strike="noStrike" dirty="0">
                          <a:effectLst/>
                          <a:latin typeface="+mn-lt"/>
                        </a:rPr>
                        <a:t xml:space="preserve">2.1. The Compliance List criteria were developed based on an up-to-date assessment of the compliance risks of a portfolio of third parties and related transactions of the KZ Perimeter (including sanctions risks) in the manner established by the CPC Instructions. The current Compliance Sheet is posted in the KZ Compliance 2.2 System and is available to the KZ business; changes in the Compliance Sheet are brought to the attention of the business. The Compliance Directorate promptly informs the KZ business about changes made for a timely response to them.</a:t>
                      </a:r>
                      <a:br>
                        <a:rPr lang="ru-RU" sz="650" u="none" strike="noStrike" dirty="0">
                          <a:effectLst/>
                          <a:latin typeface="+mn-lt"/>
                        </a:rPr>
                      </a:br>
                      <a:r>
                        <a:rPr lang="ru-RU" sz="650" u="none" strike="noStrike" dirty="0">
                          <a:effectLst/>
                          <a:latin typeface="+mn-lt"/>
                        </a:rPr>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lnSpc>
                          <a:spcPct val="100000"/>
                        </a:lnSpc>
                        <a:spcBef>
                          <a:spcPts val="0"/>
                        </a:spcBef>
                        <a:spcAft>
                          <a:spcPts val="0"/>
                        </a:spcAft>
                      </a:pPr>
                      <a:r>
                        <a:rPr lang="ru-RU" sz="650" u="none" strike="noStrike" dirty="0">
                          <a:effectLst/>
                          <a:latin typeface="+mn-lt"/>
                        </a:rPr>
                        <a:t xml:space="preserve">Analysis of communications with KZ business.</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just" defTabSz="583170" rtl="0" eaLnBrk="1" fontAlgn="ctr" latinLnBrk="0" hangingPunct="1">
                        <a:lnSpc>
                          <a:spcPct val="100000"/>
                        </a:lnSpc>
                        <a:spcBef>
                          <a:spcPts val="0"/>
                        </a:spcBef>
                        <a:spcAft>
                          <a:spcPts val="0"/>
                        </a:spcAft>
                        <a:buClrTx/>
                        <a:buSzTx/>
                        <a:buFontTx/>
                        <a:buNone/>
                        <a:tabLst/>
                        <a:defRPr/>
                      </a:pPr>
                      <a:r>
                        <a:rPr lang="ru-RU" sz="650" b="1" u="none" strike="noStrike" dirty="0" smtClean="0">
                          <a:solidFill>
                            <a:schemeClr val="tx1"/>
                          </a:solidFill>
                          <a:effectLst/>
                          <a:latin typeface="+mn-lt"/>
                        </a:rPr>
                        <a:t xml:space="preserve">No deviations were found.</a:t>
                      </a:r>
                    </a:p>
                    <a:p>
                      <a:pPr algn="just" fontAlgn="ctr">
                        <a:lnSpc>
                          <a:spcPct val="100000"/>
                        </a:lnSpc>
                        <a:spcBef>
                          <a:spcPts val="0"/>
                        </a:spcBef>
                        <a:spcAft>
                          <a:spcPts val="0"/>
                        </a:spcAft>
                      </a:pPr>
                      <a:r>
                        <a:rPr lang="ru-RU" sz="650" u="none" strike="noStrike" dirty="0" smtClean="0">
                          <a:effectLst/>
                          <a:latin typeface="+mn-lt"/>
                        </a:rPr>
                        <a:t xml:space="preserve">Timely updating of the assessment of compliance risks of the third party portfolio and, accordingly, the Compliance Sheet posted in the Compliance 2.2 system has been established. (with timely reflection in the system), with subsequent communication from the Compliance Directorate of Eurasian Group LLP to ERG Commercial Center LLP and the heads of the procurement functions of industrial and technical equipment of the enterprises of the Perimeter of the Republic of Kazakhstan about the changes made to the Compliance List.</a:t>
                      </a:r>
                      <a:r>
                        <a:rPr lang="ru-RU" sz="650" u="none" strike="noStrike" dirty="0">
                          <a:effectLst/>
                          <a:latin typeface="+mn-lt"/>
                        </a:rPr>
                        <a:t/>
                      </a:r>
                      <a:r>
                        <a:rPr lang="ru-RU" sz="650" u="none" strike="noStrike" dirty="0" smtClean="0">
                          <a:effectLst/>
                          <a:latin typeface="+mn-lt"/>
                        </a:rPr>
                        <a:t/>
                      </a:r>
                      <a:r>
                        <a:rPr lang="ru-RU" sz="650" u="none" strike="noStrike" dirty="0">
                          <a:effectLst/>
                          <a:latin typeface="+mn-lt"/>
                        </a:rPr>
                        <a:t/>
                      </a:r>
                      <a:r>
                        <a:rPr lang="ru-RU" sz="650" u="none" strike="noStrike" dirty="0" smtClean="0">
                          <a:effectLst/>
                          <a:latin typeface="+mn-lt"/>
                        </a:rPr>
                        <a:t/>
                      </a:r>
                      <a:r>
                        <a:rPr lang="ru-RU" sz="650" u="none" strike="noStrike" dirty="0">
                          <a:effectLst/>
                          <a:latin typeface="+mn-lt"/>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 xml:space="preserve">Continue informing about changes in the CL (if there are any changes) no later than three working days from the date of approval by the Compliance Committee. Responsible – Aldabergen A.Zh., Zakharov I.V.</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err="1" smtClean="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275542394"/>
                  </a:ext>
                </a:extLst>
              </a:tr>
              <a:tr h="899684">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 xml:space="preserve">3. Low awareness of the Compliance List and criteria</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 xml:space="preserve">3.1. The current Compliance Sheet is posted in the KZ Compliance 2.2 System and is available to the KZ business; changes in the Compliance Sheet are promptly brought to the attention of the business.</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 xml:space="preserve">Analysis of communications with KZ business. Transactional testing of the use of the Compliance Sheet.</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b="1" u="none" strike="noStrike" dirty="0" smtClean="0">
                          <a:solidFill>
                            <a:schemeClr val="tx1"/>
                          </a:solidFill>
                          <a:effectLst/>
                          <a:latin typeface="+mn-lt"/>
                        </a:rPr>
                        <a:t xml:space="preserve">No deviations were found.</a:t>
                      </a:r>
                    </a:p>
                    <a:p>
                      <a:pPr algn="l" fontAlgn="ctr"/>
                      <a:r>
                        <a:rPr lang="ru-RU" sz="650" u="none" strike="noStrike" kern="1200" dirty="0" smtClean="0">
                          <a:solidFill>
                            <a:schemeClr val="dk1"/>
                          </a:solidFill>
                          <a:effectLst/>
                          <a:latin typeface="+mn-lt"/>
                          <a:ea typeface="+mn-ea"/>
                          <a:cs typeface="+mn-cs"/>
                        </a:rPr>
                        <a:t xml:space="preserve">Timely transactional self-testing of the Compliance Sheet was established for the period 1–4 quarters of 2025. In addition to communicating to the business about changes in the Compliance List, quarterly reporting is carried out (CEO, Divisions, TG, MCE) on the results of CL testing.</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en-US" sz="650" u="none" strike="noStrike" kern="1200" dirty="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 xml:space="preserve">Continue informing about changes in the CL (if there are any changes) no later than three working days from the date of approval by the Compliance Committee. Responsible – Aldabergen A.Zh., Zakharov I.V.</a:t>
                      </a:r>
                      <a:r>
                        <a:rPr lang="ru-RU" sz="650" u="none" strike="noStrike" kern="1200" dirty="0" err="1" smtClean="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962602122"/>
                  </a:ext>
                </a:extLst>
              </a:tr>
              <a:tr h="567347">
                <a:tc vMerge="1">
                  <a:txBody>
                    <a:bodyPr/>
                    <a:lstStyle/>
                    <a:p>
                      <a:pPr algn="l" fontAlgn="ctr">
                        <a:lnSpc>
                          <a:spcPct val="100000"/>
                        </a:lnSpc>
                        <a:spcBef>
                          <a:spcPts val="0"/>
                        </a:spcBef>
                        <a:spcAft>
                          <a:spcPts val="0"/>
                        </a:spcAft>
                      </a:pPr>
                      <a:endParaRPr lang="ru-RU" sz="700" b="0" i="0" u="none" strike="noStrike" dirty="0">
                        <a:solidFill>
                          <a:srgbClr val="000000"/>
                        </a:solidFill>
                        <a:effectLst/>
                        <a:latin typeface="+mn-lt"/>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ru-RU" sz="650" u="none" strike="noStrike" dirty="0">
                          <a:effectLst/>
                          <a:latin typeface="+mn-lt"/>
                        </a:rPr>
                        <a:t xml:space="preserve">3.2. The Compliance Directorate provides training on the Compliance List criteria and the basic rules of the CCP.</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baseline="0" dirty="0" smtClean="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kern="1200" dirty="0">
                          <a:solidFill>
                            <a:schemeClr val="dk1"/>
                          </a:solidFill>
                          <a:effectLst/>
                          <a:latin typeface="+mn-lt"/>
                          <a:ea typeface="+mn-ea"/>
                          <a:cs typeface="+mn-cs"/>
                        </a:rPr>
                        <a:t xml:space="preserve">Data verification in the CAT system</a:t>
                      </a:r>
                      <a:r>
                        <a:rPr lang="ru-RU" sz="650" u="none" strike="noStrike" dirty="0">
                          <a:effectLst/>
                          <a:latin typeface="+mn-lt"/>
                        </a:rPr>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just" defTabSz="583170" rtl="0" eaLnBrk="1" fontAlgn="ctr" latinLnBrk="0" hangingPunct="1">
                        <a:lnSpc>
                          <a:spcPct val="100000"/>
                        </a:lnSpc>
                        <a:spcBef>
                          <a:spcPts val="0"/>
                        </a:spcBef>
                        <a:spcAft>
                          <a:spcPts val="0"/>
                        </a:spcAft>
                        <a:buClrTx/>
                        <a:buSzTx/>
                        <a:buFontTx/>
                        <a:buNone/>
                        <a:tabLst/>
                        <a:defRPr/>
                      </a:pPr>
                      <a:r>
                        <a:rPr lang="ru-RU" sz="650" b="1" u="none" strike="noStrike" dirty="0" smtClean="0">
                          <a:solidFill>
                            <a:schemeClr val="tx1"/>
                          </a:solidFill>
                          <a:effectLst/>
                          <a:latin typeface="+mn-lt"/>
                        </a:rPr>
                        <a:t xml:space="preserve">No deviations were found.</a:t>
                      </a:r>
                    </a:p>
                    <a:p>
                      <a:pPr algn="just" fontAlgn="ctr"/>
                      <a:r>
                        <a:rPr lang="ru-RU" sz="650" u="none" strike="noStrike" kern="1200" dirty="0" smtClean="0">
                          <a:solidFill>
                            <a:schemeClr val="dk1"/>
                          </a:solidFill>
                          <a:effectLst/>
                          <a:latin typeface="+mn-lt"/>
                          <a:ea typeface="+mn-ea"/>
                          <a:cs typeface="+mn-cs"/>
                        </a:rPr>
                        <a:t xml:space="preserve">An analysis of control in the field of training confirmed that the trainings were conducted based on the results of self-testing on May 19, August 14, July 23, 2025.</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p>
                    <a:p>
                      <a:pPr algn="just" fontAlgn="ctr"/>
                      <a:r>
                        <a:rPr lang="ru-RU" sz="650" u="none" strike="noStrike" kern="1200" dirty="0">
                          <a:solidFill>
                            <a:schemeClr val="dk1"/>
                          </a:solidFill>
                          <a:effectLst/>
                          <a:latin typeface="+mn-lt"/>
                          <a:ea typeface="+mn-ea"/>
                          <a:cs typeface="+mn-cs"/>
                        </a:rPr>
                        <a:t xml:space="preserve">In addition, the principles and basic rules for applying the Compliance Sheet (as a section of the CPC rules) are broadcast as part of the annual Training Program (face-to-face trainings for enterprises in the Perimeter of the Republic of Kazakhstan).</a:t>
                      </a:r>
                    </a:p>
                    <a:p>
                      <a:pPr algn="just" fontAlgn="ctr"/>
                      <a:r>
                        <a:rPr lang="ru-RU" sz="650" u="none" strike="noStrike" kern="1200" dirty="0">
                          <a:solidFill>
                            <a:schemeClr val="dk1"/>
                          </a:solidFill>
                          <a:effectLst/>
                          <a:latin typeface="+mn-lt"/>
                          <a:ea typeface="+mn-ea"/>
                          <a:cs typeface="+mn-cs"/>
                        </a:rPr>
                        <a:t xml:space="preserve">The trainings were attended by employees of the Group’s companies involved in procurement, selected based on the results of the Compliance List self-test, as well as employees of the “Purchasing” and “Sales” categories selected for the annual Training Program.</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 xml:space="preserve">Continue to promptly enter data on ongoing CPC/CL trainings into the SAT. Responsible – Zakharov I.V.</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endParaRPr lang="ru-RU" sz="650" u="none" strike="noStrike" kern="1200" dirty="0">
                        <a:solidFill>
                          <a:schemeClr val="dk1"/>
                        </a:solidFill>
                        <a:effectLst/>
                        <a:latin typeface="+mn-lt"/>
                        <a:ea typeface="+mn-ea"/>
                        <a:cs typeface="+mn-cs"/>
                      </a:endParaRPr>
                    </a:p>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a:solidFill>
                            <a:schemeClr val="dk1"/>
                          </a:solidFill>
                          <a:effectLst/>
                          <a:latin typeface="+mn-lt"/>
                          <a:ea typeface="+mn-ea"/>
                          <a:cs typeface="+mn-cs"/>
                        </a:rPr>
                        <a:t xml:space="preserve">If necessary, update individual materials for trainings (based on the results of CL self-testing) for a more detailed discussion with the audience of the principles of CL and the operation of the Compliance 2.2 system. Responsible – Zakharov I.V. (+ Natanzon A. – coordination of materials).</a:t>
                      </a:r>
                      <a:r>
                        <a:rPr lang="en-US" sz="650" u="none" strike="noStrike" kern="1200" dirty="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p>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a:solidFill>
                            <a:schemeClr val="dk1"/>
                          </a:solidFill>
                          <a:effectLst/>
                          <a:latin typeface="+mn-lt"/>
                          <a:ea typeface="+mn-ea"/>
                          <a:cs typeface="+mn-cs"/>
                        </a:rPr>
                        <a:t xml:space="preserve">Continue work with the Academy/KU in 2026 to develop an online module on the rules of the CPC for periodic training of employees. Responsible – Zakharov I.V., Natanzon A., Rakhimzhanova D.</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327438382"/>
                  </a:ext>
                </a:extLst>
              </a:tr>
            </a:tbl>
          </a:graphicData>
        </a:graphic>
      </p:graphicFrame>
    </p:spTree>
    <p:extLst>
      <p:ext uri="{BB962C8B-B14F-4D97-AF65-F5344CB8AC3E}">
        <p14:creationId xmlns:p14="http://schemas.microsoft.com/office/powerpoint/2010/main" val="21897314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 dirty="0"/>
              <a:t>Прил.</a:t>
            </a:r>
            <a:r>
              <a:rPr lang="en-US" dirty="0"/>
              <a:t> </a:t>
            </a:r>
            <a:r>
              <a:rPr lang="ru-RU" dirty="0" smtClean="0"/>
              <a:t>3</a:t>
            </a:r>
            <a:r>
              <a:rPr lang="ru" dirty="0" smtClean="0"/>
              <a:t>: </a:t>
            </a:r>
            <a:r>
              <a:rPr lang="ru" dirty="0"/>
              <a:t>Управление рисками третьих сторон</a:t>
            </a:r>
            <a:r>
              <a:rPr lang="en-US" dirty="0"/>
              <a:t/>
            </a:r>
            <a:br>
              <a:rPr lang="en-US" dirty="0"/>
            </a:br>
            <a:r>
              <a:rPr lang="ru-RU" dirty="0" smtClean="0">
                <a:solidFill>
                  <a:schemeClr val="tx1"/>
                </a:solidFill>
              </a:rPr>
              <a:t>Дополнительные самотестирования процесса КПК </a:t>
            </a:r>
            <a:r>
              <a:rPr lang="ru-RU" i="1" dirty="0" smtClean="0">
                <a:solidFill>
                  <a:schemeClr val="tx1"/>
                </a:solidFill>
              </a:rPr>
              <a:t>- продолжение</a:t>
            </a:r>
            <a:endParaRPr lang="ru-RU" i="1" dirty="0">
              <a:solidFill>
                <a:schemeClr val="tx1"/>
              </a:solidFill>
            </a:endParaRPr>
          </a:p>
        </p:txBody>
      </p:sp>
      <p:sp>
        <p:nvSpPr>
          <p:cNvPr id="4" name="Заголовок 1"/>
          <p:cNvSpPr txBox="1">
            <a:spLocks/>
          </p:cNvSpPr>
          <p:nvPr/>
        </p:nvSpPr>
        <p:spPr>
          <a:xfrm>
            <a:off x="314707" y="844596"/>
            <a:ext cx="11452540" cy="609173"/>
          </a:xfrm>
          <a:prstGeom prst="rect">
            <a:avLst/>
          </a:prstGeom>
        </p:spPr>
        <p:txBody>
          <a:bodyPr vert="horz" lIns="0" tIns="0" rIns="0" bIns="0" rtlCol="0" anchor="t">
            <a:noAutofit/>
          </a:bodyPr>
          <a:lstStyle>
            <a:lvl1pPr algn="l" defTabSz="583170" rtl="0" eaLnBrk="1" latinLnBrk="0" hangingPunct="1">
              <a:lnSpc>
                <a:spcPct val="100000"/>
              </a:lnSpc>
              <a:spcBef>
                <a:spcPct val="0"/>
              </a:spcBef>
              <a:buNone/>
              <a:defRPr lang="ru-RU" sz="1800" b="0" kern="1200">
                <a:solidFill>
                  <a:schemeClr val="accent1"/>
                </a:solidFill>
                <a:latin typeface="+mj-lt"/>
                <a:ea typeface="+mj-ea"/>
                <a:cs typeface="+mj-cs"/>
              </a:defRPr>
            </a:lvl1pPr>
          </a:lstStyle>
          <a:p>
            <a:pPr marL="228600" indent="-228600" algn="just">
              <a:buFont typeface="+mj-lt"/>
              <a:buAutoNum type="arabicPeriod" startAt="3"/>
            </a:pPr>
            <a:r>
              <a:rPr lang="ru-RU" sz="1200" dirty="0">
                <a:solidFill>
                  <a:schemeClr val="accent5">
                    <a:lumMod val="75000"/>
                    <a:lumOff val="25000"/>
                  </a:schemeClr>
                </a:solidFill>
              </a:rPr>
              <a:t xml:space="preserve">Monitoring the controls of the Compliance List in accordance with the Compliance List Guarantee Scheme</a:t>
            </a:r>
            <a:r>
              <a:rPr lang="ru-RU" sz="1200" dirty="0" smtClean="0">
                <a:solidFill>
                  <a:schemeClr val="accent5">
                    <a:lumMod val="75000"/>
                    <a:lumOff val="25000"/>
                  </a:schemeClr>
                </a:solidFill>
              </a:rPr>
              <a:t/>
            </a:r>
            <a:r>
              <a:rPr lang="ru-RU" sz="1200" dirty="0">
                <a:solidFill>
                  <a:schemeClr val="accent5">
                    <a:lumMod val="75000"/>
                    <a:lumOff val="25000"/>
                  </a:schemeClr>
                </a:solidFill>
              </a:rPr>
              <a:t/>
            </a:r>
            <a:r>
              <a:rPr lang="ru-RU" sz="1200" dirty="0" smtClean="0">
                <a:solidFill>
                  <a:schemeClr val="accent5">
                    <a:lumMod val="75000"/>
                    <a:lumOff val="25000"/>
                  </a:schemeClr>
                </a:solidFill>
              </a:rPr>
              <a:t/>
            </a:r>
            <a:endParaRPr lang="ru-RU" sz="1200" dirty="0">
              <a:solidFill>
                <a:schemeClr val="accent5">
                  <a:lumMod val="75000"/>
                  <a:lumOff val="25000"/>
                </a:schemeClr>
              </a:solidFill>
            </a:endParaRPr>
          </a:p>
        </p:txBody>
      </p:sp>
      <p:sp>
        <p:nvSpPr>
          <p:cNvPr id="5" name="Прямоугольник 4"/>
          <p:cNvSpPr/>
          <p:nvPr/>
        </p:nvSpPr>
        <p:spPr>
          <a:xfrm>
            <a:off x="314707" y="6519604"/>
            <a:ext cx="5123518"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 xml:space="preserve">Storage of supporting materials for self-testing: folders on OMEGA (Perimeter Kazakhstan server)</a:t>
            </a:r>
            <a:r>
              <a:rPr lang="en-US" sz="700" i="1" dirty="0">
                <a:solidFill>
                  <a:schemeClr val="accent5">
                    <a:lumMod val="75000"/>
                    <a:lumOff val="25000"/>
                  </a:schemeClr>
                </a:solidFill>
              </a:rPr>
              <a:t/>
            </a:r>
            <a:r>
              <a:rPr lang="ru-RU" sz="700" i="1" dirty="0">
                <a:solidFill>
                  <a:schemeClr val="accent5">
                    <a:lumMod val="75000"/>
                    <a:lumOff val="25000"/>
                  </a:schemeClr>
                </a:solidFill>
              </a:rPr>
              <a:t/>
            </a:r>
          </a:p>
        </p:txBody>
      </p:sp>
      <p:graphicFrame>
        <p:nvGraphicFramePr>
          <p:cNvPr id="6" name="Таблица 5"/>
          <p:cNvGraphicFramePr>
            <a:graphicFrameLocks noGrp="1"/>
          </p:cNvGraphicFramePr>
          <p:nvPr>
            <p:extLst>
              <p:ext uri="{D42A27DB-BD31-4B8C-83A1-F6EECF244321}">
                <p14:modId xmlns:p14="http://schemas.microsoft.com/office/powerpoint/2010/main" val="3854141187"/>
              </p:ext>
            </p:extLst>
          </p:nvPr>
        </p:nvGraphicFramePr>
        <p:xfrm>
          <a:off x="314707" y="1183200"/>
          <a:ext cx="11560056" cy="5197855"/>
        </p:xfrm>
        <a:graphic>
          <a:graphicData uri="http://schemas.openxmlformats.org/drawingml/2006/table">
            <a:tbl>
              <a:tblPr>
                <a:tableStyleId>{5C22544A-7EE6-4342-B048-85BDC9FD1C3A}</a:tableStyleId>
              </a:tblPr>
              <a:tblGrid>
                <a:gridCol w="930698">
                  <a:extLst>
                    <a:ext uri="{9D8B030D-6E8A-4147-A177-3AD203B41FA5}">
                      <a16:colId xmlns:a16="http://schemas.microsoft.com/office/drawing/2014/main" val="3541219994"/>
                    </a:ext>
                  </a:extLst>
                </a:gridCol>
                <a:gridCol w="2628000">
                  <a:extLst>
                    <a:ext uri="{9D8B030D-6E8A-4147-A177-3AD203B41FA5}">
                      <a16:colId xmlns:a16="http://schemas.microsoft.com/office/drawing/2014/main" val="1242912936"/>
                    </a:ext>
                  </a:extLst>
                </a:gridCol>
                <a:gridCol w="1133690">
                  <a:extLst>
                    <a:ext uri="{9D8B030D-6E8A-4147-A177-3AD203B41FA5}">
                      <a16:colId xmlns:a16="http://schemas.microsoft.com/office/drawing/2014/main" val="3521787165"/>
                    </a:ext>
                  </a:extLst>
                </a:gridCol>
                <a:gridCol w="4068000">
                  <a:extLst>
                    <a:ext uri="{9D8B030D-6E8A-4147-A177-3AD203B41FA5}">
                      <a16:colId xmlns:a16="http://schemas.microsoft.com/office/drawing/2014/main" val="2527534200"/>
                    </a:ext>
                  </a:extLst>
                </a:gridCol>
                <a:gridCol w="2799668">
                  <a:extLst>
                    <a:ext uri="{9D8B030D-6E8A-4147-A177-3AD203B41FA5}">
                      <a16:colId xmlns:a16="http://schemas.microsoft.com/office/drawing/2014/main" val="726468076"/>
                    </a:ext>
                  </a:extLst>
                </a:gridCol>
              </a:tblGrid>
              <a:tr h="302653">
                <a:tc>
                  <a:txBody>
                    <a:bodyPr/>
                    <a:lstStyle/>
                    <a:p>
                      <a:pPr marL="0" algn="ctr" defTabSz="583170" rtl="0" eaLnBrk="1" fontAlgn="ctr" latinLnBrk="0" hangingPunct="1">
                        <a:lnSpc>
                          <a:spcPct val="100000"/>
                        </a:lnSpc>
                        <a:spcBef>
                          <a:spcPts val="0"/>
                        </a:spcBef>
                        <a:spcAft>
                          <a:spcPts val="0"/>
                        </a:spcAft>
                      </a:pPr>
                      <a:r>
                        <a:rPr lang="ru-RU" sz="650" b="1" u="none" strike="noStrike" kern="1200" dirty="0">
                          <a:solidFill>
                            <a:schemeClr val="accent5">
                              <a:lumMod val="75000"/>
                              <a:lumOff val="25000"/>
                            </a:schemeClr>
                          </a:solidFill>
                          <a:effectLst/>
                          <a:latin typeface="+mn-lt"/>
                          <a:ea typeface="+mn-ea"/>
                          <a:cs typeface="+mn-cs"/>
                        </a:rPr>
                        <a:t xml:space="preserve">Description of process risk</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 xml:space="preserve">Description of control</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 xml:space="preserve">Summary of control attributes for self-test</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 xml:space="preserve">Self-test results</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 xml:space="preserve">Recommendations</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020841703"/>
                  </a:ext>
                </a:extLst>
              </a:tr>
              <a:tr h="383862">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 xml:space="preserve">4. The business uses an outdated Compliance Sheet</a:t>
                      </a:r>
                      <a:r>
                        <a:rPr lang="ru-RU" sz="650" u="none" strike="noStrike" baseline="0" dirty="0" smtClean="0">
                          <a:effectLst/>
                          <a:latin typeface="+mn-lt"/>
                        </a:rPr>
                        <a:t/>
                      </a:r>
                      <a:r>
                        <a:rPr lang="ru-RU" sz="650" u="none" strike="noStrike" dirty="0" smtClean="0">
                          <a:effectLst/>
                          <a:latin typeface="+mn-lt"/>
                        </a:rPr>
                        <a:t/>
                      </a: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 xml:space="preserve">4.1. IT control. The use of the Compliance Sheet is possible only through the Compliance System 2.2. The current Compliance Sheet is integrated into the Compliance 2.2 System as a separate element.</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 xml:space="preserve">Checking the Compliance System configuration 2.2.</a:t>
                      </a: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rowSpan="2">
                  <a:txBody>
                    <a:bodyPr/>
                    <a:lstStyle/>
                    <a:p>
                      <a:pPr marL="0" marR="0" lvl="0" indent="0" algn="just" defTabSz="583170" rtl="0" eaLnBrk="1" fontAlgn="ctr" latinLnBrk="0" hangingPunct="1">
                        <a:lnSpc>
                          <a:spcPct val="100000"/>
                        </a:lnSpc>
                        <a:spcBef>
                          <a:spcPts val="0"/>
                        </a:spcBef>
                        <a:spcAft>
                          <a:spcPts val="0"/>
                        </a:spcAft>
                        <a:buClrTx/>
                        <a:buSzTx/>
                        <a:buFontTx/>
                        <a:buNone/>
                        <a:tabLst/>
                        <a:defRPr/>
                      </a:pPr>
                      <a:r>
                        <a:rPr lang="ru-RU" sz="650" b="1" u="none" strike="noStrike" dirty="0" smtClean="0">
                          <a:solidFill>
                            <a:schemeClr val="tx1"/>
                          </a:solidFill>
                          <a:effectLst/>
                          <a:latin typeface="+mn-lt"/>
                        </a:rPr>
                        <a:t xml:space="preserve">No deviations were found.</a:t>
                      </a:r>
                    </a:p>
                    <a:p>
                      <a:pPr algn="just" fontAlgn="ctr"/>
                      <a:r>
                        <a:rPr lang="ru-RU" sz="650" u="none" strike="noStrike" kern="1200" dirty="0" smtClean="0">
                          <a:solidFill>
                            <a:schemeClr val="dk1"/>
                          </a:solidFill>
                          <a:effectLst/>
                          <a:latin typeface="+mn-lt"/>
                          <a:ea typeface="+mn-ea"/>
                          <a:cs typeface="+mn-cs"/>
                        </a:rPr>
                        <a:t xml:space="preserve">IT system Compliance 2.2. tested on an example of applications, by random selection, in 2024. During the review period (2025), the process operates in accordance with the routing of CCP applications.</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baseline="0" dirty="0" smtClean="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p>
                    <a:p>
                      <a:pPr algn="just" fontAlgn="ctr"/>
                      <a:r>
                        <a:rPr lang="ru-RU" sz="650" u="none" strike="noStrike" kern="1200" dirty="0">
                          <a:solidFill>
                            <a:schemeClr val="dk1"/>
                          </a:solidFill>
                          <a:effectLst/>
                          <a:latin typeface="+mn-lt"/>
                          <a:ea typeface="+mn-ea"/>
                          <a:cs typeface="+mn-cs"/>
                        </a:rPr>
                        <a:t xml:space="preserve">Compliance 2.2 system. reacts correctly (automatically excludes the company from the CL) in cases of CL resident data (name, address, ID number/and/or inclusion of the counterparty in the SNK).</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err="1">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rowSpan="2">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 xml:space="preserve">Continue discussions with IT in 2026 regarding the possibility of downloading the Journal from the system regarding information about changes in the system, including in the Compliance Sheet (for example, in excel format). The event was not implemented in 2025 due to budget and resource shortages. This event is included in the Proposals for improvements to the Compliance 2.2 system. for 2026 Responsible – Zakharov I.V.</a:t>
                      </a:r>
                      <a:r>
                        <a:rPr lang="en-US" sz="650" u="none" strike="noStrike" kern="1200" dirty="0" smtClean="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962602122"/>
                  </a:ext>
                </a:extLst>
              </a:tr>
              <a:tr h="302653">
                <a:tc vMerge="1">
                  <a:txBody>
                    <a:bodyPr/>
                    <a:lstStyle/>
                    <a:p>
                      <a:pPr algn="l" fontAlgn="ctr">
                        <a:lnSpc>
                          <a:spcPct val="100000"/>
                        </a:lnSpc>
                        <a:spcBef>
                          <a:spcPts val="0"/>
                        </a:spcBef>
                        <a:spcAft>
                          <a:spcPts val="0"/>
                        </a:spcAft>
                      </a:pPr>
                      <a:endParaRPr lang="ru-RU" sz="700" b="0" i="0" u="none" strike="noStrike" dirty="0">
                        <a:solidFill>
                          <a:srgbClr val="000000"/>
                        </a:solidFill>
                        <a:effectLst/>
                        <a:latin typeface="+mn-lt"/>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fontAlgn="ctr"/>
                      <a:r>
                        <a:rPr lang="ru-RU" sz="650" u="none" strike="noStrike" dirty="0">
                          <a:effectLst/>
                          <a:latin typeface="+mn-lt"/>
                        </a:rPr>
                        <a:t xml:space="preserve">4.2. The Compliance Sheet is updated on a regular basis (see control procedures for risks 7, 8 and 9).</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pPr algn="l" fontAlgn="ct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pPr algn="l" fontAlgn="ctr"/>
                      <a:endParaRPr lang="ru-RU" sz="800" u="none" strike="noStrike" kern="1200" dirty="0">
                        <a:solidFill>
                          <a:schemeClr val="dk1"/>
                        </a:solidFill>
                        <a:effectLst/>
                        <a:latin typeface="+mn-lt"/>
                        <a:ea typeface="+mn-ea"/>
                        <a:cs typeface="+mn-cs"/>
                      </a:endParaRPr>
                    </a:p>
                  </a:txBody>
                  <a:tcPr marL="3963" marR="3963" marT="3963"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327438382"/>
                  </a:ext>
                </a:extLst>
              </a:tr>
              <a:tr h="383862">
                <a:tc rowSpan="4">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 xml:space="preserve">5. Improper use of the Compliance Sheet</a:t>
                      </a: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 xml:space="preserve">5.1. Self-testing of transactions concluded using the Compliance List, in comparison with data from ESED contracts for compliance with the criteria and restrictions of the Compliance List.</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 xml:space="preserve">Transactional testing</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rowSpan="4">
                  <a:txBody>
                    <a:bodyPr/>
                    <a:lstStyle/>
                    <a:p>
                      <a:pPr marL="0" algn="just" defTabSz="583170" rtl="0" eaLnBrk="1" fontAlgn="ctr" latinLnBrk="0" hangingPunct="1"/>
                      <a:r>
                        <a:rPr lang="ru-RU" sz="650" u="none" strike="noStrike" kern="1200" dirty="0" smtClean="0">
                          <a:solidFill>
                            <a:schemeClr val="dk1"/>
                          </a:solidFill>
                          <a:effectLst/>
                          <a:latin typeface="+mn-lt"/>
                          <a:ea typeface="+mn-ea"/>
                          <a:cs typeface="+mn-cs"/>
                        </a:rPr>
                        <a:t xml:space="preserve">In order to test this control, the results of self-testing of the Compliance Sheet for the 1st - 4th quarters of 2025 were studied. Thus, the study of the above reports showed that:</a:t>
                      </a:r>
                      <a:r>
                        <a:rPr lang="ru-RU" sz="650" u="none" strike="noStrike" kern="1200" baseline="0" dirty="0" smtClean="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p>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 xml:space="preserve">the bulk of the identified inconsistencies (85%) are due to the use of compliance clauses in an outdated version</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endParaRPr lang="ru-RU" sz="650" u="none" strike="noStrike" kern="1200" dirty="0" smtClean="0">
                        <a:solidFill>
                          <a:schemeClr val="dk1"/>
                        </a:solidFill>
                        <a:effectLst/>
                        <a:latin typeface="+mn-lt"/>
                        <a:ea typeface="+mn-ea"/>
                        <a:cs typeface="+mn-cs"/>
                      </a:endParaRPr>
                    </a:p>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 xml:space="preserve">there is a need to supplement the algorithm of the Compliance 2.2 system. additional IT control to check the presence of third parties (shippers) in the transaction</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baseline="0" dirty="0" smtClean="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rowSpan="4">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 xml:space="preserve">Continue to conduct explanatory work with involved employees as part of training on the Compliance List.</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p>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dirty="0" smtClean="0">
                          <a:effectLst/>
                          <a:latin typeface="+mn-lt"/>
                        </a:rPr>
                        <a:t xml:space="preserve">Continue in 2026 discussion with IT about the technical feasibility of improving the Compliance 2.2 system. The event was not implemented in 2025 due to budget and resource shortages. This event is included in the Proposals for improvements to the Compliance 2.2 system. for 2026 Responsible – Zakharov I.V.</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719138978"/>
                  </a:ext>
                </a:extLst>
              </a:tr>
              <a:tr h="627490">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 xml:space="preserve">5.2. Category “D” (Sales) includes end consumers/recipients of products or persons authorized by the executive authorities of the Republic of Kazakhstan. The status of the counterparty and the risk of transferring products to a non-end user in accordance with the terms of the contract are verified as part of the self-testing procedure of the Compliance List controls.</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 xml:space="preserve">Transactional testing</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pPr algn="l" fontAlgn="ctr"/>
                      <a:endParaRPr lang="ru-RU" sz="800" b="0" i="0" u="none" strike="noStrike" dirty="0">
                        <a:solidFill>
                          <a:srgbClr val="000000"/>
                        </a:solidFill>
                        <a:effectLst/>
                        <a:latin typeface="Arial" panose="020B0604020202020204" pitchFamily="34" charset="0"/>
                      </a:endParaRPr>
                    </a:p>
                  </a:txBody>
                  <a:tcPr marL="3963" marR="3963" marT="3963"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538061318"/>
                  </a:ext>
                </a:extLst>
              </a:tr>
              <a:tr h="465072">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 xml:space="preserve">5.3. IT control. The built-in controls of the Compliance Sheet in the Compliance 2.2 System involve selecting exclusively from verified lists of Compliance Sheet categories and, if all criteria match, allow the use of the Compliance Sheet.</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 xml:space="preserve">Checking the system configuration.</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pPr algn="l" fontAlgn="ctr"/>
                      <a:endParaRPr lang="ru-RU" sz="800" b="0" i="0" u="none" strike="noStrike" dirty="0">
                        <a:solidFill>
                          <a:srgbClr val="000000"/>
                        </a:solidFill>
                        <a:effectLst/>
                        <a:latin typeface="Arial" panose="020B0604020202020204" pitchFamily="34" charset="0"/>
                      </a:endParaRPr>
                    </a:p>
                  </a:txBody>
                  <a:tcPr marL="3963" marR="3963" marT="3963"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pPr algn="l" fontAlgn="ctr"/>
                      <a:endParaRPr lang="ru-RU" sz="800" b="0" i="0" u="none" strike="noStrike" dirty="0">
                        <a:solidFill>
                          <a:srgbClr val="000000"/>
                        </a:solidFill>
                        <a:effectLst/>
                        <a:latin typeface="Arial" panose="020B0604020202020204" pitchFamily="34" charset="0"/>
                      </a:endParaRPr>
                    </a:p>
                  </a:txBody>
                  <a:tcPr marL="3963" marR="3963" marT="3963"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457818596"/>
                  </a:ext>
                </a:extLst>
              </a:tr>
              <a:tr h="383862">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 xml:space="preserve">5.4. IT control. The built-in control of the Compliance 2.2 System excludes the possibility of using the Compliance Sheet if the transaction amount thresholds for categories “C” and “Intermediaries” exceed $5 million.</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 xml:space="preserve">Checking the system configuration</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436195547"/>
                  </a:ext>
                </a:extLst>
              </a:tr>
              <a:tr h="302653">
                <a:tc rowSpan="4">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 xml:space="preserve">6. Unauthorized changes to the Compliance Sheet</a:t>
                      </a: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kern="1200" dirty="0">
                          <a:solidFill>
                            <a:schemeClr val="dk1"/>
                          </a:solidFill>
                          <a:effectLst/>
                          <a:latin typeface="+mn-lt"/>
                          <a:ea typeface="+mn-ea"/>
                          <a:cs typeface="+mn-cs"/>
                        </a:rPr>
                        <a:t xml:space="preserve">6.1. Maintaining the relevance of the Compliance Sheet module in the Compliance System 2.2. carried out by the responsible employee of the Compliance function of the KZ Perimeter.</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kern="1200" dirty="0" smtClean="0">
                          <a:solidFill>
                            <a:schemeClr val="dk1"/>
                          </a:solidFill>
                          <a:effectLst/>
                          <a:latin typeface="+mn-lt"/>
                          <a:ea typeface="+mn-ea"/>
                          <a:cs typeface="+mn-cs"/>
                        </a:rPr>
                        <a:t xml:space="preserve">Testing the changelog</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rowSpan="4">
                  <a:txBody>
                    <a:bodyPr/>
                    <a:lstStyle/>
                    <a:p>
                      <a:pPr marL="0" marR="0" lvl="0" indent="0" algn="just" defTabSz="583170" rtl="0" eaLnBrk="1" fontAlgn="ctr" latinLnBrk="0" hangingPunct="1">
                        <a:lnSpc>
                          <a:spcPct val="100000"/>
                        </a:lnSpc>
                        <a:spcBef>
                          <a:spcPts val="0"/>
                        </a:spcBef>
                        <a:spcAft>
                          <a:spcPts val="0"/>
                        </a:spcAft>
                        <a:buClrTx/>
                        <a:buSzTx/>
                        <a:buFontTx/>
                        <a:buNone/>
                        <a:tabLst/>
                        <a:defRPr/>
                      </a:pPr>
                      <a:r>
                        <a:rPr lang="ru-RU" sz="650" u="none" strike="noStrike" kern="1200" dirty="0" smtClean="0">
                          <a:solidFill>
                            <a:schemeClr val="dk1"/>
                          </a:solidFill>
                          <a:effectLst/>
                          <a:latin typeface="+mn-lt"/>
                          <a:ea typeface="+mn-ea"/>
                          <a:cs typeface="+mn-cs"/>
                        </a:rPr>
                        <a:t xml:space="preserve">Testing of the change log is performed manually, as automatic notifications from the Compliance 2.2 System are received. about changing the status of the contracting party. Changes in the log are recorded correctly.</a:t>
                      </a:r>
                      <a:r>
                        <a:rPr lang="ru-RU" sz="650" u="none" strike="noStrike" kern="1200" baseline="0" dirty="0" smtClean="0">
                          <a:solidFill>
                            <a:schemeClr val="dk1"/>
                          </a:solidFill>
                          <a:effectLst/>
                          <a:latin typeface="+mn-lt"/>
                          <a:ea typeface="+mn-ea"/>
                          <a:cs typeface="+mn-cs"/>
                        </a:rPr>
                        <a:t/>
                      </a:r>
                      <a:r>
                        <a:rPr lang="ru-RU" sz="650" u="none" strike="noStrike" dirty="0" smtClean="0">
                          <a:effectLst/>
                          <a:latin typeface="+mn-lt"/>
                        </a:rPr>
                        <a:t/>
                      </a:r>
                      <a:r>
                        <a:rPr lang="ru-RU" sz="650" u="none" strike="noStrike" dirty="0" err="1" smtClean="0">
                          <a:effectLst/>
                          <a:latin typeface="+mn-lt"/>
                        </a:rPr>
                        <a:t/>
                      </a:r>
                      <a:r>
                        <a:rPr lang="ru-RU" sz="650" u="none" strike="noStrike" dirty="0" smtClean="0">
                          <a:effectLst/>
                          <a:latin typeface="+mn-lt"/>
                        </a:rPr>
                        <a:t/>
                      </a:r>
                      <a:r>
                        <a:rPr lang="ru-RU" sz="650" u="none" strike="noStrike" baseline="0" dirty="0" smtClean="0">
                          <a:effectLst/>
                          <a:latin typeface="+mn-lt"/>
                        </a:rPr>
                        <a:t/>
                      </a:r>
                      <a:r>
                        <a:rPr lang="ru-RU" sz="650" u="none" strike="noStrike" dirty="0" smtClean="0">
                          <a:effectLst/>
                          <a:latin typeface="+mn-lt"/>
                        </a:rPr>
                        <a:t/>
                      </a:r>
                    </a:p>
                    <a:p>
                      <a:pPr marL="0" marR="0" lvl="0" indent="0" algn="just"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p>
                      <a:pPr marL="0" marR="0" lvl="0" indent="0" algn="just" defTabSz="583170" rtl="0" eaLnBrk="1" fontAlgn="ctr" latinLnBrk="0" hangingPunct="1">
                        <a:lnSpc>
                          <a:spcPct val="100000"/>
                        </a:lnSpc>
                        <a:spcBef>
                          <a:spcPts val="0"/>
                        </a:spcBef>
                        <a:spcAft>
                          <a:spcPts val="0"/>
                        </a:spcAft>
                        <a:buClrTx/>
                        <a:buSzTx/>
                        <a:buFontTx/>
                        <a:buNone/>
                        <a:tabLst/>
                        <a:defRPr/>
                      </a:pPr>
                      <a:r>
                        <a:rPr lang="ru-RU" sz="650" b="0" i="0" u="none" strike="noStrike" dirty="0" smtClean="0">
                          <a:solidFill>
                            <a:srgbClr val="000000"/>
                          </a:solidFill>
                          <a:effectLst/>
                          <a:latin typeface="+mn-lt"/>
                        </a:rPr>
                        <a:t xml:space="preserve">The changes in the Compliance Sheet for 2025 were verified for approval from the KZ Compliance Director. No inconsistencies were identified.</a:t>
                      </a:r>
                      <a:r>
                        <a:rPr lang="ru-RU" sz="650" b="0" i="0" u="none" strike="noStrike" baseline="0" dirty="0" smtClean="0">
                          <a:solidFill>
                            <a:srgbClr val="000000"/>
                          </a:solidFill>
                          <a:effectLst/>
                          <a:latin typeface="+mn-lt"/>
                        </a:rPr>
                        <a:t/>
                      </a:r>
                      <a:r>
                        <a:rPr lang="ru-RU" sz="650" u="none" strike="noStrike" dirty="0" smtClean="0">
                          <a:effectLst/>
                          <a:latin typeface="+mn-lt"/>
                        </a:rPr>
                        <a:t/>
                      </a:r>
                      <a:r>
                        <a:rPr lang="ru-RU" sz="650" u="none" strike="noStrike" baseline="0" dirty="0" smtClean="0">
                          <a:effectLst/>
                          <a:latin typeface="+mn-lt"/>
                        </a:rPr>
                        <a:t/>
                      </a:r>
                      <a:endParaRPr lang="ru-RU" sz="650" b="0" i="0" u="none" strike="noStrike" dirty="0" smtClean="0">
                        <a:solidFill>
                          <a:srgbClr val="000000"/>
                        </a:solidFill>
                        <a:effectLst/>
                        <a:latin typeface="+mn-lt"/>
                      </a:endParaRPr>
                    </a:p>
                    <a:p>
                      <a:pPr marL="0" algn="l" defTabSz="583170" rtl="0" eaLnBrk="1" fontAlgn="ctr" latinLnBrk="0" hangingPunct="1"/>
                      <a:endParaRPr lang="ru-RU" sz="650" u="none" strike="noStrike" kern="1200" dirty="0" smtClean="0">
                        <a:solidFill>
                          <a:schemeClr val="dk1"/>
                        </a:solidFill>
                        <a:effectLst/>
                        <a:latin typeface="+mn-lt"/>
                        <a:ea typeface="+mn-ea"/>
                        <a:cs typeface="+mn-cs"/>
                      </a:endParaRPr>
                    </a:p>
                    <a:p>
                      <a:pPr marL="0" lvl="1" algn="l" defTabSz="583170" rtl="0" eaLnBrk="1" fontAlgn="ctr" latinLnBrk="0" hangingPunct="1">
                        <a:spcAft>
                          <a:spcPts val="0"/>
                        </a:spcAft>
                      </a:pPr>
                      <a:r>
                        <a:rPr lang="ru-RU" sz="650" u="none" strike="noStrike" kern="1200" dirty="0" smtClean="0">
                          <a:solidFill>
                            <a:schemeClr val="dk1"/>
                          </a:solidFill>
                          <a:effectLst/>
                          <a:latin typeface="+mn-lt"/>
                          <a:ea typeface="+mn-ea"/>
                          <a:cs typeface="+mn-cs"/>
                        </a:rPr>
                        <a:t> </a:t>
                      </a:r>
                    </a:p>
                    <a:p>
                      <a:pPr marL="0" marR="0" lvl="0" indent="0" algn="l"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650" u="none" strike="noStrike" kern="1200" dirty="0" smtClean="0">
                          <a:solidFill>
                            <a:schemeClr val="dk1"/>
                          </a:solidFill>
                          <a:effectLst/>
                          <a:latin typeface="+mn-lt"/>
                          <a:ea typeface="+mn-ea"/>
                          <a:cs typeface="+mn-cs"/>
                        </a:rPr>
                        <a:t xml:space="preserve">The system configuration is checked: when making changes to the registration data of the counterparty KL (in MDM), Compliance System 2.2. automatically excludes the counterparty from the CL, and automatically notifies compliance specialists.</a:t>
                      </a:r>
                      <a:r>
                        <a:rPr lang="ru-RU" sz="650" u="none" strike="noStrike" kern="1200" baseline="0" dirty="0" smtClean="0">
                          <a:solidFill>
                            <a:schemeClr val="dk1"/>
                          </a:solidFill>
                          <a:effectLst/>
                          <a:latin typeface="+mn-lt"/>
                          <a:ea typeface="+mn-ea"/>
                          <a:cs typeface="+mn-cs"/>
                        </a:rPr>
                        <a:t/>
                      </a:r>
                      <a:r>
                        <a:rPr lang="ru-RU" sz="650" u="none" strike="noStrike" dirty="0" smtClean="0">
                          <a:effectLst/>
                          <a:latin typeface="+mn-lt"/>
                        </a:rPr>
                        <a:t/>
                      </a:r>
                      <a:r>
                        <a:rPr lang="ru-RU" sz="650" u="none" strike="noStrike" dirty="0" err="1" smtClean="0">
                          <a:effectLst/>
                          <a:latin typeface="+mn-lt"/>
                        </a:rPr>
                        <a:t/>
                      </a:r>
                      <a:r>
                        <a:rPr lang="ru-RU" sz="650" u="none" strike="noStrike" dirty="0" smtClean="0">
                          <a:effectLst/>
                          <a:latin typeface="+mn-lt"/>
                        </a:rPr>
                        <a:t/>
                      </a:r>
                      <a:r>
                        <a:rPr lang="ru-RU" sz="650" u="none" strike="noStrike" baseline="0" dirty="0" smtClean="0">
                          <a:effectLst/>
                          <a:latin typeface="+mn-lt"/>
                        </a:rPr>
                        <a:t/>
                      </a:r>
                      <a:endParaRPr lang="ru-RU" sz="650" b="0" i="0" u="none" strike="noStrike" dirty="0" smtClean="0">
                        <a:solidFill>
                          <a:srgbClr val="000000"/>
                        </a:solidFill>
                        <a:effectLst/>
                        <a:latin typeface="+mn-lt"/>
                      </a:endParaRPr>
                    </a:p>
                    <a:p>
                      <a:pPr marL="0" indent="0" algn="l" defTabSz="583170" rtl="0" eaLnBrk="1" fontAlgn="ctr" latinLnBrk="0" hangingPunct="1">
                        <a:buFont typeface="Arial" panose="020B0604020202020204" pitchFamily="34" charset="0"/>
                        <a:buNone/>
                      </a:pPr>
                      <a:r>
                        <a:rPr lang="ru-RU" sz="650" u="none" strike="noStrike" kern="1200" dirty="0" smtClean="0">
                          <a:solidFill>
                            <a:schemeClr val="dk1"/>
                          </a:solidFill>
                          <a:effectLst/>
                          <a:latin typeface="+mn-lt"/>
                          <a:ea typeface="+mn-ea"/>
                          <a:cs typeface="+mn-cs"/>
                        </a:rPr>
                        <a:t/>
                      </a:r>
                      <a:br>
                        <a:rPr lang="ru-RU" sz="650" u="none" strike="noStrike" kern="1200" dirty="0" smtClean="0">
                          <a:solidFill>
                            <a:schemeClr val="dk1"/>
                          </a:solidFill>
                          <a:effectLst/>
                          <a:latin typeface="+mn-lt"/>
                          <a:ea typeface="+mn-ea"/>
                          <a:cs typeface="+mn-cs"/>
                        </a:rPr>
                      </a:br>
                      <a:r>
                        <a:rPr lang="ru-RU" sz="650" u="none" strike="noStrike" kern="1200" dirty="0" smtClean="0">
                          <a:solidFill>
                            <a:schemeClr val="dk1"/>
                          </a:solidFill>
                          <a:effectLst/>
                          <a:latin typeface="+mn-lt"/>
                          <a:ea typeface="+mn-ea"/>
                          <a:cs typeface="+mn-cs"/>
                        </a:rPr>
                        <a:t/>
                      </a:r>
                      <a:br>
                        <a:rPr lang="ru-RU" sz="650" u="none" strike="noStrike" kern="1200" dirty="0" smtClean="0">
                          <a:solidFill>
                            <a:schemeClr val="dk1"/>
                          </a:solidFill>
                          <a:effectLst/>
                          <a:latin typeface="+mn-lt"/>
                          <a:ea typeface="+mn-ea"/>
                          <a:cs typeface="+mn-cs"/>
                        </a:rPr>
                      </a:br>
                      <a:r>
                        <a:rPr lang="ru-RU" sz="650" u="none" strike="noStrike" kern="1200" dirty="0" smtClean="0">
                          <a:solidFill>
                            <a:schemeClr val="dk1"/>
                          </a:solidFill>
                          <a:effectLst/>
                          <a:latin typeface="+mn-lt"/>
                          <a:ea typeface="+mn-ea"/>
                          <a:cs typeface="+mn-cs"/>
                        </a:rPr>
                        <a:t>В 2024 году выявлено наблюдение: в журнале изменений при поиске по ID элемента в результатах отображаются «лишние» записи.  В</a:t>
                      </a:r>
                      <a:r>
                        <a:rPr lang="ru-RU" sz="650" u="none" strike="noStrike" kern="1200" baseline="0" dirty="0" smtClean="0">
                          <a:solidFill>
                            <a:schemeClr val="dk1"/>
                          </a:solidFill>
                          <a:effectLst/>
                          <a:latin typeface="+mn-lt"/>
                          <a:ea typeface="+mn-ea"/>
                          <a:cs typeface="+mn-cs"/>
                        </a:rPr>
                        <a:t> 2025 году, данное наблюдение сохраняется (</a:t>
                      </a:r>
                      <a:r>
                        <a:rPr lang="en-US" sz="650" u="none" strike="noStrike" kern="1200" baseline="0" dirty="0" smtClean="0">
                          <a:solidFill>
                            <a:schemeClr val="dk1"/>
                          </a:solidFill>
                          <a:effectLst/>
                          <a:latin typeface="+mn-lt"/>
                          <a:ea typeface="+mn-ea"/>
                          <a:cs typeface="+mn-cs"/>
                        </a:rPr>
                        <a:t>IT</a:t>
                      </a:r>
                      <a:r>
                        <a:rPr lang="ru-RU" sz="650" u="none" strike="noStrike" kern="1200" baseline="0" dirty="0" smtClean="0">
                          <a:solidFill>
                            <a:schemeClr val="dk1"/>
                          </a:solidFill>
                          <a:effectLst/>
                          <a:latin typeface="+mn-lt"/>
                          <a:ea typeface="+mn-ea"/>
                          <a:cs typeface="+mn-cs"/>
                        </a:rPr>
                        <a:t>-доработка не выполнена ввиду ограниченности </a:t>
                      </a:r>
                      <a:r>
                        <a:rPr lang="en-US" sz="650" u="none" strike="noStrike" kern="1200" baseline="0" dirty="0" smtClean="0">
                          <a:solidFill>
                            <a:schemeClr val="dk1"/>
                          </a:solidFill>
                          <a:effectLst/>
                          <a:latin typeface="+mn-lt"/>
                          <a:ea typeface="+mn-ea"/>
                          <a:cs typeface="+mn-cs"/>
                        </a:rPr>
                        <a:t>IT</a:t>
                      </a:r>
                      <a:r>
                        <a:rPr lang="ru-RU" sz="650" u="none" strike="noStrike" kern="1200" baseline="0" dirty="0" smtClean="0">
                          <a:solidFill>
                            <a:schemeClr val="dk1"/>
                          </a:solidFill>
                          <a:effectLst/>
                          <a:latin typeface="+mn-lt"/>
                          <a:ea typeface="+mn-ea"/>
                          <a:cs typeface="+mn-cs"/>
                        </a:rPr>
                        <a:t> ресурсов).</a:t>
                      </a:r>
                      <a:endParaRPr lang="ru-RU" sz="650" u="none" strike="noStrike" kern="1200" dirty="0" smtClean="0">
                        <a:solidFill>
                          <a:schemeClr val="dk1"/>
                        </a:solidFill>
                        <a:effectLst/>
                        <a:latin typeface="+mn-lt"/>
                        <a:ea typeface="+mn-ea"/>
                        <a:cs typeface="+mn-cs"/>
                      </a:endParaRPr>
                    </a:p>
                    <a:p>
                      <a:pPr marL="0" indent="0" algn="l" defTabSz="583170" rtl="0" eaLnBrk="1" fontAlgn="ctr" latinLnBrk="0" hangingPunct="1">
                        <a:buFont typeface="Arial" panose="020B0604020202020204" pitchFamily="34" charset="0"/>
                        <a:buNone/>
                      </a:pPr>
                      <a:endParaRPr lang="ru-RU" sz="650" u="none" strike="noStrike" kern="1200" dirty="0" smtClean="0">
                        <a:solidFill>
                          <a:schemeClr val="dk1"/>
                        </a:solidFill>
                        <a:effectLst/>
                        <a:latin typeface="+mn-lt"/>
                        <a:ea typeface="+mn-ea"/>
                        <a:cs typeface="+mn-cs"/>
                      </a:endParaRPr>
                    </a:p>
                    <a:p>
                      <a:pPr marL="0" indent="0" algn="l" defTabSz="583170" rtl="0" eaLnBrk="1" fontAlgn="ctr" latinLnBrk="0" hangingPunct="1">
                        <a:buFont typeface="Arial" panose="020B0604020202020204" pitchFamily="34" charset="0"/>
                        <a:buNone/>
                      </a:pPr>
                      <a:endParaRPr lang="ru-RU" sz="650" u="none" strike="noStrike" kern="1200" dirty="0" smtClean="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rowSpan="4">
                  <a:txBody>
                    <a:bodyPr/>
                    <a:lstStyle/>
                    <a:p>
                      <a:pPr marL="0" marR="0" lvl="0" indent="-17145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a:solidFill>
                            <a:schemeClr val="dk1"/>
                          </a:solidFill>
                          <a:effectLst/>
                          <a:latin typeface="+mn-lt"/>
                          <a:ea typeface="+mn-ea"/>
                          <a:cs typeface="+mn-cs"/>
                        </a:rPr>
                        <a:t xml:space="preserve">Clause 6.1.: Testing of the change log will be carried out as part of the quarterly self-testing of the CL, by downloading directories of counterparties/banks/manufacturers included in the CL, and checking them with the current CL</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p>
                    <a:p>
                      <a:pPr marL="0" marR="0" lvl="0" indent="-17145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a:solidFill>
                            <a:schemeClr val="dk1"/>
                          </a:solidFill>
                          <a:effectLst/>
                          <a:latin typeface="+mn-lt"/>
                          <a:ea typeface="+mn-ea"/>
                          <a:cs typeface="+mn-cs"/>
                        </a:rPr>
                        <a:t xml:space="preserve">Clauses 6.3. – 6.4. – monitoring will be carried out on an ongoing basis by checking the correct operation of the System algorithm for each incoming notification about the exclusion of a counterparty from the CL</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p>
                    <a:p>
                      <a:pPr marL="0" marR="0" lvl="0" indent="-17145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 xml:space="preserve">The question of the possibility of identifying changes in the CL using element ID is included in the proposals for improvements to the Compliance 2.2 System for 2026.</a:t>
                      </a:r>
                      <a:r>
                        <a:rPr lang="ru-RU" sz="650" u="none" strike="noStrike" kern="1200" baseline="0" dirty="0" smtClean="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baseline="0" dirty="0" smtClean="0">
                          <a:solidFill>
                            <a:schemeClr val="dk1"/>
                          </a:solidFill>
                          <a:effectLst/>
                          <a:latin typeface="+mn-lt"/>
                          <a:ea typeface="+mn-ea"/>
                          <a:cs typeface="+mn-cs"/>
                        </a:rPr>
                        <a:t/>
                      </a:r>
                      <a:r>
                        <a:rPr lang="ru-RU" sz="650" u="none" strike="noStrike" dirty="0" smtClean="0">
                          <a:effectLst/>
                          <a:latin typeface="+mn-lt"/>
                        </a:rPr>
                        <a:t/>
                      </a:r>
                      <a:r>
                        <a:rPr lang="ru-RU" sz="650" u="none" strike="noStrike" dirty="0" err="1" smtClean="0">
                          <a:effectLst/>
                          <a:latin typeface="+mn-lt"/>
                        </a:rPr>
                        <a:t/>
                      </a:r>
                      <a:r>
                        <a:rPr lang="ru-RU" sz="650" u="none" strike="noStrike" dirty="0" smtClean="0">
                          <a:effectLst/>
                          <a:latin typeface="+mn-lt"/>
                        </a:rPr>
                        <a:t/>
                      </a:r>
                      <a:r>
                        <a:rPr lang="ru-RU" sz="650" u="none" strike="noStrike" baseline="0" dirty="0" smtClean="0">
                          <a:effectLst/>
                          <a:latin typeface="+mn-lt"/>
                        </a:rPr>
                        <a:t/>
                      </a:r>
                      <a:endParaRPr lang="ru-RU" sz="650" u="none" strike="noStrike" kern="1200" dirty="0">
                        <a:solidFill>
                          <a:schemeClr val="dk1"/>
                        </a:solidFill>
                        <a:effectLst/>
                        <a:latin typeface="+mn-lt"/>
                        <a:ea typeface="+mn-ea"/>
                        <a:cs typeface="+mn-cs"/>
                      </a:endParaRPr>
                    </a:p>
                    <a:p>
                      <a:pPr marL="0" marR="0" lvl="0" indent="-17145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endParaRPr lang="ru-RU" sz="650" u="none" strike="noStrike" kern="1200" dirty="0">
                        <a:solidFill>
                          <a:schemeClr val="dk1"/>
                        </a:solidFill>
                        <a:effectLst/>
                        <a:latin typeface="+mn-lt"/>
                        <a:ea typeface="+mn-ea"/>
                        <a:cs typeface="+mn-cs"/>
                      </a:endParaRPr>
                    </a:p>
                    <a:p>
                      <a:pPr marL="0" marR="0" lvl="0" indent="0" algn="just" defTabSz="583170" rtl="0" eaLnBrk="1" fontAlgn="ctr" latinLnBrk="0" hangingPunct="1">
                        <a:lnSpc>
                          <a:spcPct val="100000"/>
                        </a:lnSpc>
                        <a:spcBef>
                          <a:spcPts val="0"/>
                        </a:spcBef>
                        <a:spcAft>
                          <a:spcPts val="0"/>
                        </a:spcAft>
                        <a:buClrTx/>
                        <a:buSzTx/>
                        <a:buFont typeface="Arial" panose="020B0604020202020204" pitchFamily="34" charset="0"/>
                        <a:buNone/>
                        <a:tabLst/>
                        <a:defRPr/>
                      </a:pP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003104155"/>
                  </a:ext>
                </a:extLst>
              </a:tr>
              <a:tr h="708699">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kern="1200" dirty="0">
                          <a:solidFill>
                            <a:schemeClr val="dk1"/>
                          </a:solidFill>
                          <a:effectLst/>
                          <a:latin typeface="+mn-lt"/>
                          <a:ea typeface="+mn-ea"/>
                          <a:cs typeface="+mn-cs"/>
                        </a:rPr>
                        <a:t xml:space="preserve">6.2. Inclusion/exclusion in the Compliance List is based on a thorough analysis together with the KZ business and is subject to approval by the Compliance Director via email.</a:t>
                      </a:r>
                      <a:r>
                        <a:rPr lang="ru-RU" sz="650" u="none" strike="noStrike" kern="1200" dirty="0" err="1">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 xml:space="preserve">Reconciliation of the approvals of the Compliance Director KZ (sample) for the inclusion/exclusion of third parties in/from the Compliance List in comparison with the Compliance List posted in the Compliance 2.2 System.</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pPr algn="l" fontAlgn="ctr"/>
                      <a:endParaRPr lang="ru-RU" sz="800" b="0" i="0" u="none" strike="noStrike" dirty="0">
                        <a:solidFill>
                          <a:srgbClr val="000000"/>
                        </a:solidFill>
                        <a:effectLst/>
                        <a:latin typeface="Arial" panose="020B0604020202020204" pitchFamily="34" charset="0"/>
                      </a:endParaRPr>
                    </a:p>
                  </a:txBody>
                  <a:tcPr marL="4900" marR="4900" marT="490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459845402"/>
                  </a:ext>
                </a:extLst>
              </a:tr>
              <a:tr h="302653">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kern="1200" dirty="0">
                          <a:solidFill>
                            <a:schemeClr val="dk1"/>
                          </a:solidFill>
                          <a:effectLst/>
                          <a:latin typeface="+mn-lt"/>
                          <a:ea typeface="+mn-ea"/>
                          <a:cs typeface="+mn-cs"/>
                        </a:rPr>
                        <a:t xml:space="preserve">6.3. IT control - Cancel the status “Included in the Compliance List” in the counterparty’s card when making changes to the counterparty’s registration data.</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algn="just" defTabSz="583170" rtl="0" eaLnBrk="1" fontAlgn="ctr" latinLnBrk="0" hangingPunct="1">
                        <a:lnSpc>
                          <a:spcPct val="100000"/>
                        </a:lnSpc>
                        <a:spcBef>
                          <a:spcPts val="0"/>
                        </a:spcBef>
                        <a:spcAft>
                          <a:spcPts val="0"/>
                        </a:spcAft>
                        <a:buClrTx/>
                        <a:buSzTx/>
                        <a:buFont typeface="Arial" panose="020B0604020202020204" pitchFamily="34" charset="0"/>
                        <a:tabLst/>
                        <a:defRPr/>
                      </a:pPr>
                      <a:r>
                        <a:rPr lang="ru-RU" sz="650" u="none" strike="noStrike" kern="1200" dirty="0">
                          <a:solidFill>
                            <a:schemeClr val="dk1"/>
                          </a:solidFill>
                          <a:effectLst/>
                          <a:latin typeface="+mn-lt"/>
                          <a:ea typeface="+mn-ea"/>
                          <a:cs typeface="+mn-cs"/>
                        </a:rPr>
                        <a:t xml:space="preserve">Checking the system configuration</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pPr algn="l" fontAlgn="ctr"/>
                      <a:endParaRPr lang="ru-RU" sz="800" b="0" i="0" u="none" strike="noStrike" dirty="0">
                        <a:solidFill>
                          <a:srgbClr val="000000"/>
                        </a:solidFill>
                        <a:effectLst/>
                        <a:latin typeface="Arial" panose="020B0604020202020204" pitchFamily="34" charset="0"/>
                      </a:endParaRPr>
                    </a:p>
                  </a:txBody>
                  <a:tcPr marL="4900" marR="4900" marT="490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739020327"/>
                  </a:ext>
                </a:extLst>
              </a:tr>
              <a:tr h="302653">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kern="1200" dirty="0">
                          <a:solidFill>
                            <a:schemeClr val="dk1"/>
                          </a:solidFill>
                          <a:effectLst/>
                          <a:latin typeface="+mn-lt"/>
                          <a:ea typeface="+mn-ea"/>
                          <a:cs typeface="+mn-cs"/>
                        </a:rPr>
                        <a:t xml:space="preserve">6.4. A change log is maintained to track any changes to the Compliance Sheet and provide immediate notification.</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algn="just" defTabSz="583170" rtl="0" eaLnBrk="1" fontAlgn="ctr" latinLnBrk="0" hangingPunct="1">
                        <a:lnSpc>
                          <a:spcPct val="100000"/>
                        </a:lnSpc>
                        <a:spcBef>
                          <a:spcPts val="0"/>
                        </a:spcBef>
                        <a:spcAft>
                          <a:spcPts val="0"/>
                        </a:spcAft>
                        <a:buClrTx/>
                        <a:buSzTx/>
                        <a:buFont typeface="Arial" panose="020B0604020202020204" pitchFamily="34" charset="0"/>
                        <a:tabLst/>
                        <a:defRPr/>
                      </a:pPr>
                      <a:r>
                        <a:rPr lang="ru-RU" sz="650" u="none" strike="noStrike" kern="1200" dirty="0">
                          <a:solidFill>
                            <a:schemeClr val="dk1"/>
                          </a:solidFill>
                          <a:effectLst/>
                          <a:latin typeface="+mn-lt"/>
                          <a:ea typeface="+mn-ea"/>
                          <a:cs typeface="+mn-cs"/>
                        </a:rPr>
                        <a:t xml:space="preserve">Checking the Event/Change Log</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vMerge="1">
                  <a:txBody>
                    <a:bodyPr/>
                    <a:lstStyle/>
                    <a:p>
                      <a:pPr algn="l" fontAlgn="ctr"/>
                      <a:endParaRPr lang="ru-RU" sz="800" b="0" i="0" u="none" strike="noStrike" dirty="0">
                        <a:solidFill>
                          <a:srgbClr val="000000"/>
                        </a:solidFill>
                        <a:effectLst/>
                        <a:latin typeface="Arial" panose="020B0604020202020204" pitchFamily="34" charset="0"/>
                      </a:endParaRPr>
                    </a:p>
                  </a:txBody>
                  <a:tcPr marL="4900" marR="4900" marT="490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770267902"/>
                  </a:ext>
                </a:extLst>
              </a:tr>
            </a:tbl>
          </a:graphicData>
        </a:graphic>
      </p:graphicFrame>
    </p:spTree>
    <p:extLst>
      <p:ext uri="{BB962C8B-B14F-4D97-AF65-F5344CB8AC3E}">
        <p14:creationId xmlns:p14="http://schemas.microsoft.com/office/powerpoint/2010/main" val="22825080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 dirty="0"/>
              <a:t>Прил.</a:t>
            </a:r>
            <a:r>
              <a:rPr lang="en-US" dirty="0"/>
              <a:t> </a:t>
            </a:r>
            <a:r>
              <a:rPr lang="ru-RU" dirty="0" smtClean="0"/>
              <a:t>3</a:t>
            </a:r>
            <a:r>
              <a:rPr lang="ru" dirty="0" smtClean="0"/>
              <a:t>: </a:t>
            </a:r>
            <a:r>
              <a:rPr lang="ru" dirty="0"/>
              <a:t>Управление рисками третьих сторон</a:t>
            </a:r>
            <a:r>
              <a:rPr lang="en-US" dirty="0"/>
              <a:t/>
            </a:r>
            <a:br>
              <a:rPr lang="en-US" dirty="0"/>
            </a:br>
            <a:r>
              <a:rPr lang="ru-RU" dirty="0" smtClean="0">
                <a:solidFill>
                  <a:schemeClr val="tx1"/>
                </a:solidFill>
              </a:rPr>
              <a:t>Дополнительные самотестирования процесса КПК </a:t>
            </a:r>
            <a:r>
              <a:rPr lang="ru-RU" i="1" dirty="0" smtClean="0">
                <a:solidFill>
                  <a:schemeClr val="tx1"/>
                </a:solidFill>
              </a:rPr>
              <a:t>- продолжение</a:t>
            </a:r>
            <a:endParaRPr lang="ru-RU" i="1" dirty="0">
              <a:solidFill>
                <a:schemeClr val="tx1"/>
              </a:solidFill>
            </a:endParaRPr>
          </a:p>
        </p:txBody>
      </p:sp>
      <p:sp>
        <p:nvSpPr>
          <p:cNvPr id="4" name="Заголовок 1"/>
          <p:cNvSpPr txBox="1">
            <a:spLocks/>
          </p:cNvSpPr>
          <p:nvPr/>
        </p:nvSpPr>
        <p:spPr>
          <a:xfrm>
            <a:off x="314707" y="844596"/>
            <a:ext cx="11452540" cy="609173"/>
          </a:xfrm>
          <a:prstGeom prst="rect">
            <a:avLst/>
          </a:prstGeom>
        </p:spPr>
        <p:txBody>
          <a:bodyPr vert="horz" lIns="0" tIns="0" rIns="0" bIns="0" rtlCol="0" anchor="t">
            <a:noAutofit/>
          </a:bodyPr>
          <a:lstStyle>
            <a:lvl1pPr algn="l" defTabSz="583170" rtl="0" eaLnBrk="1" latinLnBrk="0" hangingPunct="1">
              <a:lnSpc>
                <a:spcPct val="100000"/>
              </a:lnSpc>
              <a:spcBef>
                <a:spcPct val="0"/>
              </a:spcBef>
              <a:buNone/>
              <a:defRPr lang="ru-RU" sz="1800" b="0" kern="1200">
                <a:solidFill>
                  <a:schemeClr val="accent1"/>
                </a:solidFill>
                <a:latin typeface="+mj-lt"/>
                <a:ea typeface="+mj-ea"/>
                <a:cs typeface="+mj-cs"/>
              </a:defRPr>
            </a:lvl1pPr>
          </a:lstStyle>
          <a:p>
            <a:pPr marL="228600" indent="-228600" algn="just">
              <a:buFont typeface="+mj-lt"/>
              <a:buAutoNum type="arabicPeriod" startAt="3"/>
            </a:pPr>
            <a:r>
              <a:rPr lang="ru-RU" sz="1200" dirty="0">
                <a:solidFill>
                  <a:schemeClr val="accent5">
                    <a:lumMod val="75000"/>
                    <a:lumOff val="25000"/>
                  </a:schemeClr>
                </a:solidFill>
              </a:rPr>
              <a:t xml:space="preserve">Monitoring the controls of the Compliance List in accordance with the Compliance List Guarantee Scheme</a:t>
            </a:r>
            <a:r>
              <a:rPr lang="ru-RU" sz="1200" dirty="0" smtClean="0">
                <a:solidFill>
                  <a:schemeClr val="accent5">
                    <a:lumMod val="75000"/>
                    <a:lumOff val="25000"/>
                  </a:schemeClr>
                </a:solidFill>
              </a:rPr>
              <a:t/>
            </a:r>
            <a:r>
              <a:rPr lang="ru-RU" sz="1200" dirty="0">
                <a:solidFill>
                  <a:schemeClr val="accent5">
                    <a:lumMod val="75000"/>
                    <a:lumOff val="25000"/>
                  </a:schemeClr>
                </a:solidFill>
              </a:rPr>
              <a:t/>
            </a:r>
            <a:r>
              <a:rPr lang="ru-RU" sz="1200" dirty="0" smtClean="0">
                <a:solidFill>
                  <a:schemeClr val="accent5">
                    <a:lumMod val="75000"/>
                    <a:lumOff val="25000"/>
                  </a:schemeClr>
                </a:solidFill>
              </a:rPr>
              <a:t/>
            </a:r>
            <a:endParaRPr lang="ru-RU" sz="1200" dirty="0">
              <a:solidFill>
                <a:schemeClr val="accent5">
                  <a:lumMod val="75000"/>
                  <a:lumOff val="25000"/>
                </a:schemeClr>
              </a:solidFill>
            </a:endParaRPr>
          </a:p>
        </p:txBody>
      </p:sp>
      <p:sp>
        <p:nvSpPr>
          <p:cNvPr id="5" name="Прямоугольник 4"/>
          <p:cNvSpPr/>
          <p:nvPr/>
        </p:nvSpPr>
        <p:spPr>
          <a:xfrm>
            <a:off x="314707" y="6398234"/>
            <a:ext cx="5123518"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 xml:space="preserve">Storage of supporting materials for self-testing: folders on OMEGA (Perimeter Kazakhstan server)</a:t>
            </a:r>
            <a:r>
              <a:rPr lang="en-US" sz="700" i="1" dirty="0">
                <a:solidFill>
                  <a:schemeClr val="accent5">
                    <a:lumMod val="75000"/>
                    <a:lumOff val="25000"/>
                  </a:schemeClr>
                </a:solidFill>
              </a:rPr>
              <a:t/>
            </a:r>
            <a:r>
              <a:rPr lang="ru-RU" sz="700" i="1" dirty="0">
                <a:solidFill>
                  <a:schemeClr val="accent5">
                    <a:lumMod val="75000"/>
                    <a:lumOff val="25000"/>
                  </a:schemeClr>
                </a:solidFill>
              </a:rPr>
              <a:t/>
            </a:r>
          </a:p>
        </p:txBody>
      </p:sp>
      <p:graphicFrame>
        <p:nvGraphicFramePr>
          <p:cNvPr id="6" name="Таблица 5"/>
          <p:cNvGraphicFramePr>
            <a:graphicFrameLocks noGrp="1"/>
          </p:cNvGraphicFramePr>
          <p:nvPr>
            <p:extLst>
              <p:ext uri="{D42A27DB-BD31-4B8C-83A1-F6EECF244321}">
                <p14:modId xmlns:p14="http://schemas.microsoft.com/office/powerpoint/2010/main" val="578729276"/>
              </p:ext>
            </p:extLst>
          </p:nvPr>
        </p:nvGraphicFramePr>
        <p:xfrm>
          <a:off x="314707" y="1220438"/>
          <a:ext cx="11560056" cy="4721092"/>
        </p:xfrm>
        <a:graphic>
          <a:graphicData uri="http://schemas.openxmlformats.org/drawingml/2006/table">
            <a:tbl>
              <a:tblPr>
                <a:tableStyleId>{5C22544A-7EE6-4342-B048-85BDC9FD1C3A}</a:tableStyleId>
              </a:tblPr>
              <a:tblGrid>
                <a:gridCol w="930698">
                  <a:extLst>
                    <a:ext uri="{9D8B030D-6E8A-4147-A177-3AD203B41FA5}">
                      <a16:colId xmlns:a16="http://schemas.microsoft.com/office/drawing/2014/main" val="3541219994"/>
                    </a:ext>
                  </a:extLst>
                </a:gridCol>
                <a:gridCol w="2006714">
                  <a:extLst>
                    <a:ext uri="{9D8B030D-6E8A-4147-A177-3AD203B41FA5}">
                      <a16:colId xmlns:a16="http://schemas.microsoft.com/office/drawing/2014/main" val="1242912936"/>
                    </a:ext>
                  </a:extLst>
                </a:gridCol>
                <a:gridCol w="1754976">
                  <a:extLst>
                    <a:ext uri="{9D8B030D-6E8A-4147-A177-3AD203B41FA5}">
                      <a16:colId xmlns:a16="http://schemas.microsoft.com/office/drawing/2014/main" val="3521787165"/>
                    </a:ext>
                  </a:extLst>
                </a:gridCol>
                <a:gridCol w="4343783">
                  <a:extLst>
                    <a:ext uri="{9D8B030D-6E8A-4147-A177-3AD203B41FA5}">
                      <a16:colId xmlns:a16="http://schemas.microsoft.com/office/drawing/2014/main" val="2527534200"/>
                    </a:ext>
                  </a:extLst>
                </a:gridCol>
                <a:gridCol w="2523885">
                  <a:extLst>
                    <a:ext uri="{9D8B030D-6E8A-4147-A177-3AD203B41FA5}">
                      <a16:colId xmlns:a16="http://schemas.microsoft.com/office/drawing/2014/main" val="726468076"/>
                    </a:ext>
                  </a:extLst>
                </a:gridCol>
              </a:tblGrid>
              <a:tr h="309208">
                <a:tc>
                  <a:txBody>
                    <a:bodyPr/>
                    <a:lstStyle/>
                    <a:p>
                      <a:pPr marL="0" algn="ctr" defTabSz="583170" rtl="0" eaLnBrk="1" fontAlgn="ctr" latinLnBrk="0" hangingPunct="1">
                        <a:lnSpc>
                          <a:spcPct val="100000"/>
                        </a:lnSpc>
                        <a:spcBef>
                          <a:spcPts val="0"/>
                        </a:spcBef>
                        <a:spcAft>
                          <a:spcPts val="0"/>
                        </a:spcAft>
                      </a:pPr>
                      <a:r>
                        <a:rPr lang="ru-RU" sz="650" b="1" u="none" strike="noStrike" kern="1200" dirty="0">
                          <a:solidFill>
                            <a:schemeClr val="accent5">
                              <a:lumMod val="75000"/>
                              <a:lumOff val="25000"/>
                            </a:schemeClr>
                          </a:solidFill>
                          <a:effectLst/>
                          <a:latin typeface="+mn-lt"/>
                          <a:ea typeface="+mn-ea"/>
                          <a:cs typeface="+mn-cs"/>
                        </a:rPr>
                        <a:t xml:space="preserve">Description of process risk</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 xml:space="preserve">Description of control</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 xml:space="preserve">Summary of control attributes for self-test</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 xml:space="preserve">Self-test results</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 xml:space="preserve">Recommendations</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020841703"/>
                  </a:ext>
                </a:extLst>
              </a:tr>
              <a:tr h="876182">
                <a:tc rowSpan="3">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 xml:space="preserve">7. Changes in the structure of third party beneficiaries affect the Compliance List and were not identified in a timely manner or there are restrictions on disclosing the structure of beneficiaries</a:t>
                      </a: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 xml:space="preserve">7.1. Inclusion of appropriate compliance clauses in the contract template (except for category B) - the obligation of the counterparty to inform in the event of changes in the structure of beneficiaries.</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 xml:space="preserve">Checking contract templates for compliance clauses</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indent="0" algn="l" fontAlgn="ctr">
                        <a:buFont typeface="Arial" panose="020B0604020202020204" pitchFamily="34" charset="0"/>
                        <a:buNone/>
                      </a:pPr>
                      <a:r>
                        <a:rPr lang="ru-RU" sz="650" u="none" strike="noStrike" kern="1200" dirty="0">
                          <a:solidFill>
                            <a:schemeClr val="tx1"/>
                          </a:solidFill>
                          <a:effectLst/>
                          <a:latin typeface="+mn-lt"/>
                          <a:ea typeface="+mn-ea"/>
                          <a:cs typeface="+mn-cs"/>
                        </a:rPr>
                        <a:t xml:space="preserve">Contract templates were tested for compliance clauses. The analysis showed that contract templates (41 in number) are posted on the corporate portal of the Eurasian Group. In this case:</a:t>
                      </a:r>
                      <a:r>
                        <a:rPr lang="ru-RU" sz="650" u="none" strike="noStrike" kern="1200" dirty="0" smtClean="0">
                          <a:solidFill>
                            <a:schemeClr val="tx1"/>
                          </a:solidFill>
                          <a:effectLst/>
                          <a:latin typeface="+mn-lt"/>
                          <a:ea typeface="+mn-ea"/>
                          <a:cs typeface="+mn-cs"/>
                        </a:rPr>
                        <a:t/>
                      </a:r>
                      <a:r>
                        <a:rPr lang="ru-RU" sz="650" u="none" strike="noStrike" kern="1200" dirty="0">
                          <a:solidFill>
                            <a:schemeClr val="tx1"/>
                          </a:solidFill>
                          <a:effectLst/>
                          <a:latin typeface="+mn-lt"/>
                          <a:ea typeface="+mn-ea"/>
                          <a:cs typeface="+mn-cs"/>
                        </a:rPr>
                        <a:t/>
                      </a:r>
                    </a:p>
                    <a:p>
                      <a:pPr marL="171450" indent="-171450" algn="l" fontAlgn="ctr">
                        <a:buFont typeface="Arial" panose="020B0604020202020204" pitchFamily="34" charset="0"/>
                        <a:buChar char="•"/>
                      </a:pPr>
                      <a:r>
                        <a:rPr lang="ru-RU" sz="650" u="none" strike="noStrike" kern="1200" dirty="0" smtClean="0">
                          <a:solidFill>
                            <a:schemeClr val="tx1"/>
                          </a:solidFill>
                          <a:effectLst/>
                          <a:latin typeface="+mn-lt"/>
                          <a:ea typeface="+mn-ea"/>
                          <a:cs typeface="+mn-cs"/>
                        </a:rPr>
                        <a:t xml:space="preserve">36 contract templates contain up-to-date compliance clauses.</a:t>
                      </a:r>
                      <a:r>
                        <a:rPr lang="ru-RU" sz="650" u="none" strike="noStrike" kern="1200" dirty="0">
                          <a:solidFill>
                            <a:schemeClr val="tx1"/>
                          </a:solidFill>
                          <a:effectLst/>
                          <a:latin typeface="+mn-lt"/>
                          <a:ea typeface="+mn-ea"/>
                          <a:cs typeface="+mn-cs"/>
                        </a:rPr>
                        <a:t/>
                      </a:r>
                    </a:p>
                    <a:p>
                      <a:pPr marL="171450"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tx1"/>
                          </a:solidFill>
                          <a:effectLst/>
                          <a:latin typeface="+mn-lt"/>
                          <a:ea typeface="+mn-ea"/>
                          <a:cs typeface="+mn-cs"/>
                        </a:rPr>
                        <a:t xml:space="preserve">Two supply agreement templates and three technical supervision agreement templates require updating. Completed during self-testing - updated compliance provisions are posted on the EG corporate portal, as well as in the Compliance 2.2 system. in the "reference materials" section.</a:t>
                      </a:r>
                      <a:r>
                        <a:rPr lang="ru-RU" sz="650" u="none" strike="noStrike" kern="1200" dirty="0">
                          <a:solidFill>
                            <a:schemeClr val="tx1"/>
                          </a:solidFill>
                          <a:effectLst/>
                          <a:latin typeface="+mn-lt"/>
                          <a:ea typeface="+mn-ea"/>
                          <a:cs typeface="+mn-cs"/>
                        </a:rPr>
                        <a:t/>
                      </a:r>
                      <a:r>
                        <a:rPr lang="en-US" sz="650" u="none" strike="noStrike" kern="1200" dirty="0">
                          <a:solidFill>
                            <a:schemeClr val="tx1"/>
                          </a:solidFill>
                          <a:effectLst/>
                          <a:latin typeface="+mn-lt"/>
                          <a:ea typeface="+mn-ea"/>
                          <a:cs typeface="+mn-cs"/>
                        </a:rPr>
                        <a:t/>
                      </a:r>
                      <a:r>
                        <a:rPr lang="ru-RU" sz="650" u="none" strike="noStrike" kern="1200" dirty="0">
                          <a:solidFill>
                            <a:schemeClr val="tx1"/>
                          </a:solidFill>
                          <a:effectLst/>
                          <a:latin typeface="+mn-lt"/>
                          <a:ea typeface="+mn-ea"/>
                          <a:cs typeface="+mn-cs"/>
                        </a:rPr>
                        <a:t/>
                      </a:r>
                      <a:r>
                        <a:rPr lang="ru-RU" sz="650" u="none" strike="noStrike" kern="1200" dirty="0" smtClean="0">
                          <a:solidFill>
                            <a:schemeClr val="tx1"/>
                          </a:solidFill>
                          <a:effectLst/>
                          <a:latin typeface="+mn-lt"/>
                          <a:ea typeface="+mn-ea"/>
                          <a:cs typeface="+mn-cs"/>
                        </a:rPr>
                        <a:t/>
                      </a:r>
                      <a:endParaRPr lang="ru-RU" sz="650" u="none" strike="noStrike" kern="1200" dirty="0">
                        <a:solidFill>
                          <a:schemeClr val="tx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a:solidFill>
                            <a:schemeClr val="dk1"/>
                          </a:solidFill>
                          <a:effectLst/>
                          <a:latin typeface="+mn-lt"/>
                          <a:ea typeface="+mn-ea"/>
                          <a:cs typeface="+mn-cs"/>
                        </a:rPr>
                        <a:t xml:space="preserve">In 2026, plan to bring contract templates into compliance with the Instructions for Conducting Compliance Clauses (compliance clause templates). Responsible – Zakharov I.V. Completed – 01/29/2026.</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719138978"/>
                  </a:ext>
                </a:extLst>
              </a:tr>
              <a:tr h="876182">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kern="1200" dirty="0">
                          <a:solidFill>
                            <a:schemeClr val="dk1"/>
                          </a:solidFill>
                          <a:effectLst/>
                          <a:latin typeface="+mn-lt"/>
                          <a:ea typeface="+mn-ea"/>
                          <a:cs typeface="+mn-cs"/>
                        </a:rPr>
                        <a:t xml:space="preserve">7.2. Timely informing the Compliance Perimeter of the KZ (including through MDM), when the business became aware of changes in the structure of third party beneficiaries, changed registration data, in order to make appropriate changes to the Compliance List.</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algn="l" defTabSz="583170" rtl="0" eaLnBrk="1" fontAlgn="ctr" latinLnBrk="0" hangingPunct="1"/>
                      <a:r>
                        <a:rPr lang="ru-RU" sz="650" u="none" strike="noStrike" kern="1200" dirty="0">
                          <a:solidFill>
                            <a:schemeClr val="dk1"/>
                          </a:solidFill>
                          <a:effectLst/>
                          <a:latin typeface="+mn-lt"/>
                          <a:ea typeface="+mn-ea"/>
                          <a:cs typeface="+mn-cs"/>
                        </a:rPr>
                        <a:t xml:space="preserve">Reconciliation of information provided by the business with actual changes</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algn="l" defTabSz="583170" rtl="0" eaLnBrk="1" fontAlgn="ctr" latinLnBrk="0" hangingPunct="1"/>
                      <a:r>
                        <a:rPr lang="ru-RU" sz="650" u="none" strike="noStrike" kern="1200" dirty="0">
                          <a:solidFill>
                            <a:schemeClr val="dk1"/>
                          </a:solidFill>
                          <a:effectLst/>
                          <a:latin typeface="+mn-lt"/>
                          <a:ea typeface="+mn-ea"/>
                          <a:cs typeface="+mn-cs"/>
                        </a:rPr>
                        <a:t xml:space="preserve">There were no notifications from the business during the tested period.</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en-US" sz="650" u="none" strike="noStrike" dirty="0">
                          <a:effectLst/>
                          <a:latin typeface="+mn-lt"/>
                        </a:rPr>
                        <a:t xml:space="preserve">n/a</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538061318"/>
                  </a:ext>
                </a:extLst>
              </a:tr>
              <a:tr h="1102971">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 xml:space="preserve">7.3. Review of the beneficiary structure as part of the Compliance Sheet self-testing.</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 xml:space="preserve">Random check of counterparties included in the Compliance List for changes in the structure of beneficiaries</a:t>
                      </a:r>
                      <a:r>
                        <a:rPr lang="ru-RU" sz="650" u="none" strike="noStrike" dirty="0" smtClean="0">
                          <a:effectLst/>
                          <a:latin typeface="+mn-lt"/>
                        </a:rPr>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kern="1200" dirty="0" smtClean="0">
                          <a:solidFill>
                            <a:schemeClr val="dk1"/>
                          </a:solidFill>
                          <a:effectLst/>
                          <a:latin typeface="+mn-lt"/>
                          <a:ea typeface="+mn-ea"/>
                          <a:cs typeface="+mn-cs"/>
                        </a:rPr>
                        <a:t xml:space="preserve">During the reporting period, 13 cases were identified of failure to notify about changes in the structure of the IBC on the part of the CL counterparties, which is 100% of the total number of identified changes in the structures of the IBC of the Compliance List counterparties.</a:t>
                      </a:r>
                      <a:r>
                        <a:rPr lang="ru-RU" sz="650" u="none" strike="noStrike" kern="1200" baseline="0" dirty="0" smtClean="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a:solidFill>
                            <a:schemeClr val="dk1"/>
                          </a:solidFill>
                          <a:effectLst/>
                          <a:latin typeface="+mn-lt"/>
                          <a:ea typeface="+mn-ea"/>
                          <a:cs typeface="+mn-cs"/>
                        </a:rPr>
                        <a:t xml:space="preserve">In addition to mitigation measures based on the results of self-testing, ensure control over the timely placement of relevant relevant compliance clauses in contract templates.</a:t>
                      </a:r>
                      <a:r>
                        <a:rPr lang="ru-RU" sz="650" u="none" strike="noStrike" kern="1200" dirty="0" smtClean="0">
                          <a:solidFill>
                            <a:schemeClr val="dk1"/>
                          </a:solidFill>
                          <a:effectLst/>
                          <a:latin typeface="+mn-lt"/>
                          <a:ea typeface="+mn-ea"/>
                          <a:cs typeface="+mn-cs"/>
                        </a:rPr>
                        <a:t/>
                      </a:r>
                    </a:p>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 xml:space="preserve">Continue explanatory work with businesses about the need to timely inform compliance about changes in the structures of the IBC of Compliance List counterparties.</a:t>
                      </a:r>
                      <a:r>
                        <a:rPr lang="ru-RU" sz="650" u="none" strike="noStrike" kern="1200" baseline="0" dirty="0" smtClean="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p>
                    <a:p>
                      <a:pPr marL="0" marR="0" lvl="0" indent="0" algn="just"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650" u="none" strike="noStrike" kern="1200" dirty="0" smtClean="0">
                          <a:solidFill>
                            <a:schemeClr val="dk1"/>
                          </a:solidFill>
                          <a:effectLst/>
                          <a:latin typeface="+mn-lt"/>
                          <a:ea typeface="+mn-ea"/>
                          <a:cs typeface="+mn-cs"/>
                        </a:rPr>
                        <a:t xml:space="preserve">Responsible – Zakharov I.V.</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436195547"/>
                  </a:ext>
                </a:extLst>
              </a:tr>
              <a:tr h="989576">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 xml:space="preserve">8. Current/new sanctions affecting a third party on the Compliance List (e.g. OFAC SDN, red flags for sectoral sanctions, BIS (export-import restrictions), etc.)</a:t>
                      </a: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 xml:space="preserve">8.1. Monitoring notifications of the issuance of sanctions for comparison in relation to all categories of the Compliance List, including, if necessary, external consultations. Timely introduction of changes to the Compliance List if necessary. Communication/consultation for KZ business to ensure timely response to new sanctions.</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 xml:space="preserve">Checking communications about sanctions for business (internal consultations, supported by the results of external legal consultations where necessary). Random check of third parties to determine whether they are on sanctions lists (if necessary)</a:t>
                      </a:r>
                      <a:r>
                        <a:rPr lang="ru-RU" sz="650" u="none" strike="noStrike" dirty="0" err="1">
                          <a:effectLst/>
                          <a:latin typeface="+mn-lt"/>
                        </a:rPr>
                        <a:t/>
                      </a:r>
                      <a:r>
                        <a:rPr lang="ru-RU" sz="650" u="none" strike="noStrike" dirty="0">
                          <a:effectLst/>
                          <a:latin typeface="+mn-lt"/>
                        </a:rPr>
                        <a:t/>
                      </a:r>
                      <a:r>
                        <a:rPr lang="ru-RU" sz="650" u="none" strike="noStrike" dirty="0" smtClean="0">
                          <a:effectLst/>
                          <a:latin typeface="+mn-lt"/>
                        </a:rPr>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just"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650" b="1" u="none" strike="noStrike" dirty="0" smtClean="0">
                          <a:solidFill>
                            <a:schemeClr val="tx1"/>
                          </a:solidFill>
                          <a:effectLst/>
                          <a:latin typeface="+mn-lt"/>
                        </a:rPr>
                        <a:t xml:space="preserve">No deviations were found.</a:t>
                      </a:r>
                    </a:p>
                    <a:p>
                      <a:pPr marL="0" indent="0" algn="just" fontAlgn="ctr">
                        <a:buFont typeface="Arial" panose="020B0604020202020204" pitchFamily="34" charset="0"/>
                        <a:buNone/>
                      </a:pPr>
                      <a:r>
                        <a:rPr lang="ru-RU" sz="650" u="none" strike="noStrike" kern="1200" dirty="0" smtClean="0">
                          <a:solidFill>
                            <a:schemeClr val="dk1"/>
                          </a:solidFill>
                          <a:effectLst/>
                          <a:latin typeface="+mn-lt"/>
                          <a:ea typeface="+mn-ea"/>
                          <a:cs typeface="+mn-cs"/>
                        </a:rPr>
                        <a:t xml:space="preserve">Timely amendments to the Compliance List, including the Compliance 2.2 system, have been established. taking into account sanctions risks (identified in the 1st quarter of 2025), with subsequent notification of business units (January 2025).</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p>
                    <a:p>
                      <a:pPr marL="0" indent="0" algn="just" fontAlgn="ctr">
                        <a:buFont typeface="Arial" panose="020B0604020202020204" pitchFamily="34" charset="0"/>
                        <a:buNone/>
                      </a:pPr>
                      <a:r>
                        <a:rPr lang="ru-RU" sz="650" u="none" strike="noStrike" kern="1200" dirty="0">
                          <a:solidFill>
                            <a:schemeClr val="dk1"/>
                          </a:solidFill>
                          <a:effectLst/>
                          <a:latin typeface="+mn-lt"/>
                          <a:ea typeface="+mn-ea"/>
                          <a:cs typeface="+mn-cs"/>
                        </a:rPr>
                        <a:t xml:space="preserve">Additionally, according to the results of the functioning of the Compliance List controls (2-4 quarters of 2025), in terms of monitoring sanctions and other restrictions, no coincidences were identified that entailed restrictions on cooperation and required exclusion from the CL.</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en-US" sz="650" u="none" strike="noStrike" dirty="0">
                          <a:effectLst/>
                          <a:latin typeface="+mn-lt"/>
                        </a:rPr>
                        <a:t xml:space="preserve">n/a</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10147341"/>
                  </a:ext>
                </a:extLst>
              </a:tr>
              <a:tr h="566973">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0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kern="1200" dirty="0">
                          <a:solidFill>
                            <a:schemeClr val="dk1"/>
                          </a:solidFill>
                          <a:effectLst/>
                          <a:latin typeface="+mn-lt"/>
                          <a:ea typeface="+mn-ea"/>
                          <a:cs typeface="+mn-cs"/>
                        </a:rPr>
                        <a:t xml:space="preserve">8.2. Integration with systems: commodity codes (HS codes) on the Procurement Portal in comparison with sectoral sanctions restrictions / export control codes</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indent="0" algn="just" defTabSz="583170" rtl="0" eaLnBrk="1" fontAlgn="ctr" latinLnBrk="0" hangingPunct="1">
                        <a:buFont typeface="Arial" panose="020B0604020202020204" pitchFamily="34" charset="0"/>
                        <a:buNone/>
                      </a:pPr>
                      <a:r>
                        <a:rPr lang="en-US" sz="650" u="none" strike="noStrike" kern="1200" dirty="0">
                          <a:solidFill>
                            <a:schemeClr val="dk1"/>
                          </a:solidFill>
                          <a:effectLst/>
                          <a:latin typeface="+mn-lt"/>
                          <a:ea typeface="+mn-ea"/>
                          <a:cs typeface="+mn-cs"/>
                        </a:rPr>
                        <a:t xml:space="preserve">TBD</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just"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650" u="none" strike="noStrike" dirty="0" smtClean="0">
                          <a:effectLst/>
                          <a:latin typeface="+mn-lt"/>
                        </a:rPr>
                        <a:t xml:space="preserve">The project has been suspended due to lack of IT resources.</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dirty="0" smtClean="0">
                          <a:effectLst/>
                          <a:latin typeface="+mn-lt"/>
                        </a:rPr>
                        <a:t xml:space="preserve">Consider the possibility and feasibility of resuming the project (subject to the availability of budget and IT resources). Responsible – Zakharov I.V.</a:t>
                      </a:r>
                      <a:r>
                        <a:rPr lang="ru-RU" sz="650" u="none" strike="noStrike" baseline="0" dirty="0" smtClean="0">
                          <a:effectLst/>
                          <a:latin typeface="+mn-lt"/>
                        </a:rPr>
                        <a:t/>
                      </a:r>
                      <a:r>
                        <a:rPr lang="ru-RU" sz="650" u="none" strike="noStrike" dirty="0" smtClean="0">
                          <a:effectLst/>
                          <a:latin typeface="+mn-lt"/>
                        </a:rPr>
                        <a:t/>
                      </a:r>
                      <a:r>
                        <a:rPr lang="ru-RU" sz="650" u="none" strike="noStrike" baseline="0" dirty="0" smtClean="0">
                          <a:effectLst/>
                          <a:latin typeface="+mn-lt"/>
                        </a:rPr>
                        <a:t/>
                      </a:r>
                      <a:r>
                        <a:rPr lang="ru-RU" sz="650" u="none" strike="noStrike" kern="1200" dirty="0" smtClean="0">
                          <a:solidFill>
                            <a:schemeClr val="dk1"/>
                          </a:solidFill>
                          <a:effectLst/>
                          <a:latin typeface="+mn-lt"/>
                          <a:ea typeface="+mn-ea"/>
                          <a:cs typeface="+mn-cs"/>
                        </a:rPr>
                        <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686773548"/>
                  </a:ext>
                </a:extLst>
              </a:tr>
            </a:tbl>
          </a:graphicData>
        </a:graphic>
      </p:graphicFrame>
    </p:spTree>
    <p:extLst>
      <p:ext uri="{BB962C8B-B14F-4D97-AF65-F5344CB8AC3E}">
        <p14:creationId xmlns:p14="http://schemas.microsoft.com/office/powerpoint/2010/main" val="3679284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 dirty="0"/>
              <a:t>Прил.</a:t>
            </a:r>
            <a:r>
              <a:rPr lang="en-US" dirty="0"/>
              <a:t> </a:t>
            </a:r>
            <a:r>
              <a:rPr lang="ru-RU" dirty="0" smtClean="0"/>
              <a:t>3</a:t>
            </a:r>
            <a:r>
              <a:rPr lang="ru" dirty="0" smtClean="0"/>
              <a:t>: </a:t>
            </a:r>
            <a:r>
              <a:rPr lang="ru" dirty="0"/>
              <a:t>Управление рисками третьих сторон</a:t>
            </a:r>
            <a:r>
              <a:rPr lang="en-US" dirty="0"/>
              <a:t/>
            </a:r>
            <a:br>
              <a:rPr lang="en-US" dirty="0"/>
            </a:br>
            <a:r>
              <a:rPr lang="ru-RU" dirty="0" smtClean="0">
                <a:solidFill>
                  <a:schemeClr val="tx1"/>
                </a:solidFill>
              </a:rPr>
              <a:t>Дополнительные самотестирования процесса КПК </a:t>
            </a:r>
            <a:r>
              <a:rPr lang="ru-RU" i="1" dirty="0" smtClean="0">
                <a:solidFill>
                  <a:schemeClr val="tx1"/>
                </a:solidFill>
              </a:rPr>
              <a:t>- продолжение</a:t>
            </a:r>
            <a:endParaRPr lang="ru-RU" i="1" dirty="0">
              <a:solidFill>
                <a:schemeClr val="tx1"/>
              </a:solidFill>
            </a:endParaRPr>
          </a:p>
        </p:txBody>
      </p:sp>
      <p:sp>
        <p:nvSpPr>
          <p:cNvPr id="4" name="Заголовок 1"/>
          <p:cNvSpPr txBox="1">
            <a:spLocks/>
          </p:cNvSpPr>
          <p:nvPr/>
        </p:nvSpPr>
        <p:spPr>
          <a:xfrm>
            <a:off x="314707" y="844596"/>
            <a:ext cx="11452540" cy="609173"/>
          </a:xfrm>
          <a:prstGeom prst="rect">
            <a:avLst/>
          </a:prstGeom>
        </p:spPr>
        <p:txBody>
          <a:bodyPr vert="horz" lIns="0" tIns="0" rIns="0" bIns="0" rtlCol="0" anchor="t">
            <a:noAutofit/>
          </a:bodyPr>
          <a:lstStyle>
            <a:lvl1pPr algn="l" defTabSz="583170" rtl="0" eaLnBrk="1" latinLnBrk="0" hangingPunct="1">
              <a:lnSpc>
                <a:spcPct val="100000"/>
              </a:lnSpc>
              <a:spcBef>
                <a:spcPct val="0"/>
              </a:spcBef>
              <a:buNone/>
              <a:defRPr lang="ru-RU" sz="1800" b="0" kern="1200">
                <a:solidFill>
                  <a:schemeClr val="accent1"/>
                </a:solidFill>
                <a:latin typeface="+mj-lt"/>
                <a:ea typeface="+mj-ea"/>
                <a:cs typeface="+mj-cs"/>
              </a:defRPr>
            </a:lvl1pPr>
          </a:lstStyle>
          <a:p>
            <a:pPr marL="228600" indent="-228600" algn="just">
              <a:buFont typeface="+mj-lt"/>
              <a:buAutoNum type="arabicPeriod" startAt="3"/>
            </a:pPr>
            <a:r>
              <a:rPr lang="ru-RU" sz="1200" dirty="0">
                <a:solidFill>
                  <a:schemeClr val="accent5">
                    <a:lumMod val="75000"/>
                    <a:lumOff val="25000"/>
                  </a:schemeClr>
                </a:solidFill>
              </a:rPr>
              <a:t xml:space="preserve">Monitoring the controls of the Compliance List in accordance with the Compliance List Guarantee Scheme</a:t>
            </a:r>
            <a:r>
              <a:rPr lang="ru-RU" sz="1200" dirty="0" smtClean="0">
                <a:solidFill>
                  <a:schemeClr val="accent5">
                    <a:lumMod val="75000"/>
                    <a:lumOff val="25000"/>
                  </a:schemeClr>
                </a:solidFill>
              </a:rPr>
              <a:t/>
            </a:r>
            <a:r>
              <a:rPr lang="ru-RU" sz="1200" dirty="0">
                <a:solidFill>
                  <a:schemeClr val="accent5">
                    <a:lumMod val="75000"/>
                    <a:lumOff val="25000"/>
                  </a:schemeClr>
                </a:solidFill>
              </a:rPr>
              <a:t/>
            </a:r>
            <a:r>
              <a:rPr lang="ru-RU" sz="1200" dirty="0" smtClean="0">
                <a:solidFill>
                  <a:schemeClr val="accent5">
                    <a:lumMod val="75000"/>
                    <a:lumOff val="25000"/>
                  </a:schemeClr>
                </a:solidFill>
              </a:rPr>
              <a:t/>
            </a:r>
            <a:endParaRPr lang="ru-RU" sz="1200" dirty="0">
              <a:solidFill>
                <a:schemeClr val="accent5">
                  <a:lumMod val="75000"/>
                  <a:lumOff val="25000"/>
                </a:schemeClr>
              </a:solidFill>
            </a:endParaRPr>
          </a:p>
        </p:txBody>
      </p:sp>
      <p:sp>
        <p:nvSpPr>
          <p:cNvPr id="5" name="Прямоугольник 4"/>
          <p:cNvSpPr/>
          <p:nvPr/>
        </p:nvSpPr>
        <p:spPr>
          <a:xfrm>
            <a:off x="314707" y="6398234"/>
            <a:ext cx="5123518" cy="200055"/>
          </a:xfrm>
          <a:prstGeom prst="rect">
            <a:avLst/>
          </a:prstGeom>
        </p:spPr>
        <p:txBody>
          <a:bodyPr wrap="none">
            <a:spAutoFit/>
          </a:bodyPr>
          <a:lstStyle/>
          <a:p>
            <a:pPr>
              <a:spcAft>
                <a:spcPts val="300"/>
              </a:spcAft>
            </a:pPr>
            <a:r>
              <a:rPr lang="ru-RU" sz="700" i="1" dirty="0">
                <a:solidFill>
                  <a:schemeClr val="accent5">
                    <a:lumMod val="75000"/>
                    <a:lumOff val="25000"/>
                  </a:schemeClr>
                </a:solidFill>
              </a:rPr>
              <a:t xml:space="preserve">Storage of supporting materials for self-testing: folders on OMEGA (Perimeter Kazakhstan server)</a:t>
            </a:r>
            <a:r>
              <a:rPr lang="en-US" sz="700" i="1" dirty="0">
                <a:solidFill>
                  <a:schemeClr val="accent5">
                    <a:lumMod val="75000"/>
                    <a:lumOff val="25000"/>
                  </a:schemeClr>
                </a:solidFill>
              </a:rPr>
              <a:t/>
            </a:r>
            <a:r>
              <a:rPr lang="ru-RU" sz="700" i="1" dirty="0">
                <a:solidFill>
                  <a:schemeClr val="accent5">
                    <a:lumMod val="75000"/>
                    <a:lumOff val="25000"/>
                  </a:schemeClr>
                </a:solidFill>
              </a:rPr>
              <a:t/>
            </a:r>
          </a:p>
        </p:txBody>
      </p:sp>
      <p:graphicFrame>
        <p:nvGraphicFramePr>
          <p:cNvPr id="6" name="Таблица 5"/>
          <p:cNvGraphicFramePr>
            <a:graphicFrameLocks noGrp="1"/>
          </p:cNvGraphicFramePr>
          <p:nvPr>
            <p:extLst>
              <p:ext uri="{D42A27DB-BD31-4B8C-83A1-F6EECF244321}">
                <p14:modId xmlns:p14="http://schemas.microsoft.com/office/powerpoint/2010/main" val="1179833119"/>
              </p:ext>
            </p:extLst>
          </p:nvPr>
        </p:nvGraphicFramePr>
        <p:xfrm>
          <a:off x="314707" y="1187337"/>
          <a:ext cx="11560056" cy="4733505"/>
        </p:xfrm>
        <a:graphic>
          <a:graphicData uri="http://schemas.openxmlformats.org/drawingml/2006/table">
            <a:tbl>
              <a:tblPr>
                <a:tableStyleId>{5C22544A-7EE6-4342-B048-85BDC9FD1C3A}</a:tableStyleId>
              </a:tblPr>
              <a:tblGrid>
                <a:gridCol w="930698">
                  <a:extLst>
                    <a:ext uri="{9D8B030D-6E8A-4147-A177-3AD203B41FA5}">
                      <a16:colId xmlns:a16="http://schemas.microsoft.com/office/drawing/2014/main" val="3541219994"/>
                    </a:ext>
                  </a:extLst>
                </a:gridCol>
                <a:gridCol w="2006714">
                  <a:extLst>
                    <a:ext uri="{9D8B030D-6E8A-4147-A177-3AD203B41FA5}">
                      <a16:colId xmlns:a16="http://schemas.microsoft.com/office/drawing/2014/main" val="1242912936"/>
                    </a:ext>
                  </a:extLst>
                </a:gridCol>
                <a:gridCol w="1754976">
                  <a:extLst>
                    <a:ext uri="{9D8B030D-6E8A-4147-A177-3AD203B41FA5}">
                      <a16:colId xmlns:a16="http://schemas.microsoft.com/office/drawing/2014/main" val="3521787165"/>
                    </a:ext>
                  </a:extLst>
                </a:gridCol>
                <a:gridCol w="4343783">
                  <a:extLst>
                    <a:ext uri="{9D8B030D-6E8A-4147-A177-3AD203B41FA5}">
                      <a16:colId xmlns:a16="http://schemas.microsoft.com/office/drawing/2014/main" val="2527534200"/>
                    </a:ext>
                  </a:extLst>
                </a:gridCol>
                <a:gridCol w="2523885">
                  <a:extLst>
                    <a:ext uri="{9D8B030D-6E8A-4147-A177-3AD203B41FA5}">
                      <a16:colId xmlns:a16="http://schemas.microsoft.com/office/drawing/2014/main" val="726468076"/>
                    </a:ext>
                  </a:extLst>
                </a:gridCol>
              </a:tblGrid>
              <a:tr h="349672">
                <a:tc>
                  <a:txBody>
                    <a:bodyPr/>
                    <a:lstStyle/>
                    <a:p>
                      <a:pPr marL="0" algn="ctr" defTabSz="583170" rtl="0" eaLnBrk="1" fontAlgn="ctr" latinLnBrk="0" hangingPunct="1">
                        <a:lnSpc>
                          <a:spcPct val="100000"/>
                        </a:lnSpc>
                        <a:spcBef>
                          <a:spcPts val="0"/>
                        </a:spcBef>
                        <a:spcAft>
                          <a:spcPts val="0"/>
                        </a:spcAft>
                      </a:pPr>
                      <a:r>
                        <a:rPr lang="ru-RU" sz="650" b="1" u="none" strike="noStrike" kern="1200" dirty="0">
                          <a:solidFill>
                            <a:schemeClr val="accent5">
                              <a:lumMod val="75000"/>
                              <a:lumOff val="25000"/>
                            </a:schemeClr>
                          </a:solidFill>
                          <a:effectLst/>
                          <a:latin typeface="+mn-lt"/>
                          <a:ea typeface="+mn-ea"/>
                          <a:cs typeface="+mn-cs"/>
                        </a:rPr>
                        <a:t xml:space="preserve">Description of process risk</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 xml:space="preserve">Description of control</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 xml:space="preserve">Summary of control attributes for self-test</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 xml:space="preserve">Self-test results</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ctr" fontAlgn="ctr">
                        <a:lnSpc>
                          <a:spcPct val="100000"/>
                        </a:lnSpc>
                        <a:spcBef>
                          <a:spcPts val="0"/>
                        </a:spcBef>
                        <a:spcAft>
                          <a:spcPts val="0"/>
                        </a:spcAft>
                      </a:pPr>
                      <a:r>
                        <a:rPr lang="ru-RU" sz="650" b="1" u="none" strike="noStrike" dirty="0">
                          <a:solidFill>
                            <a:schemeClr val="accent5">
                              <a:lumMod val="75000"/>
                              <a:lumOff val="25000"/>
                            </a:schemeClr>
                          </a:solidFill>
                          <a:effectLst/>
                          <a:latin typeface="+mn-lt"/>
                        </a:rPr>
                        <a:t xml:space="preserve">Recommendations</a:t>
                      </a:r>
                      <a:endParaRPr lang="ru-RU" sz="650" b="1" i="0" u="none" strike="noStrike" dirty="0">
                        <a:solidFill>
                          <a:schemeClr val="accent5">
                            <a:lumMod val="75000"/>
                            <a:lumOff val="25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020841703"/>
                  </a:ext>
                </a:extLst>
              </a:tr>
              <a:tr h="990841">
                <a:tc rowSpan="4">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 xml:space="preserve">9. Other risks (ABC, Fraud, etc.), “red flags” and other negative information that affects a third party included in the Compliance List</a:t>
                      </a:r>
                      <a:r>
                        <a:rPr lang="ru-RU" sz="650" u="none" strike="noStrike" dirty="0" err="1" smtClean="0">
                          <a:effectLst/>
                          <a:latin typeface="+mn-lt"/>
                        </a:rPr>
                        <a:t/>
                      </a:r>
                      <a:r>
                        <a:rPr lang="ru-RU" sz="650" u="none" strike="noStrike" dirty="0" smtClean="0">
                          <a:effectLst/>
                          <a:latin typeface="+mn-lt"/>
                        </a:rPr>
                        <a:t/>
                      </a: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 xml:space="preserve">9.1. Monitoring of law enforcement practice / analysis of the media in terms of official accusations made in the field of ABC, Fraud, etc. in relation to third parties and their beneficiaries who are on the Compliance List, assessing the impact of these risks, “red flags”.</a:t>
                      </a:r>
                      <a:r>
                        <a:rPr lang="ru-RU" sz="650" u="none" strike="noStrike" dirty="0" err="1">
                          <a:effectLst/>
                          <a:latin typeface="+mn-lt"/>
                        </a:rPr>
                        <a:t/>
                      </a:r>
                      <a:r>
                        <a:rPr lang="ru-RU" sz="650" u="none" strike="noStrike" dirty="0">
                          <a:effectLst/>
                          <a:latin typeface="+mn-lt"/>
                        </a:rPr>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smtClean="0">
                          <a:effectLst/>
                          <a:latin typeface="+mn-lt"/>
                        </a:rPr>
                        <a:t xml:space="preserve">Checking the availability of monitoring and analysis practices. Random check of third parties for these risks (if necessary).</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650" b="1" u="none" strike="noStrike" dirty="0" smtClean="0">
                          <a:solidFill>
                            <a:schemeClr val="tx1"/>
                          </a:solidFill>
                          <a:effectLst/>
                          <a:latin typeface="+mn-lt"/>
                        </a:rPr>
                        <a:t xml:space="preserve">No deviations were found.</a:t>
                      </a:r>
                    </a:p>
                    <a:p>
                      <a:pPr marL="0" marR="0" lvl="0" indent="0" algn="l" defTabSz="583170" rtl="0" eaLnBrk="1" fontAlgn="ctr" latinLnBrk="0" hangingPunct="1">
                        <a:lnSpc>
                          <a:spcPct val="100000"/>
                        </a:lnSpc>
                        <a:spcBef>
                          <a:spcPts val="0"/>
                        </a:spcBef>
                        <a:spcAft>
                          <a:spcPts val="0"/>
                        </a:spcAft>
                        <a:buClrTx/>
                        <a:buSzTx/>
                        <a:buFontTx/>
                        <a:buNone/>
                        <a:tabLst/>
                        <a:defRPr/>
                      </a:pPr>
                      <a:r>
                        <a:rPr lang="ru-RU" sz="650" u="none" strike="noStrike" dirty="0" smtClean="0">
                          <a:effectLst/>
                          <a:latin typeface="+mn-lt"/>
                        </a:rPr>
                        <a:t xml:space="preserve">The results of periodic monitoring/reconciliation of the list of Compliance List companies for the presence or absence of sanctions restrictions or other negative information based on Dow Jones data have been established. The number of companies excluded from the CL during the review period was 16.</a:t>
                      </a:r>
                      <a:r>
                        <a:rPr lang="ru-RU" sz="650" u="none" strike="noStrike" baseline="0" dirty="0" smtClean="0">
                          <a:effectLst/>
                          <a:latin typeface="+mn-lt"/>
                        </a:rPr>
                        <a:t/>
                      </a:r>
                      <a:r>
                        <a:rPr lang="ru-RU" sz="650" u="none" strike="noStrike" dirty="0" smtClean="0">
                          <a:effectLst/>
                          <a:latin typeface="+mn-lt"/>
                        </a:rPr>
                        <a:t/>
                      </a:r>
                      <a:r>
                        <a:rPr lang="ru-RU" sz="650" u="none" strike="noStrike" baseline="0" dirty="0" smtClean="0">
                          <a:effectLst/>
                          <a:latin typeface="+mn-lt"/>
                        </a:rPr>
                        <a:t/>
                      </a:r>
                      <a:r>
                        <a:rPr lang="en-US" sz="650" u="none" strike="noStrike" baseline="0" dirty="0" smtClean="0">
                          <a:effectLst/>
                          <a:latin typeface="+mn-lt"/>
                        </a:rPr>
                        <a:t/>
                      </a:r>
                      <a:r>
                        <a:rPr lang="en-US" sz="650" u="none" strike="noStrike" kern="1200" baseline="0" dirty="0" smtClean="0">
                          <a:solidFill>
                            <a:schemeClr val="dk1"/>
                          </a:solidFill>
                          <a:effectLst/>
                          <a:latin typeface="+mn-lt"/>
                          <a:ea typeface="+mn-ea"/>
                          <a:cs typeface="+mn-cs"/>
                        </a:rPr>
                        <a:t/>
                      </a:r>
                      <a:r>
                        <a:rPr lang="ru-RU" sz="650" u="none" strike="noStrike" kern="1200" baseline="0" dirty="0" smtClean="0">
                          <a:solidFill>
                            <a:schemeClr val="dk1"/>
                          </a:solidFill>
                          <a:effectLst/>
                          <a:latin typeface="+mn-lt"/>
                          <a:ea typeface="+mn-ea"/>
                          <a:cs typeface="+mn-cs"/>
                        </a:rPr>
                        <a:t/>
                      </a:r>
                      <a:endParaRPr lang="ru-RU" sz="650" u="none" strike="noStrike" kern="1200" baseline="0" dirty="0">
                        <a:solidFill>
                          <a:srgbClr val="FF0000"/>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 xml:space="preserve">Continue monitoring, ensuring the availability of evidence regarding verification of all risks specified in the control description, during quarterly self-testing of the cable line. Responsible – Zakharov I.V.</a:t>
                      </a:r>
                      <a:r>
                        <a:rPr lang="en-US" sz="650" u="none" strike="noStrike" kern="1200" dirty="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r>
                        <a:rPr lang="ru-RU" sz="650" u="none" strike="noStrike" kern="1200" dirty="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719138978"/>
                  </a:ext>
                </a:extLst>
              </a:tr>
              <a:tr h="990841">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smtClean="0">
                          <a:effectLst/>
                          <a:latin typeface="+mn-lt"/>
                        </a:rPr>
                        <a:t xml:space="preserve">9.2. Timely notification of Compliance Perimeter KZ by the owner of the contract / Legal entity. block, in the event of significant legal proceedings against a counterparty located on the Compliance List.</a:t>
                      </a:r>
                      <a:r>
                        <a:rPr lang="ru-RU" sz="650" u="none" strike="noStrike" dirty="0">
                          <a:effectLst/>
                          <a:latin typeface="+mn-lt"/>
                        </a:rPr>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 xml:space="preserve">Spot check of counterparties from the Compliance List against the list of legal proceedings.</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just"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650" b="1" u="none" strike="noStrike" dirty="0" smtClean="0">
                          <a:solidFill>
                            <a:schemeClr val="tx1"/>
                          </a:solidFill>
                          <a:effectLst/>
                          <a:latin typeface="+mn-lt"/>
                        </a:rPr>
                        <a:t xml:space="preserve">No deviations were found.</a:t>
                      </a:r>
                    </a:p>
                    <a:p>
                      <a:pPr marL="0" indent="0" algn="just" fontAlgn="ctr">
                        <a:buFont typeface="Arial" panose="020B0604020202020204" pitchFamily="34" charset="0"/>
                        <a:buNone/>
                      </a:pPr>
                      <a:r>
                        <a:rPr lang="ru-RU" sz="650" b="0" i="0" u="none" strike="noStrike" dirty="0" smtClean="0">
                          <a:solidFill>
                            <a:srgbClr val="000000"/>
                          </a:solidFill>
                          <a:effectLst/>
                          <a:latin typeface="+mn-lt"/>
                        </a:rPr>
                        <a:t xml:space="preserve">Based on the results of monitoring the internal Register of Litigation Cases, during the review period, 6 CL counterparties were identified, against which the Group companies initiated legal proceedings. It has been established that the subjects of the claims are the Group’s civil claims arising from previously concluded agreements (debt collection, penalties, losses, rehabilitation procedures). The nature of the court cases is not related to the grounds that prevent further interaction with the counterparty; legal proceedings are not classified as significant: they do not entail large financial losses; do not pose a threat to the activities of the Group’s enterprises and/or reputational and strategic risks.</a:t>
                      </a:r>
                      <a:r>
                        <a:rPr lang="ru-RU" sz="650" b="0" i="0" u="none" strike="noStrike" baseline="0" dirty="0" smtClean="0">
                          <a:solidFill>
                            <a:srgbClr val="000000"/>
                          </a:solidFill>
                          <a:effectLst/>
                          <a:latin typeface="+mn-lt"/>
                        </a:rPr>
                        <a:t/>
                      </a:r>
                      <a:r>
                        <a:rPr lang="ru-RU" sz="650" b="0" i="1" u="none" strike="noStrike" baseline="0" dirty="0" smtClean="0">
                          <a:solidFill>
                            <a:srgbClr val="000000"/>
                          </a:solidFill>
                          <a:effectLst/>
                          <a:latin typeface="+mn-lt"/>
                        </a:rPr>
                        <a:t/>
                      </a:r>
                      <a:r>
                        <a:rPr lang="ru-RU" sz="650" b="0" i="0" u="none" strike="noStrike" baseline="0" dirty="0" smtClean="0">
                          <a:solidFill>
                            <a:srgbClr val="000000"/>
                          </a:solidFill>
                          <a:effectLst/>
                          <a:latin typeface="+mn-lt"/>
                        </a:rPr>
                        <a:t/>
                      </a:r>
                      <a:r>
                        <a:rPr lang="ru-RU" sz="650" b="0" i="0" u="none" strike="noStrike" kern="1200" baseline="0" dirty="0" smtClean="0">
                          <a:solidFill>
                            <a:srgbClr val="000000"/>
                          </a:solidFill>
                          <a:effectLst/>
                          <a:latin typeface="+mn-lt"/>
                          <a:ea typeface="+mn-ea"/>
                          <a:cs typeface="+mn-cs"/>
                        </a:rPr>
                        <a:t/>
                      </a:r>
                      <a:r>
                        <a:rPr lang="ru-RU" sz="650" b="0" i="0" u="none" strike="noStrike" kern="1200" dirty="0" smtClean="0">
                          <a:solidFill>
                            <a:srgbClr val="000000"/>
                          </a:solidFill>
                          <a:effectLst/>
                          <a:latin typeface="+mn-lt"/>
                          <a:ea typeface="+mn-ea"/>
                          <a:cs typeface="+mn-cs"/>
                        </a:rPr>
                        <a:t/>
                      </a:r>
                      <a:r>
                        <a:rPr lang="ru-RU" sz="650" b="0" i="0" u="none" strike="noStrike" kern="1200" dirty="0" err="1" smtClean="0">
                          <a:solidFill>
                            <a:srgbClr val="000000"/>
                          </a:solidFill>
                          <a:effectLst/>
                          <a:latin typeface="+mn-lt"/>
                          <a:ea typeface="+mn-ea"/>
                          <a:cs typeface="+mn-cs"/>
                        </a:rPr>
                        <a:t/>
                      </a:r>
                      <a:r>
                        <a:rPr lang="ru-RU" sz="650" b="0" i="0" u="none" strike="noStrike" kern="1200" dirty="0" smtClean="0">
                          <a:solidFill>
                            <a:srgbClr val="000000"/>
                          </a:solidFill>
                          <a:effectLst/>
                          <a:latin typeface="+mn-lt"/>
                          <a:ea typeface="+mn-ea"/>
                          <a:cs typeface="+mn-cs"/>
                        </a:rPr>
                        <a:t/>
                      </a:r>
                      <a:endParaRPr lang="ru-RU" sz="650" b="0" i="0" u="none" strike="noStrike" kern="1200" dirty="0">
                        <a:solidFill>
                          <a:srgbClr val="000000"/>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dirty="0" smtClean="0">
                          <a:solidFill>
                            <a:schemeClr val="dk1"/>
                          </a:solidFill>
                          <a:effectLst/>
                          <a:latin typeface="+mn-lt"/>
                          <a:ea typeface="+mn-ea"/>
                          <a:cs typeface="+mn-cs"/>
                        </a:rPr>
                        <a:t xml:space="preserve">As part of the quarterly self-testing of CL, continue to Monitor the presence of significant legal proceedings against the counterparty initiated by the companies of the Perimeter Kazakhstan Group, reflecting the monitoring results in the results of self-testing.</a:t>
                      </a:r>
                    </a:p>
                    <a:p>
                      <a:pPr marL="0" marR="0" lvl="0" indent="0" algn="just" defTabSz="583170" rtl="0" eaLnBrk="1" fontAlgn="ctr" latinLnBrk="0" hangingPunct="1">
                        <a:lnSpc>
                          <a:spcPct val="100000"/>
                        </a:lnSpc>
                        <a:spcBef>
                          <a:spcPts val="0"/>
                        </a:spcBef>
                        <a:spcAft>
                          <a:spcPts val="0"/>
                        </a:spcAft>
                        <a:buClrTx/>
                        <a:buSzTx/>
                        <a:buFont typeface="Arial" panose="020B0604020202020204" pitchFamily="34" charset="0"/>
                        <a:buNone/>
                        <a:tabLst/>
                        <a:defRPr/>
                      </a:pPr>
                      <a:endParaRPr lang="ru-RU" sz="650" u="none" strike="noStrike" kern="1200" dirty="0" smtClean="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538061318"/>
                  </a:ext>
                </a:extLst>
              </a:tr>
              <a:tr h="865585">
                <a:tc vMerge="1">
                  <a:txBody>
                    <a:bodyPr/>
                    <a:lstStyle/>
                    <a:p>
                      <a:endParaRPr lang="ru-RU"/>
                    </a:p>
                  </a:txBody>
                  <a:tcPr/>
                </a:tc>
                <a:tc>
                  <a:txBody>
                    <a:bodyPr/>
                    <a:lstStyle/>
                    <a:p>
                      <a:pPr algn="just" fontAlgn="ctr"/>
                      <a:r>
                        <a:rPr lang="ru-RU" sz="650" u="none" strike="noStrike" dirty="0">
                          <a:effectLst/>
                          <a:latin typeface="+mn-lt"/>
                        </a:rPr>
                        <a:t xml:space="preserve">9.3. Automatic notification of the Compliance of the KZ Perimeter in case of changes in the SNK, the changes are automatically displayed in the Compliance Sheet.</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 xml:space="preserve">Checking the system configuration.</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b="0" i="0" u="none" strike="noStrike" dirty="0" smtClean="0">
                          <a:solidFill>
                            <a:schemeClr val="tx1"/>
                          </a:solidFill>
                          <a:effectLst/>
                          <a:latin typeface="+mn-lt"/>
                        </a:rPr>
                        <a:t xml:space="preserve">Control is not automated at the moment.</a:t>
                      </a:r>
                      <a:r>
                        <a:rPr lang="ru-RU" sz="650" b="0" i="0" u="none" strike="noStrike" baseline="0" dirty="0" smtClean="0">
                          <a:solidFill>
                            <a:schemeClr val="tx1"/>
                          </a:solidFill>
                          <a:effectLst/>
                          <a:latin typeface="+mn-lt"/>
                        </a:rPr>
                        <a:t/>
                      </a:r>
                    </a:p>
                    <a:p>
                      <a:pPr algn="just" fontAlgn="ctr"/>
                      <a:r>
                        <a:rPr lang="ru-RU" sz="650" u="none" strike="noStrike" kern="1200" dirty="0" smtClean="0">
                          <a:solidFill>
                            <a:schemeClr val="dk1"/>
                          </a:solidFill>
                          <a:effectLst/>
                          <a:latin typeface="+mn-lt"/>
                          <a:ea typeface="+mn-ea"/>
                          <a:cs typeface="+mn-cs"/>
                        </a:rPr>
                        <a:t xml:space="preserve">When a counterparty is included in the SNK, information about the inclusion of the counterparty in the SNK is transmitted (manually) from the Procurement portal. After this, information is automatically transferred from MDM to the Compliance 2.2 system. and the counterparty is automatically excluded from the CL. Additionally, upon receipt of a notification from the Procurement portal about the inclusion of a counterparty in the CL, the compliance side carries out a reconciliation in the directory of counterparties to ensure that this information is displayed in the Compliance system .2.2. </a:t>
                      </a:r>
                      <a:br>
                        <a:rPr lang="ru-RU" sz="650" u="none" strike="noStrike" kern="1200" dirty="0" smtClean="0">
                          <a:solidFill>
                            <a:schemeClr val="dk1"/>
                          </a:solidFill>
                          <a:effectLst/>
                          <a:latin typeface="+mn-lt"/>
                          <a:ea typeface="+mn-ea"/>
                          <a:cs typeface="+mn-cs"/>
                        </a:rPr>
                      </a:br>
                      <a:r>
                        <a:rPr lang="ru-RU" sz="650" u="none" strike="noStrike" kern="1200" dirty="0" smtClean="0">
                          <a:solidFill>
                            <a:schemeClr val="dk1"/>
                          </a:solidFill>
                          <a:effectLst/>
                          <a:latin typeface="+mn-lt"/>
                          <a:ea typeface="+mn-ea"/>
                          <a:cs typeface="+mn-cs"/>
                        </a:rPr>
                        <a:t/>
                      </a:r>
                      <a:endParaRPr lang="ru-RU" sz="650" u="none" strike="noStrike" kern="1200" dirty="0">
                        <a:solidFill>
                          <a:schemeClr val="dk1"/>
                        </a:solidFill>
                        <a:effectLst/>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88900" marR="0" lvl="0" indent="-88900" algn="just"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650" u="none" strike="noStrike" kern="1200" noProof="0" dirty="0" smtClean="0">
                          <a:solidFill>
                            <a:schemeClr val="dk1"/>
                          </a:solidFill>
                          <a:effectLst/>
                          <a:latin typeface="+mn-lt"/>
                          <a:ea typeface="+mn-ea"/>
                          <a:cs typeface="+mn-cs"/>
                        </a:rPr>
                        <a:t xml:space="preserve">Considering that compliance is not the owner of the Procurement Portal and MDM Systems, initiate a repeated request to automate control, regarding the automatic transfer of data from the procurement portal to MDM. Responsible – Zakharov I.V.</a:t>
                      </a:r>
                      <a:r>
                        <a:rPr lang="ru-RU" sz="650" u="none" strike="noStrike" kern="1200" noProof="0" dirty="0">
                          <a:solidFill>
                            <a:schemeClr val="dk1"/>
                          </a:solidFill>
                          <a:effectLst/>
                          <a:latin typeface="+mn-lt"/>
                          <a:ea typeface="+mn-ea"/>
                          <a:cs typeface="+mn-cs"/>
                        </a:rPr>
                        <a:t/>
                      </a:r>
                      <a:r>
                        <a:rPr lang="ru-RU" sz="650" u="none" strike="noStrike" kern="1200" noProof="0" dirty="0" smtClean="0">
                          <a:solidFill>
                            <a:schemeClr val="dk1"/>
                          </a:solidFill>
                          <a:effectLst/>
                          <a:latin typeface="+mn-lt"/>
                          <a:ea typeface="+mn-ea"/>
                          <a:cs typeface="+mn-cs"/>
                        </a:rPr>
                        <a:t/>
                      </a:r>
                      <a:r>
                        <a:rPr lang="ru-RU" sz="650" u="none" strike="noStrike" kern="1200" dirty="0" smtClean="0">
                          <a:solidFill>
                            <a:schemeClr val="dk1"/>
                          </a:solidFill>
                          <a:effectLst/>
                          <a:latin typeface="+mn-lt"/>
                          <a:ea typeface="+mn-ea"/>
                          <a:cs typeface="+mn-cs"/>
                        </a:rPr>
                        <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691546489"/>
                  </a:ext>
                </a:extLst>
              </a:tr>
              <a:tr h="417492">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ru-RU" sz="650" b="0" i="0" u="none" strike="noStrike" dirty="0" smtClean="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 xml:space="preserve">9.4. Perimeter KZ Compliance makes appropriate changes to the Compliance Sheet.</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 xml:space="preserve">Make sure that all relevant changes are taken into account in the Compliance Sheet.</a:t>
                      </a:r>
                      <a:r>
                        <a:rPr lang="ru-RU" sz="650" u="none" strike="noStrike" dirty="0" err="1">
                          <a:effectLst/>
                          <a:latin typeface="+mn-lt"/>
                        </a:rPr>
                        <a:t/>
                      </a:r>
                      <a:r>
                        <a:rPr lang="ru-RU" sz="650" u="none" strike="noStrike" dirty="0">
                          <a:effectLst/>
                          <a:latin typeface="+mn-lt"/>
                        </a:rPr>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just" defTabSz="583170" rtl="0" eaLnBrk="1" fontAlgn="ctr" latinLnBrk="0" hangingPunct="1">
                        <a:lnSpc>
                          <a:spcPct val="100000"/>
                        </a:lnSpc>
                        <a:spcBef>
                          <a:spcPts val="0"/>
                        </a:spcBef>
                        <a:spcAft>
                          <a:spcPts val="0"/>
                        </a:spcAft>
                        <a:buClrTx/>
                        <a:buSzTx/>
                        <a:buFontTx/>
                        <a:buNone/>
                        <a:tabLst/>
                        <a:defRPr/>
                      </a:pPr>
                      <a:r>
                        <a:rPr lang="ru-RU" sz="650" b="1" u="none" strike="noStrike" dirty="0" smtClean="0">
                          <a:solidFill>
                            <a:schemeClr val="tx1"/>
                          </a:solidFill>
                          <a:effectLst/>
                          <a:latin typeface="+mn-lt"/>
                        </a:rPr>
                        <a:t xml:space="preserve">No deviations were found.</a:t>
                      </a:r>
                    </a:p>
                    <a:p>
                      <a:pPr algn="just" fontAlgn="ctr"/>
                      <a:r>
                        <a:rPr lang="ru-RU" sz="650" u="none" strike="noStrike" dirty="0" smtClean="0">
                          <a:effectLst/>
                          <a:latin typeface="+mn-lt"/>
                        </a:rPr>
                        <a:t xml:space="preserve">The approvals of the management of the Compliance Director for the inclusion/exclusion of third parties in/from the Compliance List were verified with the Compliance List posted in the Compliance 2.2 system.</a:t>
                      </a:r>
                      <a:r>
                        <a:rPr lang="ru-RU" sz="650" u="none" strike="noStrike" dirty="0">
                          <a:effectLst/>
                          <a:latin typeface="+mn-lt"/>
                        </a:rPr>
                        <a:t/>
                      </a:r>
                      <a:r>
                        <a:rPr lang="ru-RU" sz="650" u="none" strike="noStrike" dirty="0" smtClean="0">
                          <a:effectLst/>
                          <a:latin typeface="+mn-lt"/>
                        </a:rPr>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srgbClr val="32373C"/>
                          </a:solidFill>
                          <a:effectLst/>
                          <a:uLnTx/>
                          <a:uFillTx/>
                          <a:latin typeface="+mn-lt"/>
                          <a:ea typeface="+mn-ea"/>
                          <a:cs typeface="+mn-cs"/>
                        </a:rPr>
                        <a:t xml:space="preserve">n/a</a:t>
                      </a:r>
                      <a:endParaRPr kumimoji="0" lang="ru-RU" sz="650" b="0" i="0" u="none" strike="noStrike" kern="1200" cap="none" spc="0" normalizeH="0" baseline="0" noProof="0" dirty="0">
                        <a:ln>
                          <a:noFill/>
                        </a:ln>
                        <a:solidFill>
                          <a:srgbClr val="000000"/>
                        </a:solidFill>
                        <a:effectLst/>
                        <a:uLnTx/>
                        <a:uFillTx/>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436195547"/>
                  </a:ext>
                </a:extLst>
              </a:tr>
              <a:tr h="1119074">
                <a:tc>
                  <a:txBody>
                    <a:bodyPr/>
                    <a:lstStyle/>
                    <a:p>
                      <a:pPr algn="l" fontAlgn="ctr"/>
                      <a:r>
                        <a:rPr lang="ru-RU" sz="650" u="none" strike="noStrike" dirty="0">
                          <a:effectLst/>
                          <a:latin typeface="+mn-lt"/>
                        </a:rPr>
                        <a:t xml:space="preserve">10. Ineffective supervision of the Compliance List</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just" fontAlgn="ctr"/>
                      <a:r>
                        <a:rPr lang="ru-RU" sz="650" u="none" strike="noStrike" dirty="0">
                          <a:effectLst/>
                          <a:latin typeface="+mn-lt"/>
                        </a:rPr>
                        <a:t xml:space="preserve">10.1. The results of inclusion in the Compliance List, including self-testing, are brought to the attention of the CEO of Perimeter KZ and the Compliance Committee.</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algn="l" fontAlgn="ctr"/>
                      <a:r>
                        <a:rPr lang="ru-RU" sz="650" u="none" strike="noStrike" dirty="0">
                          <a:effectLst/>
                          <a:latin typeface="+mn-lt"/>
                        </a:rPr>
                        <a:t xml:space="preserve">View reports provided to the CEO of Perimeter KZ and the Compliance Committee</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just" defTabSz="583170" rtl="0" eaLnBrk="1" fontAlgn="ctr" latinLnBrk="0" hangingPunct="1">
                        <a:lnSpc>
                          <a:spcPct val="100000"/>
                        </a:lnSpc>
                        <a:spcBef>
                          <a:spcPts val="0"/>
                        </a:spcBef>
                        <a:spcAft>
                          <a:spcPts val="0"/>
                        </a:spcAft>
                        <a:buClrTx/>
                        <a:buSzTx/>
                        <a:buFontTx/>
                        <a:buNone/>
                        <a:tabLst/>
                        <a:defRPr/>
                      </a:pPr>
                      <a:r>
                        <a:rPr lang="ru-RU" sz="650" b="1" u="none" strike="noStrike" dirty="0" smtClean="0">
                          <a:solidFill>
                            <a:schemeClr val="tx1"/>
                          </a:solidFill>
                          <a:effectLst/>
                          <a:latin typeface="+mn-lt"/>
                        </a:rPr>
                        <a:t xml:space="preserve">No deviations were found.</a:t>
                      </a:r>
                    </a:p>
                    <a:p>
                      <a:pPr algn="just" fontAlgn="ctr"/>
                      <a:r>
                        <a:rPr lang="ru-RU" sz="650" u="none" strike="noStrike" dirty="0" smtClean="0">
                          <a:effectLst/>
                          <a:latin typeface="+mn-lt"/>
                        </a:rPr>
                        <a:t xml:space="preserve">The results of self-testing of the Compliance Sheet are mandatory applications for regular reporting (Compliance Committee, CEO, Divisions).</a:t>
                      </a:r>
                      <a:r>
                        <a:rPr lang="ru-RU" sz="650" u="none" strike="noStrike" dirty="0">
                          <a:effectLst/>
                          <a:latin typeface="+mn-lt"/>
                        </a:rPr>
                        <a:t/>
                      </a:r>
                      <a:r>
                        <a:rPr lang="ru-RU" sz="650" u="none" strike="noStrike" baseline="0" dirty="0">
                          <a:effectLst/>
                          <a:latin typeface="+mn-lt"/>
                        </a:rPr>
                        <a:t/>
                      </a:r>
                      <a:r>
                        <a:rPr lang="en-US" sz="650" u="none" strike="noStrike" baseline="0" dirty="0">
                          <a:effectLst/>
                          <a:latin typeface="+mn-lt"/>
                        </a:rPr>
                        <a:t/>
                      </a:r>
                      <a:r>
                        <a:rPr lang="ru-RU" sz="650" u="none" strike="noStrike" baseline="0" dirty="0">
                          <a:effectLst/>
                          <a:latin typeface="+mn-lt"/>
                        </a:rPr>
                        <a:t/>
                      </a:r>
                      <a:r>
                        <a:rPr lang="ru-RU" sz="650" u="none" strike="noStrike" dirty="0">
                          <a:effectLst/>
                          <a:latin typeface="+mn-lt"/>
                        </a:rPr>
                        <a:t/>
                      </a:r>
                      <a:endParaRPr lang="ru-RU" sz="650" b="0" i="0" u="none" strike="noStrike" dirty="0">
                        <a:solidFill>
                          <a:srgbClr val="000000"/>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srgbClr val="32373C"/>
                          </a:solidFill>
                          <a:effectLst/>
                          <a:uLnTx/>
                          <a:uFillTx/>
                          <a:latin typeface="+mn-lt"/>
                          <a:ea typeface="+mn-ea"/>
                          <a:cs typeface="+mn-cs"/>
                        </a:rPr>
                        <a:t xml:space="preserve">n/a</a:t>
                      </a:r>
                      <a:endParaRPr kumimoji="0" lang="ru-RU" sz="650" b="0" i="0" u="none" strike="noStrike" kern="1200" cap="none" spc="0" normalizeH="0" baseline="0" noProof="0" dirty="0">
                        <a:ln>
                          <a:noFill/>
                        </a:ln>
                        <a:solidFill>
                          <a:srgbClr val="000000"/>
                        </a:solidFill>
                        <a:effectLst/>
                        <a:uLnTx/>
                        <a:uFillTx/>
                        <a:latin typeface="+mn-lt"/>
                        <a:ea typeface="+mn-ea"/>
                        <a:cs typeface="+mn-cs"/>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5">
                          <a:lumMod val="75000"/>
                          <a:lumOff val="25000"/>
                        </a:schemeClr>
                      </a:solidFill>
                      <a:prstDash val="solid"/>
                      <a:round/>
                      <a:headEnd type="none" w="med" len="med"/>
                      <a:tailEnd type="none" w="med" len="med"/>
                    </a:lnT>
                    <a:lnB w="6350"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10147341"/>
                  </a:ext>
                </a:extLst>
              </a:tr>
            </a:tbl>
          </a:graphicData>
        </a:graphic>
      </p:graphicFrame>
    </p:spTree>
    <p:extLst>
      <p:ext uri="{BB962C8B-B14F-4D97-AF65-F5344CB8AC3E}">
        <p14:creationId xmlns:p14="http://schemas.microsoft.com/office/powerpoint/2010/main" val="1999107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016D0-380D-777B-5FB2-003D93A8411A}"/>
            </a:ext>
          </a:extLst>
        </p:cNvPr>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8A5D452E-57F8-4528-494B-1D375C225B5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9574"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8A5D452E-57F8-4528-494B-1D375C225B5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FE1A2F1-9CA1-B3EE-1B87-54F1999162D3}"/>
              </a:ext>
            </a:extLst>
          </p:cNvPr>
          <p:cNvSpPr>
            <a:spLocks noGrp="1"/>
          </p:cNvSpPr>
          <p:nvPr>
            <p:ph type="title"/>
          </p:nvPr>
        </p:nvSpPr>
        <p:spPr>
          <a:xfrm>
            <a:off x="222712" y="0"/>
            <a:ext cx="10584209" cy="704850"/>
          </a:xfrm>
        </p:spPr>
        <p:txBody>
          <a:bodyPr vert="horz" rtlCol="0"/>
          <a:lstStyle/>
          <a:p>
            <a:pPr rtl="0"/>
            <a:r>
              <a:rPr lang="ru" dirty="0">
                <a:latin typeface="+mn-lt"/>
              </a:rPr>
              <a:t>Прил. 4: </a:t>
            </a:r>
            <a:r>
              <a:rPr lang="ru" noProof="0" dirty="0" smtClean="0">
                <a:latin typeface="+mn-lt"/>
              </a:rPr>
              <a:t>Управление рисками </a:t>
            </a:r>
            <a:r>
              <a:rPr lang="en-US" noProof="0" dirty="0">
                <a:latin typeface="+mn-lt"/>
              </a:rPr>
              <a:t/>
            </a:r>
            <a:br>
              <a:rPr lang="en-US" noProof="0" dirty="0">
                <a:latin typeface="+mn-lt"/>
              </a:rPr>
            </a:br>
            <a:r>
              <a:rPr lang="ru-RU" dirty="0" smtClean="0">
                <a:solidFill>
                  <a:schemeClr val="tx1"/>
                </a:solidFill>
                <a:latin typeface="+mn-lt"/>
              </a:rPr>
              <a:t>Самотестирования в сфере защиты персональных данных </a:t>
            </a:r>
            <a:r>
              <a:rPr lang="ru" noProof="0" dirty="0" smtClean="0">
                <a:solidFill>
                  <a:schemeClr val="tx1"/>
                </a:solidFill>
                <a:latin typeface="+mn-lt"/>
              </a:rPr>
              <a:t>- 4</a:t>
            </a:r>
            <a:r>
              <a:rPr lang="ru" noProof="0" dirty="0">
                <a:solidFill>
                  <a:schemeClr val="tx1"/>
                </a:solidFill>
                <a:latin typeface="+mn-lt"/>
              </a:rPr>
              <a:t> кв. 2025 г.</a:t>
            </a:r>
          </a:p>
        </p:txBody>
      </p:sp>
      <p:sp>
        <p:nvSpPr>
          <p:cNvPr id="10" name="Прямоугольник 9"/>
          <p:cNvSpPr/>
          <p:nvPr/>
        </p:nvSpPr>
        <p:spPr>
          <a:xfrm>
            <a:off x="222712" y="6509377"/>
            <a:ext cx="4262705" cy="200055"/>
          </a:xfrm>
          <a:prstGeom prst="rect">
            <a:avLst/>
          </a:prstGeom>
        </p:spPr>
        <p:txBody>
          <a:bodyPr wrap="square">
            <a:spAutoFit/>
          </a:bodyPr>
          <a:lstStyle/>
          <a:p>
            <a:pPr>
              <a:spcAft>
                <a:spcPts val="300"/>
              </a:spcAft>
            </a:pPr>
            <a:r>
              <a:rPr lang="ru-RU" sz="700" i="1" dirty="0">
                <a:solidFill>
                  <a:schemeClr val="accent5">
                    <a:lumMod val="75000"/>
                    <a:lumOff val="25000"/>
                  </a:schemeClr>
                </a:solidFill>
              </a:rPr>
              <a:t xml:space="preserve">Storage of supporting materials: folders on OMEGA (Perimeter Kazakhstan server)</a:t>
            </a:r>
            <a:r>
              <a:rPr lang="en-US" sz="700" i="1" dirty="0">
                <a:solidFill>
                  <a:schemeClr val="accent5">
                    <a:lumMod val="75000"/>
                    <a:lumOff val="25000"/>
                  </a:schemeClr>
                </a:solidFill>
              </a:rPr>
              <a:t/>
            </a:r>
            <a:r>
              <a:rPr lang="ru-RU" sz="700" i="1" dirty="0">
                <a:solidFill>
                  <a:schemeClr val="accent5">
                    <a:lumMod val="75000"/>
                    <a:lumOff val="25000"/>
                  </a:schemeClr>
                </a:solidFill>
              </a:rPr>
              <a:t/>
            </a:r>
            <a:r>
              <a:rPr lang="ru-RU" sz="700" i="1" dirty="0" smtClean="0">
                <a:solidFill>
                  <a:schemeClr val="accent5">
                    <a:lumMod val="75000"/>
                    <a:lumOff val="25000"/>
                  </a:schemeClr>
                </a:solidFill>
              </a:rPr>
              <a:t/>
            </a:r>
            <a:r>
              <a:rPr lang="ru-RU" sz="700" i="1" dirty="0">
                <a:solidFill>
                  <a:schemeClr val="accent5">
                    <a:lumMod val="75000"/>
                    <a:lumOff val="25000"/>
                  </a:schemeClr>
                </a:solidFill>
              </a:rPr>
              <a:t/>
            </a:r>
          </a:p>
        </p:txBody>
      </p:sp>
      <p:graphicFrame>
        <p:nvGraphicFramePr>
          <p:cNvPr id="8" name="Таблица 7"/>
          <p:cNvGraphicFramePr>
            <a:graphicFrameLocks noGrp="1"/>
          </p:cNvGraphicFramePr>
          <p:nvPr>
            <p:extLst>
              <p:ext uri="{D42A27DB-BD31-4B8C-83A1-F6EECF244321}">
                <p14:modId xmlns:p14="http://schemas.microsoft.com/office/powerpoint/2010/main" val="42788218"/>
              </p:ext>
            </p:extLst>
          </p:nvPr>
        </p:nvGraphicFramePr>
        <p:xfrm>
          <a:off x="222712" y="752553"/>
          <a:ext cx="11619885" cy="5643343"/>
        </p:xfrm>
        <a:graphic>
          <a:graphicData uri="http://schemas.openxmlformats.org/drawingml/2006/table">
            <a:tbl>
              <a:tblPr firstRow="1" bandRow="1">
                <a:tableStyleId>{5C22544A-7EE6-4342-B048-85BDC9FD1C3A}</a:tableStyleId>
              </a:tblPr>
              <a:tblGrid>
                <a:gridCol w="1326980">
                  <a:extLst>
                    <a:ext uri="{9D8B030D-6E8A-4147-A177-3AD203B41FA5}">
                      <a16:colId xmlns:a16="http://schemas.microsoft.com/office/drawing/2014/main" val="3078860411"/>
                    </a:ext>
                  </a:extLst>
                </a:gridCol>
                <a:gridCol w="2293557">
                  <a:extLst>
                    <a:ext uri="{9D8B030D-6E8A-4147-A177-3AD203B41FA5}">
                      <a16:colId xmlns:a16="http://schemas.microsoft.com/office/drawing/2014/main" val="4149670315"/>
                    </a:ext>
                  </a:extLst>
                </a:gridCol>
                <a:gridCol w="1140344">
                  <a:extLst>
                    <a:ext uri="{9D8B030D-6E8A-4147-A177-3AD203B41FA5}">
                      <a16:colId xmlns:a16="http://schemas.microsoft.com/office/drawing/2014/main" val="1843151663"/>
                    </a:ext>
                  </a:extLst>
                </a:gridCol>
                <a:gridCol w="1380795">
                  <a:extLst>
                    <a:ext uri="{9D8B030D-6E8A-4147-A177-3AD203B41FA5}">
                      <a16:colId xmlns:a16="http://schemas.microsoft.com/office/drawing/2014/main" val="3046502959"/>
                    </a:ext>
                  </a:extLst>
                </a:gridCol>
                <a:gridCol w="3103660">
                  <a:extLst>
                    <a:ext uri="{9D8B030D-6E8A-4147-A177-3AD203B41FA5}">
                      <a16:colId xmlns:a16="http://schemas.microsoft.com/office/drawing/2014/main" val="3066138432"/>
                    </a:ext>
                  </a:extLst>
                </a:gridCol>
                <a:gridCol w="2374549">
                  <a:extLst>
                    <a:ext uri="{9D8B030D-6E8A-4147-A177-3AD203B41FA5}">
                      <a16:colId xmlns:a16="http://schemas.microsoft.com/office/drawing/2014/main" val="4038076845"/>
                    </a:ext>
                  </a:extLst>
                </a:gridCol>
              </a:tblGrid>
              <a:tr h="424423">
                <a:tc>
                  <a:txBody>
                    <a:bodyPr/>
                    <a:lstStyle/>
                    <a:p>
                      <a:pPr algn="ctr" fontAlgn="ctr"/>
                      <a:r>
                        <a:rPr lang="ru-RU" sz="900" b="1" i="0" u="none" strike="noStrike" dirty="0" smtClean="0">
                          <a:solidFill>
                            <a:schemeClr val="bg1"/>
                          </a:solidFill>
                          <a:effectLst/>
                          <a:latin typeface="+mn-lt"/>
                        </a:rPr>
                        <a:t xml:space="preserve">Self-test subject</a:t>
                      </a:r>
                      <a:endParaRPr lang="ru-RU" sz="900" b="1" i="0" u="none" strike="noStrike" dirty="0">
                        <a:solidFill>
                          <a:schemeClr val="bg1"/>
                        </a:solidFill>
                        <a:effectLst/>
                        <a:latin typeface="+mn-lt"/>
                      </a:endParaRPr>
                    </a:p>
                  </a:txBody>
                  <a:tcPr marL="36000" marR="36000" marT="36000" marB="36000" anchor="ctr">
                    <a:lnB w="12700" cap="flat" cmpd="sng" algn="ctr">
                      <a:noFill/>
                      <a:prstDash val="solid"/>
                      <a:round/>
                      <a:headEnd type="none" w="med" len="med"/>
                      <a:tailEnd type="none" w="med" len="med"/>
                    </a:lnB>
                    <a:solidFill>
                      <a:schemeClr val="accent5">
                        <a:lumMod val="50000"/>
                        <a:lumOff val="50000"/>
                      </a:schemeClr>
                    </a:solidFill>
                  </a:tcPr>
                </a:tc>
                <a:tc>
                  <a:txBody>
                    <a:bodyPr/>
                    <a:lstStyle/>
                    <a:p>
                      <a:pPr algn="ctr" fontAlgn="ctr"/>
                      <a:r>
                        <a:rPr lang="ru-RU" sz="900" b="1" i="0" u="none" strike="noStrike" dirty="0" smtClean="0">
                          <a:solidFill>
                            <a:schemeClr val="bg1"/>
                          </a:solidFill>
                          <a:effectLst/>
                          <a:latin typeface="+mn-lt"/>
                        </a:rPr>
                        <a:t xml:space="preserve">Risk-based approach - coverage</a:t>
                      </a:r>
                      <a:endParaRPr lang="ru-RU" sz="900" b="1" i="0" u="none" strike="noStrike" dirty="0">
                        <a:solidFill>
                          <a:schemeClr val="bg1"/>
                        </a:solidFill>
                        <a:effectLst/>
                        <a:latin typeface="+mn-lt"/>
                      </a:endParaRPr>
                    </a:p>
                  </a:txBody>
                  <a:tcPr marL="36000" marR="36000" marT="36000" marB="36000" anchor="ctr">
                    <a:lnB w="12700" cap="flat" cmpd="sng" algn="ctr">
                      <a:noFill/>
                      <a:prstDash val="solid"/>
                      <a:round/>
                      <a:headEnd type="none" w="med" len="med"/>
                      <a:tailEnd type="none" w="med" len="med"/>
                    </a:lnB>
                    <a:solidFill>
                      <a:schemeClr val="accent5">
                        <a:lumMod val="50000"/>
                        <a:lumOff val="50000"/>
                      </a:schemeClr>
                    </a:solidFill>
                  </a:tcPr>
                </a:tc>
                <a:tc>
                  <a:txBody>
                    <a:bodyPr/>
                    <a:lstStyle/>
                    <a:p>
                      <a:pPr algn="ctr" fontAlgn="ctr"/>
                      <a:r>
                        <a:rPr lang="ru-RU" sz="900" b="1" i="0" u="none" strike="noStrike" dirty="0">
                          <a:solidFill>
                            <a:schemeClr val="bg1"/>
                          </a:solidFill>
                          <a:effectLst/>
                          <a:latin typeface="+mn-lt"/>
                        </a:rPr>
                        <a:t xml:space="preserve">Sample (number)</a:t>
                      </a:r>
                    </a:p>
                  </a:txBody>
                  <a:tcPr marL="36000" marR="36000" marT="36000" marB="36000" anchor="ctr">
                    <a:lnB w="12700" cap="flat" cmpd="sng" algn="ctr">
                      <a:noFill/>
                      <a:prstDash val="solid"/>
                      <a:round/>
                      <a:headEnd type="none" w="med" len="med"/>
                      <a:tailEnd type="none" w="med" len="med"/>
                    </a:lnB>
                    <a:solidFill>
                      <a:schemeClr val="accent5">
                        <a:lumMod val="50000"/>
                        <a:lumOff val="50000"/>
                      </a:schemeClr>
                    </a:solidFill>
                  </a:tcPr>
                </a:tc>
                <a:tc>
                  <a:txBody>
                    <a:bodyPr/>
                    <a:lstStyle/>
                    <a:p>
                      <a:pPr algn="ctr" fontAlgn="ctr"/>
                      <a:r>
                        <a:rPr lang="ru-RU" sz="900" b="1" i="0" u="none" strike="noStrike" dirty="0">
                          <a:solidFill>
                            <a:schemeClr val="bg1"/>
                          </a:solidFill>
                          <a:effectLst/>
                          <a:latin typeface="+mn-lt"/>
                        </a:rPr>
                        <a:t xml:space="preserve">Participants</a:t>
                      </a:r>
                    </a:p>
                  </a:txBody>
                  <a:tcPr marL="36000" marR="36000" marT="36000" marB="36000" anchor="ctr">
                    <a:lnB w="12700" cap="flat" cmpd="sng" algn="ctr">
                      <a:noFill/>
                      <a:prstDash val="solid"/>
                      <a:round/>
                      <a:headEnd type="none" w="med" len="med"/>
                      <a:tailEnd type="none" w="med" len="med"/>
                    </a:lnB>
                    <a:solidFill>
                      <a:schemeClr val="accent5">
                        <a:lumMod val="50000"/>
                        <a:lumOff val="50000"/>
                      </a:schemeClr>
                    </a:solidFill>
                  </a:tcPr>
                </a:tc>
                <a:tc>
                  <a:txBody>
                    <a:bodyPr/>
                    <a:lstStyle/>
                    <a:p>
                      <a:pPr algn="ctr" fontAlgn="ctr"/>
                      <a:r>
                        <a:rPr lang="ru-RU" sz="900" b="1" i="0" u="none" strike="noStrike" dirty="0" smtClean="0">
                          <a:solidFill>
                            <a:schemeClr val="bg1"/>
                          </a:solidFill>
                          <a:effectLst/>
                          <a:latin typeface="+mn-lt"/>
                        </a:rPr>
                        <a:t xml:space="preserve">Result</a:t>
                      </a:r>
                      <a:endParaRPr lang="ru-RU" sz="900" b="1" i="0" u="none" strike="noStrike" dirty="0">
                        <a:solidFill>
                          <a:schemeClr val="bg1"/>
                        </a:solidFill>
                        <a:effectLst/>
                        <a:latin typeface="+mn-lt"/>
                      </a:endParaRPr>
                    </a:p>
                  </a:txBody>
                  <a:tcPr marL="36000" marR="36000" marT="36000" marB="36000" anchor="ctr">
                    <a:lnB w="12700" cap="flat" cmpd="sng" algn="ctr">
                      <a:noFill/>
                      <a:prstDash val="solid"/>
                      <a:round/>
                      <a:headEnd type="none" w="med" len="med"/>
                      <a:tailEnd type="none" w="med" len="med"/>
                    </a:lnB>
                    <a:solidFill>
                      <a:schemeClr val="accent5">
                        <a:lumMod val="50000"/>
                        <a:lumOff val="50000"/>
                      </a:schemeClr>
                    </a:solidFill>
                  </a:tcPr>
                </a:tc>
                <a:tc>
                  <a:txBody>
                    <a:bodyPr/>
                    <a:lstStyle/>
                    <a:p>
                      <a:pPr algn="ctr" fontAlgn="ctr"/>
                      <a:r>
                        <a:rPr lang="ru-RU" sz="900" b="1" i="0" u="none" strike="noStrike" dirty="0" smtClean="0">
                          <a:solidFill>
                            <a:schemeClr val="bg1"/>
                          </a:solidFill>
                          <a:effectLst/>
                          <a:latin typeface="+mn-lt"/>
                        </a:rPr>
                        <a:t xml:space="preserve">Recommendations</a:t>
                      </a:r>
                      <a:endParaRPr lang="ru-RU" sz="900" b="1" i="0" u="none" strike="noStrike" dirty="0">
                        <a:solidFill>
                          <a:schemeClr val="bg1"/>
                        </a:solidFill>
                        <a:effectLst/>
                        <a:latin typeface="+mn-lt"/>
                      </a:endParaRPr>
                    </a:p>
                  </a:txBody>
                  <a:tcPr marL="36000" marR="36000" marT="36000" marB="36000" anchor="ctr">
                    <a:lnB w="12700" cap="flat" cmpd="sng" algn="ctr">
                      <a:noFill/>
                      <a:prstDash val="solid"/>
                      <a:round/>
                      <a:headEnd type="none" w="med" len="med"/>
                      <a:tailEnd type="none" w="med" len="med"/>
                    </a:lnB>
                    <a:solidFill>
                      <a:schemeClr val="accent5">
                        <a:lumMod val="50000"/>
                        <a:lumOff val="50000"/>
                      </a:schemeClr>
                    </a:solidFill>
                  </a:tcPr>
                </a:tc>
                <a:extLst>
                  <a:ext uri="{0D108BD9-81ED-4DB2-BD59-A6C34878D82A}">
                    <a16:rowId xmlns:a16="http://schemas.microsoft.com/office/drawing/2014/main" val="1147743610"/>
                  </a:ext>
                </a:extLst>
              </a:tr>
              <a:tr h="1140000">
                <a:tc>
                  <a:txBody>
                    <a:bodyPr/>
                    <a:lstStyle/>
                    <a:p>
                      <a:pPr marL="34925" marR="0" lvl="0" indent="0" algn="l"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900" b="1" i="0" u="none" strike="noStrike" dirty="0" smtClean="0">
                          <a:solidFill>
                            <a:schemeClr val="accent5">
                              <a:lumMod val="75000"/>
                              <a:lumOff val="25000"/>
                            </a:schemeClr>
                          </a:solidFill>
                          <a:effectLst/>
                          <a:latin typeface="+mn-lt"/>
                        </a:rPr>
                        <a:t xml:space="preserve">Availability of consents for the collection and processing of personal data of Perimeter employees</a:t>
                      </a:r>
                      <a:endParaRPr lang="ru-RU" sz="900" b="1" i="0" u="none" strike="noStrike" dirty="0" smtClean="0">
                        <a:solidFill>
                          <a:schemeClr val="bg1"/>
                        </a:solidFill>
                        <a:effectLst/>
                        <a:latin typeface="+mn-lt"/>
                      </a:endParaRPr>
                    </a:p>
                    <a:p>
                      <a:pPr marL="177800" indent="-142875" algn="l" fontAlgn="ctr">
                        <a:lnSpc>
                          <a:spcPct val="100000"/>
                        </a:lnSpc>
                        <a:spcBef>
                          <a:spcPts val="0"/>
                        </a:spcBef>
                        <a:spcAft>
                          <a:spcPts val="0"/>
                        </a:spcAft>
                        <a:buFont typeface="Arial" panose="020B0604020202020204" pitchFamily="34" charset="0"/>
                        <a:buChar char="•"/>
                      </a:pPr>
                      <a:endParaRPr lang="ru-RU" sz="900" b="0" i="0" u="none" strike="noStrike" dirty="0">
                        <a:solidFill>
                          <a:srgbClr val="000000"/>
                        </a:solidFill>
                        <a:effectLst/>
                        <a:latin typeface="+mn-lt"/>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925" indent="0" algn="l" fontAlgn="ctr">
                        <a:lnSpc>
                          <a:spcPct val="100000"/>
                        </a:lnSpc>
                        <a:spcBef>
                          <a:spcPts val="0"/>
                        </a:spcBef>
                        <a:spcAft>
                          <a:spcPts val="0"/>
                        </a:spcAft>
                        <a:buFont typeface="Arial" panose="020B0604020202020204" pitchFamily="34" charset="0"/>
                        <a:buNone/>
                      </a:pPr>
                      <a:r>
                        <a:rPr lang="ru-RU" sz="900" b="0" i="0" u="none" strike="noStrike" dirty="0" smtClean="0">
                          <a:solidFill>
                            <a:srgbClr val="000000"/>
                          </a:solidFill>
                          <a:effectLst/>
                          <a:latin typeface="+mn-lt"/>
                        </a:rPr>
                        <a:t xml:space="preserve">Sampling method – workers from different jurisdictions:</a:t>
                      </a:r>
                    </a:p>
                    <a:p>
                      <a:pPr marL="177800" indent="-142875" algn="l" fontAlgn="ctr">
                        <a:lnSpc>
                          <a:spcPct val="100000"/>
                        </a:lnSpc>
                        <a:spcBef>
                          <a:spcPts val="0"/>
                        </a:spcBef>
                        <a:spcAft>
                          <a:spcPts val="0"/>
                        </a:spcAft>
                        <a:buFont typeface="Arial" panose="020B0604020202020204" pitchFamily="34" charset="0"/>
                        <a:buChar char="•"/>
                      </a:pPr>
                      <a:endParaRPr lang="ru-RU" sz="900" b="0" i="0" u="none" strike="noStrike" dirty="0" smtClean="0">
                        <a:solidFill>
                          <a:srgbClr val="000000"/>
                        </a:solidFill>
                        <a:effectLst/>
                        <a:latin typeface="+mn-lt"/>
                      </a:endParaRPr>
                    </a:p>
                    <a:p>
                      <a:pPr marL="206375" indent="-171450" algn="l" fontAlgn="ctr">
                        <a:lnSpc>
                          <a:spcPct val="100000"/>
                        </a:lnSpc>
                        <a:spcBef>
                          <a:spcPts val="0"/>
                        </a:spcBef>
                        <a:spcAft>
                          <a:spcPts val="0"/>
                        </a:spcAft>
                        <a:buFont typeface="Arial" panose="020B0604020202020204" pitchFamily="34" charset="0"/>
                        <a:buChar char="•"/>
                      </a:pPr>
                      <a:r>
                        <a:rPr lang="ru-RU" sz="900" b="0" i="0" u="none" strike="noStrike" dirty="0" smtClean="0">
                          <a:solidFill>
                            <a:srgbClr val="000000"/>
                          </a:solidFill>
                          <a:effectLst/>
                          <a:latin typeface="+mn-lt"/>
                        </a:rPr>
                        <a:t xml:space="preserve">Non-resident workers citizens of foreign jurisdictions (Azerbaijan, Belarus, EU, Kyrgyzstan, Mongolia, Tajikistan, Turkmenistan, Ukraine) + stateless persons - 100% coverage</a:t>
                      </a:r>
                      <a:r>
                        <a:rPr lang="ru-RU" sz="900" b="0" i="0" u="none" strike="noStrike" dirty="0">
                          <a:solidFill>
                            <a:srgbClr val="000000"/>
                          </a:solidFill>
                          <a:effectLst/>
                          <a:latin typeface="+mn-lt"/>
                        </a:rPr>
                        <a:t/>
                      </a:r>
                      <a:br>
                        <a:rPr lang="ru-RU" sz="900" b="0" i="0" u="none" strike="noStrike" dirty="0">
                          <a:solidFill>
                            <a:srgbClr val="000000"/>
                          </a:solidFill>
                          <a:effectLst/>
                          <a:latin typeface="+mn-lt"/>
                        </a:rPr>
                      </a:br>
                      <a:endParaRPr lang="ru-RU" sz="900" b="0" i="0" u="none" strike="noStrike" dirty="0">
                        <a:solidFill>
                          <a:srgbClr val="000000"/>
                        </a:solidFill>
                        <a:effectLst/>
                        <a:latin typeface="+mn-lt"/>
                      </a:endParaRPr>
                    </a:p>
                    <a:p>
                      <a:pPr marL="206375" indent="-171450" algn="l" fontAlgn="ctr">
                        <a:lnSpc>
                          <a:spcPct val="100000"/>
                        </a:lnSpc>
                        <a:spcBef>
                          <a:spcPts val="0"/>
                        </a:spcBef>
                        <a:spcAft>
                          <a:spcPts val="0"/>
                        </a:spcAft>
                        <a:buFont typeface="Arial" panose="020B0604020202020204" pitchFamily="34" charset="0"/>
                        <a:buChar char="•"/>
                      </a:pPr>
                      <a:r>
                        <a:rPr lang="ru-RU" sz="900" b="0" i="0" u="none" strike="noStrike" dirty="0" smtClean="0">
                          <a:solidFill>
                            <a:srgbClr val="000000"/>
                          </a:solidFill>
                          <a:effectLst/>
                          <a:latin typeface="+mn-lt"/>
                        </a:rPr>
                        <a:t xml:space="preserve">Workers-citizens of the Republic of Kazakhstan + non-resident workers - citizens of Russia, Uzbekistan (the largest group) - 0.8%</a:t>
                      </a:r>
                      <a:r>
                        <a:rPr lang="ru-RU" sz="900" b="0" i="0" u="none" strike="noStrike" dirty="0">
                          <a:solidFill>
                            <a:srgbClr val="000000"/>
                          </a:solidFill>
                          <a:effectLst/>
                          <a:latin typeface="+mn-lt"/>
                        </a:rPr>
                        <a:t/>
                      </a:r>
                      <a:r>
                        <a:rPr lang="en-US" sz="900" b="0" i="0" u="none" strike="noStrike" dirty="0">
                          <a:solidFill>
                            <a:srgbClr val="000000"/>
                          </a:solidFill>
                          <a:effectLst/>
                          <a:latin typeface="+mn-lt"/>
                        </a:rPr>
                        <a:t/>
                      </a:r>
                      <a:r>
                        <a:rPr lang="ru-RU" sz="900" b="0" i="0" u="none" strike="noStrike" dirty="0">
                          <a:solidFill>
                            <a:srgbClr val="000000"/>
                          </a:solidFill>
                          <a:effectLst/>
                          <a:latin typeface="+mn-lt"/>
                        </a:rPr>
                        <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 algn="ctr" fontAlgn="ctr"/>
                      <a:r>
                        <a:rPr lang="ru-RU" sz="900" b="0" i="0" u="none" strike="noStrike" dirty="0">
                          <a:solidFill>
                            <a:srgbClr val="000000"/>
                          </a:solidFill>
                          <a:effectLst/>
                          <a:latin typeface="+mn-lt"/>
                        </a:rPr>
                        <a:t>500</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7800" indent="-142875" algn="l" fontAlgn="ctr">
                        <a:buFont typeface="Arial" panose="020B0604020202020204" pitchFamily="34" charset="0"/>
                        <a:buChar char="•"/>
                      </a:pPr>
                      <a:r>
                        <a:rPr lang="ru-RU" sz="900" b="0" i="0" u="none" strike="noStrike" kern="1200" dirty="0">
                          <a:solidFill>
                            <a:srgbClr val="000000"/>
                          </a:solidFill>
                          <a:effectLst/>
                          <a:latin typeface="+mn-lt"/>
                          <a:ea typeface="+mn-ea"/>
                          <a:cs typeface="+mn-cs"/>
                        </a:rPr>
                        <a:t xml:space="preserve">HR - Service Center LLP</a:t>
                      </a:r>
                    </a:p>
                    <a:p>
                      <a:pPr marL="177800" indent="-142875" algn="l" fontAlgn="ctr">
                        <a:buFont typeface="Arial" panose="020B0604020202020204" pitchFamily="34" charset="0"/>
                        <a:buChar char="•"/>
                      </a:pPr>
                      <a:r>
                        <a:rPr lang="ru-RU" sz="900" b="0" i="0" u="none" strike="noStrike" kern="1200" dirty="0">
                          <a:solidFill>
                            <a:srgbClr val="000000"/>
                          </a:solidFill>
                          <a:effectLst/>
                          <a:latin typeface="+mn-lt"/>
                          <a:ea typeface="+mn-ea"/>
                          <a:cs typeface="+mn-cs"/>
                        </a:rPr>
                        <a:t xml:space="preserve">Compliance Directorate - EG LLP</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spcBef>
                          <a:spcPts val="0"/>
                        </a:spcBef>
                        <a:buClr>
                          <a:schemeClr val="tx1"/>
                        </a:buClr>
                        <a:defRPr/>
                      </a:pPr>
                      <a:r>
                        <a:rPr lang="ru-RU" sz="900" dirty="0" smtClean="0">
                          <a:latin typeface="+mn-lt"/>
                        </a:rPr>
                        <a:t xml:space="preserve">Out of 500 employees:</a:t>
                      </a:r>
                    </a:p>
                    <a:p>
                      <a:pPr marL="177800" lvl="0" indent="-142875" algn="l" defTabSz="583170" rtl="0" eaLnBrk="1" fontAlgn="ctr" latinLnBrk="0" hangingPunct="1">
                        <a:spcBef>
                          <a:spcPts val="0"/>
                        </a:spcBef>
                        <a:buClr>
                          <a:schemeClr val="tx1"/>
                        </a:buClr>
                        <a:buFont typeface="Arial" panose="020B0604020202020204" pitchFamily="34" charset="0"/>
                        <a:buChar char="•"/>
                        <a:defRPr/>
                      </a:pPr>
                      <a:r>
                        <a:rPr lang="ru-RU" sz="900" b="0" i="0" u="none" strike="noStrike" kern="1200" dirty="0" smtClean="0">
                          <a:solidFill>
                            <a:srgbClr val="000000"/>
                          </a:solidFill>
                          <a:effectLst/>
                          <a:latin typeface="+mn-lt"/>
                          <a:ea typeface="+mn-ea"/>
                          <a:cs typeface="+mn-cs"/>
                        </a:rPr>
                        <a:t xml:space="preserve">211 employees (42%) signed the current consent form, which is valid from 2022.</a:t>
                      </a:r>
                    </a:p>
                    <a:p>
                      <a:pPr marL="177800" lvl="0" indent="-142875" algn="l" defTabSz="583170" rtl="0" eaLnBrk="1" fontAlgn="ctr" latinLnBrk="0" hangingPunct="1">
                        <a:spcBef>
                          <a:spcPts val="0"/>
                        </a:spcBef>
                        <a:buClr>
                          <a:schemeClr val="tx1"/>
                        </a:buClr>
                        <a:buFont typeface="Arial" panose="020B0604020202020204" pitchFamily="34" charset="0"/>
                        <a:buChar char="•"/>
                        <a:defRPr/>
                      </a:pPr>
                      <a:r>
                        <a:rPr lang="ru-RU" sz="900" b="0" i="0" u="none" strike="noStrike" kern="1200" dirty="0" smtClean="0">
                          <a:solidFill>
                            <a:srgbClr val="000000"/>
                          </a:solidFill>
                          <a:effectLst/>
                          <a:latin typeface="+mn-lt"/>
                          <a:ea typeface="+mn-ea"/>
                          <a:cs typeface="+mn-cs"/>
                        </a:rPr>
                        <a:t xml:space="preserve">268 employees (54%) signed the 2021 consent form, 85% of whom signed the 2021 consent form after the current consent form was introduced. At the same time, in 2022, minor changes were made to the consent form (a BIN was added, one wording was adjusted). – re-signing the form is not required.</a:t>
                      </a:r>
                      <a:r>
                        <a:rPr lang="ru-RU" sz="900" b="0" i="0" u="none" strike="noStrike" kern="1200" dirty="0" err="1" smtClean="0">
                          <a:solidFill>
                            <a:srgbClr val="000000"/>
                          </a:solidFill>
                          <a:effectLst/>
                          <a:latin typeface="+mn-lt"/>
                          <a:ea typeface="+mn-ea"/>
                          <a:cs typeface="+mn-cs"/>
                        </a:rPr>
                        <a:t/>
                      </a:r>
                      <a:r>
                        <a:rPr lang="ru-RU" sz="900" b="0" i="0" u="none" strike="noStrike" kern="1200" dirty="0" smtClean="0">
                          <a:solidFill>
                            <a:srgbClr val="000000"/>
                          </a:solidFill>
                          <a:effectLst/>
                          <a:latin typeface="+mn-lt"/>
                          <a:ea typeface="+mn-ea"/>
                          <a:cs typeface="+mn-cs"/>
                        </a:rPr>
                        <a:t/>
                      </a:r>
                    </a:p>
                    <a:p>
                      <a:pPr marL="177800" lvl="0" indent="-142875" algn="l" defTabSz="583170" rtl="0" eaLnBrk="1" fontAlgn="ctr" latinLnBrk="0" hangingPunct="1">
                        <a:spcBef>
                          <a:spcPts val="0"/>
                        </a:spcBef>
                        <a:buClr>
                          <a:schemeClr val="tx1"/>
                        </a:buClr>
                        <a:buFont typeface="Arial" panose="020B0604020202020204" pitchFamily="34" charset="0"/>
                        <a:buChar char="•"/>
                        <a:defRPr/>
                      </a:pPr>
                      <a:r>
                        <a:rPr lang="ru-RU" sz="900" b="0" i="0" u="none" strike="noStrike" kern="1200" dirty="0" smtClean="0">
                          <a:solidFill>
                            <a:srgbClr val="000000"/>
                          </a:solidFill>
                          <a:effectLst/>
                          <a:latin typeface="+mn-lt"/>
                          <a:ea typeface="+mn-ea"/>
                          <a:cs typeface="+mn-cs"/>
                        </a:rPr>
                        <a:t xml:space="preserve">4 employees (1%) signed an outdated 2017 consent form - re-signing required.</a:t>
                      </a:r>
                      <a:r>
                        <a:rPr lang="ru-RU" sz="900" b="0" i="0" u="none" strike="noStrike" kern="1200" dirty="0" err="1" smtClean="0">
                          <a:solidFill>
                            <a:srgbClr val="000000"/>
                          </a:solidFill>
                          <a:effectLst/>
                          <a:latin typeface="+mn-lt"/>
                          <a:ea typeface="+mn-ea"/>
                          <a:cs typeface="+mn-cs"/>
                        </a:rPr>
                        <a:t/>
                      </a:r>
                      <a:r>
                        <a:rPr lang="ru-RU" sz="900" b="0" i="0" u="none" strike="noStrike" kern="1200" dirty="0" smtClean="0">
                          <a:solidFill>
                            <a:srgbClr val="000000"/>
                          </a:solidFill>
                          <a:effectLst/>
                          <a:latin typeface="+mn-lt"/>
                          <a:ea typeface="+mn-ea"/>
                          <a:cs typeface="+mn-cs"/>
                        </a:rPr>
                        <a:t/>
                      </a:r>
                    </a:p>
                    <a:p>
                      <a:pPr marL="177800" lvl="0" indent="-142875" algn="l" defTabSz="583170" rtl="0" eaLnBrk="1" fontAlgn="ctr" latinLnBrk="0" hangingPunct="1">
                        <a:spcBef>
                          <a:spcPts val="0"/>
                        </a:spcBef>
                        <a:buClr>
                          <a:schemeClr val="tx1"/>
                        </a:buClr>
                        <a:buFont typeface="Arial" panose="020B0604020202020204" pitchFamily="34" charset="0"/>
                        <a:buChar char="•"/>
                        <a:defRPr/>
                      </a:pPr>
                      <a:r>
                        <a:rPr lang="ru-RU" sz="900" b="0" i="0" u="none" strike="noStrike" kern="1200" dirty="0" smtClean="0">
                          <a:solidFill>
                            <a:srgbClr val="000000"/>
                          </a:solidFill>
                          <a:effectLst/>
                          <a:latin typeface="+mn-lt"/>
                          <a:ea typeface="+mn-ea"/>
                          <a:cs typeface="+mn-cs"/>
                        </a:rPr>
                        <a:t xml:space="preserve">17 employees (3%) were not sent consent forms for various reasons (work leave, refusal to sign, no signed consents)</a:t>
                      </a:r>
                    </a:p>
                    <a:p>
                      <a:pPr marL="88900" lvl="0" indent="-88900">
                        <a:spcBef>
                          <a:spcPts val="0"/>
                        </a:spcBef>
                        <a:buClr>
                          <a:schemeClr val="tx1"/>
                        </a:buClr>
                        <a:buFont typeface="Arial" panose="020B0604020202020204" pitchFamily="34" charset="0"/>
                        <a:buChar char="•"/>
                        <a:defRPr/>
                      </a:pPr>
                      <a:endParaRPr lang="ru-RU" sz="900" dirty="0" smtClean="0">
                        <a:latin typeface="+mn-lt"/>
                      </a:endParaRPr>
                    </a:p>
                    <a:p>
                      <a:pPr marL="0" lvl="0" indent="0">
                        <a:spcBef>
                          <a:spcPts val="0"/>
                        </a:spcBef>
                        <a:buClr>
                          <a:schemeClr val="tx1"/>
                        </a:buClr>
                        <a:buFont typeface="Arial" panose="020B0604020202020204" pitchFamily="34" charset="0"/>
                        <a:buNone/>
                        <a:defRPr/>
                      </a:pPr>
                      <a:r>
                        <a:rPr lang="ru-RU" sz="900" dirty="0" smtClean="0">
                          <a:latin typeface="+mn-lt"/>
                        </a:rPr>
                        <a:t xml:space="preserve">No significant risks were identified.</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 marR="0" lvl="0" indent="0" algn="l" defTabSz="583170" rtl="0" eaLnBrk="1" fontAlgn="ctr" latinLnBrk="0" hangingPunct="1">
                        <a:lnSpc>
                          <a:spcPct val="100000"/>
                        </a:lnSpc>
                        <a:spcBef>
                          <a:spcPts val="0"/>
                        </a:spcBef>
                        <a:spcAft>
                          <a:spcPts val="0"/>
                        </a:spcAft>
                        <a:buClrTx/>
                        <a:buSzTx/>
                        <a:buFontTx/>
                        <a:buNone/>
                        <a:tabLst/>
                        <a:defRPr/>
                      </a:pPr>
                      <a:r>
                        <a:rPr lang="ru-RU" sz="900" b="0" i="0" u="none" strike="noStrike" dirty="0" smtClean="0">
                          <a:solidFill>
                            <a:srgbClr val="000000"/>
                          </a:solidFill>
                          <a:effectLst/>
                          <a:latin typeface="+mn-lt"/>
                        </a:rPr>
                        <a:t xml:space="preserve">Relevant recommendations were sent to HR to eliminate the identified deviations:</a:t>
                      </a:r>
                      <a:r>
                        <a:rPr lang="en-US" sz="900" kern="1200" dirty="0" smtClean="0">
                          <a:solidFill>
                            <a:schemeClr val="dk1"/>
                          </a:solidFill>
                          <a:effectLst/>
                          <a:latin typeface="+mn-lt"/>
                          <a:ea typeface="+mn-ea"/>
                          <a:cs typeface="+mn-cs"/>
                        </a:rPr>
                        <a:t/>
                      </a:r>
                      <a:r>
                        <a:rPr lang="ru-RU" sz="900" kern="1200" dirty="0" smtClean="0">
                          <a:solidFill>
                            <a:schemeClr val="dk1"/>
                          </a:solidFill>
                          <a:effectLst/>
                          <a:latin typeface="+mn-lt"/>
                          <a:ea typeface="+mn-ea"/>
                          <a:cs typeface="+mn-cs"/>
                        </a:rPr>
                        <a:t/>
                      </a:r>
                    </a:p>
                    <a:p>
                      <a:pPr marL="171450" indent="-171450">
                        <a:lnSpc>
                          <a:spcPct val="100000"/>
                        </a:lnSpc>
                        <a:spcBef>
                          <a:spcPts val="0"/>
                        </a:spcBef>
                        <a:spcAft>
                          <a:spcPts val="0"/>
                        </a:spcAft>
                        <a:buFont typeface="Arial" panose="020B0604020202020204" pitchFamily="34" charset="0"/>
                        <a:buChar char="•"/>
                      </a:pPr>
                      <a:r>
                        <a:rPr lang="ru-RU" sz="900" dirty="0" smtClean="0">
                          <a:latin typeface="+mn-lt"/>
                        </a:rPr>
                        <a:t xml:space="preserve">Use the current consent form for the collection and processing of personal data when employing workers.</a:t>
                      </a:r>
                    </a:p>
                    <a:p>
                      <a:pPr marL="171450" indent="-171450">
                        <a:lnSpc>
                          <a:spcPct val="100000"/>
                        </a:lnSpc>
                        <a:spcBef>
                          <a:spcPts val="0"/>
                        </a:spcBef>
                        <a:spcAft>
                          <a:spcPts val="0"/>
                        </a:spcAft>
                        <a:buFont typeface="Arial" panose="020B0604020202020204" pitchFamily="34" charset="0"/>
                        <a:buChar char="•"/>
                      </a:pPr>
                      <a:r>
                        <a:rPr lang="ru-RU" sz="900" dirty="0" err="1" smtClean="0">
                          <a:latin typeface="+mn-lt"/>
                        </a:rPr>
                        <a:t xml:space="preserve">Re-sign the outdated 2017 consent forms for the identified 4 employees.</a:t>
                      </a:r>
                      <a:r>
                        <a:rPr lang="ru-RU" sz="900" dirty="0" smtClean="0">
                          <a:latin typeface="+mn-lt"/>
                        </a:rPr>
                        <a:t/>
                      </a:r>
                    </a:p>
                    <a:p>
                      <a:pPr marL="171450" indent="-171450">
                        <a:lnSpc>
                          <a:spcPct val="100000"/>
                        </a:lnSpc>
                        <a:spcBef>
                          <a:spcPts val="0"/>
                        </a:spcBef>
                        <a:spcAft>
                          <a:spcPts val="0"/>
                        </a:spcAft>
                        <a:buFont typeface="Arial" panose="020B0604020202020204" pitchFamily="34" charset="0"/>
                        <a:buChar char="•"/>
                      </a:pPr>
                      <a:r>
                        <a:rPr lang="ru-RU" sz="900" dirty="0" smtClean="0">
                          <a:latin typeface="+mn-lt"/>
                        </a:rPr>
                        <a:t xml:space="preserve">Sign current consents with 17 employees for whom no gaps have been identified.</a:t>
                      </a:r>
                    </a:p>
                    <a:p>
                      <a:pPr marL="0" indent="0">
                        <a:lnSpc>
                          <a:spcPct val="100000"/>
                        </a:lnSpc>
                        <a:spcBef>
                          <a:spcPts val="0"/>
                        </a:spcBef>
                        <a:spcAft>
                          <a:spcPts val="0"/>
                        </a:spcAft>
                        <a:buFont typeface="Arial" panose="020B0604020202020204" pitchFamily="34" charset="0"/>
                        <a:buNone/>
                      </a:pPr>
                      <a:endParaRPr lang="ru-RU" sz="900" dirty="0" smtClean="0">
                        <a:latin typeface="+mn-lt"/>
                      </a:endParaRPr>
                    </a:p>
                    <a:p>
                      <a:pPr marL="0" indent="0">
                        <a:lnSpc>
                          <a:spcPct val="100000"/>
                        </a:lnSpc>
                        <a:spcBef>
                          <a:spcPts val="0"/>
                        </a:spcBef>
                        <a:spcAft>
                          <a:spcPts val="0"/>
                        </a:spcAft>
                        <a:buFont typeface="Arial" panose="020B0604020202020204" pitchFamily="34" charset="0"/>
                        <a:buNone/>
                      </a:pPr>
                      <a:r>
                        <a:rPr lang="ru-RU" sz="900" dirty="0" smtClean="0">
                          <a:latin typeface="+mn-lt"/>
                        </a:rPr>
                        <a:t xml:space="preserve">Recommendations are in progress.</a:t>
                      </a:r>
                      <a:endParaRPr lang="ru-RU" sz="900" b="0" i="0" u="none" strike="noStrike" dirty="0">
                        <a:solidFill>
                          <a:srgbClr val="000000"/>
                        </a:solidFill>
                        <a:effectLst/>
                        <a:latin typeface="+mn-lt"/>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74784"/>
                  </a:ext>
                </a:extLst>
              </a:tr>
              <a:tr h="1140000">
                <a:tc>
                  <a:txBody>
                    <a:bodyPr/>
                    <a:lstStyle/>
                    <a:p>
                      <a:pPr marL="34925" marR="0" lvl="0" indent="0" algn="l"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900" b="1" i="0" u="none" strike="noStrike" kern="1200" dirty="0" smtClean="0">
                          <a:solidFill>
                            <a:schemeClr val="accent5">
                              <a:lumMod val="75000"/>
                              <a:lumOff val="25000"/>
                            </a:schemeClr>
                          </a:solidFill>
                          <a:effectLst/>
                          <a:latin typeface="+mn-lt"/>
                          <a:ea typeface="+mn-ea"/>
                          <a:cs typeface="+mn-cs"/>
                        </a:rPr>
                        <a:t xml:space="preserve">Availability of current PD clauses in existing Perimeter agreements</a:t>
                      </a:r>
                    </a:p>
                    <a:p>
                      <a:pPr marL="177800" indent="-142875" algn="l" fontAlgn="ctr">
                        <a:lnSpc>
                          <a:spcPct val="100000"/>
                        </a:lnSpc>
                        <a:spcBef>
                          <a:spcPts val="0"/>
                        </a:spcBef>
                        <a:spcAft>
                          <a:spcPts val="0"/>
                        </a:spcAft>
                        <a:buFont typeface="Arial" panose="020B0604020202020204" pitchFamily="34" charset="0"/>
                        <a:buChar char="•"/>
                      </a:pPr>
                      <a:endParaRPr lang="ru-RU" sz="900" b="0" i="0" u="none" strike="noStrike" dirty="0">
                        <a:solidFill>
                          <a:srgbClr val="000000"/>
                        </a:solidFill>
                        <a:effectLst/>
                        <a:latin typeface="+mn-lt"/>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5">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925" marR="0" lvl="0" indent="0" algn="l"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900" b="0" i="0" u="none" strike="noStrike" dirty="0" smtClean="0">
                          <a:solidFill>
                            <a:srgbClr val="000000"/>
                          </a:solidFill>
                          <a:effectLst/>
                          <a:latin typeface="+mn-lt"/>
                        </a:rPr>
                        <a:t xml:space="preserve">Using a random sampling method, contracts were selected that were most at risk of non-compliance with the requirements for personal data protection, namely:</a:t>
                      </a:r>
                      <a:r>
                        <a:rPr lang="ru-RU" sz="900" b="0" i="0" u="none" strike="noStrike" baseline="0" dirty="0" smtClean="0">
                          <a:solidFill>
                            <a:srgbClr val="000000"/>
                          </a:solidFill>
                          <a:effectLst/>
                          <a:latin typeface="+mn-lt"/>
                        </a:rPr>
                        <a:t/>
                      </a:r>
                      <a:r>
                        <a:rPr lang="ru-RU" sz="900" b="0" i="0" u="none" strike="noStrike" dirty="0" smtClean="0">
                          <a:solidFill>
                            <a:srgbClr val="000000"/>
                          </a:solidFill>
                          <a:effectLst/>
                          <a:latin typeface="+mn-lt"/>
                        </a:rPr>
                        <a:t/>
                      </a:r>
                      <a:br>
                        <a:rPr lang="ru-RU" sz="900" b="0" i="0" u="none" strike="noStrike" dirty="0" smtClean="0">
                          <a:solidFill>
                            <a:srgbClr val="000000"/>
                          </a:solidFill>
                          <a:effectLst/>
                          <a:latin typeface="+mn-lt"/>
                        </a:rPr>
                      </a:br>
                      <a:endParaRPr lang="ru-RU" sz="900" b="0" i="0" u="none" strike="noStrike" dirty="0" smtClean="0">
                        <a:solidFill>
                          <a:srgbClr val="000000"/>
                        </a:solidFill>
                        <a:effectLst/>
                        <a:latin typeface="+mn-lt"/>
                      </a:endParaRP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 xml:space="preserve">NDA</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 xml:space="preserve">Travel arrangements</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 xml:space="preserve">GPC agreements</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 xml:space="preserve">Corporate events</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 xml:space="preserve">Medical services</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 xml:space="preserve">Legal services</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 xml:space="preserve">Education</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 xml:space="preserve">Security services</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 xml:space="preserve">Sports events</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 xml:space="preserve">Insurance</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err="1" smtClean="0">
                          <a:solidFill>
                            <a:srgbClr val="000000"/>
                          </a:solidFill>
                          <a:effectLst/>
                          <a:latin typeface="+mn-lt"/>
                          <a:ea typeface="+mn-ea"/>
                          <a:cs typeface="+mn-cs"/>
                        </a:rPr>
                        <a:t xml:space="preserve">Bis</a:t>
                      </a:r>
                      <a:endParaRPr lang="ru-RU" sz="900" b="0" i="0" u="none" strike="noStrike" kern="1200" dirty="0" smtClean="0">
                        <a:solidFill>
                          <a:srgbClr val="000000"/>
                        </a:solidFill>
                        <a:effectLst/>
                        <a:latin typeface="+mn-lt"/>
                        <a:ea typeface="+mn-ea"/>
                        <a:cs typeface="+mn-cs"/>
                      </a:endParaRP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 xml:space="preserve">Social activities</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 xml:space="preserve">NDA</a:t>
                      </a:r>
                    </a:p>
                    <a:p>
                      <a:pPr marL="206375"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kern="1200" dirty="0" smtClean="0">
                          <a:solidFill>
                            <a:srgbClr val="000000"/>
                          </a:solidFill>
                          <a:effectLst/>
                          <a:latin typeface="+mn-lt"/>
                          <a:ea typeface="+mn-ea"/>
                          <a:cs typeface="+mn-cs"/>
                        </a:rPr>
                        <a:t xml:space="preserve">Translation services</a:t>
                      </a:r>
                      <a:endParaRPr lang="ru-RU" sz="900" b="0" i="0" u="none" strike="noStrike" dirty="0">
                        <a:solidFill>
                          <a:srgbClr val="000000"/>
                        </a:solidFill>
                        <a:effectLst/>
                        <a:latin typeface="+mn-lt"/>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5">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 algn="ctr" fontAlgn="ctr"/>
                      <a:r>
                        <a:rPr lang="ru-RU" sz="900" b="0" i="0" u="none" strike="noStrike" dirty="0" smtClean="0">
                          <a:solidFill>
                            <a:srgbClr val="000000"/>
                          </a:solidFill>
                          <a:effectLst/>
                          <a:latin typeface="+mn-lt"/>
                        </a:rPr>
                        <a:t>100</a:t>
                      </a:r>
                      <a:endParaRPr lang="ru-RU" sz="900" b="0" i="0" u="none" strike="noStrike" dirty="0">
                        <a:solidFill>
                          <a:srgbClr val="000000"/>
                        </a:solidFill>
                        <a:effectLst/>
                        <a:latin typeface="+mn-lt"/>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5">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07450" marR="0" lvl="0" indent="-171450" algn="l" defTabSz="583170" rtl="0" eaLnBrk="1" fontAlgn="ctr" latinLnBrk="0" hangingPunct="1">
                        <a:lnSpc>
                          <a:spcPct val="100000"/>
                        </a:lnSpc>
                        <a:spcBef>
                          <a:spcPts val="0"/>
                        </a:spcBef>
                        <a:spcAft>
                          <a:spcPts val="0"/>
                        </a:spcAft>
                        <a:buClrTx/>
                        <a:buSzTx/>
                        <a:buFont typeface="Arial" panose="020B0604020202020204" pitchFamily="34" charset="0"/>
                        <a:buChar char="•"/>
                        <a:tabLst/>
                        <a:defRPr/>
                      </a:pPr>
                      <a:r>
                        <a:rPr lang="ru-RU" sz="900" b="0" i="0" u="none" strike="noStrike" dirty="0" smtClean="0">
                          <a:solidFill>
                            <a:srgbClr val="000000"/>
                          </a:solidFill>
                          <a:effectLst/>
                          <a:latin typeface="+mn-lt"/>
                        </a:rPr>
                        <a:t xml:space="preserve">Compliance Directorate - EG LLP</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5">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algn="l" fontAlgn="t"/>
                      <a:endParaRPr lang="ru-RU" sz="900" b="1" i="0" u="none" strike="noStrike" dirty="0">
                        <a:solidFill>
                          <a:srgbClr val="000000"/>
                        </a:solidFill>
                        <a:effectLst/>
                        <a:latin typeface="+mn-lt"/>
                      </a:endParaRPr>
                    </a:p>
                    <a:p>
                      <a:pPr marL="177800" lvl="0" indent="-142875" algn="l" defTabSz="583170" rtl="0" eaLnBrk="1" fontAlgn="ctr" latinLnBrk="0" hangingPunct="1">
                        <a:spcBef>
                          <a:spcPts val="0"/>
                        </a:spcBef>
                        <a:buClr>
                          <a:schemeClr val="tx1"/>
                        </a:buClr>
                        <a:buFont typeface="Arial" panose="020B0604020202020204" pitchFamily="34" charset="0"/>
                        <a:buChar char="•"/>
                        <a:defRPr/>
                      </a:pPr>
                      <a:r>
                        <a:rPr lang="ru-RU" sz="900" b="0" i="0" u="none" strike="noStrike" kern="1200" dirty="0">
                          <a:solidFill>
                            <a:srgbClr val="000000"/>
                          </a:solidFill>
                          <a:effectLst/>
                          <a:latin typeface="+mn-lt"/>
                          <a:ea typeface="+mn-ea"/>
                          <a:cs typeface="+mn-cs"/>
                        </a:rPr>
                        <a:t xml:space="preserve">59 contracts (59%) include current compliance provisions (including PD clauses).</a:t>
                      </a:r>
                      <a:r>
                        <a:rPr lang="ru-RU" sz="900" b="0" i="0" u="none" strike="noStrike" kern="1200" dirty="0" smtClean="0">
                          <a:solidFill>
                            <a:srgbClr val="000000"/>
                          </a:solidFill>
                          <a:effectLst/>
                          <a:latin typeface="+mn-lt"/>
                          <a:ea typeface="+mn-ea"/>
                          <a:cs typeface="+mn-cs"/>
                        </a:rPr>
                        <a:t/>
                      </a:r>
                      <a:r>
                        <a:rPr lang="ru-RU" sz="900" b="0" i="0" u="none" strike="noStrike" kern="1200" dirty="0">
                          <a:solidFill>
                            <a:srgbClr val="000000"/>
                          </a:solidFill>
                          <a:effectLst/>
                          <a:latin typeface="+mn-lt"/>
                          <a:ea typeface="+mn-ea"/>
                          <a:cs typeface="+mn-cs"/>
                        </a:rPr>
                        <a:t/>
                      </a:r>
                      <a:r>
                        <a:rPr lang="ru-RU" sz="900" b="0" i="0" u="none" strike="noStrike" kern="1200" dirty="0" smtClean="0">
                          <a:solidFill>
                            <a:srgbClr val="000000"/>
                          </a:solidFill>
                          <a:effectLst/>
                          <a:latin typeface="+mn-lt"/>
                          <a:ea typeface="+mn-ea"/>
                          <a:cs typeface="+mn-cs"/>
                        </a:rPr>
                        <a:t/>
                      </a:r>
                      <a:r>
                        <a:rPr lang="ru-RU" sz="900" b="0" i="0" u="none" strike="noStrike" kern="1200" dirty="0">
                          <a:solidFill>
                            <a:srgbClr val="000000"/>
                          </a:solidFill>
                          <a:effectLst/>
                          <a:latin typeface="+mn-lt"/>
                          <a:ea typeface="+mn-ea"/>
                          <a:cs typeface="+mn-cs"/>
                        </a:rPr>
                        <a:t/>
                      </a:r>
                      <a:r>
                        <a:rPr lang="ru-RU" sz="900" b="0" i="0" u="none" strike="noStrike" kern="1200" dirty="0" smtClean="0">
                          <a:solidFill>
                            <a:srgbClr val="000000"/>
                          </a:solidFill>
                          <a:effectLst/>
                          <a:latin typeface="+mn-lt"/>
                          <a:ea typeface="+mn-ea"/>
                          <a:cs typeface="+mn-cs"/>
                        </a:rPr>
                        <a:t/>
                      </a:r>
                      <a:endParaRPr lang="ru-RU" sz="900" b="0" i="0" u="none" strike="noStrike" kern="1200" dirty="0">
                        <a:solidFill>
                          <a:srgbClr val="000000"/>
                        </a:solidFill>
                        <a:effectLst/>
                        <a:latin typeface="+mn-lt"/>
                        <a:ea typeface="+mn-ea"/>
                        <a:cs typeface="+mn-cs"/>
                      </a:endParaRPr>
                    </a:p>
                    <a:p>
                      <a:pPr marL="177800" lvl="0" indent="-142875" algn="l" defTabSz="583170" rtl="0" eaLnBrk="1" fontAlgn="ctr" latinLnBrk="0" hangingPunct="1">
                        <a:spcBef>
                          <a:spcPts val="0"/>
                        </a:spcBef>
                        <a:buClr>
                          <a:schemeClr val="tx1"/>
                        </a:buClr>
                        <a:buFont typeface="Arial" panose="020B0604020202020204" pitchFamily="34" charset="0"/>
                        <a:buChar char="•"/>
                        <a:defRPr/>
                      </a:pPr>
                      <a:r>
                        <a:rPr lang="ru-RU" sz="900" b="0" i="0" u="none" strike="noStrike" kern="1200" dirty="0" smtClean="0">
                          <a:solidFill>
                            <a:srgbClr val="000000"/>
                          </a:solidFill>
                          <a:effectLst/>
                          <a:latin typeface="+mn-lt"/>
                          <a:ea typeface="+mn-ea"/>
                          <a:cs typeface="+mn-cs"/>
                        </a:rPr>
                        <a:t xml:space="preserve">31 contracts (31%) include irrelevant Compliance provisions (including PD clauses).</a:t>
                      </a:r>
                      <a:r>
                        <a:rPr lang="ru-RU" sz="900" b="0" i="0" u="none" strike="noStrike" kern="1200" dirty="0">
                          <a:solidFill>
                            <a:srgbClr val="000000"/>
                          </a:solidFill>
                          <a:effectLst/>
                          <a:latin typeface="+mn-lt"/>
                          <a:ea typeface="+mn-ea"/>
                          <a:cs typeface="+mn-cs"/>
                        </a:rPr>
                        <a:t/>
                      </a:r>
                      <a:r>
                        <a:rPr lang="ru-RU" sz="900" b="0" i="0" u="none" strike="noStrike" kern="1200" dirty="0" smtClean="0">
                          <a:solidFill>
                            <a:srgbClr val="000000"/>
                          </a:solidFill>
                          <a:effectLst/>
                          <a:latin typeface="+mn-lt"/>
                          <a:ea typeface="+mn-ea"/>
                          <a:cs typeface="+mn-cs"/>
                        </a:rPr>
                        <a:t/>
                      </a:r>
                      <a:r>
                        <a:rPr lang="ru-RU" sz="900" b="0" i="0" u="none" strike="noStrike" kern="1200" dirty="0">
                          <a:solidFill>
                            <a:srgbClr val="000000"/>
                          </a:solidFill>
                          <a:effectLst/>
                          <a:latin typeface="+mn-lt"/>
                          <a:ea typeface="+mn-ea"/>
                          <a:cs typeface="+mn-cs"/>
                        </a:rPr>
                        <a:t/>
                      </a:r>
                      <a:r>
                        <a:rPr lang="ru-RU" sz="900" b="0" i="0" u="none" strike="noStrike" kern="1200" dirty="0" smtClean="0">
                          <a:solidFill>
                            <a:srgbClr val="000000"/>
                          </a:solidFill>
                          <a:effectLst/>
                          <a:latin typeface="+mn-lt"/>
                          <a:ea typeface="+mn-ea"/>
                          <a:cs typeface="+mn-cs"/>
                        </a:rPr>
                        <a:t/>
                      </a:r>
                      <a:endParaRPr lang="ru-RU" sz="900" b="0" i="0" u="none" strike="noStrike" kern="1200" dirty="0">
                        <a:solidFill>
                          <a:srgbClr val="000000"/>
                        </a:solidFill>
                        <a:effectLst/>
                        <a:latin typeface="+mn-lt"/>
                        <a:ea typeface="+mn-ea"/>
                        <a:cs typeface="+mn-cs"/>
                      </a:endParaRPr>
                    </a:p>
                    <a:p>
                      <a:pPr marL="177800" lvl="0" indent="-142875" algn="l" defTabSz="583170" rtl="0" eaLnBrk="1" fontAlgn="ctr" latinLnBrk="0" hangingPunct="1">
                        <a:spcBef>
                          <a:spcPts val="0"/>
                        </a:spcBef>
                        <a:buClr>
                          <a:schemeClr val="tx1"/>
                        </a:buClr>
                        <a:buFont typeface="Arial" panose="020B0604020202020204" pitchFamily="34" charset="0"/>
                        <a:buChar char="•"/>
                        <a:defRPr/>
                      </a:pPr>
                      <a:r>
                        <a:rPr lang="ru-RU" sz="900" b="0" i="0" u="none" strike="noStrike" kern="1200" dirty="0" smtClean="0">
                          <a:solidFill>
                            <a:srgbClr val="000000"/>
                          </a:solidFill>
                          <a:effectLst/>
                          <a:latin typeface="+mn-lt"/>
                          <a:ea typeface="+mn-ea"/>
                          <a:cs typeface="+mn-cs"/>
                        </a:rPr>
                        <a:t>10 </a:t>
                      </a:r>
                      <a:r>
                        <a:rPr lang="ru-RU" sz="900" b="0" i="0" u="none" strike="noStrike" kern="1200" dirty="0">
                          <a:solidFill>
                            <a:srgbClr val="000000"/>
                          </a:solidFill>
                          <a:effectLst/>
                          <a:latin typeface="+mn-lt"/>
                          <a:ea typeface="+mn-ea"/>
                          <a:cs typeface="+mn-cs"/>
                        </a:rPr>
                        <a:t>договоров (10%) </a:t>
                      </a:r>
                      <a:r>
                        <a:rPr lang="ru-RU" sz="900" b="0" i="0" u="none" strike="noStrike" kern="1200" dirty="0" smtClean="0">
                          <a:solidFill>
                            <a:srgbClr val="000000"/>
                          </a:solidFill>
                          <a:effectLst/>
                          <a:latin typeface="+mn-lt"/>
                          <a:ea typeface="+mn-ea"/>
                          <a:cs typeface="+mn-cs"/>
                        </a:rPr>
                        <a:t>- не </a:t>
                      </a:r>
                      <a:r>
                        <a:rPr lang="ru-RU" sz="900" b="0" i="0" u="none" strike="noStrike" kern="1200" dirty="0">
                          <a:solidFill>
                            <a:srgbClr val="000000"/>
                          </a:solidFill>
                          <a:effectLst/>
                          <a:latin typeface="+mn-lt"/>
                          <a:ea typeface="+mn-ea"/>
                          <a:cs typeface="+mn-cs"/>
                        </a:rPr>
                        <a:t>содержат </a:t>
                      </a:r>
                      <a:r>
                        <a:rPr lang="ru-RU" sz="900" b="0" i="0" u="none" strike="noStrike" kern="1200" dirty="0" smtClean="0">
                          <a:solidFill>
                            <a:srgbClr val="000000"/>
                          </a:solidFill>
                          <a:effectLst/>
                          <a:latin typeface="+mn-lt"/>
                          <a:ea typeface="+mn-ea"/>
                          <a:cs typeface="+mn-cs"/>
                        </a:rPr>
                        <a:t>комплаенс положений </a:t>
                      </a:r>
                      <a:r>
                        <a:rPr lang="ru-RU" sz="900" b="0" i="0" u="none" strike="noStrike" kern="1200" dirty="0">
                          <a:solidFill>
                            <a:srgbClr val="000000"/>
                          </a:solidFill>
                          <a:effectLst/>
                          <a:latin typeface="+mn-lt"/>
                          <a:ea typeface="+mn-ea"/>
                          <a:cs typeface="+mn-cs"/>
                        </a:rPr>
                        <a:t>(в т.ч. ПД оговорки), из которых:</a:t>
                      </a:r>
                      <a:br>
                        <a:rPr lang="ru-RU" sz="900" b="0" i="0" u="none" strike="noStrike" kern="1200" dirty="0">
                          <a:solidFill>
                            <a:srgbClr val="000000"/>
                          </a:solidFill>
                          <a:effectLst/>
                          <a:latin typeface="+mn-lt"/>
                          <a:ea typeface="+mn-ea"/>
                          <a:cs typeface="+mn-cs"/>
                        </a:rPr>
                      </a:br>
                      <a:r>
                        <a:rPr lang="ru-RU" sz="900" b="0" i="0" u="none" strike="noStrike" kern="1200" dirty="0">
                          <a:solidFill>
                            <a:srgbClr val="000000"/>
                          </a:solidFill>
                          <a:effectLst/>
                          <a:latin typeface="+mn-lt"/>
                          <a:ea typeface="+mn-ea"/>
                          <a:cs typeface="+mn-cs"/>
                        </a:rPr>
                        <a:t> - 8 договоров заключены по шаблону договора </a:t>
                      </a:r>
                      <a:r>
                        <a:rPr lang="ru-RU" sz="900" b="0" i="0" u="none" strike="noStrike" kern="1200" dirty="0" smtClean="0">
                          <a:solidFill>
                            <a:srgbClr val="000000"/>
                          </a:solidFill>
                          <a:effectLst/>
                          <a:latin typeface="+mn-lt"/>
                          <a:ea typeface="+mn-ea"/>
                          <a:cs typeface="+mn-cs"/>
                        </a:rPr>
                        <a:t>контрагента, в </a:t>
                      </a:r>
                      <a:r>
                        <a:rPr lang="ru-RU" sz="900" b="0" i="0" u="none" strike="noStrike" kern="1200" dirty="0" err="1" smtClean="0">
                          <a:solidFill>
                            <a:srgbClr val="000000"/>
                          </a:solidFill>
                          <a:effectLst/>
                          <a:latin typeface="+mn-lt"/>
                          <a:ea typeface="+mn-ea"/>
                          <a:cs typeface="+mn-cs"/>
                        </a:rPr>
                        <a:t>т.ч</a:t>
                      </a:r>
                      <a:r>
                        <a:rPr lang="ru-RU" sz="900" b="0" i="0" u="none" strike="noStrike" kern="1200" dirty="0" smtClean="0">
                          <a:solidFill>
                            <a:srgbClr val="000000"/>
                          </a:solidFill>
                          <a:effectLst/>
                          <a:latin typeface="+mn-lt"/>
                          <a:ea typeface="+mn-ea"/>
                          <a:cs typeface="+mn-cs"/>
                        </a:rPr>
                        <a:t>. в части комплаенс положений (согласовано в рамках КПК). </a:t>
                      </a:r>
                      <a:r>
                        <a:rPr lang="ru-RU" sz="900" b="0" i="0" u="none" strike="noStrike" kern="1200" dirty="0">
                          <a:solidFill>
                            <a:srgbClr val="000000"/>
                          </a:solidFill>
                          <a:effectLst/>
                          <a:latin typeface="+mn-lt"/>
                          <a:ea typeface="+mn-ea"/>
                          <a:cs typeface="+mn-cs"/>
                        </a:rPr>
                        <a:t/>
                      </a:r>
                      <a:br>
                        <a:rPr lang="ru-RU" sz="900" b="0" i="0" u="none" strike="noStrike" kern="1200" dirty="0">
                          <a:solidFill>
                            <a:srgbClr val="000000"/>
                          </a:solidFill>
                          <a:effectLst/>
                          <a:latin typeface="+mn-lt"/>
                          <a:ea typeface="+mn-ea"/>
                          <a:cs typeface="+mn-cs"/>
                        </a:rPr>
                      </a:br>
                      <a:r>
                        <a:rPr lang="ru-RU" sz="900" b="0" i="0" u="none" strike="noStrike" kern="1200" dirty="0" smtClean="0">
                          <a:solidFill>
                            <a:srgbClr val="000000"/>
                          </a:solidFill>
                          <a:effectLst/>
                          <a:latin typeface="+mn-lt"/>
                          <a:ea typeface="+mn-ea"/>
                          <a:cs typeface="+mn-cs"/>
                        </a:rPr>
                        <a:t> </a:t>
                      </a:r>
                      <a:r>
                        <a:rPr lang="ru-RU" sz="900" b="0" i="0" u="none" strike="noStrike" kern="1200" dirty="0">
                          <a:solidFill>
                            <a:srgbClr val="000000"/>
                          </a:solidFill>
                          <a:effectLst/>
                          <a:latin typeface="+mn-lt"/>
                          <a:ea typeface="+mn-ea"/>
                          <a:cs typeface="+mn-cs"/>
                        </a:rPr>
                        <a:t>- 2 договора - нестандартные </a:t>
                      </a:r>
                      <a:r>
                        <a:rPr lang="ru-RU" sz="900" b="0" i="0" u="none" strike="noStrike" kern="1200" dirty="0" smtClean="0">
                          <a:solidFill>
                            <a:srgbClr val="000000"/>
                          </a:solidFill>
                          <a:effectLst/>
                          <a:latin typeface="+mn-lt"/>
                          <a:ea typeface="+mn-ea"/>
                          <a:cs typeface="+mn-cs"/>
                        </a:rPr>
                        <a:t>соглашения (например, выплата компенсаций</a:t>
                      </a:r>
                      <a:r>
                        <a:rPr lang="ru-RU" sz="900" b="0" i="0" u="none" strike="noStrike" kern="1200" baseline="0" dirty="0" smtClean="0">
                          <a:solidFill>
                            <a:srgbClr val="000000"/>
                          </a:solidFill>
                          <a:effectLst/>
                          <a:latin typeface="+mn-lt"/>
                          <a:ea typeface="+mn-ea"/>
                          <a:cs typeface="+mn-cs"/>
                        </a:rPr>
                        <a:t> по трудовому законодательству). </a:t>
                      </a:r>
                      <a:r>
                        <a:rPr lang="ru-RU" sz="900" b="0" i="0" u="none" strike="noStrike" kern="1200" dirty="0" smtClean="0">
                          <a:solidFill>
                            <a:srgbClr val="000000"/>
                          </a:solidFill>
                          <a:effectLst/>
                          <a:latin typeface="+mn-lt"/>
                          <a:ea typeface="+mn-ea"/>
                          <a:cs typeface="+mn-cs"/>
                        </a:rPr>
                        <a:t> </a:t>
                      </a:r>
                    </a:p>
                    <a:p>
                      <a:pPr marL="177800" lvl="0" indent="-142875" algn="l" defTabSz="583170" rtl="0" eaLnBrk="1" fontAlgn="ctr" latinLnBrk="0" hangingPunct="1">
                        <a:spcBef>
                          <a:spcPts val="0"/>
                        </a:spcBef>
                        <a:buClr>
                          <a:schemeClr val="tx1"/>
                        </a:buClr>
                        <a:buFont typeface="Arial" panose="020B0604020202020204" pitchFamily="34" charset="0"/>
                        <a:buChar char="•"/>
                        <a:defRPr/>
                      </a:pPr>
                      <a:endParaRPr lang="ru-RU" sz="900" b="0" i="0" u="none" strike="noStrike" kern="1200" dirty="0" smtClean="0">
                        <a:solidFill>
                          <a:srgbClr val="000000"/>
                        </a:solidFill>
                        <a:effectLst/>
                        <a:latin typeface="+mn-lt"/>
                        <a:ea typeface="+mn-ea"/>
                        <a:cs typeface="+mn-cs"/>
                      </a:endParaRPr>
                    </a:p>
                    <a:p>
                      <a:pPr marL="0" lvl="0" indent="0" algn="l" defTabSz="583170" rtl="0" eaLnBrk="1" latinLnBrk="0" hangingPunct="1">
                        <a:spcBef>
                          <a:spcPts val="0"/>
                        </a:spcBef>
                        <a:buClr>
                          <a:schemeClr val="tx1"/>
                        </a:buClr>
                        <a:buFont typeface="Arial" panose="020B0604020202020204" pitchFamily="34" charset="0"/>
                        <a:buNone/>
                        <a:defRPr/>
                      </a:pPr>
                      <a:r>
                        <a:rPr lang="ru-RU" sz="900" kern="1200" dirty="0" smtClean="0">
                          <a:solidFill>
                            <a:schemeClr val="dk1"/>
                          </a:solidFill>
                          <a:latin typeface="+mn-lt"/>
                          <a:ea typeface="+mn-ea"/>
                          <a:cs typeface="+mn-cs"/>
                        </a:rPr>
                        <a:t xml:space="preserve">No significant risks were identified.</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5">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algn="l" fontAlgn="t"/>
                      <a:endParaRPr lang="ru-RU" sz="900" b="0" i="0" u="none" strike="noStrike" dirty="0">
                        <a:solidFill>
                          <a:srgbClr val="000000"/>
                        </a:solidFill>
                        <a:effectLst/>
                        <a:latin typeface="+mn-lt"/>
                      </a:endParaRPr>
                    </a:p>
                    <a:p>
                      <a:pPr marL="36000" marR="0" lvl="0" indent="0" algn="l" defTabSz="583170" rtl="0" eaLnBrk="1" fontAlgn="ctr" latinLnBrk="0" hangingPunct="1">
                        <a:lnSpc>
                          <a:spcPct val="100000"/>
                        </a:lnSpc>
                        <a:spcBef>
                          <a:spcPts val="0"/>
                        </a:spcBef>
                        <a:spcAft>
                          <a:spcPts val="0"/>
                        </a:spcAft>
                        <a:buClrTx/>
                        <a:buSzTx/>
                        <a:buFontTx/>
                        <a:buNone/>
                        <a:tabLst/>
                        <a:defRPr/>
                      </a:pPr>
                      <a:r>
                        <a:rPr lang="ru-RU" sz="900" b="0" i="0" u="none" strike="noStrike" dirty="0" smtClean="0">
                          <a:solidFill>
                            <a:srgbClr val="000000"/>
                          </a:solidFill>
                          <a:effectLst/>
                          <a:latin typeface="+mn-lt"/>
                        </a:rPr>
                        <a:t xml:space="preserve">In Legal relevant recommendations were sent to the block to eliminate the identified deviations:</a:t>
                      </a:r>
                      <a:r>
                        <a:rPr lang="ru-RU" sz="900" b="0" i="0" u="none" strike="noStrike" dirty="0">
                          <a:solidFill>
                            <a:srgbClr val="000000"/>
                          </a:solidFill>
                          <a:effectLst/>
                          <a:latin typeface="+mn-lt"/>
                        </a:rPr>
                        <a:t/>
                      </a:r>
                      <a:r>
                        <a:rPr lang="ru-RU" sz="900" kern="1200" dirty="0" smtClean="0">
                          <a:solidFill>
                            <a:schemeClr val="dk1"/>
                          </a:solidFill>
                          <a:effectLst/>
                          <a:latin typeface="+mn-lt"/>
                          <a:ea typeface="+mn-ea"/>
                          <a:cs typeface="+mn-cs"/>
                        </a:rPr>
                        <a:t/>
                      </a:r>
                    </a:p>
                    <a:p>
                      <a:pPr marL="171450" indent="-171450" algn="l" defTabSz="583170" rtl="0" eaLnBrk="1" fontAlgn="t" latinLnBrk="0" hangingPunct="1">
                        <a:lnSpc>
                          <a:spcPct val="100000"/>
                        </a:lnSpc>
                        <a:spcBef>
                          <a:spcPts val="0"/>
                        </a:spcBef>
                        <a:spcAft>
                          <a:spcPts val="0"/>
                        </a:spcAft>
                        <a:buFont typeface="Arial" panose="020B0604020202020204" pitchFamily="34" charset="0"/>
                        <a:buChar char="•"/>
                      </a:pPr>
                      <a:r>
                        <a:rPr lang="ru-RU" sz="900" kern="1200" dirty="0" smtClean="0">
                          <a:solidFill>
                            <a:schemeClr val="dk1"/>
                          </a:solidFill>
                          <a:latin typeface="+mn-lt"/>
                          <a:ea typeface="+mn-ea"/>
                          <a:cs typeface="+mn-cs"/>
                        </a:rPr>
                        <a:t xml:space="preserve">Use current compliance provisions when concluding contracts.</a:t>
                      </a:r>
                      <a:r>
                        <a:rPr lang="ru-RU" sz="900" kern="1200" dirty="0">
                          <a:solidFill>
                            <a:schemeClr val="dk1"/>
                          </a:solidFill>
                          <a:latin typeface="+mn-lt"/>
                          <a:ea typeface="+mn-ea"/>
                          <a:cs typeface="+mn-cs"/>
                        </a:rPr>
                        <a:t/>
                      </a:r>
                      <a:r>
                        <a:rPr lang="ru-RU" sz="900" kern="1200" dirty="0" smtClean="0">
                          <a:solidFill>
                            <a:schemeClr val="dk1"/>
                          </a:solidFill>
                          <a:latin typeface="+mn-lt"/>
                          <a:ea typeface="+mn-ea"/>
                          <a:cs typeface="+mn-cs"/>
                        </a:rPr>
                        <a:t/>
                      </a:r>
                      <a:r>
                        <a:rPr lang="ru-RU" sz="900" kern="1200" dirty="0">
                          <a:solidFill>
                            <a:schemeClr val="dk1"/>
                          </a:solidFill>
                          <a:latin typeface="+mn-lt"/>
                          <a:ea typeface="+mn-ea"/>
                          <a:cs typeface="+mn-cs"/>
                        </a:rPr>
                        <a:t/>
                      </a:r>
                      <a:r>
                        <a:rPr lang="ru-RU" sz="900" kern="1200" dirty="0" smtClean="0">
                          <a:solidFill>
                            <a:schemeClr val="dk1"/>
                          </a:solidFill>
                          <a:latin typeface="+mn-lt"/>
                          <a:ea typeface="+mn-ea"/>
                          <a:cs typeface="+mn-cs"/>
                        </a:rPr>
                        <a:t/>
                      </a:r>
                      <a:endParaRPr lang="ru-RU" sz="900" kern="1200" dirty="0">
                        <a:solidFill>
                          <a:schemeClr val="dk1"/>
                        </a:solidFill>
                        <a:latin typeface="+mn-lt"/>
                        <a:ea typeface="+mn-ea"/>
                        <a:cs typeface="+mn-cs"/>
                      </a:endParaRPr>
                    </a:p>
                    <a:p>
                      <a:pPr marL="171450" indent="-171450" algn="l" defTabSz="583170" rtl="0" eaLnBrk="1" fontAlgn="t" latinLnBrk="0" hangingPunct="1">
                        <a:lnSpc>
                          <a:spcPct val="100000"/>
                        </a:lnSpc>
                        <a:spcBef>
                          <a:spcPts val="0"/>
                        </a:spcBef>
                        <a:spcAft>
                          <a:spcPts val="0"/>
                        </a:spcAft>
                        <a:buFont typeface="Arial" panose="020B0604020202020204" pitchFamily="34" charset="0"/>
                        <a:buChar char="•"/>
                      </a:pPr>
                      <a:r>
                        <a:rPr lang="ru-RU" sz="900" kern="1200" dirty="0" smtClean="0">
                          <a:solidFill>
                            <a:schemeClr val="dk1"/>
                          </a:solidFill>
                          <a:latin typeface="+mn-lt"/>
                          <a:ea typeface="+mn-ea"/>
                          <a:cs typeface="+mn-cs"/>
                        </a:rPr>
                        <a:t xml:space="preserve">Consider the possibility of introducing PD clauses into non-standard agreement templates.</a:t>
                      </a:r>
                      <a:r>
                        <a:rPr lang="ru-RU" sz="900" kern="1200" dirty="0">
                          <a:solidFill>
                            <a:schemeClr val="dk1"/>
                          </a:solidFill>
                          <a:latin typeface="+mn-lt"/>
                          <a:ea typeface="+mn-ea"/>
                          <a:cs typeface="+mn-cs"/>
                        </a:rPr>
                        <a:t/>
                      </a:r>
                      <a:r>
                        <a:rPr lang="ru-RU" sz="900" kern="1200" dirty="0" smtClean="0">
                          <a:solidFill>
                            <a:schemeClr val="dk1"/>
                          </a:solidFill>
                          <a:latin typeface="+mn-lt"/>
                          <a:ea typeface="+mn-ea"/>
                          <a:cs typeface="+mn-cs"/>
                        </a:rPr>
                        <a:t/>
                      </a:r>
                    </a:p>
                    <a:p>
                      <a:pPr marL="171450" indent="-171450" algn="l" defTabSz="583170" rtl="0" eaLnBrk="1" fontAlgn="t" latinLnBrk="0" hangingPunct="1">
                        <a:lnSpc>
                          <a:spcPct val="100000"/>
                        </a:lnSpc>
                        <a:spcBef>
                          <a:spcPts val="0"/>
                        </a:spcBef>
                        <a:spcAft>
                          <a:spcPts val="0"/>
                        </a:spcAft>
                        <a:buFont typeface="Arial" panose="020B0604020202020204" pitchFamily="34" charset="0"/>
                        <a:buChar char="•"/>
                      </a:pPr>
                      <a:r>
                        <a:rPr lang="ru-RU" sz="900" kern="1200" dirty="0" smtClean="0">
                          <a:solidFill>
                            <a:schemeClr val="dk1"/>
                          </a:solidFill>
                          <a:latin typeface="+mn-lt"/>
                          <a:ea typeface="+mn-ea"/>
                          <a:cs typeface="+mn-cs"/>
                        </a:rPr>
                        <a:t xml:space="preserve">Consider updating non-disclosure agreement (NDA) templates by including up-to-date privacy clauses.</a:t>
                      </a:r>
                    </a:p>
                    <a:p>
                      <a:pPr marL="0" marR="0" lvl="0" indent="0" algn="l" defTabSz="583170" rtl="0" eaLnBrk="1" fontAlgn="t" latinLnBrk="0" hangingPunct="1">
                        <a:lnSpc>
                          <a:spcPct val="100000"/>
                        </a:lnSpc>
                        <a:spcBef>
                          <a:spcPts val="0"/>
                        </a:spcBef>
                        <a:spcAft>
                          <a:spcPts val="0"/>
                        </a:spcAft>
                        <a:buClrTx/>
                        <a:buSzTx/>
                        <a:buFont typeface="Arial" panose="020B0604020202020204" pitchFamily="34" charset="0"/>
                        <a:buNone/>
                        <a:tabLst/>
                        <a:defRPr/>
                      </a:pPr>
                      <a:endParaRPr lang="ru-RU" sz="900" dirty="0" smtClean="0">
                        <a:latin typeface="+mn-lt"/>
                      </a:endParaRPr>
                    </a:p>
                    <a:p>
                      <a:pPr marL="0" marR="0" lvl="0" indent="0" algn="l" defTabSz="583170" rtl="0" eaLnBrk="1" fontAlgn="t" latinLnBrk="0" hangingPunct="1">
                        <a:lnSpc>
                          <a:spcPct val="100000"/>
                        </a:lnSpc>
                        <a:spcBef>
                          <a:spcPts val="0"/>
                        </a:spcBef>
                        <a:spcAft>
                          <a:spcPts val="0"/>
                        </a:spcAft>
                        <a:buClrTx/>
                        <a:buSzTx/>
                        <a:buFont typeface="Arial" panose="020B0604020202020204" pitchFamily="34" charset="0"/>
                        <a:buNone/>
                        <a:tabLst/>
                        <a:defRPr/>
                      </a:pPr>
                      <a:r>
                        <a:rPr lang="ru-RU" sz="900" dirty="0" smtClean="0">
                          <a:latin typeface="+mn-lt"/>
                        </a:rPr>
                        <a:t xml:space="preserve">Recommendations are in progress.</a:t>
                      </a:r>
                      <a:endParaRPr lang="ru-RU" sz="900" b="0" i="0" u="none" strike="noStrike" dirty="0" smtClean="0">
                        <a:solidFill>
                          <a:srgbClr val="000000"/>
                        </a:solidFill>
                        <a:effectLst/>
                        <a:latin typeface="+mn-lt"/>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5">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4786002"/>
                  </a:ext>
                </a:extLst>
              </a:tr>
            </a:tbl>
          </a:graphicData>
        </a:graphic>
      </p:graphicFrame>
      <p:sp>
        <p:nvSpPr>
          <p:cNvPr id="14" name="Заголовок 1">
            <a:extLst>
              <a:ext uri="{FF2B5EF4-FFF2-40B4-BE49-F238E27FC236}">
                <a16:creationId xmlns:a16="http://schemas.microsoft.com/office/drawing/2014/main" id="{E5A0C6E7-37E9-42F7-B150-1904E74F3B53}"/>
              </a:ext>
            </a:extLst>
          </p:cNvPr>
          <p:cNvSpPr txBox="1">
            <a:spLocks/>
          </p:cNvSpPr>
          <p:nvPr/>
        </p:nvSpPr>
        <p:spPr>
          <a:xfrm>
            <a:off x="317499" y="0"/>
            <a:ext cx="10584209" cy="704850"/>
          </a:xfrm>
          <a:prstGeom prst="rect">
            <a:avLst/>
          </a:prstGeom>
        </p:spPr>
        <p:txBody>
          <a:bodyPr vert="horz" lIns="0" tIns="0" rIns="0" bIns="0" rtlCol="0" anchor="ctr">
            <a:noAutofit/>
          </a:bodyPr>
          <a:lstStyle>
            <a:lvl1pPr algn="l" defTabSz="583170" rtl="0" eaLnBrk="1" latinLnBrk="0" hangingPunct="1">
              <a:lnSpc>
                <a:spcPct val="100000"/>
              </a:lnSpc>
              <a:spcBef>
                <a:spcPct val="0"/>
              </a:spcBef>
              <a:buNone/>
              <a:defRPr lang="ru-RU" sz="1800" b="0" kern="1200">
                <a:solidFill>
                  <a:schemeClr val="accent5">
                    <a:lumMod val="75000"/>
                    <a:lumOff val="25000"/>
                  </a:schemeClr>
                </a:solidFill>
                <a:latin typeface="+mj-lt"/>
                <a:ea typeface="+mj-ea"/>
                <a:cs typeface="+mj-cs"/>
              </a:defRPr>
            </a:lvl1pPr>
          </a:lstStyle>
          <a:p>
            <a:endParaRPr lang="ru-RU" dirty="0"/>
          </a:p>
        </p:txBody>
      </p:sp>
    </p:spTree>
    <p:extLst>
      <p:ext uri="{BB962C8B-B14F-4D97-AF65-F5344CB8AC3E}">
        <p14:creationId xmlns:p14="http://schemas.microsoft.com/office/powerpoint/2010/main" val="1276073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016D0-380D-777B-5FB2-003D93A8411A}"/>
            </a:ext>
          </a:extLst>
        </p:cNvPr>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8A5D452E-57F8-4528-494B-1D375C225B5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3586"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8A5D452E-57F8-4528-494B-1D375C225B5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FE1A2F1-9CA1-B3EE-1B87-54F1999162D3}"/>
              </a:ext>
            </a:extLst>
          </p:cNvPr>
          <p:cNvSpPr>
            <a:spLocks noGrp="1"/>
          </p:cNvSpPr>
          <p:nvPr>
            <p:ph type="title"/>
          </p:nvPr>
        </p:nvSpPr>
        <p:spPr/>
        <p:txBody>
          <a:bodyPr vert="horz" rtlCol="0"/>
          <a:lstStyle/>
          <a:p>
            <a:r>
              <a:rPr lang="ru" dirty="0" smtClean="0"/>
              <a:t>Прил.5: </a:t>
            </a:r>
            <a:r>
              <a:rPr lang="ru" dirty="0"/>
              <a:t>Управление </a:t>
            </a:r>
            <a:r>
              <a:rPr lang="ru" dirty="0" smtClean="0"/>
              <a:t>рисками:</a:t>
            </a:r>
            <a:r>
              <a:rPr lang="en-US" dirty="0"/>
              <a:t/>
            </a:r>
            <a:br>
              <a:rPr lang="en-US" dirty="0"/>
            </a:br>
            <a:r>
              <a:rPr lang="ru-RU" dirty="0">
                <a:solidFill>
                  <a:schemeClr val="tx1"/>
                </a:solidFill>
              </a:rPr>
              <a:t>Конфликт интересов – </a:t>
            </a:r>
            <a:r>
              <a:rPr lang="ru-RU" dirty="0" smtClean="0">
                <a:solidFill>
                  <a:schemeClr val="tx1"/>
                </a:solidFill>
              </a:rPr>
              <a:t>подтвержденные случаи</a:t>
            </a:r>
            <a:endParaRPr lang="ru" noProof="0" dirty="0">
              <a:solidFill>
                <a:schemeClr val="tx1"/>
              </a:solidFill>
            </a:endParaRPr>
          </a:p>
        </p:txBody>
      </p:sp>
      <p:sp>
        <p:nvSpPr>
          <p:cNvPr id="8" name="Text Placeholder 9">
            <a:extLst>
              <a:ext uri="{FF2B5EF4-FFF2-40B4-BE49-F238E27FC236}">
                <a16:creationId xmlns:a16="http://schemas.microsoft.com/office/drawing/2014/main" id="{045932CA-CB31-44D1-9A2E-C63674F9F43B}"/>
              </a:ext>
            </a:extLst>
          </p:cNvPr>
          <p:cNvSpPr txBox="1">
            <a:spLocks/>
          </p:cNvSpPr>
          <p:nvPr/>
        </p:nvSpPr>
        <p:spPr>
          <a:xfrm>
            <a:off x="317491" y="770558"/>
            <a:ext cx="11553825" cy="153888"/>
          </a:xfrm>
          <a:prstGeom prst="rect">
            <a:avLst/>
          </a:prstGeom>
        </p:spPr>
        <p:txBody>
          <a:bodyPr wrap="square" lIns="0" tIns="0" rIns="0" bIns="0" rtlCol="0" anchor="b">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lvl="0">
              <a:defRPr/>
            </a:pPr>
            <a:r>
              <a:rPr lang="ru-RU" sz="1000" dirty="0" smtClean="0">
                <a:solidFill>
                  <a:schemeClr val="accent5">
                    <a:lumMod val="75000"/>
                    <a:lumOff val="25000"/>
                  </a:schemeClr>
                </a:solidFill>
              </a:rPr>
              <a:t xml:space="preserve">CI cases confirmed in Q3 but resolved in Q4. 2025</a:t>
            </a:r>
            <a:r>
              <a:rPr lang="ru-RU" sz="1000" dirty="0">
                <a:solidFill>
                  <a:schemeClr val="accent5">
                    <a:lumMod val="75000"/>
                    <a:lumOff val="25000"/>
                  </a:schemeClr>
                </a:solidFill>
              </a:rPr>
              <a:t/>
            </a:r>
            <a:r>
              <a:rPr lang="ru-RU" sz="1000" dirty="0" smtClean="0">
                <a:solidFill>
                  <a:schemeClr val="accent5">
                    <a:lumMod val="75000"/>
                    <a:lumOff val="25000"/>
                  </a:schemeClr>
                </a:solidFill>
              </a:rPr>
              <a:t/>
            </a:r>
            <a:endParaRPr lang="ru" sz="1000" dirty="0">
              <a:solidFill>
                <a:srgbClr val="0080BC"/>
              </a:solidFill>
            </a:endParaRPr>
          </a:p>
        </p:txBody>
      </p:sp>
      <p:graphicFrame>
        <p:nvGraphicFramePr>
          <p:cNvPr id="9" name="Table 8">
            <a:extLst>
              <a:ext uri="{FF2B5EF4-FFF2-40B4-BE49-F238E27FC236}">
                <a16:creationId xmlns:a16="http://schemas.microsoft.com/office/drawing/2014/main" id="{01DEF74E-929C-55F5-FBE4-938C27EF07DA}"/>
              </a:ext>
            </a:extLst>
          </p:cNvPr>
          <p:cNvGraphicFramePr>
            <a:graphicFrameLocks noGrp="1"/>
          </p:cNvGraphicFramePr>
          <p:nvPr>
            <p:extLst>
              <p:ext uri="{D42A27DB-BD31-4B8C-83A1-F6EECF244321}">
                <p14:modId xmlns:p14="http://schemas.microsoft.com/office/powerpoint/2010/main" val="4257734171"/>
              </p:ext>
            </p:extLst>
          </p:nvPr>
        </p:nvGraphicFramePr>
        <p:xfrm>
          <a:off x="317490" y="947903"/>
          <a:ext cx="11553825" cy="2178295"/>
        </p:xfrm>
        <a:graphic>
          <a:graphicData uri="http://schemas.openxmlformats.org/drawingml/2006/table">
            <a:tbl>
              <a:tblPr>
                <a:tableStyleId>{3B4B98B0-60AC-42C2-AFA5-B58CD77FA1E5}</a:tableStyleId>
              </a:tblPr>
              <a:tblGrid>
                <a:gridCol w="806630">
                  <a:extLst>
                    <a:ext uri="{9D8B030D-6E8A-4147-A177-3AD203B41FA5}">
                      <a16:colId xmlns:a16="http://schemas.microsoft.com/office/drawing/2014/main" val="2951006889"/>
                    </a:ext>
                  </a:extLst>
                </a:gridCol>
                <a:gridCol w="5117284">
                  <a:extLst>
                    <a:ext uri="{9D8B030D-6E8A-4147-A177-3AD203B41FA5}">
                      <a16:colId xmlns:a16="http://schemas.microsoft.com/office/drawing/2014/main" val="2764316587"/>
                    </a:ext>
                  </a:extLst>
                </a:gridCol>
                <a:gridCol w="1317072">
                  <a:extLst>
                    <a:ext uri="{9D8B030D-6E8A-4147-A177-3AD203B41FA5}">
                      <a16:colId xmlns:a16="http://schemas.microsoft.com/office/drawing/2014/main" val="1661849302"/>
                    </a:ext>
                  </a:extLst>
                </a:gridCol>
                <a:gridCol w="2860646">
                  <a:extLst>
                    <a:ext uri="{9D8B030D-6E8A-4147-A177-3AD203B41FA5}">
                      <a16:colId xmlns:a16="http://schemas.microsoft.com/office/drawing/2014/main" val="3944211872"/>
                    </a:ext>
                  </a:extLst>
                </a:gridCol>
                <a:gridCol w="1452193">
                  <a:extLst>
                    <a:ext uri="{9D8B030D-6E8A-4147-A177-3AD203B41FA5}">
                      <a16:colId xmlns:a16="http://schemas.microsoft.com/office/drawing/2014/main" val="3871812469"/>
                    </a:ext>
                  </a:extLst>
                </a:gridCol>
              </a:tblGrid>
              <a:tr h="342201">
                <a:tc>
                  <a:txBody>
                    <a:bodyPr/>
                    <a:lstStyle/>
                    <a:p>
                      <a:pPr algn="l" rtl="0" fontAlgn="ctr">
                        <a:spcBef>
                          <a:spcPts val="200"/>
                        </a:spcBef>
                        <a:spcAft>
                          <a:spcPts val="200"/>
                        </a:spcAft>
                      </a:pPr>
                      <a:r>
                        <a:rPr lang="ru" sz="700" b="0" u="none" strike="noStrike" noProof="0" dirty="0">
                          <a:solidFill>
                            <a:schemeClr val="bg1"/>
                          </a:solidFill>
                          <a:effectLst/>
                          <a:latin typeface="+mn-lt"/>
                        </a:rPr>
                        <a:t xml:space="preserve">Enterprise and region</a:t>
                      </a:r>
                      <a:endParaRPr lang="en-US" sz="700" b="0" i="0" u="none" strike="noStrike" noProof="0" dirty="0">
                        <a:solidFill>
                          <a:schemeClr val="bg1"/>
                        </a:solidFill>
                        <a:effectLst/>
                        <a:latin typeface="+mn-lt"/>
                      </a:endParaRPr>
                    </a:p>
                  </a:txBody>
                  <a:tcPr marL="72000" marR="72000" marT="36000" marB="36000" anchor="ctr">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spcBef>
                          <a:spcPts val="200"/>
                        </a:spcBef>
                        <a:spcAft>
                          <a:spcPts val="200"/>
                        </a:spcAft>
                      </a:pPr>
                      <a:r>
                        <a:rPr lang="ru" sz="700" b="0" u="none" strike="noStrike" noProof="0" dirty="0">
                          <a:solidFill>
                            <a:schemeClr val="bg1"/>
                          </a:solidFill>
                          <a:effectLst/>
                          <a:latin typeface="+mn-lt"/>
                        </a:rPr>
                        <a:t xml:space="preserve">Description of CI</a:t>
                      </a:r>
                      <a:endParaRPr lang="en-US" sz="700" b="0" i="0" u="none" strike="noStrike" noProof="0" dirty="0">
                        <a:solidFill>
                          <a:schemeClr val="bg1"/>
                        </a:solidFill>
                        <a:effectLst/>
                        <a:latin typeface="+mn-lt"/>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spcBef>
                          <a:spcPts val="200"/>
                        </a:spcBef>
                        <a:spcAft>
                          <a:spcPts val="200"/>
                        </a:spcAft>
                      </a:pPr>
                      <a:r>
                        <a:rPr lang="ru" sz="700" b="0" u="none" strike="noStrike" kern="1200" noProof="0" dirty="0">
                          <a:solidFill>
                            <a:schemeClr val="bg1"/>
                          </a:solidFill>
                          <a:effectLst/>
                          <a:latin typeface="+mn-lt"/>
                          <a:ea typeface="+mn-ea"/>
                          <a:cs typeface="+mn-cs"/>
                        </a:rPr>
                        <a:t xml:space="preserve">CI classification</a:t>
                      </a:r>
                      <a:endParaRPr lang="en-US" sz="700" b="0" u="none" strike="noStrike" kern="1200" noProof="0" dirty="0">
                        <a:solidFill>
                          <a:schemeClr val="bg1"/>
                        </a:solidFill>
                        <a:effectLst/>
                        <a:latin typeface="+mn-lt"/>
                        <a:ea typeface="+mn-ea"/>
                        <a:cs typeface="+mn-cs"/>
                      </a:endParaRPr>
                    </a:p>
                    <a:p>
                      <a:pPr algn="l" rtl="0" fontAlgn="ctr">
                        <a:spcBef>
                          <a:spcPts val="200"/>
                        </a:spcBef>
                        <a:spcAft>
                          <a:spcPts val="200"/>
                        </a:spcAft>
                      </a:pPr>
                      <a:r>
                        <a:rPr lang="ru" sz="700" b="0" u="none" strike="noStrike" kern="1200" noProof="0" dirty="0">
                          <a:solidFill>
                            <a:schemeClr val="bg1"/>
                          </a:solidFill>
                          <a:effectLst/>
                          <a:latin typeface="+mn-lt"/>
                          <a:ea typeface="+mn-ea"/>
                          <a:cs typeface="+mn-cs"/>
                        </a:rPr>
                        <a:t xml:space="preserve">(Section 7 of the Conflict of Interest Policy)</a:t>
                      </a:r>
                      <a:r>
                        <a:rPr lang="ru" sz="700" b="0" u="none" strike="noStrike" kern="1200" noProof="0" dirty="0" smtClean="0">
                          <a:solidFill>
                            <a:schemeClr val="bg1"/>
                          </a:solidFill>
                          <a:effectLst/>
                          <a:latin typeface="+mn-lt"/>
                          <a:ea typeface="+mn-ea"/>
                          <a:cs typeface="+mn-cs"/>
                        </a:rPr>
                        <a:t/>
                      </a:r>
                      <a:endParaRPr lang="ru" sz="700" b="0" u="none" strike="noStrike" kern="1200" noProof="0" dirty="0">
                        <a:solidFill>
                          <a:schemeClr val="bg1"/>
                        </a:solidFill>
                        <a:effectLst/>
                        <a:latin typeface="+mn-lt"/>
                        <a:ea typeface="+mn-ea"/>
                        <a:cs typeface="+mn-cs"/>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spcBef>
                          <a:spcPts val="200"/>
                        </a:spcBef>
                        <a:spcAft>
                          <a:spcPts val="200"/>
                        </a:spcAft>
                      </a:pPr>
                      <a:r>
                        <a:rPr lang="ru" sz="700" b="0" u="none" strike="noStrike" noProof="0" dirty="0">
                          <a:solidFill>
                            <a:schemeClr val="bg1"/>
                          </a:solidFill>
                          <a:effectLst/>
                          <a:latin typeface="+mn-lt"/>
                        </a:rPr>
                        <a:t xml:space="preserve">Measures taken</a:t>
                      </a:r>
                      <a:endParaRPr lang="en-US" sz="700" b="0" i="0" u="none" strike="noStrike" noProof="0" dirty="0">
                        <a:solidFill>
                          <a:schemeClr val="bg1"/>
                        </a:solidFill>
                        <a:effectLst/>
                        <a:latin typeface="+mn-lt"/>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spcBef>
                          <a:spcPts val="200"/>
                        </a:spcBef>
                        <a:spcAft>
                          <a:spcPts val="200"/>
                        </a:spcAft>
                      </a:pPr>
                      <a:r>
                        <a:rPr lang="ru" sz="700" b="0" u="none" strike="noStrike" noProof="0" dirty="0" smtClean="0">
                          <a:solidFill>
                            <a:schemeClr val="bg1"/>
                          </a:solidFill>
                          <a:effectLst/>
                          <a:latin typeface="+mn-lt"/>
                        </a:rPr>
                        <a:t xml:space="preserve">Control activities/follow-up actions</a:t>
                      </a:r>
                      <a:r>
                        <a:rPr lang="ru" sz="700" b="0" u="none" strike="noStrike" kern="1200" noProof="0" dirty="0" smtClean="0">
                          <a:solidFill>
                            <a:schemeClr val="bg1"/>
                          </a:solidFill>
                          <a:effectLst/>
                          <a:latin typeface="+mn-lt"/>
                          <a:ea typeface="+mn-ea"/>
                          <a:cs typeface="+mn-cs"/>
                        </a:rPr>
                        <a:t/>
                      </a:r>
                      <a:endParaRPr lang="en-US" sz="700" b="0" u="none" strike="noStrike" kern="1200" noProof="0" dirty="0">
                        <a:solidFill>
                          <a:schemeClr val="bg1"/>
                        </a:solidFill>
                        <a:effectLst/>
                        <a:latin typeface="+mn-lt"/>
                        <a:ea typeface="+mn-ea"/>
                        <a:cs typeface="+mn-cs"/>
                      </a:endParaRPr>
                    </a:p>
                  </a:txBody>
                  <a:tcPr marL="72000" marR="72000" marT="36000" marB="36000" anchor="ctr">
                    <a:lnL w="9525" cap="flat" cmpd="sng" algn="ctr">
                      <a:solidFill>
                        <a:schemeClr val="bg1"/>
                      </a:solidFill>
                      <a:prstDash val="solid"/>
                      <a:round/>
                      <a:headEnd type="none" w="med" len="med"/>
                      <a:tailEnd type="none" w="med" len="med"/>
                    </a:lnL>
                    <a:lnT w="9525" cap="flat" cmpd="sng" algn="ctr">
                      <a:noFill/>
                      <a:prstDash val="solid"/>
                      <a:round/>
                      <a:headEnd type="none" w="med" len="med"/>
                      <a:tailEnd type="none" w="med" len="med"/>
                    </a:lnT>
                    <a:lnB>
                      <a:noFill/>
                    </a:lnB>
                    <a:solidFill>
                      <a:schemeClr val="accent5">
                        <a:lumMod val="50000"/>
                        <a:lumOff val="50000"/>
                      </a:schemeClr>
                    </a:solidFill>
                  </a:tcPr>
                </a:tc>
                <a:extLst>
                  <a:ext uri="{0D108BD9-81ED-4DB2-BD59-A6C34878D82A}">
                    <a16:rowId xmlns:a16="http://schemas.microsoft.com/office/drawing/2014/main" val="1317959595"/>
                  </a:ext>
                </a:extLst>
              </a:tr>
              <a:tr h="271662">
                <a:tc>
                  <a:txBody>
                    <a:bodyPr/>
                    <a:lstStyle/>
                    <a:p>
                      <a:pPr marL="36000" algn="l" rtl="0" fontAlgn="ctr">
                        <a:spcBef>
                          <a:spcPts val="200"/>
                        </a:spcBef>
                        <a:spcAft>
                          <a:spcPts val="200"/>
                        </a:spcAft>
                      </a:pPr>
                      <a:r>
                        <a:rPr lang="ru-RU" sz="700" b="0" i="0" u="none" strike="noStrike" dirty="0">
                          <a:solidFill>
                            <a:srgbClr val="32373C"/>
                          </a:solidFill>
                          <a:effectLst/>
                          <a:latin typeface="+mn-lt"/>
                        </a:rPr>
                        <a:t xml:space="preserve">Eurasian Group LLP</a:t>
                      </a: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200"/>
                        </a:spcBef>
                        <a:spcAft>
                          <a:spcPts val="200"/>
                        </a:spcAft>
                      </a:pPr>
                      <a:r>
                        <a:rPr lang="ru-RU" sz="700" b="0" i="0" u="none" strike="noStrike" dirty="0">
                          <a:solidFill>
                            <a:srgbClr val="32373C"/>
                          </a:solidFill>
                          <a:effectLst/>
                          <a:latin typeface="+mn-lt"/>
                        </a:rPr>
                        <a:t xml:space="preserve">A conflict of interest in this case arises when the personal interests of the declarant involved in ensuring the strategic development of ERG (Perimeter Kazakhstan) in energy matters, including renewable energy sources, may affect his professional responsibilities and decision-making within the framework of his work activity in ERG.</a:t>
                      </a: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200"/>
                        </a:spcBef>
                        <a:spcAft>
                          <a:spcPts val="200"/>
                        </a:spcAft>
                      </a:pPr>
                      <a:r>
                        <a:rPr lang="ru-RU" sz="700" b="0" i="0" u="none" strike="noStrike" dirty="0">
                          <a:solidFill>
                            <a:srgbClr val="32373C"/>
                          </a:solidFill>
                          <a:effectLst/>
                          <a:latin typeface="+mn-lt"/>
                        </a:rPr>
                        <a:t xml:space="preserve">Labor relations and remuneration</a:t>
                      </a: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200"/>
                        </a:spcBef>
                        <a:spcAft>
                          <a:spcPts val="200"/>
                        </a:spcAft>
                      </a:pPr>
                      <a:r>
                        <a:rPr lang="ru-RU" sz="700" b="0" i="0" u="none" strike="noStrike" dirty="0">
                          <a:solidFill>
                            <a:srgbClr val="32373C"/>
                          </a:solidFill>
                          <a:effectLst/>
                          <a:latin typeface="+mn-lt"/>
                        </a:rPr>
                        <a:t xml:space="preserve">Establishment of additional controls, without the right to make decisions on an issue that is the subject of a conflict of interest: HR of Eurasian Group LLP will exercise control on a routine basis.</a:t>
                      </a:r>
                      <a:br>
                        <a:rPr lang="ru-RU" sz="700" b="0" i="0" u="none" strike="noStrike" dirty="0">
                          <a:solidFill>
                            <a:srgbClr val="32373C"/>
                          </a:solidFill>
                          <a:effectLst/>
                          <a:latin typeface="+mn-lt"/>
                        </a:rPr>
                      </a:br>
                      <a:r>
                        <a:rPr lang="ru-RU" sz="700" b="0" i="0" u="none" strike="noStrike" dirty="0">
                          <a:solidFill>
                            <a:srgbClr val="32373C"/>
                          </a:solidFill>
                          <a:effectLst/>
                          <a:latin typeface="+mn-lt"/>
                        </a:rPr>
                        <a:t/>
                      </a:r>
                      <a:r>
                        <a:rPr lang="ru-RU" sz="700" b="0" i="0" u="none" strike="noStrike" dirty="0" smtClean="0">
                          <a:solidFill>
                            <a:srgbClr val="32373C"/>
                          </a:solidFill>
                          <a:effectLst/>
                          <a:latin typeface="+mn-lt"/>
                        </a:rPr>
                        <a:t/>
                      </a:r>
                      <a:r>
                        <a:rPr lang="ru-RU" sz="700" b="0" i="0" u="none" strike="noStrike" baseline="0" dirty="0" smtClean="0">
                          <a:solidFill>
                            <a:srgbClr val="32373C"/>
                          </a:solidFill>
                          <a:effectLst/>
                          <a:latin typeface="+mn-lt"/>
                        </a:rPr>
                        <a:t/>
                      </a:r>
                      <a:r>
                        <a:rPr lang="ru-RU" sz="700" b="0" i="0" u="none" strike="noStrike" dirty="0" smtClean="0">
                          <a:solidFill>
                            <a:srgbClr val="32373C"/>
                          </a:solidFill>
                          <a:effectLst/>
                          <a:latin typeface="+mn-lt"/>
                        </a:rPr>
                        <a:t/>
                      </a:r>
                      <a:r>
                        <a:rPr lang="ru-RU" sz="700" b="0" i="0" u="none" strike="noStrike" dirty="0">
                          <a:solidFill>
                            <a:srgbClr val="32373C"/>
                          </a:solidFill>
                          <a:effectLst/>
                          <a:latin typeface="+mn-lt"/>
                        </a:rPr>
                        <a:t/>
                      </a: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The measures have been completed.</a:t>
                      </a: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0888224"/>
                  </a:ext>
                </a:extLst>
              </a:tr>
              <a:tr h="537392">
                <a:tc>
                  <a:txBody>
                    <a:bodyPr/>
                    <a:lstStyle/>
                    <a:p>
                      <a:pPr marL="36000" algn="l" rtl="0" fontAlgn="ctr">
                        <a:spcBef>
                          <a:spcPts val="200"/>
                        </a:spcBef>
                        <a:spcAft>
                          <a:spcPts val="200"/>
                        </a:spcAft>
                      </a:pPr>
                      <a:r>
                        <a:rPr lang="ru-RU" sz="700" b="0" i="0" u="none" strike="noStrike" dirty="0">
                          <a:solidFill>
                            <a:srgbClr val="32373C"/>
                          </a:solidFill>
                          <a:effectLst/>
                          <a:latin typeface="+mn-lt"/>
                        </a:rPr>
                        <a:t xml:space="preserve">JSC Aluminum of Kazakhstan</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200"/>
                        </a:spcBef>
                        <a:spcAft>
                          <a:spcPts val="200"/>
                        </a:spcAft>
                      </a:pPr>
                      <a:r>
                        <a:rPr lang="ru-RU" sz="700" b="0" i="0" u="none" strike="noStrike" dirty="0" smtClean="0">
                          <a:solidFill>
                            <a:srgbClr val="32373C"/>
                          </a:solidFill>
                          <a:effectLst/>
                          <a:latin typeface="+mn-lt"/>
                        </a:rPr>
                        <a:t xml:space="preserve">A risk of conflict of interest in the field of labor relations has been identified (the possibility of allowing cases of management, certification, assignment of additional payments, inspection and control, when the decision of the declarant may influence the work and payment of a close relative): the declarant, being in the position of head of site No. 3 of the GMC PAZ JSC "AK", among other things, supervises subordinate personnel, monitors the compliance of subordinate personnel with labor and production discipline, participates in personnel certification, makes proposals to the head of the workshop on additional payments to site employees for combining professions, expanding service areas, increasing the volume of work performed, including in relation to the work of a close relative.</a:t>
                      </a:r>
                      <a:r>
                        <a:rPr lang="ru-RU" sz="700" b="0" i="0" u="none" strike="noStrike" dirty="0">
                          <a:solidFill>
                            <a:srgbClr val="32373C"/>
                          </a:solidFill>
                          <a:effectLst/>
                          <a:latin typeface="+mn-lt"/>
                        </a:rPr>
                        <a:t/>
                      </a:r>
                      <a:r>
                        <a:rPr lang="ru-RU" sz="700" b="0" i="0" u="none" strike="noStrike" dirty="0" smtClean="0">
                          <a:solidFill>
                            <a:srgbClr val="32373C"/>
                          </a:solidFill>
                          <a:effectLst/>
                          <a:latin typeface="+mn-lt"/>
                        </a:rPr>
                        <a:t/>
                      </a:r>
                      <a:endParaRPr lang="ru-RU" sz="700" b="0" i="0" u="none" strike="noStrike" dirty="0">
                        <a:solidFill>
                          <a:srgbClr val="32373C"/>
                        </a:solidFill>
                        <a:effectLst/>
                        <a:latin typeface="+mn-lt"/>
                      </a:endParaRP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200"/>
                        </a:spcBef>
                        <a:spcAft>
                          <a:spcPts val="200"/>
                        </a:spcAft>
                      </a:pPr>
                      <a:r>
                        <a:rPr lang="ru-RU" sz="700" b="0" i="0" u="none" strike="noStrike" dirty="0">
                          <a:solidFill>
                            <a:srgbClr val="32373C"/>
                          </a:solidFill>
                          <a:effectLst/>
                          <a:latin typeface="+mn-lt"/>
                        </a:rPr>
                        <a:t xml:space="preserve">Labor relations and remuneration</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200"/>
                        </a:spcBef>
                        <a:spcAft>
                          <a:spcPts val="200"/>
                        </a:spcAft>
                      </a:pPr>
                      <a:r>
                        <a:rPr lang="ru-RU" sz="700" b="0" i="0" u="none" strike="noStrike" dirty="0">
                          <a:solidFill>
                            <a:srgbClr val="32373C"/>
                          </a:solidFill>
                          <a:effectLst/>
                          <a:latin typeface="+mn-lt"/>
                        </a:rPr>
                        <a:t xml:space="preserve">Transfer of employees: A close relative of the declarant was transferred to another division of PAZ JSC AK. This eliminates the applicant's direct subordination and managerial influence on a close relative, thereby completely eliminating a conflict of interest.</a:t>
                      </a:r>
                      <a:r>
                        <a:rPr lang="ru-RU" sz="700" b="0" i="0" u="none" strike="noStrike" dirty="0" smtClean="0">
                          <a:solidFill>
                            <a:srgbClr val="32373C"/>
                          </a:solidFill>
                          <a:effectLst/>
                          <a:latin typeface="+mn-lt"/>
                        </a:rPr>
                        <a:t/>
                      </a:r>
                      <a:r>
                        <a:rPr lang="ru-RU" sz="700" b="0" i="0" u="none" strike="noStrike" dirty="0">
                          <a:solidFill>
                            <a:srgbClr val="32373C"/>
                          </a:solidFill>
                          <a:effectLst/>
                          <a:latin typeface="+mn-lt"/>
                        </a:rPr>
                        <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The measures have been completed.</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459306"/>
                  </a:ext>
                </a:extLst>
              </a:tr>
              <a:tr h="271662">
                <a:tc>
                  <a:txBody>
                    <a:bodyPr/>
                    <a:lstStyle/>
                    <a:p>
                      <a:pPr marL="36000" algn="l" rtl="0" fontAlgn="ctr">
                        <a:spcBef>
                          <a:spcPts val="200"/>
                        </a:spcBef>
                        <a:spcAft>
                          <a:spcPts val="200"/>
                        </a:spcAft>
                      </a:pPr>
                      <a:r>
                        <a:rPr lang="ru-RU" sz="700" b="0" i="0" u="none" strike="noStrike" dirty="0">
                          <a:solidFill>
                            <a:srgbClr val="32373C"/>
                          </a:solidFill>
                          <a:effectLst/>
                          <a:latin typeface="+mn-lt"/>
                        </a:rPr>
                        <a:t xml:space="preserve">Akzhar-chrome LLP</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200"/>
                        </a:spcBef>
                        <a:spcAft>
                          <a:spcPts val="200"/>
                        </a:spcAft>
                      </a:pPr>
                      <a:r>
                        <a:rPr lang="ru-RU" sz="700" b="0" i="0" u="none" strike="noStrike" dirty="0" smtClean="0">
                          <a:solidFill>
                            <a:srgbClr val="32373C"/>
                          </a:solidFill>
                          <a:effectLst/>
                          <a:latin typeface="+mn-lt"/>
                        </a:rPr>
                        <a:t xml:space="preserve">A risk of conflict of interest has been identified in the area of ​​external business interests: the declarant’s performance (without prior approval) of labor activities in favor of a third party, which is a business partner of ERG Companies.</a:t>
                      </a:r>
                      <a:r>
                        <a:rPr lang="ru-RU" sz="700" b="0" i="0" u="none" strike="noStrike" dirty="0">
                          <a:solidFill>
                            <a:srgbClr val="32373C"/>
                          </a:solidFill>
                          <a:effectLst/>
                          <a:latin typeface="+mn-lt"/>
                        </a:rPr>
                        <a:t/>
                      </a:r>
                      <a:r>
                        <a:rPr lang="ru-RU" sz="700" b="0" i="0" u="none" strike="noStrike" dirty="0" smtClean="0">
                          <a:solidFill>
                            <a:srgbClr val="32373C"/>
                          </a:solidFill>
                          <a:effectLst/>
                          <a:latin typeface="+mn-lt"/>
                        </a:rPr>
                        <a:t/>
                      </a:r>
                      <a:endParaRPr lang="ru-RU" sz="700" b="0" i="0" u="none" strike="noStrike" dirty="0">
                        <a:solidFill>
                          <a:srgbClr val="32373C"/>
                        </a:solidFill>
                        <a:effectLst/>
                        <a:latin typeface="+mn-lt"/>
                      </a:endParaRP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200"/>
                        </a:spcBef>
                        <a:spcAft>
                          <a:spcPts val="200"/>
                        </a:spcAft>
                      </a:pPr>
                      <a:r>
                        <a:rPr lang="ru-RU" sz="700" b="0" i="0" u="none" strike="noStrike" dirty="0">
                          <a:solidFill>
                            <a:srgbClr val="32373C"/>
                          </a:solidFill>
                          <a:effectLst/>
                          <a:latin typeface="+mn-lt"/>
                        </a:rPr>
                        <a:t xml:space="preserve">External business interests</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Special approval: The declarant has received approval from the management of the Company to carry out activities in a third party, in respect of which the declarant is an interested party.</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The measures have been completed.</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95577373"/>
                  </a:ext>
                </a:extLst>
              </a:tr>
            </a:tbl>
          </a:graphicData>
        </a:graphic>
      </p:graphicFrame>
      <p:sp>
        <p:nvSpPr>
          <p:cNvPr id="7" name="Text Placeholder 9">
            <a:extLst>
              <a:ext uri="{FF2B5EF4-FFF2-40B4-BE49-F238E27FC236}">
                <a16:creationId xmlns:a16="http://schemas.microsoft.com/office/drawing/2014/main" id="{045932CA-CB31-44D1-9A2E-C63674F9F43B}"/>
              </a:ext>
            </a:extLst>
          </p:cNvPr>
          <p:cNvSpPr txBox="1">
            <a:spLocks/>
          </p:cNvSpPr>
          <p:nvPr/>
        </p:nvSpPr>
        <p:spPr>
          <a:xfrm>
            <a:off x="317489" y="3294596"/>
            <a:ext cx="11553825" cy="153888"/>
          </a:xfrm>
          <a:prstGeom prst="rect">
            <a:avLst/>
          </a:prstGeom>
        </p:spPr>
        <p:txBody>
          <a:bodyPr wrap="square" lIns="0" tIns="0" rIns="0" bIns="0" rtlCol="0" anchor="b">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lvl="0">
              <a:defRPr/>
            </a:pPr>
            <a:r>
              <a:rPr lang="ru-RU" sz="1000" dirty="0" smtClean="0">
                <a:solidFill>
                  <a:schemeClr val="accent5">
                    <a:lumMod val="75000"/>
                    <a:lumOff val="25000"/>
                  </a:schemeClr>
                </a:solidFill>
              </a:rPr>
              <a:t xml:space="preserve">Cases of CI confirmed in Q4. 2025</a:t>
            </a:r>
            <a:r>
              <a:rPr lang="ru-RU" sz="1000" dirty="0">
                <a:solidFill>
                  <a:schemeClr val="accent5">
                    <a:lumMod val="75000"/>
                    <a:lumOff val="25000"/>
                  </a:schemeClr>
                </a:solidFill>
              </a:rPr>
              <a:t/>
            </a:r>
            <a:r>
              <a:rPr lang="ru-RU" sz="1000" dirty="0" smtClean="0">
                <a:solidFill>
                  <a:schemeClr val="accent5">
                    <a:lumMod val="75000"/>
                    <a:lumOff val="25000"/>
                  </a:schemeClr>
                </a:solidFill>
              </a:rPr>
              <a:t/>
            </a:r>
            <a:endParaRPr lang="ru" sz="1000" b="0" i="0" u="none" strike="noStrike" kern="1200" cap="none" spc="0" normalizeH="0" noProof="0" dirty="0">
              <a:ln>
                <a:noFill/>
              </a:ln>
              <a:solidFill>
                <a:srgbClr val="0080BC"/>
              </a:solidFill>
              <a:effectLst/>
              <a:uLnTx/>
              <a:uFillTx/>
              <a:latin typeface="Arial" panose="020B0604020202020204"/>
            </a:endParaRPr>
          </a:p>
        </p:txBody>
      </p:sp>
      <p:graphicFrame>
        <p:nvGraphicFramePr>
          <p:cNvPr id="10" name="Table 8">
            <a:extLst>
              <a:ext uri="{FF2B5EF4-FFF2-40B4-BE49-F238E27FC236}">
                <a16:creationId xmlns:a16="http://schemas.microsoft.com/office/drawing/2014/main" id="{01DEF74E-929C-55F5-FBE4-938C27EF07DA}"/>
              </a:ext>
            </a:extLst>
          </p:cNvPr>
          <p:cNvGraphicFramePr>
            <a:graphicFrameLocks noGrp="1"/>
          </p:cNvGraphicFramePr>
          <p:nvPr>
            <p:extLst>
              <p:ext uri="{D42A27DB-BD31-4B8C-83A1-F6EECF244321}">
                <p14:modId xmlns:p14="http://schemas.microsoft.com/office/powerpoint/2010/main" val="1638698881"/>
              </p:ext>
            </p:extLst>
          </p:nvPr>
        </p:nvGraphicFramePr>
        <p:xfrm>
          <a:off x="317488" y="3452129"/>
          <a:ext cx="11553825" cy="2990460"/>
        </p:xfrm>
        <a:graphic>
          <a:graphicData uri="http://schemas.openxmlformats.org/drawingml/2006/table">
            <a:tbl>
              <a:tblPr>
                <a:tableStyleId>{3B4B98B0-60AC-42C2-AFA5-B58CD77FA1E5}</a:tableStyleId>
              </a:tblPr>
              <a:tblGrid>
                <a:gridCol w="781464">
                  <a:extLst>
                    <a:ext uri="{9D8B030D-6E8A-4147-A177-3AD203B41FA5}">
                      <a16:colId xmlns:a16="http://schemas.microsoft.com/office/drawing/2014/main" val="2951006889"/>
                    </a:ext>
                  </a:extLst>
                </a:gridCol>
                <a:gridCol w="5201174">
                  <a:extLst>
                    <a:ext uri="{9D8B030D-6E8A-4147-A177-3AD203B41FA5}">
                      <a16:colId xmlns:a16="http://schemas.microsoft.com/office/drawing/2014/main" val="2764316587"/>
                    </a:ext>
                  </a:extLst>
                </a:gridCol>
                <a:gridCol w="1266738">
                  <a:extLst>
                    <a:ext uri="{9D8B030D-6E8A-4147-A177-3AD203B41FA5}">
                      <a16:colId xmlns:a16="http://schemas.microsoft.com/office/drawing/2014/main" val="1661849302"/>
                    </a:ext>
                  </a:extLst>
                </a:gridCol>
                <a:gridCol w="2869035">
                  <a:extLst>
                    <a:ext uri="{9D8B030D-6E8A-4147-A177-3AD203B41FA5}">
                      <a16:colId xmlns:a16="http://schemas.microsoft.com/office/drawing/2014/main" val="3944211872"/>
                    </a:ext>
                  </a:extLst>
                </a:gridCol>
                <a:gridCol w="1435414">
                  <a:extLst>
                    <a:ext uri="{9D8B030D-6E8A-4147-A177-3AD203B41FA5}">
                      <a16:colId xmlns:a16="http://schemas.microsoft.com/office/drawing/2014/main" val="3871812469"/>
                    </a:ext>
                  </a:extLst>
                </a:gridCol>
              </a:tblGrid>
              <a:tr h="443206">
                <a:tc>
                  <a:txBody>
                    <a:bodyPr/>
                    <a:lstStyle/>
                    <a:p>
                      <a:pPr algn="l" rtl="0" fontAlgn="ctr"/>
                      <a:r>
                        <a:rPr lang="ru" sz="700" b="0" u="none" strike="noStrike" noProof="0" dirty="0">
                          <a:solidFill>
                            <a:schemeClr val="bg1"/>
                          </a:solidFill>
                          <a:effectLst/>
                          <a:latin typeface="+mn-lt"/>
                        </a:rPr>
                        <a:t xml:space="preserve">Enterprise and region</a:t>
                      </a:r>
                      <a:endParaRPr lang="en-US" sz="700" b="0" i="0" u="none" strike="noStrike" noProof="0" dirty="0">
                        <a:solidFill>
                          <a:schemeClr val="bg1"/>
                        </a:solidFill>
                        <a:effectLst/>
                        <a:latin typeface="+mn-lt"/>
                      </a:endParaRPr>
                    </a:p>
                  </a:txBody>
                  <a:tcPr marL="72000" marR="72000" marT="36000" marB="36000" anchor="ctr">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r>
                        <a:rPr lang="ru" sz="700" b="0" u="none" strike="noStrike" noProof="0" dirty="0">
                          <a:solidFill>
                            <a:schemeClr val="bg1"/>
                          </a:solidFill>
                          <a:effectLst/>
                          <a:latin typeface="+mn-lt"/>
                        </a:rPr>
                        <a:t xml:space="preserve">Description of CI</a:t>
                      </a:r>
                      <a:endParaRPr lang="en-US" sz="700" b="0" i="0" u="none" strike="noStrike" noProof="0" dirty="0">
                        <a:solidFill>
                          <a:schemeClr val="bg1"/>
                        </a:solidFill>
                        <a:effectLst/>
                        <a:latin typeface="+mn-lt"/>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r>
                        <a:rPr lang="ru" sz="700" b="0" u="none" strike="noStrike" kern="1200" noProof="0" dirty="0">
                          <a:solidFill>
                            <a:schemeClr val="bg1"/>
                          </a:solidFill>
                          <a:effectLst/>
                          <a:latin typeface="+mn-lt"/>
                          <a:ea typeface="+mn-ea"/>
                          <a:cs typeface="+mn-cs"/>
                        </a:rPr>
                        <a:t xml:space="preserve">CI classification</a:t>
                      </a:r>
                      <a:endParaRPr lang="en-US" sz="700" b="0" u="none" strike="noStrike" kern="1200" noProof="0" dirty="0">
                        <a:solidFill>
                          <a:schemeClr val="bg1"/>
                        </a:solidFill>
                        <a:effectLst/>
                        <a:latin typeface="+mn-lt"/>
                        <a:ea typeface="+mn-ea"/>
                        <a:cs typeface="+mn-cs"/>
                      </a:endParaRPr>
                    </a:p>
                    <a:p>
                      <a:pPr algn="l" rtl="0" fontAlgn="ctr"/>
                      <a:r>
                        <a:rPr lang="ru" sz="700" b="0" u="none" strike="noStrike" kern="1200" noProof="0" dirty="0">
                          <a:solidFill>
                            <a:schemeClr val="bg1"/>
                          </a:solidFill>
                          <a:effectLst/>
                          <a:latin typeface="+mn-lt"/>
                          <a:ea typeface="+mn-ea"/>
                          <a:cs typeface="+mn-cs"/>
                        </a:rPr>
                        <a:t xml:space="preserve">(Section 7 of the Conflict of Interest Policy)</a:t>
                      </a:r>
                      <a:r>
                        <a:rPr lang="ru" sz="700" b="0" u="none" strike="noStrike" kern="1200" noProof="0" dirty="0" smtClean="0">
                          <a:solidFill>
                            <a:schemeClr val="bg1"/>
                          </a:solidFill>
                          <a:effectLst/>
                          <a:latin typeface="+mn-lt"/>
                          <a:ea typeface="+mn-ea"/>
                          <a:cs typeface="+mn-cs"/>
                        </a:rPr>
                        <a:t/>
                      </a:r>
                      <a:endParaRPr lang="ru" sz="700" b="0" u="none" strike="noStrike" kern="1200" noProof="0" dirty="0">
                        <a:solidFill>
                          <a:schemeClr val="bg1"/>
                        </a:solidFill>
                        <a:effectLst/>
                        <a:latin typeface="+mn-lt"/>
                        <a:ea typeface="+mn-ea"/>
                        <a:cs typeface="+mn-cs"/>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r>
                        <a:rPr lang="ru" sz="700" b="0" u="none" strike="noStrike" noProof="0" dirty="0">
                          <a:solidFill>
                            <a:schemeClr val="bg1"/>
                          </a:solidFill>
                          <a:effectLst/>
                          <a:latin typeface="+mn-lt"/>
                        </a:rPr>
                        <a:t xml:space="preserve">Measures taken</a:t>
                      </a:r>
                      <a:endParaRPr lang="en-US" sz="700" b="0" i="0" u="none" strike="noStrike" noProof="0" dirty="0">
                        <a:solidFill>
                          <a:schemeClr val="bg1"/>
                        </a:solidFill>
                        <a:effectLst/>
                        <a:latin typeface="+mn-lt"/>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r>
                        <a:rPr lang="ru" sz="700" b="0" u="none" strike="noStrike" noProof="0" dirty="0">
                          <a:solidFill>
                            <a:schemeClr val="bg1"/>
                          </a:solidFill>
                          <a:effectLst/>
                          <a:latin typeface="+mn-lt"/>
                        </a:rPr>
                        <a:t xml:space="preserve">Control activities/follow-up actions</a:t>
                      </a:r>
                      <a:r>
                        <a:rPr lang="ru" sz="700" b="0" u="none" strike="noStrike" kern="1200" noProof="0" dirty="0" smtClean="0">
                          <a:solidFill>
                            <a:schemeClr val="bg1"/>
                          </a:solidFill>
                          <a:effectLst/>
                          <a:latin typeface="+mn-lt"/>
                          <a:ea typeface="+mn-ea"/>
                          <a:cs typeface="+mn-cs"/>
                        </a:rPr>
                        <a:t/>
                      </a:r>
                      <a:endParaRPr lang="en-US" sz="700" b="0" u="none" strike="noStrike" kern="1200" noProof="0" dirty="0">
                        <a:solidFill>
                          <a:schemeClr val="bg1"/>
                        </a:solidFill>
                        <a:effectLst/>
                        <a:latin typeface="+mn-lt"/>
                        <a:ea typeface="+mn-ea"/>
                        <a:cs typeface="+mn-cs"/>
                      </a:endParaRPr>
                    </a:p>
                  </a:txBody>
                  <a:tcPr marL="72000" marR="72000" marT="36000" marB="36000" anchor="ctr">
                    <a:lnL w="9525" cap="flat" cmpd="sng" algn="ctr">
                      <a:solidFill>
                        <a:schemeClr val="bg1"/>
                      </a:solidFill>
                      <a:prstDash val="solid"/>
                      <a:round/>
                      <a:headEnd type="none" w="med" len="med"/>
                      <a:tailEnd type="none" w="med" len="med"/>
                    </a:lnL>
                    <a:lnT w="9525" cap="flat" cmpd="sng" algn="ctr">
                      <a:noFill/>
                      <a:prstDash val="solid"/>
                      <a:round/>
                      <a:headEnd type="none" w="med" len="med"/>
                      <a:tailEnd type="none" w="med" len="med"/>
                    </a:lnT>
                    <a:lnB>
                      <a:noFill/>
                    </a:lnB>
                    <a:solidFill>
                      <a:schemeClr val="accent5">
                        <a:lumMod val="50000"/>
                        <a:lumOff val="50000"/>
                      </a:schemeClr>
                    </a:solidFill>
                  </a:tcPr>
                </a:tc>
                <a:extLst>
                  <a:ext uri="{0D108BD9-81ED-4DB2-BD59-A6C34878D82A}">
                    <a16:rowId xmlns:a16="http://schemas.microsoft.com/office/drawing/2014/main" val="1317959595"/>
                  </a:ext>
                </a:extLst>
              </a:tr>
              <a:tr h="766906">
                <a:tc>
                  <a:txBody>
                    <a:bodyPr/>
                    <a:lstStyle/>
                    <a:p>
                      <a:pPr marL="36000" algn="l" fontAlgn="ctr"/>
                      <a:r>
                        <a:rPr lang="ru-RU" sz="700" b="0" i="0" u="none" strike="noStrike" dirty="0">
                          <a:solidFill>
                            <a:srgbClr val="000000"/>
                          </a:solidFill>
                          <a:effectLst/>
                          <a:latin typeface="+mn-lt"/>
                        </a:rPr>
                        <a:t xml:space="preserve">JSC TNK Kazchrome</a:t>
                      </a: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marR="0" lvl="0" indent="0" algn="l" defTabSz="583170" rtl="0" eaLnBrk="1" fontAlgn="ctr" latinLnBrk="0" hangingPunct="1">
                        <a:lnSpc>
                          <a:spcPct val="100000"/>
                        </a:lnSpc>
                        <a:spcBef>
                          <a:spcPts val="0"/>
                        </a:spcBef>
                        <a:spcAft>
                          <a:spcPts val="0"/>
                        </a:spcAft>
                        <a:buClrTx/>
                        <a:buSzTx/>
                        <a:buFontTx/>
                        <a:buNone/>
                        <a:tabLst/>
                        <a:defRPr/>
                      </a:pPr>
                      <a:r>
                        <a:rPr lang="ru-RU" sz="700" b="0" i="0" u="none" strike="noStrike" dirty="0" smtClean="0">
                          <a:solidFill>
                            <a:srgbClr val="000000"/>
                          </a:solidFill>
                          <a:effectLst/>
                          <a:latin typeface="+mn-lt"/>
                        </a:rPr>
                        <a:t xml:space="preserve">A risk of conflict of interest in the field of labor relations has been identified (the possibility of allowing cases of inspection and control when the decision of the declarant may influence the work of close relatives): the declarant, being in the position of manager for control and audit activities of the KRD (DGOK) of TNC Kazchrome JSC, among other things, ensures internal control through the organization and implementation of all control and audit activities, through scheduled and unscheduled inspections, internal investigations, annual inventories of fixed assets, intangible assets, work in progress capital construction, inventory of finished products and other activities, controls and ensures high-quality registration of the results of inspections at the State Mining and Processing Plant, including potentially in relation to the work of close relatives.</a:t>
                      </a:r>
                      <a:r>
                        <a:rPr lang="ru-RU" sz="700" b="0" i="0" u="none" strike="noStrike" baseline="0" dirty="0" smtClean="0">
                          <a:solidFill>
                            <a:srgbClr val="000000"/>
                          </a:solidFill>
                          <a:effectLst/>
                          <a:latin typeface="+mn-lt"/>
                        </a:rPr>
                        <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endParaRPr lang="ru-RU" sz="700" b="0" i="0" u="none" strike="noStrike" dirty="0">
                        <a:solidFill>
                          <a:srgbClr val="000000"/>
                        </a:solidFill>
                        <a:effectLst/>
                        <a:latin typeface="+mn-lt"/>
                      </a:endParaRP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r>
                        <a:rPr lang="ru-RU" sz="700" b="0" i="0" u="none" strike="noStrike" dirty="0">
                          <a:solidFill>
                            <a:srgbClr val="000000"/>
                          </a:solidFill>
                          <a:effectLst/>
                          <a:latin typeface="+mn-lt"/>
                        </a:rPr>
                        <a:t xml:space="preserve">Labor relations and remuneration</a:t>
                      </a: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r>
                        <a:rPr lang="ru-RU" sz="700" b="0" i="0" u="none" strike="noStrike" dirty="0">
                          <a:solidFill>
                            <a:srgbClr val="000000"/>
                          </a:solidFill>
                          <a:effectLst/>
                          <a:latin typeface="+mn-lt"/>
                        </a:rPr>
                        <a:t xml:space="preserve">Establishment of additional controls, without the right to make decisions on an issue that is the subject of a conflict of interest: The Company issued an order limiting the participation of the declarant in assessments, certifications, controls and inspections, in which his decisions may affect the work of a close relative.</a:t>
                      </a:r>
                      <a:br>
                        <a:rPr lang="ru-RU" sz="700" b="0" i="0" u="none" strike="noStrike" dirty="0">
                          <a:solidFill>
                            <a:srgbClr val="000000"/>
                          </a:solidFill>
                          <a:effectLst/>
                          <a:latin typeface="+mn-lt"/>
                        </a:rPr>
                      </a:b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br>
                        <a:rPr lang="ru-RU" sz="700" b="0" i="0" u="none" strike="noStrike" dirty="0">
                          <a:solidFill>
                            <a:srgbClr val="000000"/>
                          </a:solidFill>
                          <a:effectLst/>
                          <a:latin typeface="+mn-lt"/>
                        </a:rPr>
                      </a:br>
                      <a:endParaRPr lang="ru-RU" sz="700" b="0" i="0" u="none" strike="noStrike" dirty="0">
                        <a:solidFill>
                          <a:srgbClr val="000000"/>
                        </a:solidFill>
                        <a:effectLst/>
                        <a:latin typeface="+mn-lt"/>
                      </a:endParaRP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r>
                        <a:rPr lang="ru-RU" sz="700" b="0" i="0" u="none" strike="noStrike" dirty="0">
                          <a:solidFill>
                            <a:srgbClr val="000000"/>
                          </a:solidFill>
                          <a:effectLst/>
                          <a:latin typeface="+mn-lt"/>
                        </a:rPr>
                        <a:t xml:space="preserve">The measures have been completed.</a:t>
                      </a:r>
                    </a:p>
                  </a:txBody>
                  <a:tcPr marL="9525" marR="9525" marT="9525" marB="0" anchor="ctr">
                    <a:lnL>
                      <a:noFill/>
                    </a:lnL>
                    <a:lnR>
                      <a:noFill/>
                    </a:lnR>
                    <a:lnT>
                      <a:noFill/>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0888224"/>
                  </a:ext>
                </a:extLst>
              </a:tr>
              <a:tr h="292880">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ERG Service LLP</a:t>
                      </a:r>
                      <a:r>
                        <a:rPr lang="en-US" sz="700" b="0" i="0" u="none" strike="noStrike" dirty="0">
                          <a:solidFill>
                            <a:srgbClr val="000000"/>
                          </a:solidFill>
                          <a:effectLst/>
                          <a:latin typeface="+mn-lt"/>
                        </a:rPr>
                        <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smtClean="0">
                          <a:solidFill>
                            <a:srgbClr val="000000"/>
                          </a:solidFill>
                          <a:effectLst/>
                          <a:latin typeface="+mn-lt"/>
                        </a:rPr>
                        <a:t xml:space="preserve">A risk of conflict of interest has been identified in the area of ​​external business interests: the declarant’s performance (without prior approval) of labor activities in favor of a third party who is a business partner in relation to the Group companies.</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endParaRPr lang="ru-RU" sz="700" b="0" i="0" u="none" strike="noStrike" dirty="0">
                        <a:solidFill>
                          <a:srgbClr val="000000"/>
                        </a:solidFill>
                        <a:effectLst/>
                        <a:latin typeface="+mn-lt"/>
                      </a:endParaRP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External business interests</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Other: The employee terminated his part-time employment relationship.</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The measures have been completed.</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2882295"/>
                  </a:ext>
                </a:extLst>
              </a:tr>
              <a:tr h="766906">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JSC TNK Kazchrome</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marR="0" lvl="0" indent="0" algn="l" defTabSz="583170" rtl="0" eaLnBrk="1" fontAlgn="ctr" latinLnBrk="0" hangingPunct="1">
                        <a:lnSpc>
                          <a:spcPct val="100000"/>
                        </a:lnSpc>
                        <a:spcBef>
                          <a:spcPts val="200"/>
                        </a:spcBef>
                        <a:spcAft>
                          <a:spcPts val="200"/>
                        </a:spcAft>
                        <a:buClrTx/>
                        <a:buSzTx/>
                        <a:buFontTx/>
                        <a:buNone/>
                        <a:tabLst/>
                        <a:defRPr/>
                      </a:pPr>
                      <a:r>
                        <a:rPr lang="ru-RU" sz="700" b="0" i="0" u="none" strike="noStrike" dirty="0" smtClean="0">
                          <a:solidFill>
                            <a:srgbClr val="000000"/>
                          </a:solidFill>
                          <a:effectLst/>
                          <a:latin typeface="+mn-lt"/>
                        </a:rPr>
                        <a:t xml:space="preserve">The risk of CI in the field of labor relations has been identified (the ability to allow cases of inspection and control when the decision of the declarant may affect the work of close relatives): the declarant, being in the position of HSE engineer at TNK Kazchrome JSC, among other things, checks the state of labor protection and compliance with labor legislation in all structural divisions of the DGOK, checks the availability of PPE among workers, conducts behavioral audits, has the right to make proposals to shop managers on the removal from work of persons who have violated safety rules and labor protection, as well as persons who have not been instructed or failed labor safety exams, has the right to make proposals for the application of disciplinary sanctions to employees of the DGOK, including potentially based on the results of the work of close relatives.</a:t>
                      </a:r>
                      <a:r>
                        <a:rPr lang="ru-RU" sz="700" b="0" i="0" u="none" strike="noStrike" dirty="0">
                          <a:solidFill>
                            <a:srgbClr val="000000"/>
                          </a:solidFill>
                          <a:effectLst/>
                          <a:latin typeface="+mn-lt"/>
                        </a:rPr>
                        <a:t/>
                      </a:r>
                      <a:r>
                        <a:rPr lang="ru-RU" sz="700" b="0" i="0" u="none" strike="noStrike" dirty="0" err="1" smtClean="0">
                          <a:solidFill>
                            <a:srgbClr val="000000"/>
                          </a:solidFill>
                          <a:effectLst/>
                          <a:latin typeface="+mn-lt"/>
                        </a:rPr>
                        <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endParaRPr lang="ru-RU" sz="700" b="0" i="0" u="none" strike="noStrike" dirty="0">
                        <a:solidFill>
                          <a:srgbClr val="000000"/>
                        </a:solidFill>
                        <a:effectLst/>
                        <a:latin typeface="+mn-lt"/>
                      </a:endParaRP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Labor relations and remuneration</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Establishment of additional controls, without the right to make decisions on an issue that is the subject of a conflict of interest: The Company issued an order limiting the participation of the declarant in assessments, certifications, controls and inspections, in which his decisions may affect the work of a close relative.</a:t>
                      </a:r>
                      <a:br>
                        <a:rPr lang="ru-RU" sz="700" b="0" i="0" u="none" strike="noStrike" dirty="0">
                          <a:solidFill>
                            <a:srgbClr val="000000"/>
                          </a:solidFill>
                          <a:effectLst/>
                          <a:latin typeface="+mn-lt"/>
                        </a:rPr>
                      </a:b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br>
                        <a:rPr lang="ru-RU" sz="700" b="0" i="0" u="none" strike="noStrike" dirty="0">
                          <a:solidFill>
                            <a:srgbClr val="000000"/>
                          </a:solidFill>
                          <a:effectLst/>
                          <a:latin typeface="+mn-lt"/>
                        </a:rPr>
                      </a:br>
                      <a:endParaRPr lang="ru-RU" sz="700" b="0" i="0" u="none" strike="noStrike" dirty="0">
                        <a:solidFill>
                          <a:srgbClr val="000000"/>
                        </a:solidFill>
                        <a:effectLst/>
                        <a:latin typeface="+mn-lt"/>
                      </a:endParaRP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The measures have been completed.</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317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41151251"/>
                  </a:ext>
                </a:extLst>
              </a:tr>
              <a:tr h="401556">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JSC SSGPO</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smtClean="0">
                          <a:solidFill>
                            <a:srgbClr val="000000"/>
                          </a:solidFill>
                          <a:effectLst/>
                          <a:latin typeface="+mn-lt"/>
                        </a:rPr>
                        <a:t xml:space="preserve">The risk of a conflict of interest in the area of ​​external business interests has been identified: the participation of the declarant in commercial activities with third parties who are business partners of the Group companies, without prior approval from the management of SSGPO JSC.</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r>
                        <a:rPr lang="ru-RU" sz="700" b="0" i="0" u="none" strike="noStrike" baseline="0" dirty="0" smtClean="0">
                          <a:solidFill>
                            <a:srgbClr val="000000"/>
                          </a:solidFill>
                          <a:effectLst/>
                          <a:latin typeface="+mn-lt"/>
                        </a:rPr>
                        <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External business interests</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Special approval: The declarant has received approval from the management of the Company to carry out activities in a third party in respect of which the declarant is an interested party.</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br>
                        <a:rPr lang="ru-RU" sz="700" b="0" i="0" u="none" strike="noStrike" dirty="0">
                          <a:solidFill>
                            <a:srgbClr val="000000"/>
                          </a:solidFill>
                          <a:effectLst/>
                          <a:latin typeface="+mn-lt"/>
                        </a:rPr>
                      </a:b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endParaRPr lang="ru-RU" sz="700" b="0" i="0" u="none" strike="noStrike" dirty="0">
                        <a:solidFill>
                          <a:srgbClr val="000000"/>
                        </a:solidFill>
                        <a:effectLst/>
                        <a:latin typeface="+mn-lt"/>
                      </a:endParaRP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The measures have been completed.</a:t>
                      </a:r>
                    </a:p>
                  </a:txBody>
                  <a:tcPr marL="9525" marR="9525" marT="9525" marB="0" anchor="ctr">
                    <a:lnL>
                      <a:noFill/>
                    </a:lnL>
                    <a:lnR>
                      <a:noFill/>
                    </a:lnR>
                    <a:lnT w="317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2787154"/>
                  </a:ext>
                </a:extLst>
              </a:tr>
            </a:tbl>
          </a:graphicData>
        </a:graphic>
      </p:graphicFrame>
    </p:spTree>
    <p:extLst>
      <p:ext uri="{BB962C8B-B14F-4D97-AF65-F5344CB8AC3E}">
        <p14:creationId xmlns:p14="http://schemas.microsoft.com/office/powerpoint/2010/main" val="32987429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016D0-380D-777B-5FB2-003D93A8411A}"/>
            </a:ext>
          </a:extLst>
        </p:cNvPr>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8A5D452E-57F8-4528-494B-1D375C225B5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4610"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8A5D452E-57F8-4528-494B-1D375C225B5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FE1A2F1-9CA1-B3EE-1B87-54F1999162D3}"/>
              </a:ext>
            </a:extLst>
          </p:cNvPr>
          <p:cNvSpPr>
            <a:spLocks noGrp="1"/>
          </p:cNvSpPr>
          <p:nvPr>
            <p:ph type="title"/>
          </p:nvPr>
        </p:nvSpPr>
        <p:spPr/>
        <p:txBody>
          <a:bodyPr vert="horz" rtlCol="0"/>
          <a:lstStyle/>
          <a:p>
            <a:r>
              <a:rPr lang="ru-RU" dirty="0" smtClean="0"/>
              <a:t>Прил.5: </a:t>
            </a:r>
            <a:r>
              <a:rPr lang="ru" dirty="0"/>
              <a:t>Управление рисками</a:t>
            </a:r>
            <a:r>
              <a:rPr lang="ru" dirty="0" smtClean="0"/>
              <a:t>:</a:t>
            </a:r>
            <a:r>
              <a:rPr lang="ru-RU" dirty="0"/>
              <a:t/>
            </a:r>
            <a:br>
              <a:rPr lang="ru-RU" dirty="0"/>
            </a:br>
            <a:r>
              <a:rPr lang="ru-RU" dirty="0" smtClean="0">
                <a:solidFill>
                  <a:schemeClr val="tx1"/>
                </a:solidFill>
              </a:rPr>
              <a:t>Конфликт интересов – подтвержденные случаи </a:t>
            </a:r>
            <a:r>
              <a:rPr lang="ru-RU" i="1" dirty="0" smtClean="0">
                <a:solidFill>
                  <a:schemeClr val="tx1"/>
                </a:solidFill>
              </a:rPr>
              <a:t>(продолжение)</a:t>
            </a:r>
            <a:endParaRPr lang="ru" i="1" noProof="0" dirty="0">
              <a:solidFill>
                <a:schemeClr val="tx1"/>
              </a:solidFill>
            </a:endParaRPr>
          </a:p>
        </p:txBody>
      </p:sp>
      <p:sp>
        <p:nvSpPr>
          <p:cNvPr id="8" name="Text Placeholder 9">
            <a:extLst>
              <a:ext uri="{FF2B5EF4-FFF2-40B4-BE49-F238E27FC236}">
                <a16:creationId xmlns:a16="http://schemas.microsoft.com/office/drawing/2014/main" id="{045932CA-CB31-44D1-9A2E-C63674F9F43B}"/>
              </a:ext>
            </a:extLst>
          </p:cNvPr>
          <p:cNvSpPr txBox="1">
            <a:spLocks/>
          </p:cNvSpPr>
          <p:nvPr/>
        </p:nvSpPr>
        <p:spPr>
          <a:xfrm>
            <a:off x="317497" y="738588"/>
            <a:ext cx="11553825" cy="153888"/>
          </a:xfrm>
          <a:prstGeom prst="rect">
            <a:avLst/>
          </a:prstGeom>
        </p:spPr>
        <p:txBody>
          <a:bodyPr wrap="square" lIns="0" tIns="0" rIns="0" bIns="0" rtlCol="0" anchor="b">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lvl="0">
              <a:defRPr/>
            </a:pPr>
            <a:r>
              <a:rPr lang="ru-RU" sz="1000" dirty="0">
                <a:solidFill>
                  <a:schemeClr val="accent5">
                    <a:lumMod val="75000"/>
                    <a:lumOff val="25000"/>
                  </a:schemeClr>
                </a:solidFill>
              </a:rPr>
              <a:t xml:space="preserve">Cases of CI confirmed in Q4. 2025</a:t>
            </a:r>
            <a:endParaRPr lang="ru" sz="1000" dirty="0">
              <a:solidFill>
                <a:srgbClr val="0080BC"/>
              </a:solidFill>
            </a:endParaRPr>
          </a:p>
        </p:txBody>
      </p:sp>
      <p:graphicFrame>
        <p:nvGraphicFramePr>
          <p:cNvPr id="9" name="Table 8">
            <a:extLst>
              <a:ext uri="{FF2B5EF4-FFF2-40B4-BE49-F238E27FC236}">
                <a16:creationId xmlns:a16="http://schemas.microsoft.com/office/drawing/2014/main" id="{01DEF74E-929C-55F5-FBE4-938C27EF07DA}"/>
              </a:ext>
            </a:extLst>
          </p:cNvPr>
          <p:cNvGraphicFramePr>
            <a:graphicFrameLocks noGrp="1"/>
          </p:cNvGraphicFramePr>
          <p:nvPr>
            <p:extLst>
              <p:ext uri="{D42A27DB-BD31-4B8C-83A1-F6EECF244321}">
                <p14:modId xmlns:p14="http://schemas.microsoft.com/office/powerpoint/2010/main" val="586250493"/>
              </p:ext>
            </p:extLst>
          </p:nvPr>
        </p:nvGraphicFramePr>
        <p:xfrm>
          <a:off x="317497" y="971728"/>
          <a:ext cx="11639663" cy="5470449"/>
        </p:xfrm>
        <a:graphic>
          <a:graphicData uri="http://schemas.openxmlformats.org/drawingml/2006/table">
            <a:tbl>
              <a:tblPr>
                <a:tableStyleId>{3B4B98B0-60AC-42C2-AFA5-B58CD77FA1E5}</a:tableStyleId>
              </a:tblPr>
              <a:tblGrid>
                <a:gridCol w="789850">
                  <a:extLst>
                    <a:ext uri="{9D8B030D-6E8A-4147-A177-3AD203B41FA5}">
                      <a16:colId xmlns:a16="http://schemas.microsoft.com/office/drawing/2014/main" val="2951006889"/>
                    </a:ext>
                  </a:extLst>
                </a:gridCol>
                <a:gridCol w="5472000">
                  <a:extLst>
                    <a:ext uri="{9D8B030D-6E8A-4147-A177-3AD203B41FA5}">
                      <a16:colId xmlns:a16="http://schemas.microsoft.com/office/drawing/2014/main" val="2764316587"/>
                    </a:ext>
                  </a:extLst>
                </a:gridCol>
                <a:gridCol w="1404000">
                  <a:extLst>
                    <a:ext uri="{9D8B030D-6E8A-4147-A177-3AD203B41FA5}">
                      <a16:colId xmlns:a16="http://schemas.microsoft.com/office/drawing/2014/main" val="1661849302"/>
                    </a:ext>
                  </a:extLst>
                </a:gridCol>
                <a:gridCol w="2821813">
                  <a:extLst>
                    <a:ext uri="{9D8B030D-6E8A-4147-A177-3AD203B41FA5}">
                      <a16:colId xmlns:a16="http://schemas.microsoft.com/office/drawing/2014/main" val="3944211872"/>
                    </a:ext>
                  </a:extLst>
                </a:gridCol>
                <a:gridCol w="1152000">
                  <a:extLst>
                    <a:ext uri="{9D8B030D-6E8A-4147-A177-3AD203B41FA5}">
                      <a16:colId xmlns:a16="http://schemas.microsoft.com/office/drawing/2014/main" val="3871812469"/>
                    </a:ext>
                  </a:extLst>
                </a:gridCol>
              </a:tblGrid>
              <a:tr h="454634">
                <a:tc>
                  <a:txBody>
                    <a:bodyPr/>
                    <a:lstStyle/>
                    <a:p>
                      <a:pPr algn="l" rtl="0" fontAlgn="ctr">
                        <a:spcBef>
                          <a:spcPts val="200"/>
                        </a:spcBef>
                        <a:spcAft>
                          <a:spcPts val="200"/>
                        </a:spcAft>
                      </a:pPr>
                      <a:r>
                        <a:rPr lang="ru" sz="700" b="0" u="none" strike="noStrike" noProof="0" dirty="0">
                          <a:solidFill>
                            <a:schemeClr val="bg1"/>
                          </a:solidFill>
                          <a:effectLst/>
                          <a:latin typeface="+mn-lt"/>
                        </a:rPr>
                        <a:t xml:space="preserve">Enterprise and region</a:t>
                      </a:r>
                      <a:endParaRPr lang="en-US" sz="700" b="0" i="0" u="none" strike="noStrike" noProof="0" dirty="0">
                        <a:solidFill>
                          <a:schemeClr val="bg1"/>
                        </a:solidFill>
                        <a:effectLst/>
                        <a:latin typeface="+mn-lt"/>
                      </a:endParaRPr>
                    </a:p>
                  </a:txBody>
                  <a:tcPr marL="72000" marR="72000" marT="36000" marB="36000" anchor="ctr">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spcBef>
                          <a:spcPts val="200"/>
                        </a:spcBef>
                        <a:spcAft>
                          <a:spcPts val="200"/>
                        </a:spcAft>
                      </a:pPr>
                      <a:r>
                        <a:rPr lang="ru" sz="700" b="0" u="none" strike="noStrike" noProof="0" dirty="0">
                          <a:solidFill>
                            <a:schemeClr val="bg1"/>
                          </a:solidFill>
                          <a:effectLst/>
                          <a:latin typeface="+mn-lt"/>
                        </a:rPr>
                        <a:t xml:space="preserve">Description of CI</a:t>
                      </a:r>
                      <a:endParaRPr lang="en-US" sz="700" b="0" i="0" u="none" strike="noStrike" noProof="0" dirty="0">
                        <a:solidFill>
                          <a:schemeClr val="bg1"/>
                        </a:solidFill>
                        <a:effectLst/>
                        <a:latin typeface="+mn-lt"/>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spcBef>
                          <a:spcPts val="200"/>
                        </a:spcBef>
                        <a:spcAft>
                          <a:spcPts val="200"/>
                        </a:spcAft>
                      </a:pPr>
                      <a:r>
                        <a:rPr lang="ru" sz="700" b="0" u="none" strike="noStrike" kern="1200" noProof="0" dirty="0">
                          <a:solidFill>
                            <a:schemeClr val="bg1"/>
                          </a:solidFill>
                          <a:effectLst/>
                          <a:latin typeface="+mn-lt"/>
                          <a:ea typeface="+mn-ea"/>
                          <a:cs typeface="+mn-cs"/>
                        </a:rPr>
                        <a:t xml:space="preserve">CI classification</a:t>
                      </a:r>
                      <a:endParaRPr lang="en-US" sz="700" b="0" u="none" strike="noStrike" kern="1200" noProof="0" dirty="0">
                        <a:solidFill>
                          <a:schemeClr val="bg1"/>
                        </a:solidFill>
                        <a:effectLst/>
                        <a:latin typeface="+mn-lt"/>
                        <a:ea typeface="+mn-ea"/>
                        <a:cs typeface="+mn-cs"/>
                      </a:endParaRPr>
                    </a:p>
                    <a:p>
                      <a:pPr algn="l" rtl="0" fontAlgn="ctr">
                        <a:spcBef>
                          <a:spcPts val="200"/>
                        </a:spcBef>
                        <a:spcAft>
                          <a:spcPts val="200"/>
                        </a:spcAft>
                      </a:pPr>
                      <a:r>
                        <a:rPr lang="ru" sz="700" b="0" u="none" strike="noStrike" kern="1200" noProof="0" dirty="0">
                          <a:solidFill>
                            <a:schemeClr val="bg1"/>
                          </a:solidFill>
                          <a:effectLst/>
                          <a:latin typeface="+mn-lt"/>
                          <a:ea typeface="+mn-ea"/>
                          <a:cs typeface="+mn-cs"/>
                        </a:rPr>
                        <a:t xml:space="preserve">(Section 7 of the Conflict of Interest Policy)</a:t>
                      </a:r>
                      <a:r>
                        <a:rPr lang="ru-RU" sz="700" b="0" u="none" strike="noStrike" kern="1200" noProof="0" dirty="0" smtClean="0">
                          <a:solidFill>
                            <a:schemeClr val="bg1"/>
                          </a:solidFill>
                          <a:effectLst/>
                          <a:latin typeface="+mn-lt"/>
                          <a:ea typeface="+mn-ea"/>
                          <a:cs typeface="+mn-cs"/>
                        </a:rPr>
                        <a:t/>
                      </a:r>
                      <a:endParaRPr lang="ru" sz="700" b="0" u="none" strike="noStrike" kern="1200" noProof="0" dirty="0">
                        <a:solidFill>
                          <a:schemeClr val="bg1"/>
                        </a:solidFill>
                        <a:effectLst/>
                        <a:latin typeface="+mn-lt"/>
                        <a:ea typeface="+mn-ea"/>
                        <a:cs typeface="+mn-cs"/>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spcBef>
                          <a:spcPts val="200"/>
                        </a:spcBef>
                        <a:spcAft>
                          <a:spcPts val="200"/>
                        </a:spcAft>
                      </a:pPr>
                      <a:r>
                        <a:rPr lang="ru" sz="700" b="0" u="none" strike="noStrike" noProof="0" dirty="0">
                          <a:solidFill>
                            <a:schemeClr val="bg1"/>
                          </a:solidFill>
                          <a:effectLst/>
                          <a:latin typeface="+mn-lt"/>
                        </a:rPr>
                        <a:t xml:space="preserve">Measures taken</a:t>
                      </a:r>
                      <a:endParaRPr lang="en-US" sz="700" b="0" i="0" u="none" strike="noStrike" noProof="0" dirty="0">
                        <a:solidFill>
                          <a:schemeClr val="bg1"/>
                        </a:solidFill>
                        <a:effectLst/>
                        <a:latin typeface="+mn-lt"/>
                      </a:endParaRP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a:noFill/>
                    </a:lnB>
                    <a:solidFill>
                      <a:schemeClr val="accent5">
                        <a:lumMod val="50000"/>
                        <a:lumOff val="50000"/>
                      </a:schemeClr>
                    </a:solidFill>
                  </a:tcPr>
                </a:tc>
                <a:tc>
                  <a:txBody>
                    <a:bodyPr/>
                    <a:lstStyle/>
                    <a:p>
                      <a:pPr algn="l" rtl="0" fontAlgn="ctr">
                        <a:spcBef>
                          <a:spcPts val="200"/>
                        </a:spcBef>
                        <a:spcAft>
                          <a:spcPts val="200"/>
                        </a:spcAft>
                      </a:pPr>
                      <a:r>
                        <a:rPr lang="ru" sz="700" b="0" u="none" strike="noStrike" noProof="0" dirty="0">
                          <a:solidFill>
                            <a:schemeClr val="bg1"/>
                          </a:solidFill>
                          <a:effectLst/>
                          <a:latin typeface="+mn-lt"/>
                        </a:rPr>
                        <a:t xml:space="preserve">Control activities/follow-up actions</a:t>
                      </a:r>
                      <a:r>
                        <a:rPr lang="ru" sz="700" b="0" u="none" strike="noStrike" kern="1200" noProof="0" dirty="0" smtClean="0">
                          <a:solidFill>
                            <a:schemeClr val="bg1"/>
                          </a:solidFill>
                          <a:effectLst/>
                          <a:latin typeface="+mn-lt"/>
                          <a:ea typeface="+mn-ea"/>
                          <a:cs typeface="+mn-cs"/>
                        </a:rPr>
                        <a:t/>
                      </a:r>
                      <a:endParaRPr lang="en-US" sz="700" b="0" u="none" strike="noStrike" kern="1200" noProof="0" dirty="0">
                        <a:solidFill>
                          <a:schemeClr val="bg1"/>
                        </a:solidFill>
                        <a:effectLst/>
                        <a:latin typeface="+mn-lt"/>
                        <a:ea typeface="+mn-ea"/>
                        <a:cs typeface="+mn-cs"/>
                      </a:endParaRPr>
                    </a:p>
                  </a:txBody>
                  <a:tcPr marL="72000" marR="72000" marT="36000" marB="36000" anchor="ctr">
                    <a:lnL w="9525" cap="flat" cmpd="sng" algn="ctr">
                      <a:solidFill>
                        <a:schemeClr val="bg1"/>
                      </a:solidFill>
                      <a:prstDash val="solid"/>
                      <a:round/>
                      <a:headEnd type="none" w="med" len="med"/>
                      <a:tailEnd type="none" w="med" len="med"/>
                    </a:lnL>
                    <a:lnT w="9525" cap="flat" cmpd="sng" algn="ctr">
                      <a:noFill/>
                      <a:prstDash val="solid"/>
                      <a:round/>
                      <a:headEnd type="none" w="med" len="med"/>
                      <a:tailEnd type="none" w="med" len="med"/>
                    </a:lnT>
                    <a:lnB>
                      <a:noFill/>
                    </a:lnB>
                    <a:solidFill>
                      <a:schemeClr val="accent5">
                        <a:lumMod val="50000"/>
                        <a:lumOff val="50000"/>
                      </a:schemeClr>
                    </a:solidFill>
                  </a:tcPr>
                </a:tc>
                <a:extLst>
                  <a:ext uri="{0D108BD9-81ED-4DB2-BD59-A6C34878D82A}">
                    <a16:rowId xmlns:a16="http://schemas.microsoft.com/office/drawing/2014/main" val="1317959595"/>
                  </a:ext>
                </a:extLst>
              </a:tr>
              <a:tr h="447863">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JSC Aluminum of Kazakhstan</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smtClean="0">
                          <a:solidFill>
                            <a:srgbClr val="000000"/>
                          </a:solidFill>
                          <a:effectLst/>
                          <a:latin typeface="+mn-lt"/>
                        </a:rPr>
                        <a:t xml:space="preserve">A CI risk has been identified in the area of ​​external business interests: the declarant acts as an independent director on the Board of Directors of a third party, which is a business partner of the Group in the provision of educational services. At the same time, the declarant received approval from the management of Aluminum of Kazakhstan JSC to carry out the specified activities.</a:t>
                      </a:r>
                      <a:r>
                        <a:rPr lang="ru-RU" sz="700" b="0" i="0" u="none" strike="noStrike" baseline="0" dirty="0" smtClean="0">
                          <a:solidFill>
                            <a:srgbClr val="000000"/>
                          </a:solidFill>
                          <a:effectLst/>
                          <a:latin typeface="+mn-lt"/>
                        </a:rPr>
                        <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endParaRPr lang="ru-RU" sz="700" b="0" i="0" u="none" strike="noStrike" dirty="0">
                        <a:solidFill>
                          <a:srgbClr val="000000"/>
                        </a:solidFill>
                        <a:effectLst/>
                        <a:latin typeface="+mn-lt"/>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External business interests</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Other: The employee refused the decision to engage in part-time employment.</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The measures have been completed.</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77859104"/>
                  </a:ext>
                </a:extLst>
              </a:tr>
              <a:tr h="700359">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JSC TNK Kazchrome</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marR="0" lvl="0" indent="0" algn="l" defTabSz="583170" rtl="0" eaLnBrk="1" fontAlgn="ctr" latinLnBrk="0" hangingPunct="1">
                        <a:lnSpc>
                          <a:spcPct val="100000"/>
                        </a:lnSpc>
                        <a:spcBef>
                          <a:spcPts val="200"/>
                        </a:spcBef>
                        <a:spcAft>
                          <a:spcPts val="200"/>
                        </a:spcAft>
                        <a:buClrTx/>
                        <a:buSzTx/>
                        <a:buFontTx/>
                        <a:buNone/>
                        <a:tabLst/>
                        <a:defRPr/>
                      </a:pPr>
                      <a:r>
                        <a:rPr lang="ru-RU" sz="700" b="0" i="0" u="none" strike="noStrike" dirty="0" smtClean="0">
                          <a:solidFill>
                            <a:srgbClr val="000000"/>
                          </a:solidFill>
                          <a:effectLst/>
                          <a:latin typeface="+mn-lt"/>
                        </a:rPr>
                        <a:t xml:space="preserve">The risk of CI in the field of labor relations has been identified (the ability to allow cases of management, certification, encouragement, inspection and control, when the decision of the declarant may influence the work of a close relative): the declarant is in the position of head of a workshop center. repair mechanical workshops of the DGOK of TNC Kazchrome JSC, also supervises and coordinates the work of subordinate workers to fulfill planned tasks, monitors their compliance with labor and production discipline, participates in personnel certification, makes proposals to the management of the DGOK about incentives and the application of penalties for violations of discipline, incl. in relation to the work of a close relative.</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r>
                        <a:rPr lang="ru-RU" sz="700" b="0" i="0" u="none" strike="noStrike" dirty="0" err="1" smtClean="0">
                          <a:solidFill>
                            <a:srgbClr val="000000"/>
                          </a:solidFill>
                          <a:effectLst/>
                          <a:latin typeface="+mn-lt"/>
                        </a:rPr>
                        <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endParaRPr lang="ru-RU" sz="700" b="0" i="0" u="none" strike="noStrike" dirty="0">
                        <a:solidFill>
                          <a:srgbClr val="000000"/>
                        </a:solidFill>
                        <a:effectLst/>
                        <a:latin typeface="+mn-lt"/>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Labor relations and remuneration</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Establishment of additional controls, without the right to make decisions on an issue that is the subject of a conflict of interest: The Company issued an order limiting the participation of the declarant in assessments, certifications, controls and inspections, in which his decisions may affect the work of a close relative.</a:t>
                      </a:r>
                      <a:br>
                        <a:rPr lang="ru-RU" sz="700" b="0" i="0" u="none" strike="noStrike" dirty="0">
                          <a:solidFill>
                            <a:srgbClr val="000000"/>
                          </a:solidFill>
                          <a:effectLst/>
                          <a:latin typeface="+mn-lt"/>
                        </a:rPr>
                      </a:b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endParaRPr lang="ru-RU" sz="700" b="0" i="0" u="none" strike="noStrike" dirty="0">
                        <a:solidFill>
                          <a:srgbClr val="000000"/>
                        </a:solidFill>
                        <a:effectLst/>
                        <a:latin typeface="+mn-lt"/>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The measures have been completed.</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13609827"/>
                  </a:ext>
                </a:extLst>
              </a:tr>
              <a:tr h="228821">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JSC Aluminum of Kazakhstan</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smtClean="0">
                          <a:solidFill>
                            <a:srgbClr val="000000"/>
                          </a:solidFill>
                          <a:effectLst/>
                          <a:latin typeface="+mn-lt"/>
                        </a:rPr>
                        <a:t xml:space="preserve">A CI risk has been identified in the area of ​​external business interests: the declarant’s performance (without prior approval) of labor activities in favor of a third party who is a business partner of Aluminum of Kazakhstan JSC.</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endParaRPr lang="ru-RU" sz="700" b="0" i="0" u="none" strike="noStrike" dirty="0">
                        <a:solidFill>
                          <a:srgbClr val="000000"/>
                        </a:solidFill>
                        <a:effectLst/>
                        <a:latin typeface="+mn-lt"/>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External business interests</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Other: The employee refused the decision to engage in part-time employment.</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endParaRPr lang="ru-RU" sz="700" b="0" i="0" u="none" strike="noStrike" dirty="0">
                        <a:solidFill>
                          <a:srgbClr val="000000"/>
                        </a:solidFill>
                        <a:effectLst/>
                        <a:latin typeface="+mn-lt"/>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200"/>
                        </a:spcBef>
                        <a:spcAft>
                          <a:spcPts val="200"/>
                        </a:spcAft>
                      </a:pPr>
                      <a:r>
                        <a:rPr lang="ru-RU" sz="700" b="0" i="0" u="none" strike="noStrike" dirty="0">
                          <a:solidFill>
                            <a:srgbClr val="000000"/>
                          </a:solidFill>
                          <a:effectLst/>
                          <a:latin typeface="+mn-lt"/>
                        </a:rPr>
                        <a:t xml:space="preserve">The measures have been completed.</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4504588"/>
                  </a:ext>
                </a:extLst>
              </a:tr>
              <a:tr h="338342">
                <a:tc>
                  <a:txBody>
                    <a:bodyPr/>
                    <a:lstStyle/>
                    <a:p>
                      <a:pPr marL="36000" algn="l" fontAlgn="ctr"/>
                      <a:r>
                        <a:rPr lang="ru-RU" sz="700" b="0" i="0" u="none" strike="noStrike" dirty="0">
                          <a:solidFill>
                            <a:srgbClr val="000000"/>
                          </a:solidFill>
                          <a:effectLst/>
                          <a:latin typeface="+mn-lt"/>
                        </a:rPr>
                        <a:t xml:space="preserve">MC Eurasia</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r>
                        <a:rPr lang="ru-RU" sz="700" b="0" i="0" u="none" strike="noStrike" dirty="0" smtClean="0">
                          <a:solidFill>
                            <a:srgbClr val="000000"/>
                          </a:solidFill>
                          <a:effectLst/>
                          <a:latin typeface="+mn-lt"/>
                        </a:rPr>
                        <a:t xml:space="preserve">A CI risk has been identified in the area of ​​external business interests: the declarant’s performance (without prior approval) of labor activities in favor of a third party, which is a business partner of Eurasia Medical Center LLP.</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endParaRPr lang="ru-RU" sz="700" b="0" i="0" u="none" strike="noStrike" dirty="0">
                        <a:solidFill>
                          <a:srgbClr val="000000"/>
                        </a:solidFill>
                        <a:effectLst/>
                        <a:latin typeface="+mn-lt"/>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r>
                        <a:rPr lang="ru-RU" sz="700" b="0" i="0" u="none" strike="noStrike" dirty="0">
                          <a:solidFill>
                            <a:srgbClr val="000000"/>
                          </a:solidFill>
                          <a:effectLst/>
                          <a:latin typeface="+mn-lt"/>
                        </a:rPr>
                        <a:t xml:space="preserve">External business interests</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r>
                        <a:rPr lang="ru-RU" sz="700" b="0" i="0" u="none" strike="noStrike" dirty="0">
                          <a:solidFill>
                            <a:srgbClr val="000000"/>
                          </a:solidFill>
                          <a:effectLst/>
                          <a:latin typeface="+mn-lt"/>
                        </a:rPr>
                        <a:t xml:space="preserve">Special approval: The declarant has received approval from management for the implementation. activities in a third party in respect of which the declarant is an interested party.</a:t>
                      </a:r>
                      <a:r>
                        <a:rPr lang="ru-RU" sz="700" b="0" i="0" u="none" strike="noStrike" dirty="0" smtClean="0">
                          <a:solidFill>
                            <a:srgbClr val="000000"/>
                          </a:solidFill>
                          <a:effectLst/>
                          <a:latin typeface="+mn-lt"/>
                        </a:rPr>
                        <a:t/>
                      </a:r>
                      <a:r>
                        <a:rPr lang="ru-RU" sz="700" b="0" i="0" u="none" strike="noStrike" dirty="0" err="1" smtClean="0">
                          <a:solidFill>
                            <a:srgbClr val="000000"/>
                          </a:solidFill>
                          <a:effectLst/>
                          <a:latin typeface="+mn-lt"/>
                        </a:rPr>
                        <a:t/>
                      </a:r>
                      <a:r>
                        <a:rPr lang="ru-RU" sz="700" b="0" i="0" u="none" strike="noStrike" dirty="0" smtClean="0">
                          <a:solidFill>
                            <a:srgbClr val="000000"/>
                          </a:solidFill>
                          <a:effectLst/>
                          <a:latin typeface="+mn-lt"/>
                        </a:rPr>
                        <a:t/>
                      </a:r>
                      <a:r>
                        <a:rPr lang="ru-RU" sz="700" b="0" i="0" u="none" strike="noStrike" dirty="0">
                          <a:solidFill>
                            <a:srgbClr val="000000"/>
                          </a:solidFill>
                          <a:effectLst/>
                          <a:latin typeface="+mn-lt"/>
                        </a:rPr>
                        <a:t/>
                      </a:r>
                      <a:r>
                        <a:rPr lang="ru-RU" sz="700" b="0" i="0" u="none" strike="noStrike" dirty="0" smtClean="0">
                          <a:solidFill>
                            <a:srgbClr val="000000"/>
                          </a:solidFill>
                          <a:effectLst/>
                          <a:latin typeface="+mn-lt"/>
                        </a:rPr>
                        <a:t/>
                      </a:r>
                      <a:endParaRPr lang="ru-RU" sz="700" b="0" i="0" u="none" strike="noStrike" dirty="0">
                        <a:solidFill>
                          <a:srgbClr val="000000"/>
                        </a:solidFill>
                        <a:effectLst/>
                        <a:latin typeface="+mn-lt"/>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r>
                        <a:rPr lang="ru-RU" sz="700" b="0" i="0" u="none" strike="noStrike" dirty="0">
                          <a:solidFill>
                            <a:srgbClr val="000000"/>
                          </a:solidFill>
                          <a:effectLst/>
                          <a:latin typeface="+mn-lt"/>
                        </a:rPr>
                        <a:t xml:space="preserve">The measures have been completed.</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5087708"/>
                  </a:ext>
                </a:extLst>
              </a:tr>
              <a:tr h="666906">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JSC Shubarkol Komir</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smtClean="0">
                          <a:solidFill>
                            <a:srgbClr val="000000"/>
                          </a:solidFill>
                          <a:effectLst/>
                          <a:latin typeface="Arial" panose="020B0604020202020204" pitchFamily="34" charset="0"/>
                          <a:ea typeface="+mn-ea"/>
                          <a:cs typeface="+mn-cs"/>
                        </a:rPr>
                        <a:t xml:space="preserve">The risk of CI in the sphere of labor relations has been identified (the ability to allow cases of management, inspection and control, when the decision of the declarant may influence the work of a close relative): the declarant, being in the position of transport expert, the “Transport Organization” division of the technical service of Shubarkol Komir JSC, among other things, supervises and coordinates the work of subordinate workers to fulfill planned tasks, monitors their compliance with labor and production discipline, makes proposals to the management of the vehicle on incentives and on the application of penalties for violations discipline, including potentially in relation to the work of a close relative.</a:t>
                      </a:r>
                      <a:r>
                        <a:rPr lang="ru-RU" sz="700" b="0" i="0" u="none" strike="noStrike" kern="1200" dirty="0">
                          <a:solidFill>
                            <a:srgbClr val="000000"/>
                          </a:solidFill>
                          <a:effectLst/>
                          <a:latin typeface="Arial" panose="020B0604020202020204" pitchFamily="34" charset="0"/>
                          <a:ea typeface="+mn-ea"/>
                          <a:cs typeface="+mn-cs"/>
                        </a:rPr>
                        <a:t/>
                      </a:r>
                      <a:r>
                        <a:rPr lang="ru-RU" sz="700" b="0" i="0" u="none" strike="noStrike" kern="1200" dirty="0" smtClean="0">
                          <a:solidFill>
                            <a:srgbClr val="000000"/>
                          </a:solidFill>
                          <a:effectLst/>
                          <a:latin typeface="Arial" panose="020B0604020202020204" pitchFamily="34" charset="0"/>
                          <a:ea typeface="+mn-ea"/>
                          <a:cs typeface="+mn-cs"/>
                        </a:rPr>
                        <a:t/>
                      </a:r>
                      <a:endParaRPr lang="ru-RU" sz="700" b="0" i="0" u="none" strike="noStrike" kern="1200" dirty="0">
                        <a:solidFill>
                          <a:srgbClr val="000000"/>
                        </a:solidFill>
                        <a:effectLst/>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Labor relations and remuneration</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Establishment of additional controls, without the right to make decisions on an issue that is the subject of a conflict of interest: The Company issued an order limiting the participation of the declarant in assessments, certifications, controls and inspections, in which his decisions may affect the work of a close relative.</a:t>
                      </a:r>
                      <a:br>
                        <a:rPr lang="ru-RU" sz="700" b="0" i="0" u="none" strike="noStrike" kern="1200" dirty="0">
                          <a:solidFill>
                            <a:srgbClr val="000000"/>
                          </a:solidFill>
                          <a:effectLst/>
                          <a:latin typeface="Arial" panose="020B0604020202020204" pitchFamily="34" charset="0"/>
                          <a:ea typeface="+mn-ea"/>
                          <a:cs typeface="+mn-cs"/>
                        </a:rPr>
                      </a:br>
                      <a:r>
                        <a:rPr lang="ru-RU" sz="700" b="0" i="0" u="none" strike="noStrike" kern="1200" dirty="0">
                          <a:solidFill>
                            <a:srgbClr val="000000"/>
                          </a:solidFill>
                          <a:effectLst/>
                          <a:latin typeface="Arial" panose="020B0604020202020204" pitchFamily="34" charset="0"/>
                          <a:ea typeface="+mn-ea"/>
                          <a:cs typeface="+mn-cs"/>
                        </a:rPr>
                        <a:t/>
                      </a:r>
                      <a:r>
                        <a:rPr lang="ru-RU" sz="700" b="0" i="0" u="none" strike="noStrike" kern="1200" dirty="0" smtClean="0">
                          <a:solidFill>
                            <a:srgbClr val="000000"/>
                          </a:solidFill>
                          <a:effectLst/>
                          <a:latin typeface="Arial" panose="020B0604020202020204" pitchFamily="34" charset="0"/>
                          <a:ea typeface="+mn-ea"/>
                          <a:cs typeface="+mn-cs"/>
                        </a:rPr>
                        <a:t/>
                      </a:r>
                      <a:r>
                        <a:rPr lang="ru-RU" sz="700" b="0" i="0" u="none" strike="noStrike" kern="1200" dirty="0">
                          <a:solidFill>
                            <a:srgbClr val="000000"/>
                          </a:solidFill>
                          <a:effectLst/>
                          <a:latin typeface="Arial" panose="020B0604020202020204" pitchFamily="34" charset="0"/>
                          <a:ea typeface="+mn-ea"/>
                          <a:cs typeface="+mn-cs"/>
                        </a:rPr>
                        <a:t/>
                      </a:r>
                      <a:r>
                        <a:rPr lang="ru-RU" sz="700" b="0" i="0" u="none" strike="noStrike" kern="1200" dirty="0" smtClean="0">
                          <a:solidFill>
                            <a:srgbClr val="000000"/>
                          </a:solidFill>
                          <a:effectLst/>
                          <a:latin typeface="Arial" panose="020B0604020202020204" pitchFamily="34" charset="0"/>
                          <a:ea typeface="+mn-ea"/>
                          <a:cs typeface="+mn-cs"/>
                        </a:rPr>
                        <a:t/>
                      </a:r>
                      <a:endParaRPr lang="ru-RU" sz="700" b="0" i="0" u="none" strike="noStrike" kern="1200" dirty="0">
                        <a:solidFill>
                          <a:srgbClr val="000000"/>
                        </a:solidFill>
                        <a:effectLst/>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a:solidFill>
                            <a:srgbClr val="000000"/>
                          </a:solidFill>
                          <a:effectLst/>
                          <a:latin typeface="Arial" panose="020B0604020202020204" pitchFamily="34" charset="0"/>
                          <a:ea typeface="+mn-ea"/>
                          <a:cs typeface="+mn-cs"/>
                        </a:rPr>
                        <a:t xml:space="preserve">The measures have been completed.</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1956361"/>
                  </a:ext>
                </a:extLst>
              </a:tr>
              <a:tr h="403985">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BTS LLP</a:t>
                      </a:r>
                      <a:r>
                        <a:rPr lang="en-US" sz="700" b="0" i="0" u="none" strike="noStrike" kern="1200" dirty="0">
                          <a:solidFill>
                            <a:srgbClr val="000000"/>
                          </a:solidFill>
                          <a:effectLst/>
                          <a:latin typeface="Arial" panose="020B0604020202020204" pitchFamily="34" charset="0"/>
                          <a:ea typeface="+mn-ea"/>
                          <a:cs typeface="+mn-cs"/>
                        </a:rPr>
                        <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marR="0" lvl="0" indent="0" algn="l" defTabSz="583170" rtl="0" eaLnBrk="1" fontAlgn="ctr" latinLnBrk="0" hangingPunct="1">
                        <a:lnSpc>
                          <a:spcPct val="100000"/>
                        </a:lnSpc>
                        <a:spcBef>
                          <a:spcPts val="1200"/>
                        </a:spcBef>
                        <a:spcAft>
                          <a:spcPts val="1200"/>
                        </a:spcAft>
                        <a:buClrTx/>
                        <a:buSzTx/>
                        <a:buFontTx/>
                        <a:buNone/>
                        <a:tabLst/>
                        <a:defRPr/>
                      </a:pPr>
                      <a:r>
                        <a:rPr lang="ru-RU" sz="700" b="0" i="0" u="none" strike="noStrike" kern="1200" dirty="0" smtClean="0">
                          <a:solidFill>
                            <a:srgbClr val="000000"/>
                          </a:solidFill>
                          <a:effectLst/>
                          <a:latin typeface="Arial" panose="020B0604020202020204" pitchFamily="34" charset="0"/>
                          <a:ea typeface="+mn-ea"/>
                          <a:cs typeface="+mn-cs"/>
                        </a:rPr>
                        <a:t xml:space="preserve">The risk of CI in external business interests has been identified: the provision by the declarant of services under a GPC agreement in favor of a third party, which is a potential competitor of BTS LLP in the provision of IT services (development of projects to automate freight transportation processes), without obtaining prior approval from the management of BTS LLP.</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External business interests</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Other: The employee terminated his employment relationship with the Group.</a:t>
                      </a:r>
                      <a:r>
                        <a:rPr lang="ru-RU" sz="700" b="0" i="0" u="none" strike="noStrike" kern="1200" dirty="0" smtClean="0">
                          <a:solidFill>
                            <a:srgbClr val="000000"/>
                          </a:solidFill>
                          <a:effectLst/>
                          <a:latin typeface="Arial" panose="020B0604020202020204" pitchFamily="34" charset="0"/>
                          <a:ea typeface="+mn-ea"/>
                          <a:cs typeface="+mn-cs"/>
                        </a:rPr>
                        <a:t/>
                      </a:r>
                      <a:r>
                        <a:rPr lang="ru-RU" sz="700" b="0" i="0" u="none" strike="noStrike" kern="1200" dirty="0">
                          <a:solidFill>
                            <a:srgbClr val="000000"/>
                          </a:solidFill>
                          <a:effectLst/>
                          <a:latin typeface="Arial" panose="020B0604020202020204" pitchFamily="34" charset="0"/>
                          <a:ea typeface="+mn-ea"/>
                          <a:cs typeface="+mn-cs"/>
                        </a:rPr>
                        <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The measures have been completed.</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96122993"/>
                  </a:ext>
                </a:extLst>
              </a:tr>
              <a:tr h="557385">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JSC Aluminum of Kazakhstan</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marR="0" lvl="0" indent="0" algn="l" defTabSz="583170" rtl="0" eaLnBrk="1" fontAlgn="ctr" latinLnBrk="0" hangingPunct="1">
                        <a:lnSpc>
                          <a:spcPct val="100000"/>
                        </a:lnSpc>
                        <a:spcBef>
                          <a:spcPts val="1200"/>
                        </a:spcBef>
                        <a:spcAft>
                          <a:spcPts val="1200"/>
                        </a:spcAft>
                        <a:buClrTx/>
                        <a:buSzTx/>
                        <a:buFontTx/>
                        <a:buNone/>
                        <a:tabLst/>
                        <a:defRPr/>
                      </a:pPr>
                      <a:r>
                        <a:rPr lang="ru-RU" sz="700" b="0" i="0" u="none" strike="noStrike" kern="1200" dirty="0" smtClean="0">
                          <a:solidFill>
                            <a:srgbClr val="000000"/>
                          </a:solidFill>
                          <a:effectLst/>
                          <a:latin typeface="Arial" panose="020B0604020202020204" pitchFamily="34" charset="0"/>
                          <a:ea typeface="+mn-ea"/>
                          <a:cs typeface="+mn-cs"/>
                        </a:rPr>
                        <a:t xml:space="preserve">The risk of CI in the field of labor relations has been identified (the ability to allow cases of inspection and control when the decision of the declarant may have an impact on the work of close relatives): the declarant, being in the position of industrial safety engineer of FAO AK KBRU, will, among other things, supervise compliance with HSE norms and standards, as well as monitor the activities of FAO AK KBRU divisions in this area, including potentially in relation to the work of close relatives.</a:t>
                      </a:r>
                      <a:r>
                        <a:rPr lang="ru-RU" sz="700" b="0" i="0" u="none" strike="noStrike" kern="1200" dirty="0">
                          <a:solidFill>
                            <a:srgbClr val="000000"/>
                          </a:solidFill>
                          <a:effectLst/>
                          <a:latin typeface="Arial" panose="020B0604020202020204" pitchFamily="34" charset="0"/>
                          <a:ea typeface="+mn-ea"/>
                          <a:cs typeface="+mn-cs"/>
                        </a:rPr>
                        <a:t/>
                      </a:r>
                      <a:r>
                        <a:rPr lang="ru-RU" sz="700" b="0" i="0" u="none" strike="noStrike" kern="1200" dirty="0" err="1" smtClean="0">
                          <a:solidFill>
                            <a:srgbClr val="000000"/>
                          </a:solidFill>
                          <a:effectLst/>
                          <a:latin typeface="Arial" panose="020B0604020202020204" pitchFamily="34" charset="0"/>
                          <a:ea typeface="+mn-ea"/>
                          <a:cs typeface="+mn-cs"/>
                        </a:rPr>
                        <a:t/>
                      </a:r>
                      <a:r>
                        <a:rPr lang="ru-RU" sz="700" b="0" i="0" u="none" strike="noStrike" kern="1200" dirty="0" smtClean="0">
                          <a:solidFill>
                            <a:srgbClr val="000000"/>
                          </a:solidFill>
                          <a:effectLst/>
                          <a:latin typeface="Arial" panose="020B0604020202020204" pitchFamily="34" charset="0"/>
                          <a:ea typeface="+mn-ea"/>
                          <a:cs typeface="+mn-cs"/>
                        </a:rPr>
                        <a:t/>
                      </a:r>
                      <a:r>
                        <a:rPr lang="ru-RU" sz="700" b="0" i="0" u="none" strike="noStrike" kern="1200" dirty="0">
                          <a:solidFill>
                            <a:srgbClr val="000000"/>
                          </a:solidFill>
                          <a:effectLst/>
                          <a:latin typeface="Arial" panose="020B0604020202020204" pitchFamily="34" charset="0"/>
                          <a:ea typeface="+mn-ea"/>
                          <a:cs typeface="+mn-cs"/>
                        </a:rPr>
                        <a:t/>
                      </a:r>
                      <a:r>
                        <a:rPr lang="ru-RU" sz="700" b="0" i="0" u="none" strike="noStrike" kern="1200" dirty="0" smtClean="0">
                          <a:solidFill>
                            <a:srgbClr val="000000"/>
                          </a:solidFill>
                          <a:effectLst/>
                          <a:latin typeface="Arial" panose="020B0604020202020204" pitchFamily="34" charset="0"/>
                          <a:ea typeface="+mn-ea"/>
                          <a:cs typeface="+mn-cs"/>
                        </a:rPr>
                        <a:t/>
                      </a:r>
                      <a:endParaRPr lang="ru-RU" sz="700" b="0" i="0" u="none" strike="noStrike" kern="1200" dirty="0">
                        <a:solidFill>
                          <a:srgbClr val="000000"/>
                        </a:solidFill>
                        <a:effectLst/>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Labor relations and remuneration</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As of December 31, 2025, information is expected from JSC Aluminum of Kazakhstan on measures taken to resolve conflicts of interest.</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1200"/>
                        </a:spcBef>
                        <a:spcAft>
                          <a:spcPts val="1200"/>
                        </a:spcAft>
                      </a:pPr>
                      <a:r>
                        <a:rPr lang="ru-RU" sz="700" b="0" i="0" u="none" strike="noStrike" kern="1200" dirty="0" smtClean="0">
                          <a:solidFill>
                            <a:srgbClr val="000000"/>
                          </a:solidFill>
                          <a:effectLst/>
                          <a:latin typeface="Arial" panose="020B0604020202020204" pitchFamily="34" charset="0"/>
                          <a:ea typeface="+mn-ea"/>
                          <a:cs typeface="+mn-cs"/>
                        </a:rPr>
                        <a:t xml:space="preserve">It will be clarified based on the results of the measures taken.</a:t>
                      </a:r>
                      <a:r>
                        <a:rPr lang="ru-RU" sz="700" b="0" i="0" u="none" strike="noStrike" kern="1200" baseline="0" dirty="0" smtClean="0">
                          <a:solidFill>
                            <a:srgbClr val="000000"/>
                          </a:solidFill>
                          <a:effectLst/>
                          <a:latin typeface="Arial" panose="020B0604020202020204" pitchFamily="34" charset="0"/>
                          <a:ea typeface="+mn-ea"/>
                          <a:cs typeface="+mn-cs"/>
                        </a:rPr>
                        <a:t/>
                      </a:r>
                      <a:endParaRPr lang="en-US" sz="700" b="0" i="0" u="none" strike="noStrike" kern="1200" dirty="0">
                        <a:solidFill>
                          <a:srgbClr val="000000"/>
                        </a:solidFill>
                        <a:effectLst/>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9415571"/>
                  </a:ext>
                </a:extLst>
              </a:tr>
              <a:tr h="338342">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BTS LLP</a:t>
                      </a:r>
                      <a:r>
                        <a:rPr lang="en-US" sz="700" b="0" i="0" u="none" strike="noStrike" kern="1200" dirty="0">
                          <a:solidFill>
                            <a:srgbClr val="000000"/>
                          </a:solidFill>
                          <a:effectLst/>
                          <a:latin typeface="Arial" panose="020B0604020202020204" pitchFamily="34" charset="0"/>
                          <a:ea typeface="+mn-ea"/>
                          <a:cs typeface="+mn-cs"/>
                        </a:rPr>
                        <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smtClean="0">
                          <a:solidFill>
                            <a:srgbClr val="000000"/>
                          </a:solidFill>
                          <a:effectLst/>
                          <a:latin typeface="Arial" panose="020B0604020202020204" pitchFamily="34" charset="0"/>
                          <a:ea typeface="+mn-ea"/>
                          <a:cs typeface="+mn-cs"/>
                        </a:rPr>
                        <a:t xml:space="preserve">The risk of CI in external business interests has been identified: the participation of the declarant in commercial activities as a third party, which is a potential competitor of BTS LLP in the provision of IT services, without obtaining prior approval from the management of BTS LLP.</a:t>
                      </a:r>
                      <a:r>
                        <a:rPr lang="ru-RU" sz="700" b="0" i="0" u="none" strike="noStrike" kern="1200" dirty="0">
                          <a:solidFill>
                            <a:srgbClr val="000000"/>
                          </a:solidFill>
                          <a:effectLst/>
                          <a:latin typeface="Arial" panose="020B0604020202020204" pitchFamily="34" charset="0"/>
                          <a:ea typeface="+mn-ea"/>
                          <a:cs typeface="+mn-cs"/>
                        </a:rPr>
                        <a:t/>
                      </a:r>
                      <a:r>
                        <a:rPr lang="ru-RU" sz="700" b="0" i="0" u="none" strike="noStrike" kern="1200" dirty="0" smtClean="0">
                          <a:solidFill>
                            <a:srgbClr val="000000"/>
                          </a:solidFill>
                          <a:effectLst/>
                          <a:latin typeface="Arial" panose="020B0604020202020204" pitchFamily="34" charset="0"/>
                          <a:ea typeface="+mn-ea"/>
                          <a:cs typeface="+mn-cs"/>
                        </a:rPr>
                        <a:t/>
                      </a:r>
                      <a:r>
                        <a:rPr lang="ru-RU" sz="700" b="0" i="0" u="none" strike="noStrike" kern="1200" dirty="0">
                          <a:solidFill>
                            <a:srgbClr val="000000"/>
                          </a:solidFill>
                          <a:effectLst/>
                          <a:latin typeface="Arial" panose="020B0604020202020204" pitchFamily="34" charset="0"/>
                          <a:ea typeface="+mn-ea"/>
                          <a:cs typeface="+mn-cs"/>
                        </a:rPr>
                        <a:t/>
                      </a:r>
                      <a:r>
                        <a:rPr lang="ru-RU" sz="700" b="0" i="0" u="none" strike="noStrike" kern="1200" dirty="0" smtClean="0">
                          <a:solidFill>
                            <a:srgbClr val="000000"/>
                          </a:solidFill>
                          <a:effectLst/>
                          <a:latin typeface="Arial" panose="020B0604020202020204" pitchFamily="34" charset="0"/>
                          <a:ea typeface="+mn-ea"/>
                          <a:cs typeface="+mn-cs"/>
                        </a:rPr>
                        <a:t/>
                      </a:r>
                      <a:endParaRPr lang="ru-RU" sz="700" b="0" i="0" u="none" strike="noStrike" kern="1200" dirty="0">
                        <a:solidFill>
                          <a:srgbClr val="000000"/>
                        </a:solidFill>
                        <a:effectLst/>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External business interests</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As of December 31, 2025, information is expected from BTS LLP on measures taken to resolve conflicts of interest.</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marR="0" lvl="0" indent="0" algn="l" defTabSz="583170" rtl="0" eaLnBrk="1" fontAlgn="ctr" latinLnBrk="0" hangingPunct="1">
                        <a:lnSpc>
                          <a:spcPct val="100000"/>
                        </a:lnSpc>
                        <a:spcBef>
                          <a:spcPts val="1200"/>
                        </a:spcBef>
                        <a:spcAft>
                          <a:spcPts val="1200"/>
                        </a:spcAft>
                        <a:buClrTx/>
                        <a:buSzTx/>
                        <a:buFontTx/>
                        <a:buNone/>
                        <a:tabLst/>
                        <a:defRPr/>
                      </a:pPr>
                      <a:r>
                        <a:rPr kumimoji="0" lang="ru-RU" sz="7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xml:space="preserve">It will be clarified based on the results of the measures taken.</a:t>
                      </a:r>
                      <a:endParaRPr kumimoji="0" lang="en-US" sz="7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76821738"/>
                  </a:ext>
                </a:extLst>
              </a:tr>
              <a:tr h="666906">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Eurasian Group LLP</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smtClean="0">
                          <a:solidFill>
                            <a:srgbClr val="000000"/>
                          </a:solidFill>
                          <a:effectLst/>
                          <a:latin typeface="Arial" panose="020B0604020202020204" pitchFamily="34" charset="0"/>
                          <a:ea typeface="+mn-ea"/>
                          <a:cs typeface="+mn-cs"/>
                        </a:rPr>
                        <a:t xml:space="preserve">The risk of CI in the field of labor relations has been identified (the ability to allow cases of inspection and control when the decision of the declarant could potentially influence the work of a close relative): the declarant, being in the position of asset protection inspector of the Security Directorate of Eurasian Group LLP, among other things, checks for violations in the safety and accounting of inventory items, including their acceptance, storage, movement and write-off, organizes incoming control of inventory items in terms of quantity and quality, ensures the economic security of Perimeter companies, reviews appeals from applicants, incl. potentially in relation to the work of a close relative.</a:t>
                      </a:r>
                      <a:r>
                        <a:rPr lang="ru-RU" sz="700" b="0" i="0" u="none" strike="noStrike" kern="1200" dirty="0">
                          <a:solidFill>
                            <a:srgbClr val="000000"/>
                          </a:solidFill>
                          <a:effectLst/>
                          <a:latin typeface="Arial" panose="020B0604020202020204" pitchFamily="34" charset="0"/>
                          <a:ea typeface="+mn-ea"/>
                          <a:cs typeface="+mn-cs"/>
                        </a:rPr>
                        <a:t/>
                      </a:r>
                      <a:r>
                        <a:rPr lang="ru-RU" sz="700" b="0" i="0" u="none" strike="noStrike" kern="1200" dirty="0" smtClean="0">
                          <a:solidFill>
                            <a:srgbClr val="000000"/>
                          </a:solidFill>
                          <a:effectLst/>
                          <a:latin typeface="Arial" panose="020B0604020202020204" pitchFamily="34" charset="0"/>
                          <a:ea typeface="+mn-ea"/>
                          <a:cs typeface="+mn-cs"/>
                        </a:rPr>
                        <a:t/>
                      </a:r>
                      <a:r>
                        <a:rPr lang="ru-RU" sz="700" b="0" i="0" u="none" strike="noStrike" kern="1200" dirty="0">
                          <a:solidFill>
                            <a:srgbClr val="000000"/>
                          </a:solidFill>
                          <a:effectLst/>
                          <a:latin typeface="Arial" panose="020B0604020202020204" pitchFamily="34" charset="0"/>
                          <a:ea typeface="+mn-ea"/>
                          <a:cs typeface="+mn-cs"/>
                        </a:rPr>
                        <a:t/>
                      </a:r>
                      <a:r>
                        <a:rPr lang="ru-RU" sz="700" b="0" i="0" u="none" strike="noStrike" kern="1200" dirty="0" smtClean="0">
                          <a:solidFill>
                            <a:srgbClr val="000000"/>
                          </a:solidFill>
                          <a:effectLst/>
                          <a:latin typeface="Arial" panose="020B0604020202020204" pitchFamily="34" charset="0"/>
                          <a:ea typeface="+mn-ea"/>
                          <a:cs typeface="+mn-cs"/>
                        </a:rPr>
                        <a:t/>
                      </a:r>
                      <a:r>
                        <a:rPr lang="ru-RU" sz="700" b="0" i="0" u="none" strike="noStrike" kern="1200" dirty="0">
                          <a:solidFill>
                            <a:srgbClr val="000000"/>
                          </a:solidFill>
                          <a:effectLst/>
                          <a:latin typeface="Arial" panose="020B0604020202020204" pitchFamily="34" charset="0"/>
                          <a:ea typeface="+mn-ea"/>
                          <a:cs typeface="+mn-cs"/>
                        </a:rPr>
                        <a:t/>
                      </a:r>
                      <a:r>
                        <a:rPr lang="ru-RU" sz="700" b="0" i="0" u="none" strike="noStrike" kern="1200" dirty="0" err="1" smtClean="0">
                          <a:solidFill>
                            <a:srgbClr val="000000"/>
                          </a:solidFill>
                          <a:effectLst/>
                          <a:latin typeface="Arial" panose="020B0604020202020204" pitchFamily="34" charset="0"/>
                          <a:ea typeface="+mn-ea"/>
                          <a:cs typeface="+mn-cs"/>
                        </a:rPr>
                        <a:t/>
                      </a:r>
                      <a:r>
                        <a:rPr lang="ru-RU" sz="700" b="0" i="0" u="none" strike="noStrike" kern="1200" dirty="0" smtClean="0">
                          <a:solidFill>
                            <a:srgbClr val="000000"/>
                          </a:solidFill>
                          <a:effectLst/>
                          <a:latin typeface="Arial" panose="020B0604020202020204" pitchFamily="34" charset="0"/>
                          <a:ea typeface="+mn-ea"/>
                          <a:cs typeface="+mn-cs"/>
                        </a:rPr>
                        <a:t/>
                      </a:r>
                      <a:r>
                        <a:rPr lang="ru-RU" sz="700" b="0" i="0" u="none" strike="noStrike" kern="1200" dirty="0">
                          <a:solidFill>
                            <a:srgbClr val="000000"/>
                          </a:solidFill>
                          <a:effectLst/>
                          <a:latin typeface="Arial" panose="020B0604020202020204" pitchFamily="34" charset="0"/>
                          <a:ea typeface="+mn-ea"/>
                          <a:cs typeface="+mn-cs"/>
                        </a:rPr>
                        <a:t/>
                      </a:r>
                      <a:r>
                        <a:rPr lang="ru-RU" sz="700" b="0" i="0" u="none" strike="noStrike" kern="1200" dirty="0" smtClean="0">
                          <a:solidFill>
                            <a:srgbClr val="000000"/>
                          </a:solidFill>
                          <a:effectLst/>
                          <a:latin typeface="Arial" panose="020B0604020202020204" pitchFamily="34" charset="0"/>
                          <a:ea typeface="+mn-ea"/>
                          <a:cs typeface="+mn-cs"/>
                        </a:rPr>
                        <a:t/>
                      </a:r>
                      <a:endParaRPr lang="ru-RU" sz="700" b="0" i="0" u="none" strike="noStrike" kern="1200" dirty="0">
                        <a:solidFill>
                          <a:srgbClr val="000000"/>
                        </a:solidFill>
                        <a:effectLst/>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Labor relations and remuneration</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As of December 31, 2025, information on measures taken to resolve conflicts of interest is expected from the responsible specialists of Eurasian Group LLP.</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marR="0" lvl="0" indent="0" algn="l" defTabSz="583170" rtl="0" eaLnBrk="1" fontAlgn="ctr" latinLnBrk="0" hangingPunct="1">
                        <a:lnSpc>
                          <a:spcPct val="100000"/>
                        </a:lnSpc>
                        <a:spcBef>
                          <a:spcPts val="1200"/>
                        </a:spcBef>
                        <a:spcAft>
                          <a:spcPts val="1200"/>
                        </a:spcAft>
                        <a:buClrTx/>
                        <a:buSzTx/>
                        <a:buFontTx/>
                        <a:buNone/>
                        <a:tabLst/>
                        <a:defRPr/>
                      </a:pPr>
                      <a:r>
                        <a:rPr kumimoji="0" lang="ru-RU" sz="7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 xml:space="preserve">It will be clarified based on the results of the measures taken.</a:t>
                      </a:r>
                      <a:endParaRPr kumimoji="0" lang="en-US" sz="7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5902364"/>
                  </a:ext>
                </a:extLst>
              </a:tr>
              <a:tr h="666906">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JSC Shubarkol Komir</a:t>
                      </a:r>
                      <a:r>
                        <a:rPr lang="ru-RU" sz="700" b="0" i="0" u="none" strike="noStrike" kern="1200" dirty="0" err="1">
                          <a:solidFill>
                            <a:srgbClr val="000000"/>
                          </a:solidFill>
                          <a:effectLst/>
                          <a:latin typeface="Arial" panose="020B0604020202020204" pitchFamily="34" charset="0"/>
                          <a:ea typeface="+mn-ea"/>
                          <a:cs typeface="+mn-cs"/>
                        </a:rPr>
                        <a:t/>
                      </a:r>
                      <a:r>
                        <a:rPr lang="ru-RU" sz="700" b="0" i="0" u="none" strike="noStrike" kern="1200" dirty="0">
                          <a:solidFill>
                            <a:srgbClr val="000000"/>
                          </a:solidFill>
                          <a:effectLst/>
                          <a:latin typeface="Arial" panose="020B0604020202020204" pitchFamily="34" charset="0"/>
                          <a:ea typeface="+mn-ea"/>
                          <a:cs typeface="+mn-cs"/>
                        </a:rPr>
                        <a:t/>
                      </a:r>
                      <a:r>
                        <a:rPr lang="ru-RU" sz="700" b="0" i="0" u="none" strike="noStrike" kern="1200" dirty="0" err="1">
                          <a:solidFill>
                            <a:srgbClr val="000000"/>
                          </a:solidFill>
                          <a:effectLst/>
                          <a:latin typeface="Arial" panose="020B0604020202020204" pitchFamily="34" charset="0"/>
                          <a:ea typeface="+mn-ea"/>
                          <a:cs typeface="+mn-cs"/>
                        </a:rPr>
                        <a:t/>
                      </a:r>
                      <a:endParaRPr lang="ru-RU" sz="700" b="0" i="0" u="none" strike="noStrike" kern="1200" dirty="0">
                        <a:solidFill>
                          <a:srgbClr val="000000"/>
                        </a:solidFill>
                        <a:effectLst/>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smtClean="0">
                          <a:solidFill>
                            <a:srgbClr val="000000"/>
                          </a:solidFill>
                          <a:effectLst/>
                          <a:latin typeface="Arial" panose="020B0604020202020204" pitchFamily="34" charset="0"/>
                          <a:ea typeface="+mn-ea"/>
                          <a:cs typeface="+mn-cs"/>
                        </a:rPr>
                        <a:t xml:space="preserve">The risk of CI in the field of labor relations has been identified (the ability to allow cases of management, certification, inspection and control, when the decision of the declarant may influence the results of the work of a close relative): the declarant, being in the position of director of capital. construction of Shubarkol Komir JSC, also manages and coordinates the work of subordinate employees to ensure that employees fulfill planned tasks, monitors their compliance with labor and production discipline, makes proposals to senior management for incentives and the application of penalties for violations of discipline, incl. potentially in relation to the work of a close relative.</a:t>
                      </a:r>
                      <a:r>
                        <a:rPr lang="ru-RU" sz="700" b="0" i="0" u="none" strike="noStrike" kern="1200" dirty="0">
                          <a:solidFill>
                            <a:srgbClr val="000000"/>
                          </a:solidFill>
                          <a:effectLst/>
                          <a:latin typeface="Arial" panose="020B0604020202020204" pitchFamily="34" charset="0"/>
                          <a:ea typeface="+mn-ea"/>
                          <a:cs typeface="+mn-cs"/>
                        </a:rPr>
                        <a:t/>
                      </a:r>
                      <a:r>
                        <a:rPr lang="ru-RU" sz="700" b="0" i="0" u="none" strike="noStrike" kern="1200" dirty="0" smtClean="0">
                          <a:solidFill>
                            <a:srgbClr val="000000"/>
                          </a:solidFill>
                          <a:effectLst/>
                          <a:latin typeface="Arial" panose="020B0604020202020204" pitchFamily="34" charset="0"/>
                          <a:ea typeface="+mn-ea"/>
                          <a:cs typeface="+mn-cs"/>
                        </a:rPr>
                        <a:t/>
                      </a:r>
                      <a:r>
                        <a:rPr lang="ru-RU" sz="700" b="0" i="0" u="none" strike="noStrike" kern="1200" dirty="0">
                          <a:solidFill>
                            <a:srgbClr val="000000"/>
                          </a:solidFill>
                          <a:effectLst/>
                          <a:latin typeface="Arial" panose="020B0604020202020204" pitchFamily="34" charset="0"/>
                          <a:ea typeface="+mn-ea"/>
                          <a:cs typeface="+mn-cs"/>
                        </a:rPr>
                        <a:t/>
                      </a:r>
                      <a:r>
                        <a:rPr lang="ru-RU" sz="700" b="0" i="0" u="none" strike="noStrike" kern="1200" dirty="0" smtClean="0">
                          <a:solidFill>
                            <a:srgbClr val="000000"/>
                          </a:solidFill>
                          <a:effectLst/>
                          <a:latin typeface="Arial" panose="020B0604020202020204" pitchFamily="34" charset="0"/>
                          <a:ea typeface="+mn-ea"/>
                          <a:cs typeface="+mn-cs"/>
                        </a:rPr>
                        <a:t/>
                      </a:r>
                      <a:r>
                        <a:rPr lang="ru-RU" sz="700" b="0" i="0" u="none" strike="noStrike" kern="1200" dirty="0">
                          <a:solidFill>
                            <a:srgbClr val="000000"/>
                          </a:solidFill>
                          <a:effectLst/>
                          <a:latin typeface="Arial" panose="020B0604020202020204" pitchFamily="34" charset="0"/>
                          <a:ea typeface="+mn-ea"/>
                          <a:cs typeface="+mn-cs"/>
                        </a:rPr>
                        <a:t/>
                      </a:r>
                      <a:r>
                        <a:rPr lang="ru-RU" sz="700" b="0" i="0" u="none" strike="noStrike" kern="1200" dirty="0" err="1" smtClean="0">
                          <a:solidFill>
                            <a:srgbClr val="000000"/>
                          </a:solidFill>
                          <a:effectLst/>
                          <a:latin typeface="Arial" panose="020B0604020202020204" pitchFamily="34" charset="0"/>
                          <a:ea typeface="+mn-ea"/>
                          <a:cs typeface="+mn-cs"/>
                        </a:rPr>
                        <a:t/>
                      </a:r>
                      <a:r>
                        <a:rPr lang="ru-RU" sz="700" b="0" i="0" u="none" strike="noStrike" kern="1200" dirty="0" smtClean="0">
                          <a:solidFill>
                            <a:srgbClr val="000000"/>
                          </a:solidFill>
                          <a:effectLst/>
                          <a:latin typeface="Arial" panose="020B0604020202020204" pitchFamily="34" charset="0"/>
                          <a:ea typeface="+mn-ea"/>
                          <a:cs typeface="+mn-cs"/>
                        </a:rPr>
                        <a:t/>
                      </a:r>
                      <a:r>
                        <a:rPr lang="ru-RU" sz="700" b="0" i="0" u="none" strike="noStrike" kern="1200" dirty="0">
                          <a:solidFill>
                            <a:srgbClr val="000000"/>
                          </a:solidFill>
                          <a:effectLst/>
                          <a:latin typeface="Arial" panose="020B0604020202020204" pitchFamily="34" charset="0"/>
                          <a:ea typeface="+mn-ea"/>
                          <a:cs typeface="+mn-cs"/>
                        </a:rPr>
                        <a:t/>
                      </a:r>
                      <a:r>
                        <a:rPr lang="ru-RU" sz="700" b="0" i="0" u="none" strike="noStrike" kern="1200" dirty="0" smtClean="0">
                          <a:solidFill>
                            <a:srgbClr val="000000"/>
                          </a:solidFill>
                          <a:effectLst/>
                          <a:latin typeface="Arial" panose="020B0604020202020204" pitchFamily="34" charset="0"/>
                          <a:ea typeface="+mn-ea"/>
                          <a:cs typeface="+mn-cs"/>
                        </a:rPr>
                        <a:t/>
                      </a:r>
                      <a:endParaRPr lang="ru-RU" sz="700" b="0" i="0" u="none" strike="noStrike" kern="1200" dirty="0">
                        <a:solidFill>
                          <a:srgbClr val="000000"/>
                        </a:solidFill>
                        <a:effectLst/>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Labor relations and remuneration</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algn="l" rtl="0" fontAlgn="ctr">
                        <a:spcBef>
                          <a:spcPts val="1200"/>
                        </a:spcBef>
                        <a:spcAft>
                          <a:spcPts val="1200"/>
                        </a:spcAft>
                      </a:pPr>
                      <a:r>
                        <a:rPr lang="ru-RU" sz="700" b="0" i="0" u="none" strike="noStrike" kern="1200" dirty="0">
                          <a:solidFill>
                            <a:srgbClr val="000000"/>
                          </a:solidFill>
                          <a:effectLst/>
                          <a:latin typeface="Arial" panose="020B0604020202020204" pitchFamily="34" charset="0"/>
                          <a:ea typeface="+mn-ea"/>
                          <a:cs typeface="+mn-cs"/>
                        </a:rPr>
                        <a:t xml:space="preserve">As of December 31, 2025, information on measures taken to resolve conflicts of interest is expected from responsible specialists of JSC Shubarkol Komir.</a:t>
                      </a: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6000" marR="0" lvl="0" indent="0" algn="l" defTabSz="583170" rtl="0" eaLnBrk="1" fontAlgn="ctr" latinLnBrk="0" hangingPunct="1">
                        <a:lnSpc>
                          <a:spcPct val="100000"/>
                        </a:lnSpc>
                        <a:spcBef>
                          <a:spcPts val="1200"/>
                        </a:spcBef>
                        <a:spcAft>
                          <a:spcPts val="1200"/>
                        </a:spcAft>
                        <a:buClrTx/>
                        <a:buSzTx/>
                        <a:buFontTx/>
                        <a:buNone/>
                        <a:tabLst/>
                        <a:defRPr/>
                      </a:pPr>
                      <a:r>
                        <a:rPr kumimoji="0" lang="ru-RU" sz="7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xml:space="preserve">It will be clarified based on the results of the measures taken.</a:t>
                      </a:r>
                      <a:endParaRPr kumimoji="0" lang="en-US" sz="7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marL="9525" marR="9525" marT="9525" marB="0"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46729493"/>
                  </a:ext>
                </a:extLst>
              </a:tr>
            </a:tbl>
          </a:graphicData>
        </a:graphic>
      </p:graphicFrame>
    </p:spTree>
    <p:extLst>
      <p:ext uri="{BB962C8B-B14F-4D97-AF65-F5344CB8AC3E}">
        <p14:creationId xmlns:p14="http://schemas.microsoft.com/office/powerpoint/2010/main" val="422472864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016D0-380D-777B-5FB2-003D93A8411A}"/>
            </a:ext>
          </a:extLst>
        </p:cNvPr>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8A5D452E-57F8-4528-494B-1D375C225B5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6656" name="think-cell Slide" r:id="rId6" imgW="473" imgH="473" progId="TCLayout.ActiveDocument.1">
                  <p:embed/>
                </p:oleObj>
              </mc:Choice>
              <mc:Fallback>
                <p:oleObj name="think-cell Slide" r:id="rId6" imgW="473" imgH="473" progId="TCLayout.ActiveDocument.1">
                  <p:embed/>
                  <p:pic>
                    <p:nvPicPr>
                      <p:cNvPr id="19" name="Object 18" hidden="1">
                        <a:extLst>
                          <a:ext uri="{FF2B5EF4-FFF2-40B4-BE49-F238E27FC236}">
                            <a16:creationId xmlns:a16="http://schemas.microsoft.com/office/drawing/2014/main" id="{8A5D452E-57F8-4528-494B-1D375C225B52}"/>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FE1A2F1-9CA1-B3EE-1B87-54F1999162D3}"/>
              </a:ext>
            </a:extLst>
          </p:cNvPr>
          <p:cNvSpPr>
            <a:spLocks noGrp="1"/>
          </p:cNvSpPr>
          <p:nvPr>
            <p:ph type="title"/>
          </p:nvPr>
        </p:nvSpPr>
        <p:spPr/>
        <p:txBody>
          <a:bodyPr vert="horz" rtlCol="0"/>
          <a:lstStyle/>
          <a:p>
            <a:r>
              <a:rPr lang="ru-RU" dirty="0" smtClean="0"/>
              <a:t>Прил.6: </a:t>
            </a:r>
            <a:r>
              <a:rPr lang="ru" dirty="0"/>
              <a:t>Управление рисками</a:t>
            </a:r>
            <a:r>
              <a:rPr lang="ru" dirty="0" smtClean="0"/>
              <a:t>:</a:t>
            </a:r>
            <a:r>
              <a:rPr lang="ru-RU" dirty="0"/>
              <a:t/>
            </a:r>
            <a:br>
              <a:rPr lang="ru-RU" dirty="0"/>
            </a:br>
            <a:r>
              <a:rPr lang="ru-RU" dirty="0" smtClean="0">
                <a:solidFill>
                  <a:schemeClr val="tx1"/>
                </a:solidFill>
              </a:rPr>
              <a:t>Конфликт интересов – </a:t>
            </a:r>
            <a:r>
              <a:rPr lang="ru-RU" dirty="0">
                <a:solidFill>
                  <a:schemeClr val="tx1"/>
                </a:solidFill>
              </a:rPr>
              <a:t>Результаты самотестирования эффективности контролей </a:t>
            </a:r>
            <a:endParaRPr lang="ru" i="1" noProof="0" dirty="0">
              <a:solidFill>
                <a:schemeClr val="tx1"/>
              </a:solidFill>
            </a:endParaRPr>
          </a:p>
        </p:txBody>
      </p:sp>
      <p:sp>
        <p:nvSpPr>
          <p:cNvPr id="6" name="Rectangle 69">
            <a:extLst>
              <a:ext uri="{FF2B5EF4-FFF2-40B4-BE49-F238E27FC236}">
                <a16:creationId xmlns:a16="http://schemas.microsoft.com/office/drawing/2014/main" id="{07F91F90-4C57-41BC-88ED-01FAE32498F4}"/>
              </a:ext>
            </a:extLst>
          </p:cNvPr>
          <p:cNvSpPr/>
          <p:nvPr>
            <p:custDataLst>
              <p:tags r:id="rId3"/>
            </p:custDataLst>
          </p:nvPr>
        </p:nvSpPr>
        <p:spPr bwMode="gray">
          <a:xfrm>
            <a:off x="3063875" y="2780463"/>
            <a:ext cx="285750" cy="109538"/>
          </a:xfrm>
          <a:prstGeom prst="rect">
            <a:avLst/>
          </a:prstGeom>
          <a:noFill/>
          <a:ln w="9525">
            <a:noFill/>
          </a:ln>
          <a:effectLst/>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en-US" sz="800" dirty="0">
              <a:solidFill>
                <a:schemeClr val="tx1"/>
              </a:solidFill>
            </a:endParaRPr>
          </a:p>
        </p:txBody>
      </p:sp>
      <p:graphicFrame>
        <p:nvGraphicFramePr>
          <p:cNvPr id="7" name="Table 4">
            <a:extLst>
              <a:ext uri="{FF2B5EF4-FFF2-40B4-BE49-F238E27FC236}">
                <a16:creationId xmlns:a16="http://schemas.microsoft.com/office/drawing/2014/main" id="{0EB18A13-7E4B-4F3E-9A77-10F15DD47A50}"/>
              </a:ext>
            </a:extLst>
          </p:cNvPr>
          <p:cNvGraphicFramePr>
            <a:graphicFrameLocks noGrp="1"/>
          </p:cNvGraphicFramePr>
          <p:nvPr>
            <p:extLst>
              <p:ext uri="{D42A27DB-BD31-4B8C-83A1-F6EECF244321}">
                <p14:modId xmlns:p14="http://schemas.microsoft.com/office/powerpoint/2010/main" val="2488788723"/>
              </p:ext>
            </p:extLst>
          </p:nvPr>
        </p:nvGraphicFramePr>
        <p:xfrm>
          <a:off x="253528" y="1376582"/>
          <a:ext cx="11617768" cy="3244864"/>
        </p:xfrm>
        <a:graphic>
          <a:graphicData uri="http://schemas.openxmlformats.org/drawingml/2006/table">
            <a:tbl>
              <a:tblPr>
                <a:tableStyleId>{5C22544A-7EE6-4342-B048-85BDC9FD1C3A}</a:tableStyleId>
              </a:tblPr>
              <a:tblGrid>
                <a:gridCol w="2716646">
                  <a:extLst>
                    <a:ext uri="{9D8B030D-6E8A-4147-A177-3AD203B41FA5}">
                      <a16:colId xmlns:a16="http://schemas.microsoft.com/office/drawing/2014/main" val="3005219149"/>
                    </a:ext>
                  </a:extLst>
                </a:gridCol>
                <a:gridCol w="2958194">
                  <a:extLst>
                    <a:ext uri="{9D8B030D-6E8A-4147-A177-3AD203B41FA5}">
                      <a16:colId xmlns:a16="http://schemas.microsoft.com/office/drawing/2014/main" val="1626738559"/>
                    </a:ext>
                  </a:extLst>
                </a:gridCol>
                <a:gridCol w="2246935">
                  <a:extLst>
                    <a:ext uri="{9D8B030D-6E8A-4147-A177-3AD203B41FA5}">
                      <a16:colId xmlns:a16="http://schemas.microsoft.com/office/drawing/2014/main" val="407392821"/>
                    </a:ext>
                  </a:extLst>
                </a:gridCol>
                <a:gridCol w="3695993">
                  <a:extLst>
                    <a:ext uri="{9D8B030D-6E8A-4147-A177-3AD203B41FA5}">
                      <a16:colId xmlns:a16="http://schemas.microsoft.com/office/drawing/2014/main" val="1015913220"/>
                    </a:ext>
                  </a:extLst>
                </a:gridCol>
              </a:tblGrid>
              <a:tr h="1607682">
                <a:tc>
                  <a:txBody>
                    <a:bodyPr/>
                    <a:lstStyle/>
                    <a:p>
                      <a:pPr marL="0" algn="l" defTabSz="583170" rtl="0" eaLnBrk="1" fontAlgn="ctr" latinLnBrk="0" hangingPunct="1"/>
                      <a:endParaRPr lang="ru-RU" sz="900" b="1" u="none" strike="noStrike" kern="1200" baseline="0" dirty="0">
                        <a:solidFill>
                          <a:schemeClr val="dk1"/>
                        </a:solidFill>
                        <a:effectLst/>
                        <a:latin typeface="+mn-lt"/>
                        <a:ea typeface="+mn-ea"/>
                        <a:cs typeface="+mn-cs"/>
                      </a:endParaRPr>
                    </a:p>
                  </a:txBody>
                  <a:tcPr marL="0" marR="0" marT="72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0487" indent="0" algn="just" fontAlgn="ctr">
                        <a:spcBef>
                          <a:spcPts val="0"/>
                        </a:spcBef>
                        <a:buFont typeface="Arial" panose="020B0604020202020204" pitchFamily="34" charset="0"/>
                        <a:buNone/>
                      </a:pPr>
                      <a:r>
                        <a:rPr lang="ru-RU" sz="900" b="0" i="0" u="none" strike="noStrike" kern="1200" cap="none" spc="0" baseline="0" dirty="0">
                          <a:ln>
                            <a:noFill/>
                          </a:ln>
                          <a:solidFill>
                            <a:schemeClr val="tx1"/>
                          </a:solidFill>
                          <a:effectLst/>
                          <a:latin typeface="+mn-lt"/>
                          <a:ea typeface="+mn-ea"/>
                          <a:cs typeface="+mn-cs"/>
                        </a:rPr>
                        <a:t xml:space="preserve">Declarations were not provided for 336 employees (2%) out of 14,695 employees subject to declaration.</a:t>
                      </a:r>
                    </a:p>
                  </a:txBody>
                  <a:tcPr marL="0" marR="0" marT="72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10672" lvl="1" indent="-228600" algn="l" fontAlgn="ctr">
                        <a:spcBef>
                          <a:spcPts val="600"/>
                        </a:spcBef>
                        <a:buFont typeface="+mj-lt"/>
                        <a:buAutoNum type="arabicPeriod"/>
                      </a:pPr>
                      <a:endParaRPr lang="ru-RU" sz="900" b="0" i="0" u="none" strike="noStrike" kern="1200" baseline="0" dirty="0">
                        <a:solidFill>
                          <a:schemeClr val="tx1"/>
                        </a:solidFill>
                        <a:effectLst/>
                        <a:latin typeface="+mn-lt"/>
                        <a:ea typeface="+mn-ea"/>
                        <a:cs typeface="+mn-cs"/>
                      </a:endParaRPr>
                    </a:p>
                  </a:txBody>
                  <a:tcPr marL="0" marR="0" marT="72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0487" indent="0" algn="l" fontAlgn="ctr">
                        <a:spcBef>
                          <a:spcPts val="600"/>
                        </a:spcBef>
                        <a:buFont typeface="Arial" panose="020B0604020202020204" pitchFamily="34" charset="0"/>
                        <a:buNone/>
                      </a:pPr>
                      <a:r>
                        <a:rPr lang="ru-RU" sz="900" b="0" i="0" u="none" strike="noStrike" kern="1200" baseline="0" dirty="0">
                          <a:solidFill>
                            <a:schemeClr val="tx1"/>
                          </a:solidFill>
                          <a:effectLst/>
                          <a:latin typeface="+mn-lt"/>
                          <a:ea typeface="+mn-ea"/>
                          <a:cs typeface="+mn-cs"/>
                        </a:rPr>
                        <a:t xml:space="preserve">At the same time, out of 336 employees:</a:t>
                      </a:r>
                    </a:p>
                    <a:p>
                      <a:pPr marL="538163" lvl="1" indent="-157163" algn="l" fontAlgn="ctr">
                        <a:spcBef>
                          <a:spcPts val="600"/>
                        </a:spcBef>
                        <a:buClr>
                          <a:schemeClr val="accent5">
                            <a:lumMod val="75000"/>
                            <a:lumOff val="25000"/>
                          </a:schemeClr>
                        </a:buClr>
                        <a:buFont typeface="+mj-lt"/>
                        <a:buAutoNum type="arabicPeriod"/>
                      </a:pPr>
                      <a:r>
                        <a:rPr lang="ru-RU" sz="900" b="0" i="0" u="none" strike="noStrike" kern="1200" baseline="0" dirty="0">
                          <a:solidFill>
                            <a:schemeClr val="tx1"/>
                          </a:solidFill>
                          <a:effectLst/>
                          <a:latin typeface="+mn-lt"/>
                          <a:ea typeface="+mn-ea"/>
                          <a:cs typeface="+mn-cs"/>
                        </a:rPr>
                        <a:t xml:space="preserve">266 (79%) employees were employed by the Group until 2025.</a:t>
                      </a:r>
                      <a:endParaRPr lang="ru-RU" sz="900" b="0" i="0" u="none" strike="noStrike" kern="1200" baseline="0" dirty="0">
                        <a:solidFill>
                          <a:srgbClr val="FF0000"/>
                        </a:solidFill>
                        <a:effectLst/>
                        <a:latin typeface="+mn-lt"/>
                        <a:ea typeface="+mn-ea"/>
                        <a:cs typeface="+mn-cs"/>
                      </a:endParaRPr>
                    </a:p>
                    <a:p>
                      <a:pPr marL="538163" lvl="1" indent="-157163" algn="l" fontAlgn="ctr">
                        <a:spcBef>
                          <a:spcPts val="600"/>
                        </a:spcBef>
                        <a:buClr>
                          <a:schemeClr val="accent5">
                            <a:lumMod val="75000"/>
                            <a:lumOff val="25000"/>
                          </a:schemeClr>
                        </a:buClr>
                        <a:buFont typeface="+mj-lt"/>
                        <a:buAutoNum type="arabicPeriod"/>
                      </a:pPr>
                      <a:r>
                        <a:rPr lang="ru-RU" sz="900" b="0" i="0" u="none" strike="noStrike" kern="1200" baseline="0" dirty="0">
                          <a:solidFill>
                            <a:schemeClr val="tx1"/>
                          </a:solidFill>
                          <a:effectLst/>
                          <a:latin typeface="+mn-lt"/>
                          <a:ea typeface="+mn-ea"/>
                          <a:cs typeface="+mn-cs"/>
                        </a:rPr>
                        <a:t xml:space="preserve">70 (21%) employees were employed by the Group in 2025.</a:t>
                      </a:r>
                    </a:p>
                    <a:p>
                      <a:pPr marL="382072" lvl="1" indent="0" algn="l" fontAlgn="ctr">
                        <a:spcBef>
                          <a:spcPts val="600"/>
                        </a:spcBef>
                        <a:buFont typeface="+mj-lt"/>
                        <a:buNone/>
                      </a:pPr>
                      <a:endParaRPr lang="ru-RU" sz="900" b="0" i="0" u="none" strike="noStrike" kern="1200" baseline="0" dirty="0">
                        <a:solidFill>
                          <a:schemeClr val="tx1"/>
                        </a:solidFill>
                        <a:effectLst/>
                        <a:latin typeface="+mn-lt"/>
                        <a:ea typeface="+mn-ea"/>
                        <a:cs typeface="+mn-cs"/>
                      </a:endParaRPr>
                    </a:p>
                  </a:txBody>
                  <a:tcPr marL="0" marR="0" marT="72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496408"/>
                  </a:ext>
                </a:extLst>
              </a:tr>
              <a:tr h="1637182">
                <a:tc>
                  <a:txBody>
                    <a:bodyPr/>
                    <a:lstStyle/>
                    <a:p>
                      <a:pPr marL="0" algn="l" defTabSz="583170" rtl="0" eaLnBrk="1" fontAlgn="ctr" latinLnBrk="0" hangingPunct="1"/>
                      <a:endParaRPr lang="en-US" sz="900" b="1" u="none" strike="noStrike" kern="1200" dirty="0">
                        <a:solidFill>
                          <a:schemeClr val="dk1"/>
                        </a:solidFill>
                        <a:effectLst/>
                        <a:latin typeface="+mn-lt"/>
                        <a:ea typeface="+mn-ea"/>
                        <a:cs typeface="+mn-cs"/>
                      </a:endParaRPr>
                    </a:p>
                  </a:txBody>
                  <a:tcPr marL="0" marR="0" marT="72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0487" indent="0" algn="just" fontAlgn="ctr">
                        <a:spcBef>
                          <a:spcPts val="600"/>
                        </a:spcBef>
                        <a:buFont typeface="Arial" panose="020B0604020202020204" pitchFamily="34" charset="0"/>
                        <a:buNone/>
                      </a:pPr>
                      <a:r>
                        <a:rPr lang="ru-RU" sz="900" b="0" i="0" u="none" strike="noStrike" kern="1200" baseline="0" dirty="0">
                          <a:solidFill>
                            <a:schemeClr val="tx1"/>
                          </a:solidFill>
                          <a:effectLst/>
                          <a:latin typeface="+mn-lt"/>
                          <a:ea typeface="+mn-ea"/>
                          <a:cs typeface="+mn-cs"/>
                        </a:rPr>
                        <a:t xml:space="preserve">There is a positive trend in reducing the number of unsubmitted declarations</a:t>
                      </a:r>
                    </a:p>
                  </a:txBody>
                  <a:tcPr marL="0" marR="0" marT="72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82072" lvl="1" indent="0" algn="l" fontAlgn="ctr">
                        <a:spcBef>
                          <a:spcPts val="600"/>
                        </a:spcBef>
                        <a:buFont typeface="Wingdings" panose="05000000000000000000" pitchFamily="2" charset="2"/>
                        <a:buNone/>
                      </a:pPr>
                      <a:endParaRPr lang="ru-RU" sz="900" b="0" i="0" u="none" strike="noStrike" kern="1200" baseline="0" dirty="0">
                        <a:solidFill>
                          <a:schemeClr val="tx1"/>
                        </a:solidFill>
                        <a:effectLst/>
                        <a:latin typeface="+mn-lt"/>
                        <a:ea typeface="+mn-ea"/>
                        <a:cs typeface="+mn-cs"/>
                      </a:endParaRPr>
                    </a:p>
                  </a:txBody>
                  <a:tcPr marL="0" marR="0" marT="72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82072" marR="0" lvl="1" indent="0" algn="l" defTabSz="583170" rtl="0" eaLnBrk="1" fontAlgn="ctr" latinLnBrk="0" hangingPunct="1">
                        <a:lnSpc>
                          <a:spcPct val="100000"/>
                        </a:lnSpc>
                        <a:spcBef>
                          <a:spcPts val="600"/>
                        </a:spcBef>
                        <a:spcAft>
                          <a:spcPts val="0"/>
                        </a:spcAft>
                        <a:buClrTx/>
                        <a:buSzTx/>
                        <a:buFont typeface="Arial" panose="020B0604020202020204" pitchFamily="34" charset="0"/>
                        <a:buNone/>
                        <a:tabLst/>
                        <a:defRPr/>
                      </a:pPr>
                      <a:endParaRPr lang="ru-RU" sz="900" b="0" i="0" u="none" strike="noStrike" kern="1200" baseline="0" dirty="0">
                        <a:solidFill>
                          <a:schemeClr val="tx1"/>
                        </a:solidFill>
                        <a:effectLst/>
                        <a:latin typeface="+mn-lt"/>
                        <a:ea typeface="+mn-ea"/>
                        <a:cs typeface="+mn-cs"/>
                      </a:endParaRPr>
                    </a:p>
                    <a:p>
                      <a:pPr marL="382072" marR="0" lvl="1" indent="0" algn="just" defTabSz="583170" rtl="0" eaLnBrk="1" fontAlgn="ctr" latinLnBrk="0" hangingPunct="1">
                        <a:lnSpc>
                          <a:spcPct val="100000"/>
                        </a:lnSpc>
                        <a:spcBef>
                          <a:spcPts val="0"/>
                        </a:spcBef>
                        <a:spcAft>
                          <a:spcPts val="0"/>
                        </a:spcAft>
                        <a:buClrTx/>
                        <a:buSzTx/>
                        <a:buFont typeface="Arial" panose="020B0604020202020204" pitchFamily="34" charset="0"/>
                        <a:buNone/>
                        <a:tabLst/>
                        <a:defRPr/>
                      </a:pPr>
                      <a:r>
                        <a:rPr lang="ru-RU" sz="900" b="0" i="0" u="none" strike="noStrike" kern="1200" baseline="0" dirty="0">
                          <a:solidFill>
                            <a:schemeClr val="tx1"/>
                          </a:solidFill>
                          <a:effectLst/>
                          <a:latin typeface="+mn-lt"/>
                          <a:ea typeface="+mn-ea"/>
                          <a:cs typeface="+mn-cs"/>
                        </a:rPr>
                        <a:t xml:space="preserve">About 5.9% of declarations of the total number of employed workers in the “RSS” category were not submitted for analysis to the Compliance Directorate (as of December 8, 2025, 1,206 employees in the “RSS” category were employed in the companies of the Perimeter Kazakhstan Group in 2025 (according to SAP HR data)).</a:t>
                      </a:r>
                      <a:r>
                        <a:rPr lang="kk-KZ" sz="900" b="0" i="0" u="none" strike="noStrike" kern="1200" baseline="0" dirty="0">
                          <a:solidFill>
                            <a:schemeClr val="tx1"/>
                          </a:solidFill>
                          <a:effectLst/>
                          <a:latin typeface="+mn-lt"/>
                          <a:ea typeface="+mn-ea"/>
                          <a:cs typeface="+mn-cs"/>
                        </a:rPr>
                        <a:t/>
                      </a:r>
                      <a:r>
                        <a:rPr lang="ru-RU" sz="900" b="0" i="0" u="none" strike="noStrike" kern="1200" baseline="0" dirty="0">
                          <a:solidFill>
                            <a:schemeClr val="tx1"/>
                          </a:solidFill>
                          <a:effectLst/>
                          <a:latin typeface="+mn-lt"/>
                          <a:ea typeface="+mn-ea"/>
                          <a:cs typeface="+mn-cs"/>
                        </a:rPr>
                        <a:t/>
                      </a:r>
                      <a:r>
                        <a:rPr lang="en-US" sz="900" b="0" i="0" u="none" strike="noStrike" kern="1200" baseline="0" dirty="0">
                          <a:solidFill>
                            <a:schemeClr val="tx1"/>
                          </a:solidFill>
                          <a:effectLst/>
                          <a:latin typeface="+mn-lt"/>
                          <a:ea typeface="+mn-ea"/>
                          <a:cs typeface="+mn-cs"/>
                        </a:rPr>
                        <a:t/>
                      </a:r>
                      <a:r>
                        <a:rPr lang="ru-RU" sz="900" b="0" i="0" u="none" strike="noStrike" kern="1200" baseline="0" dirty="0">
                          <a:solidFill>
                            <a:schemeClr val="tx1"/>
                          </a:solidFill>
                          <a:effectLst/>
                          <a:latin typeface="+mn-lt"/>
                          <a:ea typeface="+mn-ea"/>
                          <a:cs typeface="+mn-cs"/>
                        </a:rPr>
                        <a:t/>
                      </a:r>
                    </a:p>
                  </a:txBody>
                  <a:tcPr marL="0" marR="0" marT="72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0798736"/>
                  </a:ext>
                </a:extLst>
              </a:tr>
            </a:tbl>
          </a:graphicData>
        </a:graphic>
      </p:graphicFrame>
      <p:graphicFrame>
        <p:nvGraphicFramePr>
          <p:cNvPr id="10" name="Диаграмма 9"/>
          <p:cNvGraphicFramePr/>
          <p:nvPr>
            <p:extLst>
              <p:ext uri="{D42A27DB-BD31-4B8C-83A1-F6EECF244321}">
                <p14:modId xmlns:p14="http://schemas.microsoft.com/office/powerpoint/2010/main" val="4213418114"/>
              </p:ext>
            </p:extLst>
          </p:nvPr>
        </p:nvGraphicFramePr>
        <p:xfrm>
          <a:off x="347836" y="3069146"/>
          <a:ext cx="2523963" cy="1263616"/>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1" name="Диаграмма 10"/>
          <p:cNvGraphicFramePr/>
          <p:nvPr>
            <p:extLst>
              <p:ext uri="{D42A27DB-BD31-4B8C-83A1-F6EECF244321}">
                <p14:modId xmlns:p14="http://schemas.microsoft.com/office/powerpoint/2010/main" val="422923963"/>
              </p:ext>
            </p:extLst>
          </p:nvPr>
        </p:nvGraphicFramePr>
        <p:xfrm>
          <a:off x="490960" y="1227124"/>
          <a:ext cx="2315849" cy="1771889"/>
        </p:xfrm>
        <a:graphic>
          <a:graphicData uri="http://schemas.openxmlformats.org/drawingml/2006/chart">
            <c:chart xmlns:c="http://schemas.openxmlformats.org/drawingml/2006/chart" xmlns:r="http://schemas.openxmlformats.org/officeDocument/2006/relationships" r:id="rId9"/>
          </a:graphicData>
        </a:graphic>
      </p:graphicFrame>
      <p:sp>
        <p:nvSpPr>
          <p:cNvPr id="12" name="Прямоугольник 11"/>
          <p:cNvSpPr/>
          <p:nvPr/>
        </p:nvSpPr>
        <p:spPr>
          <a:xfrm>
            <a:off x="158750" y="976473"/>
            <a:ext cx="11656888" cy="369332"/>
          </a:xfrm>
          <a:prstGeom prst="rect">
            <a:avLst/>
          </a:prstGeom>
        </p:spPr>
        <p:txBody>
          <a:bodyPr wrap="square">
            <a:spAutoFit/>
          </a:bodyPr>
          <a:lstStyle/>
          <a:p>
            <a:pPr marL="90487" algn="just" fontAlgn="ctr"/>
            <a:r>
              <a:rPr lang="ru-RU" sz="900" dirty="0"/>
              <a:t xml:space="preserve">In December 2025, the Compliance Directorate carried out a complete data reconciliation between the number of declarations submitted to the Compliance Directorate and the full-time number of employees of Perimeter companies (100%) who were required to submit declarations (in accordance with SAP HR data and data from enterprises outside SAP HR as of 12/08/2025).</a:t>
            </a:r>
            <a:r>
              <a:rPr lang="en-US" sz="900" dirty="0"/>
              <a:t/>
            </a:r>
            <a:r>
              <a:rPr lang="ru-RU" sz="900" dirty="0"/>
              <a:t/>
            </a:r>
            <a:r>
              <a:rPr lang="en-US" sz="900" dirty="0"/>
              <a:t/>
            </a:r>
            <a:r>
              <a:rPr lang="ru-RU" sz="900" dirty="0"/>
              <a:t/>
            </a:r>
          </a:p>
        </p:txBody>
      </p:sp>
      <p:graphicFrame>
        <p:nvGraphicFramePr>
          <p:cNvPr id="13" name="Диаграмма 12"/>
          <p:cNvGraphicFramePr/>
          <p:nvPr>
            <p:extLst>
              <p:ext uri="{D42A27DB-BD31-4B8C-83A1-F6EECF244321}">
                <p14:modId xmlns:p14="http://schemas.microsoft.com/office/powerpoint/2010/main" val="1076951951"/>
              </p:ext>
            </p:extLst>
          </p:nvPr>
        </p:nvGraphicFramePr>
        <p:xfrm>
          <a:off x="6052908" y="1565295"/>
          <a:ext cx="2168740" cy="1215168"/>
        </p:xfrm>
        <a:graphic>
          <a:graphicData uri="http://schemas.openxmlformats.org/drawingml/2006/chart">
            <c:chart xmlns:c="http://schemas.openxmlformats.org/drawingml/2006/chart" xmlns:r="http://schemas.openxmlformats.org/officeDocument/2006/relationships" r:id="rId10"/>
          </a:graphicData>
        </a:graphic>
      </p:graphicFrame>
      <p:sp>
        <p:nvSpPr>
          <p:cNvPr id="14" name="Прямоугольник 13"/>
          <p:cNvSpPr/>
          <p:nvPr/>
        </p:nvSpPr>
        <p:spPr>
          <a:xfrm>
            <a:off x="253528" y="4721277"/>
            <a:ext cx="11617768" cy="1477328"/>
          </a:xfrm>
          <a:prstGeom prst="rect">
            <a:avLst/>
          </a:prstGeom>
        </p:spPr>
        <p:txBody>
          <a:bodyPr wrap="square">
            <a:spAutoFit/>
          </a:bodyPr>
          <a:lstStyle/>
          <a:p>
            <a:pPr marL="90487" algn="just" fontAlgn="ctr"/>
            <a:r>
              <a:rPr lang="ru-RU" sz="900" dirty="0"/>
              <a:t xml:space="preserve">The results of the reconciliation were sent to the heads of the companies of the Perimeter Kazakhstan Group, incl. to human resources services to ensure the provision of declarations taking into account identified inconsistencies.</a:t>
            </a:r>
            <a:r>
              <a:rPr lang="ru-RU" sz="900" dirty="0" err="1"/>
              <a:t/>
            </a:r>
            <a:r>
              <a:rPr lang="ru-RU" sz="900" dirty="0"/>
              <a:t/>
            </a:r>
            <a:r>
              <a:rPr lang="ru-RU" sz="900" dirty="0">
                <a:cs typeface="Arial" panose="020B0604020202020204" pitchFamily="34" charset="0"/>
              </a:rPr>
              <a:t/>
            </a:r>
            <a:r>
              <a:rPr lang="ru-RU" sz="900" dirty="0"/>
              <a:t/>
            </a:r>
            <a:r>
              <a:rPr lang="ru-RU" sz="900" dirty="0">
                <a:cs typeface="Arial" panose="020B0604020202020204" pitchFamily="34" charset="0"/>
              </a:rPr>
              <a:t/>
            </a:r>
          </a:p>
          <a:p>
            <a:pPr marL="90487" algn="just" fontAlgn="ctr"/>
            <a:endParaRPr lang="ru-RU" sz="900" dirty="0">
              <a:cs typeface="Arial" panose="020B0604020202020204" pitchFamily="34" charset="0"/>
            </a:endParaRPr>
          </a:p>
          <a:p>
            <a:pPr marL="90487" algn="just" fontAlgn="ctr"/>
            <a:r>
              <a:rPr lang="ru-RU" sz="900" dirty="0">
                <a:cs typeface="Arial" panose="020B0604020202020204" pitchFamily="34" charset="0"/>
              </a:rPr>
              <a:t xml:space="preserve">A sample analysis showed that declarations were not provided in the following cases:</a:t>
            </a:r>
          </a:p>
          <a:p>
            <a:pPr marL="261937" indent="-171450" algn="just" fontAlgn="ctr">
              <a:buClr>
                <a:schemeClr val="accent5">
                  <a:lumMod val="75000"/>
                  <a:lumOff val="25000"/>
                </a:schemeClr>
              </a:buClr>
              <a:buFont typeface="Arial" panose="020B0604020202020204" pitchFamily="34" charset="0"/>
              <a:buChar char="•"/>
            </a:pPr>
            <a:r>
              <a:rPr lang="ru-RU" sz="900" dirty="0">
                <a:cs typeface="Arial" panose="020B0604020202020204" pitchFamily="34" charset="0"/>
              </a:rPr>
              <a:t xml:space="preserve">When transferring employees from the “Workers” category to the “RSS” category;</a:t>
            </a:r>
          </a:p>
          <a:p>
            <a:pPr marL="261937" indent="-171450" algn="just" fontAlgn="ctr">
              <a:buClr>
                <a:schemeClr val="accent5">
                  <a:lumMod val="75000"/>
                  <a:lumOff val="25000"/>
                </a:schemeClr>
              </a:buClr>
              <a:buFont typeface="Arial" panose="020B0604020202020204" pitchFamily="34" charset="0"/>
              <a:buChar char="•"/>
            </a:pPr>
            <a:r>
              <a:rPr lang="ru-RU" sz="900" dirty="0">
                <a:cs typeface="Arial" panose="020B0604020202020204" pitchFamily="34" charset="0"/>
              </a:rPr>
              <a:t xml:space="preserve">When employees return from long-term vacations (for example, long-term sick leave, parental leave until the child reaches the age of three years).</a:t>
            </a:r>
          </a:p>
          <a:p>
            <a:pPr marL="261937" indent="-171450" algn="just" fontAlgn="ctr">
              <a:buClr>
                <a:schemeClr val="accent5">
                  <a:lumMod val="75000"/>
                  <a:lumOff val="25000"/>
                </a:schemeClr>
              </a:buClr>
              <a:buFont typeface="Arial" panose="020B0604020202020204" pitchFamily="34" charset="0"/>
              <a:buChar char="•"/>
            </a:pPr>
            <a:r>
              <a:rPr lang="ru-RU" sz="900" dirty="0">
                <a:cs typeface="Arial" panose="020B0604020202020204" pitchFamily="34" charset="0"/>
              </a:rPr>
              <a:t xml:space="preserve">When employing external candidates in a company of the Perimeter Group Kazakhstan.</a:t>
            </a:r>
          </a:p>
          <a:p>
            <a:pPr marL="90487" algn="just" fontAlgn="ctr"/>
            <a:endParaRPr lang="ru-RU" sz="900" dirty="0">
              <a:cs typeface="Arial" panose="020B0604020202020204" pitchFamily="34" charset="0"/>
            </a:endParaRPr>
          </a:p>
          <a:p>
            <a:pPr marL="90487" algn="just" fontAlgn="ctr"/>
            <a:r>
              <a:rPr lang="ru-RU" sz="900" dirty="0">
                <a:cs typeface="Arial" panose="020B0604020202020204" pitchFamily="34" charset="0"/>
              </a:rPr>
              <a:t xml:space="preserve">Factors influencing the correctness and completeness of the reconciliation:</a:t>
            </a:r>
          </a:p>
          <a:p>
            <a:pPr marL="261937" indent="-171450" algn="just" fontAlgn="ctr">
              <a:buClr>
                <a:schemeClr val="accent5">
                  <a:lumMod val="75000"/>
                  <a:lumOff val="25000"/>
                </a:schemeClr>
              </a:buClr>
              <a:buFont typeface="Arial" panose="020B0604020202020204" pitchFamily="34" charset="0"/>
              <a:buChar char="•"/>
            </a:pPr>
            <a:r>
              <a:rPr lang="ru-RU" sz="900" dirty="0">
                <a:cs typeface="Arial" panose="020B0604020202020204" pitchFamily="34" charset="0"/>
              </a:rPr>
              <a:t xml:space="preserve">Technical errors during data reconciliation, including the use of different language fonts in the job.erg.kz system when writing information about candidates for employment (full name), as well as changing the employee’s full name, which leads to distortion of the reconciliation results.</a:t>
            </a:r>
            <a:r>
              <a:rPr lang="en-US" sz="900" dirty="0">
                <a:cs typeface="Arial" panose="020B0604020202020204" pitchFamily="34" charset="0"/>
              </a:rPr>
              <a:t/>
            </a:r>
            <a:r>
              <a:rPr lang="ru-RU" sz="900" dirty="0">
                <a:cs typeface="Arial" panose="020B0604020202020204" pitchFamily="34" charset="0"/>
              </a:rPr>
              <a:t/>
            </a:r>
            <a:r>
              <a:rPr lang="en-US" sz="900" dirty="0">
                <a:cs typeface="Arial" panose="020B0604020202020204" pitchFamily="34" charset="0"/>
              </a:rPr>
              <a:t/>
            </a:r>
            <a:r>
              <a:rPr lang="ru-RU" sz="900" dirty="0">
                <a:cs typeface="Arial" panose="020B0604020202020204" pitchFamily="34" charset="0"/>
              </a:rPr>
              <a:t/>
            </a:r>
            <a:r>
              <a:rPr lang="en-US" sz="900" dirty="0" err="1">
                <a:cs typeface="Arial" panose="020B0604020202020204" pitchFamily="34" charset="0"/>
              </a:rPr>
              <a:t/>
            </a:r>
            <a:r>
              <a:rPr lang="ru-RU" sz="900" dirty="0">
                <a:cs typeface="Arial" panose="020B0604020202020204" pitchFamily="34" charset="0"/>
              </a:rPr>
              <a:t/>
            </a:r>
          </a:p>
        </p:txBody>
      </p:sp>
      <p:graphicFrame>
        <p:nvGraphicFramePr>
          <p:cNvPr id="15" name="Диаграмма 14"/>
          <p:cNvGraphicFramePr/>
          <p:nvPr>
            <p:extLst>
              <p:ext uri="{D42A27DB-BD31-4B8C-83A1-F6EECF244321}">
                <p14:modId xmlns:p14="http://schemas.microsoft.com/office/powerpoint/2010/main" val="3420173272"/>
              </p:ext>
            </p:extLst>
          </p:nvPr>
        </p:nvGraphicFramePr>
        <p:xfrm>
          <a:off x="5531235" y="2999014"/>
          <a:ext cx="3114704" cy="1852185"/>
        </p:xfrm>
        <a:graphic>
          <a:graphicData uri="http://schemas.openxmlformats.org/drawingml/2006/chart">
            <c:chart xmlns:c="http://schemas.openxmlformats.org/drawingml/2006/chart" xmlns:r="http://schemas.openxmlformats.org/officeDocument/2006/relationships" r:id="rId11"/>
          </a:graphicData>
        </a:graphic>
      </p:graphicFrame>
    </p:spTree>
    <p:extLst>
      <p:ext uri="{BB962C8B-B14F-4D97-AF65-F5344CB8AC3E}">
        <p14:creationId xmlns:p14="http://schemas.microsoft.com/office/powerpoint/2010/main" val="297362898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016D0-380D-777B-5FB2-003D93A8411A}"/>
            </a:ext>
          </a:extLst>
        </p:cNvPr>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8A5D452E-57F8-4528-494B-1D375C225B5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7678" name="think-cell Slide" r:id="rId5" imgW="473" imgH="473" progId="TCLayout.ActiveDocument.1">
                  <p:embed/>
                </p:oleObj>
              </mc:Choice>
              <mc:Fallback>
                <p:oleObj name="think-cell Slide" r:id="rId5" imgW="473" imgH="473" progId="TCLayout.ActiveDocument.1">
                  <p:embed/>
                  <p:pic>
                    <p:nvPicPr>
                      <p:cNvPr id="19" name="Object 18" hidden="1">
                        <a:extLst>
                          <a:ext uri="{FF2B5EF4-FFF2-40B4-BE49-F238E27FC236}">
                            <a16:creationId xmlns:a16="http://schemas.microsoft.com/office/drawing/2014/main" id="{8A5D452E-57F8-4528-494B-1D375C225B5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FE1A2F1-9CA1-B3EE-1B87-54F1999162D3}"/>
              </a:ext>
            </a:extLst>
          </p:cNvPr>
          <p:cNvSpPr>
            <a:spLocks noGrp="1"/>
          </p:cNvSpPr>
          <p:nvPr>
            <p:ph type="title"/>
          </p:nvPr>
        </p:nvSpPr>
        <p:spPr/>
        <p:txBody>
          <a:bodyPr vert="horz" rtlCol="0"/>
          <a:lstStyle/>
          <a:p>
            <a:r>
              <a:rPr lang="ru-RU" dirty="0" smtClean="0"/>
              <a:t>Прил.6: </a:t>
            </a:r>
            <a:r>
              <a:rPr lang="ru" dirty="0"/>
              <a:t>Управление рисками</a:t>
            </a:r>
            <a:r>
              <a:rPr lang="ru" dirty="0" smtClean="0"/>
              <a:t>:</a:t>
            </a:r>
            <a:r>
              <a:rPr lang="ru-RU" dirty="0"/>
              <a:t/>
            </a:r>
            <a:br>
              <a:rPr lang="ru-RU" dirty="0"/>
            </a:br>
            <a:r>
              <a:rPr lang="ru-RU" dirty="0" smtClean="0">
                <a:solidFill>
                  <a:schemeClr val="tx1"/>
                </a:solidFill>
              </a:rPr>
              <a:t>Конфликт интересов – </a:t>
            </a:r>
            <a:r>
              <a:rPr lang="ru-RU" dirty="0">
                <a:solidFill>
                  <a:schemeClr val="tx1"/>
                </a:solidFill>
              </a:rPr>
              <a:t>Результаты самотестирования эффективности </a:t>
            </a:r>
            <a:r>
              <a:rPr lang="ru-RU" dirty="0" smtClean="0">
                <a:solidFill>
                  <a:schemeClr val="tx1"/>
                </a:solidFill>
              </a:rPr>
              <a:t>контролей </a:t>
            </a:r>
            <a:r>
              <a:rPr lang="ru-RU" i="1" dirty="0" smtClean="0">
                <a:solidFill>
                  <a:schemeClr val="tx1"/>
                </a:solidFill>
              </a:rPr>
              <a:t>(продолжение)</a:t>
            </a:r>
            <a:r>
              <a:rPr lang="ru-RU" dirty="0" smtClean="0">
                <a:solidFill>
                  <a:schemeClr val="tx1"/>
                </a:solidFill>
              </a:rPr>
              <a:t> </a:t>
            </a:r>
            <a:endParaRPr lang="ru" i="1" noProof="0" dirty="0">
              <a:solidFill>
                <a:schemeClr val="tx1"/>
              </a:solidFill>
            </a:endParaRPr>
          </a:p>
        </p:txBody>
      </p:sp>
      <p:graphicFrame>
        <p:nvGraphicFramePr>
          <p:cNvPr id="16" name="Table 4">
            <a:extLst>
              <a:ext uri="{FF2B5EF4-FFF2-40B4-BE49-F238E27FC236}">
                <a16:creationId xmlns:a16="http://schemas.microsoft.com/office/drawing/2014/main" id="{0EB18A13-7E4B-4F3E-9A77-10F15DD47A50}"/>
              </a:ext>
            </a:extLst>
          </p:cNvPr>
          <p:cNvGraphicFramePr>
            <a:graphicFrameLocks noGrp="1"/>
          </p:cNvGraphicFramePr>
          <p:nvPr>
            <p:extLst>
              <p:ext uri="{D42A27DB-BD31-4B8C-83A1-F6EECF244321}">
                <p14:modId xmlns:p14="http://schemas.microsoft.com/office/powerpoint/2010/main" val="2264095925"/>
              </p:ext>
            </p:extLst>
          </p:nvPr>
        </p:nvGraphicFramePr>
        <p:xfrm>
          <a:off x="321529" y="841822"/>
          <a:ext cx="11524615" cy="4268520"/>
        </p:xfrm>
        <a:graphic>
          <a:graphicData uri="http://schemas.openxmlformats.org/drawingml/2006/table">
            <a:tbl>
              <a:tblPr>
                <a:tableStyleId>{5C22544A-7EE6-4342-B048-85BDC9FD1C3A}</a:tableStyleId>
              </a:tblPr>
              <a:tblGrid>
                <a:gridCol w="2731988">
                  <a:extLst>
                    <a:ext uri="{9D8B030D-6E8A-4147-A177-3AD203B41FA5}">
                      <a16:colId xmlns:a16="http://schemas.microsoft.com/office/drawing/2014/main" val="3005219149"/>
                    </a:ext>
                  </a:extLst>
                </a:gridCol>
                <a:gridCol w="8792627">
                  <a:extLst>
                    <a:ext uri="{9D8B030D-6E8A-4147-A177-3AD203B41FA5}">
                      <a16:colId xmlns:a16="http://schemas.microsoft.com/office/drawing/2014/main" val="1626738559"/>
                    </a:ext>
                  </a:extLst>
                </a:gridCol>
              </a:tblGrid>
              <a:tr h="4216743">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dirty="0" smtClean="0"/>
                        <a:t xml:space="preserve">As part of assessing the effectiveness of existing control mechanisms to prevent and resolve conflicts of interest, as well as identifying potential risks and improving the process of managing conflicts of interest in the Company, the Compliance Directorate additionally carried out a selective reconciliation of data from the ERG Access system (All-terrain vehicle) with the list of employees of ERG Perimeter companies for the period January-October 2025. Based on the results of the analysis, it was revealed that out of 544 accesses provided for the period from January to October 2025, 42 (7.7%) access to the territory of ERG companies (Perimeter Kazakhstan) were given to employees of the Group who were also representatives of contractors (included in active applications of contractors in the ERG Access system).</a:t>
                      </a:r>
                      <a:r>
                        <a:rPr lang="ru-RU" sz="700" b="1" dirty="0" smtClean="0">
                          <a:solidFill>
                            <a:schemeClr val="accent5">
                              <a:lumMod val="75000"/>
                              <a:lumOff val="25000"/>
                            </a:schemeClr>
                          </a:solidFill>
                        </a:rPr>
                        <a:t/>
                      </a:r>
                      <a:r>
                        <a:rPr lang="en-US" sz="700" b="1" dirty="0" smtClean="0">
                          <a:solidFill>
                            <a:schemeClr val="accent5">
                              <a:lumMod val="75000"/>
                              <a:lumOff val="25000"/>
                            </a:schemeClr>
                          </a:solidFill>
                        </a:rPr>
                        <a:t/>
                      </a:r>
                      <a:r>
                        <a:rPr lang="ru-RU" sz="700" b="1" dirty="0" smtClean="0">
                          <a:solidFill>
                            <a:schemeClr val="accent5">
                              <a:lumMod val="75000"/>
                              <a:lumOff val="25000"/>
                            </a:schemeClr>
                          </a:solidFill>
                        </a:rPr>
                        <a:t/>
                      </a:r>
                      <a:r>
                        <a:rPr lang="ru-RU" sz="700" dirty="0" smtClean="0"/>
                        <a:t/>
                      </a:r>
                      <a:r>
                        <a:rPr lang="en-US" sz="700" dirty="0" smtClean="0"/>
                        <a:t/>
                      </a:r>
                      <a:r>
                        <a:rPr lang="ru-RU" sz="700" dirty="0" smtClean="0"/>
                        <a:t/>
                      </a:r>
                      <a:r>
                        <a:rPr lang="en-US" sz="700" dirty="0" smtClean="0"/>
                        <a:t/>
                      </a:r>
                      <a:r>
                        <a:rPr lang="ru-RU" sz="700" dirty="0" smtClean="0"/>
                        <a:t/>
                      </a:r>
                      <a:r>
                        <a:rPr lang="en-US" sz="700" dirty="0" smtClean="0"/>
                        <a:t/>
                      </a:r>
                      <a:r>
                        <a:rPr lang="ru-RU" sz="700" dirty="0" smtClean="0"/>
                        <a:t/>
                      </a: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p>
                      <a:pPr marL="0" algn="ctr" defTabSz="583170" rtl="0" eaLnBrk="1" fontAlgn="ctr" latinLnBrk="0" hangingPunct="1"/>
                      <a:endParaRPr lang="ru-RU" sz="1200" b="1" u="none" strike="noStrike" kern="1200" baseline="0" dirty="0">
                        <a:solidFill>
                          <a:schemeClr val="dk1"/>
                        </a:solidFill>
                        <a:effectLst/>
                        <a:latin typeface="+mn-lt"/>
                        <a:ea typeface="+mn-ea"/>
                        <a:cs typeface="+mn-cs"/>
                      </a:endParaRPr>
                    </a:p>
                  </a:txBody>
                  <a:tcPr marL="0" marR="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just">
                        <a:spcBef>
                          <a:spcPts val="0"/>
                        </a:spcBef>
                        <a:buFont typeface="Arial" panose="020B0604020202020204" pitchFamily="34" charset="0"/>
                        <a:buNone/>
                      </a:pPr>
                      <a:r>
                        <a:rPr lang="ru-RU" sz="700" b="1" i="0" u="none" strike="noStrike" kern="1200" baseline="0" dirty="0">
                          <a:solidFill>
                            <a:schemeClr val="accent5">
                              <a:lumMod val="75000"/>
                              <a:lumOff val="25000"/>
                            </a:schemeClr>
                          </a:solidFill>
                          <a:effectLst/>
                          <a:latin typeface="+mn-lt"/>
                          <a:ea typeface="+mn-ea"/>
                          <a:cs typeface="+mn-cs"/>
                        </a:rPr>
                        <a:t xml:space="preserve">Based on the results of the analysis of 39 (92.3%) declarations received, the following facts were established:</a:t>
                      </a:r>
                    </a:p>
                    <a:p>
                      <a:pPr marL="177800" indent="-177800" algn="just">
                        <a:spcBef>
                          <a:spcPts val="0"/>
                        </a:spcBef>
                        <a:buClr>
                          <a:schemeClr val="accent5">
                            <a:lumMod val="75000"/>
                            <a:lumOff val="25000"/>
                          </a:schemeClr>
                        </a:buClr>
                        <a:buFont typeface="+mj-lt"/>
                        <a:buAutoNum type="arabicPeriod"/>
                      </a:pPr>
                      <a:r>
                        <a:rPr lang="ru-RU" sz="700" b="1" i="0" u="none" strike="noStrike" kern="1200" baseline="0" dirty="0">
                          <a:solidFill>
                            <a:schemeClr val="tx1"/>
                          </a:solidFill>
                          <a:effectLst/>
                          <a:latin typeface="+mn-lt"/>
                          <a:ea typeface="+mn-ea"/>
                          <a:cs typeface="+mn-cs"/>
                        </a:rPr>
                        <a:t xml:space="preserve">Untimely deactivation of passes for employees of contractors. 24 cases of use of passes by former employees of contracting organizations were recorded, incl. in the process of employment in the ERG Group, which may indicate the need to strengthen control over the timely de-activation of passes of third parties, to prevent the transfer of passes to other persons, as well as possible technical failures in the ERG Access access control system.</a:t>
                      </a:r>
                      <a:r>
                        <a:rPr lang="ru-RU" sz="700" b="0" i="0" u="none" strike="noStrike" kern="1200" baseline="0" dirty="0">
                          <a:solidFill>
                            <a:schemeClr val="tx1"/>
                          </a:solidFill>
                          <a:effectLst/>
                          <a:latin typeface="+mn-lt"/>
                          <a:ea typeface="+mn-ea"/>
                          <a:cs typeface="+mn-cs"/>
                        </a:rPr>
                        <a:t/>
                      </a:r>
                      <a:r>
                        <a:rPr lang="en-US" sz="700" b="0" i="0" u="none" strike="noStrike" kern="1200" baseline="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en-US" sz="700" b="0" i="0" u="none" strike="noStrike" kern="1200" baseline="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p>
                    <a:p>
                      <a:pPr marL="171450" indent="-171450" algn="just">
                        <a:spcBef>
                          <a:spcPts val="0"/>
                        </a:spcBef>
                        <a:buFont typeface="Wingdings" panose="05000000000000000000" pitchFamily="2" charset="2"/>
                        <a:buChar char="ü"/>
                      </a:pPr>
                      <a:r>
                        <a:rPr lang="ru-RU" sz="700" b="1" i="0" u="none" strike="noStrike" kern="1200" baseline="0" dirty="0">
                          <a:solidFill>
                            <a:schemeClr val="accent5">
                              <a:lumMod val="75000"/>
                              <a:lumOff val="25000"/>
                            </a:schemeClr>
                          </a:solidFill>
                          <a:effectLst/>
                          <a:latin typeface="+mn-lt"/>
                          <a:ea typeface="+mn-ea"/>
                          <a:cs typeface="+mn-cs"/>
                        </a:rPr>
                        <a:t xml:space="preserve">Risks:</a:t>
                      </a:r>
                    </a:p>
                    <a:p>
                      <a:pPr marL="268288" lvl="2" indent="-90488" algn="just">
                        <a:spcBef>
                          <a:spcPts val="0"/>
                        </a:spcBef>
                        <a:buClr>
                          <a:schemeClr val="accent5">
                            <a:lumMod val="75000"/>
                            <a:lumOff val="25000"/>
                          </a:schemeClr>
                        </a:buClr>
                        <a:buFont typeface="Arial" panose="020B0604020202020204" pitchFamily="34" charset="0"/>
                        <a:buChar char="•"/>
                      </a:pPr>
                      <a:r>
                        <a:rPr lang="ru-RU" sz="700" b="0" i="0" u="none" strike="noStrike" kern="1200" baseline="0" dirty="0">
                          <a:solidFill>
                            <a:schemeClr val="tx1"/>
                          </a:solidFill>
                          <a:effectLst/>
                          <a:latin typeface="+mn-lt"/>
                          <a:ea typeface="+mn-ea"/>
                          <a:cs typeface="+mn-cs"/>
                        </a:rPr>
                        <a:t xml:space="preserve">Lack of correct accounting of the status of a person located on the territory of the Group companies.</a:t>
                      </a:r>
                    </a:p>
                    <a:p>
                      <a:pPr marL="268288" lvl="2" indent="-90488" algn="just">
                        <a:spcBef>
                          <a:spcPts val="0"/>
                        </a:spcBef>
                        <a:buClr>
                          <a:schemeClr val="accent5">
                            <a:lumMod val="75000"/>
                            <a:lumOff val="25000"/>
                          </a:schemeClr>
                        </a:buClr>
                        <a:buFont typeface="Arial" panose="020B0604020202020204" pitchFamily="34" charset="0"/>
                        <a:buChar char="•"/>
                      </a:pPr>
                      <a:r>
                        <a:rPr lang="ru-RU" sz="700" b="0" i="0" u="none" strike="noStrike" kern="1200" baseline="0" dirty="0">
                          <a:solidFill>
                            <a:schemeClr val="tx1"/>
                          </a:solidFill>
                          <a:effectLst/>
                          <a:latin typeface="+mn-lt"/>
                          <a:ea typeface="+mn-ea"/>
                          <a:cs typeface="+mn-cs"/>
                        </a:rPr>
                        <a:t xml:space="preserve">Potential violation of the access control and security regime of ERG facilities.</a:t>
                      </a:r>
                    </a:p>
                    <a:p>
                      <a:pPr marL="268288" lvl="2" indent="-90488" algn="just">
                        <a:spcBef>
                          <a:spcPts val="0"/>
                        </a:spcBef>
                        <a:buClr>
                          <a:schemeClr val="accent5">
                            <a:lumMod val="75000"/>
                            <a:lumOff val="25000"/>
                          </a:schemeClr>
                        </a:buClr>
                        <a:buFont typeface="Arial" panose="020B0604020202020204" pitchFamily="34" charset="0"/>
                        <a:buChar char="•"/>
                      </a:pPr>
                      <a:r>
                        <a:rPr lang="ru-RU" sz="700" b="0" i="0" u="none" strike="noStrike" kern="1200" baseline="0" dirty="0">
                          <a:solidFill>
                            <a:schemeClr val="tx1"/>
                          </a:solidFill>
                          <a:effectLst/>
                          <a:latin typeface="+mn-lt"/>
                          <a:ea typeface="+mn-ea"/>
                          <a:cs typeface="+mn-cs"/>
                        </a:rPr>
                        <a:t xml:space="preserve">Possibility of using a pass for access of unauthorized persons at ERG industrial facilities.</a:t>
                      </a:r>
                    </a:p>
                    <a:p>
                      <a:pPr marL="177800" indent="-177800" algn="just">
                        <a:spcBef>
                          <a:spcPts val="0"/>
                        </a:spcBef>
                        <a:buClr>
                          <a:schemeClr val="accent5">
                            <a:lumMod val="75000"/>
                            <a:lumOff val="25000"/>
                          </a:schemeClr>
                        </a:buClr>
                        <a:buFont typeface="+mj-lt"/>
                        <a:buAutoNum type="arabicPeriod" startAt="2"/>
                      </a:pPr>
                      <a:r>
                        <a:rPr lang="ru-RU" sz="700" b="1" i="0" u="none" strike="noStrike" kern="1200" baseline="0" dirty="0">
                          <a:solidFill>
                            <a:schemeClr val="tx1"/>
                          </a:solidFill>
                          <a:effectLst/>
                          <a:latin typeface="+mn-lt"/>
                          <a:ea typeface="+mn-ea"/>
                          <a:cs typeface="+mn-cs"/>
                        </a:rPr>
                        <a:t xml:space="preserve">Carrying out part-time work. 21 cases were identified where employees of Group companies performed part-time labor functions in contracting organizations, despite the fact that employees engaged in work with hazardous working conditions cannot be hired for part-time work in accordance with paragraphs. 5 p. 2 art. 26 of the Labor Code of the Republic of Kazakhstan.</a:t>
                      </a:r>
                      <a:r>
                        <a:rPr lang="ru-RU" sz="700" b="0" i="0" u="none" strike="noStrike" kern="1200" baseline="0" dirty="0">
                          <a:solidFill>
                            <a:schemeClr val="tx1"/>
                          </a:solidFill>
                          <a:effectLst/>
                          <a:latin typeface="+mn-lt"/>
                          <a:ea typeface="+mn-ea"/>
                          <a:cs typeface="+mn-cs"/>
                        </a:rPr>
                        <a:t/>
                      </a:r>
                      <a:r>
                        <a:rPr lang="ru-RU" sz="700" b="0" i="0" u="none" strike="noStrike" kern="1200" baseline="0" dirty="0" err="1">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a:solidFill>
                            <a:schemeClr val="tx1"/>
                          </a:solidFill>
                          <a:effectLst/>
                          <a:latin typeface="+mn-lt"/>
                          <a:ea typeface="+mn-ea"/>
                          <a:cs typeface="+mn-cs"/>
                        </a:rPr>
                        <a:t xml:space="preserve">In accordance with the explanations received, 20 employees terminated their employment relationships with contractors as of the date of reconciliation.</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 xml:space="preserve">As of the reconciliation date, 1 employee of ERG Service LLP, in his free time from his main job, was still carrying out additional work. labor activity in a contracting organization. Based on the results of the analysis of this situation, a conclusion with recommendations for bringing labor relations into compliance with the norms of the current legislation of the Republic of Kazakhstan was sent to the management of the Pavlodar Repair Department (PRU) of ERG Service LLP. As part of the settlement of this situation, according to information from HR of ERG Service LLP, the employee terminated his employment relationship with the specified counterparty.</a:t>
                      </a:r>
                      <a:r>
                        <a:rPr lang="ru-RU" sz="700" b="0" i="0" u="none" strike="noStrike" kern="1200" baseline="0" dirty="0">
                          <a:solidFill>
                            <a:schemeClr val="tx1"/>
                          </a:solidFill>
                          <a:effectLst/>
                          <a:latin typeface="+mn-lt"/>
                          <a:ea typeface="+mn-ea"/>
                          <a:cs typeface="+mn-cs"/>
                        </a:rPr>
                        <a:t/>
                      </a:r>
                      <a:r>
                        <a:rPr lang="ru-RU" sz="700" b="0" i="0" u="none" strike="noStrike" kern="1200" baseline="0" dirty="0" smtClean="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ru-RU" sz="700" b="0" i="0" u="none" strike="noStrike" kern="1200" baseline="0" dirty="0" smtClean="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p>
                    <a:p>
                      <a:pPr marL="171450" indent="-171450" algn="just" defTabSz="583170" rtl="0" eaLnBrk="1" latinLnBrk="0" hangingPunct="1">
                        <a:spcBef>
                          <a:spcPts val="0"/>
                        </a:spcBef>
                        <a:buFont typeface="Wingdings" panose="05000000000000000000" pitchFamily="2" charset="2"/>
                        <a:buChar char="ü"/>
                      </a:pPr>
                      <a:r>
                        <a:rPr lang="ru-RU" sz="700" b="1" i="0" u="none" strike="noStrike" kern="1200" baseline="0" dirty="0">
                          <a:solidFill>
                            <a:schemeClr val="accent5">
                              <a:lumMod val="75000"/>
                              <a:lumOff val="25000"/>
                            </a:schemeClr>
                          </a:solidFill>
                          <a:effectLst/>
                          <a:latin typeface="+mn-lt"/>
                          <a:ea typeface="+mn-ea"/>
                          <a:cs typeface="+mn-cs"/>
                        </a:rPr>
                        <a:t xml:space="preserve">Risks:</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a:solidFill>
                            <a:schemeClr val="tx1"/>
                          </a:solidFill>
                          <a:effectLst/>
                          <a:latin typeface="+mn-lt"/>
                          <a:ea typeface="+mn-ea"/>
                          <a:cs typeface="+mn-cs"/>
                        </a:rPr>
                        <a:t xml:space="preserve">Violation of the requirements of Art. 26 of the Labor Code of the Republic of Kazakhstan dated November 23, 2015 No. 414-V ZRK, paragraph 2 paragraphs. 5, since employees engaged in work with hazardous working conditions cannot be hired for part-time work.</a:t>
                      </a:r>
                      <a:r>
                        <a:rPr lang="ru-RU" sz="700" b="0" i="0" u="none" strike="noStrike" kern="1200" baseline="0" dirty="0" err="1">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a:solidFill>
                            <a:schemeClr val="tx1"/>
                          </a:solidFill>
                          <a:effectLst/>
                          <a:latin typeface="+mn-lt"/>
                          <a:ea typeface="+mn-ea"/>
                          <a:cs typeface="+mn-cs"/>
                        </a:rPr>
                        <a:t xml:space="preserve">Violation of the requirements of the ERG Policy on avoiding conflicts of interest, the ERG Code of Corporate Conduct, and the ERG Supplier Code of Conduct.</a:t>
                      </a:r>
                      <a:endParaRPr lang="ru-RU" sz="700" b="0" i="0" u="none" strike="noStrike" kern="1200" baseline="0" dirty="0" smtClean="0">
                        <a:solidFill>
                          <a:schemeClr val="tx1"/>
                        </a:solidFill>
                        <a:effectLst/>
                        <a:latin typeface="+mn-lt"/>
                        <a:ea typeface="+mn-ea"/>
                        <a:cs typeface="+mn-cs"/>
                      </a:endParaRPr>
                    </a:p>
                    <a:p>
                      <a:pPr marL="177800" indent="-177800" algn="just">
                        <a:spcBef>
                          <a:spcPts val="0"/>
                        </a:spcBef>
                        <a:buClr>
                          <a:schemeClr val="accent5">
                            <a:lumMod val="75000"/>
                            <a:lumOff val="25000"/>
                          </a:schemeClr>
                        </a:buClr>
                        <a:buFont typeface="+mj-lt"/>
                        <a:buAutoNum type="arabicPeriod" startAt="3"/>
                      </a:pPr>
                      <a:r>
                        <a:rPr lang="ru-RU" sz="700" b="1" i="0" u="none" strike="noStrike" kern="1200" baseline="0" dirty="0" smtClean="0">
                          <a:solidFill>
                            <a:schemeClr val="tx1"/>
                          </a:solidFill>
                          <a:effectLst/>
                          <a:latin typeface="+mn-lt"/>
                          <a:ea typeface="+mn-ea"/>
                          <a:cs typeface="+mn-cs"/>
                        </a:rPr>
                        <a:t xml:space="preserve">Illegal performance of labor activities by contractors. 10 cases were identified of employees of contractors performing work/providing services at the Group’s enterprises carrying out labor activities without official registration.</a:t>
                      </a:r>
                      <a:r>
                        <a:rPr lang="ru-RU" sz="700" b="0" i="0" u="none" strike="noStrike" kern="1200" baseline="0" dirty="0" smtClean="0">
                          <a:solidFill>
                            <a:schemeClr val="tx1"/>
                          </a:solidFill>
                          <a:effectLst/>
                          <a:latin typeface="+mn-lt"/>
                          <a:ea typeface="+mn-ea"/>
                          <a:cs typeface="+mn-cs"/>
                        </a:rPr>
                        <a:t/>
                      </a:r>
                    </a:p>
                    <a:p>
                      <a:pPr marL="171450" lvl="0" indent="-171450" algn="just" defTabSz="583170" rtl="0" eaLnBrk="1" latinLnBrk="0" hangingPunct="1">
                        <a:spcBef>
                          <a:spcPts val="0"/>
                        </a:spcBef>
                        <a:buFont typeface="Wingdings" panose="05000000000000000000" pitchFamily="2" charset="2"/>
                        <a:buChar char="ü"/>
                      </a:pPr>
                      <a:r>
                        <a:rPr lang="ru-RU" sz="700" b="1" i="0" u="none" strike="noStrike" kern="1200" baseline="0" dirty="0" smtClean="0">
                          <a:solidFill>
                            <a:schemeClr val="accent5">
                              <a:lumMod val="75000"/>
                              <a:lumOff val="25000"/>
                            </a:schemeClr>
                          </a:solidFill>
                          <a:effectLst/>
                          <a:latin typeface="+mn-lt"/>
                          <a:ea typeface="+mn-ea"/>
                          <a:cs typeface="+mn-cs"/>
                        </a:rPr>
                        <a:t xml:space="preserve">Risks:</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 xml:space="preserve">Significant reputational risks in case of inspection by regulatory authorities.</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 xml:space="preserve">Risks associated with the failure of contractor employees to comply with occupational safety and health requirements due to the lack of labor relations with the employer.</a:t>
                      </a:r>
                      <a:r>
                        <a:rPr lang="ru-RU" sz="700" b="0" i="0" u="none" strike="noStrike" kern="1200" baseline="0" dirty="0" err="1" smtClean="0">
                          <a:solidFill>
                            <a:schemeClr val="tx1"/>
                          </a:solidFill>
                          <a:effectLst/>
                          <a:latin typeface="+mn-lt"/>
                          <a:ea typeface="+mn-ea"/>
                          <a:cs typeface="+mn-cs"/>
                        </a:rPr>
                        <a:t/>
                      </a:r>
                      <a:r>
                        <a:rPr lang="ru-RU" sz="700" b="0" i="0" u="none" strike="noStrike" kern="1200" baseline="0" dirty="0" smtClean="0">
                          <a:solidFill>
                            <a:schemeClr val="tx1"/>
                          </a:solidFill>
                          <a:effectLst/>
                          <a:latin typeface="+mn-lt"/>
                          <a:ea typeface="+mn-ea"/>
                          <a:cs typeface="+mn-cs"/>
                        </a:rPr>
                        <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 xml:space="preserve">Increased legal risks for the contractor, which indirectly affects the reputation of ERG.</a:t>
                      </a:r>
                    </a:p>
                    <a:p>
                      <a:pPr marL="177800" indent="-177800" algn="just" defTabSz="583170" rtl="0" eaLnBrk="1" latinLnBrk="0" hangingPunct="1">
                        <a:spcBef>
                          <a:spcPts val="0"/>
                        </a:spcBef>
                        <a:buClr>
                          <a:schemeClr val="accent5">
                            <a:lumMod val="75000"/>
                            <a:lumOff val="25000"/>
                          </a:schemeClr>
                        </a:buClr>
                        <a:buFont typeface="+mj-lt"/>
                        <a:buAutoNum type="arabicPeriod" startAt="4"/>
                      </a:pPr>
                      <a:r>
                        <a:rPr lang="ru-RU" sz="700" b="1" i="0" u="none" strike="noStrike" kern="1200" baseline="0" dirty="0" smtClean="0">
                          <a:solidFill>
                            <a:schemeClr val="tx1"/>
                          </a:solidFill>
                          <a:effectLst/>
                          <a:latin typeface="+mn-lt"/>
                          <a:ea typeface="+mn-ea"/>
                          <a:cs typeface="+mn-cs"/>
                        </a:rPr>
                        <a:t xml:space="preserve">An undeclared conflict of interest for an employee. A case has been identified of undeclared IC by an employee of SSGPO JSC, who is at the same time an employee of SSGPO JSC and at the same time provides services at the Group’s enterprises. Based on the analysis, recommendations were sent to the management of SSGPO JSC to resolve conflicts of interest. In accordance with information from HR, the employee received approval from the management of SSGPO JSC to carry out commercial activities during non-working hours at ERG. CI settled.</a:t>
                      </a:r>
                      <a:r>
                        <a:rPr lang="ru-RU" sz="700" b="0" i="0" u="none" strike="noStrike" kern="1200" baseline="0" dirty="0" smtClean="0">
                          <a:solidFill>
                            <a:schemeClr val="tx1"/>
                          </a:solidFill>
                          <a:effectLst/>
                          <a:latin typeface="+mn-lt"/>
                          <a:ea typeface="+mn-ea"/>
                          <a:cs typeface="+mn-cs"/>
                        </a:rPr>
                        <a:t/>
                      </a:r>
                      <a:r>
                        <a:rPr lang="kk-KZ" sz="700" b="0" i="0" u="none" strike="noStrike" kern="1200" baseline="0" dirty="0" smtClean="0">
                          <a:solidFill>
                            <a:schemeClr val="tx1"/>
                          </a:solidFill>
                          <a:effectLst/>
                          <a:latin typeface="+mn-lt"/>
                          <a:ea typeface="+mn-ea"/>
                          <a:cs typeface="+mn-cs"/>
                        </a:rPr>
                        <a:t/>
                      </a:r>
                      <a:r>
                        <a:rPr lang="ru-RU" sz="700" b="0" i="0" u="none" strike="noStrike" kern="1200" baseline="0" dirty="0" smtClean="0">
                          <a:solidFill>
                            <a:schemeClr val="tx1"/>
                          </a:solidFill>
                          <a:effectLst/>
                          <a:latin typeface="+mn-lt"/>
                          <a:ea typeface="+mn-ea"/>
                          <a:cs typeface="+mn-cs"/>
                        </a:rPr>
                        <a:t/>
                      </a:r>
                      <a:r>
                        <a:rPr lang="en-US" sz="700" b="0" i="0" u="none" strike="noStrike" kern="1200" baseline="0" dirty="0" smtClean="0">
                          <a:solidFill>
                            <a:schemeClr val="tx1"/>
                          </a:solidFill>
                          <a:effectLst/>
                          <a:latin typeface="+mn-lt"/>
                          <a:ea typeface="+mn-ea"/>
                          <a:cs typeface="+mn-cs"/>
                        </a:rPr>
                        <a:t/>
                      </a:r>
                      <a:r>
                        <a:rPr lang="ru-RU" sz="700" b="0" i="0" u="none" strike="noStrike" kern="1200" baseline="0" dirty="0" smtClean="0">
                          <a:solidFill>
                            <a:schemeClr val="tx1"/>
                          </a:solidFill>
                          <a:effectLst/>
                          <a:latin typeface="+mn-lt"/>
                          <a:ea typeface="+mn-ea"/>
                          <a:cs typeface="+mn-cs"/>
                        </a:rPr>
                        <a:t/>
                      </a:r>
                      <a:r>
                        <a:rPr lang="en-US" sz="700" b="0" i="0" u="none" strike="noStrike" kern="1200" baseline="0" dirty="0" smtClean="0">
                          <a:solidFill>
                            <a:schemeClr val="tx1"/>
                          </a:solidFill>
                          <a:effectLst/>
                          <a:latin typeface="+mn-lt"/>
                          <a:ea typeface="+mn-ea"/>
                          <a:cs typeface="+mn-cs"/>
                        </a:rPr>
                        <a:t/>
                      </a:r>
                      <a:r>
                        <a:rPr lang="ru-RU" sz="700" b="0" i="0" u="none" strike="noStrike" kern="1200" baseline="0" dirty="0" smtClean="0">
                          <a:solidFill>
                            <a:schemeClr val="tx1"/>
                          </a:solidFill>
                          <a:effectLst/>
                          <a:latin typeface="+mn-lt"/>
                          <a:ea typeface="+mn-ea"/>
                          <a:cs typeface="+mn-cs"/>
                        </a:rPr>
                        <a:t/>
                      </a:r>
                    </a:p>
                    <a:p>
                      <a:pPr marL="171450" lvl="0" indent="-171450" algn="just" defTabSz="583170" rtl="0" eaLnBrk="1" latinLnBrk="0" hangingPunct="1">
                        <a:spcBef>
                          <a:spcPts val="0"/>
                        </a:spcBef>
                        <a:buFont typeface="Wingdings" panose="05000000000000000000" pitchFamily="2" charset="2"/>
                        <a:buChar char="ü"/>
                      </a:pPr>
                      <a:r>
                        <a:rPr lang="ru-RU" sz="700" b="1" i="0" u="none" strike="noStrike" kern="1200" baseline="0" dirty="0" smtClean="0">
                          <a:solidFill>
                            <a:schemeClr val="accent5">
                              <a:lumMod val="75000"/>
                              <a:lumOff val="25000"/>
                            </a:schemeClr>
                          </a:solidFill>
                          <a:effectLst/>
                          <a:latin typeface="+mn-lt"/>
                          <a:ea typeface="+mn-ea"/>
                          <a:cs typeface="+mn-cs"/>
                        </a:rPr>
                        <a:t xml:space="preserve">Risks:</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 xml:space="preserve">Violation of the requirements of the ERG Code of Corporate Conduct, the ERG Supplier Code of Conduct, as well as the ERG Policy on Avoiding Conflicts of Interest regarding conflicts of interest in the field of external business relations. Possible receipt by an employee of unjustified benefits as an individual entrepreneur.</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 xml:space="preserve">Violation of the principle of fair competition when choosing suppliers.</a:t>
                      </a:r>
                    </a:p>
                    <a:p>
                      <a:pPr marL="177800" indent="-177800" algn="just">
                        <a:spcBef>
                          <a:spcPts val="0"/>
                        </a:spcBef>
                        <a:buClr>
                          <a:schemeClr val="accent5">
                            <a:lumMod val="75000"/>
                            <a:lumOff val="25000"/>
                          </a:schemeClr>
                        </a:buClr>
                        <a:buFont typeface="+mj-lt"/>
                        <a:buAutoNum type="arabicPeriod" startAt="5"/>
                      </a:pPr>
                      <a:r>
                        <a:rPr lang="ru-RU" sz="700" b="1" i="0" u="none" strike="noStrike" kern="1200" baseline="0" dirty="0" smtClean="0">
                          <a:solidFill>
                            <a:schemeClr val="tx1"/>
                          </a:solidFill>
                          <a:effectLst/>
                          <a:latin typeface="+mn-lt"/>
                          <a:ea typeface="+mn-ea"/>
                          <a:cs typeface="+mn-cs"/>
                        </a:rPr>
                        <a:t xml:space="preserve">Errors when entering data into the ERG Access system. As part of the analysis, an error was identified by the request initiator in the ERG Access system. When applying for a pass, the initiator of the application mistakenly entered the details of an employee (full name) of one of the Group companies, as a result of which incorrect entries were recorded in the ERG Access system. At the same time, this application was generated in relation to an employee of a contracting organization providing services to a Group company who has identical data (full name). The issue was resolved as part of the analysis of the DC - changes were made to the database based on the IIN.</a:t>
                      </a:r>
                      <a:r>
                        <a:rPr lang="ru-RU" sz="700" b="1" i="0" u="none" strike="noStrike" kern="1200" baseline="0" dirty="0" err="1" smtClean="0">
                          <a:solidFill>
                            <a:schemeClr val="tx1"/>
                          </a:solidFill>
                          <a:effectLst/>
                          <a:latin typeface="+mn-lt"/>
                          <a:ea typeface="+mn-ea"/>
                          <a:cs typeface="+mn-cs"/>
                        </a:rPr>
                        <a:t/>
                      </a:r>
                      <a:r>
                        <a:rPr lang="ru-RU" sz="700" b="1" i="0" u="none" strike="noStrike" kern="1200" baseline="0" dirty="0" smtClean="0">
                          <a:solidFill>
                            <a:schemeClr val="tx1"/>
                          </a:solidFill>
                          <a:effectLst/>
                          <a:latin typeface="+mn-lt"/>
                          <a:ea typeface="+mn-ea"/>
                          <a:cs typeface="+mn-cs"/>
                        </a:rPr>
                        <a:t/>
                      </a:r>
                      <a:r>
                        <a:rPr lang="ru-RU" sz="700" b="0" i="0" u="none" strike="noStrike" kern="1200" baseline="0" dirty="0" smtClean="0">
                          <a:solidFill>
                            <a:schemeClr val="tx1"/>
                          </a:solidFill>
                          <a:effectLst/>
                          <a:latin typeface="+mn-lt"/>
                          <a:ea typeface="+mn-ea"/>
                          <a:cs typeface="+mn-cs"/>
                        </a:rPr>
                        <a:t/>
                      </a:r>
                      <a:r>
                        <a:rPr lang="ru-RU" sz="700" b="0" i="0" u="none" strike="noStrike" kern="1200" baseline="0" dirty="0" err="1" smtClean="0">
                          <a:solidFill>
                            <a:schemeClr val="tx1"/>
                          </a:solidFill>
                          <a:effectLst/>
                          <a:latin typeface="+mn-lt"/>
                          <a:ea typeface="+mn-ea"/>
                          <a:cs typeface="+mn-cs"/>
                        </a:rPr>
                        <a:t/>
                      </a:r>
                      <a:r>
                        <a:rPr lang="ru-RU" sz="700" b="0" i="0" u="none" strike="noStrike" kern="1200" baseline="0" dirty="0" smtClean="0">
                          <a:solidFill>
                            <a:schemeClr val="tx1"/>
                          </a:solidFill>
                          <a:effectLst/>
                          <a:latin typeface="+mn-lt"/>
                          <a:ea typeface="+mn-ea"/>
                          <a:cs typeface="+mn-cs"/>
                        </a:rPr>
                        <a:t/>
                      </a:r>
                      <a:r>
                        <a:rPr lang="ru-RU" sz="700" b="0" i="0" u="none" strike="noStrike" kern="1200" baseline="0" dirty="0" err="1" smtClean="0">
                          <a:solidFill>
                            <a:schemeClr val="tx1"/>
                          </a:solidFill>
                          <a:effectLst/>
                          <a:latin typeface="+mn-lt"/>
                          <a:ea typeface="+mn-ea"/>
                          <a:cs typeface="+mn-cs"/>
                        </a:rPr>
                        <a:t/>
                      </a:r>
                      <a:r>
                        <a:rPr lang="ru-RU" sz="700" b="0" i="0" u="none" strike="noStrike" kern="1200" baseline="0" dirty="0" smtClean="0">
                          <a:solidFill>
                            <a:schemeClr val="tx1"/>
                          </a:solidFill>
                          <a:effectLst/>
                          <a:latin typeface="+mn-lt"/>
                          <a:ea typeface="+mn-ea"/>
                          <a:cs typeface="+mn-cs"/>
                        </a:rPr>
                        <a:t/>
                      </a:r>
                    </a:p>
                    <a:p>
                      <a:pPr marL="171450" lvl="0" indent="-171450" algn="just" defTabSz="583170" rtl="0" eaLnBrk="1" latinLnBrk="0" hangingPunct="1">
                        <a:spcBef>
                          <a:spcPts val="0"/>
                        </a:spcBef>
                        <a:buFont typeface="Wingdings" panose="05000000000000000000" pitchFamily="2" charset="2"/>
                        <a:buChar char="ü"/>
                      </a:pPr>
                      <a:r>
                        <a:rPr lang="ru-RU" sz="700" b="1" i="0" u="none" strike="noStrike" kern="1200" baseline="0" dirty="0" smtClean="0">
                          <a:solidFill>
                            <a:schemeClr val="accent5">
                              <a:lumMod val="75000"/>
                              <a:lumOff val="25000"/>
                            </a:schemeClr>
                          </a:solidFill>
                          <a:effectLst/>
                          <a:latin typeface="+mn-lt"/>
                          <a:ea typeface="+mn-ea"/>
                          <a:cs typeface="+mn-cs"/>
                        </a:rPr>
                        <a:t xml:space="preserve">Risks:</a:t>
                      </a:r>
                    </a:p>
                    <a:p>
                      <a:pPr marL="268288" lvl="2" indent="-90488" algn="just" defTabSz="583170" rtl="0" eaLnBrk="1" latinLnBrk="0" hangingPunct="1">
                        <a:spcBef>
                          <a:spcPts val="0"/>
                        </a:spcBef>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 xml:space="preserve">Incorrect personal data in the ERG Access system.</a:t>
                      </a:r>
                      <a:r>
                        <a:rPr lang="ru-RU" sz="700" b="0" i="0" u="none" strike="noStrike" kern="1200" baseline="0" dirty="0" err="1" smtClean="0">
                          <a:solidFill>
                            <a:schemeClr val="tx1"/>
                          </a:solidFill>
                          <a:effectLst/>
                          <a:latin typeface="+mn-lt"/>
                          <a:ea typeface="+mn-ea"/>
                          <a:cs typeface="+mn-cs"/>
                        </a:rPr>
                        <a:t/>
                      </a:r>
                      <a:r>
                        <a:rPr lang="ru-RU" sz="700" b="0" i="0" u="none" strike="noStrike" kern="1200" baseline="0" dirty="0" smtClean="0">
                          <a:solidFill>
                            <a:schemeClr val="tx1"/>
                          </a:solidFill>
                          <a:effectLst/>
                          <a:latin typeface="+mn-lt"/>
                          <a:ea typeface="+mn-ea"/>
                          <a:cs typeface="+mn-cs"/>
                        </a:rPr>
                        <a:t/>
                      </a:r>
                    </a:p>
                    <a:p>
                      <a:pPr marL="268288" lvl="2" indent="-90488" algn="just" defTabSz="583170" rtl="0" eaLnBrk="1" latinLnBrk="0" hangingPunct="1">
                        <a:lnSpc>
                          <a:spcPct val="100000"/>
                        </a:lnSpc>
                        <a:spcBef>
                          <a:spcPts val="0"/>
                        </a:spcBef>
                        <a:spcAft>
                          <a:spcPts val="0"/>
                        </a:spcAft>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 xml:space="preserve">Possibility of unauthorized access by third parties.</a:t>
                      </a:r>
                    </a:p>
                    <a:p>
                      <a:pPr marL="268288" lvl="2" indent="-90488" algn="just" defTabSz="583170" rtl="0" eaLnBrk="1" latinLnBrk="0" hangingPunct="1">
                        <a:lnSpc>
                          <a:spcPct val="100000"/>
                        </a:lnSpc>
                        <a:spcBef>
                          <a:spcPts val="0"/>
                        </a:spcBef>
                        <a:spcAft>
                          <a:spcPts val="0"/>
                        </a:spcAft>
                        <a:buClr>
                          <a:schemeClr val="accent5">
                            <a:lumMod val="75000"/>
                            <a:lumOff val="25000"/>
                          </a:schemeClr>
                        </a:buClr>
                        <a:buFont typeface="Arial" panose="020B0604020202020204" pitchFamily="34" charset="0"/>
                        <a:buChar char="•"/>
                      </a:pPr>
                      <a:r>
                        <a:rPr lang="ru-RU" sz="700" b="0" i="0" u="none" strike="noStrike" kern="1200" baseline="0" dirty="0" smtClean="0">
                          <a:solidFill>
                            <a:schemeClr val="tx1"/>
                          </a:solidFill>
                          <a:effectLst/>
                          <a:latin typeface="+mn-lt"/>
                          <a:ea typeface="+mn-ea"/>
                          <a:cs typeface="+mn-cs"/>
                        </a:rPr>
                        <a:t xml:space="preserve">Violation of information security requirements and facility security regime.</a:t>
                      </a:r>
                      <a:endParaRPr lang="ru-RU" sz="900" b="0" i="0" u="none" strike="noStrike" kern="1200" baseline="0" dirty="0">
                        <a:solidFill>
                          <a:schemeClr val="tx1"/>
                        </a:solidFill>
                        <a:effectLst/>
                        <a:latin typeface="+mn-lt"/>
                        <a:ea typeface="+mn-ea"/>
                        <a:cs typeface="+mn-cs"/>
                      </a:endParaRPr>
                    </a:p>
                  </a:txBody>
                  <a:tcPr marL="0" marR="0" marT="72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496408"/>
                  </a:ext>
                </a:extLst>
              </a:tr>
            </a:tbl>
          </a:graphicData>
        </a:graphic>
      </p:graphicFrame>
      <p:graphicFrame>
        <p:nvGraphicFramePr>
          <p:cNvPr id="18" name="Диаграмма 17"/>
          <p:cNvGraphicFramePr/>
          <p:nvPr>
            <p:extLst>
              <p:ext uri="{D42A27DB-BD31-4B8C-83A1-F6EECF244321}">
                <p14:modId xmlns:p14="http://schemas.microsoft.com/office/powerpoint/2010/main" val="265863418"/>
              </p:ext>
            </p:extLst>
          </p:nvPr>
        </p:nvGraphicFramePr>
        <p:xfrm>
          <a:off x="84916" y="2535812"/>
          <a:ext cx="2995511" cy="2429343"/>
        </p:xfrm>
        <a:graphic>
          <a:graphicData uri="http://schemas.openxmlformats.org/drawingml/2006/chart">
            <c:chart xmlns:c="http://schemas.openxmlformats.org/drawingml/2006/chart" xmlns:r="http://schemas.openxmlformats.org/officeDocument/2006/relationships" r:id="rId7"/>
          </a:graphicData>
        </a:graphic>
      </p:graphicFrame>
      <p:sp>
        <p:nvSpPr>
          <p:cNvPr id="3" name="Прямоугольник 2"/>
          <p:cNvSpPr/>
          <p:nvPr/>
        </p:nvSpPr>
        <p:spPr>
          <a:xfrm>
            <a:off x="209922" y="5120619"/>
            <a:ext cx="11528645" cy="1492716"/>
          </a:xfrm>
          <a:prstGeom prst="rect">
            <a:avLst/>
          </a:prstGeom>
        </p:spPr>
        <p:txBody>
          <a:bodyPr wrap="square">
            <a:spAutoFit/>
          </a:bodyPr>
          <a:lstStyle/>
          <a:p>
            <a:pPr marL="0" lvl="2" algn="just" defTabSz="583170">
              <a:buClr>
                <a:schemeClr val="accent5">
                  <a:lumMod val="75000"/>
                  <a:lumOff val="25000"/>
                </a:schemeClr>
              </a:buClr>
            </a:pPr>
            <a:r>
              <a:rPr lang="ru-RU" sz="700" b="1" dirty="0">
                <a:solidFill>
                  <a:schemeClr val="accent5">
                    <a:lumMod val="75000"/>
                    <a:lumOff val="25000"/>
                  </a:schemeClr>
                </a:solidFill>
              </a:rPr>
              <a:t xml:space="preserve">The following recommendations were sent to the business unit:</a:t>
            </a:r>
            <a:r>
              <a:rPr lang="ru-RU" sz="700" b="1" dirty="0" smtClean="0">
                <a:solidFill>
                  <a:schemeClr val="accent5">
                    <a:lumMod val="75000"/>
                    <a:lumOff val="25000"/>
                  </a:schemeClr>
                </a:solidFill>
              </a:rPr>
              <a:t/>
            </a:r>
          </a:p>
          <a:p>
            <a:pPr marL="0" lvl="2" algn="just" defTabSz="583170">
              <a:buClr>
                <a:schemeClr val="accent5">
                  <a:lumMod val="75000"/>
                  <a:lumOff val="25000"/>
                </a:schemeClr>
              </a:buClr>
            </a:pPr>
            <a:r>
              <a:rPr lang="ru-RU" sz="700" dirty="0" smtClean="0">
                <a:solidFill>
                  <a:schemeClr val="accent5">
                    <a:lumMod val="75000"/>
                    <a:lumOff val="25000"/>
                  </a:schemeClr>
                </a:solidFill>
              </a:rPr>
              <a:t xml:space="preserve">1. Strengthening control over the deactivation procedure and inventory of passes.</a:t>
            </a:r>
            <a:r>
              <a:rPr lang="ru-RU" sz="700" dirty="0">
                <a:solidFill>
                  <a:schemeClr val="accent5">
                    <a:lumMod val="75000"/>
                    <a:lumOff val="25000"/>
                  </a:schemeClr>
                </a:solidFill>
              </a:rPr>
              <a:t/>
            </a:r>
            <a:r>
              <a:rPr lang="ru-RU" sz="700" dirty="0"/>
              <a:t/>
            </a:r>
            <a:r>
              <a:rPr lang="ru-RU" sz="700" dirty="0" smtClean="0"/>
              <a:t/>
            </a:r>
            <a:endParaRPr lang="ru-RU" sz="700" dirty="0"/>
          </a:p>
          <a:p>
            <a:pPr marL="268288" lvl="2" indent="-90488" algn="just" defTabSz="583170">
              <a:lnSpc>
                <a:spcPct val="100000"/>
              </a:lnSpc>
              <a:spcAft>
                <a:spcPts val="0"/>
              </a:spcAft>
              <a:buClr>
                <a:schemeClr val="accent5">
                  <a:lumMod val="75000"/>
                  <a:lumOff val="25000"/>
                </a:schemeClr>
              </a:buClr>
              <a:buFont typeface="Arial" panose="020B0604020202020204" pitchFamily="34" charset="0"/>
              <a:buChar char="•"/>
            </a:pPr>
            <a:r>
              <a:rPr lang="ru-RU" sz="700" dirty="0"/>
              <a:t xml:space="preserve">Introduce mandatory periodic verification of all issued passes, incl. for employees of contractors.</a:t>
            </a:r>
            <a:r>
              <a:rPr lang="ru-RU" sz="700" dirty="0" err="1"/>
              <a:t/>
            </a:r>
            <a:r>
              <a:rPr lang="ru-RU" sz="700" dirty="0"/>
              <a:t/>
            </a:r>
          </a:p>
          <a:p>
            <a:pPr marL="268288" lvl="2" indent="-90488" algn="just" defTabSz="583170">
              <a:lnSpc>
                <a:spcPct val="100000"/>
              </a:lnSpc>
              <a:spcAft>
                <a:spcPts val="0"/>
              </a:spcAft>
              <a:buClr>
                <a:schemeClr val="accent5">
                  <a:lumMod val="75000"/>
                  <a:lumOff val="25000"/>
                </a:schemeClr>
              </a:buClr>
              <a:buFont typeface="Arial" panose="020B0604020202020204" pitchFamily="34" charset="0"/>
              <a:buChar char="•"/>
            </a:pPr>
            <a:r>
              <a:rPr lang="ru-RU" sz="700" dirty="0"/>
              <a:t xml:space="preserve">Consider the possibility of automating the verification and deactivation of passes with automatic notification of the Security Service (including the pass office) in case of expiration.</a:t>
            </a:r>
          </a:p>
          <a:p>
            <a:pPr algn="just"/>
            <a:r>
              <a:rPr lang="ru-RU" sz="700" dirty="0" smtClean="0">
                <a:solidFill>
                  <a:schemeClr val="accent5">
                    <a:lumMod val="75000"/>
                    <a:lumOff val="25000"/>
                  </a:schemeClr>
                </a:solidFill>
              </a:rPr>
              <a:t xml:space="preserve">2. Bringing additional employment of employees of Group companies, including contractors, into compliance with established legal requirements and the ERG Policy on avoiding conflicts of interest.</a:t>
            </a:r>
            <a:r>
              <a:rPr lang="ru-RU" sz="700" dirty="0">
                <a:solidFill>
                  <a:schemeClr val="accent5">
                    <a:lumMod val="75000"/>
                    <a:lumOff val="25000"/>
                  </a:schemeClr>
                </a:solidFill>
              </a:rPr>
              <a:t/>
            </a:r>
            <a:r>
              <a:rPr lang="ru-RU" sz="700" dirty="0"/>
              <a:t/>
            </a:r>
          </a:p>
          <a:p>
            <a:pPr marL="268288" lvl="2" indent="-90488" algn="just" defTabSz="583170">
              <a:spcBef>
                <a:spcPts val="0"/>
              </a:spcBef>
              <a:buClr>
                <a:schemeClr val="accent5">
                  <a:lumMod val="75000"/>
                  <a:lumOff val="25000"/>
                </a:schemeClr>
              </a:buClr>
              <a:buFont typeface="Arial" panose="020B0604020202020204" pitchFamily="34" charset="0"/>
              <a:buChar char="•"/>
            </a:pPr>
            <a:r>
              <a:rPr lang="ru-RU" sz="700" dirty="0"/>
              <a:t xml:space="preserve">In order to reduce the risks of violation of the requirements of applicable legislation and ERG policies, strengthen control over cases of additional work activities by employees, incl. taking into account working conditions in the Company (for example, a ban on part-time work in accordance with paragraph 5, paragraph 2, article 26 of the Labor Code of the Republic of Kazakhstan by employees engaged in work with hazardous working conditions).</a:t>
            </a:r>
            <a:r>
              <a:rPr lang="ru-RU" sz="700" dirty="0" err="1"/>
              <a:t/>
            </a:r>
            <a:r>
              <a:rPr lang="ru-RU" sz="700" dirty="0"/>
              <a:t/>
            </a:r>
            <a:r>
              <a:rPr lang="ru-RU" sz="700" dirty="0" err="1"/>
              <a:t/>
            </a:r>
            <a:r>
              <a:rPr lang="ru-RU" sz="700" dirty="0"/>
              <a:t/>
            </a:r>
          </a:p>
          <a:p>
            <a:pPr algn="just"/>
            <a:r>
              <a:rPr lang="ru-RU" sz="700" dirty="0" smtClean="0">
                <a:solidFill>
                  <a:schemeClr val="accent5">
                    <a:lumMod val="75000"/>
                    <a:lumOff val="25000"/>
                  </a:schemeClr>
                </a:solidFill>
              </a:rPr>
              <a:t xml:space="preserve">3. Strengthening the responsibility of contractors in relation to personnel when performing work and providing services to Group companies.</a:t>
            </a:r>
            <a:r>
              <a:rPr lang="ru-RU" sz="700" dirty="0">
                <a:solidFill>
                  <a:schemeClr val="accent5">
                    <a:lumMod val="75000"/>
                    <a:lumOff val="25000"/>
                  </a:schemeClr>
                </a:solidFill>
              </a:rPr>
              <a:t/>
            </a:r>
            <a:r>
              <a:rPr lang="ru-RU" sz="700" dirty="0"/>
              <a:t/>
            </a:r>
          </a:p>
          <a:p>
            <a:pPr marL="268288" lvl="2" indent="-90488" algn="just" defTabSz="583170">
              <a:lnSpc>
                <a:spcPct val="100000"/>
              </a:lnSpc>
              <a:spcAft>
                <a:spcPts val="0"/>
              </a:spcAft>
              <a:buClr>
                <a:schemeClr val="accent5">
                  <a:lumMod val="75000"/>
                  <a:lumOff val="25000"/>
                </a:schemeClr>
              </a:buClr>
              <a:buFont typeface="Arial" panose="020B0604020202020204" pitchFamily="34" charset="0"/>
              <a:buChar char="•"/>
            </a:pPr>
            <a:r>
              <a:rPr lang="ru-RU" sz="700" dirty="0"/>
              <a:t xml:space="preserve">Consider the possibility of strengthening the requirements for contractors’ personnel when the latter perform work/provide services at the Group’s enterprises in terms of confirming the official employment of employees, including in cases of involving sub-contractors, in order to reduce, including, but not limited to, the risks of violation of legal requirements, risks of non-compliance with labor protection and industrial safety requirements, etc. Also strengthen the provisions of contracts on the liability of contractors in terms of non-compliance with these requirements.</a:t>
            </a:r>
            <a:r>
              <a:rPr lang="ru-RU" sz="700" dirty="0" err="1"/>
              <a:t/>
            </a:r>
            <a:r>
              <a:rPr lang="ru-RU" sz="700" dirty="0"/>
              <a:t/>
            </a:r>
            <a:r>
              <a:rPr lang="ru-RU" sz="700" dirty="0" err="1"/>
              <a:t/>
            </a:r>
            <a:r>
              <a:rPr lang="ru-RU" sz="700" dirty="0"/>
              <a:t/>
            </a:r>
          </a:p>
          <a:p>
            <a:pPr marL="268288" lvl="2" indent="-90488" algn="just" defTabSz="583170">
              <a:lnSpc>
                <a:spcPct val="100000"/>
              </a:lnSpc>
              <a:spcAft>
                <a:spcPts val="0"/>
              </a:spcAft>
              <a:buClr>
                <a:schemeClr val="accent5">
                  <a:lumMod val="75000"/>
                  <a:lumOff val="25000"/>
                </a:schemeClr>
              </a:buClr>
              <a:buFont typeface="Arial" panose="020B0604020202020204" pitchFamily="34" charset="0"/>
              <a:buChar char="•"/>
            </a:pPr>
            <a:r>
              <a:rPr lang="ru-RU" sz="700" dirty="0"/>
              <a:t xml:space="preserve">Prohibit the issuance of passes and the entry of contractor employees who do not have official employment to the production sites of ERG companies in cases where such facts are revealed.</a:t>
            </a:r>
          </a:p>
          <a:p>
            <a:pPr algn="just"/>
            <a:r>
              <a:rPr lang="ru-RU" sz="700" dirty="0" smtClean="0">
                <a:solidFill>
                  <a:schemeClr val="accent5">
                    <a:lumMod val="75000"/>
                    <a:lumOff val="25000"/>
                  </a:schemeClr>
                </a:solidFill>
              </a:rPr>
              <a:t xml:space="preserve">4. Consider the possibility of multi-factor identification when issuing passes (for example, IIN, full name, biometrics, etc.) to eliminate incorrect data in the system.</a:t>
            </a:r>
            <a:r>
              <a:rPr lang="ru-RU" sz="700" dirty="0">
                <a:solidFill>
                  <a:schemeClr val="accent5">
                    <a:lumMod val="75000"/>
                    <a:lumOff val="25000"/>
                  </a:schemeClr>
                </a:solidFill>
              </a:rPr>
              <a:t/>
            </a:r>
            <a:r>
              <a:rPr lang="ru-RU" sz="700" dirty="0"/>
              <a:t/>
            </a:r>
          </a:p>
        </p:txBody>
      </p:sp>
    </p:spTree>
    <p:extLst>
      <p:ext uri="{BB962C8B-B14F-4D97-AF65-F5344CB8AC3E}">
        <p14:creationId xmlns:p14="http://schemas.microsoft.com/office/powerpoint/2010/main" val="150929688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736" name="think-cell Slide" r:id="rId5" imgW="594" imgH="595" progId="TCLayout.ActiveDocument.1">
                  <p:embed/>
                </p:oleObj>
              </mc:Choice>
              <mc:Fallback>
                <p:oleObj name="think-cell Slide" r:id="rId5" imgW="594" imgH="595"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317499" y="0"/>
            <a:ext cx="10584209" cy="704850"/>
          </a:xfrm>
        </p:spPr>
        <p:txBody>
          <a:bodyPr vert="horz"/>
          <a:lstStyle/>
          <a:p>
            <a:r>
              <a:rPr lang="ru-RU" sz="1600" dirty="0"/>
              <a:t xml:space="preserve">Appendix 7: Risk management: Results of self-testing of the effectiveness of controls regarding the provision of gifts and compensation benefits</a:t>
            </a:r>
            <a:r>
              <a:rPr lang="ru" sz="1600" dirty="0"/>
              <a:t/>
            </a:r>
            <a:r>
              <a:rPr lang="ru-RU" sz="1600" dirty="0">
                <a:solidFill>
                  <a:schemeClr val="tx1"/>
                </a:solidFill>
              </a:rPr>
              <a:t/>
            </a:r>
            <a:endParaRPr lang="ru-RU" sz="1600" dirty="0"/>
          </a:p>
        </p:txBody>
      </p:sp>
      <p:sp>
        <p:nvSpPr>
          <p:cNvPr id="8" name="Прямоугольник 7"/>
          <p:cNvSpPr/>
          <p:nvPr/>
        </p:nvSpPr>
        <p:spPr>
          <a:xfrm>
            <a:off x="209634" y="794530"/>
            <a:ext cx="11636189" cy="584775"/>
          </a:xfrm>
          <a:prstGeom prst="rect">
            <a:avLst/>
          </a:prstGeom>
        </p:spPr>
        <p:txBody>
          <a:bodyPr wrap="square">
            <a:spAutoFit/>
          </a:bodyPr>
          <a:lstStyle/>
          <a:p>
            <a:pPr algn="just">
              <a:lnSpc>
                <a:spcPct val="100000"/>
              </a:lnSpc>
              <a:spcBef>
                <a:spcPts val="0"/>
              </a:spcBef>
              <a:spcAft>
                <a:spcPts val="0"/>
              </a:spcAft>
            </a:pPr>
            <a:r>
              <a:rPr lang="ru-RU" sz="800" dirty="0">
                <a:latin typeface="Arial" panose="020B0604020202020204" pitchFamily="34" charset="0"/>
                <a:cs typeface="Arial" panose="020B0604020202020204" pitchFamily="34" charset="0"/>
              </a:rPr>
              <a:t xml:space="preserve">In order to comply with established requirements and assess the effectiveness of controls, the Compliance Directorate (DC) analyzed and assessed the effectiveness of the existing controls of the Aluminum, Iron, Coal, Chrome and Energy Divisions in relation to the process of “Providing business gifts, cultural and entertainment (CRM) and advertising and marketing events (RMM)” to third parties for the period January-October 2025.</a:t>
            </a:r>
            <a:r>
              <a:rPr lang="ru-RU" sz="800" dirty="0" smtClean="0">
                <a:latin typeface="Arial" panose="020B0604020202020204" pitchFamily="34" charset="0"/>
                <a:cs typeface="Arial" panose="020B0604020202020204" pitchFamily="34" charset="0"/>
              </a:rPr>
              <a:t/>
            </a:r>
            <a:r>
              <a:rPr lang="ru-RU" sz="800" dirty="0">
                <a:latin typeface="Arial" panose="020B0604020202020204" pitchFamily="34" charset="0"/>
                <a:cs typeface="Arial" panose="020B0604020202020204" pitchFamily="34" charset="0"/>
              </a:rPr>
              <a:t/>
            </a:r>
          </a:p>
          <a:p>
            <a:pPr lvl="0" algn="just" defTabSz="583170">
              <a:defRPr/>
            </a:pPr>
            <a:endParaRPr lang="ru-RU" sz="800" dirty="0">
              <a:solidFill>
                <a:schemeClr val="dk1"/>
              </a:solidFill>
              <a:latin typeface="Arial" panose="020B0604020202020204" pitchFamily="34" charset="0"/>
              <a:cs typeface="Arial" panose="020B0604020202020204" pitchFamily="34" charset="0"/>
            </a:endParaRPr>
          </a:p>
          <a:p>
            <a:pPr lvl="0" defTabSz="583170">
              <a:defRPr/>
            </a:pPr>
            <a:r>
              <a:rPr lang="ru-RU" sz="800" b="1" dirty="0">
                <a:solidFill>
                  <a:schemeClr val="accent5">
                    <a:lumMod val="75000"/>
                    <a:lumOff val="25000"/>
                  </a:schemeClr>
                </a:solidFill>
                <a:latin typeface="Arial" panose="020B0604020202020204" pitchFamily="34" charset="0"/>
                <a:cs typeface="Arial" panose="020B0604020202020204" pitchFamily="34" charset="0"/>
              </a:rPr>
              <a:t xml:space="preserve">Self-test results</a:t>
            </a:r>
            <a:r>
              <a:rPr lang="ru-RU" sz="800" b="1" dirty="0" smtClean="0">
                <a:solidFill>
                  <a:schemeClr val="accent5">
                    <a:lumMod val="75000"/>
                    <a:lumOff val="25000"/>
                  </a:schemeClr>
                </a:solidFill>
                <a:latin typeface="Arial" panose="020B0604020202020204" pitchFamily="34" charset="0"/>
                <a:cs typeface="Arial" panose="020B0604020202020204" pitchFamily="34" charset="0"/>
              </a:rPr>
              <a:t/>
            </a:r>
          </a:p>
        </p:txBody>
      </p:sp>
      <p:graphicFrame>
        <p:nvGraphicFramePr>
          <p:cNvPr id="9" name="Таблица 8"/>
          <p:cNvGraphicFramePr>
            <a:graphicFrameLocks noGrp="1"/>
          </p:cNvGraphicFramePr>
          <p:nvPr>
            <p:extLst>
              <p:ext uri="{D42A27DB-BD31-4B8C-83A1-F6EECF244321}">
                <p14:modId xmlns:p14="http://schemas.microsoft.com/office/powerpoint/2010/main" val="2184523865"/>
              </p:ext>
            </p:extLst>
          </p:nvPr>
        </p:nvGraphicFramePr>
        <p:xfrm>
          <a:off x="280114" y="1379305"/>
          <a:ext cx="11636189" cy="2529840"/>
        </p:xfrm>
        <a:graphic>
          <a:graphicData uri="http://schemas.openxmlformats.org/drawingml/2006/table">
            <a:tbl>
              <a:tblPr firstRow="1" bandRow="1">
                <a:tableStyleId>{5C22544A-7EE6-4342-B048-85BDC9FD1C3A}</a:tableStyleId>
              </a:tblPr>
              <a:tblGrid>
                <a:gridCol w="5489403">
                  <a:extLst>
                    <a:ext uri="{9D8B030D-6E8A-4147-A177-3AD203B41FA5}">
                      <a16:colId xmlns:a16="http://schemas.microsoft.com/office/drawing/2014/main" val="1244878418"/>
                    </a:ext>
                  </a:extLst>
                </a:gridCol>
                <a:gridCol w="6146786">
                  <a:extLst>
                    <a:ext uri="{9D8B030D-6E8A-4147-A177-3AD203B41FA5}">
                      <a16:colId xmlns:a16="http://schemas.microsoft.com/office/drawing/2014/main" val="2827171975"/>
                    </a:ext>
                  </a:extLst>
                </a:gridCol>
              </a:tblGrid>
              <a:tr h="370840">
                <a:tc>
                  <a:txBody>
                    <a:bodyPr/>
                    <a:lstStyle/>
                    <a:p>
                      <a:pPr marL="0" lvl="0" indent="0" algn="just">
                        <a:lnSpc>
                          <a:spcPct val="100000"/>
                        </a:lnSpc>
                        <a:spcBef>
                          <a:spcPts val="0"/>
                        </a:spcBef>
                        <a:spcAft>
                          <a:spcPts val="0"/>
                        </a:spcAft>
                        <a:buFont typeface="Arial" panose="020B0604020202020204" pitchFamily="34" charset="0"/>
                        <a:buNone/>
                      </a:pPr>
                      <a:r>
                        <a:rPr lang="ru-RU" sz="800" b="0" dirty="0" smtClean="0">
                          <a:solidFill>
                            <a:schemeClr val="accent5">
                              <a:lumMod val="75000"/>
                              <a:lumOff val="25000"/>
                            </a:schemeClr>
                          </a:solidFill>
                          <a:latin typeface="Arial" panose="020B0604020202020204" pitchFamily="34" charset="0"/>
                          <a:cs typeface="Arial" panose="020B0604020202020204" pitchFamily="34" charset="0"/>
                        </a:rPr>
                        <a:t xml:space="preserve">Division "Coal":</a:t>
                      </a:r>
                      <a:endParaRPr lang="en-US" sz="800" b="0" dirty="0" smtClean="0">
                        <a:solidFill>
                          <a:schemeClr val="accent5">
                            <a:lumMod val="75000"/>
                            <a:lumOff val="25000"/>
                          </a:schemeClr>
                        </a:solidFill>
                        <a:latin typeface="Arial" panose="020B0604020202020204" pitchFamily="34" charset="0"/>
                        <a:cs typeface="Arial" panose="020B0604020202020204" pitchFamily="34" charset="0"/>
                      </a:endParaRPr>
                    </a:p>
                    <a:p>
                      <a:pPr marL="177800" lvl="1" indent="-177800" algn="just" defTabSz="583170">
                        <a:buClr>
                          <a:schemeClr val="accent5">
                            <a:lumMod val="75000"/>
                            <a:lumOff val="25000"/>
                          </a:schemeClr>
                        </a:buClr>
                        <a:buFont typeface="Arial" panose="020B0604020202020204" pitchFamily="34" charset="0"/>
                        <a:buChar char="•"/>
                        <a:defRPr/>
                      </a:pPr>
                      <a:r>
                        <a:rPr lang="ru-RU" sz="800" b="0" dirty="0" smtClean="0">
                          <a:solidFill>
                            <a:schemeClr val="tx1"/>
                          </a:solidFill>
                          <a:latin typeface="Arial" panose="020B0604020202020204" pitchFamily="34" charset="0"/>
                          <a:cs typeface="Arial" panose="020B0604020202020204" pitchFamily="34" charset="0"/>
                        </a:rPr>
                        <a:t xml:space="preserve">After the fact, the provision of 52 gifts to 50 third parties, including 12 government ones, was revealed. employees or persons equivalent to them, for a total amount of 1,134,405 tenge as part of the “Miner’s Day” event.</a:t>
                      </a:r>
                    </a:p>
                    <a:p>
                      <a:pPr marL="177800" lvl="1" indent="-177800" algn="just">
                        <a:lnSpc>
                          <a:spcPct val="100000"/>
                        </a:lnSpc>
                        <a:spcBef>
                          <a:spcPts val="0"/>
                        </a:spcBef>
                        <a:spcAft>
                          <a:spcPts val="0"/>
                        </a:spcAft>
                        <a:buClr>
                          <a:schemeClr val="accent5">
                            <a:lumMod val="75000"/>
                            <a:lumOff val="25000"/>
                          </a:schemeClr>
                        </a:buClr>
                        <a:buFont typeface="Arial" panose="020B0604020202020204" pitchFamily="34" charset="0"/>
                        <a:buChar char="•"/>
                      </a:pPr>
                      <a:r>
                        <a:rPr lang="ru-RU" sz="800" b="0" dirty="0" smtClean="0">
                          <a:solidFill>
                            <a:schemeClr val="tx1"/>
                          </a:solidFill>
                          <a:latin typeface="Arial" panose="020B0604020202020204" pitchFamily="34" charset="0"/>
                          <a:cs typeface="Arial" panose="020B0604020202020204" pitchFamily="34" charset="0"/>
                        </a:rPr>
                        <a:t xml:space="preserve">In 2025, no applications were sent to the DC from the Coal Division for approval of the provision of gifts, KRM and RMM to third parties.</a:t>
                      </a:r>
                      <a:endParaRPr lang="en-US" sz="800" b="0" dirty="0" smtClean="0">
                        <a:solidFill>
                          <a:schemeClr val="tx1"/>
                        </a:solidFill>
                        <a:latin typeface="Arial" panose="020B0604020202020204" pitchFamily="34" charset="0"/>
                        <a:cs typeface="Arial" panose="020B0604020202020204" pitchFamily="34" charset="0"/>
                      </a:endParaRPr>
                    </a:p>
                    <a:p>
                      <a:pPr marL="360363" lvl="1" indent="-182563" algn="just" defTabSz="583170">
                        <a:buFont typeface="Wingdings" panose="05000000000000000000" pitchFamily="2" charset="2"/>
                        <a:buChar char="Ø"/>
                        <a:defRPr/>
                      </a:pPr>
                      <a:r>
                        <a:rPr lang="ru-RU" sz="800" b="0" dirty="0" smtClean="0">
                          <a:solidFill>
                            <a:schemeClr val="accent5">
                              <a:lumMod val="75000"/>
                              <a:lumOff val="25000"/>
                            </a:schemeClr>
                          </a:solidFill>
                          <a:latin typeface="Arial" panose="020B0604020202020204" pitchFamily="34" charset="0"/>
                          <a:cs typeface="Arial" panose="020B0604020202020204" pitchFamily="34" charset="0"/>
                        </a:rPr>
                        <a:t xml:space="preserve">Risk: the occurrence of undue influence on business decisions, conflicts of interest, violation of the requirements of anti-corruption and other applicable legislation, as well as ERG’s internal regulatory requirements, which may lead to regulatory claims, administrative or other liability, the application of financial sanctions and cause reputational damage.</a:t>
                      </a:r>
                      <a:r>
                        <a:rPr lang="ru-RU" sz="800" b="0" dirty="0" smtClean="0">
                          <a:solidFill>
                            <a:schemeClr val="tx1"/>
                          </a:solidFill>
                          <a:latin typeface="Arial" panose="020B0604020202020204" pitchFamily="34" charset="0"/>
                          <a:cs typeface="Arial" panose="020B0604020202020204" pitchFamily="34" charset="0"/>
                        </a:rPr>
                        <a:t/>
                      </a:r>
                      <a:r>
                        <a:rPr lang="en-US" sz="800" b="0" dirty="0" smtClean="0">
                          <a:solidFill>
                            <a:schemeClr val="tx1"/>
                          </a:solidFill>
                          <a:latin typeface="Arial" panose="020B0604020202020204" pitchFamily="34" charset="0"/>
                          <a:cs typeface="Arial" panose="020B0604020202020204" pitchFamily="34" charset="0"/>
                        </a:rPr>
                        <a:t/>
                      </a:r>
                      <a:r>
                        <a:rPr lang="ru-RU" sz="800" b="0" dirty="0" smtClean="0">
                          <a:solidFill>
                            <a:schemeClr val="tx1"/>
                          </a:solidFill>
                          <a:latin typeface="Arial" panose="020B0604020202020204" pitchFamily="34" charset="0"/>
                          <a:cs typeface="Arial" panose="020B0604020202020204" pitchFamily="34" charset="0"/>
                        </a:rPr>
                        <a:t/>
                      </a:r>
                      <a:endParaRPr lang="ru-RU" b="0" dirty="0"/>
                    </a:p>
                  </a:txBody>
                  <a:tcPr>
                    <a:noFill/>
                  </a:tcPr>
                </a:tc>
                <a:tc rowSpan="2">
                  <a:txBody>
                    <a:bodyPr/>
                    <a:lstStyle/>
                    <a:p>
                      <a:pPr marL="0" lvl="0" indent="0" algn="just" defTabSz="583170">
                        <a:buFont typeface="Arial" panose="020B0604020202020204" pitchFamily="34" charset="0"/>
                        <a:buNone/>
                      </a:pPr>
                      <a:r>
                        <a:rPr lang="ru-RU" sz="800" b="0" dirty="0" smtClean="0">
                          <a:solidFill>
                            <a:schemeClr val="accent5">
                              <a:lumMod val="75000"/>
                              <a:lumOff val="25000"/>
                            </a:schemeClr>
                          </a:solidFill>
                          <a:latin typeface="Arial" panose="020B0604020202020204" pitchFamily="34" charset="0"/>
                          <a:cs typeface="Arial" panose="020B0604020202020204" pitchFamily="34" charset="0"/>
                        </a:rPr>
                        <a:t xml:space="preserve">For all Divisions:</a:t>
                      </a:r>
                    </a:p>
                    <a:p>
                      <a:pPr marL="177800" lvl="1" indent="-177800" algn="just" defTabSz="583170">
                        <a:buClr>
                          <a:schemeClr val="accent5">
                            <a:lumMod val="75000"/>
                            <a:lumOff val="25000"/>
                          </a:schemeClr>
                        </a:buClr>
                        <a:buFont typeface="Arial" panose="020B0604020202020204" pitchFamily="34" charset="0"/>
                        <a:buChar char="•"/>
                        <a:defRPr/>
                      </a:pPr>
                      <a:r>
                        <a:rPr lang="ru-RU" sz="800" b="0" dirty="0" smtClean="0">
                          <a:solidFill>
                            <a:schemeClr val="tx1"/>
                          </a:solidFill>
                          <a:latin typeface="Arial" panose="020B0604020202020204" pitchFamily="34" charset="0"/>
                          <a:cs typeface="Arial" panose="020B0604020202020204" pitchFamily="34" charset="0"/>
                        </a:rPr>
                        <a:t xml:space="preserve">It was established that there was no approval from the DC when providing branded image products in violation of the requirements of clause 7.4 of the ERG Policy on gifts and KRM. Please note that products under US$35 may not be subject to approval subject to prior PR and compliance approval and subject to applicable country restrictions.</a:t>
                      </a:r>
                      <a:r>
                        <a:rPr lang="ru-RU" sz="800" b="0" dirty="0" err="1" smtClean="0">
                          <a:solidFill>
                            <a:schemeClr val="tx1"/>
                          </a:solidFill>
                          <a:latin typeface="Arial" panose="020B0604020202020204" pitchFamily="34" charset="0"/>
                          <a:cs typeface="Arial" panose="020B0604020202020204" pitchFamily="34" charset="0"/>
                        </a:rPr>
                        <a:t/>
                      </a:r>
                      <a:r>
                        <a:rPr lang="ru-RU" sz="800" b="0" dirty="0" smtClean="0">
                          <a:solidFill>
                            <a:schemeClr val="tx1"/>
                          </a:solidFill>
                          <a:latin typeface="Arial" panose="020B0604020202020204" pitchFamily="34" charset="0"/>
                          <a:cs typeface="Arial" panose="020B0604020202020204" pitchFamily="34" charset="0"/>
                        </a:rPr>
                        <a:t/>
                      </a:r>
                    </a:p>
                    <a:p>
                      <a:pPr marL="177800" lvl="1" indent="-177800" algn="just" defTabSz="583170">
                        <a:buClr>
                          <a:schemeClr val="accent5">
                            <a:lumMod val="75000"/>
                            <a:lumOff val="25000"/>
                          </a:schemeClr>
                        </a:buClr>
                        <a:buFont typeface="Arial" panose="020B0604020202020204" pitchFamily="34" charset="0"/>
                        <a:buChar char="•"/>
                        <a:defRPr/>
                      </a:pPr>
                      <a:r>
                        <a:rPr lang="ru-RU" sz="800" b="0" dirty="0" smtClean="0">
                          <a:solidFill>
                            <a:schemeClr val="tx1"/>
                          </a:solidFill>
                          <a:latin typeface="Arial" panose="020B0604020202020204" pitchFamily="34" charset="0"/>
                          <a:cs typeface="Arial" panose="020B0604020202020204" pitchFamily="34" charset="0"/>
                        </a:rPr>
                        <a:t xml:space="preserve">An inadequate level of control was identified in terms of documenting and accounting for gifts, KRM and RMM provided to third parties in the Iron, Coal and Chrome Divisions. Control of documentation and accounting of gifts provided, KRM and RMM to third parties was not tested in the Aluminum and Energy Divisions due to the lack of transactions in the reporting period.</a:t>
                      </a:r>
                    </a:p>
                    <a:p>
                      <a:pPr marL="177800" lvl="1" indent="-177800" algn="just" defTabSz="583170">
                        <a:buClr>
                          <a:schemeClr val="accent5">
                            <a:lumMod val="75000"/>
                            <a:lumOff val="25000"/>
                          </a:schemeClr>
                        </a:buClr>
                        <a:buFont typeface="Arial" panose="020B0604020202020204" pitchFamily="34" charset="0"/>
                        <a:buChar char="•"/>
                        <a:defRPr/>
                      </a:pPr>
                      <a:r>
                        <a:rPr lang="ru-RU" sz="800" b="0" dirty="0" smtClean="0">
                          <a:solidFill>
                            <a:schemeClr val="tx1"/>
                          </a:solidFill>
                          <a:latin typeface="Arial" panose="020B0604020202020204" pitchFamily="34" charset="0"/>
                          <a:cs typeface="Arial" panose="020B0604020202020204" pitchFamily="34" charset="0"/>
                        </a:rPr>
                        <a:t xml:space="preserve">Control of documentation and accounting of expenses for entertainment expenses was not tested in the Aluminum, Iron, Coal, Chrome and Energy Divisions due to the lack of transactions in the reporting period.</a:t>
                      </a:r>
                      <a:endParaRPr lang="en-US" sz="800" b="0" dirty="0" smtClean="0">
                        <a:solidFill>
                          <a:schemeClr val="tx1"/>
                        </a:solidFill>
                        <a:latin typeface="Arial" panose="020B0604020202020204" pitchFamily="34" charset="0"/>
                        <a:cs typeface="Arial" panose="020B0604020202020204" pitchFamily="34" charset="0"/>
                      </a:endParaRPr>
                    </a:p>
                    <a:p>
                      <a:pPr marL="360363" lvl="1" indent="-182563" algn="just" defTabSz="583170">
                        <a:buFont typeface="Wingdings" panose="05000000000000000000" pitchFamily="2" charset="2"/>
                        <a:buChar char="Ø"/>
                        <a:defRPr/>
                      </a:pPr>
                      <a:r>
                        <a:rPr lang="ru-RU" sz="800" b="0" dirty="0" smtClean="0">
                          <a:solidFill>
                            <a:schemeClr val="accent5">
                              <a:lumMod val="75000"/>
                              <a:lumOff val="25000"/>
                            </a:schemeClr>
                          </a:solidFill>
                          <a:latin typeface="Arial" panose="020B0604020202020204" pitchFamily="34" charset="0"/>
                          <a:cs typeface="Arial" panose="020B0604020202020204" pitchFamily="34" charset="0"/>
                        </a:rPr>
                        <a:t xml:space="preserve">Risk: the implementation of corruption and compliance risks, the inability to confirm the legality and admissibility of the relevant transactions, distortion of management and financial reporting, the emergence of regulatory and audit claims, as well as causing reputational damage to the companies of the Divisions.</a:t>
                      </a:r>
                      <a:r>
                        <a:rPr lang="ru-RU" sz="800" b="0" dirty="0" smtClean="0">
                          <a:solidFill>
                            <a:schemeClr val="tx1"/>
                          </a:solidFill>
                          <a:latin typeface="Arial" panose="020B0604020202020204" pitchFamily="34" charset="0"/>
                          <a:cs typeface="Arial" panose="020B0604020202020204" pitchFamily="34" charset="0"/>
                        </a:rPr>
                        <a:t/>
                      </a:r>
                    </a:p>
                    <a:p>
                      <a:pPr marL="177800" lvl="1" indent="-177800" algn="just" defTabSz="583170">
                        <a:buClr>
                          <a:schemeClr val="accent5">
                            <a:lumMod val="75000"/>
                            <a:lumOff val="25000"/>
                          </a:schemeClr>
                        </a:buClr>
                        <a:buFont typeface="Arial" panose="020B0604020202020204" pitchFamily="34" charset="0"/>
                        <a:buChar char="•"/>
                        <a:defRPr/>
                      </a:pPr>
                      <a:r>
                        <a:rPr lang="ru-RU" sz="800" b="0" dirty="0" smtClean="0">
                          <a:solidFill>
                            <a:schemeClr val="tx1"/>
                          </a:solidFill>
                          <a:latin typeface="Arial" panose="020B0604020202020204" pitchFamily="34" charset="0"/>
                          <a:cs typeface="Arial" panose="020B0604020202020204" pitchFamily="34" charset="0"/>
                        </a:rPr>
                        <a:t xml:space="preserve">There is no formalized mechanism for quantitative accounting of souvenir image products (including pens, notepads, thermal mugs), which reduces the transparency of its distribution within the framework of events and increases the likelihood of tax risks being realized.</a:t>
                      </a:r>
                      <a:r>
                        <a:rPr lang="ru-RU" sz="800" b="0" dirty="0" err="1" smtClean="0">
                          <a:solidFill>
                            <a:schemeClr val="tx1"/>
                          </a:solidFill>
                          <a:latin typeface="Arial" panose="020B0604020202020204" pitchFamily="34" charset="0"/>
                          <a:cs typeface="Arial" panose="020B0604020202020204" pitchFamily="34" charset="0"/>
                        </a:rPr>
                        <a:t/>
                      </a:r>
                      <a:r>
                        <a:rPr lang="ru-RU" sz="800" b="0" dirty="0" smtClean="0">
                          <a:solidFill>
                            <a:schemeClr val="tx1"/>
                          </a:solidFill>
                          <a:latin typeface="Arial" panose="020B0604020202020204" pitchFamily="34" charset="0"/>
                          <a:cs typeface="Arial" panose="020B0604020202020204" pitchFamily="34" charset="0"/>
                        </a:rPr>
                        <a:t/>
                      </a:r>
                    </a:p>
                    <a:p>
                      <a:pPr marL="360363" lvl="1" indent="-182563" algn="just">
                        <a:lnSpc>
                          <a:spcPct val="100000"/>
                        </a:lnSpc>
                        <a:spcBef>
                          <a:spcPts val="0"/>
                        </a:spcBef>
                        <a:spcAft>
                          <a:spcPts val="0"/>
                        </a:spcAft>
                        <a:buFont typeface="Wingdings" panose="05000000000000000000" pitchFamily="2" charset="2"/>
                        <a:buChar char="Ø"/>
                      </a:pPr>
                      <a:r>
                        <a:rPr lang="ru-RU" sz="800" b="0" dirty="0" smtClean="0">
                          <a:solidFill>
                            <a:schemeClr val="accent5">
                              <a:lumMod val="75000"/>
                              <a:lumOff val="25000"/>
                            </a:schemeClr>
                          </a:solidFill>
                          <a:latin typeface="Arial" panose="020B0604020202020204" pitchFamily="34" charset="0"/>
                          <a:cs typeface="Arial" panose="020B0604020202020204" pitchFamily="34" charset="0"/>
                        </a:rPr>
                        <a:t xml:space="preserve">Risk: incorrect tax accounting, lack of targeted and justified distribution of souvenir image products, opacity of business transactions, creation of preconditions for abuse, compliance violations, as well as subsequent regulatory and reputational risks for the companies of the Divisions.</a:t>
                      </a:r>
                      <a:r>
                        <a:rPr lang="ru-RU" sz="800" b="0" dirty="0" smtClean="0">
                          <a:solidFill>
                            <a:schemeClr val="tx1"/>
                          </a:solidFill>
                          <a:latin typeface="Arial" panose="020B0604020202020204" pitchFamily="34" charset="0"/>
                          <a:cs typeface="Arial" panose="020B0604020202020204" pitchFamily="34" charset="0"/>
                        </a:rPr>
                        <a:t/>
                      </a:r>
                      <a:endParaRPr lang="ru-RU" b="0" dirty="0"/>
                    </a:p>
                  </a:txBody>
                  <a:tcPr>
                    <a:lnB w="317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385655652"/>
                  </a:ext>
                </a:extLst>
              </a:tr>
              <a:tr h="370840">
                <a:tc>
                  <a:txBody>
                    <a:bodyPr/>
                    <a:lstStyle/>
                    <a:p>
                      <a:pPr marL="0" lvl="0" indent="0" algn="just" defTabSz="583170">
                        <a:buFont typeface="Arial" panose="020B0604020202020204" pitchFamily="34" charset="0"/>
                        <a:buNone/>
                      </a:pPr>
                      <a:r>
                        <a:rPr lang="ru-RU" sz="800" b="0" dirty="0" smtClean="0">
                          <a:solidFill>
                            <a:schemeClr val="accent5">
                              <a:lumMod val="75000"/>
                              <a:lumOff val="25000"/>
                            </a:schemeClr>
                          </a:solidFill>
                          <a:latin typeface="Arial" panose="020B0604020202020204" pitchFamily="34" charset="0"/>
                          <a:cs typeface="Arial" panose="020B0604020202020204" pitchFamily="34" charset="0"/>
                        </a:rPr>
                        <a:t xml:space="preserve">Division "Chrome":</a:t>
                      </a:r>
                      <a:endParaRPr lang="en-US" sz="800" b="0" dirty="0" smtClean="0">
                        <a:solidFill>
                          <a:schemeClr val="accent5">
                            <a:lumMod val="75000"/>
                            <a:lumOff val="25000"/>
                          </a:schemeClr>
                        </a:solidFill>
                        <a:latin typeface="Arial" panose="020B0604020202020204" pitchFamily="34" charset="0"/>
                        <a:cs typeface="Arial" panose="020B0604020202020204" pitchFamily="34" charset="0"/>
                      </a:endParaRPr>
                    </a:p>
                    <a:p>
                      <a:pPr marL="177800" lvl="1" indent="-177800" algn="just" defTabSz="583170" rtl="0" eaLnBrk="1" latinLnBrk="0" hangingPunct="1">
                        <a:buClr>
                          <a:schemeClr val="accent5">
                            <a:lumMod val="75000"/>
                            <a:lumOff val="25000"/>
                          </a:schemeClr>
                        </a:buClr>
                        <a:buFont typeface="Arial" panose="020B0604020202020204" pitchFamily="34" charset="0"/>
                        <a:buChar char="•"/>
                        <a:defRPr/>
                      </a:pPr>
                      <a:r>
                        <a:rPr lang="ru-RU" sz="800" b="0" kern="1200" dirty="0" smtClean="0">
                          <a:solidFill>
                            <a:schemeClr val="tx1"/>
                          </a:solidFill>
                          <a:latin typeface="Arial" panose="020B0604020202020204" pitchFamily="34" charset="0"/>
                          <a:ea typeface="+mn-ea"/>
                          <a:cs typeface="Arial" panose="020B0604020202020204" pitchFamily="34" charset="0"/>
                        </a:rPr>
                        <a:t xml:space="preserve">After the fact, the provision of 4 gifts to third parties for a total amount of 180,000 tenge was revealed as part of the conference “The Future of the MMC: from Tradition to Innovation” dedicated to the anniversary of Kazchrome, timed to coincide with Metallurgist Day.</a:t>
                      </a:r>
                      <a:r>
                        <a:rPr lang="en-US" sz="800" b="0" kern="1200" dirty="0" smtClean="0">
                          <a:solidFill>
                            <a:schemeClr val="tx1"/>
                          </a:solidFill>
                          <a:latin typeface="Arial" panose="020B0604020202020204" pitchFamily="34" charset="0"/>
                          <a:ea typeface="+mn-ea"/>
                          <a:cs typeface="Arial" panose="020B0604020202020204" pitchFamily="34" charset="0"/>
                        </a:rPr>
                        <a:t/>
                      </a:r>
                      <a:r>
                        <a:rPr lang="ru-RU" sz="800" b="0" kern="1200" dirty="0" smtClean="0">
                          <a:solidFill>
                            <a:schemeClr val="tx1"/>
                          </a:solidFill>
                          <a:latin typeface="Arial" panose="020B0604020202020204" pitchFamily="34" charset="0"/>
                          <a:ea typeface="+mn-ea"/>
                          <a:cs typeface="Arial" panose="020B0604020202020204" pitchFamily="34" charset="0"/>
                        </a:rPr>
                        <a:t/>
                      </a:r>
                      <a:r>
                        <a:rPr lang="en-US" sz="800" b="0" kern="1200" dirty="0" smtClean="0">
                          <a:solidFill>
                            <a:schemeClr val="tx1"/>
                          </a:solidFill>
                          <a:latin typeface="Arial" panose="020B0604020202020204" pitchFamily="34" charset="0"/>
                          <a:ea typeface="+mn-ea"/>
                          <a:cs typeface="Arial" panose="020B0604020202020204" pitchFamily="34" charset="0"/>
                        </a:rPr>
                        <a:t/>
                      </a:r>
                      <a:r>
                        <a:rPr lang="ru-RU" sz="800" b="0" kern="1200" dirty="0" smtClean="0">
                          <a:solidFill>
                            <a:schemeClr val="tx1"/>
                          </a:solidFill>
                          <a:latin typeface="Arial" panose="020B0604020202020204" pitchFamily="34" charset="0"/>
                          <a:ea typeface="+mn-ea"/>
                          <a:cs typeface="Arial" panose="020B0604020202020204" pitchFamily="34" charset="0"/>
                        </a:rPr>
                        <a:t/>
                      </a:r>
                      <a:r>
                        <a:rPr lang="en-US" sz="800" b="0" kern="1200" dirty="0" smtClean="0">
                          <a:solidFill>
                            <a:schemeClr val="tx1"/>
                          </a:solidFill>
                          <a:latin typeface="Arial" panose="020B0604020202020204" pitchFamily="34" charset="0"/>
                          <a:ea typeface="+mn-ea"/>
                          <a:cs typeface="Arial" panose="020B0604020202020204" pitchFamily="34" charset="0"/>
                        </a:rPr>
                        <a:t/>
                      </a:r>
                      <a:r>
                        <a:rPr lang="ru-RU" sz="800" b="0" kern="1200" dirty="0" smtClean="0">
                          <a:solidFill>
                            <a:schemeClr val="tx1"/>
                          </a:solidFill>
                          <a:latin typeface="Arial" panose="020B0604020202020204" pitchFamily="34" charset="0"/>
                          <a:ea typeface="+mn-ea"/>
                          <a:cs typeface="Arial" panose="020B0604020202020204" pitchFamily="34" charset="0"/>
                        </a:rPr>
                        <a:t/>
                      </a:r>
                      <a:r>
                        <a:rPr lang="ru-RU" sz="800" b="0" kern="1200" dirty="0" err="1" smtClean="0">
                          <a:solidFill>
                            <a:schemeClr val="tx1"/>
                          </a:solidFill>
                          <a:latin typeface="Arial" panose="020B0604020202020204" pitchFamily="34" charset="0"/>
                          <a:ea typeface="+mn-ea"/>
                          <a:cs typeface="Arial" panose="020B0604020202020204" pitchFamily="34" charset="0"/>
                        </a:rPr>
                        <a:t/>
                      </a:r>
                      <a:r>
                        <a:rPr lang="ru-RU" sz="800" b="0" kern="1200" dirty="0" smtClean="0">
                          <a:solidFill>
                            <a:schemeClr val="tx1"/>
                          </a:solidFill>
                          <a:latin typeface="Arial" panose="020B0604020202020204" pitchFamily="34" charset="0"/>
                          <a:ea typeface="+mn-ea"/>
                          <a:cs typeface="Arial" panose="020B0604020202020204" pitchFamily="34" charset="0"/>
                        </a:rPr>
                        <a:t/>
                      </a:r>
                    </a:p>
                    <a:p>
                      <a:pPr marL="177800" lvl="1" indent="-177800" algn="just" defTabSz="583170" rtl="0" eaLnBrk="1" latinLnBrk="0" hangingPunct="1">
                        <a:buClr>
                          <a:schemeClr val="accent5">
                            <a:lumMod val="75000"/>
                            <a:lumOff val="25000"/>
                          </a:schemeClr>
                        </a:buClr>
                        <a:buFont typeface="Arial" panose="020B0604020202020204" pitchFamily="34" charset="0"/>
                        <a:buChar char="•"/>
                        <a:defRPr/>
                      </a:pPr>
                      <a:r>
                        <a:rPr lang="ru-RU" sz="800" b="0" kern="1200" dirty="0" smtClean="0">
                          <a:solidFill>
                            <a:schemeClr val="tx1"/>
                          </a:solidFill>
                          <a:latin typeface="Arial" panose="020B0604020202020204" pitchFamily="34" charset="0"/>
                          <a:ea typeface="+mn-ea"/>
                          <a:cs typeface="Arial" panose="020B0604020202020204" pitchFamily="34" charset="0"/>
                        </a:rPr>
                        <a:t xml:space="preserve">In 2025, no applications were sent to the DC from the Chrome Division for approval of the provision of gifts, KRM and RMM to third parties.</a:t>
                      </a:r>
                    </a:p>
                    <a:p>
                      <a:pPr marL="360363" lvl="1" indent="-182563" algn="just" defTabSz="583170">
                        <a:buFont typeface="Wingdings" panose="05000000000000000000" pitchFamily="2" charset="2"/>
                        <a:buChar char="Ø"/>
                        <a:defRPr/>
                      </a:pPr>
                      <a:r>
                        <a:rPr lang="ru-RU" sz="800" b="0" dirty="0" smtClean="0">
                          <a:solidFill>
                            <a:schemeClr val="accent5">
                              <a:lumMod val="75000"/>
                              <a:lumOff val="25000"/>
                            </a:schemeClr>
                          </a:solidFill>
                          <a:latin typeface="Arial" panose="020B0604020202020204" pitchFamily="34" charset="0"/>
                          <a:cs typeface="Arial" panose="020B0604020202020204" pitchFamily="34" charset="0"/>
                        </a:rPr>
                        <a:t xml:space="preserve">Risk: the occurrence of undue influence on business decisions, conflicts of interest, violation of the requirements of anti-corruption and other applicable legislation, as well as ERG’s internal regulatory requirements, which may lead to regulatory claims, administrative or other liability, the application of financial sanctions and cause reputational damage.</a:t>
                      </a:r>
                      <a:r>
                        <a:rPr lang="ru-RU" sz="800" b="0" dirty="0" smtClean="0">
                          <a:latin typeface="Arial" panose="020B0604020202020204" pitchFamily="34" charset="0"/>
                          <a:cs typeface="Arial" panose="020B0604020202020204" pitchFamily="34" charset="0"/>
                        </a:rPr>
                        <a:t/>
                      </a:r>
                      <a:r>
                        <a:rPr lang="en-US" sz="800" b="0" dirty="0" smtClean="0">
                          <a:latin typeface="Arial" panose="020B0604020202020204" pitchFamily="34" charset="0"/>
                          <a:cs typeface="Arial" panose="020B0604020202020204" pitchFamily="34" charset="0"/>
                        </a:rPr>
                        <a:t/>
                      </a:r>
                      <a:r>
                        <a:rPr lang="ru-RU" sz="800" b="0" dirty="0" smtClean="0">
                          <a:latin typeface="Arial" panose="020B0604020202020204" pitchFamily="34" charset="0"/>
                          <a:cs typeface="Arial" panose="020B0604020202020204" pitchFamily="34" charset="0"/>
                        </a:rPr>
                        <a:t/>
                      </a:r>
                      <a:endParaRPr lang="ru-RU" b="0" dirty="0"/>
                    </a:p>
                  </a:txBody>
                  <a:tcPr>
                    <a:lnB w="3175"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dirty="0"/>
                    </a:p>
                  </a:txBody>
                  <a:tcPr/>
                </a:tc>
                <a:extLst>
                  <a:ext uri="{0D108BD9-81ED-4DB2-BD59-A6C34878D82A}">
                    <a16:rowId xmlns:a16="http://schemas.microsoft.com/office/drawing/2014/main" val="1583989047"/>
                  </a:ext>
                </a:extLst>
              </a:tr>
            </a:tbl>
          </a:graphicData>
        </a:graphic>
      </p:graphicFrame>
      <p:sp>
        <p:nvSpPr>
          <p:cNvPr id="11" name="Прямоугольник 10"/>
          <p:cNvSpPr/>
          <p:nvPr/>
        </p:nvSpPr>
        <p:spPr>
          <a:xfrm>
            <a:off x="280115" y="3977567"/>
            <a:ext cx="11636189" cy="2800767"/>
          </a:xfrm>
          <a:prstGeom prst="rect">
            <a:avLst/>
          </a:prstGeom>
        </p:spPr>
        <p:txBody>
          <a:bodyPr wrap="square">
            <a:spAutoFit/>
          </a:bodyPr>
          <a:lstStyle/>
          <a:p>
            <a:pPr marL="0" lvl="1" indent="0" algn="just">
              <a:buFont typeface="Wingdings" panose="05000000000000000000" pitchFamily="2" charset="2"/>
              <a:buNone/>
            </a:pPr>
            <a:r>
              <a:rPr lang="ru-RU" sz="800" dirty="0">
                <a:latin typeface="Arial" panose="020B0604020202020204" pitchFamily="34" charset="0"/>
                <a:cs typeface="Arial" panose="020B0604020202020204" pitchFamily="34" charset="0"/>
              </a:rPr>
              <a:t xml:space="preserve">Based on the analysis, identified gaps and identified inconsistencies, the following recommendations were sent to the business aimed at improving the internal control system, mitigating risks and ensuring compliance with the requirements established in the ERG.</a:t>
            </a:r>
            <a:r>
              <a:rPr lang="ru-RU" sz="800" dirty="0" smtClean="0">
                <a:latin typeface="Arial" panose="020B0604020202020204" pitchFamily="34" charset="0"/>
                <a:cs typeface="Arial" panose="020B0604020202020204" pitchFamily="34" charset="0"/>
              </a:rPr>
              <a:t/>
            </a:r>
            <a:r>
              <a:rPr lang="ru-RU" sz="800" dirty="0">
                <a:latin typeface="Arial" panose="020B0604020202020204" pitchFamily="34" charset="0"/>
                <a:cs typeface="Arial" panose="020B0604020202020204" pitchFamily="34" charset="0"/>
              </a:rPr>
              <a:t/>
            </a:r>
            <a:r>
              <a:rPr lang="en-US" sz="800" dirty="0">
                <a:latin typeface="Arial" panose="020B0604020202020204" pitchFamily="34" charset="0"/>
                <a:cs typeface="Arial" panose="020B0604020202020204" pitchFamily="34" charset="0"/>
              </a:rPr>
              <a:t/>
            </a:r>
            <a:r>
              <a:rPr lang="ru-RU" sz="800" dirty="0">
                <a:latin typeface="Arial" panose="020B0604020202020204" pitchFamily="34" charset="0"/>
                <a:cs typeface="Arial" panose="020B0604020202020204" pitchFamily="34" charset="0"/>
              </a:rPr>
              <a:t/>
            </a:r>
          </a:p>
          <a:p>
            <a:pPr marL="291585" lvl="1" algn="just" defTabSz="583170">
              <a:defRPr/>
            </a:pPr>
            <a:endParaRPr lang="ru-RU" sz="800" dirty="0"/>
          </a:p>
          <a:p>
            <a:pPr lvl="0" defTabSz="583170">
              <a:defRPr/>
            </a:pPr>
            <a:r>
              <a:rPr lang="ru-RU" sz="800" b="1" dirty="0" smtClean="0">
                <a:solidFill>
                  <a:schemeClr val="accent5">
                    <a:lumMod val="75000"/>
                    <a:lumOff val="25000"/>
                  </a:schemeClr>
                </a:solidFill>
                <a:latin typeface="Arial" panose="020B0604020202020204" pitchFamily="34" charset="0"/>
                <a:cs typeface="Arial" panose="020B0604020202020204" pitchFamily="34" charset="0"/>
              </a:rPr>
              <a:t xml:space="preserve">Recommendations</a:t>
            </a:r>
          </a:p>
          <a:p>
            <a:pPr lvl="0" defTabSz="583170">
              <a:defRPr/>
            </a:pPr>
            <a:endParaRPr lang="ru-RU" sz="800" b="1" dirty="0">
              <a:solidFill>
                <a:schemeClr val="accent5">
                  <a:lumMod val="75000"/>
                  <a:lumOff val="25000"/>
                </a:schemeClr>
              </a:solidFill>
              <a:latin typeface="Arial" panose="020B0604020202020204" pitchFamily="34" charset="0"/>
              <a:cs typeface="Arial" panose="020B0604020202020204" pitchFamily="34" charset="0"/>
            </a:endParaRPr>
          </a:p>
          <a:p>
            <a:pPr lvl="0" algn="just"/>
            <a:r>
              <a:rPr lang="ru-RU" sz="800" b="1" dirty="0">
                <a:solidFill>
                  <a:schemeClr val="accent5">
                    <a:lumMod val="75000"/>
                    <a:lumOff val="25000"/>
                  </a:schemeClr>
                </a:solidFill>
              </a:rPr>
              <a:t xml:space="preserve">For the Coal and Chrome divisions:</a:t>
            </a:r>
          </a:p>
          <a:p>
            <a:pPr marL="177800" lvl="1" indent="-177800" algn="just" defTabSz="583170">
              <a:spcBef>
                <a:spcPts val="0"/>
              </a:spcBef>
              <a:spcAft>
                <a:spcPts val="0"/>
              </a:spcAft>
              <a:buClr>
                <a:schemeClr val="accent5">
                  <a:lumMod val="75000"/>
                  <a:lumOff val="25000"/>
                </a:schemeClr>
              </a:buClr>
              <a:buFont typeface="Arial" panose="020B0604020202020204" pitchFamily="34" charset="0"/>
              <a:buChar char="•"/>
              <a:defRPr/>
            </a:pPr>
            <a:r>
              <a:rPr lang="ru-RU" sz="800" dirty="0">
                <a:latin typeface="Arial" panose="020B0604020202020204" pitchFamily="34" charset="0"/>
                <a:cs typeface="Arial" panose="020B0604020202020204" pitchFamily="34" charset="0"/>
              </a:rPr>
              <a:t xml:space="preserve">Ensure that the Divisions send to the DC information on gifts actually provided to third parties, accompanied by a full set of supporting documentation for conducting post-facto analysis and developing recommendations aimed at reducing identified risks.</a:t>
            </a:r>
          </a:p>
          <a:p>
            <a:pPr marL="463035" lvl="1" indent="-171450" algn="just">
              <a:spcBef>
                <a:spcPts val="0"/>
              </a:spcBef>
              <a:spcAft>
                <a:spcPts val="0"/>
              </a:spcAft>
              <a:buFont typeface="Courier New" panose="02070309020205020404" pitchFamily="49" charset="0"/>
              <a:buChar char="o"/>
            </a:pPr>
            <a:endParaRPr lang="ru-RU" sz="500" dirty="0">
              <a:highlight>
                <a:srgbClr val="FFFF00"/>
              </a:highlight>
            </a:endParaRPr>
          </a:p>
          <a:p>
            <a:pPr lvl="0" defTabSz="583170">
              <a:defRPr/>
            </a:pPr>
            <a:r>
              <a:rPr lang="ru-RU" sz="800" b="1" dirty="0" smtClean="0">
                <a:solidFill>
                  <a:schemeClr val="accent5">
                    <a:lumMod val="75000"/>
                    <a:lumOff val="25000"/>
                  </a:schemeClr>
                </a:solidFill>
                <a:latin typeface="Arial" panose="020B0604020202020204" pitchFamily="34" charset="0"/>
                <a:cs typeface="Arial" panose="020B0604020202020204" pitchFamily="34" charset="0"/>
              </a:rPr>
              <a:t xml:space="preserve">All Divisions:</a:t>
            </a:r>
            <a:endParaRPr lang="ru-RU" sz="800" b="1" dirty="0">
              <a:solidFill>
                <a:schemeClr val="accent5">
                  <a:lumMod val="75000"/>
                  <a:lumOff val="25000"/>
                </a:schemeClr>
              </a:solidFill>
              <a:latin typeface="Arial" panose="020B0604020202020204" pitchFamily="34" charset="0"/>
              <a:cs typeface="Arial" panose="020B0604020202020204" pitchFamily="34" charset="0"/>
            </a:endParaRPr>
          </a:p>
          <a:p>
            <a:pPr marL="177800" lvl="1" indent="-177800" algn="just" defTabSz="583170">
              <a:buClr>
                <a:schemeClr val="accent5">
                  <a:lumMod val="75000"/>
                  <a:lumOff val="25000"/>
                </a:schemeClr>
              </a:buClr>
              <a:buFont typeface="Arial" panose="020B0604020202020204" pitchFamily="34" charset="0"/>
              <a:buChar char="•"/>
              <a:defRPr/>
            </a:pPr>
            <a:r>
              <a:rPr lang="ru-RU" sz="800" dirty="0">
                <a:latin typeface="Arial" panose="020B0604020202020204" pitchFamily="34" charset="0"/>
                <a:cs typeface="Arial" panose="020B0604020202020204" pitchFamily="34" charset="0"/>
              </a:rPr>
              <a:t xml:space="preserve">Initiate amendments to the current VND, establishing a mandatory requirement for the approval of all expenses for entertainment purposes in relation to third parties with the DC. Ensure that the specified IRRs are brought into compliance with the requirements of the ERG Policy on Gifts and Cultural and Entertainment Events and the Instructions “Providing and Receiving Gifts and Cultural and Entertainment Events.”</a:t>
            </a:r>
          </a:p>
          <a:p>
            <a:pPr marL="177800" lvl="1" indent="-177800" algn="just" defTabSz="583170">
              <a:buClr>
                <a:schemeClr val="accent5">
                  <a:lumMod val="75000"/>
                  <a:lumOff val="25000"/>
                </a:schemeClr>
              </a:buClr>
              <a:buFont typeface="Arial" panose="020B0604020202020204" pitchFamily="34" charset="0"/>
              <a:buChar char="•"/>
              <a:defRPr/>
            </a:pPr>
            <a:r>
              <a:rPr lang="ru-RU" sz="800" dirty="0" smtClean="0">
                <a:latin typeface="Arial" panose="020B0604020202020204" pitchFamily="34" charset="0"/>
                <a:cs typeface="Arial" panose="020B0604020202020204" pitchFamily="34" charset="0"/>
              </a:rPr>
              <a:t xml:space="preserve">Ensure strict and unconditional compliance with the procedures for approving expenses established by the ERG Policy on Gifts and Cultural and Entertainment Events and the Instructions “Providing and Receiving Gifts and Cultural and Entertainment Events”, including the mandatory obtaining of the preliminary approval of the DC when providing branded image products in accordance with clause 7.4 of the ERG Policy.</a:t>
            </a:r>
            <a:r>
              <a:rPr lang="ru-RU" sz="800" dirty="0">
                <a:latin typeface="Arial" panose="020B0604020202020204" pitchFamily="34" charset="0"/>
                <a:cs typeface="Arial" panose="020B0604020202020204" pitchFamily="34" charset="0"/>
              </a:rPr>
              <a:t/>
            </a:r>
          </a:p>
          <a:p>
            <a:pPr marL="177800" lvl="1" indent="-177800" algn="just" defTabSz="583170">
              <a:buClr>
                <a:schemeClr val="accent5">
                  <a:lumMod val="75000"/>
                  <a:lumOff val="25000"/>
                </a:schemeClr>
              </a:buClr>
              <a:buFont typeface="Arial" panose="020B0604020202020204" pitchFamily="34" charset="0"/>
              <a:buChar char="•"/>
              <a:defRPr/>
            </a:pPr>
            <a:r>
              <a:rPr lang="ru-RU" sz="800" dirty="0" smtClean="0">
                <a:latin typeface="Arial" panose="020B0604020202020204" pitchFamily="34" charset="0"/>
                <a:cs typeface="Arial" panose="020B0604020202020204" pitchFamily="34" charset="0"/>
              </a:rPr>
              <a:t xml:space="preserve">Introduce mandatory separate accounting of image products used in the provision of gifts, KRM and RMM for third parties, with detailing by areas of use. .</a:t>
            </a:r>
            <a:r>
              <a:rPr lang="ru-RU" sz="800" dirty="0">
                <a:latin typeface="Arial" panose="020B0604020202020204" pitchFamily="34" charset="0"/>
                <a:cs typeface="Arial" panose="020B0604020202020204" pitchFamily="34" charset="0"/>
              </a:rPr>
              <a:t/>
            </a:r>
          </a:p>
          <a:p>
            <a:pPr marL="177800" lvl="1" indent="-177800" algn="just" defTabSz="583170">
              <a:buClr>
                <a:schemeClr val="accent5">
                  <a:lumMod val="75000"/>
                  <a:lumOff val="25000"/>
                </a:schemeClr>
              </a:buClr>
              <a:buFont typeface="Arial" panose="020B0604020202020204" pitchFamily="34" charset="0"/>
              <a:buChar char="•"/>
              <a:defRPr/>
            </a:pPr>
            <a:r>
              <a:rPr lang="ru-RU" sz="800" dirty="0" smtClean="0">
                <a:latin typeface="Arial" panose="020B0604020202020204" pitchFamily="34" charset="0"/>
                <a:cs typeface="Arial" panose="020B0604020202020204" pitchFamily="34" charset="0"/>
              </a:rPr>
              <a:t xml:space="preserve">If it is impossible to implement the recommendation specified in paragraph 3, it is necessary to strengthen control over the accounting of the provision of gifts, KRM and RMM to third parties. It is recommended to implement additional measures, such as maintaining a register of all such expenses, indicating the cost, purpose and recipient.</a:t>
            </a:r>
            <a:r>
              <a:rPr lang="ru-RU" sz="800" dirty="0">
                <a:latin typeface="Arial" panose="020B0604020202020204" pitchFamily="34" charset="0"/>
                <a:cs typeface="Arial" panose="020B0604020202020204" pitchFamily="34" charset="0"/>
              </a:rPr>
              <a:t/>
            </a:r>
          </a:p>
          <a:p>
            <a:pPr marL="177800" lvl="1" indent="-177800" algn="just" defTabSz="583170">
              <a:buClr>
                <a:schemeClr val="accent5">
                  <a:lumMod val="75000"/>
                  <a:lumOff val="25000"/>
                </a:schemeClr>
              </a:buClr>
              <a:buFont typeface="Arial" panose="020B0604020202020204" pitchFamily="34" charset="0"/>
              <a:buChar char="•"/>
              <a:defRPr/>
            </a:pPr>
            <a:r>
              <a:rPr lang="ru-RU" sz="800" dirty="0" smtClean="0">
                <a:latin typeface="Arial" panose="020B0604020202020204" pitchFamily="34" charset="0"/>
                <a:cs typeface="Arial" panose="020B0604020202020204" pitchFamily="34" charset="0"/>
              </a:rPr>
              <a:t xml:space="preserve">In order to eliminate the identified risks of non-compliance with the GNI requirements of the Group Companies:</a:t>
            </a:r>
            <a:r>
              <a:rPr lang="ru-RU" sz="800" dirty="0">
                <a:latin typeface="Arial" panose="020B0604020202020204" pitchFamily="34" charset="0"/>
                <a:cs typeface="Arial" panose="020B0604020202020204" pitchFamily="34" charset="0"/>
              </a:rPr>
              <a:t/>
            </a:r>
          </a:p>
          <a:p>
            <a:pPr marL="360363" lvl="1" indent="-182563">
              <a:spcBef>
                <a:spcPts val="0"/>
              </a:spcBef>
              <a:spcAft>
                <a:spcPts val="0"/>
              </a:spcAft>
              <a:buClr>
                <a:schemeClr val="accent5">
                  <a:lumMod val="75000"/>
                  <a:lumOff val="25000"/>
                </a:schemeClr>
              </a:buClr>
              <a:buFont typeface="Courier New" panose="02070309020205020404" pitchFamily="49" charset="0"/>
              <a:buChar char="o"/>
            </a:pPr>
            <a:r>
              <a:rPr lang="ru-RU" sz="800" dirty="0"/>
              <a:t xml:space="preserve">Strengthen control over the correctness of accounting for transactions with image products as advertising expenses.</a:t>
            </a:r>
          </a:p>
          <a:p>
            <a:pPr marL="360363" lvl="1" indent="-182563">
              <a:spcBef>
                <a:spcPts val="0"/>
              </a:spcBef>
              <a:spcAft>
                <a:spcPts val="0"/>
              </a:spcAft>
              <a:buClr>
                <a:schemeClr val="accent5">
                  <a:lumMod val="75000"/>
                  <a:lumOff val="25000"/>
                </a:schemeClr>
              </a:buClr>
              <a:buFont typeface="Courier New" panose="02070309020205020404" pitchFamily="49" charset="0"/>
              <a:buChar char="o"/>
            </a:pPr>
            <a:r>
              <a:rPr lang="ru-RU" sz="800" dirty="0"/>
              <a:t xml:space="preserve">Establish mandatory requirements for the availability and verification of a complete set of documentary evidence of the advertising nature of the transfer of image products (including descriptions of advertising campaigns and events, internal administrative documents and justifications);</a:t>
            </a:r>
          </a:p>
          <a:p>
            <a:pPr marL="360363" lvl="1" indent="-182563">
              <a:spcBef>
                <a:spcPts val="0"/>
              </a:spcBef>
              <a:spcAft>
                <a:spcPts val="0"/>
              </a:spcAft>
              <a:buClr>
                <a:schemeClr val="accent5">
                  <a:lumMod val="75000"/>
                  <a:lumOff val="25000"/>
                </a:schemeClr>
              </a:buClr>
              <a:buFont typeface="Courier New" panose="02070309020205020404" pitchFamily="49" charset="0"/>
              <a:buChar char="o"/>
            </a:pPr>
            <a:r>
              <a:rPr lang="ru-RU" sz="800" dirty="0"/>
              <a:t xml:space="preserve">Ensure the functioning and proper control of the accounting system for gifts provided, KRM and RMM.</a:t>
            </a:r>
            <a:r>
              <a:rPr lang="ru-RU" sz="800" dirty="0" smtClean="0"/>
              <a:t/>
            </a:r>
            <a:endParaRPr lang="ru-RU" dirty="0"/>
          </a:p>
        </p:txBody>
      </p:sp>
    </p:spTree>
    <p:extLst>
      <p:ext uri="{BB962C8B-B14F-4D97-AF65-F5344CB8AC3E}">
        <p14:creationId xmlns:p14="http://schemas.microsoft.com/office/powerpoint/2010/main" val="25478673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E666A-9B4B-FBAC-701E-2E982C83AF6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BAF848E-6AC8-712D-9F4E-E8E32CEDE3C9}"/>
              </a:ext>
            </a:extLst>
          </p:cNvPr>
          <p:cNvSpPr>
            <a:spLocks noGrp="1"/>
          </p:cNvSpPr>
          <p:nvPr>
            <p:ph type="body" sz="quarter" idx="12"/>
          </p:nvPr>
        </p:nvSpPr>
        <p:spPr>
          <a:xfrm>
            <a:off x="323033" y="2986268"/>
            <a:ext cx="6162608" cy="885464"/>
          </a:xfrm>
        </p:spPr>
        <p:txBody>
          <a:bodyPr/>
          <a:lstStyle/>
          <a:p>
            <a:r>
              <a:rPr lang="ru-RU" dirty="0" smtClean="0"/>
              <a:t xml:space="preserve">Part II:</a:t>
            </a:r>
            <a:r>
              <a:rPr lang="en-US" dirty="0" smtClean="0"/>
              <a:t/>
            </a:r>
            <a:r>
              <a:rPr lang="en-US" dirty="0"/>
              <a:t/>
            </a:r>
          </a:p>
          <a:p>
            <a:r>
              <a:rPr lang="ru-RU" dirty="0" smtClean="0"/>
              <a:t xml:space="preserve">Annual dashboard 2025: Perimeter Kazakhstan</a:t>
            </a:r>
            <a:r>
              <a:rPr lang="en-US" dirty="0" smtClean="0"/>
              <a:t/>
            </a:r>
            <a:r>
              <a:rPr lang="en-US" dirty="0"/>
              <a:t/>
            </a:r>
            <a:r>
              <a:rPr lang="ru-RU" dirty="0" smtClean="0"/>
              <a:t/>
            </a:r>
            <a:r>
              <a:rPr lang="en-US" dirty="0" smtClean="0"/>
              <a:t/>
            </a:r>
            <a:r>
              <a:rPr lang="ru-RU" dirty="0" smtClean="0"/>
              <a:t/>
            </a:r>
            <a:endParaRPr lang="en-US" dirty="0"/>
          </a:p>
          <a:p>
            <a:r>
              <a:rPr lang="ru-RU" b="0" dirty="0" smtClean="0"/>
              <a:t xml:space="preserve">Speaker: Annetta Natanzon</a:t>
            </a:r>
            <a:r>
              <a:rPr lang="en-US" b="0" dirty="0" smtClean="0"/>
              <a:t/>
            </a:r>
            <a:r>
              <a:rPr lang="ru-RU" b="0" dirty="0" smtClean="0"/>
              <a:t/>
            </a:r>
            <a:endParaRPr lang="en-US" b="0" dirty="0"/>
          </a:p>
        </p:txBody>
      </p:sp>
    </p:spTree>
    <p:extLst>
      <p:ext uri="{BB962C8B-B14F-4D97-AF65-F5344CB8AC3E}">
        <p14:creationId xmlns:p14="http://schemas.microsoft.com/office/powerpoint/2010/main" val="2181647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2EAE4-636F-ADD4-82F7-E4C6B530A5A9}"/>
            </a:ext>
          </a:extLst>
        </p:cNvPr>
        <p:cNvGrpSpPr/>
        <p:nvPr/>
      </p:nvGrpSpPr>
      <p:grpSpPr>
        <a:xfrm>
          <a:off x="0" y="0"/>
          <a:ext cx="0" cy="0"/>
          <a:chOff x="0" y="0"/>
          <a:chExt cx="0" cy="0"/>
        </a:xfrm>
      </p:grpSpPr>
      <p:sp>
        <p:nvSpPr>
          <p:cNvPr id="89" name="Rectangle: Rounded Corners 88">
            <a:extLst>
              <a:ext uri="{FF2B5EF4-FFF2-40B4-BE49-F238E27FC236}">
                <a16:creationId xmlns:a16="http://schemas.microsoft.com/office/drawing/2014/main" id="{F561BB12-49CB-9F72-BB75-AA4B52A01887}"/>
              </a:ext>
            </a:extLst>
          </p:cNvPr>
          <p:cNvSpPr/>
          <p:nvPr/>
        </p:nvSpPr>
        <p:spPr>
          <a:xfrm>
            <a:off x="317499" y="930131"/>
            <a:ext cx="5101168" cy="3244664"/>
          </a:xfrm>
          <a:prstGeom prst="roundRect">
            <a:avLst>
              <a:gd name="adj" fmla="val 549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ru" sz="1200" b="1" noProof="0" dirty="0">
              <a:solidFill>
                <a:schemeClr val="accent1"/>
              </a:solidFill>
            </a:endParaRPr>
          </a:p>
        </p:txBody>
      </p:sp>
      <p:graphicFrame>
        <p:nvGraphicFramePr>
          <p:cNvPr id="100" name="Таблица 2">
            <a:extLst>
              <a:ext uri="{FF2B5EF4-FFF2-40B4-BE49-F238E27FC236}">
                <a16:creationId xmlns:a16="http://schemas.microsoft.com/office/drawing/2014/main" id="{2C13E4FA-E9E7-1DFB-7DBB-E35C02BFDC2B}"/>
              </a:ext>
            </a:extLst>
          </p:cNvPr>
          <p:cNvGraphicFramePr>
            <a:graphicFrameLocks noGrp="1"/>
          </p:cNvGraphicFramePr>
          <p:nvPr>
            <p:extLst>
              <p:ext uri="{D42A27DB-BD31-4B8C-83A1-F6EECF244321}">
                <p14:modId xmlns:p14="http://schemas.microsoft.com/office/powerpoint/2010/main" val="4136830426"/>
              </p:ext>
            </p:extLst>
          </p:nvPr>
        </p:nvGraphicFramePr>
        <p:xfrm>
          <a:off x="355204" y="1075880"/>
          <a:ext cx="5011965" cy="3006000"/>
        </p:xfrm>
        <a:graphic>
          <a:graphicData uri="http://schemas.openxmlformats.org/drawingml/2006/table">
            <a:tbl>
              <a:tblPr firstRow="1" bandRow="1">
                <a:tableStyleId>{5C22544A-7EE6-4342-B048-85BDC9FD1C3A}</a:tableStyleId>
              </a:tblPr>
              <a:tblGrid>
                <a:gridCol w="187965">
                  <a:extLst>
                    <a:ext uri="{9D8B030D-6E8A-4147-A177-3AD203B41FA5}">
                      <a16:colId xmlns:a16="http://schemas.microsoft.com/office/drawing/2014/main" val="1207875736"/>
                    </a:ext>
                  </a:extLst>
                </a:gridCol>
                <a:gridCol w="1800000">
                  <a:extLst>
                    <a:ext uri="{9D8B030D-6E8A-4147-A177-3AD203B41FA5}">
                      <a16:colId xmlns:a16="http://schemas.microsoft.com/office/drawing/2014/main" val="1897865945"/>
                    </a:ext>
                  </a:extLst>
                </a:gridCol>
                <a:gridCol w="468000">
                  <a:extLst>
                    <a:ext uri="{9D8B030D-6E8A-4147-A177-3AD203B41FA5}">
                      <a16:colId xmlns:a16="http://schemas.microsoft.com/office/drawing/2014/main" val="4203262921"/>
                    </a:ext>
                  </a:extLst>
                </a:gridCol>
                <a:gridCol w="1044000">
                  <a:extLst>
                    <a:ext uri="{9D8B030D-6E8A-4147-A177-3AD203B41FA5}">
                      <a16:colId xmlns:a16="http://schemas.microsoft.com/office/drawing/2014/main" val="2221159483"/>
                    </a:ext>
                  </a:extLst>
                </a:gridCol>
                <a:gridCol w="468000">
                  <a:extLst>
                    <a:ext uri="{9D8B030D-6E8A-4147-A177-3AD203B41FA5}">
                      <a16:colId xmlns:a16="http://schemas.microsoft.com/office/drawing/2014/main" val="1431102354"/>
                    </a:ext>
                  </a:extLst>
                </a:gridCol>
                <a:gridCol w="1044000">
                  <a:extLst>
                    <a:ext uri="{9D8B030D-6E8A-4147-A177-3AD203B41FA5}">
                      <a16:colId xmlns:a16="http://schemas.microsoft.com/office/drawing/2014/main" val="684835516"/>
                    </a:ext>
                  </a:extLst>
                </a:gridCol>
              </a:tblGrid>
              <a:tr h="360000">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 sz="1100" b="1" noProof="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en-US" sz="1100" b="1" kern="1200" noProof="0" dirty="0">
                          <a:solidFill>
                            <a:schemeClr val="accent1"/>
                          </a:solidFill>
                          <a:latin typeface="+mn-lt"/>
                          <a:ea typeface="+mn-ea"/>
                          <a:cs typeface="+mn-cs"/>
                        </a:rPr>
                        <a:t xml:space="preserve">Mining</a:t>
                      </a:r>
                      <a:endParaRPr lang="ru" sz="1100" b="1" kern="1200" noProof="0" dirty="0">
                        <a:solidFill>
                          <a:schemeClr val="accent1"/>
                        </a:solidFill>
                        <a:latin typeface="+mn-lt"/>
                        <a:ea typeface="+mn-ea"/>
                        <a:cs typeface="+mn-cs"/>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sz="800"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en-US" sz="1100" b="1" kern="1200" noProof="0" dirty="0">
                          <a:solidFill>
                            <a:schemeClr val="accent1"/>
                          </a:solidFill>
                          <a:latin typeface="+mn-lt"/>
                          <a:ea typeface="+mn-ea"/>
                          <a:cs typeface="+mn-cs"/>
                        </a:rPr>
                        <a:t xml:space="preserve">Healthcare</a:t>
                      </a:r>
                      <a:endParaRPr lang="ru" sz="1100" b="1" kern="1200" noProof="0" dirty="0">
                        <a:solidFill>
                          <a:schemeClr val="accent1"/>
                        </a:solidFill>
                        <a:latin typeface="+mn-lt"/>
                        <a:ea typeface="+mn-ea"/>
                        <a:cs typeface="+mn-cs"/>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sz="800"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8880266"/>
                  </a:ext>
                </a:extLst>
              </a:tr>
              <a:tr h="360000">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1100" b="1" noProof="0" dirty="0" smtClean="0">
                          <a:solidFill>
                            <a:schemeClr val="accent1"/>
                          </a:solidFill>
                        </a:rPr>
                        <a:t xml:space="preserve">Compliance risks</a:t>
                      </a:r>
                      <a:endParaRPr lang="ru" sz="1100" b="1" noProof="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900" b="1" noProof="0" dirty="0" smtClean="0">
                          <a:solidFill>
                            <a:schemeClr val="tx1"/>
                          </a:solidFill>
                        </a:rPr>
                        <a:t xml:space="preserve">Trend</a:t>
                      </a:r>
                      <a:endParaRPr lang="ru" sz="900" b="1" noProof="0"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900" b="1" dirty="0" smtClean="0">
                          <a:solidFill>
                            <a:schemeClr val="tx1"/>
                          </a:solidFill>
                        </a:rPr>
                        <a:t xml:space="preserve">Exposure</a:t>
                      </a:r>
                      <a:endParaRPr lang="ru-RU" sz="900" b="1"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900" b="1" noProof="0" dirty="0" smtClean="0">
                          <a:solidFill>
                            <a:schemeClr val="tx1"/>
                          </a:solidFill>
                        </a:rPr>
                        <a:t xml:space="preserve">Trend</a:t>
                      </a:r>
                      <a:endParaRPr lang="ru" sz="900" b="1" noProof="0"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900" b="1" dirty="0" smtClean="0">
                          <a:solidFill>
                            <a:schemeClr val="tx1"/>
                          </a:solidFill>
                        </a:rPr>
                        <a:t xml:space="preserve">Exposure</a:t>
                      </a:r>
                      <a:endParaRPr lang="ru-RU" sz="900" b="1"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9241193"/>
                  </a:ext>
                </a:extLst>
              </a:tr>
              <a:tr h="457200">
                <a:tc>
                  <a:txBody>
                    <a:bodyPr/>
                    <a:lstStyle/>
                    <a:p>
                      <a:r>
                        <a:rPr lang="ru-RU" sz="800" dirty="0">
                          <a:solidFill>
                            <a:schemeClr val="accent1"/>
                          </a:solidFill>
                        </a:rPr>
                        <a:t>1.</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 xml:space="preserve">Failure to comply with anti-bribery and corruption requirements</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 xml:space="preserve">Average</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 xml:space="preserve">Average</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7539416"/>
                  </a:ext>
                </a:extLst>
              </a:tr>
              <a:tr h="457200">
                <a:tc>
                  <a:txBody>
                    <a:bodyPr/>
                    <a:lstStyle/>
                    <a:p>
                      <a:r>
                        <a:rPr lang="ru-RU" sz="800" dirty="0">
                          <a:solidFill>
                            <a:schemeClr val="accent1"/>
                          </a:solidFill>
                        </a:rPr>
                        <a:t>2.</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 xml:space="preserve">Non-compliance with sanctions regimes</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 xml:space="preserve">High</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smtClean="0">
                          <a:ln>
                            <a:noFill/>
                          </a:ln>
                          <a:solidFill>
                            <a:srgbClr val="32373C"/>
                          </a:solidFill>
                          <a:effectLst/>
                          <a:uLnTx/>
                          <a:uFillTx/>
                          <a:latin typeface="Arial" panose="020B0604020202020204"/>
                          <a:ea typeface="+mn-ea"/>
                          <a:cs typeface="+mn-cs"/>
                        </a:rPr>
                        <a:t xml:space="preserve">Average</a:t>
                      </a: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1558007"/>
                  </a:ext>
                </a:extLst>
              </a:tr>
              <a:tr h="457200">
                <a:tc>
                  <a:txBody>
                    <a:bodyPr/>
                    <a:lstStyle/>
                    <a:p>
                      <a:r>
                        <a:rPr lang="ru-RU" sz="800" dirty="0">
                          <a:solidFill>
                            <a:schemeClr val="accent1"/>
                          </a:solidFill>
                        </a:rPr>
                        <a:t>3.</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 xml:space="preserve">Failure to comply with personal data protection requirements</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 xml:space="preserve">Average</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800" b="0" i="0" u="none" strike="noStrike" kern="1200" cap="none" spc="0" normalizeH="0" baseline="0" noProof="0" dirty="0" smtClean="0">
                          <a:ln>
                            <a:noFill/>
                          </a:ln>
                          <a:solidFill>
                            <a:srgbClr val="32373C"/>
                          </a:solidFill>
                          <a:effectLst/>
                          <a:uLnTx/>
                          <a:uFillTx/>
                          <a:latin typeface="Arial" panose="020B0604020202020204"/>
                          <a:ea typeface="+mn-ea"/>
                          <a:cs typeface="+mn-cs"/>
                        </a:rPr>
                        <a:t xml:space="preserve">Average</a:t>
                      </a: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2700212"/>
                  </a:ext>
                </a:extLst>
              </a:tr>
              <a:tr h="457200">
                <a:tc>
                  <a:txBody>
                    <a:bodyPr/>
                    <a:lstStyle/>
                    <a:p>
                      <a:r>
                        <a:rPr lang="ru-RU" sz="800" dirty="0">
                          <a:solidFill>
                            <a:schemeClr val="accent1"/>
                          </a:solidFill>
                        </a:rPr>
                        <a:t>4.</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 xml:space="preserve">Human rights violation</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 xml:space="preserve">Low</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 xml:space="preserve">Low</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3446426"/>
                  </a:ext>
                </a:extLst>
              </a:tr>
              <a:tr h="457200">
                <a:tc>
                  <a:txBody>
                    <a:bodyPr/>
                    <a:lstStyle/>
                    <a:p>
                      <a:r>
                        <a:rPr lang="ru-RU" sz="800" dirty="0">
                          <a:solidFill>
                            <a:schemeClr val="accent1"/>
                          </a:solidFill>
                        </a:rPr>
                        <a:t>5.</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noProof="0" dirty="0" smtClean="0"/>
                        <a:t xml:space="preserve">Failure to comply with anti-money laundering requirements</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 xml:space="preserve">Average</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t xml:space="preserve">Low</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09051"/>
                  </a:ext>
                </a:extLst>
              </a:tr>
            </a:tbl>
          </a:graphicData>
        </a:graphic>
      </p:graphicFrame>
      <p:sp>
        <p:nvSpPr>
          <p:cNvPr id="2" name="Title 1">
            <a:extLst>
              <a:ext uri="{FF2B5EF4-FFF2-40B4-BE49-F238E27FC236}">
                <a16:creationId xmlns:a16="http://schemas.microsoft.com/office/drawing/2014/main" id="{8F46DB1B-6740-2CD8-6098-F84A91B44F96}"/>
              </a:ext>
            </a:extLst>
          </p:cNvPr>
          <p:cNvSpPr>
            <a:spLocks noGrp="1"/>
          </p:cNvSpPr>
          <p:nvPr>
            <p:ph type="title"/>
          </p:nvPr>
        </p:nvSpPr>
        <p:spPr>
          <a:xfrm>
            <a:off x="317499" y="0"/>
            <a:ext cx="10584209" cy="704850"/>
          </a:xfrm>
        </p:spPr>
        <p:txBody>
          <a:bodyPr rtlCol="0"/>
          <a:lstStyle/>
          <a:p>
            <a:r>
              <a:rPr lang="ru-RU" dirty="0" smtClean="0"/>
              <a:t xml:space="preserve">Annual dashboard 2025: Perimeter KazakhstanSummary (1/6)</a:t>
            </a:r>
            <a:r>
              <a:rPr lang="en-US" dirty="0" smtClean="0"/>
              <a:t/>
            </a:r>
            <a:r>
              <a:rPr lang="en-US" dirty="0"/>
              <a:t/>
            </a:r>
            <a:r>
              <a:rPr lang="ru-RU" dirty="0" smtClean="0"/>
              <a:t/>
            </a:r>
            <a:br>
              <a:rPr lang="ru-RU" dirty="0" smtClean="0"/>
            </a:br>
            <a:r>
              <a:rPr lang="ru-RU" dirty="0" smtClean="0">
                <a:solidFill>
                  <a:schemeClr val="tx1"/>
                </a:solidFill>
              </a:rPr>
              <a:t/>
            </a:r>
            <a:r>
              <a:rPr lang="en-US" dirty="0" smtClean="0">
                <a:solidFill>
                  <a:schemeClr val="tx1"/>
                </a:solidFill>
              </a:rPr>
              <a:t/>
            </a:r>
            <a:r>
              <a:rPr lang="en-US" dirty="0">
                <a:solidFill>
                  <a:schemeClr val="tx1"/>
                </a:solidFill>
              </a:rPr>
              <a:t/>
            </a:r>
            <a:endParaRPr lang="ru" noProof="0" dirty="0">
              <a:solidFill>
                <a:schemeClr val="tx1"/>
              </a:solidFill>
            </a:endParaRPr>
          </a:p>
        </p:txBody>
      </p:sp>
      <p:graphicFrame>
        <p:nvGraphicFramePr>
          <p:cNvPr id="3" name="Table 2">
            <a:extLst>
              <a:ext uri="{FF2B5EF4-FFF2-40B4-BE49-F238E27FC236}">
                <a16:creationId xmlns:a16="http://schemas.microsoft.com/office/drawing/2014/main" id="{0F964CA2-FF5C-3BA1-535E-82FB008DB047}"/>
              </a:ext>
            </a:extLst>
          </p:cNvPr>
          <p:cNvGraphicFramePr>
            <a:graphicFrameLocks noGrp="1"/>
          </p:cNvGraphicFramePr>
          <p:nvPr>
            <p:extLst>
              <p:ext uri="{D42A27DB-BD31-4B8C-83A1-F6EECF244321}">
                <p14:modId xmlns:p14="http://schemas.microsoft.com/office/powerpoint/2010/main" val="1600652505"/>
              </p:ext>
            </p:extLst>
          </p:nvPr>
        </p:nvGraphicFramePr>
        <p:xfrm>
          <a:off x="317499" y="4344166"/>
          <a:ext cx="11523670" cy="2160236"/>
        </p:xfrm>
        <a:graphic>
          <a:graphicData uri="http://schemas.openxmlformats.org/drawingml/2006/table">
            <a:tbl>
              <a:tblPr>
                <a:tableStyleId>{5C22544A-7EE6-4342-B048-85BDC9FD1C3A}</a:tableStyleId>
              </a:tblPr>
              <a:tblGrid>
                <a:gridCol w="1933332">
                  <a:extLst>
                    <a:ext uri="{9D8B030D-6E8A-4147-A177-3AD203B41FA5}">
                      <a16:colId xmlns:a16="http://schemas.microsoft.com/office/drawing/2014/main" val="20000"/>
                    </a:ext>
                  </a:extLst>
                </a:gridCol>
                <a:gridCol w="3065929">
                  <a:extLst>
                    <a:ext uri="{9D8B030D-6E8A-4147-A177-3AD203B41FA5}">
                      <a16:colId xmlns:a16="http://schemas.microsoft.com/office/drawing/2014/main" val="20001"/>
                    </a:ext>
                  </a:extLst>
                </a:gridCol>
                <a:gridCol w="1914941">
                  <a:extLst>
                    <a:ext uri="{9D8B030D-6E8A-4147-A177-3AD203B41FA5}">
                      <a16:colId xmlns:a16="http://schemas.microsoft.com/office/drawing/2014/main" val="20002"/>
                    </a:ext>
                  </a:extLst>
                </a:gridCol>
                <a:gridCol w="2015738">
                  <a:extLst>
                    <a:ext uri="{9D8B030D-6E8A-4147-A177-3AD203B41FA5}">
                      <a16:colId xmlns:a16="http://schemas.microsoft.com/office/drawing/2014/main" val="20003"/>
                    </a:ext>
                  </a:extLst>
                </a:gridCol>
                <a:gridCol w="2593730">
                  <a:extLst>
                    <a:ext uri="{9D8B030D-6E8A-4147-A177-3AD203B41FA5}">
                      <a16:colId xmlns:a16="http://schemas.microsoft.com/office/drawing/2014/main" val="20004"/>
                    </a:ext>
                  </a:extLst>
                </a:gridCol>
              </a:tblGrid>
              <a:tr h="431276">
                <a:tc>
                  <a:txBody>
                    <a:bodyPr/>
                    <a:lstStyle/>
                    <a:p>
                      <a:pPr algn="l" fontAlgn="t"/>
                      <a:r>
                        <a:rPr lang="ru-RU" sz="1000" b="0" i="0" u="none" strike="noStrike" dirty="0" smtClean="0">
                          <a:solidFill>
                            <a:schemeClr val="accent1"/>
                          </a:solidFill>
                          <a:effectLst/>
                          <a:latin typeface="Arial" pitchFamily="34" charset="0"/>
                          <a:cs typeface="Arial" pitchFamily="34" charset="0"/>
                        </a:rPr>
                        <a:t xml:space="preserve">Trend and Exposure</a:t>
                      </a:r>
                      <a:endParaRPr lang="en-US" sz="1000" b="0" i="0" u="none" strike="noStrike" dirty="0">
                        <a:solidFill>
                          <a:schemeClr val="accent1"/>
                        </a:solidFill>
                        <a:effectLst/>
                        <a:latin typeface="Arial" pitchFamily="34" charset="0"/>
                        <a:cs typeface="Arial" pitchFamily="34" charset="0"/>
                      </a:endParaRPr>
                    </a:p>
                  </a:txBody>
                  <a:tcPr marL="0" marR="90000" marT="36000" marB="36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smtClean="0">
                          <a:ln>
                            <a:noFill/>
                          </a:ln>
                          <a:solidFill>
                            <a:schemeClr val="accent1"/>
                          </a:solidFill>
                          <a:effectLst/>
                          <a:uLnTx/>
                          <a:uFillTx/>
                          <a:latin typeface="Arial" pitchFamily="34" charset="0"/>
                          <a:ea typeface="+mn-ea"/>
                          <a:cs typeface="Arial" pitchFamily="34" charset="0"/>
                        </a:rPr>
                        <a:t xml:space="preserve">Key legal and regulatory changes</a:t>
                      </a:r>
                      <a:endParaRPr kumimoji="0" lang="en-US" sz="1000" b="0" i="0" u="none" strike="noStrike" kern="1200" cap="none" spc="0" normalizeH="0" baseline="0" noProof="0" dirty="0">
                        <a:ln>
                          <a:noFill/>
                        </a:ln>
                        <a:solidFill>
                          <a:schemeClr val="accent1"/>
                        </a:solidFill>
                        <a:effectLst/>
                        <a:uLnTx/>
                        <a:uFillTx/>
                        <a:latin typeface="Arial" pitchFamily="34" charset="0"/>
                        <a:ea typeface="+mn-ea"/>
                        <a:cs typeface="Arial" pitchFamily="34" charset="0"/>
                      </a:endParaRPr>
                    </a:p>
                  </a:txBody>
                  <a:tcPr marL="0" marR="90000" marT="36000" marB="36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smtClean="0">
                          <a:ln>
                            <a:noFill/>
                          </a:ln>
                          <a:solidFill>
                            <a:schemeClr val="accent1"/>
                          </a:solidFill>
                          <a:effectLst/>
                          <a:uLnTx/>
                          <a:uFillTx/>
                          <a:latin typeface="Arial" pitchFamily="34" charset="0"/>
                          <a:ea typeface="+mn-ea"/>
                          <a:cs typeface="Arial" pitchFamily="34" charset="0"/>
                        </a:rPr>
                        <a:t xml:space="preserve">Key business events</a:t>
                      </a:r>
                      <a:endParaRPr kumimoji="0" lang="en-US" sz="1000" b="0" i="0" u="none" strike="noStrike" kern="1200" cap="none" spc="0" normalizeH="0" baseline="0" noProof="0" dirty="0">
                        <a:ln>
                          <a:noFill/>
                        </a:ln>
                        <a:solidFill>
                          <a:schemeClr val="accent1"/>
                        </a:solidFill>
                        <a:effectLst/>
                        <a:uLnTx/>
                        <a:uFillTx/>
                        <a:latin typeface="Arial" pitchFamily="34" charset="0"/>
                        <a:ea typeface="+mn-ea"/>
                        <a:cs typeface="Arial" pitchFamily="34" charset="0"/>
                      </a:endParaRPr>
                    </a:p>
                  </a:txBody>
                  <a:tcPr marL="0" marR="90000" marT="36000" marB="36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smtClean="0">
                          <a:ln>
                            <a:noFill/>
                          </a:ln>
                          <a:solidFill>
                            <a:schemeClr val="accent1"/>
                          </a:solidFill>
                          <a:effectLst/>
                          <a:uLnTx/>
                          <a:uFillTx/>
                          <a:latin typeface="Arial" pitchFamily="34" charset="0"/>
                          <a:ea typeface="+mn-ea"/>
                          <a:cs typeface="Arial" pitchFamily="34" charset="0"/>
                        </a:rPr>
                        <a:t xml:space="preserve">Compliance challenges</a:t>
                      </a:r>
                      <a:endParaRPr kumimoji="0" lang="en-US" sz="1000" b="0" i="0" u="none" strike="noStrike" kern="1200" cap="none" spc="0" normalizeH="0" baseline="0" noProof="0" dirty="0">
                        <a:ln>
                          <a:noFill/>
                        </a:ln>
                        <a:solidFill>
                          <a:schemeClr val="accent1"/>
                        </a:solidFill>
                        <a:effectLst/>
                        <a:uLnTx/>
                        <a:uFillTx/>
                        <a:latin typeface="Arial" pitchFamily="34" charset="0"/>
                        <a:ea typeface="+mn-ea"/>
                        <a:cs typeface="Arial" pitchFamily="34" charset="0"/>
                      </a:endParaRPr>
                    </a:p>
                  </a:txBody>
                  <a:tcPr marL="0" marR="90000" marT="36000" marB="36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smtClean="0">
                          <a:ln>
                            <a:noFill/>
                          </a:ln>
                          <a:solidFill>
                            <a:schemeClr val="accent1"/>
                          </a:solidFill>
                          <a:effectLst/>
                          <a:uLnTx/>
                          <a:uFillTx/>
                          <a:latin typeface="Arial" pitchFamily="34" charset="0"/>
                          <a:ea typeface="+mn-ea"/>
                          <a:cs typeface="Arial" pitchFamily="34" charset="0"/>
                        </a:rPr>
                        <a:t xml:space="preserve">Assurance projects</a:t>
                      </a:r>
                      <a:endParaRPr kumimoji="0" lang="en-US" sz="1000" b="0" i="0" u="none" strike="noStrike" kern="1200" cap="none" spc="0" normalizeH="0" baseline="0" noProof="0" dirty="0">
                        <a:ln>
                          <a:noFill/>
                        </a:ln>
                        <a:solidFill>
                          <a:schemeClr val="accent1"/>
                        </a:solidFill>
                        <a:effectLst/>
                        <a:uLnTx/>
                        <a:uFillTx/>
                        <a:latin typeface="Arial" pitchFamily="34" charset="0"/>
                        <a:ea typeface="+mn-ea"/>
                        <a:cs typeface="Arial" pitchFamily="34" charset="0"/>
                      </a:endParaRPr>
                    </a:p>
                  </a:txBody>
                  <a:tcPr marL="0" marR="90000" marT="36000" marB="36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699833">
                <a:tc>
                  <a:txBody>
                    <a:bodyPr/>
                    <a:lstStyle/>
                    <a:p>
                      <a:pPr marL="87313" indent="-87313" algn="l" fontAlgn="t">
                        <a:buClr>
                          <a:schemeClr val="accent1"/>
                        </a:buClr>
                        <a:buFont typeface="Arial" panose="020B0604020202020204" pitchFamily="34" charset="0"/>
                        <a:buChar char="•"/>
                      </a:pPr>
                      <a:r>
                        <a:rPr lang="ru-RU" sz="800" b="0" i="0" u="none" strike="noStrike" dirty="0" smtClean="0">
                          <a:solidFill>
                            <a:schemeClr val="tx1"/>
                          </a:solidFill>
                          <a:effectLst/>
                          <a:latin typeface="Arial" pitchFamily="34" charset="0"/>
                          <a:cs typeface="Arial" pitchFamily="34" charset="0"/>
                        </a:rPr>
                        <a:t xml:space="preserve">No significant materialized compliance risks were identified during the reporting period.</a:t>
                      </a:r>
                      <a:endParaRPr lang="en-US" sz="800" b="0" i="0" u="none" strike="noStrike" dirty="0">
                        <a:solidFill>
                          <a:schemeClr val="tx1"/>
                        </a:solidFill>
                        <a:effectLst/>
                        <a:latin typeface="Arial" pitchFamily="34" charset="0"/>
                        <a:cs typeface="Arial" pitchFamily="34" charset="0"/>
                      </a:endParaRPr>
                    </a:p>
                  </a:txBody>
                  <a:tcPr marL="0" marR="90000" marT="72000" marB="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b="0" i="0" u="none" strike="noStrike" kern="1200" dirty="0" smtClean="0">
                          <a:solidFill>
                            <a:schemeClr val="tx1"/>
                          </a:solidFill>
                          <a:effectLst/>
                          <a:latin typeface="Arial" pitchFamily="34" charset="0"/>
                          <a:ea typeface="+mn-ea"/>
                          <a:cs typeface="Arial" pitchFamily="34" charset="0"/>
                        </a:rPr>
                        <a:t xml:space="preserve">Strengthening sanctions regimes against the Russian Federation by the US and the EU.</a:t>
                      </a:r>
                    </a:p>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b="0" i="0" u="none" strike="noStrike" kern="1200" dirty="0" smtClean="0">
                          <a:solidFill>
                            <a:schemeClr val="tx1"/>
                          </a:solidFill>
                          <a:effectLst/>
                          <a:latin typeface="Arial" pitchFamily="34" charset="0"/>
                          <a:ea typeface="+mn-ea"/>
                          <a:cs typeface="Arial" pitchFamily="34" charset="0"/>
                        </a:rPr>
                        <a:t xml:space="preserve">Strengthening the requirements of applicable legislation on the protection of personal data.</a:t>
                      </a:r>
                      <a:r>
                        <a:rPr lang="ru-RU" sz="800" b="0" i="0" u="none" strike="noStrike" kern="1200" baseline="0" dirty="0" smtClean="0">
                          <a:solidFill>
                            <a:schemeClr val="tx1"/>
                          </a:solidFill>
                          <a:effectLst/>
                          <a:latin typeface="Arial" pitchFamily="34" charset="0"/>
                          <a:ea typeface="+mn-ea"/>
                          <a:cs typeface="Arial" pitchFamily="34" charset="0"/>
                        </a:rPr>
                        <a:t/>
                      </a:r>
                      <a:r>
                        <a:rPr lang="ru-RU" sz="800" b="0" i="0" u="none" strike="noStrike" kern="1200" dirty="0" smtClean="0">
                          <a:solidFill>
                            <a:schemeClr val="tx1"/>
                          </a:solidFill>
                          <a:effectLst/>
                          <a:latin typeface="Arial" pitchFamily="34" charset="0"/>
                          <a:ea typeface="+mn-ea"/>
                          <a:cs typeface="Arial" pitchFamily="34" charset="0"/>
                        </a:rPr>
                        <a:t/>
                      </a:r>
                    </a:p>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b="0" i="0" u="none" strike="noStrike" kern="1200" dirty="0" smtClean="0">
                          <a:solidFill>
                            <a:schemeClr val="tx1"/>
                          </a:solidFill>
                          <a:effectLst/>
                          <a:latin typeface="Arial" pitchFamily="34" charset="0"/>
                          <a:ea typeface="+mn-ea"/>
                          <a:cs typeface="Arial" pitchFamily="34" charset="0"/>
                        </a:rPr>
                        <a:t xml:space="preserve">The FCDO (UK Ministry of Defense) Sanctions Guide for Kazakh Enterprises has been published.</a:t>
                      </a:r>
                      <a:r>
                        <a:rPr lang="ru-RU" sz="800" b="0" i="0" u="none" strike="noStrike" kern="1200" baseline="0" dirty="0" smtClean="0">
                          <a:solidFill>
                            <a:schemeClr val="tx1"/>
                          </a:solidFill>
                          <a:effectLst/>
                          <a:latin typeface="Arial" pitchFamily="34" charset="0"/>
                          <a:ea typeface="+mn-ea"/>
                          <a:cs typeface="Arial" pitchFamily="34" charset="0"/>
                        </a:rPr>
                        <a:t/>
                      </a:r>
                      <a:r>
                        <a:rPr lang="ru-RU" sz="800" b="0" i="0" u="none" strike="noStrike" kern="1200" dirty="0" smtClean="0">
                          <a:solidFill>
                            <a:schemeClr val="tx1"/>
                          </a:solidFill>
                          <a:effectLst/>
                          <a:latin typeface="Arial" pitchFamily="34" charset="0"/>
                          <a:ea typeface="+mn-ea"/>
                          <a:cs typeface="Arial" pitchFamily="34" charset="0"/>
                        </a:rPr>
                        <a:t/>
                      </a:r>
                      <a:r>
                        <a:rPr lang="ru-RU" sz="800" b="0" i="0" u="none" strike="noStrike" kern="1200" baseline="0" dirty="0" smtClean="0">
                          <a:solidFill>
                            <a:schemeClr val="tx1"/>
                          </a:solidFill>
                          <a:effectLst/>
                          <a:latin typeface="Arial" pitchFamily="34" charset="0"/>
                          <a:ea typeface="+mn-ea"/>
                          <a:cs typeface="Arial" pitchFamily="34" charset="0"/>
                        </a:rPr>
                        <a:t/>
                      </a:r>
                      <a:r>
                        <a:rPr lang="ru-RU" sz="800" b="0" i="0" u="none" strike="noStrike" kern="1200" dirty="0" smtClean="0">
                          <a:solidFill>
                            <a:schemeClr val="tx1"/>
                          </a:solidFill>
                          <a:effectLst/>
                          <a:latin typeface="Arial" pitchFamily="34" charset="0"/>
                          <a:ea typeface="+mn-ea"/>
                          <a:cs typeface="Arial" pitchFamily="34" charset="0"/>
                        </a:rPr>
                        <a:t/>
                      </a:r>
                    </a:p>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b="0" i="0" u="none" strike="noStrike" kern="1200" dirty="0" smtClean="0">
                          <a:solidFill>
                            <a:schemeClr val="tx1"/>
                          </a:solidFill>
                          <a:effectLst/>
                          <a:latin typeface="Arial" pitchFamily="34" charset="0"/>
                          <a:ea typeface="+mn-ea"/>
                          <a:cs typeface="Arial" pitchFamily="34" charset="0"/>
                        </a:rPr>
                        <a:t xml:space="preserve">The Law of the Republic of Kazakhstan “On Artificial Intelligence” was signed (came into force in January 2026)</a:t>
                      </a:r>
                      <a:r>
                        <a:rPr lang="ru-RU" sz="800" kern="1200" dirty="0" smtClean="0">
                          <a:solidFill>
                            <a:schemeClr val="tx1"/>
                          </a:solidFill>
                          <a:latin typeface="+mn-lt"/>
                          <a:ea typeface="+mn-ea"/>
                          <a:cs typeface="+mn-cs"/>
                        </a:rPr>
                        <a:t/>
                      </a:r>
                    </a:p>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tx1"/>
                          </a:solidFill>
                          <a:latin typeface="+mn-lt"/>
                          <a:ea typeface="+mn-ea"/>
                          <a:cs typeface="+mn-cs"/>
                        </a:rPr>
                        <a:t xml:space="preserve">A new Digital Code of the Republic of Kazakhstan has been developed (comes into force in July 2026)</a:t>
                      </a:r>
                    </a:p>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dirty="0" smtClean="0">
                          <a:solidFill>
                            <a:schemeClr val="tx1"/>
                          </a:solidFill>
                          <a:latin typeface="+mn-lt"/>
                        </a:rPr>
                        <a:t xml:space="preserve">Regulatory requirements and government requirements have been strengthened. control over commodity exchanges, response measures for the lack of permits for honey. activities, etc.</a:t>
                      </a:r>
                      <a:r>
                        <a:rPr lang="en-US" sz="800" dirty="0" smtClean="0">
                          <a:solidFill>
                            <a:schemeClr val="tx1"/>
                          </a:solidFill>
                          <a:latin typeface="+mn-lt"/>
                        </a:rPr>
                        <a:t/>
                      </a:r>
                      <a:r>
                        <a:rPr lang="ru-RU" sz="800" dirty="0" smtClean="0">
                          <a:solidFill>
                            <a:schemeClr val="tx1"/>
                          </a:solidFill>
                          <a:latin typeface="+mn-lt"/>
                        </a:rPr>
                        <a:t/>
                      </a:r>
                      <a:r>
                        <a:rPr lang="ru-RU" sz="800" baseline="0" dirty="0" smtClean="0">
                          <a:solidFill>
                            <a:schemeClr val="tx1"/>
                          </a:solidFill>
                          <a:latin typeface="+mn-lt"/>
                        </a:rPr>
                        <a:t/>
                      </a:r>
                      <a:r>
                        <a:rPr lang="ru-RU" sz="800" dirty="0" smtClean="0">
                          <a:solidFill>
                            <a:schemeClr val="tx1"/>
                          </a:solidFill>
                          <a:latin typeface="+mn-lt"/>
                        </a:rPr>
                        <a:t/>
                      </a:r>
                      <a:r>
                        <a:rPr lang="ru-RU" sz="800" kern="1200" dirty="0" smtClean="0">
                          <a:solidFill>
                            <a:schemeClr val="tx1"/>
                          </a:solidFill>
                          <a:latin typeface="+mn-lt"/>
                          <a:ea typeface="+mn-ea"/>
                          <a:cs typeface="+mn-cs"/>
                        </a:rPr>
                        <a:t/>
                      </a:r>
                      <a:endParaRPr kumimoji="0" lang="en-US" sz="8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a:txBody>
                  <a:tcPr marL="0" marR="90000" marT="72000" marB="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b="0" i="0" u="none" strike="noStrike" kern="1200" dirty="0" smtClean="0">
                          <a:solidFill>
                            <a:schemeClr val="tx1"/>
                          </a:solidFill>
                          <a:effectLst/>
                          <a:latin typeface="Arial" pitchFamily="34" charset="0"/>
                          <a:ea typeface="+mn-ea"/>
                          <a:cs typeface="Arial" pitchFamily="34" charset="0"/>
                        </a:rPr>
                        <a:t xml:space="preserve">No changes have been identified that significantly affect the implementation of the Perimeter Annual Compliance Program.</a:t>
                      </a:r>
                    </a:p>
                  </a:txBody>
                  <a:tcPr marL="0" marR="90000" marT="72000" marB="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b="0" i="0" u="none" strike="noStrike" kern="1200" noProof="0" dirty="0" smtClean="0">
                          <a:solidFill>
                            <a:schemeClr val="tx1"/>
                          </a:solidFill>
                          <a:effectLst/>
                          <a:latin typeface="Arial" pitchFamily="34" charset="0"/>
                          <a:ea typeface="+mn-ea"/>
                          <a:cs typeface="Arial" pitchFamily="34" charset="0"/>
                        </a:rPr>
                        <a:t xml:space="preserve">During the year, funding for IT projects was suspended</a:t>
                      </a:r>
                    </a:p>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b="0" i="0" u="none" strike="noStrike" kern="1200" noProof="0" dirty="0" smtClean="0">
                          <a:solidFill>
                            <a:schemeClr val="tx1"/>
                          </a:solidFill>
                          <a:effectLst/>
                          <a:latin typeface="Arial" pitchFamily="34" charset="0"/>
                          <a:ea typeface="+mn-ea"/>
                          <a:cs typeface="Arial" pitchFamily="34" charset="0"/>
                        </a:rPr>
                        <a:t xml:space="preserve">Lack of resources (open positions fully filled in Q1 2026)</a:t>
                      </a:r>
                      <a:endParaRPr lang="en-US" sz="800" b="0" i="0" u="none" strike="noStrike" kern="1200" noProof="0" dirty="0">
                        <a:solidFill>
                          <a:schemeClr val="tx1"/>
                        </a:solidFill>
                        <a:effectLst/>
                        <a:latin typeface="Arial" pitchFamily="34" charset="0"/>
                        <a:ea typeface="+mn-ea"/>
                        <a:cs typeface="Arial" pitchFamily="34" charset="0"/>
                      </a:endParaRPr>
                    </a:p>
                  </a:txBody>
                  <a:tcPr marL="0" marR="90000" marT="72000" marB="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7313" marR="0" lvl="0" indent="-87313" algn="l" defTabSz="583170" rtl="0" eaLnBrk="1" fontAlgn="t"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b="0" i="0" u="none" strike="noStrike" kern="1200" noProof="0" dirty="0" smtClean="0">
                          <a:solidFill>
                            <a:schemeClr val="tx1"/>
                          </a:solidFill>
                          <a:effectLst/>
                          <a:latin typeface="Arial" pitchFamily="34" charset="0"/>
                          <a:ea typeface="+mn-ea"/>
                          <a:cs typeface="Arial" pitchFamily="34" charset="0"/>
                        </a:rPr>
                        <a:t xml:space="preserve">The Compliance Directorate has been actively involved in the Compliance Group's assurance projects (in the area of ​​WBS, T&amp;A) and is working to implement recommendations.</a:t>
                      </a:r>
                      <a:r>
                        <a:rPr lang="en-US" sz="800" b="0" i="0" u="none" strike="noStrike" kern="1200" noProof="0" dirty="0" smtClean="0">
                          <a:solidFill>
                            <a:schemeClr val="tx1"/>
                          </a:solidFill>
                          <a:effectLst/>
                          <a:latin typeface="Arial" pitchFamily="34" charset="0"/>
                          <a:ea typeface="+mn-ea"/>
                          <a:cs typeface="Arial" pitchFamily="34" charset="0"/>
                        </a:rPr>
                        <a:t/>
                      </a:r>
                      <a:r>
                        <a:rPr lang="ru-RU" sz="800" b="0" i="0" u="none" strike="noStrike" kern="1200" noProof="0" dirty="0" smtClean="0">
                          <a:solidFill>
                            <a:schemeClr val="tx1"/>
                          </a:solidFill>
                          <a:effectLst/>
                          <a:latin typeface="Arial" pitchFamily="34" charset="0"/>
                          <a:ea typeface="+mn-ea"/>
                          <a:cs typeface="Arial" pitchFamily="34" charset="0"/>
                        </a:rPr>
                        <a:t/>
                      </a:r>
                      <a:endParaRPr lang="en-US" sz="800" b="0" i="0" u="none" strike="noStrike" kern="1200" noProof="0" dirty="0">
                        <a:solidFill>
                          <a:schemeClr val="tx1"/>
                        </a:solidFill>
                        <a:effectLst/>
                        <a:latin typeface="Arial" pitchFamily="34" charset="0"/>
                        <a:ea typeface="+mn-ea"/>
                        <a:cs typeface="Arial" pitchFamily="34" charset="0"/>
                      </a:endParaRPr>
                    </a:p>
                  </a:txBody>
                  <a:tcPr marL="0" marR="90000" marT="72000" marB="72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grpSp>
        <p:nvGrpSpPr>
          <p:cNvPr id="90" name="Group 89">
            <a:extLst>
              <a:ext uri="{FF2B5EF4-FFF2-40B4-BE49-F238E27FC236}">
                <a16:creationId xmlns:a16="http://schemas.microsoft.com/office/drawing/2014/main" id="{BBDE81D9-21C7-BAF5-6F52-96B5ACF20DCB}"/>
              </a:ext>
            </a:extLst>
          </p:cNvPr>
          <p:cNvGrpSpPr/>
          <p:nvPr/>
        </p:nvGrpSpPr>
        <p:grpSpPr>
          <a:xfrm>
            <a:off x="2520511" y="2438735"/>
            <a:ext cx="117815" cy="119583"/>
            <a:chOff x="6580783" y="2157819"/>
            <a:chExt cx="162010" cy="164441"/>
          </a:xfrm>
        </p:grpSpPr>
        <p:sp>
          <p:nvSpPr>
            <p:cNvPr id="91" name="Freeform 27">
              <a:extLst>
                <a:ext uri="{FF2B5EF4-FFF2-40B4-BE49-F238E27FC236}">
                  <a16:creationId xmlns:a16="http://schemas.microsoft.com/office/drawing/2014/main" id="{17984EA5-EB3A-E210-E9EA-3894B6C5ACFB}"/>
                </a:ext>
              </a:extLst>
            </p:cNvPr>
            <p:cNvSpPr>
              <a:spLocks/>
            </p:cNvSpPr>
            <p:nvPr/>
          </p:nvSpPr>
          <p:spPr bwMode="auto">
            <a:xfrm>
              <a:off x="6580783" y="2157819"/>
              <a:ext cx="162010" cy="164441"/>
            </a:xfrm>
            <a:custGeom>
              <a:avLst/>
              <a:gdLst>
                <a:gd name="T0" fmla="*/ 146 w 292"/>
                <a:gd name="T1" fmla="*/ 0 h 293"/>
                <a:gd name="T2" fmla="*/ 0 w 292"/>
                <a:gd name="T3" fmla="*/ 147 h 293"/>
                <a:gd name="T4" fmla="*/ 146 w 292"/>
                <a:gd name="T5" fmla="*/ 293 h 293"/>
                <a:gd name="T6" fmla="*/ 235 w 292"/>
                <a:gd name="T7" fmla="*/ 263 h 293"/>
                <a:gd name="T8" fmla="*/ 236 w 292"/>
                <a:gd name="T9" fmla="*/ 256 h 293"/>
                <a:gd name="T10" fmla="*/ 230 w 292"/>
                <a:gd name="T11" fmla="*/ 255 h 293"/>
                <a:gd name="T12" fmla="*/ 146 w 292"/>
                <a:gd name="T13" fmla="*/ 284 h 293"/>
                <a:gd name="T14" fmla="*/ 9 w 292"/>
                <a:gd name="T15" fmla="*/ 147 h 293"/>
                <a:gd name="T16" fmla="*/ 146 w 292"/>
                <a:gd name="T17" fmla="*/ 10 h 293"/>
                <a:gd name="T18" fmla="*/ 283 w 292"/>
                <a:gd name="T19" fmla="*/ 147 h 293"/>
                <a:gd name="T20" fmla="*/ 260 w 292"/>
                <a:gd name="T21" fmla="*/ 223 h 293"/>
                <a:gd name="T22" fmla="*/ 261 w 292"/>
                <a:gd name="T23" fmla="*/ 230 h 293"/>
                <a:gd name="T24" fmla="*/ 267 w 292"/>
                <a:gd name="T25" fmla="*/ 229 h 293"/>
                <a:gd name="T26" fmla="*/ 292 w 292"/>
                <a:gd name="T27" fmla="*/ 147 h 293"/>
                <a:gd name="T28" fmla="*/ 146 w 292"/>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2" h="293">
                  <a:moveTo>
                    <a:pt x="146" y="0"/>
                  </a:moveTo>
                  <a:cubicBezTo>
                    <a:pt x="65" y="0"/>
                    <a:pt x="0" y="66"/>
                    <a:pt x="0" y="147"/>
                  </a:cubicBezTo>
                  <a:cubicBezTo>
                    <a:pt x="0" y="227"/>
                    <a:pt x="65" y="293"/>
                    <a:pt x="146" y="293"/>
                  </a:cubicBezTo>
                  <a:cubicBezTo>
                    <a:pt x="179" y="293"/>
                    <a:pt x="210" y="283"/>
                    <a:pt x="235" y="263"/>
                  </a:cubicBezTo>
                  <a:cubicBezTo>
                    <a:pt x="237"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8" y="226"/>
                    <a:pt x="259" y="228"/>
                    <a:pt x="261" y="230"/>
                  </a:cubicBezTo>
                  <a:cubicBezTo>
                    <a:pt x="263" y="231"/>
                    <a:pt x="266" y="231"/>
                    <a:pt x="267" y="229"/>
                  </a:cubicBezTo>
                  <a:cubicBezTo>
                    <a:pt x="284" y="204"/>
                    <a:pt x="292" y="176"/>
                    <a:pt x="292" y="147"/>
                  </a:cubicBezTo>
                  <a:cubicBezTo>
                    <a:pt x="292" y="66"/>
                    <a:pt x="227" y="0"/>
                    <a:pt x="146" y="0"/>
                  </a:cubicBezTo>
                  <a:close/>
                </a:path>
              </a:pathLst>
            </a:custGeom>
            <a:solidFill>
              <a:srgbClr val="C00000">
                <a:alpha val="0"/>
              </a:srgbClr>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92" name="Freeform 26">
              <a:extLst>
                <a:ext uri="{FF2B5EF4-FFF2-40B4-BE49-F238E27FC236}">
                  <a16:creationId xmlns:a16="http://schemas.microsoft.com/office/drawing/2014/main" id="{1099AEEE-55AD-1F84-1949-76155015DDFC}"/>
                </a:ext>
              </a:extLst>
            </p:cNvPr>
            <p:cNvSpPr>
              <a:spLocks/>
            </p:cNvSpPr>
            <p:nvPr/>
          </p:nvSpPr>
          <p:spPr bwMode="auto">
            <a:xfrm rot="16200000">
              <a:off x="6625794" y="2219906"/>
              <a:ext cx="71985" cy="40274"/>
            </a:xfrm>
            <a:custGeom>
              <a:avLst/>
              <a:gdLst>
                <a:gd name="T0" fmla="*/ 115 w 117"/>
                <a:gd name="T1" fmla="*/ 40 h 87"/>
                <a:gd name="T2" fmla="*/ 77 w 117"/>
                <a:gd name="T3" fmla="*/ 2 h 87"/>
                <a:gd name="T4" fmla="*/ 70 w 117"/>
                <a:gd name="T5" fmla="*/ 2 h 87"/>
                <a:gd name="T6" fmla="*/ 70 w 117"/>
                <a:gd name="T7" fmla="*/ 8 h 87"/>
                <a:gd name="T8" fmla="*/ 101 w 117"/>
                <a:gd name="T9" fmla="*/ 39 h 87"/>
                <a:gd name="T10" fmla="*/ 4 w 117"/>
                <a:gd name="T11" fmla="*/ 39 h 87"/>
                <a:gd name="T12" fmla="*/ 0 w 117"/>
                <a:gd name="T13" fmla="*/ 44 h 87"/>
                <a:gd name="T14" fmla="*/ 4 w 117"/>
                <a:gd name="T15" fmla="*/ 48 h 87"/>
                <a:gd name="T16" fmla="*/ 101 w 117"/>
                <a:gd name="T17" fmla="*/ 48 h 87"/>
                <a:gd name="T18" fmla="*/ 70 w 117"/>
                <a:gd name="T19" fmla="*/ 79 h 87"/>
                <a:gd name="T20" fmla="*/ 70 w 117"/>
                <a:gd name="T21" fmla="*/ 86 h 87"/>
                <a:gd name="T22" fmla="*/ 73 w 117"/>
                <a:gd name="T23" fmla="*/ 87 h 87"/>
                <a:gd name="T24" fmla="*/ 76 w 117"/>
                <a:gd name="T25" fmla="*/ 86 h 87"/>
                <a:gd name="T26" fmla="*/ 115 w 117"/>
                <a:gd name="T27" fmla="*/ 47 h 87"/>
                <a:gd name="T28" fmla="*/ 117 w 117"/>
                <a:gd name="T29" fmla="*/ 44 h 87"/>
                <a:gd name="T30" fmla="*/ 117 w 117"/>
                <a:gd name="T31" fmla="*/ 44 h 87"/>
                <a:gd name="T32" fmla="*/ 115 w 117"/>
                <a:gd name="T33"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87">
                  <a:moveTo>
                    <a:pt x="115" y="40"/>
                  </a:moveTo>
                  <a:cubicBezTo>
                    <a:pt x="77" y="2"/>
                    <a:pt x="77" y="2"/>
                    <a:pt x="77" y="2"/>
                  </a:cubicBezTo>
                  <a:cubicBezTo>
                    <a:pt x="75" y="0"/>
                    <a:pt x="72" y="0"/>
                    <a:pt x="70" y="2"/>
                  </a:cubicBezTo>
                  <a:cubicBezTo>
                    <a:pt x="68" y="3"/>
                    <a:pt x="68" y="6"/>
                    <a:pt x="70" y="8"/>
                  </a:cubicBezTo>
                  <a:cubicBezTo>
                    <a:pt x="101" y="39"/>
                    <a:pt x="101" y="39"/>
                    <a:pt x="101" y="39"/>
                  </a:cubicBezTo>
                  <a:cubicBezTo>
                    <a:pt x="4" y="39"/>
                    <a:pt x="4" y="39"/>
                    <a:pt x="4" y="39"/>
                  </a:cubicBezTo>
                  <a:cubicBezTo>
                    <a:pt x="2" y="39"/>
                    <a:pt x="0" y="41"/>
                    <a:pt x="0" y="44"/>
                  </a:cubicBezTo>
                  <a:cubicBezTo>
                    <a:pt x="0" y="46"/>
                    <a:pt x="2" y="48"/>
                    <a:pt x="4" y="48"/>
                  </a:cubicBezTo>
                  <a:cubicBezTo>
                    <a:pt x="101" y="48"/>
                    <a:pt x="101" y="48"/>
                    <a:pt x="101" y="48"/>
                  </a:cubicBezTo>
                  <a:cubicBezTo>
                    <a:pt x="70" y="79"/>
                    <a:pt x="70" y="79"/>
                    <a:pt x="70" y="79"/>
                  </a:cubicBezTo>
                  <a:cubicBezTo>
                    <a:pt x="68" y="81"/>
                    <a:pt x="68" y="84"/>
                    <a:pt x="70" y="86"/>
                  </a:cubicBezTo>
                  <a:cubicBezTo>
                    <a:pt x="71" y="87"/>
                    <a:pt x="72" y="87"/>
                    <a:pt x="73" y="87"/>
                  </a:cubicBezTo>
                  <a:cubicBezTo>
                    <a:pt x="74" y="87"/>
                    <a:pt x="75" y="87"/>
                    <a:pt x="76" y="86"/>
                  </a:cubicBezTo>
                  <a:cubicBezTo>
                    <a:pt x="115" y="47"/>
                    <a:pt x="115" y="47"/>
                    <a:pt x="115" y="47"/>
                  </a:cubicBezTo>
                  <a:cubicBezTo>
                    <a:pt x="116" y="47"/>
                    <a:pt x="117" y="45"/>
                    <a:pt x="117" y="44"/>
                  </a:cubicBezTo>
                  <a:cubicBezTo>
                    <a:pt x="117" y="44"/>
                    <a:pt x="117" y="44"/>
                    <a:pt x="117" y="44"/>
                  </a:cubicBezTo>
                  <a:cubicBezTo>
                    <a:pt x="117" y="42"/>
                    <a:pt x="116" y="41"/>
                    <a:pt x="115" y="40"/>
                  </a:cubicBezTo>
                  <a:close/>
                </a:path>
              </a:pathLst>
            </a:custGeom>
            <a:solidFill>
              <a:schemeClr val="accent6"/>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
        <p:nvSpPr>
          <p:cNvPr id="93" name="Rectangle 92">
            <a:extLst>
              <a:ext uri="{FF2B5EF4-FFF2-40B4-BE49-F238E27FC236}">
                <a16:creationId xmlns:a16="http://schemas.microsoft.com/office/drawing/2014/main" id="{3BDA7F24-0C60-4AD0-81B1-BACB7EEFC6EE}"/>
              </a:ext>
            </a:extLst>
          </p:cNvPr>
          <p:cNvSpPr/>
          <p:nvPr/>
        </p:nvSpPr>
        <p:spPr>
          <a:xfrm>
            <a:off x="600956" y="1835524"/>
            <a:ext cx="2395458"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grpSp>
        <p:nvGrpSpPr>
          <p:cNvPr id="94" name="Group 93">
            <a:extLst>
              <a:ext uri="{FF2B5EF4-FFF2-40B4-BE49-F238E27FC236}">
                <a16:creationId xmlns:a16="http://schemas.microsoft.com/office/drawing/2014/main" id="{FC7DAB74-B7FD-4E51-0F9C-E2FFA68FFEA3}"/>
              </a:ext>
            </a:extLst>
          </p:cNvPr>
          <p:cNvGrpSpPr/>
          <p:nvPr/>
        </p:nvGrpSpPr>
        <p:grpSpPr>
          <a:xfrm>
            <a:off x="2520511" y="1966329"/>
            <a:ext cx="117815" cy="119583"/>
            <a:chOff x="5895953" y="2146311"/>
            <a:chExt cx="162010" cy="164441"/>
          </a:xfrm>
        </p:grpSpPr>
        <p:sp>
          <p:nvSpPr>
            <p:cNvPr id="95" name="Freeform 61">
              <a:extLst>
                <a:ext uri="{FF2B5EF4-FFF2-40B4-BE49-F238E27FC236}">
                  <a16:creationId xmlns:a16="http://schemas.microsoft.com/office/drawing/2014/main" id="{20816853-09CB-05F6-8431-5270624FE660}"/>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96" name="Freeform 62">
              <a:extLst>
                <a:ext uri="{FF2B5EF4-FFF2-40B4-BE49-F238E27FC236}">
                  <a16:creationId xmlns:a16="http://schemas.microsoft.com/office/drawing/2014/main" id="{92C5B5CE-CE0F-FA23-A573-DEE37E70A8C6}"/>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
        <p:nvSpPr>
          <p:cNvPr id="97" name="Rectangle 96">
            <a:extLst>
              <a:ext uri="{FF2B5EF4-FFF2-40B4-BE49-F238E27FC236}">
                <a16:creationId xmlns:a16="http://schemas.microsoft.com/office/drawing/2014/main" id="{95279F4C-FE05-5098-EAAB-6696F10B2AFC}"/>
              </a:ext>
            </a:extLst>
          </p:cNvPr>
          <p:cNvSpPr/>
          <p:nvPr/>
        </p:nvSpPr>
        <p:spPr>
          <a:xfrm>
            <a:off x="612105" y="2292230"/>
            <a:ext cx="2940686"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grpSp>
        <p:nvGrpSpPr>
          <p:cNvPr id="104" name="Group 170">
            <a:extLst>
              <a:ext uri="{FF2B5EF4-FFF2-40B4-BE49-F238E27FC236}">
                <a16:creationId xmlns:a16="http://schemas.microsoft.com/office/drawing/2014/main" id="{8307B4C9-F227-2E68-B528-05A704BBB998}"/>
              </a:ext>
            </a:extLst>
          </p:cNvPr>
          <p:cNvGrpSpPr/>
          <p:nvPr/>
        </p:nvGrpSpPr>
        <p:grpSpPr>
          <a:xfrm>
            <a:off x="2523349" y="3334915"/>
            <a:ext cx="117815" cy="119583"/>
            <a:chOff x="5895953" y="2146311"/>
            <a:chExt cx="162010" cy="164441"/>
          </a:xfrm>
          <a:solidFill>
            <a:srgbClr val="00BC2D"/>
          </a:solidFill>
        </p:grpSpPr>
        <p:sp>
          <p:nvSpPr>
            <p:cNvPr id="105" name="Freeform 61">
              <a:extLst>
                <a:ext uri="{FF2B5EF4-FFF2-40B4-BE49-F238E27FC236}">
                  <a16:creationId xmlns:a16="http://schemas.microsoft.com/office/drawing/2014/main" id="{9E22D7EA-0CD5-703C-42B5-60D46C1B02F3}"/>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grp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solidFill>
                  <a:srgbClr val="00BC2D"/>
                </a:solidFill>
              </a:endParaRPr>
            </a:p>
          </p:txBody>
        </p:sp>
        <p:sp>
          <p:nvSpPr>
            <p:cNvPr id="106" name="Freeform 62">
              <a:extLst>
                <a:ext uri="{FF2B5EF4-FFF2-40B4-BE49-F238E27FC236}">
                  <a16:creationId xmlns:a16="http://schemas.microsoft.com/office/drawing/2014/main" id="{E2DC2DEE-1233-D125-23C3-048261C6DFB7}"/>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grp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solidFill>
                  <a:srgbClr val="00BC2D"/>
                </a:solidFill>
              </a:endParaRPr>
            </a:p>
          </p:txBody>
        </p:sp>
      </p:grpSp>
      <p:grpSp>
        <p:nvGrpSpPr>
          <p:cNvPr id="107" name="Group 170">
            <a:extLst>
              <a:ext uri="{FF2B5EF4-FFF2-40B4-BE49-F238E27FC236}">
                <a16:creationId xmlns:a16="http://schemas.microsoft.com/office/drawing/2014/main" id="{28E5631E-4175-087A-CC61-EE760FE79310}"/>
              </a:ext>
            </a:extLst>
          </p:cNvPr>
          <p:cNvGrpSpPr/>
          <p:nvPr/>
        </p:nvGrpSpPr>
        <p:grpSpPr>
          <a:xfrm>
            <a:off x="2517597" y="3797630"/>
            <a:ext cx="117815" cy="119583"/>
            <a:chOff x="5895953" y="2146311"/>
            <a:chExt cx="162010" cy="164441"/>
          </a:xfrm>
        </p:grpSpPr>
        <p:sp>
          <p:nvSpPr>
            <p:cNvPr id="108" name="Freeform 61">
              <a:extLst>
                <a:ext uri="{FF2B5EF4-FFF2-40B4-BE49-F238E27FC236}">
                  <a16:creationId xmlns:a16="http://schemas.microsoft.com/office/drawing/2014/main" id="{4A28A7A1-3AEF-F55A-AFD0-C8C12139FD95}"/>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09" name="Freeform 62">
              <a:extLst>
                <a:ext uri="{FF2B5EF4-FFF2-40B4-BE49-F238E27FC236}">
                  <a16:creationId xmlns:a16="http://schemas.microsoft.com/office/drawing/2014/main" id="{08B6AB3D-50CA-F7A2-2612-3BEEE7DA67D5}"/>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110" name="Group 170">
            <a:extLst>
              <a:ext uri="{FF2B5EF4-FFF2-40B4-BE49-F238E27FC236}">
                <a16:creationId xmlns:a16="http://schemas.microsoft.com/office/drawing/2014/main" id="{4FE55834-C7A9-3424-1B04-A25DB6F02D60}"/>
              </a:ext>
            </a:extLst>
          </p:cNvPr>
          <p:cNvGrpSpPr/>
          <p:nvPr/>
        </p:nvGrpSpPr>
        <p:grpSpPr>
          <a:xfrm>
            <a:off x="4005069" y="1971160"/>
            <a:ext cx="117815" cy="119583"/>
            <a:chOff x="5895953" y="2146311"/>
            <a:chExt cx="162010" cy="164441"/>
          </a:xfrm>
        </p:grpSpPr>
        <p:sp>
          <p:nvSpPr>
            <p:cNvPr id="111" name="Freeform 61">
              <a:extLst>
                <a:ext uri="{FF2B5EF4-FFF2-40B4-BE49-F238E27FC236}">
                  <a16:creationId xmlns:a16="http://schemas.microsoft.com/office/drawing/2014/main" id="{A95A8454-B5FD-4838-C1FE-F4DE193A8CDB}"/>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12" name="Freeform 62">
              <a:extLst>
                <a:ext uri="{FF2B5EF4-FFF2-40B4-BE49-F238E27FC236}">
                  <a16:creationId xmlns:a16="http://schemas.microsoft.com/office/drawing/2014/main" id="{2CFC6271-6EEA-47C9-01F0-4CB93F8362BF}"/>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116" name="Group 170">
            <a:extLst>
              <a:ext uri="{FF2B5EF4-FFF2-40B4-BE49-F238E27FC236}">
                <a16:creationId xmlns:a16="http://schemas.microsoft.com/office/drawing/2014/main" id="{53AEB797-00F8-4BC7-B347-B65CA0549341}"/>
              </a:ext>
            </a:extLst>
          </p:cNvPr>
          <p:cNvGrpSpPr/>
          <p:nvPr/>
        </p:nvGrpSpPr>
        <p:grpSpPr>
          <a:xfrm>
            <a:off x="4001626" y="3334915"/>
            <a:ext cx="117815" cy="119583"/>
            <a:chOff x="5895953" y="2146311"/>
            <a:chExt cx="162010" cy="164441"/>
          </a:xfrm>
        </p:grpSpPr>
        <p:sp>
          <p:nvSpPr>
            <p:cNvPr id="117" name="Freeform 61">
              <a:extLst>
                <a:ext uri="{FF2B5EF4-FFF2-40B4-BE49-F238E27FC236}">
                  <a16:creationId xmlns:a16="http://schemas.microsoft.com/office/drawing/2014/main" id="{55827012-7E42-D2BE-A18E-4DF68F0FE384}"/>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18" name="Freeform 62">
              <a:extLst>
                <a:ext uri="{FF2B5EF4-FFF2-40B4-BE49-F238E27FC236}">
                  <a16:creationId xmlns:a16="http://schemas.microsoft.com/office/drawing/2014/main" id="{CFEFF779-28E4-0090-8D68-BCDFE489CF66}"/>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119" name="Group 170">
            <a:extLst>
              <a:ext uri="{FF2B5EF4-FFF2-40B4-BE49-F238E27FC236}">
                <a16:creationId xmlns:a16="http://schemas.microsoft.com/office/drawing/2014/main" id="{ADDDE2FE-3BF8-CE9C-6EEF-5A560A645D09}"/>
              </a:ext>
            </a:extLst>
          </p:cNvPr>
          <p:cNvGrpSpPr/>
          <p:nvPr/>
        </p:nvGrpSpPr>
        <p:grpSpPr>
          <a:xfrm>
            <a:off x="4001624" y="3795770"/>
            <a:ext cx="117815" cy="119583"/>
            <a:chOff x="5895953" y="2146311"/>
            <a:chExt cx="162010" cy="164441"/>
          </a:xfrm>
        </p:grpSpPr>
        <p:sp>
          <p:nvSpPr>
            <p:cNvPr id="120" name="Freeform 61">
              <a:extLst>
                <a:ext uri="{FF2B5EF4-FFF2-40B4-BE49-F238E27FC236}">
                  <a16:creationId xmlns:a16="http://schemas.microsoft.com/office/drawing/2014/main" id="{F0E0E110-D3C3-727B-0889-8A1B076A1647}"/>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21" name="Freeform 62">
              <a:extLst>
                <a:ext uri="{FF2B5EF4-FFF2-40B4-BE49-F238E27FC236}">
                  <a16:creationId xmlns:a16="http://schemas.microsoft.com/office/drawing/2014/main" id="{AFD1BA36-D137-F160-3557-3BD41B3DB746}"/>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122" name="Group 170">
            <a:extLst>
              <a:ext uri="{FF2B5EF4-FFF2-40B4-BE49-F238E27FC236}">
                <a16:creationId xmlns:a16="http://schemas.microsoft.com/office/drawing/2014/main" id="{D711EEE6-1EE1-9118-038D-988211BB20B8}"/>
              </a:ext>
            </a:extLst>
          </p:cNvPr>
          <p:cNvGrpSpPr/>
          <p:nvPr/>
        </p:nvGrpSpPr>
        <p:grpSpPr>
          <a:xfrm>
            <a:off x="4005069" y="2432880"/>
            <a:ext cx="117815" cy="119583"/>
            <a:chOff x="5895953" y="2146311"/>
            <a:chExt cx="162010" cy="164441"/>
          </a:xfrm>
        </p:grpSpPr>
        <p:sp>
          <p:nvSpPr>
            <p:cNvPr id="123" name="Freeform 61">
              <a:extLst>
                <a:ext uri="{FF2B5EF4-FFF2-40B4-BE49-F238E27FC236}">
                  <a16:creationId xmlns:a16="http://schemas.microsoft.com/office/drawing/2014/main" id="{E4D5C6A0-78DA-CE74-A42F-B0C1EED6F77A}"/>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124" name="Freeform 62">
              <a:extLst>
                <a:ext uri="{FF2B5EF4-FFF2-40B4-BE49-F238E27FC236}">
                  <a16:creationId xmlns:a16="http://schemas.microsoft.com/office/drawing/2014/main" id="{44ACE48D-A1CF-F6C3-07F0-5EC8A94A600E}"/>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solidFill>
              <a:schemeClr val="tx2"/>
            </a:solidFill>
            <a:ln w="6350">
              <a:solidFill>
                <a:schemeClr val="tx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
        <p:nvSpPr>
          <p:cNvPr id="126" name="Rectangle 125">
            <a:extLst>
              <a:ext uri="{FF2B5EF4-FFF2-40B4-BE49-F238E27FC236}">
                <a16:creationId xmlns:a16="http://schemas.microsoft.com/office/drawing/2014/main" id="{30BD54C2-A8A0-3639-1B53-B2A23DAEF8E7}"/>
              </a:ext>
            </a:extLst>
          </p:cNvPr>
          <p:cNvSpPr/>
          <p:nvPr/>
        </p:nvSpPr>
        <p:spPr>
          <a:xfrm>
            <a:off x="6190942" y="1854077"/>
            <a:ext cx="2395458"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sp>
        <p:nvSpPr>
          <p:cNvPr id="127" name="Rectangle 126">
            <a:extLst>
              <a:ext uri="{FF2B5EF4-FFF2-40B4-BE49-F238E27FC236}">
                <a16:creationId xmlns:a16="http://schemas.microsoft.com/office/drawing/2014/main" id="{1C2E5F2B-1979-A6F2-A035-ED0983B30232}"/>
              </a:ext>
            </a:extLst>
          </p:cNvPr>
          <p:cNvSpPr/>
          <p:nvPr/>
        </p:nvSpPr>
        <p:spPr>
          <a:xfrm>
            <a:off x="6202091" y="2310783"/>
            <a:ext cx="2940686" cy="130805"/>
          </a:xfrm>
          <a:prstGeom prst="rect">
            <a:avLst/>
          </a:prstGeom>
        </p:spPr>
        <p:txBody>
          <a:bodyPr wrap="square" lIns="0" tIns="0" rIns="0" bIns="0" rtlCol="0">
            <a:spAutoFit/>
          </a:bodyPr>
          <a:lstStyle/>
          <a:p>
            <a:pPr defTabSz="583170" rtl="0">
              <a:spcAft>
                <a:spcPts val="300"/>
              </a:spcAft>
              <a:buClr>
                <a:schemeClr val="accent1"/>
              </a:buClr>
            </a:pPr>
            <a:endParaRPr lang="ru" sz="850" noProof="0" dirty="0"/>
          </a:p>
        </p:txBody>
      </p:sp>
      <p:grpSp>
        <p:nvGrpSpPr>
          <p:cNvPr id="47" name="Group 89">
            <a:extLst>
              <a:ext uri="{FF2B5EF4-FFF2-40B4-BE49-F238E27FC236}">
                <a16:creationId xmlns:a16="http://schemas.microsoft.com/office/drawing/2014/main" id="{BBDE81D9-21C7-BAF5-6F52-96B5ACF20DCB}"/>
              </a:ext>
            </a:extLst>
          </p:cNvPr>
          <p:cNvGrpSpPr/>
          <p:nvPr/>
        </p:nvGrpSpPr>
        <p:grpSpPr>
          <a:xfrm>
            <a:off x="4001626" y="2885750"/>
            <a:ext cx="117815" cy="119583"/>
            <a:chOff x="6580783" y="2157819"/>
            <a:chExt cx="162010" cy="164441"/>
          </a:xfrm>
        </p:grpSpPr>
        <p:sp>
          <p:nvSpPr>
            <p:cNvPr id="48" name="Freeform 27">
              <a:extLst>
                <a:ext uri="{FF2B5EF4-FFF2-40B4-BE49-F238E27FC236}">
                  <a16:creationId xmlns:a16="http://schemas.microsoft.com/office/drawing/2014/main" id="{17984EA5-EB3A-E210-E9EA-3894B6C5ACFB}"/>
                </a:ext>
              </a:extLst>
            </p:cNvPr>
            <p:cNvSpPr>
              <a:spLocks/>
            </p:cNvSpPr>
            <p:nvPr/>
          </p:nvSpPr>
          <p:spPr bwMode="auto">
            <a:xfrm>
              <a:off x="6580783" y="2157819"/>
              <a:ext cx="162010" cy="164441"/>
            </a:xfrm>
            <a:custGeom>
              <a:avLst/>
              <a:gdLst>
                <a:gd name="T0" fmla="*/ 146 w 292"/>
                <a:gd name="T1" fmla="*/ 0 h 293"/>
                <a:gd name="T2" fmla="*/ 0 w 292"/>
                <a:gd name="T3" fmla="*/ 147 h 293"/>
                <a:gd name="T4" fmla="*/ 146 w 292"/>
                <a:gd name="T5" fmla="*/ 293 h 293"/>
                <a:gd name="T6" fmla="*/ 235 w 292"/>
                <a:gd name="T7" fmla="*/ 263 h 293"/>
                <a:gd name="T8" fmla="*/ 236 w 292"/>
                <a:gd name="T9" fmla="*/ 256 h 293"/>
                <a:gd name="T10" fmla="*/ 230 w 292"/>
                <a:gd name="T11" fmla="*/ 255 h 293"/>
                <a:gd name="T12" fmla="*/ 146 w 292"/>
                <a:gd name="T13" fmla="*/ 284 h 293"/>
                <a:gd name="T14" fmla="*/ 9 w 292"/>
                <a:gd name="T15" fmla="*/ 147 h 293"/>
                <a:gd name="T16" fmla="*/ 146 w 292"/>
                <a:gd name="T17" fmla="*/ 10 h 293"/>
                <a:gd name="T18" fmla="*/ 283 w 292"/>
                <a:gd name="T19" fmla="*/ 147 h 293"/>
                <a:gd name="T20" fmla="*/ 260 w 292"/>
                <a:gd name="T21" fmla="*/ 223 h 293"/>
                <a:gd name="T22" fmla="*/ 261 w 292"/>
                <a:gd name="T23" fmla="*/ 230 h 293"/>
                <a:gd name="T24" fmla="*/ 267 w 292"/>
                <a:gd name="T25" fmla="*/ 229 h 293"/>
                <a:gd name="T26" fmla="*/ 292 w 292"/>
                <a:gd name="T27" fmla="*/ 147 h 293"/>
                <a:gd name="T28" fmla="*/ 146 w 292"/>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2" h="293">
                  <a:moveTo>
                    <a:pt x="146" y="0"/>
                  </a:moveTo>
                  <a:cubicBezTo>
                    <a:pt x="65" y="0"/>
                    <a:pt x="0" y="66"/>
                    <a:pt x="0" y="147"/>
                  </a:cubicBezTo>
                  <a:cubicBezTo>
                    <a:pt x="0" y="227"/>
                    <a:pt x="65" y="293"/>
                    <a:pt x="146" y="293"/>
                  </a:cubicBezTo>
                  <a:cubicBezTo>
                    <a:pt x="179" y="293"/>
                    <a:pt x="210" y="283"/>
                    <a:pt x="235" y="263"/>
                  </a:cubicBezTo>
                  <a:cubicBezTo>
                    <a:pt x="237"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8" y="226"/>
                    <a:pt x="259" y="228"/>
                    <a:pt x="261" y="230"/>
                  </a:cubicBezTo>
                  <a:cubicBezTo>
                    <a:pt x="263" y="231"/>
                    <a:pt x="266" y="231"/>
                    <a:pt x="267" y="229"/>
                  </a:cubicBezTo>
                  <a:cubicBezTo>
                    <a:pt x="284" y="204"/>
                    <a:pt x="292" y="176"/>
                    <a:pt x="292" y="147"/>
                  </a:cubicBezTo>
                  <a:cubicBezTo>
                    <a:pt x="292" y="66"/>
                    <a:pt x="227" y="0"/>
                    <a:pt x="146" y="0"/>
                  </a:cubicBezTo>
                  <a:close/>
                </a:path>
              </a:pathLst>
            </a:custGeom>
            <a:solidFill>
              <a:srgbClr val="C00000">
                <a:alpha val="0"/>
              </a:srgbClr>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49" name="Freeform 26">
              <a:extLst>
                <a:ext uri="{FF2B5EF4-FFF2-40B4-BE49-F238E27FC236}">
                  <a16:creationId xmlns:a16="http://schemas.microsoft.com/office/drawing/2014/main" id="{1099AEEE-55AD-1F84-1949-76155015DDFC}"/>
                </a:ext>
              </a:extLst>
            </p:cNvPr>
            <p:cNvSpPr>
              <a:spLocks/>
            </p:cNvSpPr>
            <p:nvPr/>
          </p:nvSpPr>
          <p:spPr bwMode="auto">
            <a:xfrm rot="16200000">
              <a:off x="6625794" y="2219906"/>
              <a:ext cx="71985" cy="40274"/>
            </a:xfrm>
            <a:custGeom>
              <a:avLst/>
              <a:gdLst>
                <a:gd name="T0" fmla="*/ 115 w 117"/>
                <a:gd name="T1" fmla="*/ 40 h 87"/>
                <a:gd name="T2" fmla="*/ 77 w 117"/>
                <a:gd name="T3" fmla="*/ 2 h 87"/>
                <a:gd name="T4" fmla="*/ 70 w 117"/>
                <a:gd name="T5" fmla="*/ 2 h 87"/>
                <a:gd name="T6" fmla="*/ 70 w 117"/>
                <a:gd name="T7" fmla="*/ 8 h 87"/>
                <a:gd name="T8" fmla="*/ 101 w 117"/>
                <a:gd name="T9" fmla="*/ 39 h 87"/>
                <a:gd name="T10" fmla="*/ 4 w 117"/>
                <a:gd name="T11" fmla="*/ 39 h 87"/>
                <a:gd name="T12" fmla="*/ 0 w 117"/>
                <a:gd name="T13" fmla="*/ 44 h 87"/>
                <a:gd name="T14" fmla="*/ 4 w 117"/>
                <a:gd name="T15" fmla="*/ 48 h 87"/>
                <a:gd name="T16" fmla="*/ 101 w 117"/>
                <a:gd name="T17" fmla="*/ 48 h 87"/>
                <a:gd name="T18" fmla="*/ 70 w 117"/>
                <a:gd name="T19" fmla="*/ 79 h 87"/>
                <a:gd name="T20" fmla="*/ 70 w 117"/>
                <a:gd name="T21" fmla="*/ 86 h 87"/>
                <a:gd name="T22" fmla="*/ 73 w 117"/>
                <a:gd name="T23" fmla="*/ 87 h 87"/>
                <a:gd name="T24" fmla="*/ 76 w 117"/>
                <a:gd name="T25" fmla="*/ 86 h 87"/>
                <a:gd name="T26" fmla="*/ 115 w 117"/>
                <a:gd name="T27" fmla="*/ 47 h 87"/>
                <a:gd name="T28" fmla="*/ 117 w 117"/>
                <a:gd name="T29" fmla="*/ 44 h 87"/>
                <a:gd name="T30" fmla="*/ 117 w 117"/>
                <a:gd name="T31" fmla="*/ 44 h 87"/>
                <a:gd name="T32" fmla="*/ 115 w 117"/>
                <a:gd name="T33"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87">
                  <a:moveTo>
                    <a:pt x="115" y="40"/>
                  </a:moveTo>
                  <a:cubicBezTo>
                    <a:pt x="77" y="2"/>
                    <a:pt x="77" y="2"/>
                    <a:pt x="77" y="2"/>
                  </a:cubicBezTo>
                  <a:cubicBezTo>
                    <a:pt x="75" y="0"/>
                    <a:pt x="72" y="0"/>
                    <a:pt x="70" y="2"/>
                  </a:cubicBezTo>
                  <a:cubicBezTo>
                    <a:pt x="68" y="3"/>
                    <a:pt x="68" y="6"/>
                    <a:pt x="70" y="8"/>
                  </a:cubicBezTo>
                  <a:cubicBezTo>
                    <a:pt x="101" y="39"/>
                    <a:pt x="101" y="39"/>
                    <a:pt x="101" y="39"/>
                  </a:cubicBezTo>
                  <a:cubicBezTo>
                    <a:pt x="4" y="39"/>
                    <a:pt x="4" y="39"/>
                    <a:pt x="4" y="39"/>
                  </a:cubicBezTo>
                  <a:cubicBezTo>
                    <a:pt x="2" y="39"/>
                    <a:pt x="0" y="41"/>
                    <a:pt x="0" y="44"/>
                  </a:cubicBezTo>
                  <a:cubicBezTo>
                    <a:pt x="0" y="46"/>
                    <a:pt x="2" y="48"/>
                    <a:pt x="4" y="48"/>
                  </a:cubicBezTo>
                  <a:cubicBezTo>
                    <a:pt x="101" y="48"/>
                    <a:pt x="101" y="48"/>
                    <a:pt x="101" y="48"/>
                  </a:cubicBezTo>
                  <a:cubicBezTo>
                    <a:pt x="70" y="79"/>
                    <a:pt x="70" y="79"/>
                    <a:pt x="70" y="79"/>
                  </a:cubicBezTo>
                  <a:cubicBezTo>
                    <a:pt x="68" y="81"/>
                    <a:pt x="68" y="84"/>
                    <a:pt x="70" y="86"/>
                  </a:cubicBezTo>
                  <a:cubicBezTo>
                    <a:pt x="71" y="87"/>
                    <a:pt x="72" y="87"/>
                    <a:pt x="73" y="87"/>
                  </a:cubicBezTo>
                  <a:cubicBezTo>
                    <a:pt x="74" y="87"/>
                    <a:pt x="75" y="87"/>
                    <a:pt x="76" y="86"/>
                  </a:cubicBezTo>
                  <a:cubicBezTo>
                    <a:pt x="115" y="47"/>
                    <a:pt x="115" y="47"/>
                    <a:pt x="115" y="47"/>
                  </a:cubicBezTo>
                  <a:cubicBezTo>
                    <a:pt x="116" y="47"/>
                    <a:pt x="117" y="45"/>
                    <a:pt x="117" y="44"/>
                  </a:cubicBezTo>
                  <a:cubicBezTo>
                    <a:pt x="117" y="44"/>
                    <a:pt x="117" y="44"/>
                    <a:pt x="117" y="44"/>
                  </a:cubicBezTo>
                  <a:cubicBezTo>
                    <a:pt x="117" y="42"/>
                    <a:pt x="116" y="41"/>
                    <a:pt x="115" y="40"/>
                  </a:cubicBezTo>
                  <a:close/>
                </a:path>
              </a:pathLst>
            </a:custGeom>
            <a:solidFill>
              <a:schemeClr val="accent6"/>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grpSp>
        <p:nvGrpSpPr>
          <p:cNvPr id="50" name="Group 89">
            <a:extLst>
              <a:ext uri="{FF2B5EF4-FFF2-40B4-BE49-F238E27FC236}">
                <a16:creationId xmlns:a16="http://schemas.microsoft.com/office/drawing/2014/main" id="{BBDE81D9-21C7-BAF5-6F52-96B5ACF20DCB}"/>
              </a:ext>
            </a:extLst>
          </p:cNvPr>
          <p:cNvGrpSpPr/>
          <p:nvPr/>
        </p:nvGrpSpPr>
        <p:grpSpPr>
          <a:xfrm>
            <a:off x="2517597" y="2885750"/>
            <a:ext cx="117815" cy="119583"/>
            <a:chOff x="6580783" y="2157819"/>
            <a:chExt cx="162010" cy="164441"/>
          </a:xfrm>
        </p:grpSpPr>
        <p:sp>
          <p:nvSpPr>
            <p:cNvPr id="51" name="Freeform 27">
              <a:extLst>
                <a:ext uri="{FF2B5EF4-FFF2-40B4-BE49-F238E27FC236}">
                  <a16:creationId xmlns:a16="http://schemas.microsoft.com/office/drawing/2014/main" id="{17984EA5-EB3A-E210-E9EA-3894B6C5ACFB}"/>
                </a:ext>
              </a:extLst>
            </p:cNvPr>
            <p:cNvSpPr>
              <a:spLocks/>
            </p:cNvSpPr>
            <p:nvPr/>
          </p:nvSpPr>
          <p:spPr bwMode="auto">
            <a:xfrm>
              <a:off x="6580783" y="2157819"/>
              <a:ext cx="162010" cy="164441"/>
            </a:xfrm>
            <a:custGeom>
              <a:avLst/>
              <a:gdLst>
                <a:gd name="T0" fmla="*/ 146 w 292"/>
                <a:gd name="T1" fmla="*/ 0 h 293"/>
                <a:gd name="T2" fmla="*/ 0 w 292"/>
                <a:gd name="T3" fmla="*/ 147 h 293"/>
                <a:gd name="T4" fmla="*/ 146 w 292"/>
                <a:gd name="T5" fmla="*/ 293 h 293"/>
                <a:gd name="T6" fmla="*/ 235 w 292"/>
                <a:gd name="T7" fmla="*/ 263 h 293"/>
                <a:gd name="T8" fmla="*/ 236 w 292"/>
                <a:gd name="T9" fmla="*/ 256 h 293"/>
                <a:gd name="T10" fmla="*/ 230 w 292"/>
                <a:gd name="T11" fmla="*/ 255 h 293"/>
                <a:gd name="T12" fmla="*/ 146 w 292"/>
                <a:gd name="T13" fmla="*/ 284 h 293"/>
                <a:gd name="T14" fmla="*/ 9 w 292"/>
                <a:gd name="T15" fmla="*/ 147 h 293"/>
                <a:gd name="T16" fmla="*/ 146 w 292"/>
                <a:gd name="T17" fmla="*/ 10 h 293"/>
                <a:gd name="T18" fmla="*/ 283 w 292"/>
                <a:gd name="T19" fmla="*/ 147 h 293"/>
                <a:gd name="T20" fmla="*/ 260 w 292"/>
                <a:gd name="T21" fmla="*/ 223 h 293"/>
                <a:gd name="T22" fmla="*/ 261 w 292"/>
                <a:gd name="T23" fmla="*/ 230 h 293"/>
                <a:gd name="T24" fmla="*/ 267 w 292"/>
                <a:gd name="T25" fmla="*/ 229 h 293"/>
                <a:gd name="T26" fmla="*/ 292 w 292"/>
                <a:gd name="T27" fmla="*/ 147 h 293"/>
                <a:gd name="T28" fmla="*/ 146 w 292"/>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2" h="293">
                  <a:moveTo>
                    <a:pt x="146" y="0"/>
                  </a:moveTo>
                  <a:cubicBezTo>
                    <a:pt x="65" y="0"/>
                    <a:pt x="0" y="66"/>
                    <a:pt x="0" y="147"/>
                  </a:cubicBezTo>
                  <a:cubicBezTo>
                    <a:pt x="0" y="227"/>
                    <a:pt x="65" y="293"/>
                    <a:pt x="146" y="293"/>
                  </a:cubicBezTo>
                  <a:cubicBezTo>
                    <a:pt x="179" y="293"/>
                    <a:pt x="210" y="283"/>
                    <a:pt x="235" y="263"/>
                  </a:cubicBezTo>
                  <a:cubicBezTo>
                    <a:pt x="237"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8" y="226"/>
                    <a:pt x="259" y="228"/>
                    <a:pt x="261" y="230"/>
                  </a:cubicBezTo>
                  <a:cubicBezTo>
                    <a:pt x="263" y="231"/>
                    <a:pt x="266" y="231"/>
                    <a:pt x="267" y="229"/>
                  </a:cubicBezTo>
                  <a:cubicBezTo>
                    <a:pt x="284" y="204"/>
                    <a:pt x="292" y="176"/>
                    <a:pt x="292" y="147"/>
                  </a:cubicBezTo>
                  <a:cubicBezTo>
                    <a:pt x="292" y="66"/>
                    <a:pt x="227" y="0"/>
                    <a:pt x="146" y="0"/>
                  </a:cubicBezTo>
                  <a:close/>
                </a:path>
              </a:pathLst>
            </a:custGeom>
            <a:solidFill>
              <a:srgbClr val="C00000">
                <a:alpha val="0"/>
              </a:srgbClr>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sp>
          <p:nvSpPr>
            <p:cNvPr id="52" name="Freeform 26">
              <a:extLst>
                <a:ext uri="{FF2B5EF4-FFF2-40B4-BE49-F238E27FC236}">
                  <a16:creationId xmlns:a16="http://schemas.microsoft.com/office/drawing/2014/main" id="{1099AEEE-55AD-1F84-1949-76155015DDFC}"/>
                </a:ext>
              </a:extLst>
            </p:cNvPr>
            <p:cNvSpPr>
              <a:spLocks/>
            </p:cNvSpPr>
            <p:nvPr/>
          </p:nvSpPr>
          <p:spPr bwMode="auto">
            <a:xfrm rot="16200000">
              <a:off x="6625794" y="2219906"/>
              <a:ext cx="71985" cy="40274"/>
            </a:xfrm>
            <a:custGeom>
              <a:avLst/>
              <a:gdLst>
                <a:gd name="T0" fmla="*/ 115 w 117"/>
                <a:gd name="T1" fmla="*/ 40 h 87"/>
                <a:gd name="T2" fmla="*/ 77 w 117"/>
                <a:gd name="T3" fmla="*/ 2 h 87"/>
                <a:gd name="T4" fmla="*/ 70 w 117"/>
                <a:gd name="T5" fmla="*/ 2 h 87"/>
                <a:gd name="T6" fmla="*/ 70 w 117"/>
                <a:gd name="T7" fmla="*/ 8 h 87"/>
                <a:gd name="T8" fmla="*/ 101 w 117"/>
                <a:gd name="T9" fmla="*/ 39 h 87"/>
                <a:gd name="T10" fmla="*/ 4 w 117"/>
                <a:gd name="T11" fmla="*/ 39 h 87"/>
                <a:gd name="T12" fmla="*/ 0 w 117"/>
                <a:gd name="T13" fmla="*/ 44 h 87"/>
                <a:gd name="T14" fmla="*/ 4 w 117"/>
                <a:gd name="T15" fmla="*/ 48 h 87"/>
                <a:gd name="T16" fmla="*/ 101 w 117"/>
                <a:gd name="T17" fmla="*/ 48 h 87"/>
                <a:gd name="T18" fmla="*/ 70 w 117"/>
                <a:gd name="T19" fmla="*/ 79 h 87"/>
                <a:gd name="T20" fmla="*/ 70 w 117"/>
                <a:gd name="T21" fmla="*/ 86 h 87"/>
                <a:gd name="T22" fmla="*/ 73 w 117"/>
                <a:gd name="T23" fmla="*/ 87 h 87"/>
                <a:gd name="T24" fmla="*/ 76 w 117"/>
                <a:gd name="T25" fmla="*/ 86 h 87"/>
                <a:gd name="T26" fmla="*/ 115 w 117"/>
                <a:gd name="T27" fmla="*/ 47 h 87"/>
                <a:gd name="T28" fmla="*/ 117 w 117"/>
                <a:gd name="T29" fmla="*/ 44 h 87"/>
                <a:gd name="T30" fmla="*/ 117 w 117"/>
                <a:gd name="T31" fmla="*/ 44 h 87"/>
                <a:gd name="T32" fmla="*/ 115 w 117"/>
                <a:gd name="T33" fmla="*/ 4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87">
                  <a:moveTo>
                    <a:pt x="115" y="40"/>
                  </a:moveTo>
                  <a:cubicBezTo>
                    <a:pt x="77" y="2"/>
                    <a:pt x="77" y="2"/>
                    <a:pt x="77" y="2"/>
                  </a:cubicBezTo>
                  <a:cubicBezTo>
                    <a:pt x="75" y="0"/>
                    <a:pt x="72" y="0"/>
                    <a:pt x="70" y="2"/>
                  </a:cubicBezTo>
                  <a:cubicBezTo>
                    <a:pt x="68" y="3"/>
                    <a:pt x="68" y="6"/>
                    <a:pt x="70" y="8"/>
                  </a:cubicBezTo>
                  <a:cubicBezTo>
                    <a:pt x="101" y="39"/>
                    <a:pt x="101" y="39"/>
                    <a:pt x="101" y="39"/>
                  </a:cubicBezTo>
                  <a:cubicBezTo>
                    <a:pt x="4" y="39"/>
                    <a:pt x="4" y="39"/>
                    <a:pt x="4" y="39"/>
                  </a:cubicBezTo>
                  <a:cubicBezTo>
                    <a:pt x="2" y="39"/>
                    <a:pt x="0" y="41"/>
                    <a:pt x="0" y="44"/>
                  </a:cubicBezTo>
                  <a:cubicBezTo>
                    <a:pt x="0" y="46"/>
                    <a:pt x="2" y="48"/>
                    <a:pt x="4" y="48"/>
                  </a:cubicBezTo>
                  <a:cubicBezTo>
                    <a:pt x="101" y="48"/>
                    <a:pt x="101" y="48"/>
                    <a:pt x="101" y="48"/>
                  </a:cubicBezTo>
                  <a:cubicBezTo>
                    <a:pt x="70" y="79"/>
                    <a:pt x="70" y="79"/>
                    <a:pt x="70" y="79"/>
                  </a:cubicBezTo>
                  <a:cubicBezTo>
                    <a:pt x="68" y="81"/>
                    <a:pt x="68" y="84"/>
                    <a:pt x="70" y="86"/>
                  </a:cubicBezTo>
                  <a:cubicBezTo>
                    <a:pt x="71" y="87"/>
                    <a:pt x="72" y="87"/>
                    <a:pt x="73" y="87"/>
                  </a:cubicBezTo>
                  <a:cubicBezTo>
                    <a:pt x="74" y="87"/>
                    <a:pt x="75" y="87"/>
                    <a:pt x="76" y="86"/>
                  </a:cubicBezTo>
                  <a:cubicBezTo>
                    <a:pt x="115" y="47"/>
                    <a:pt x="115" y="47"/>
                    <a:pt x="115" y="47"/>
                  </a:cubicBezTo>
                  <a:cubicBezTo>
                    <a:pt x="116" y="47"/>
                    <a:pt x="117" y="45"/>
                    <a:pt x="117" y="44"/>
                  </a:cubicBezTo>
                  <a:cubicBezTo>
                    <a:pt x="117" y="44"/>
                    <a:pt x="117" y="44"/>
                    <a:pt x="117" y="44"/>
                  </a:cubicBezTo>
                  <a:cubicBezTo>
                    <a:pt x="117" y="42"/>
                    <a:pt x="116" y="41"/>
                    <a:pt x="115" y="40"/>
                  </a:cubicBezTo>
                  <a:close/>
                </a:path>
              </a:pathLst>
            </a:custGeom>
            <a:solidFill>
              <a:schemeClr val="accent6"/>
            </a:solidFill>
            <a:ln w="6350">
              <a:solidFill>
                <a:srgbClr val="C00000"/>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p>
          </p:txBody>
        </p:sp>
      </p:grpSp>
      <p:sp>
        <p:nvSpPr>
          <p:cNvPr id="53" name="Rectangle: Rounded Corners 14">
            <a:extLst>
              <a:ext uri="{FF2B5EF4-FFF2-40B4-BE49-F238E27FC236}">
                <a16:creationId xmlns:a16="http://schemas.microsoft.com/office/drawing/2014/main" id="{D57EEC49-B21E-D452-BFE2-67929C2FAA65}"/>
              </a:ext>
            </a:extLst>
          </p:cNvPr>
          <p:cNvSpPr/>
          <p:nvPr/>
        </p:nvSpPr>
        <p:spPr>
          <a:xfrm>
            <a:off x="5703841" y="930132"/>
            <a:ext cx="3754438" cy="3244664"/>
          </a:xfrm>
          <a:prstGeom prst="roundRect">
            <a:avLst>
              <a:gd name="adj" fmla="val 549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ru" sz="1200" b="1" noProof="0" dirty="0">
              <a:solidFill>
                <a:schemeClr val="accent1"/>
              </a:solidFill>
            </a:endParaRPr>
          </a:p>
        </p:txBody>
      </p:sp>
      <p:graphicFrame>
        <p:nvGraphicFramePr>
          <p:cNvPr id="54" name="Таблица 53"/>
          <p:cNvGraphicFramePr>
            <a:graphicFrameLocks noGrp="1"/>
          </p:cNvGraphicFramePr>
          <p:nvPr>
            <p:extLst>
              <p:ext uri="{D42A27DB-BD31-4B8C-83A1-F6EECF244321}">
                <p14:modId xmlns:p14="http://schemas.microsoft.com/office/powerpoint/2010/main" val="3593982871"/>
              </p:ext>
            </p:extLst>
          </p:nvPr>
        </p:nvGraphicFramePr>
        <p:xfrm>
          <a:off x="5703842" y="1049228"/>
          <a:ext cx="3754440" cy="2977200"/>
        </p:xfrm>
        <a:graphic>
          <a:graphicData uri="http://schemas.openxmlformats.org/drawingml/2006/table">
            <a:tbl>
              <a:tblPr firstRow="1" bandRow="1">
                <a:tableStyleId>{5C22544A-7EE6-4342-B048-85BDC9FD1C3A}</a:tableStyleId>
              </a:tblPr>
              <a:tblGrid>
                <a:gridCol w="103886">
                  <a:extLst>
                    <a:ext uri="{9D8B030D-6E8A-4147-A177-3AD203B41FA5}">
                      <a16:colId xmlns:a16="http://schemas.microsoft.com/office/drawing/2014/main" val="1207875736"/>
                    </a:ext>
                  </a:extLst>
                </a:gridCol>
                <a:gridCol w="1786662">
                  <a:extLst>
                    <a:ext uri="{9D8B030D-6E8A-4147-A177-3AD203B41FA5}">
                      <a16:colId xmlns:a16="http://schemas.microsoft.com/office/drawing/2014/main" val="1897865945"/>
                    </a:ext>
                  </a:extLst>
                </a:gridCol>
                <a:gridCol w="1099809">
                  <a:extLst>
                    <a:ext uri="{9D8B030D-6E8A-4147-A177-3AD203B41FA5}">
                      <a16:colId xmlns:a16="http://schemas.microsoft.com/office/drawing/2014/main" val="4203262921"/>
                    </a:ext>
                  </a:extLst>
                </a:gridCol>
                <a:gridCol w="764083">
                  <a:extLst>
                    <a:ext uri="{9D8B030D-6E8A-4147-A177-3AD203B41FA5}">
                      <a16:colId xmlns:a16="http://schemas.microsoft.com/office/drawing/2014/main" val="2221159483"/>
                    </a:ext>
                  </a:extLst>
                </a:gridCol>
              </a:tblGrid>
              <a:tr h="360000">
                <a:tc>
                  <a:txBody>
                    <a:bodyPr/>
                    <a:lstStyle/>
                    <a:p>
                      <a:endParaRPr lang="ru-RU" dirty="0"/>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1100" b="1" noProof="0" dirty="0" smtClean="0">
                          <a:solidFill>
                            <a:schemeClr val="accent1"/>
                          </a:solidFill>
                        </a:rPr>
                        <a:t xml:space="preserve">Risks (Mining)</a:t>
                      </a:r>
                      <a:r>
                        <a:rPr lang="ru" sz="1100" b="1" noProof="0" dirty="0" smtClean="0">
                          <a:solidFill>
                            <a:schemeClr val="accent1"/>
                          </a:solidFill>
                        </a:rPr>
                        <a:t/>
                      </a:r>
                      <a:r>
                        <a:rPr lang="en-US" sz="1100" b="1" noProof="0" dirty="0" smtClean="0">
                          <a:solidFill>
                            <a:schemeClr val="accent1"/>
                          </a:solidFill>
                        </a:rPr>
                        <a:t/>
                      </a:r>
                      <a:r>
                        <a:rPr lang="ru" sz="1100" b="1" noProof="0" dirty="0" smtClean="0">
                          <a:solidFill>
                            <a:schemeClr val="accent1"/>
                          </a:solidFill>
                        </a:rPr>
                        <a:t/>
                      </a: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 sz="800" b="1" noProof="0" dirty="0" smtClean="0">
                          <a:solidFill>
                            <a:schemeClr val="tx1"/>
                          </a:solidFill>
                        </a:rPr>
                        <a:t xml:space="preserve">Trend</a:t>
                      </a: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solidFill>
                            <a:schemeClr val="tx1"/>
                          </a:solidFill>
                        </a:rPr>
                        <a:t xml:space="preserve">Exposure</a:t>
                      </a:r>
                      <a:r>
                        <a:rPr lang="ru-RU" sz="800" dirty="0" err="1" smtClean="0">
                          <a:solidFill>
                            <a:schemeClr val="tx1"/>
                          </a:solidFill>
                        </a:rPr>
                        <a:t/>
                      </a:r>
                      <a:endParaRPr lang="ru-RU" sz="800" dirty="0">
                        <a:solidFill>
                          <a:schemeClr val="tx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9241193"/>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t xml:space="preserve">Risk of violation of antimonopoly legislation / competition of the Republic of Kazakhstan</a:t>
                      </a:r>
                      <a:r>
                        <a:rPr lang="ru-RU" sz="800" baseline="0" dirty="0" smtClean="0"/>
                        <a:t/>
                      </a:r>
                      <a:r>
                        <a:rPr lang="ru-RU" sz="800" dirty="0" smtClean="0"/>
                        <a:t/>
                      </a:r>
                      <a:r>
                        <a:rPr lang="ru-RU" sz="800" baseline="0" dirty="0" smtClean="0"/>
                        <a:t/>
                      </a:r>
                      <a:r>
                        <a:rPr lang="ru-RU" sz="800" dirty="0" smtClean="0"/>
                        <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t xml:space="preserve">Low</a:t>
                      </a:r>
                      <a:endParaRPr lang="ru-RU" sz="800" dirty="0"/>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7539416"/>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b="1" dirty="0" smtClean="0">
                          <a:latin typeface="+mn-lt"/>
                        </a:rPr>
                        <a:t xml:space="preserve">Perimeter products*</a:t>
                      </a: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b="1" dirty="0" smtClean="0">
                          <a:latin typeface="+mn-lt"/>
                        </a:rPr>
                        <a:t xml:space="preserve">Amount of possible fine for violation, $ million**</a:t>
                      </a:r>
                      <a:r>
                        <a:rPr lang="en-US" sz="800" b="1" dirty="0" smtClean="0">
                          <a:latin typeface="+mn-lt"/>
                        </a:rPr>
                        <a:t/>
                      </a:r>
                      <a:r>
                        <a:rPr lang="ru-RU" sz="800" b="1" dirty="0" smtClean="0">
                          <a:latin typeface="+mn-lt"/>
                        </a:rPr>
                        <a:t/>
                      </a:r>
                      <a:endParaRPr lang="ru-RU" sz="800" b="1"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b="1" dirty="0" smtClean="0">
                          <a:latin typeface="+mn-lt"/>
                        </a:rPr>
                        <a:t xml:space="preserve">Probability</a:t>
                      </a:r>
                      <a:endParaRPr lang="ru-RU" sz="800" b="1"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2608656"/>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 xml:space="preserve">Energy</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dirty="0">
                          <a:solidFill>
                            <a:srgbClr val="000000"/>
                          </a:solidFill>
                          <a:effectLst/>
                          <a:latin typeface="+mn-lt"/>
                        </a:rPr>
                        <a:t>8,9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 xml:space="preserve">Low</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1558007"/>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 xml:space="preserve">Coal</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dirty="0">
                          <a:solidFill>
                            <a:srgbClr val="000000"/>
                          </a:solidFill>
                          <a:effectLst/>
                          <a:latin typeface="+mn-lt"/>
                        </a:rPr>
                        <a:t>22,8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 xml:space="preserve">Average</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2700212"/>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 xml:space="preserve">Aluminum</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dirty="0">
                          <a:solidFill>
                            <a:srgbClr val="000000"/>
                          </a:solidFill>
                          <a:effectLst/>
                          <a:latin typeface="+mn-lt"/>
                        </a:rPr>
                        <a:t>21,2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 xml:space="preserve">Low</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3446426"/>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 xml:space="preserve">Chromium</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dirty="0">
                          <a:solidFill>
                            <a:srgbClr val="000000"/>
                          </a:solidFill>
                          <a:effectLst/>
                          <a:latin typeface="+mn-lt"/>
                        </a:rPr>
                        <a:t>2,1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 xml:space="preserve">Low</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09051"/>
                  </a:ext>
                </a:extLst>
              </a:tr>
              <a:tr h="360000">
                <a:tc>
                  <a:txBody>
                    <a:bodyPr/>
                    <a:lstStyle/>
                    <a:p>
                      <a:endParaRPr lang="ru-RU" sz="800" dirty="0">
                        <a:solidFill>
                          <a:schemeClr val="accent1"/>
                        </a:solidFill>
                      </a:endParaRPr>
                    </a:p>
                  </a:txBody>
                  <a:tcPr marL="36000" marR="36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latin typeface="+mn-lt"/>
                        </a:rPr>
                        <a:t xml:space="preserve">Iron</a:t>
                      </a:r>
                      <a:endParaRPr lang="ru-RU" sz="800" dirty="0">
                        <a:latin typeface="+mn-lt"/>
                      </a:endParaRPr>
                    </a:p>
                  </a:txBody>
                  <a:tcPr marL="36000" marR="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800" b="0" i="0" u="none" strike="noStrike" dirty="0">
                          <a:solidFill>
                            <a:srgbClr val="000000"/>
                          </a:solidFill>
                          <a:effectLst/>
                          <a:latin typeface="+mn-lt"/>
                        </a:rPr>
                        <a:t>33,4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800" b="0" i="0" u="none" strike="noStrike" dirty="0" smtClean="0">
                          <a:solidFill>
                            <a:srgbClr val="000000"/>
                          </a:solidFill>
                          <a:effectLst/>
                          <a:latin typeface="+mn-lt"/>
                        </a:rPr>
                        <a:t xml:space="preserve">Low</a:t>
                      </a:r>
                      <a:endParaRPr lang="ru-RU" sz="800" b="0" i="0" u="none" strike="noStrike" dirty="0">
                        <a:solidFill>
                          <a:srgbClr val="000000"/>
                        </a:solidFill>
                        <a:effectLst/>
                        <a:latin typeface="+mn-lt"/>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8532440"/>
                  </a:ext>
                </a:extLst>
              </a:tr>
            </a:tbl>
          </a:graphicData>
        </a:graphic>
      </p:graphicFrame>
      <p:sp>
        <p:nvSpPr>
          <p:cNvPr id="55" name="Прямоугольник 54"/>
          <p:cNvSpPr/>
          <p:nvPr/>
        </p:nvSpPr>
        <p:spPr>
          <a:xfrm>
            <a:off x="9956528" y="2140319"/>
            <a:ext cx="1706357" cy="1200329"/>
          </a:xfrm>
          <a:prstGeom prst="rect">
            <a:avLst/>
          </a:prstGeom>
        </p:spPr>
        <p:txBody>
          <a:bodyPr wrap="square">
            <a:spAutoFit/>
          </a:bodyPr>
          <a:lstStyle/>
          <a:p>
            <a:r>
              <a:rPr lang="ru-RU" sz="800" dirty="0" smtClean="0"/>
              <a:t xml:space="preserve">* The market share of some Perimeter enterprises allows them to be recognized as entities occupying a dominant position</a:t>
            </a:r>
            <a:r>
              <a:rPr lang="ru-RU" sz="800" dirty="0"/>
              <a:t/>
            </a:r>
            <a:r>
              <a:rPr lang="ru-RU" sz="800" dirty="0" smtClean="0"/>
              <a:t/>
            </a:r>
          </a:p>
          <a:p>
            <a:pPr marL="171450" indent="-171450">
              <a:buFont typeface="Arial" panose="020B0604020202020204" pitchFamily="34" charset="0"/>
              <a:buChar char="•"/>
            </a:pPr>
            <a:endParaRPr lang="ru-RU" sz="800" dirty="0" smtClean="0"/>
          </a:p>
          <a:p>
            <a:r>
              <a:rPr lang="ru-RU" sz="800" dirty="0" smtClean="0"/>
              <a:t xml:space="preserve">** Sales data for Perimeter Kazakhstan are taken at the actual level for 2024.</a:t>
            </a:r>
            <a:r>
              <a:rPr lang="ru-RU" sz="800" dirty="0"/>
              <a:t/>
            </a:r>
            <a:r>
              <a:rPr lang="ru-RU" sz="800" dirty="0" smtClean="0"/>
              <a:t/>
            </a:r>
            <a:r>
              <a:rPr lang="ru-RU" sz="800" dirty="0"/>
              <a:t/>
            </a:r>
            <a:r>
              <a:rPr lang="ru-RU" sz="800" dirty="0" smtClean="0"/>
              <a:t/>
            </a:r>
            <a:endParaRPr lang="ru-RU" sz="800" dirty="0"/>
          </a:p>
        </p:txBody>
      </p:sp>
      <p:grpSp>
        <p:nvGrpSpPr>
          <p:cNvPr id="128" name="Group 170">
            <a:extLst>
              <a:ext uri="{FF2B5EF4-FFF2-40B4-BE49-F238E27FC236}">
                <a16:creationId xmlns:a16="http://schemas.microsoft.com/office/drawing/2014/main" id="{A4E81771-A433-8293-E464-7746EA8B4783}"/>
              </a:ext>
            </a:extLst>
          </p:cNvPr>
          <p:cNvGrpSpPr/>
          <p:nvPr/>
        </p:nvGrpSpPr>
        <p:grpSpPr>
          <a:xfrm>
            <a:off x="8111740" y="1521990"/>
            <a:ext cx="117815" cy="119583"/>
            <a:chOff x="5895953" y="2146311"/>
            <a:chExt cx="162010" cy="164441"/>
          </a:xfrm>
          <a:solidFill>
            <a:srgbClr val="00BC2D"/>
          </a:solidFill>
        </p:grpSpPr>
        <p:sp>
          <p:nvSpPr>
            <p:cNvPr id="129" name="Freeform 61">
              <a:extLst>
                <a:ext uri="{FF2B5EF4-FFF2-40B4-BE49-F238E27FC236}">
                  <a16:creationId xmlns:a16="http://schemas.microsoft.com/office/drawing/2014/main" id="{6CB74B6C-1512-9C3A-2269-5EBF343B6889}"/>
                </a:ext>
              </a:extLst>
            </p:cNvPr>
            <p:cNvSpPr>
              <a:spLocks/>
            </p:cNvSpPr>
            <p:nvPr/>
          </p:nvSpPr>
          <p:spPr bwMode="auto">
            <a:xfrm>
              <a:off x="5934327" y="2225975"/>
              <a:ext cx="85269" cy="5108"/>
            </a:xfrm>
            <a:custGeom>
              <a:avLst/>
              <a:gdLst>
                <a:gd name="T0" fmla="*/ 5 w 155"/>
                <a:gd name="T1" fmla="*/ 0 h 9"/>
                <a:gd name="T2" fmla="*/ 0 w 155"/>
                <a:gd name="T3" fmla="*/ 5 h 9"/>
                <a:gd name="T4" fmla="*/ 5 w 155"/>
                <a:gd name="T5" fmla="*/ 9 h 9"/>
                <a:gd name="T6" fmla="*/ 150 w 155"/>
                <a:gd name="T7" fmla="*/ 9 h 9"/>
                <a:gd name="T8" fmla="*/ 155 w 155"/>
                <a:gd name="T9" fmla="*/ 5 h 9"/>
                <a:gd name="T10" fmla="*/ 150 w 155"/>
                <a:gd name="T11" fmla="*/ 0 h 9"/>
                <a:gd name="T12" fmla="*/ 5 w 15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5" h="9">
                  <a:moveTo>
                    <a:pt x="5" y="0"/>
                  </a:moveTo>
                  <a:cubicBezTo>
                    <a:pt x="2" y="0"/>
                    <a:pt x="0" y="2"/>
                    <a:pt x="0" y="5"/>
                  </a:cubicBezTo>
                  <a:cubicBezTo>
                    <a:pt x="0" y="7"/>
                    <a:pt x="2" y="9"/>
                    <a:pt x="5" y="9"/>
                  </a:cubicBezTo>
                  <a:cubicBezTo>
                    <a:pt x="150" y="9"/>
                    <a:pt x="150" y="9"/>
                    <a:pt x="150" y="9"/>
                  </a:cubicBezTo>
                  <a:cubicBezTo>
                    <a:pt x="153" y="9"/>
                    <a:pt x="155" y="7"/>
                    <a:pt x="155" y="5"/>
                  </a:cubicBezTo>
                  <a:cubicBezTo>
                    <a:pt x="155" y="2"/>
                    <a:pt x="153" y="0"/>
                    <a:pt x="150" y="0"/>
                  </a:cubicBezTo>
                  <a:lnTo>
                    <a:pt x="5" y="0"/>
                  </a:lnTo>
                  <a:close/>
                </a:path>
              </a:pathLst>
            </a:custGeom>
            <a:grp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solidFill>
                  <a:srgbClr val="00BC2D"/>
                </a:solidFill>
              </a:endParaRPr>
            </a:p>
          </p:txBody>
        </p:sp>
        <p:sp>
          <p:nvSpPr>
            <p:cNvPr id="130" name="Freeform 62">
              <a:extLst>
                <a:ext uri="{FF2B5EF4-FFF2-40B4-BE49-F238E27FC236}">
                  <a16:creationId xmlns:a16="http://schemas.microsoft.com/office/drawing/2014/main" id="{32E4F11F-0F01-9DB6-F42C-5C8603AF6559}"/>
                </a:ext>
              </a:extLst>
            </p:cNvPr>
            <p:cNvSpPr>
              <a:spLocks/>
            </p:cNvSpPr>
            <p:nvPr/>
          </p:nvSpPr>
          <p:spPr bwMode="auto">
            <a:xfrm>
              <a:off x="5895953" y="2146311"/>
              <a:ext cx="162010" cy="164441"/>
            </a:xfrm>
            <a:custGeom>
              <a:avLst/>
              <a:gdLst>
                <a:gd name="T0" fmla="*/ 146 w 293"/>
                <a:gd name="T1" fmla="*/ 0 h 293"/>
                <a:gd name="T2" fmla="*/ 0 w 293"/>
                <a:gd name="T3" fmla="*/ 147 h 293"/>
                <a:gd name="T4" fmla="*/ 146 w 293"/>
                <a:gd name="T5" fmla="*/ 293 h 293"/>
                <a:gd name="T6" fmla="*/ 236 w 293"/>
                <a:gd name="T7" fmla="*/ 263 h 293"/>
                <a:gd name="T8" fmla="*/ 236 w 293"/>
                <a:gd name="T9" fmla="*/ 256 h 293"/>
                <a:gd name="T10" fmla="*/ 230 w 293"/>
                <a:gd name="T11" fmla="*/ 255 h 293"/>
                <a:gd name="T12" fmla="*/ 146 w 293"/>
                <a:gd name="T13" fmla="*/ 284 h 293"/>
                <a:gd name="T14" fmla="*/ 9 w 293"/>
                <a:gd name="T15" fmla="*/ 147 h 293"/>
                <a:gd name="T16" fmla="*/ 146 w 293"/>
                <a:gd name="T17" fmla="*/ 10 h 293"/>
                <a:gd name="T18" fmla="*/ 283 w 293"/>
                <a:gd name="T19" fmla="*/ 147 h 293"/>
                <a:gd name="T20" fmla="*/ 260 w 293"/>
                <a:gd name="T21" fmla="*/ 223 h 293"/>
                <a:gd name="T22" fmla="*/ 261 w 293"/>
                <a:gd name="T23" fmla="*/ 230 h 293"/>
                <a:gd name="T24" fmla="*/ 268 w 293"/>
                <a:gd name="T25" fmla="*/ 229 h 293"/>
                <a:gd name="T26" fmla="*/ 293 w 293"/>
                <a:gd name="T27" fmla="*/ 147 h 293"/>
                <a:gd name="T28" fmla="*/ 146 w 293"/>
                <a:gd name="T2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3">
                  <a:moveTo>
                    <a:pt x="146" y="0"/>
                  </a:moveTo>
                  <a:cubicBezTo>
                    <a:pt x="66" y="0"/>
                    <a:pt x="0" y="66"/>
                    <a:pt x="0" y="147"/>
                  </a:cubicBezTo>
                  <a:cubicBezTo>
                    <a:pt x="0" y="228"/>
                    <a:pt x="66" y="293"/>
                    <a:pt x="146" y="293"/>
                  </a:cubicBezTo>
                  <a:cubicBezTo>
                    <a:pt x="179" y="293"/>
                    <a:pt x="210" y="283"/>
                    <a:pt x="236" y="263"/>
                  </a:cubicBezTo>
                  <a:cubicBezTo>
                    <a:pt x="238" y="261"/>
                    <a:pt x="238" y="258"/>
                    <a:pt x="236" y="256"/>
                  </a:cubicBezTo>
                  <a:cubicBezTo>
                    <a:pt x="235" y="254"/>
                    <a:pt x="232" y="254"/>
                    <a:pt x="230" y="255"/>
                  </a:cubicBezTo>
                  <a:cubicBezTo>
                    <a:pt x="206" y="274"/>
                    <a:pt x="177" y="284"/>
                    <a:pt x="146" y="284"/>
                  </a:cubicBezTo>
                  <a:cubicBezTo>
                    <a:pt x="71" y="284"/>
                    <a:pt x="9" y="222"/>
                    <a:pt x="9" y="147"/>
                  </a:cubicBezTo>
                  <a:cubicBezTo>
                    <a:pt x="9" y="71"/>
                    <a:pt x="71" y="10"/>
                    <a:pt x="146" y="10"/>
                  </a:cubicBezTo>
                  <a:cubicBezTo>
                    <a:pt x="222" y="10"/>
                    <a:pt x="283" y="71"/>
                    <a:pt x="283" y="147"/>
                  </a:cubicBezTo>
                  <a:cubicBezTo>
                    <a:pt x="283" y="174"/>
                    <a:pt x="275" y="201"/>
                    <a:pt x="260" y="223"/>
                  </a:cubicBezTo>
                  <a:cubicBezTo>
                    <a:pt x="259" y="226"/>
                    <a:pt x="259" y="228"/>
                    <a:pt x="261" y="230"/>
                  </a:cubicBezTo>
                  <a:cubicBezTo>
                    <a:pt x="263" y="231"/>
                    <a:pt x="266" y="231"/>
                    <a:pt x="268" y="229"/>
                  </a:cubicBezTo>
                  <a:cubicBezTo>
                    <a:pt x="284" y="204"/>
                    <a:pt x="293" y="176"/>
                    <a:pt x="293" y="147"/>
                  </a:cubicBezTo>
                  <a:cubicBezTo>
                    <a:pt x="293" y="66"/>
                    <a:pt x="227" y="0"/>
                    <a:pt x="146" y="0"/>
                  </a:cubicBezTo>
                  <a:close/>
                </a:path>
              </a:pathLst>
            </a:custGeom>
            <a:grpFill/>
            <a:ln w="6350">
              <a:solidFill>
                <a:srgbClr val="008E22"/>
              </a:solidFill>
              <a:round/>
              <a:headEnd/>
              <a:tailEnd/>
            </a:ln>
          </p:spPr>
          <p:txBody>
            <a:bodyPr vert="horz" wrap="square" lIns="91440" tIns="45720" rIns="91440" bIns="4572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endParaRPr lang="en-US" sz="850" noProof="0" dirty="0">
                <a:solidFill>
                  <a:srgbClr val="00BC2D"/>
                </a:solidFill>
              </a:endParaRPr>
            </a:p>
          </p:txBody>
        </p:sp>
      </p:grpSp>
    </p:spTree>
    <p:extLst>
      <p:ext uri="{BB962C8B-B14F-4D97-AF65-F5344CB8AC3E}">
        <p14:creationId xmlns:p14="http://schemas.microsoft.com/office/powerpoint/2010/main" val="40729483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Rectangle: Rounded Corners 111">
            <a:extLst>
              <a:ext uri="{FF2B5EF4-FFF2-40B4-BE49-F238E27FC236}">
                <a16:creationId xmlns:a16="http://schemas.microsoft.com/office/drawing/2014/main" id="{6C94FA9D-D227-17AC-0E3B-A60DAFCA31FE}"/>
              </a:ext>
            </a:extLst>
          </p:cNvPr>
          <p:cNvSpPr/>
          <p:nvPr/>
        </p:nvSpPr>
        <p:spPr>
          <a:xfrm>
            <a:off x="1869501" y="814812"/>
            <a:ext cx="3499475" cy="3072429"/>
          </a:xfrm>
          <a:prstGeom prst="roundRect">
            <a:avLst>
              <a:gd name="adj" fmla="val 3375"/>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endParaRPr lang="ru" sz="1000" b="1" noProof="0" dirty="0">
              <a:solidFill>
                <a:schemeClr val="accent1"/>
              </a:solidFill>
            </a:endParaRPr>
          </a:p>
        </p:txBody>
      </p:sp>
      <p:sp>
        <p:nvSpPr>
          <p:cNvPr id="191" name="Rectangle: Rounded Corners 190">
            <a:extLst>
              <a:ext uri="{FF2B5EF4-FFF2-40B4-BE49-F238E27FC236}">
                <a16:creationId xmlns:a16="http://schemas.microsoft.com/office/drawing/2014/main" id="{4FB69BF3-5F94-1216-CFA7-283E9AEC1EC9}"/>
              </a:ext>
            </a:extLst>
          </p:cNvPr>
          <p:cNvSpPr/>
          <p:nvPr/>
        </p:nvSpPr>
        <p:spPr>
          <a:xfrm>
            <a:off x="317501" y="805990"/>
            <a:ext cx="1391400" cy="3072430"/>
          </a:xfrm>
          <a:prstGeom prst="roundRect">
            <a:avLst>
              <a:gd name="adj" fmla="val 9662"/>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rIns="0" bIns="72000" rtlCol="0" anchor="t"/>
          <a:lstStyle/>
          <a:p>
            <a:r>
              <a:rPr lang="ru-RU" sz="1000" b="1" dirty="0" smtClean="0">
                <a:solidFill>
                  <a:schemeClr val="tx1"/>
                </a:solidFill>
              </a:rPr>
              <a:t xml:space="preserve">Policy coverage rate (%)</a:t>
            </a:r>
            <a:r>
              <a:rPr lang="en-US" sz="1000" b="1" dirty="0" smtClean="0">
                <a:solidFill>
                  <a:schemeClr val="tx1"/>
                </a:solidFill>
              </a:rPr>
              <a:t/>
            </a:r>
            <a:endParaRPr lang="ru-RU" sz="1000" b="1" dirty="0" smtClean="0">
              <a:solidFill>
                <a:schemeClr val="tx1"/>
              </a:solidFill>
            </a:endParaRPr>
          </a:p>
          <a:p>
            <a:r>
              <a:rPr lang="ru-RU" sz="1000" noProof="0" dirty="0" smtClean="0">
                <a:solidFill>
                  <a:schemeClr val="tx1"/>
                </a:solidFill>
              </a:rPr>
              <a:t xml:space="preserve">1 sq. – 98%</a:t>
            </a:r>
          </a:p>
          <a:p>
            <a:r>
              <a:rPr lang="ru-RU" sz="1000" dirty="0" smtClean="0">
                <a:solidFill>
                  <a:schemeClr val="tx1"/>
                </a:solidFill>
              </a:rPr>
              <a:t xml:space="preserve">2 sq. – 100%</a:t>
            </a:r>
          </a:p>
          <a:p>
            <a:r>
              <a:rPr lang="ru-RU" sz="1000" noProof="0" dirty="0" smtClean="0">
                <a:solidFill>
                  <a:schemeClr val="tx1"/>
                </a:solidFill>
              </a:rPr>
              <a:t xml:space="preserve">3 sq. – 100%</a:t>
            </a:r>
          </a:p>
          <a:p>
            <a:r>
              <a:rPr lang="ru-RU" sz="1000" dirty="0" smtClean="0">
                <a:solidFill>
                  <a:schemeClr val="tx1"/>
                </a:solidFill>
              </a:rPr>
              <a:t xml:space="preserve">4 sq. – 95.92%</a:t>
            </a:r>
            <a:endParaRPr lang="ru" sz="1000" noProof="0" dirty="0">
              <a:solidFill>
                <a:schemeClr val="accent1"/>
              </a:solidFill>
            </a:endParaRPr>
          </a:p>
        </p:txBody>
      </p:sp>
      <p:graphicFrame>
        <p:nvGraphicFramePr>
          <p:cNvPr id="13" name="Object 12"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7843" name="think-cell Slide" r:id="rId40" imgW="353" imgH="353" progId="TCLayout.ActiveDocument.1">
                  <p:embed/>
                </p:oleObj>
              </mc:Choice>
              <mc:Fallback>
                <p:oleObj name="think-cell Slide" r:id="rId40" imgW="353" imgH="353" progId="TCLayout.ActiveDocument.1">
                  <p:embed/>
                  <p:pic>
                    <p:nvPicPr>
                      <p:cNvPr id="13" name="Object 12" hidden="1"/>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39" name="Rectangle 38" hidden="1"/>
          <p:cNvSpPr/>
          <p:nvPr>
            <p:custDataLst>
              <p:tags r:id="rId3"/>
            </p:custDataLst>
          </p:nvPr>
        </p:nvSpPr>
        <p:spPr>
          <a:xfrm>
            <a:off x="0" y="0"/>
            <a:ext cx="158750" cy="1587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dirty="0">
              <a:solidFill>
                <a:schemeClr val="accent1"/>
              </a:solidFill>
              <a:latin typeface="Arial" panose="020B0604020202020204" pitchFamily="34" charset="0"/>
              <a:ea typeface="+mj-ea"/>
              <a:cs typeface="+mj-cs"/>
              <a:sym typeface="Arial" panose="020B0604020202020204" pitchFamily="34" charset="0"/>
            </a:endParaRPr>
          </a:p>
        </p:txBody>
      </p:sp>
      <p:sp>
        <p:nvSpPr>
          <p:cNvPr id="11" name="Title 10"/>
          <p:cNvSpPr>
            <a:spLocks noGrp="1"/>
          </p:cNvSpPr>
          <p:nvPr>
            <p:ph type="title"/>
          </p:nvPr>
        </p:nvSpPr>
        <p:spPr>
          <a:xfrm>
            <a:off x="317499" y="0"/>
            <a:ext cx="10584209" cy="704850"/>
          </a:xfrm>
        </p:spPr>
        <p:txBody>
          <a:bodyPr/>
          <a:lstStyle/>
          <a:p>
            <a:r>
              <a:rPr lang="ru-RU" dirty="0"/>
              <a:t>Годовой дашборд </a:t>
            </a:r>
            <a:r>
              <a:rPr lang="en-US" dirty="0"/>
              <a:t>2025: </a:t>
            </a:r>
            <a:r>
              <a:rPr lang="ru-RU" dirty="0"/>
              <a:t>Периметр Казахстан</a:t>
            </a:r>
            <a:r>
              <a:rPr lang="en-US" dirty="0"/>
              <a:t/>
            </a:r>
            <a:br>
              <a:rPr lang="en-US" dirty="0"/>
            </a:br>
            <a:r>
              <a:rPr lang="ru-RU" dirty="0">
                <a:solidFill>
                  <a:schemeClr val="tx1"/>
                </a:solidFill>
              </a:rPr>
              <a:t>Краткое изложение</a:t>
            </a:r>
            <a:r>
              <a:rPr lang="en-US" dirty="0" smtClean="0">
                <a:solidFill>
                  <a:schemeClr val="tx1"/>
                </a:solidFill>
              </a:rPr>
              <a:t> </a:t>
            </a:r>
            <a:r>
              <a:rPr lang="en-US" dirty="0">
                <a:solidFill>
                  <a:schemeClr val="tx1"/>
                </a:solidFill>
              </a:rPr>
              <a:t>(2/6)</a:t>
            </a:r>
            <a:endParaRPr lang="en-US" dirty="0"/>
          </a:p>
        </p:txBody>
      </p:sp>
      <p:cxnSp>
        <p:nvCxnSpPr>
          <p:cNvPr id="6" name="Straight Connector 5"/>
          <p:cNvCxnSpPr/>
          <p:nvPr/>
        </p:nvCxnSpPr>
        <p:spPr>
          <a:xfrm>
            <a:off x="-9427" y="4172575"/>
            <a:ext cx="12192000" cy="0"/>
          </a:xfrm>
          <a:prstGeom prst="line">
            <a:avLst/>
          </a:pr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cxnSp>
      <p:sp>
        <p:nvSpPr>
          <p:cNvPr id="25" name="Text Placeholder 39"/>
          <p:cNvSpPr txBox="1">
            <a:spLocks/>
          </p:cNvSpPr>
          <p:nvPr/>
        </p:nvSpPr>
        <p:spPr>
          <a:xfrm>
            <a:off x="317499" y="4593748"/>
            <a:ext cx="1429109" cy="1846659"/>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7313" indent="-87313">
              <a:lnSpc>
                <a:spcPct val="100000"/>
              </a:lnSpc>
              <a:spcBef>
                <a:spcPts val="0"/>
              </a:spcBef>
              <a:buFont typeface="Arial" panose="020B0604020202020204" pitchFamily="34" charset="0"/>
              <a:buChar char="•"/>
            </a:pPr>
            <a:r>
              <a:rPr lang="ru-RU" sz="800" dirty="0" smtClean="0">
                <a:solidFill>
                  <a:srgbClr val="7030A0"/>
                </a:solidFill>
              </a:rPr>
              <a:t xml:space="preserve">Trends - In Q4 the coverage indicator decreased due to the inclusion of 2 additional enterprises in the Perimeter (Aitu Dala LLP, ERG Beijing).</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err="1">
                <a:solidFill>
                  <a:schemeClr val="tx1"/>
                </a:solidFill>
              </a:rPr>
              <a:t/>
            </a:r>
            <a:r>
              <a:rPr lang="ru-RU" sz="800" dirty="0">
                <a:solidFill>
                  <a:schemeClr val="tx1"/>
                </a:solidFill>
              </a:rPr>
              <a:t/>
            </a:r>
            <a:r>
              <a:rPr lang="ru-RU" sz="800" dirty="0" err="1" smtClean="0">
                <a:solidFill>
                  <a:schemeClr val="tx1"/>
                </a:solidFill>
              </a:rPr>
              <a:t/>
            </a:r>
            <a:r>
              <a:rPr lang="ru-RU" sz="800" dirty="0" smtClean="0">
                <a:solidFill>
                  <a:schemeClr val="tx1"/>
                </a:solidFill>
              </a:rPr>
              <a:t/>
            </a:r>
            <a:r>
              <a:rPr lang="en-US" sz="800" dirty="0" smtClean="0">
                <a:solidFill>
                  <a:schemeClr val="tx1"/>
                </a:solidFill>
              </a:rPr>
              <a:t/>
            </a:r>
            <a:r>
              <a:rPr lang="ru-RU" sz="800" dirty="0" smtClean="0">
                <a:solidFill>
                  <a:schemeClr val="tx1"/>
                </a:solidFill>
              </a:rPr>
              <a:t/>
            </a:r>
          </a:p>
          <a:p>
            <a:pPr marL="87313" indent="-87313">
              <a:lnSpc>
                <a:spcPct val="100000"/>
              </a:lnSpc>
              <a:spcBef>
                <a:spcPts val="0"/>
              </a:spcBef>
              <a:buFont typeface="Arial" panose="020B0604020202020204" pitchFamily="34" charset="0"/>
              <a:buChar char="•"/>
            </a:pPr>
            <a:r>
              <a:rPr lang="ru-RU" sz="800" dirty="0" smtClean="0">
                <a:solidFill>
                  <a:srgbClr val="7030A0"/>
                </a:solidFill>
              </a:rPr>
              <a:t xml:space="preserve">Identified risks - No. no risks identified.</a:t>
            </a:r>
            <a:r>
              <a:rPr lang="ru-RU" sz="800" dirty="0" smtClean="0">
                <a:solidFill>
                  <a:schemeClr val="tx1"/>
                </a:solidFill>
              </a:rPr>
              <a:t/>
            </a:r>
          </a:p>
          <a:p>
            <a:pPr marL="87313" indent="-87313">
              <a:lnSpc>
                <a:spcPct val="100000"/>
              </a:lnSpc>
              <a:spcBef>
                <a:spcPts val="0"/>
              </a:spcBef>
              <a:buFont typeface="Arial" panose="020B0604020202020204" pitchFamily="34" charset="0"/>
              <a:buChar char="•"/>
            </a:pPr>
            <a:r>
              <a:rPr lang="ru-RU" sz="800" dirty="0" smtClean="0">
                <a:solidFill>
                  <a:srgbClr val="7030A0"/>
                </a:solidFill>
              </a:rPr>
              <a:t xml:space="preserve">Impact on Perimeter Annual Program/Lessons - Not identified. Implemented at Aitu Dala LLP in January 2026, at ERG Beijing - in the process of implementation.</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err="1">
                <a:solidFill>
                  <a:schemeClr val="tx1"/>
                </a:solidFill>
              </a:rPr>
              <a:t/>
            </a:r>
            <a:r>
              <a:rPr lang="ru-RU" sz="800" dirty="0">
                <a:solidFill>
                  <a:schemeClr val="tx1"/>
                </a:solidFill>
              </a:rPr>
              <a:t/>
            </a:r>
            <a:r>
              <a:rPr lang="ru-RU" sz="800" dirty="0" err="1">
                <a:solidFill>
                  <a:schemeClr val="tx1"/>
                </a:solidFill>
              </a:rPr>
              <a:t/>
            </a:r>
            <a:r>
              <a:rPr lang="ru-RU" sz="800" dirty="0" smtClean="0">
                <a:solidFill>
                  <a:schemeClr val="tx1"/>
                </a:solidFill>
              </a:rPr>
              <a:t/>
            </a:r>
            <a:r>
              <a:rPr lang="ru-RU" sz="800" dirty="0">
                <a:solidFill>
                  <a:schemeClr val="tx1"/>
                </a:solidFill>
              </a:rPr>
              <a:t/>
            </a:r>
            <a:r>
              <a:rPr lang="ru-RU" sz="800" dirty="0" err="1">
                <a:solidFill>
                  <a:schemeClr val="tx1"/>
                </a:solidFill>
              </a:rPr>
              <a:t/>
            </a:r>
            <a:r>
              <a:rPr lang="ru-RU" sz="800" dirty="0">
                <a:solidFill>
                  <a:schemeClr val="tx1"/>
                </a:solidFill>
              </a:rPr>
              <a:t/>
            </a:r>
            <a:r>
              <a:rPr lang="ru-RU" sz="800" dirty="0" smtClean="0">
                <a:solidFill>
                  <a:schemeClr val="tx1"/>
                </a:solidFill>
              </a:rPr>
              <a:t/>
            </a:r>
            <a:endParaRPr lang="ru-RU" sz="800" dirty="0">
              <a:solidFill>
                <a:schemeClr val="tx1"/>
              </a:solidFill>
            </a:endParaRPr>
          </a:p>
        </p:txBody>
      </p:sp>
      <p:sp>
        <p:nvSpPr>
          <p:cNvPr id="26" name="Text Placeholder 39"/>
          <p:cNvSpPr txBox="1">
            <a:spLocks/>
          </p:cNvSpPr>
          <p:nvPr/>
        </p:nvSpPr>
        <p:spPr>
          <a:xfrm>
            <a:off x="370835" y="3957131"/>
            <a:ext cx="1253009" cy="430887"/>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 xml:space="preserve">Policies and procedures</a:t>
            </a:r>
            <a:endParaRPr lang="en-US" sz="1400" dirty="0">
              <a:solidFill>
                <a:srgbClr val="7030A0"/>
              </a:solidFill>
            </a:endParaRPr>
          </a:p>
        </p:txBody>
      </p:sp>
      <p:sp>
        <p:nvSpPr>
          <p:cNvPr id="28" name="Text Placeholder 39"/>
          <p:cNvSpPr txBox="1">
            <a:spLocks/>
          </p:cNvSpPr>
          <p:nvPr/>
        </p:nvSpPr>
        <p:spPr>
          <a:xfrm>
            <a:off x="3247133" y="4068923"/>
            <a:ext cx="712123"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 xml:space="preserve">PDA</a:t>
            </a:r>
            <a:endParaRPr lang="en-US" sz="1400" dirty="0">
              <a:solidFill>
                <a:srgbClr val="7030A0"/>
              </a:solidFill>
            </a:endParaRPr>
          </a:p>
        </p:txBody>
      </p:sp>
      <p:sp>
        <p:nvSpPr>
          <p:cNvPr id="2" name="Text Placeholder 39">
            <a:extLst>
              <a:ext uri="{FF2B5EF4-FFF2-40B4-BE49-F238E27FC236}">
                <a16:creationId xmlns:a16="http://schemas.microsoft.com/office/drawing/2014/main" id="{43FABD38-CB66-D468-13CC-544F4C1C2CDA}"/>
              </a:ext>
            </a:extLst>
          </p:cNvPr>
          <p:cNvSpPr txBox="1">
            <a:spLocks/>
          </p:cNvSpPr>
          <p:nvPr/>
        </p:nvSpPr>
        <p:spPr>
          <a:xfrm>
            <a:off x="436933" y="2104509"/>
            <a:ext cx="1045159"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RU" sz="2400" noProof="0" dirty="0" smtClean="0">
                <a:solidFill>
                  <a:schemeClr val="accent1"/>
                </a:solidFill>
              </a:rPr>
              <a:t>98,48</a:t>
            </a:r>
            <a:r>
              <a:rPr lang="en-US" sz="2400" noProof="0" dirty="0" smtClean="0">
                <a:solidFill>
                  <a:schemeClr val="accent1"/>
                </a:solidFill>
              </a:rPr>
              <a:t>%</a:t>
            </a:r>
            <a:endParaRPr lang="ru" sz="2400" noProof="0" dirty="0">
              <a:solidFill>
                <a:schemeClr val="accent1"/>
              </a:solidFill>
            </a:endParaRPr>
          </a:p>
        </p:txBody>
      </p:sp>
      <p:sp>
        <p:nvSpPr>
          <p:cNvPr id="114" name="Rectangle: Rounded Corners 113">
            <a:extLst>
              <a:ext uri="{FF2B5EF4-FFF2-40B4-BE49-F238E27FC236}">
                <a16:creationId xmlns:a16="http://schemas.microsoft.com/office/drawing/2014/main" id="{1F76EE19-5054-3D0C-F43E-2B7BC81931CC}"/>
              </a:ext>
            </a:extLst>
          </p:cNvPr>
          <p:cNvSpPr/>
          <p:nvPr/>
        </p:nvSpPr>
        <p:spPr>
          <a:xfrm>
            <a:off x="5489087" y="2878508"/>
            <a:ext cx="6275889" cy="992053"/>
          </a:xfrm>
          <a:prstGeom prst="roundRect">
            <a:avLst>
              <a:gd name="adj" fmla="val 10528"/>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ctr"/>
          <a:lstStyle/>
          <a:p>
            <a:r>
              <a:rPr lang="ru" sz="1000" b="1" dirty="0">
                <a:solidFill>
                  <a:schemeClr val="tx1"/>
                </a:solidFill>
              </a:rPr>
              <a:t>Самотестирование </a:t>
            </a:r>
            <a:r>
              <a:rPr lang="ru" sz="1000" b="1" dirty="0" smtClean="0">
                <a:solidFill>
                  <a:schemeClr val="tx1"/>
                </a:solidFill>
              </a:rPr>
              <a:t>КЛ</a:t>
            </a:r>
            <a:r>
              <a:rPr lang="en-US" sz="1000" b="1" dirty="0">
                <a:solidFill>
                  <a:schemeClr val="tx1"/>
                </a:solidFill>
              </a:rPr>
              <a:t/>
            </a:r>
            <a:br>
              <a:rPr lang="en-US" sz="1000" b="1" dirty="0">
                <a:solidFill>
                  <a:schemeClr val="tx1"/>
                </a:solidFill>
              </a:rPr>
            </a:br>
            <a:r>
              <a:rPr lang="ru-RU" sz="1000" b="1" dirty="0">
                <a:solidFill>
                  <a:schemeClr val="tx1"/>
                </a:solidFill>
              </a:rPr>
              <a:t>Несоответствие критериям</a:t>
            </a:r>
          </a:p>
          <a:p>
            <a:r>
              <a:rPr lang="ru-RU" sz="1000" b="1" dirty="0">
                <a:solidFill>
                  <a:schemeClr val="tx1"/>
                </a:solidFill>
              </a:rPr>
              <a:t xml:space="preserve">CL vs general</a:t>
            </a:r>
            <a:r>
              <a:rPr lang="en-US" sz="1000" b="1" i="1" dirty="0">
                <a:solidFill>
                  <a:schemeClr val="tx1"/>
                </a:solidFill>
              </a:rPr>
              <a:t/>
            </a:r>
            <a:r>
              <a:rPr lang="ru" sz="1000" b="1" dirty="0">
                <a:solidFill>
                  <a:schemeClr val="tx1"/>
                </a:solidFill>
              </a:rPr>
              <a:t/>
            </a:r>
          </a:p>
          <a:p>
            <a:r>
              <a:rPr lang="ru" sz="1000" b="1" dirty="0">
                <a:solidFill>
                  <a:schemeClr val="tx1"/>
                </a:solidFill>
              </a:rPr>
              <a:t>количество </a:t>
            </a:r>
            <a:r>
              <a:rPr lang="ru" sz="1000" b="1" dirty="0" smtClean="0">
                <a:solidFill>
                  <a:schemeClr val="tx1"/>
                </a:solidFill>
              </a:rPr>
              <a:t>транзакций </a:t>
            </a:r>
            <a:r>
              <a:rPr lang="en-US" sz="1000" b="1" dirty="0">
                <a:solidFill>
                  <a:schemeClr val="tx1"/>
                </a:solidFill>
              </a:rPr>
              <a:t/>
            </a:r>
            <a:br>
              <a:rPr lang="en-US" sz="1000" b="1" dirty="0">
                <a:solidFill>
                  <a:schemeClr val="tx1"/>
                </a:solidFill>
              </a:rPr>
            </a:br>
            <a:r>
              <a:rPr lang="ru" sz="1000" b="1" dirty="0">
                <a:solidFill>
                  <a:schemeClr val="tx1"/>
                </a:solidFill>
              </a:rPr>
              <a:t>и % </a:t>
            </a:r>
            <a:r>
              <a:rPr lang="ru" sz="1000" b="1" dirty="0" smtClean="0">
                <a:solidFill>
                  <a:schemeClr val="tx1"/>
                </a:solidFill>
              </a:rPr>
              <a:t>нарушений</a:t>
            </a:r>
            <a:endParaRPr lang="ru" sz="1000" b="1" dirty="0">
              <a:solidFill>
                <a:schemeClr val="tx1"/>
              </a:solidFill>
            </a:endParaRPr>
          </a:p>
        </p:txBody>
      </p:sp>
      <p:grpSp>
        <p:nvGrpSpPr>
          <p:cNvPr id="132" name="Group 131">
            <a:extLst>
              <a:ext uri="{FF2B5EF4-FFF2-40B4-BE49-F238E27FC236}">
                <a16:creationId xmlns:a16="http://schemas.microsoft.com/office/drawing/2014/main" id="{367662C8-E1BA-3645-B2F6-7E2B8A8B1C5E}"/>
              </a:ext>
            </a:extLst>
          </p:cNvPr>
          <p:cNvGrpSpPr/>
          <p:nvPr/>
        </p:nvGrpSpPr>
        <p:grpSpPr>
          <a:xfrm>
            <a:off x="8156587" y="3026691"/>
            <a:ext cx="1206981" cy="778650"/>
            <a:chOff x="2277025" y="5300585"/>
            <a:chExt cx="1206981" cy="778650"/>
          </a:xfrm>
        </p:grpSpPr>
        <p:grpSp>
          <p:nvGrpSpPr>
            <p:cNvPr id="133" name="Group 132">
              <a:extLst>
                <a:ext uri="{FF2B5EF4-FFF2-40B4-BE49-F238E27FC236}">
                  <a16:creationId xmlns:a16="http://schemas.microsoft.com/office/drawing/2014/main" id="{38E9E53B-6838-F796-E90D-3A2AD6D3919B}"/>
                </a:ext>
              </a:extLst>
            </p:cNvPr>
            <p:cNvGrpSpPr/>
            <p:nvPr/>
          </p:nvGrpSpPr>
          <p:grpSpPr>
            <a:xfrm>
              <a:off x="2797921" y="5300585"/>
              <a:ext cx="686085" cy="778650"/>
              <a:chOff x="2797921" y="5277844"/>
              <a:chExt cx="686085" cy="778650"/>
            </a:xfrm>
          </p:grpSpPr>
          <p:sp>
            <p:nvSpPr>
              <p:cNvPr id="136" name="Text Placeholder 39">
                <a:extLst>
                  <a:ext uri="{FF2B5EF4-FFF2-40B4-BE49-F238E27FC236}">
                    <a16:creationId xmlns:a16="http://schemas.microsoft.com/office/drawing/2014/main" id="{2D4BB264-95D1-FFB8-7101-7EF0724366C8}"/>
                  </a:ext>
                </a:extLst>
              </p:cNvPr>
              <p:cNvSpPr txBox="1">
                <a:spLocks/>
              </p:cNvSpPr>
              <p:nvPr/>
            </p:nvSpPr>
            <p:spPr>
              <a:xfrm>
                <a:off x="2797921" y="5687162"/>
                <a:ext cx="686085"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noProof="0" dirty="0" smtClean="0">
                    <a:solidFill>
                      <a:schemeClr val="accent1"/>
                    </a:solidFill>
                  </a:rPr>
                  <a:t>1429</a:t>
                </a:r>
                <a:endParaRPr lang="ru" sz="2400" noProof="0" dirty="0">
                  <a:solidFill>
                    <a:schemeClr val="accent1"/>
                  </a:solidFill>
                </a:endParaRPr>
              </a:p>
            </p:txBody>
          </p:sp>
          <p:sp>
            <p:nvSpPr>
              <p:cNvPr id="137" name="Text Placeholder 39">
                <a:extLst>
                  <a:ext uri="{FF2B5EF4-FFF2-40B4-BE49-F238E27FC236}">
                    <a16:creationId xmlns:a16="http://schemas.microsoft.com/office/drawing/2014/main" id="{57A42343-A5F0-77FB-69FA-14DEDF6201FF}"/>
                  </a:ext>
                </a:extLst>
              </p:cNvPr>
              <p:cNvSpPr txBox="1">
                <a:spLocks/>
              </p:cNvSpPr>
              <p:nvPr/>
            </p:nvSpPr>
            <p:spPr>
              <a:xfrm>
                <a:off x="2883681" y="5277844"/>
                <a:ext cx="514564"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noProof="0" dirty="0" smtClean="0">
                    <a:solidFill>
                      <a:schemeClr val="accent1"/>
                    </a:solidFill>
                  </a:rPr>
                  <a:t>121</a:t>
                </a:r>
                <a:endParaRPr lang="ru" sz="2400" noProof="0" dirty="0">
                  <a:solidFill>
                    <a:schemeClr val="accent1"/>
                  </a:solidFill>
                </a:endParaRPr>
              </a:p>
            </p:txBody>
          </p:sp>
          <p:cxnSp>
            <p:nvCxnSpPr>
              <p:cNvPr id="138" name="Straight Connector 137">
                <a:extLst>
                  <a:ext uri="{FF2B5EF4-FFF2-40B4-BE49-F238E27FC236}">
                    <a16:creationId xmlns:a16="http://schemas.microsoft.com/office/drawing/2014/main" id="{CD0AC3EF-AAF8-D3DC-8451-C4E99DFE7BAC}"/>
                  </a:ext>
                </a:extLst>
              </p:cNvPr>
              <p:cNvCxnSpPr>
                <a:cxnSpLocks/>
              </p:cNvCxnSpPr>
              <p:nvPr/>
            </p:nvCxnSpPr>
            <p:spPr>
              <a:xfrm>
                <a:off x="2834962" y="5667169"/>
                <a:ext cx="612000" cy="0"/>
              </a:xfrm>
              <a:prstGeom prst="line">
                <a:avLst/>
              </a:prstGeom>
              <a:ln/>
            </p:spPr>
            <p:style>
              <a:lnRef idx="3">
                <a:schemeClr val="accent1"/>
              </a:lnRef>
              <a:fillRef idx="0">
                <a:schemeClr val="accent1"/>
              </a:fillRef>
              <a:effectRef idx="2">
                <a:schemeClr val="accent1"/>
              </a:effectRef>
              <a:fontRef idx="minor">
                <a:schemeClr val="tx1"/>
              </a:fontRef>
            </p:style>
          </p:cxnSp>
        </p:grpSp>
        <p:sp>
          <p:nvSpPr>
            <p:cNvPr id="134" name="TextBox 133">
              <a:extLst>
                <a:ext uri="{FF2B5EF4-FFF2-40B4-BE49-F238E27FC236}">
                  <a16:creationId xmlns:a16="http://schemas.microsoft.com/office/drawing/2014/main" id="{642E68D2-B414-8C04-772C-4B0C3E9BAE8F}"/>
                </a:ext>
              </a:extLst>
            </p:cNvPr>
            <p:cNvSpPr txBox="1"/>
            <p:nvPr/>
          </p:nvSpPr>
          <p:spPr>
            <a:xfrm>
              <a:off x="2277025" y="5551410"/>
              <a:ext cx="525785" cy="276999"/>
            </a:xfrm>
            <a:prstGeom prst="rect">
              <a:avLst/>
            </a:prstGeom>
            <a:noFill/>
          </p:spPr>
          <p:txBody>
            <a:bodyPr wrap="none" lIns="0" tIns="0" rIns="0" bIns="0" rtlCol="0" anchor="ctr">
              <a:spAutoFit/>
            </a:bodyPr>
            <a:lstStyle/>
            <a:p>
              <a:pPr rtl="0"/>
              <a:r>
                <a:rPr lang="ru" noProof="0" dirty="0" smtClean="0">
                  <a:solidFill>
                    <a:schemeClr val="accent5">
                      <a:lumMod val="75000"/>
                      <a:lumOff val="25000"/>
                    </a:schemeClr>
                  </a:solidFill>
                </a:rPr>
                <a:t>8,5</a:t>
              </a:r>
              <a:r>
                <a:rPr lang="ru" sz="1800" noProof="0" dirty="0" smtClean="0">
                  <a:solidFill>
                    <a:schemeClr val="accent5">
                      <a:lumMod val="75000"/>
                      <a:lumOff val="25000"/>
                    </a:schemeClr>
                  </a:solidFill>
                </a:rPr>
                <a:t>%</a:t>
              </a:r>
              <a:endParaRPr lang="en-US" noProof="0" dirty="0">
                <a:solidFill>
                  <a:schemeClr val="accent5">
                    <a:lumMod val="75000"/>
                    <a:lumOff val="25000"/>
                  </a:schemeClr>
                </a:solidFill>
              </a:endParaRPr>
            </a:p>
          </p:txBody>
        </p:sp>
        <p:sp>
          <p:nvSpPr>
            <p:cNvPr id="135" name="TextBox 134">
              <a:extLst>
                <a:ext uri="{FF2B5EF4-FFF2-40B4-BE49-F238E27FC236}">
                  <a16:creationId xmlns:a16="http://schemas.microsoft.com/office/drawing/2014/main" id="{886587F8-06CF-CA25-A3FC-85E61115785C}"/>
                </a:ext>
              </a:extLst>
            </p:cNvPr>
            <p:cNvSpPr txBox="1"/>
            <p:nvPr/>
          </p:nvSpPr>
          <p:spPr>
            <a:xfrm>
              <a:off x="2321508" y="5868416"/>
              <a:ext cx="256480" cy="138499"/>
            </a:xfrm>
            <a:prstGeom prst="rect">
              <a:avLst/>
            </a:prstGeom>
            <a:noFill/>
          </p:spPr>
          <p:txBody>
            <a:bodyPr wrap="none" lIns="0" tIns="0" rIns="0" bIns="0" rtlCol="0">
              <a:spAutoFit/>
            </a:bodyPr>
            <a:lstStyle/>
            <a:p>
              <a:pPr rtl="0"/>
              <a:r>
                <a:rPr lang="ru" sz="900" noProof="0" dirty="0" smtClean="0"/>
                <a:t>2024</a:t>
              </a:r>
              <a:endParaRPr lang="ru" sz="900" noProof="0" dirty="0"/>
            </a:p>
          </p:txBody>
        </p:sp>
      </p:grpSp>
      <p:grpSp>
        <p:nvGrpSpPr>
          <p:cNvPr id="139" name="Group 138">
            <a:extLst>
              <a:ext uri="{FF2B5EF4-FFF2-40B4-BE49-F238E27FC236}">
                <a16:creationId xmlns:a16="http://schemas.microsoft.com/office/drawing/2014/main" id="{80E5C877-455C-5719-B267-BA2718994039}"/>
              </a:ext>
            </a:extLst>
          </p:cNvPr>
          <p:cNvGrpSpPr/>
          <p:nvPr/>
        </p:nvGrpSpPr>
        <p:grpSpPr>
          <a:xfrm>
            <a:off x="9721393" y="3026691"/>
            <a:ext cx="1219017" cy="778650"/>
            <a:chOff x="2368756" y="5300585"/>
            <a:chExt cx="1127631" cy="778650"/>
          </a:xfrm>
        </p:grpSpPr>
        <p:grpSp>
          <p:nvGrpSpPr>
            <p:cNvPr id="140" name="Group 139">
              <a:extLst>
                <a:ext uri="{FF2B5EF4-FFF2-40B4-BE49-F238E27FC236}">
                  <a16:creationId xmlns:a16="http://schemas.microsoft.com/office/drawing/2014/main" id="{44C9327E-EB9A-8BDB-ACDB-313694733BED}"/>
                </a:ext>
              </a:extLst>
            </p:cNvPr>
            <p:cNvGrpSpPr/>
            <p:nvPr/>
          </p:nvGrpSpPr>
          <p:grpSpPr>
            <a:xfrm>
              <a:off x="2861736" y="5300585"/>
              <a:ext cx="634651" cy="778650"/>
              <a:chOff x="2861736" y="5277844"/>
              <a:chExt cx="634651" cy="778650"/>
            </a:xfrm>
          </p:grpSpPr>
          <p:sp>
            <p:nvSpPr>
              <p:cNvPr id="143" name="Text Placeholder 39">
                <a:extLst>
                  <a:ext uri="{FF2B5EF4-FFF2-40B4-BE49-F238E27FC236}">
                    <a16:creationId xmlns:a16="http://schemas.microsoft.com/office/drawing/2014/main" id="{1A509200-2DE0-0C24-8A08-D7FC1BF09ECA}"/>
                  </a:ext>
                </a:extLst>
              </p:cNvPr>
              <p:cNvSpPr txBox="1">
                <a:spLocks/>
              </p:cNvSpPr>
              <p:nvPr/>
            </p:nvSpPr>
            <p:spPr>
              <a:xfrm>
                <a:off x="2861736" y="5687162"/>
                <a:ext cx="634651"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noProof="0" dirty="0" smtClean="0">
                    <a:solidFill>
                      <a:schemeClr val="accent1"/>
                    </a:solidFill>
                  </a:rPr>
                  <a:t>1224</a:t>
                </a:r>
                <a:endParaRPr lang="ru" sz="2400" noProof="0" dirty="0">
                  <a:solidFill>
                    <a:schemeClr val="accent1"/>
                  </a:solidFill>
                </a:endParaRPr>
              </a:p>
            </p:txBody>
          </p:sp>
          <p:sp>
            <p:nvSpPr>
              <p:cNvPr id="144" name="Text Placeholder 39">
                <a:extLst>
                  <a:ext uri="{FF2B5EF4-FFF2-40B4-BE49-F238E27FC236}">
                    <a16:creationId xmlns:a16="http://schemas.microsoft.com/office/drawing/2014/main" id="{87C57DFA-4B32-A65E-DA14-CC1696B00C25}"/>
                  </a:ext>
                </a:extLst>
              </p:cNvPr>
              <p:cNvSpPr txBox="1">
                <a:spLocks/>
              </p:cNvSpPr>
              <p:nvPr/>
            </p:nvSpPr>
            <p:spPr>
              <a:xfrm>
                <a:off x="3020400" y="5277844"/>
                <a:ext cx="317327"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noProof="0" dirty="0" smtClean="0">
                    <a:solidFill>
                      <a:schemeClr val="accent1"/>
                    </a:solidFill>
                  </a:rPr>
                  <a:t>54</a:t>
                </a:r>
                <a:endParaRPr lang="ru" sz="2400" noProof="0" dirty="0">
                  <a:solidFill>
                    <a:schemeClr val="accent1"/>
                  </a:solidFill>
                </a:endParaRPr>
              </a:p>
            </p:txBody>
          </p:sp>
          <p:cxnSp>
            <p:nvCxnSpPr>
              <p:cNvPr id="145" name="Straight Connector 144">
                <a:extLst>
                  <a:ext uri="{FF2B5EF4-FFF2-40B4-BE49-F238E27FC236}">
                    <a16:creationId xmlns:a16="http://schemas.microsoft.com/office/drawing/2014/main" id="{2738C6A3-B94C-311C-1B29-05D5C90B416B}"/>
                  </a:ext>
                </a:extLst>
              </p:cNvPr>
              <p:cNvCxnSpPr>
                <a:cxnSpLocks/>
              </p:cNvCxnSpPr>
              <p:nvPr/>
            </p:nvCxnSpPr>
            <p:spPr>
              <a:xfrm>
                <a:off x="2873062" y="5667169"/>
                <a:ext cx="612000" cy="0"/>
              </a:xfrm>
              <a:prstGeom prst="line">
                <a:avLst/>
              </a:prstGeom>
              <a:ln/>
            </p:spPr>
            <p:style>
              <a:lnRef idx="3">
                <a:schemeClr val="accent1"/>
              </a:lnRef>
              <a:fillRef idx="0">
                <a:schemeClr val="accent1"/>
              </a:fillRef>
              <a:effectRef idx="2">
                <a:schemeClr val="accent1"/>
              </a:effectRef>
              <a:fontRef idx="minor">
                <a:schemeClr val="tx1"/>
              </a:fontRef>
            </p:style>
          </p:cxnSp>
        </p:grpSp>
        <p:sp>
          <p:nvSpPr>
            <p:cNvPr id="141" name="TextBox 140">
              <a:extLst>
                <a:ext uri="{FF2B5EF4-FFF2-40B4-BE49-F238E27FC236}">
                  <a16:creationId xmlns:a16="http://schemas.microsoft.com/office/drawing/2014/main" id="{A426CBBA-913B-DBB9-5657-AE5FDA8C7401}"/>
                </a:ext>
              </a:extLst>
            </p:cNvPr>
            <p:cNvSpPr txBox="1"/>
            <p:nvPr/>
          </p:nvSpPr>
          <p:spPr>
            <a:xfrm>
              <a:off x="2368756" y="5551410"/>
              <a:ext cx="486368" cy="276999"/>
            </a:xfrm>
            <a:prstGeom prst="rect">
              <a:avLst/>
            </a:prstGeom>
            <a:noFill/>
          </p:spPr>
          <p:txBody>
            <a:bodyPr wrap="none" lIns="0" tIns="0" rIns="0" bIns="0" rtlCol="0" anchor="ctr">
              <a:spAutoFit/>
            </a:bodyPr>
            <a:lstStyle/>
            <a:p>
              <a:pPr rtl="0"/>
              <a:r>
                <a:rPr lang="ru" dirty="0" smtClean="0">
                  <a:solidFill>
                    <a:schemeClr val="accent5">
                      <a:lumMod val="75000"/>
                      <a:lumOff val="25000"/>
                    </a:schemeClr>
                  </a:solidFill>
                </a:rPr>
                <a:t>4,4</a:t>
              </a:r>
              <a:r>
                <a:rPr lang="ru" sz="1800" noProof="0" dirty="0" smtClean="0">
                  <a:solidFill>
                    <a:schemeClr val="accent5">
                      <a:lumMod val="75000"/>
                      <a:lumOff val="25000"/>
                    </a:schemeClr>
                  </a:solidFill>
                </a:rPr>
                <a:t>%</a:t>
              </a:r>
              <a:endParaRPr lang="en-US" noProof="0" dirty="0">
                <a:solidFill>
                  <a:schemeClr val="accent5">
                    <a:lumMod val="75000"/>
                    <a:lumOff val="25000"/>
                  </a:schemeClr>
                </a:solidFill>
              </a:endParaRPr>
            </a:p>
          </p:txBody>
        </p:sp>
        <p:sp>
          <p:nvSpPr>
            <p:cNvPr id="142" name="TextBox 141">
              <a:extLst>
                <a:ext uri="{FF2B5EF4-FFF2-40B4-BE49-F238E27FC236}">
                  <a16:creationId xmlns:a16="http://schemas.microsoft.com/office/drawing/2014/main" id="{9A59CB80-641F-E0B6-0D9F-6EB90C7429D3}"/>
                </a:ext>
              </a:extLst>
            </p:cNvPr>
            <p:cNvSpPr txBox="1"/>
            <p:nvPr/>
          </p:nvSpPr>
          <p:spPr>
            <a:xfrm>
              <a:off x="2441852" y="5868610"/>
              <a:ext cx="256480" cy="138499"/>
            </a:xfrm>
            <a:prstGeom prst="rect">
              <a:avLst/>
            </a:prstGeom>
            <a:noFill/>
          </p:spPr>
          <p:txBody>
            <a:bodyPr wrap="none" lIns="0" tIns="0" rIns="0" bIns="0" rtlCol="0">
              <a:spAutoFit/>
            </a:bodyPr>
            <a:lstStyle/>
            <a:p>
              <a:pPr rtl="0"/>
              <a:r>
                <a:rPr lang="ru" sz="900" noProof="0" dirty="0"/>
                <a:t>2025</a:t>
              </a:r>
            </a:p>
          </p:txBody>
        </p:sp>
      </p:grpSp>
      <p:sp>
        <p:nvSpPr>
          <p:cNvPr id="196" name="Text Placeholder 39">
            <a:extLst>
              <a:ext uri="{FF2B5EF4-FFF2-40B4-BE49-F238E27FC236}">
                <a16:creationId xmlns:a16="http://schemas.microsoft.com/office/drawing/2014/main" id="{B462DA33-E46C-04FC-2644-63EE7B8824F5}"/>
              </a:ext>
            </a:extLst>
          </p:cNvPr>
          <p:cNvSpPr txBox="1">
            <a:spLocks/>
          </p:cNvSpPr>
          <p:nvPr/>
        </p:nvSpPr>
        <p:spPr>
          <a:xfrm>
            <a:off x="10595805" y="3908725"/>
            <a:ext cx="1181414" cy="1538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rtl="0">
              <a:defRPr/>
            </a:pPr>
            <a:r>
              <a:rPr lang="ru-RU" sz="1000" i="1" noProof="0" dirty="0" smtClean="0">
                <a:solidFill>
                  <a:schemeClr val="accent1"/>
                </a:solidFill>
              </a:rPr>
              <a:t xml:space="preserve">Key Metrics</a:t>
            </a:r>
            <a:endParaRPr lang="ru" sz="1000" i="1" noProof="0" dirty="0">
              <a:solidFill>
                <a:schemeClr val="accent1"/>
              </a:solidFill>
            </a:endParaRPr>
          </a:p>
        </p:txBody>
      </p:sp>
      <p:sp>
        <p:nvSpPr>
          <p:cNvPr id="197" name="Text Placeholder 39">
            <a:extLst>
              <a:ext uri="{FF2B5EF4-FFF2-40B4-BE49-F238E27FC236}">
                <a16:creationId xmlns:a16="http://schemas.microsoft.com/office/drawing/2014/main" id="{E58F6FA2-09B6-2A5D-8657-A15E91B473BB}"/>
              </a:ext>
            </a:extLst>
          </p:cNvPr>
          <p:cNvSpPr txBox="1">
            <a:spLocks/>
          </p:cNvSpPr>
          <p:nvPr/>
        </p:nvSpPr>
        <p:spPr>
          <a:xfrm>
            <a:off x="10182526" y="4286090"/>
            <a:ext cx="1594693" cy="307777"/>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rtl="0">
              <a:defRPr/>
            </a:pPr>
            <a:r>
              <a:rPr lang="ru-RU" sz="1000" i="1" noProof="0" dirty="0" smtClean="0">
                <a:solidFill>
                  <a:srgbClr val="7030A0"/>
                </a:solidFill>
              </a:rPr>
              <a:t xml:space="preserve">Trends, risks and impact on the Annual Program</a:t>
            </a:r>
            <a:endParaRPr lang="ru" sz="1000" i="1" noProof="0" dirty="0">
              <a:solidFill>
                <a:srgbClr val="7030A0"/>
              </a:solidFill>
            </a:endParaRPr>
          </a:p>
        </p:txBody>
      </p:sp>
      <p:sp>
        <p:nvSpPr>
          <p:cNvPr id="200" name="Freeform 122">
            <a:extLst>
              <a:ext uri="{FF2B5EF4-FFF2-40B4-BE49-F238E27FC236}">
                <a16:creationId xmlns:a16="http://schemas.microsoft.com/office/drawing/2014/main" id="{F8CB627A-952A-4F4F-4F19-51590C530CBF}"/>
              </a:ext>
            </a:extLst>
          </p:cNvPr>
          <p:cNvSpPr/>
          <p:nvPr/>
        </p:nvSpPr>
        <p:spPr>
          <a:xfrm>
            <a:off x="281980" y="4456494"/>
            <a:ext cx="1464628" cy="1981544"/>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chemeClr val="accent1"/>
              </a:solidFill>
            </a:endParaRPr>
          </a:p>
        </p:txBody>
      </p:sp>
      <p:sp>
        <p:nvSpPr>
          <p:cNvPr id="201" name="Freeform 122">
            <a:extLst>
              <a:ext uri="{FF2B5EF4-FFF2-40B4-BE49-F238E27FC236}">
                <a16:creationId xmlns:a16="http://schemas.microsoft.com/office/drawing/2014/main" id="{48486976-342E-596B-0223-78B1C8CBED21}"/>
              </a:ext>
            </a:extLst>
          </p:cNvPr>
          <p:cNvSpPr/>
          <p:nvPr/>
        </p:nvSpPr>
        <p:spPr>
          <a:xfrm>
            <a:off x="1904595" y="4456494"/>
            <a:ext cx="3451495" cy="1981544"/>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chemeClr val="accent1"/>
              </a:solidFill>
            </a:endParaRPr>
          </a:p>
        </p:txBody>
      </p:sp>
      <p:sp>
        <p:nvSpPr>
          <p:cNvPr id="202" name="Freeform 122">
            <a:extLst>
              <a:ext uri="{FF2B5EF4-FFF2-40B4-BE49-F238E27FC236}">
                <a16:creationId xmlns:a16="http://schemas.microsoft.com/office/drawing/2014/main" id="{8A2B51BA-EE32-3A24-FCF1-63FAD8B67744}"/>
              </a:ext>
            </a:extLst>
          </p:cNvPr>
          <p:cNvSpPr/>
          <p:nvPr/>
        </p:nvSpPr>
        <p:spPr>
          <a:xfrm>
            <a:off x="5475935" y="4456494"/>
            <a:ext cx="6128461" cy="1981544"/>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chemeClr val="accent1"/>
              </a:solidFill>
            </a:endParaRPr>
          </a:p>
        </p:txBody>
      </p:sp>
      <p:sp>
        <p:nvSpPr>
          <p:cNvPr id="194" name="Text Placeholder 39">
            <a:extLst>
              <a:ext uri="{FF2B5EF4-FFF2-40B4-BE49-F238E27FC236}">
                <a16:creationId xmlns:a16="http://schemas.microsoft.com/office/drawing/2014/main" id="{03EA6823-43E9-9DA9-9082-9420164C4BC8}"/>
              </a:ext>
            </a:extLst>
          </p:cNvPr>
          <p:cNvSpPr txBox="1">
            <a:spLocks/>
          </p:cNvSpPr>
          <p:nvPr/>
        </p:nvSpPr>
        <p:spPr>
          <a:xfrm>
            <a:off x="7299518" y="4052972"/>
            <a:ext cx="2381534" cy="215444"/>
          </a:xfrm>
          <a:prstGeom prst="rect">
            <a:avLst/>
          </a:prstGeom>
          <a:solidFill>
            <a:schemeClr val="bg1"/>
          </a:solidFill>
        </p:spPr>
        <p:txBody>
          <a:bodyPr wrap="square" lIns="0" tIns="0" rIns="0" bIns="0">
            <a:spAutoFit/>
          </a:bodyPr>
          <a:lstStyle>
            <a:defPPr>
              <a:defRPr lang="en-US"/>
            </a:defPPr>
            <a:lvl1pPr indent="0" algn="ctr" defTabSz="583170">
              <a:lnSpc>
                <a:spcPct val="100000"/>
              </a:lnSpc>
              <a:spcBef>
                <a:spcPts val="0"/>
              </a:spcBef>
              <a:buFont typeface="Arial" panose="020B0604020202020204" pitchFamily="34" charset="0"/>
              <a:buNone/>
              <a:defRPr sz="1400" b="0">
                <a:solidFill>
                  <a:schemeClr val="accent5">
                    <a:lumMod val="75000"/>
                    <a:lumOff val="25000"/>
                  </a:schemeClr>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r>
              <a:rPr lang="ru-RU" dirty="0" smtClean="0">
                <a:solidFill>
                  <a:srgbClr val="7030A0"/>
                </a:solidFill>
              </a:rPr>
              <a:t xml:space="preserve">KPK – Compliance Sheet</a:t>
            </a:r>
            <a:endParaRPr lang="en-US" dirty="0">
              <a:solidFill>
                <a:srgbClr val="7030A0"/>
              </a:solidFill>
            </a:endParaRPr>
          </a:p>
        </p:txBody>
      </p:sp>
      <p:sp>
        <p:nvSpPr>
          <p:cNvPr id="3" name="Text Placeholder 39">
            <a:extLst>
              <a:ext uri="{FF2B5EF4-FFF2-40B4-BE49-F238E27FC236}">
                <a16:creationId xmlns:a16="http://schemas.microsoft.com/office/drawing/2014/main" id="{1EB6F0C8-DA3B-46CD-9C02-3BBEB90388E8}"/>
              </a:ext>
            </a:extLst>
          </p:cNvPr>
          <p:cNvSpPr txBox="1">
            <a:spLocks/>
          </p:cNvSpPr>
          <p:nvPr/>
        </p:nvSpPr>
        <p:spPr>
          <a:xfrm>
            <a:off x="1934632" y="4593748"/>
            <a:ext cx="3421457" cy="1846659"/>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7313" indent="-87313">
              <a:lnSpc>
                <a:spcPct val="100000"/>
              </a:lnSpc>
              <a:spcBef>
                <a:spcPts val="0"/>
              </a:spcBef>
              <a:buFont typeface="Arial" panose="020B0604020202020204" pitchFamily="34" charset="0"/>
              <a:buChar char="•"/>
            </a:pPr>
            <a:r>
              <a:rPr lang="ru-RU" sz="800" dirty="0" smtClean="0">
                <a:solidFill>
                  <a:srgbClr val="7030A0"/>
                </a:solidFill>
              </a:rPr>
              <a:t xml:space="preserve">Trends:</a:t>
            </a:r>
          </a:p>
          <a:p>
            <a:pPr marL="177800" lvl="1" indent="-88900">
              <a:lnSpc>
                <a:spcPct val="100000"/>
              </a:lnSpc>
              <a:spcBef>
                <a:spcPts val="0"/>
              </a:spcBef>
              <a:buClr>
                <a:srgbClr val="7030A0"/>
              </a:buClr>
              <a:buFont typeface="Courier New" panose="02070309020205020404" pitchFamily="49" charset="0"/>
              <a:buChar char="o"/>
              <a:defRPr sz="1050" b="0" i="0" u="none" strike="noStrike" kern="1200" spc="0" baseline="0">
                <a:solidFill>
                  <a:srgbClr val="32373C"/>
                </a:solidFill>
                <a:latin typeface="+mn-lt"/>
                <a:ea typeface="+mn-ea"/>
                <a:cs typeface="+mn-cs"/>
              </a:defRPr>
            </a:pPr>
            <a:r>
              <a:rPr lang="ru-RU" sz="800" dirty="0">
                <a:solidFill>
                  <a:srgbClr val="32373C"/>
                </a:solidFill>
              </a:rPr>
              <a:t xml:space="preserve">The number of CPC applications per quarter remains approximately at the same level – (min 3185 / max 3703 applications per quarter).</a:t>
            </a:r>
            <a:r>
              <a:rPr lang="en-US" sz="800" dirty="0">
                <a:solidFill>
                  <a:srgbClr val="32373C"/>
                </a:solidFill>
              </a:rPr>
              <a:t/>
            </a:r>
            <a:r>
              <a:rPr lang="ru-RU" sz="800" dirty="0">
                <a:solidFill>
                  <a:srgbClr val="32373C"/>
                </a:solidFill>
              </a:rPr>
              <a:t/>
            </a:r>
            <a:r>
              <a:rPr lang="en-US" sz="800" dirty="0">
                <a:solidFill>
                  <a:srgbClr val="32373C"/>
                </a:solidFill>
              </a:rPr>
              <a:t/>
            </a:r>
            <a:r>
              <a:rPr lang="ru-RU" sz="800" dirty="0">
                <a:solidFill>
                  <a:srgbClr val="32373C"/>
                </a:solidFill>
              </a:rPr>
              <a:t/>
            </a:r>
          </a:p>
          <a:p>
            <a:pPr marL="177800" lvl="1" indent="-88900">
              <a:lnSpc>
                <a:spcPct val="100000"/>
              </a:lnSpc>
              <a:spcBef>
                <a:spcPts val="0"/>
              </a:spcBef>
              <a:buClr>
                <a:srgbClr val="7030A0"/>
              </a:buClr>
              <a:buFont typeface="Courier New" panose="02070309020205020404" pitchFamily="49" charset="0"/>
              <a:buChar char="o"/>
              <a:defRPr sz="1050" b="0" i="0" u="none" strike="noStrike" kern="1200" spc="0" baseline="0">
                <a:solidFill>
                  <a:srgbClr val="32373C"/>
                </a:solidFill>
                <a:latin typeface="+mn-lt"/>
                <a:ea typeface="+mn-ea"/>
                <a:cs typeface="+mn-cs"/>
              </a:defRPr>
            </a:pPr>
            <a:r>
              <a:rPr lang="ru-RU" sz="800" dirty="0">
                <a:solidFill>
                  <a:srgbClr val="32373C"/>
                </a:solidFill>
              </a:rPr>
              <a:t xml:space="preserve">PDA coverage remains at a high level (on average 98.48%), incl. through interaction with business.</a:t>
            </a:r>
            <a:r>
              <a:rPr lang="ru-RU" sz="800" dirty="0" err="1">
                <a:solidFill>
                  <a:srgbClr val="32373C"/>
                </a:solidFill>
              </a:rPr>
              <a:t/>
            </a:r>
            <a:r>
              <a:rPr lang="ru-RU" sz="800" dirty="0">
                <a:solidFill>
                  <a:srgbClr val="32373C"/>
                </a:solidFill>
              </a:rPr>
              <a:t/>
            </a:r>
          </a:p>
          <a:p>
            <a:pPr marL="177800" lvl="1" indent="-88900">
              <a:lnSpc>
                <a:spcPct val="100000"/>
              </a:lnSpc>
              <a:spcBef>
                <a:spcPts val="0"/>
              </a:spcBef>
              <a:buClr>
                <a:srgbClr val="7030A0"/>
              </a:buClr>
              <a:buFont typeface="Courier New" panose="02070309020205020404" pitchFamily="49" charset="0"/>
              <a:buChar char="o"/>
              <a:defRPr sz="1050" b="0" i="0" u="none" strike="noStrike" kern="1200" spc="0" baseline="0">
                <a:solidFill>
                  <a:srgbClr val="32373C"/>
                </a:solidFill>
                <a:latin typeface="+mn-lt"/>
                <a:ea typeface="+mn-ea"/>
                <a:cs typeface="+mn-cs"/>
              </a:defRPr>
            </a:pPr>
            <a:r>
              <a:rPr lang="ru-RU" sz="800" dirty="0">
                <a:solidFill>
                  <a:srgbClr val="32373C"/>
                </a:solidFill>
              </a:rPr>
              <a:t xml:space="preserve">Reduction in CPC duration by 3.7 days since the beginning of the year due to the filling of vacancies and effective team work (Q1 - 6.5 days; Q2 - 3.4 days; Q3 - 3 days; Q4 - 2.8 days).</a:t>
            </a:r>
          </a:p>
          <a:p>
            <a:pPr marL="87313" indent="-87313">
              <a:lnSpc>
                <a:spcPct val="100000"/>
              </a:lnSpc>
              <a:spcBef>
                <a:spcPts val="0"/>
              </a:spcBef>
              <a:buFont typeface="Arial" panose="020B0604020202020204" pitchFamily="34" charset="0"/>
              <a:buChar char="•"/>
            </a:pPr>
            <a:r>
              <a:rPr lang="ru-RU" sz="800" dirty="0" smtClean="0">
                <a:solidFill>
                  <a:srgbClr val="7030A0"/>
                </a:solidFill>
              </a:rPr>
              <a:t xml:space="preserve">Identified risks - No. no risks identified. In relation to contracts with identified sanctions risks, the necessary mitigation measures were taken throughout the year.</a:t>
            </a:r>
            <a:r>
              <a:rPr lang="ru-RU" sz="800" dirty="0">
                <a:solidFill>
                  <a:srgbClr val="7030A0"/>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p>
          <a:p>
            <a:pPr marL="87313" indent="-87313">
              <a:lnSpc>
                <a:spcPct val="100000"/>
              </a:lnSpc>
              <a:spcBef>
                <a:spcPts val="0"/>
              </a:spcBef>
              <a:buFont typeface="Arial" panose="020B0604020202020204" pitchFamily="34" charset="0"/>
              <a:buChar char="•"/>
            </a:pPr>
            <a:r>
              <a:rPr lang="ru-RU" sz="800" dirty="0" smtClean="0">
                <a:solidFill>
                  <a:srgbClr val="7030A0"/>
                </a:solidFill>
              </a:rPr>
              <a:t xml:space="preserve">Impact on Perimeter Annual Program/Lessons - Not identified. In 2026, Perimeter will continue to maintain high efficiency in managing third party risks, incl. through achieving PDA coverage targets.</a:t>
            </a:r>
            <a:r>
              <a:rPr lang="ru-RU" sz="800" dirty="0">
                <a:solidFill>
                  <a:srgbClr val="7030A0"/>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err="1">
                <a:solidFill>
                  <a:schemeClr val="tx1"/>
                </a:solidFill>
              </a:rPr>
              <a:t/>
            </a:r>
            <a:r>
              <a:rPr lang="ru-RU" sz="800" dirty="0">
                <a:solidFill>
                  <a:schemeClr val="tx1"/>
                </a:solidFill>
              </a:rPr>
              <a:t/>
            </a:r>
            <a:r>
              <a:rPr lang="ru-RU" sz="800" dirty="0" smtClean="0">
                <a:solidFill>
                  <a:schemeClr val="tx1"/>
                </a:solidFill>
              </a:rPr>
              <a:t/>
            </a:r>
            <a:endParaRPr lang="ru-RU" sz="800" dirty="0">
              <a:solidFill>
                <a:schemeClr val="tx1"/>
              </a:solidFill>
            </a:endParaRPr>
          </a:p>
        </p:txBody>
      </p:sp>
      <p:sp>
        <p:nvSpPr>
          <p:cNvPr id="4" name="Text Placeholder 39">
            <a:extLst>
              <a:ext uri="{FF2B5EF4-FFF2-40B4-BE49-F238E27FC236}">
                <a16:creationId xmlns:a16="http://schemas.microsoft.com/office/drawing/2014/main" id="{04A7748F-DD3A-A5A3-C481-2D3B028365AA}"/>
              </a:ext>
            </a:extLst>
          </p:cNvPr>
          <p:cNvSpPr txBox="1">
            <a:spLocks/>
          </p:cNvSpPr>
          <p:nvPr/>
        </p:nvSpPr>
        <p:spPr>
          <a:xfrm>
            <a:off x="5544113" y="4593748"/>
            <a:ext cx="4957006" cy="1723549"/>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7313" indent="-87313">
              <a:lnSpc>
                <a:spcPct val="100000"/>
              </a:lnSpc>
              <a:spcBef>
                <a:spcPts val="0"/>
              </a:spcBef>
              <a:buClr>
                <a:srgbClr val="7030A0"/>
              </a:buClr>
              <a:buFont typeface="Arial" panose="020B0604020202020204" pitchFamily="34" charset="0"/>
              <a:buChar char="•"/>
            </a:pPr>
            <a:r>
              <a:rPr lang="ru-RU" sz="800" dirty="0" smtClean="0">
                <a:solidFill>
                  <a:srgbClr val="7030A0"/>
                </a:solidFill>
              </a:rPr>
              <a:t xml:space="preserve">Trends:</a:t>
            </a:r>
          </a:p>
          <a:p>
            <a:pPr marL="177800" lvl="1" indent="-88900">
              <a:lnSpc>
                <a:spcPct val="100000"/>
              </a:lnSpc>
              <a:spcBef>
                <a:spcPts val="0"/>
              </a:spcBef>
              <a:buClr>
                <a:srgbClr val="7030A0"/>
              </a:buClr>
              <a:buFont typeface="Courier New" panose="02070309020205020404" pitchFamily="49" charset="0"/>
              <a:buChar char="o"/>
              <a:defRPr sz="1050" b="0" i="0" u="none" strike="noStrike" kern="1200" spc="0" baseline="0">
                <a:solidFill>
                  <a:srgbClr val="32373C"/>
                </a:solidFill>
                <a:latin typeface="+mn-lt"/>
                <a:ea typeface="+mn-ea"/>
                <a:cs typeface="+mn-cs"/>
              </a:defRPr>
            </a:pPr>
            <a:r>
              <a:rPr lang="ru-RU" sz="800" dirty="0"/>
              <a:t xml:space="preserve">In 4th quarter Based on the results of a risk-based analysis carried out jointly with the business and taking into account the results of self-testing of the CL, the composition of the Compliance List was updated (171 positions were excluded, 78 positions were added). In total, at the end of the year, the Compliance List consists of 463 counterparties from different categories of CLs, 34 banks and 168 manufacturers for the categories “Intermediaries” and D (“Sales”).</a:t>
            </a:r>
            <a:r>
              <a:rPr lang="ru" sz="800" dirty="0"/>
              <a:t/>
            </a:r>
            <a:r>
              <a:rPr lang="ru-RU" sz="800" dirty="0"/>
              <a:t/>
            </a:r>
            <a:r>
              <a:rPr lang="en-US" sz="800" dirty="0"/>
              <a:t/>
            </a:r>
            <a:r>
              <a:rPr lang="ru-RU" sz="800" dirty="0"/>
              <a:t/>
            </a:r>
          </a:p>
          <a:p>
            <a:pPr marL="177800" lvl="1" indent="-88900">
              <a:lnSpc>
                <a:spcPct val="100000"/>
              </a:lnSpc>
              <a:spcBef>
                <a:spcPts val="0"/>
              </a:spcBef>
              <a:buClr>
                <a:srgbClr val="7030A0"/>
              </a:buClr>
              <a:buFont typeface="Courier New" panose="02070309020205020404" pitchFamily="49" charset="0"/>
              <a:buChar char="o"/>
            </a:pPr>
            <a:r>
              <a:rPr lang="ru" sz="800" dirty="0" smtClean="0"/>
              <a:t xml:space="preserve">Reducing the percentage of transactions that do not comply with the Compliance List criteria (29 transactions or 9% - Q1, 20 transactions or 7% - Q2, 2 transactions or 1% - Q3, 3 transactions or 0.66% - Q4) due to interaction with business (trainings, discussions).</a:t>
            </a:r>
            <a:r>
              <a:rPr lang="ru" sz="800" dirty="0"/>
              <a:t/>
            </a:r>
          </a:p>
          <a:p>
            <a:pPr marL="87313" indent="-87313">
              <a:lnSpc>
                <a:spcPct val="100000"/>
              </a:lnSpc>
              <a:spcBef>
                <a:spcPts val="0"/>
              </a:spcBef>
              <a:buFont typeface="Arial" panose="020B0604020202020204" pitchFamily="34" charset="0"/>
              <a:buChar char="•"/>
            </a:pPr>
            <a:r>
              <a:rPr lang="ru-RU" sz="800" dirty="0" smtClean="0">
                <a:solidFill>
                  <a:srgbClr val="7030A0"/>
                </a:solidFill>
              </a:rPr>
              <a:t xml:space="preserve">Identified risks - No. no risks identified.</a:t>
            </a:r>
            <a:r>
              <a:rPr lang="ru-RU" sz="800" dirty="0">
                <a:solidFill>
                  <a:srgbClr val="7030A0"/>
                </a:solidFill>
              </a:rPr>
              <a:t/>
            </a:r>
            <a:r>
              <a:rPr lang="ru-RU" sz="800" dirty="0">
                <a:solidFill>
                  <a:schemeClr val="tx1"/>
                </a:solidFill>
              </a:rPr>
              <a:t/>
            </a:r>
          </a:p>
          <a:p>
            <a:pPr marL="87313" indent="-87313">
              <a:lnSpc>
                <a:spcPct val="100000"/>
              </a:lnSpc>
              <a:spcBef>
                <a:spcPts val="0"/>
              </a:spcBef>
              <a:buFont typeface="Arial" panose="020B0604020202020204" pitchFamily="34" charset="0"/>
              <a:buChar char="•"/>
            </a:pPr>
            <a:r>
              <a:rPr lang="ru-RU" sz="800" dirty="0">
                <a:solidFill>
                  <a:srgbClr val="7030A0"/>
                </a:solidFill>
              </a:rPr>
              <a:t xml:space="preserve">Impact on Perimeter Annual Program/Lessons - Not identified. In 2026, Perimeter will continue to maintain high efficiency in managing third party risks, incl. through a risk-based implementation of the Compliance List in accordance with the Guarantee Scheme. Together with the Compliance Group, it is planned to analyze the completeness and sufficiency of the Compliance List criteria.</a:t>
            </a:r>
            <a:r>
              <a:rPr lang="ru-RU" sz="800" dirty="0">
                <a:solidFill>
                  <a:schemeClr val="tx1"/>
                </a:solidFill>
              </a:rPr>
              <a:t/>
            </a:r>
            <a:r>
              <a:rPr lang="ru-RU" sz="800" dirty="0" err="1">
                <a:solidFill>
                  <a:schemeClr val="tx1"/>
                </a:solidFill>
              </a:rPr>
              <a:t/>
            </a:r>
            <a:r>
              <a:rPr lang="ru-RU" sz="800" dirty="0">
                <a:solidFill>
                  <a:schemeClr val="tx1"/>
                </a:solidFill>
              </a:rPr>
              <a:t/>
            </a:r>
            <a:r>
              <a:rPr lang="ru-RU" sz="800" dirty="0" smtClean="0">
                <a:solidFill>
                  <a:schemeClr val="tx1"/>
                </a:solidFill>
              </a:rPr>
              <a:t/>
            </a:r>
            <a:endParaRPr lang="ru-RU" sz="800" dirty="0">
              <a:solidFill>
                <a:schemeClr val="tx1"/>
              </a:solidFill>
            </a:endParaRPr>
          </a:p>
        </p:txBody>
      </p:sp>
      <p:sp>
        <p:nvSpPr>
          <p:cNvPr id="10" name="TextBox 9">
            <a:extLst>
              <a:ext uri="{FF2B5EF4-FFF2-40B4-BE49-F238E27FC236}">
                <a16:creationId xmlns:a16="http://schemas.microsoft.com/office/drawing/2014/main" id="{A99E6B56-C2DF-66F3-411D-B593838DC0CA}"/>
              </a:ext>
            </a:extLst>
          </p:cNvPr>
          <p:cNvSpPr txBox="1"/>
          <p:nvPr/>
        </p:nvSpPr>
        <p:spPr>
          <a:xfrm>
            <a:off x="1865189" y="863682"/>
            <a:ext cx="1390315" cy="1015663"/>
          </a:xfrm>
          <a:prstGeom prst="rect">
            <a:avLst/>
          </a:prstGeom>
          <a:noFill/>
        </p:spPr>
        <p:txBody>
          <a:bodyPr wrap="square">
            <a:spAutoFit/>
          </a:bodyPr>
          <a:lstStyle/>
          <a:p>
            <a:r>
              <a:rPr lang="ru-RU" sz="1000" b="1" dirty="0" smtClean="0"/>
              <a:t xml:space="preserve">CCP coverage rate (%)</a:t>
            </a:r>
            <a:r>
              <a:rPr lang="ru" sz="1000" b="1" dirty="0" smtClean="0"/>
              <a:t/>
            </a:r>
          </a:p>
          <a:p>
            <a:r>
              <a:rPr lang="ru-RU" sz="1000" dirty="0"/>
              <a:t xml:space="preserve">1 sq. – 99.63%</a:t>
            </a:r>
            <a:r>
              <a:rPr lang="ru" sz="1000" dirty="0"/>
              <a:t/>
            </a:r>
            <a:endParaRPr lang="ru-RU" sz="1000" dirty="0"/>
          </a:p>
          <a:p>
            <a:r>
              <a:rPr lang="ru-RU" sz="1000" dirty="0"/>
              <a:t xml:space="preserve">2 sq. – 99.86%</a:t>
            </a:r>
            <a:r>
              <a:rPr lang="ru" sz="1000" dirty="0"/>
              <a:t/>
            </a:r>
            <a:endParaRPr lang="ru-RU" sz="1000" dirty="0"/>
          </a:p>
          <a:p>
            <a:r>
              <a:rPr lang="ru-RU" sz="1000" dirty="0"/>
              <a:t xml:space="preserve">3 sq. – 99.95%</a:t>
            </a:r>
            <a:r>
              <a:rPr lang="ru" sz="1000" dirty="0"/>
              <a:t/>
            </a:r>
            <a:endParaRPr lang="ru-RU" sz="1000" dirty="0"/>
          </a:p>
          <a:p>
            <a:r>
              <a:rPr lang="ru-RU" sz="1000" dirty="0"/>
              <a:t xml:space="preserve">4 sq. – 99.82%</a:t>
            </a:r>
            <a:r>
              <a:rPr lang="ru" sz="1000" dirty="0"/>
              <a:t/>
            </a:r>
            <a:endParaRPr lang="ru" sz="1000" b="1" dirty="0"/>
          </a:p>
        </p:txBody>
      </p:sp>
      <p:sp>
        <p:nvSpPr>
          <p:cNvPr id="12" name="TextBox 11">
            <a:extLst>
              <a:ext uri="{FF2B5EF4-FFF2-40B4-BE49-F238E27FC236}">
                <a16:creationId xmlns:a16="http://schemas.microsoft.com/office/drawing/2014/main" id="{6DE9015B-D62D-13C6-3E7D-B5242EAD4236}"/>
              </a:ext>
            </a:extLst>
          </p:cNvPr>
          <p:cNvSpPr txBox="1"/>
          <p:nvPr/>
        </p:nvSpPr>
        <p:spPr>
          <a:xfrm>
            <a:off x="3467911" y="854677"/>
            <a:ext cx="1755468" cy="246221"/>
          </a:xfrm>
          <a:prstGeom prst="rect">
            <a:avLst/>
          </a:prstGeom>
          <a:noFill/>
        </p:spPr>
        <p:txBody>
          <a:bodyPr wrap="square">
            <a:spAutoFit/>
          </a:bodyPr>
          <a:lstStyle/>
          <a:p>
            <a:pPr algn="ctr"/>
            <a:r>
              <a:rPr lang="ru-RU" sz="1000" b="1" dirty="0" smtClean="0"/>
              <a:t xml:space="preserve">Requests for PDA (#)</a:t>
            </a:r>
            <a:r>
              <a:rPr lang="ru" sz="1000" b="1" dirty="0" smtClean="0"/>
              <a:t/>
            </a:r>
            <a:endParaRPr lang="ru" sz="1000" b="1" dirty="0"/>
          </a:p>
        </p:txBody>
      </p:sp>
      <p:sp>
        <p:nvSpPr>
          <p:cNvPr id="14" name="TextBox 13">
            <a:extLst>
              <a:ext uri="{FF2B5EF4-FFF2-40B4-BE49-F238E27FC236}">
                <a16:creationId xmlns:a16="http://schemas.microsoft.com/office/drawing/2014/main" id="{9D2B9637-E94B-393B-E9E9-901D1FDF181A}"/>
              </a:ext>
            </a:extLst>
          </p:cNvPr>
          <p:cNvSpPr txBox="1"/>
          <p:nvPr/>
        </p:nvSpPr>
        <p:spPr>
          <a:xfrm>
            <a:off x="3411948" y="2415639"/>
            <a:ext cx="1944142" cy="400110"/>
          </a:xfrm>
          <a:prstGeom prst="rect">
            <a:avLst/>
          </a:prstGeom>
          <a:noFill/>
        </p:spPr>
        <p:txBody>
          <a:bodyPr wrap="square">
            <a:spAutoFit/>
          </a:bodyPr>
          <a:lstStyle/>
          <a:p>
            <a:pPr algn="ctr"/>
            <a:r>
              <a:rPr lang="ru-RU" sz="1000" b="1" dirty="0" smtClean="0"/>
              <a:t xml:space="preserve">Avg. duration of CCP (days)</a:t>
            </a:r>
            <a:endParaRPr lang="ru" sz="1000" b="1" dirty="0"/>
          </a:p>
        </p:txBody>
      </p:sp>
      <p:sp>
        <p:nvSpPr>
          <p:cNvPr id="102" name="Text Placeholder 39">
            <a:extLst>
              <a:ext uri="{FF2B5EF4-FFF2-40B4-BE49-F238E27FC236}">
                <a16:creationId xmlns:a16="http://schemas.microsoft.com/office/drawing/2014/main" id="{43FABD38-CB66-D468-13CC-544F4C1C2CDA}"/>
              </a:ext>
            </a:extLst>
          </p:cNvPr>
          <p:cNvSpPr txBox="1">
            <a:spLocks/>
          </p:cNvSpPr>
          <p:nvPr/>
        </p:nvSpPr>
        <p:spPr>
          <a:xfrm>
            <a:off x="1908064" y="2104509"/>
            <a:ext cx="1045159"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RU" sz="2400" noProof="0" dirty="0" smtClean="0">
                <a:solidFill>
                  <a:schemeClr val="accent1"/>
                </a:solidFill>
              </a:rPr>
              <a:t>99,82</a:t>
            </a:r>
            <a:r>
              <a:rPr lang="en-US" sz="2400" noProof="0" dirty="0" smtClean="0">
                <a:solidFill>
                  <a:schemeClr val="accent1"/>
                </a:solidFill>
              </a:rPr>
              <a:t>%</a:t>
            </a:r>
            <a:endParaRPr lang="ru" sz="2400" noProof="0" dirty="0">
              <a:solidFill>
                <a:schemeClr val="accent1"/>
              </a:solidFill>
            </a:endParaRPr>
          </a:p>
        </p:txBody>
      </p:sp>
      <p:graphicFrame>
        <p:nvGraphicFramePr>
          <p:cNvPr id="103" name="Диаграмма 102"/>
          <p:cNvGraphicFramePr/>
          <p:nvPr>
            <p:extLst>
              <p:ext uri="{D42A27DB-BD31-4B8C-83A1-F6EECF244321}">
                <p14:modId xmlns:p14="http://schemas.microsoft.com/office/powerpoint/2010/main" val="2213680812"/>
              </p:ext>
            </p:extLst>
          </p:nvPr>
        </p:nvGraphicFramePr>
        <p:xfrm>
          <a:off x="3828864" y="1221563"/>
          <a:ext cx="972000" cy="972000"/>
        </p:xfrm>
        <a:graphic>
          <a:graphicData uri="http://schemas.openxmlformats.org/drawingml/2006/chart">
            <c:chart xmlns:c="http://schemas.openxmlformats.org/drawingml/2006/chart" xmlns:r="http://schemas.openxmlformats.org/officeDocument/2006/relationships" r:id="rId42"/>
          </a:graphicData>
        </a:graphic>
      </p:graphicFrame>
      <p:sp>
        <p:nvSpPr>
          <p:cNvPr id="104" name="Rectangle 85">
            <a:extLst>
              <a:ext uri="{FF2B5EF4-FFF2-40B4-BE49-F238E27FC236}">
                <a16:creationId xmlns:a16="http://schemas.microsoft.com/office/drawing/2014/main" id="{AF7DEDFA-0A5A-42BE-86CD-30BFDF818525}"/>
              </a:ext>
            </a:extLst>
          </p:cNvPr>
          <p:cNvSpPr/>
          <p:nvPr>
            <p:custDataLst>
              <p:tags r:id="rId4"/>
            </p:custDataLst>
          </p:nvPr>
        </p:nvSpPr>
        <p:spPr bwMode="gray">
          <a:xfrm>
            <a:off x="3529684" y="2018333"/>
            <a:ext cx="17334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8998</a:t>
            </a:r>
            <a:endParaRPr lang="en-US" sz="600" dirty="0">
              <a:solidFill>
                <a:schemeClr val="accent1"/>
              </a:solidFill>
            </a:endParaRPr>
          </a:p>
        </p:txBody>
      </p:sp>
      <p:sp>
        <p:nvSpPr>
          <p:cNvPr id="105" name="Rectangle 86">
            <a:extLst>
              <a:ext uri="{FF2B5EF4-FFF2-40B4-BE49-F238E27FC236}">
                <a16:creationId xmlns:a16="http://schemas.microsoft.com/office/drawing/2014/main" id="{3A200B03-69C6-4E99-890E-5A6C8E1563E8}"/>
              </a:ext>
            </a:extLst>
          </p:cNvPr>
          <p:cNvSpPr/>
          <p:nvPr>
            <p:custDataLst>
              <p:tags r:id="rId5"/>
            </p:custDataLst>
          </p:nvPr>
        </p:nvSpPr>
        <p:spPr bwMode="auto">
          <a:xfrm>
            <a:off x="3514472" y="2080286"/>
            <a:ext cx="379703"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 xml:space="preserve">Approved</a:t>
            </a:r>
            <a:endParaRPr lang="en-US" sz="600" noProof="0" dirty="0">
              <a:solidFill>
                <a:schemeClr val="tx1"/>
              </a:solidFill>
            </a:endParaRPr>
          </a:p>
        </p:txBody>
      </p:sp>
      <p:sp>
        <p:nvSpPr>
          <p:cNvPr id="106" name="Rectangle 87">
            <a:extLst>
              <a:ext uri="{FF2B5EF4-FFF2-40B4-BE49-F238E27FC236}">
                <a16:creationId xmlns:a16="http://schemas.microsoft.com/office/drawing/2014/main" id="{30B95B95-D274-4563-B485-8C7158EB3E7F}"/>
              </a:ext>
            </a:extLst>
          </p:cNvPr>
          <p:cNvSpPr/>
          <p:nvPr>
            <p:custDataLst>
              <p:tags r:id="rId6"/>
            </p:custDataLst>
          </p:nvPr>
        </p:nvSpPr>
        <p:spPr bwMode="gray">
          <a:xfrm>
            <a:off x="3533156" y="1154549"/>
            <a:ext cx="17334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4464</a:t>
            </a:r>
            <a:endParaRPr lang="en-US" sz="600" dirty="0">
              <a:solidFill>
                <a:schemeClr val="accent1"/>
              </a:solidFill>
            </a:endParaRPr>
          </a:p>
        </p:txBody>
      </p:sp>
      <p:sp>
        <p:nvSpPr>
          <p:cNvPr id="107" name="Rectangle 88">
            <a:extLst>
              <a:ext uri="{FF2B5EF4-FFF2-40B4-BE49-F238E27FC236}">
                <a16:creationId xmlns:a16="http://schemas.microsoft.com/office/drawing/2014/main" id="{E9069CF8-521B-4257-B147-0B41A550AF0C}"/>
              </a:ext>
            </a:extLst>
          </p:cNvPr>
          <p:cNvSpPr/>
          <p:nvPr>
            <p:custDataLst>
              <p:tags r:id="rId7"/>
            </p:custDataLst>
          </p:nvPr>
        </p:nvSpPr>
        <p:spPr bwMode="auto">
          <a:xfrm>
            <a:off x="3536521" y="1216698"/>
            <a:ext cx="429904" cy="211863"/>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 xml:space="preserve">Approved</a:t>
            </a:r>
          </a:p>
          <a:p>
            <a:pPr rtl="0">
              <a:spcBef>
                <a:spcPct val="0"/>
              </a:spcBef>
              <a:spcAft>
                <a:spcPct val="0"/>
              </a:spcAft>
            </a:pPr>
            <a:r>
              <a:rPr lang="ru-RU" sz="600" noProof="0" dirty="0">
                <a:solidFill>
                  <a:schemeClr val="tx1"/>
                </a:solidFill>
              </a:rPr>
              <a:t xml:space="preserve">with conditions</a:t>
            </a:r>
            <a:endParaRPr lang="en-US" sz="600" noProof="0" dirty="0">
              <a:solidFill>
                <a:schemeClr val="tx1"/>
              </a:solidFill>
            </a:endParaRPr>
          </a:p>
        </p:txBody>
      </p:sp>
      <p:sp>
        <p:nvSpPr>
          <p:cNvPr id="108" name="Rectangle 90">
            <a:extLst>
              <a:ext uri="{FF2B5EF4-FFF2-40B4-BE49-F238E27FC236}">
                <a16:creationId xmlns:a16="http://schemas.microsoft.com/office/drawing/2014/main" id="{02DC1CC5-DF5F-4C1B-8AA8-EEA7DB620556}"/>
              </a:ext>
            </a:extLst>
          </p:cNvPr>
          <p:cNvSpPr/>
          <p:nvPr>
            <p:custDataLst>
              <p:tags r:id="rId8"/>
            </p:custDataLst>
          </p:nvPr>
        </p:nvSpPr>
        <p:spPr bwMode="gray">
          <a:xfrm>
            <a:off x="4787626" y="1389019"/>
            <a:ext cx="92249"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66</a:t>
            </a:r>
            <a:endParaRPr lang="en-US" sz="600" dirty="0">
              <a:solidFill>
                <a:schemeClr val="accent1"/>
              </a:solidFill>
            </a:endParaRPr>
          </a:p>
        </p:txBody>
      </p:sp>
      <p:sp>
        <p:nvSpPr>
          <p:cNvPr id="109" name="Rectangle 91">
            <a:extLst>
              <a:ext uri="{FF2B5EF4-FFF2-40B4-BE49-F238E27FC236}">
                <a16:creationId xmlns:a16="http://schemas.microsoft.com/office/drawing/2014/main" id="{94B1C761-9328-4F2E-A87E-0925B1E701FD}"/>
              </a:ext>
            </a:extLst>
          </p:cNvPr>
          <p:cNvSpPr/>
          <p:nvPr>
            <p:custDataLst>
              <p:tags r:id="rId9"/>
            </p:custDataLst>
          </p:nvPr>
        </p:nvSpPr>
        <p:spPr bwMode="auto">
          <a:xfrm>
            <a:off x="4791072" y="1463860"/>
            <a:ext cx="462719"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en-US" sz="600" noProof="0" dirty="0">
                <a:solidFill>
                  <a:schemeClr val="tx1"/>
                </a:solidFill>
              </a:rPr>
              <a:t xml:space="preserve">Rejected</a:t>
            </a:r>
          </a:p>
        </p:txBody>
      </p:sp>
      <p:sp>
        <p:nvSpPr>
          <p:cNvPr id="111" name="Rectangle 92">
            <a:extLst>
              <a:ext uri="{FF2B5EF4-FFF2-40B4-BE49-F238E27FC236}">
                <a16:creationId xmlns:a16="http://schemas.microsoft.com/office/drawing/2014/main" id="{4F2FDECC-5619-4AE0-9CEB-D0F9BD808494}"/>
              </a:ext>
            </a:extLst>
          </p:cNvPr>
          <p:cNvSpPr/>
          <p:nvPr>
            <p:custDataLst>
              <p:tags r:id="rId10"/>
            </p:custDataLst>
          </p:nvPr>
        </p:nvSpPr>
        <p:spPr bwMode="gray">
          <a:xfrm>
            <a:off x="4777593" y="1970870"/>
            <a:ext cx="123816"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119</a:t>
            </a:r>
            <a:endParaRPr lang="en-US" sz="600" dirty="0">
              <a:solidFill>
                <a:schemeClr val="accent1"/>
              </a:solidFill>
            </a:endParaRPr>
          </a:p>
        </p:txBody>
      </p:sp>
      <p:sp>
        <p:nvSpPr>
          <p:cNvPr id="190" name="Rectangle 93">
            <a:extLst>
              <a:ext uri="{FF2B5EF4-FFF2-40B4-BE49-F238E27FC236}">
                <a16:creationId xmlns:a16="http://schemas.microsoft.com/office/drawing/2014/main" id="{42BA7CF0-044C-4DF3-A489-101752DE342D}"/>
              </a:ext>
            </a:extLst>
          </p:cNvPr>
          <p:cNvSpPr/>
          <p:nvPr>
            <p:custDataLst>
              <p:tags r:id="rId11"/>
            </p:custDataLst>
          </p:nvPr>
        </p:nvSpPr>
        <p:spPr bwMode="auto">
          <a:xfrm>
            <a:off x="4787625" y="2079432"/>
            <a:ext cx="489413"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en-US" sz="600" noProof="0" dirty="0">
                <a:solidFill>
                  <a:schemeClr val="tx1"/>
                </a:solidFill>
              </a:rPr>
              <a:t xml:space="preserve">In progress</a:t>
            </a:r>
            <a:r>
              <a:rPr lang="en-US" sz="600" noProof="0" dirty="0">
                <a:solidFill>
                  <a:srgbClr val="FF0000"/>
                </a:solidFill>
              </a:rPr>
              <a:t/>
            </a:r>
            <a:r>
              <a:rPr lang="en-US" sz="600" noProof="0" dirty="0">
                <a:solidFill>
                  <a:schemeClr val="tx1"/>
                </a:solidFill>
              </a:rPr>
              <a:t/>
            </a:r>
            <a:r>
              <a:rPr lang="ru-RU" sz="600" noProof="0" dirty="0">
                <a:solidFill>
                  <a:schemeClr val="tx1"/>
                </a:solidFill>
              </a:rPr>
              <a:t/>
            </a:r>
          </a:p>
          <a:p>
            <a:pPr rtl="0">
              <a:spcBef>
                <a:spcPct val="0"/>
              </a:spcBef>
              <a:spcAft>
                <a:spcPct val="0"/>
              </a:spcAft>
            </a:pPr>
            <a:r>
              <a:rPr lang="ru-RU" sz="500" noProof="0" dirty="0">
                <a:solidFill>
                  <a:schemeClr val="tx1"/>
                </a:solidFill>
              </a:rPr>
              <a:t xml:space="preserve">(as of 12/31/2025)</a:t>
            </a:r>
            <a:r>
              <a:rPr lang="ru-RU" sz="500" noProof="0" dirty="0" smtClean="0">
                <a:solidFill>
                  <a:schemeClr val="tx1"/>
                </a:solidFill>
              </a:rPr>
              <a:t/>
            </a:r>
            <a:r>
              <a:rPr lang="ru-RU" sz="500" noProof="0" dirty="0">
                <a:solidFill>
                  <a:schemeClr val="tx1"/>
                </a:solidFill>
              </a:rPr>
              <a:t/>
            </a:r>
            <a:endParaRPr lang="en-US" sz="500" noProof="0" dirty="0">
              <a:solidFill>
                <a:schemeClr val="tx1"/>
              </a:solidFill>
            </a:endParaRPr>
          </a:p>
        </p:txBody>
      </p:sp>
      <p:sp>
        <p:nvSpPr>
          <p:cNvPr id="192" name="Rectangle 83">
            <a:extLst>
              <a:ext uri="{FF2B5EF4-FFF2-40B4-BE49-F238E27FC236}">
                <a16:creationId xmlns:a16="http://schemas.microsoft.com/office/drawing/2014/main" id="{3FC76B20-E328-49BE-9EE3-FF199EB16D65}"/>
              </a:ext>
            </a:extLst>
          </p:cNvPr>
          <p:cNvSpPr/>
          <p:nvPr>
            <p:custDataLst>
              <p:tags r:id="rId12"/>
            </p:custDataLst>
          </p:nvPr>
        </p:nvSpPr>
        <p:spPr bwMode="auto">
          <a:xfrm>
            <a:off x="4128244" y="1621599"/>
            <a:ext cx="370139" cy="15821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rtl="0">
              <a:spcBef>
                <a:spcPct val="0"/>
              </a:spcBef>
              <a:spcAft>
                <a:spcPct val="0"/>
              </a:spcAft>
            </a:pPr>
            <a:r>
              <a:rPr lang="ru-RU" sz="1200" noProof="0" dirty="0" smtClean="0">
                <a:solidFill>
                  <a:schemeClr val="accent1"/>
                </a:solidFill>
              </a:rPr>
              <a:t>13673</a:t>
            </a:r>
            <a:endParaRPr lang="en-US" sz="1200" noProof="0" dirty="0">
              <a:solidFill>
                <a:schemeClr val="accent1"/>
              </a:solidFill>
            </a:endParaRPr>
          </a:p>
        </p:txBody>
      </p:sp>
      <p:sp>
        <p:nvSpPr>
          <p:cNvPr id="193" name="Rectangle 90">
            <a:extLst>
              <a:ext uri="{FF2B5EF4-FFF2-40B4-BE49-F238E27FC236}">
                <a16:creationId xmlns:a16="http://schemas.microsoft.com/office/drawing/2014/main" id="{02DC1CC5-DF5F-4C1B-8AA8-EEA7DB620556}"/>
              </a:ext>
            </a:extLst>
          </p:cNvPr>
          <p:cNvSpPr/>
          <p:nvPr>
            <p:custDataLst>
              <p:tags r:id="rId13"/>
            </p:custDataLst>
          </p:nvPr>
        </p:nvSpPr>
        <p:spPr bwMode="gray">
          <a:xfrm>
            <a:off x="4791072" y="1624548"/>
            <a:ext cx="9519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26</a:t>
            </a:r>
            <a:endParaRPr lang="en-US" sz="600" dirty="0">
              <a:solidFill>
                <a:schemeClr val="accent1"/>
              </a:solidFill>
            </a:endParaRPr>
          </a:p>
        </p:txBody>
      </p:sp>
      <p:sp>
        <p:nvSpPr>
          <p:cNvPr id="195" name="Rectangle 91">
            <a:extLst>
              <a:ext uri="{FF2B5EF4-FFF2-40B4-BE49-F238E27FC236}">
                <a16:creationId xmlns:a16="http://schemas.microsoft.com/office/drawing/2014/main" id="{94B1C761-9328-4F2E-A87E-0925B1E701FD}"/>
              </a:ext>
            </a:extLst>
          </p:cNvPr>
          <p:cNvSpPr/>
          <p:nvPr>
            <p:custDataLst>
              <p:tags r:id="rId14"/>
            </p:custDataLst>
          </p:nvPr>
        </p:nvSpPr>
        <p:spPr bwMode="auto">
          <a:xfrm>
            <a:off x="4791877" y="1756506"/>
            <a:ext cx="349435"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 xml:space="preserve">Reviewed</a:t>
            </a:r>
          </a:p>
          <a:p>
            <a:pPr rtl="0">
              <a:spcBef>
                <a:spcPct val="0"/>
              </a:spcBef>
              <a:spcAft>
                <a:spcPct val="0"/>
              </a:spcAft>
            </a:pPr>
            <a:r>
              <a:rPr lang="ru-RU" sz="600" noProof="0" dirty="0">
                <a:solidFill>
                  <a:schemeClr val="tx1"/>
                </a:solidFill>
              </a:rPr>
              <a:t xml:space="preserve">after the fact</a:t>
            </a:r>
            <a:endParaRPr lang="en-US" sz="600" noProof="0" dirty="0">
              <a:solidFill>
                <a:schemeClr val="tx1"/>
              </a:solidFill>
            </a:endParaRPr>
          </a:p>
        </p:txBody>
      </p:sp>
      <p:cxnSp>
        <p:nvCxnSpPr>
          <p:cNvPr id="198" name="Прямая соединительная линия 197"/>
          <p:cNvCxnSpPr>
            <a:endCxn id="111" idx="1"/>
          </p:cNvCxnSpPr>
          <p:nvPr/>
        </p:nvCxnSpPr>
        <p:spPr>
          <a:xfrm>
            <a:off x="4597955" y="1899487"/>
            <a:ext cx="179638" cy="118846"/>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99" name="Прямая соединительная линия 198"/>
          <p:cNvCxnSpPr/>
          <p:nvPr/>
        </p:nvCxnSpPr>
        <p:spPr>
          <a:xfrm flipV="1">
            <a:off x="3718238" y="1896762"/>
            <a:ext cx="306357" cy="165704"/>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03" name="Прямая соединительная линия 202"/>
          <p:cNvCxnSpPr>
            <a:stCxn id="107" idx="3"/>
          </p:cNvCxnSpPr>
          <p:nvPr/>
        </p:nvCxnSpPr>
        <p:spPr>
          <a:xfrm>
            <a:off x="3966425" y="1322630"/>
            <a:ext cx="449752" cy="76927"/>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04" name="Прямая соединительная линия 203"/>
          <p:cNvCxnSpPr>
            <a:endCxn id="109" idx="1"/>
          </p:cNvCxnSpPr>
          <p:nvPr/>
        </p:nvCxnSpPr>
        <p:spPr>
          <a:xfrm flipV="1">
            <a:off x="4610957" y="1516826"/>
            <a:ext cx="180115" cy="379936"/>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05" name="Прямая соединительная линия 204"/>
          <p:cNvCxnSpPr>
            <a:endCxn id="103" idx="3"/>
          </p:cNvCxnSpPr>
          <p:nvPr/>
        </p:nvCxnSpPr>
        <p:spPr>
          <a:xfrm flipV="1">
            <a:off x="4610957" y="1707563"/>
            <a:ext cx="189907" cy="175777"/>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graphicFrame>
        <p:nvGraphicFramePr>
          <p:cNvPr id="206" name="Chart 104">
            <a:extLst>
              <a:ext uri="{FF2B5EF4-FFF2-40B4-BE49-F238E27FC236}">
                <a16:creationId xmlns:a16="http://schemas.microsoft.com/office/drawing/2014/main" id="{9C1051F5-CEB8-4F11-9B17-7718641A31F5}"/>
              </a:ext>
            </a:extLst>
          </p:cNvPr>
          <p:cNvGraphicFramePr/>
          <p:nvPr>
            <p:custDataLst>
              <p:tags r:id="rId15"/>
            </p:custDataLst>
            <p:extLst>
              <p:ext uri="{D42A27DB-BD31-4B8C-83A1-F6EECF244321}">
                <p14:modId xmlns:p14="http://schemas.microsoft.com/office/powerpoint/2010/main" val="1959463332"/>
              </p:ext>
            </p:extLst>
          </p:nvPr>
        </p:nvGraphicFramePr>
        <p:xfrm>
          <a:off x="3904608" y="2884533"/>
          <a:ext cx="855704" cy="855705"/>
        </p:xfrm>
        <a:graphic>
          <a:graphicData uri="http://schemas.openxmlformats.org/drawingml/2006/chart">
            <c:chart xmlns:c="http://schemas.openxmlformats.org/drawingml/2006/chart" xmlns:r="http://schemas.openxmlformats.org/officeDocument/2006/relationships" r:id="rId43"/>
          </a:graphicData>
        </a:graphic>
      </p:graphicFrame>
      <p:sp>
        <p:nvSpPr>
          <p:cNvPr id="207" name="Rectangle 105">
            <a:extLst>
              <a:ext uri="{FF2B5EF4-FFF2-40B4-BE49-F238E27FC236}">
                <a16:creationId xmlns:a16="http://schemas.microsoft.com/office/drawing/2014/main" id="{1612AA7E-BE6C-4E3A-BCE3-E0C62C486615}"/>
              </a:ext>
            </a:extLst>
          </p:cNvPr>
          <p:cNvSpPr/>
          <p:nvPr>
            <p:custDataLst>
              <p:tags r:id="rId16"/>
            </p:custDataLst>
          </p:nvPr>
        </p:nvSpPr>
        <p:spPr bwMode="gray">
          <a:xfrm>
            <a:off x="4915463" y="3374316"/>
            <a:ext cx="17334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r" rtl="0">
              <a:lnSpc>
                <a:spcPct val="90000"/>
              </a:lnSpc>
              <a:spcBef>
                <a:spcPct val="0"/>
              </a:spcBef>
              <a:spcAft>
                <a:spcPct val="0"/>
              </a:spcAft>
            </a:pPr>
            <a:r>
              <a:rPr lang="ru-RU" sz="600" dirty="0" smtClean="0">
                <a:solidFill>
                  <a:schemeClr val="accent1"/>
                </a:solidFill>
              </a:rPr>
              <a:t>9789</a:t>
            </a:r>
            <a:endParaRPr lang="en-US" sz="600" dirty="0">
              <a:solidFill>
                <a:schemeClr val="accent1"/>
              </a:solidFill>
            </a:endParaRPr>
          </a:p>
        </p:txBody>
      </p:sp>
      <p:sp>
        <p:nvSpPr>
          <p:cNvPr id="208" name="Rectangle 106">
            <a:extLst>
              <a:ext uri="{FF2B5EF4-FFF2-40B4-BE49-F238E27FC236}">
                <a16:creationId xmlns:a16="http://schemas.microsoft.com/office/drawing/2014/main" id="{ABE393E1-D538-41DD-8D81-036A303D3A04}"/>
              </a:ext>
            </a:extLst>
          </p:cNvPr>
          <p:cNvSpPr/>
          <p:nvPr>
            <p:custDataLst>
              <p:tags r:id="rId17"/>
            </p:custDataLst>
          </p:nvPr>
        </p:nvSpPr>
        <p:spPr bwMode="auto">
          <a:xfrm>
            <a:off x="4745560" y="3265047"/>
            <a:ext cx="339806"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sz="600" noProof="0" dirty="0">
                <a:solidFill>
                  <a:schemeClr val="tx1"/>
                </a:solidFill>
              </a:rPr>
              <a:t xml:space="preserve">1–3 days</a:t>
            </a:r>
            <a:r>
              <a:rPr lang="ru-RU" sz="600" dirty="0">
                <a:solidFill>
                  <a:schemeClr val="tx1"/>
                </a:solidFill>
              </a:rPr>
              <a:t/>
            </a:r>
          </a:p>
        </p:txBody>
      </p:sp>
      <p:sp>
        <p:nvSpPr>
          <p:cNvPr id="209" name="Rectangle 107">
            <a:extLst>
              <a:ext uri="{FF2B5EF4-FFF2-40B4-BE49-F238E27FC236}">
                <a16:creationId xmlns:a16="http://schemas.microsoft.com/office/drawing/2014/main" id="{20BD5995-53EC-49A9-B031-12A51CB8D71C}"/>
              </a:ext>
            </a:extLst>
          </p:cNvPr>
          <p:cNvSpPr/>
          <p:nvPr>
            <p:custDataLst>
              <p:tags r:id="rId18"/>
            </p:custDataLst>
          </p:nvPr>
        </p:nvSpPr>
        <p:spPr bwMode="gray">
          <a:xfrm>
            <a:off x="3660680" y="3252905"/>
            <a:ext cx="123816"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600" dirty="0" smtClean="0">
                <a:solidFill>
                  <a:schemeClr val="accent1"/>
                </a:solidFill>
              </a:rPr>
              <a:t>1373</a:t>
            </a:r>
            <a:endParaRPr lang="en-US" sz="600" dirty="0">
              <a:solidFill>
                <a:schemeClr val="accent1"/>
              </a:solidFill>
            </a:endParaRPr>
          </a:p>
        </p:txBody>
      </p:sp>
      <p:sp>
        <p:nvSpPr>
          <p:cNvPr id="210" name="Rectangle 108">
            <a:extLst>
              <a:ext uri="{FF2B5EF4-FFF2-40B4-BE49-F238E27FC236}">
                <a16:creationId xmlns:a16="http://schemas.microsoft.com/office/drawing/2014/main" id="{F4467DDD-4F77-4A85-94BD-6994C653D58B}"/>
              </a:ext>
            </a:extLst>
          </p:cNvPr>
          <p:cNvSpPr/>
          <p:nvPr>
            <p:custDataLst>
              <p:tags r:id="rId19"/>
            </p:custDataLst>
          </p:nvPr>
        </p:nvSpPr>
        <p:spPr bwMode="auto">
          <a:xfrm>
            <a:off x="3444423" y="3143294"/>
            <a:ext cx="339806"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sz="600" noProof="0" dirty="0">
                <a:solidFill>
                  <a:schemeClr val="tx1"/>
                </a:solidFill>
              </a:rPr>
              <a:t xml:space="preserve">4–5 days</a:t>
            </a:r>
            <a:r>
              <a:rPr lang="ru-RU" sz="600" dirty="0">
                <a:solidFill>
                  <a:schemeClr val="tx1"/>
                </a:solidFill>
              </a:rPr>
              <a:t/>
            </a:r>
          </a:p>
        </p:txBody>
      </p:sp>
      <p:sp>
        <p:nvSpPr>
          <p:cNvPr id="211" name="Rectangle 109">
            <a:extLst>
              <a:ext uri="{FF2B5EF4-FFF2-40B4-BE49-F238E27FC236}">
                <a16:creationId xmlns:a16="http://schemas.microsoft.com/office/drawing/2014/main" id="{12F41885-12F4-4487-B54B-77DBFFF68659}"/>
              </a:ext>
            </a:extLst>
          </p:cNvPr>
          <p:cNvSpPr/>
          <p:nvPr>
            <p:custDataLst>
              <p:tags r:id="rId20"/>
            </p:custDataLst>
          </p:nvPr>
        </p:nvSpPr>
        <p:spPr bwMode="gray">
          <a:xfrm>
            <a:off x="3768841" y="2921418"/>
            <a:ext cx="173342" cy="94926"/>
          </a:xfrm>
          <a:prstGeom prst="rect">
            <a:avLst/>
          </a:prstGeom>
          <a:noFill/>
          <a:ln w="9525">
            <a:noFill/>
          </a:ln>
          <a:effectLst/>
          <a:extLst>
            <a:ext uri="{909E8E84-426E-40DD-AFC4-6F175D3DCCD1}">
              <a14:hiddenFill xmlns:a14="http://schemas.microsoft.com/office/drawing/2010/main">
                <a:solidFill>
                  <a:schemeClr val="accent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r" rtl="0">
              <a:lnSpc>
                <a:spcPct val="90000"/>
              </a:lnSpc>
              <a:spcBef>
                <a:spcPct val="0"/>
              </a:spcBef>
              <a:spcAft>
                <a:spcPct val="0"/>
              </a:spcAft>
            </a:pPr>
            <a:r>
              <a:rPr lang="ru-RU" sz="600" noProof="0" dirty="0" smtClean="0">
                <a:solidFill>
                  <a:schemeClr val="accent1"/>
                </a:solidFill>
              </a:rPr>
              <a:t>2392</a:t>
            </a:r>
            <a:endParaRPr lang="en-US" sz="600" noProof="0" dirty="0">
              <a:solidFill>
                <a:schemeClr val="accent1"/>
              </a:solidFill>
            </a:endParaRPr>
          </a:p>
        </p:txBody>
      </p:sp>
      <p:sp>
        <p:nvSpPr>
          <p:cNvPr id="212" name="Rectangle 110">
            <a:extLst>
              <a:ext uri="{FF2B5EF4-FFF2-40B4-BE49-F238E27FC236}">
                <a16:creationId xmlns:a16="http://schemas.microsoft.com/office/drawing/2014/main" id="{4924D209-B6FF-4954-864F-67D1EB57EF60}"/>
              </a:ext>
            </a:extLst>
          </p:cNvPr>
          <p:cNvSpPr/>
          <p:nvPr>
            <p:custDataLst>
              <p:tags r:id="rId21"/>
            </p:custDataLst>
          </p:nvPr>
        </p:nvSpPr>
        <p:spPr bwMode="auto">
          <a:xfrm>
            <a:off x="3614922" y="2811073"/>
            <a:ext cx="312291" cy="105932"/>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sz="600" noProof="0" dirty="0">
                <a:solidFill>
                  <a:schemeClr val="tx1"/>
                </a:solidFill>
              </a:rPr>
              <a:t xml:space="preserve">&gt;5 days</a:t>
            </a:r>
            <a:r>
              <a:rPr lang="ru-RU" sz="600" dirty="0">
                <a:solidFill>
                  <a:schemeClr val="tx1"/>
                </a:solidFill>
              </a:rPr>
              <a:t/>
            </a:r>
          </a:p>
        </p:txBody>
      </p:sp>
      <p:sp>
        <p:nvSpPr>
          <p:cNvPr id="213" name="Rectangle 103">
            <a:extLst>
              <a:ext uri="{FF2B5EF4-FFF2-40B4-BE49-F238E27FC236}">
                <a16:creationId xmlns:a16="http://schemas.microsoft.com/office/drawing/2014/main" id="{21123248-30C4-4057-B0C2-AE641379D41D}"/>
              </a:ext>
            </a:extLst>
          </p:cNvPr>
          <p:cNvSpPr/>
          <p:nvPr>
            <p:custDataLst>
              <p:tags r:id="rId22"/>
            </p:custDataLst>
          </p:nvPr>
        </p:nvSpPr>
        <p:spPr bwMode="auto">
          <a:xfrm>
            <a:off x="4188883" y="3237935"/>
            <a:ext cx="266395" cy="15821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rtl="0">
              <a:spcBef>
                <a:spcPct val="0"/>
              </a:spcBef>
              <a:spcAft>
                <a:spcPct val="0"/>
              </a:spcAft>
            </a:pPr>
            <a:r>
              <a:rPr lang="ru-RU" sz="1200" noProof="0" dirty="0" smtClean="0">
                <a:solidFill>
                  <a:schemeClr val="accent1"/>
                </a:solidFill>
              </a:rPr>
              <a:t>13554</a:t>
            </a:r>
            <a:endParaRPr lang="en-US" sz="1200" noProof="0" dirty="0">
              <a:solidFill>
                <a:schemeClr val="accent1"/>
              </a:solidFill>
            </a:endParaRPr>
          </a:p>
        </p:txBody>
      </p:sp>
      <p:cxnSp>
        <p:nvCxnSpPr>
          <p:cNvPr id="214" name="Прямая соединительная линия 213"/>
          <p:cNvCxnSpPr/>
          <p:nvPr/>
        </p:nvCxnSpPr>
        <p:spPr>
          <a:xfrm>
            <a:off x="3816828" y="3237772"/>
            <a:ext cx="207767" cy="11454"/>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15" name="Прямая соединительная линия 214"/>
          <p:cNvCxnSpPr/>
          <p:nvPr/>
        </p:nvCxnSpPr>
        <p:spPr>
          <a:xfrm>
            <a:off x="3942183" y="2917005"/>
            <a:ext cx="235059" cy="112383"/>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16" name="Прямая соединительная линия 215"/>
          <p:cNvCxnSpPr>
            <a:endCxn id="208" idx="1"/>
          </p:cNvCxnSpPr>
          <p:nvPr/>
        </p:nvCxnSpPr>
        <p:spPr>
          <a:xfrm flipV="1">
            <a:off x="4651048" y="3318013"/>
            <a:ext cx="94512" cy="14804"/>
          </a:xfrm>
          <a:prstGeom prst="line">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17" name="Прямоугольник 216"/>
          <p:cNvSpPr/>
          <p:nvPr/>
        </p:nvSpPr>
        <p:spPr>
          <a:xfrm>
            <a:off x="3765666" y="3671249"/>
            <a:ext cx="1172116" cy="184666"/>
          </a:xfrm>
          <a:prstGeom prst="rect">
            <a:avLst/>
          </a:prstGeom>
        </p:spPr>
        <p:txBody>
          <a:bodyPr wrap="none">
            <a:spAutoFit/>
          </a:bodyPr>
          <a:lstStyle/>
          <a:p>
            <a:r>
              <a:rPr lang="ru" sz="600" i="1" dirty="0"/>
              <a:t xml:space="preserve">excluding PDA “in operation”</a:t>
            </a:r>
            <a:endParaRPr lang="ru-RU" sz="600" i="1" dirty="0"/>
          </a:p>
        </p:txBody>
      </p:sp>
      <p:sp>
        <p:nvSpPr>
          <p:cNvPr id="98" name="Rectangle: Rounded Corners 79">
            <a:extLst>
              <a:ext uri="{FF2B5EF4-FFF2-40B4-BE49-F238E27FC236}">
                <a16:creationId xmlns:a16="http://schemas.microsoft.com/office/drawing/2014/main" id="{1F748530-9A05-41B4-BFBF-49C8A8F36CC9}"/>
              </a:ext>
            </a:extLst>
          </p:cNvPr>
          <p:cNvSpPr/>
          <p:nvPr/>
        </p:nvSpPr>
        <p:spPr>
          <a:xfrm>
            <a:off x="5489088" y="819260"/>
            <a:ext cx="6275889" cy="2205061"/>
          </a:xfrm>
          <a:prstGeom prst="roundRect">
            <a:avLst>
              <a:gd name="adj" fmla="val 6402"/>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spcAft>
                <a:spcPts val="600"/>
              </a:spcAft>
            </a:pPr>
            <a:r>
              <a:rPr lang="ru" sz="1000" b="1" noProof="0" dirty="0">
                <a:solidFill>
                  <a:schemeClr val="tx1"/>
                </a:solidFill>
              </a:rPr>
              <a:t xml:space="preserve">Compliance List (CL): Categories of third parties and transactions with them</a:t>
            </a:r>
          </a:p>
        </p:txBody>
      </p:sp>
      <p:graphicFrame>
        <p:nvGraphicFramePr>
          <p:cNvPr id="99" name="Chart 89">
            <a:extLst>
              <a:ext uri="{FF2B5EF4-FFF2-40B4-BE49-F238E27FC236}">
                <a16:creationId xmlns:a16="http://schemas.microsoft.com/office/drawing/2014/main" id="{66F36983-5154-46C5-AE03-6A9644C2B132}"/>
              </a:ext>
            </a:extLst>
          </p:cNvPr>
          <p:cNvGraphicFramePr/>
          <p:nvPr>
            <p:custDataLst>
              <p:tags r:id="rId23"/>
            </p:custDataLst>
            <p:extLst>
              <p:ext uri="{D42A27DB-BD31-4B8C-83A1-F6EECF244321}">
                <p14:modId xmlns:p14="http://schemas.microsoft.com/office/powerpoint/2010/main" val="1083544339"/>
              </p:ext>
            </p:extLst>
          </p:nvPr>
        </p:nvGraphicFramePr>
        <p:xfrm>
          <a:off x="5976917" y="1485479"/>
          <a:ext cx="1160463" cy="1160463"/>
        </p:xfrm>
        <a:graphic>
          <a:graphicData uri="http://schemas.openxmlformats.org/drawingml/2006/chart">
            <c:chart xmlns:c="http://schemas.openxmlformats.org/drawingml/2006/chart" xmlns:r="http://schemas.openxmlformats.org/officeDocument/2006/relationships" r:id="rId44"/>
          </a:graphicData>
        </a:graphic>
      </p:graphicFrame>
      <p:sp>
        <p:nvSpPr>
          <p:cNvPr id="100" name="Rectangle 39">
            <a:extLst>
              <a:ext uri="{FF2B5EF4-FFF2-40B4-BE49-F238E27FC236}">
                <a16:creationId xmlns:a16="http://schemas.microsoft.com/office/drawing/2014/main" id="{7D9E7737-7FF0-4EDC-A682-0AB95EAF617D}"/>
              </a:ext>
            </a:extLst>
          </p:cNvPr>
          <p:cNvSpPr/>
          <p:nvPr>
            <p:custDataLst>
              <p:tags r:id="rId24"/>
            </p:custDataLst>
          </p:nvPr>
        </p:nvSpPr>
        <p:spPr bwMode="auto">
          <a:xfrm>
            <a:off x="7051655" y="2453537"/>
            <a:ext cx="107950" cy="80963"/>
          </a:xfrm>
          <a:prstGeom prst="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110" name="Rectangle 40">
            <a:extLst>
              <a:ext uri="{FF2B5EF4-FFF2-40B4-BE49-F238E27FC236}">
                <a16:creationId xmlns:a16="http://schemas.microsoft.com/office/drawing/2014/main" id="{1E9B6676-1C76-4283-9C6D-CC1CC0BB73C9}"/>
              </a:ext>
            </a:extLst>
          </p:cNvPr>
          <p:cNvSpPr/>
          <p:nvPr>
            <p:custDataLst>
              <p:tags r:id="rId25"/>
            </p:custDataLst>
          </p:nvPr>
        </p:nvSpPr>
        <p:spPr bwMode="auto">
          <a:xfrm>
            <a:off x="7051655" y="2596412"/>
            <a:ext cx="107950" cy="80963"/>
          </a:xfrm>
          <a:prstGeom prst="rect">
            <a:avLst/>
          </a:prstGeom>
          <a:solidFill>
            <a:schemeClr val="accent4"/>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115" name="Rectangle 41">
            <a:extLst>
              <a:ext uri="{FF2B5EF4-FFF2-40B4-BE49-F238E27FC236}">
                <a16:creationId xmlns:a16="http://schemas.microsoft.com/office/drawing/2014/main" id="{7FBBF479-286A-48E6-90FA-2D7FB39AFF1F}"/>
              </a:ext>
            </a:extLst>
          </p:cNvPr>
          <p:cNvSpPr/>
          <p:nvPr>
            <p:custDataLst>
              <p:tags r:id="rId26"/>
            </p:custDataLst>
          </p:nvPr>
        </p:nvSpPr>
        <p:spPr bwMode="auto">
          <a:xfrm>
            <a:off x="7051655" y="2739287"/>
            <a:ext cx="107950" cy="80963"/>
          </a:xfrm>
          <a:prstGeom prst="rect">
            <a:avLst/>
          </a:prstGeom>
          <a:solidFill>
            <a:schemeClr val="folHlink"/>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116" name="Rectangle 3">
            <a:extLst>
              <a:ext uri="{FF2B5EF4-FFF2-40B4-BE49-F238E27FC236}">
                <a16:creationId xmlns:a16="http://schemas.microsoft.com/office/drawing/2014/main" id="{3A1B00D3-65B8-4E3B-9152-3FFB2D2795BA}"/>
              </a:ext>
            </a:extLst>
          </p:cNvPr>
          <p:cNvSpPr/>
          <p:nvPr>
            <p:custDataLst>
              <p:tags r:id="rId27"/>
            </p:custDataLst>
          </p:nvPr>
        </p:nvSpPr>
        <p:spPr bwMode="auto">
          <a:xfrm>
            <a:off x="7210405" y="2450362"/>
            <a:ext cx="1833563" cy="92075"/>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dirty="0">
                <a:solidFill>
                  <a:schemeClr val="tx1"/>
                </a:solidFill>
              </a:rPr>
              <a:t xml:space="preserve">Counterparties from KL with transactions</a:t>
            </a:r>
            <a:r>
              <a:rPr lang="en-US" sz="600" noProof="0" dirty="0">
                <a:solidFill>
                  <a:schemeClr val="tx1"/>
                </a:solidFill>
              </a:rPr>
              <a:t/>
            </a:r>
            <a:r>
              <a:rPr lang="ru-RU" sz="600" dirty="0">
                <a:solidFill>
                  <a:schemeClr val="tx1"/>
                </a:solidFill>
              </a:rPr>
              <a:t/>
            </a:r>
            <a:r>
              <a:rPr lang="en-US" sz="600" noProof="0" dirty="0">
                <a:solidFill>
                  <a:schemeClr val="tx1"/>
                </a:solidFill>
              </a:rPr>
              <a:t/>
            </a:r>
            <a:r>
              <a:rPr lang="ru-RU" sz="600" noProof="0" dirty="0">
                <a:solidFill>
                  <a:schemeClr val="tx1"/>
                </a:solidFill>
              </a:rPr>
              <a:t/>
            </a:r>
            <a:r>
              <a:rPr lang="en-US" sz="600" noProof="0" dirty="0">
                <a:solidFill>
                  <a:schemeClr val="tx1"/>
                </a:solidFill>
              </a:rPr>
              <a:t/>
            </a:r>
            <a:r>
              <a:rPr lang="ru-RU" sz="600" dirty="0">
                <a:solidFill>
                  <a:schemeClr val="tx1"/>
                </a:solidFill>
              </a:rPr>
              <a:t/>
            </a:r>
            <a:endParaRPr lang="en-US" sz="600" noProof="0" dirty="0">
              <a:solidFill>
                <a:schemeClr val="tx1"/>
              </a:solidFill>
            </a:endParaRPr>
          </a:p>
        </p:txBody>
      </p:sp>
      <p:sp>
        <p:nvSpPr>
          <p:cNvPr id="117" name="Rectangle 5">
            <a:extLst>
              <a:ext uri="{FF2B5EF4-FFF2-40B4-BE49-F238E27FC236}">
                <a16:creationId xmlns:a16="http://schemas.microsoft.com/office/drawing/2014/main" id="{8BA3C974-9BF2-4226-9836-7E0A3BB73F33}"/>
              </a:ext>
            </a:extLst>
          </p:cNvPr>
          <p:cNvSpPr/>
          <p:nvPr>
            <p:custDataLst>
              <p:tags r:id="rId28"/>
            </p:custDataLst>
          </p:nvPr>
        </p:nvSpPr>
        <p:spPr bwMode="auto">
          <a:xfrm>
            <a:off x="7210405" y="2593237"/>
            <a:ext cx="1939925" cy="92075"/>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dirty="0">
                <a:solidFill>
                  <a:schemeClr val="tx1"/>
                </a:solidFill>
              </a:rPr>
              <a:t xml:space="preserve">Counterparties from KL without transactions</a:t>
            </a:r>
            <a:r>
              <a:rPr lang="ru-RU" sz="600" noProof="0" dirty="0">
                <a:solidFill>
                  <a:schemeClr val="tx1"/>
                </a:solidFill>
              </a:rPr>
              <a:t/>
            </a:r>
            <a:r>
              <a:rPr lang="en-US" sz="600" noProof="0" dirty="0">
                <a:solidFill>
                  <a:schemeClr val="tx1"/>
                </a:solidFill>
              </a:rPr>
              <a:t/>
            </a:r>
            <a:r>
              <a:rPr lang="ru-RU" sz="600" dirty="0">
                <a:solidFill>
                  <a:schemeClr val="tx1"/>
                </a:solidFill>
              </a:rPr>
              <a:t/>
            </a:r>
            <a:r>
              <a:rPr lang="en-US" sz="600" noProof="0" dirty="0">
                <a:solidFill>
                  <a:schemeClr val="tx1"/>
                </a:solidFill>
              </a:rPr>
              <a:t/>
            </a:r>
            <a:r>
              <a:rPr lang="ru-RU" sz="600" noProof="0" dirty="0">
                <a:solidFill>
                  <a:schemeClr val="tx1"/>
                </a:solidFill>
              </a:rPr>
              <a:t/>
            </a:r>
            <a:endParaRPr lang="en-US" sz="600" noProof="0" dirty="0">
              <a:solidFill>
                <a:schemeClr val="tx1"/>
              </a:solidFill>
            </a:endParaRPr>
          </a:p>
        </p:txBody>
      </p:sp>
      <p:sp>
        <p:nvSpPr>
          <p:cNvPr id="118" name="Rectangle 6">
            <a:extLst>
              <a:ext uri="{FF2B5EF4-FFF2-40B4-BE49-F238E27FC236}">
                <a16:creationId xmlns:a16="http://schemas.microsoft.com/office/drawing/2014/main" id="{E97E59F2-4483-4D2E-980C-01AF83DC4BF6}"/>
              </a:ext>
            </a:extLst>
          </p:cNvPr>
          <p:cNvSpPr/>
          <p:nvPr>
            <p:custDataLst>
              <p:tags r:id="rId29"/>
            </p:custDataLst>
          </p:nvPr>
        </p:nvSpPr>
        <p:spPr bwMode="auto">
          <a:xfrm>
            <a:off x="7210405" y="2736112"/>
            <a:ext cx="1249363" cy="92075"/>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 xml:space="preserve">Other counterparties with transactions</a:t>
            </a:r>
            <a:r>
              <a:rPr lang="ru-RU" sz="600" dirty="0">
                <a:solidFill>
                  <a:schemeClr val="tx1"/>
                </a:solidFill>
              </a:rPr>
              <a:t/>
            </a:r>
            <a:r>
              <a:rPr lang="en-US" sz="600" noProof="0" dirty="0">
                <a:solidFill>
                  <a:schemeClr val="tx1"/>
                </a:solidFill>
              </a:rPr>
              <a:t/>
            </a:r>
            <a:r>
              <a:rPr lang="ru-RU" sz="600" noProof="0" dirty="0">
                <a:solidFill>
                  <a:schemeClr val="tx1"/>
                </a:solidFill>
              </a:rPr>
              <a:t/>
            </a:r>
            <a:endParaRPr lang="en-US" sz="600" noProof="0" dirty="0">
              <a:solidFill>
                <a:schemeClr val="tx1"/>
              </a:solidFill>
            </a:endParaRPr>
          </a:p>
        </p:txBody>
      </p:sp>
      <p:sp>
        <p:nvSpPr>
          <p:cNvPr id="119" name="Text Placeholder 39">
            <a:extLst>
              <a:ext uri="{FF2B5EF4-FFF2-40B4-BE49-F238E27FC236}">
                <a16:creationId xmlns:a16="http://schemas.microsoft.com/office/drawing/2014/main" id="{56DF5899-2041-44E8-BE38-191F785D2F25}"/>
              </a:ext>
            </a:extLst>
          </p:cNvPr>
          <p:cNvSpPr txBox="1">
            <a:spLocks/>
          </p:cNvSpPr>
          <p:nvPr/>
        </p:nvSpPr>
        <p:spPr>
          <a:xfrm>
            <a:off x="5968187" y="2545454"/>
            <a:ext cx="533800" cy="12311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800" b="1" dirty="0">
                <a:solidFill>
                  <a:schemeClr val="accent1"/>
                </a:solidFill>
              </a:rPr>
              <a:t>1</a:t>
            </a:r>
            <a:r>
              <a:rPr lang="en-US" sz="800" b="1" dirty="0">
                <a:solidFill>
                  <a:schemeClr val="accent1"/>
                </a:solidFill>
              </a:rPr>
              <a:t>515</a:t>
            </a:r>
            <a:r>
              <a:rPr lang="ru" sz="800" b="1" noProof="0" dirty="0">
                <a:solidFill>
                  <a:schemeClr val="accent1"/>
                </a:solidFill>
              </a:rPr>
              <a:t> </a:t>
            </a:r>
            <a:r>
              <a:rPr lang="ru" sz="800" b="1" dirty="0">
                <a:solidFill>
                  <a:schemeClr val="accent5">
                    <a:lumMod val="75000"/>
                    <a:lumOff val="25000"/>
                  </a:schemeClr>
                </a:solidFill>
              </a:rPr>
              <a:t>(76%)</a:t>
            </a:r>
          </a:p>
        </p:txBody>
      </p:sp>
      <p:sp>
        <p:nvSpPr>
          <p:cNvPr id="120" name="Text Placeholder 39">
            <a:extLst>
              <a:ext uri="{FF2B5EF4-FFF2-40B4-BE49-F238E27FC236}">
                <a16:creationId xmlns:a16="http://schemas.microsoft.com/office/drawing/2014/main" id="{1B9BE44C-1544-439B-9F4C-18AD45C51C81}"/>
              </a:ext>
            </a:extLst>
          </p:cNvPr>
          <p:cNvSpPr txBox="1">
            <a:spLocks/>
          </p:cNvSpPr>
          <p:nvPr/>
        </p:nvSpPr>
        <p:spPr>
          <a:xfrm>
            <a:off x="5934880" y="1139087"/>
            <a:ext cx="1247775" cy="1539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1000" noProof="0"/>
              <a:t xml:space="preserve">Unique counterparties</a:t>
            </a:r>
          </a:p>
        </p:txBody>
      </p:sp>
      <p:sp>
        <p:nvSpPr>
          <p:cNvPr id="121" name="Text Placeholder 39">
            <a:extLst>
              <a:ext uri="{FF2B5EF4-FFF2-40B4-BE49-F238E27FC236}">
                <a16:creationId xmlns:a16="http://schemas.microsoft.com/office/drawing/2014/main" id="{AC166589-2C38-4B1A-A3E2-07C3AE837254}"/>
              </a:ext>
            </a:extLst>
          </p:cNvPr>
          <p:cNvSpPr txBox="1">
            <a:spLocks/>
          </p:cNvSpPr>
          <p:nvPr/>
        </p:nvSpPr>
        <p:spPr>
          <a:xfrm>
            <a:off x="6759454" y="1521508"/>
            <a:ext cx="418384" cy="12311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en-US" sz="800" b="1" noProof="0" dirty="0">
                <a:solidFill>
                  <a:schemeClr val="accent1"/>
                </a:solidFill>
              </a:rPr>
              <a:t>173</a:t>
            </a:r>
            <a:r>
              <a:rPr lang="ru" sz="800" b="1" noProof="0" dirty="0">
                <a:solidFill>
                  <a:schemeClr val="accent1"/>
                </a:solidFill>
              </a:rPr>
              <a:t> </a:t>
            </a:r>
            <a:r>
              <a:rPr lang="ru" sz="800" b="1" noProof="0" dirty="0">
                <a:solidFill>
                  <a:srgbClr val="0080BC"/>
                </a:solidFill>
              </a:rPr>
              <a:t>(</a:t>
            </a:r>
            <a:r>
              <a:rPr lang="en-US" sz="800" b="1" noProof="0" dirty="0">
                <a:solidFill>
                  <a:srgbClr val="0080BC"/>
                </a:solidFill>
              </a:rPr>
              <a:t>8</a:t>
            </a:r>
            <a:r>
              <a:rPr lang="ru" sz="800" b="1" dirty="0">
                <a:solidFill>
                  <a:schemeClr val="accent5">
                    <a:lumMod val="75000"/>
                    <a:lumOff val="25000"/>
                  </a:schemeClr>
                </a:solidFill>
              </a:rPr>
              <a:t>%)</a:t>
            </a:r>
          </a:p>
        </p:txBody>
      </p:sp>
      <p:sp>
        <p:nvSpPr>
          <p:cNvPr id="122" name="Text Placeholder 39">
            <a:extLst>
              <a:ext uri="{FF2B5EF4-FFF2-40B4-BE49-F238E27FC236}">
                <a16:creationId xmlns:a16="http://schemas.microsoft.com/office/drawing/2014/main" id="{A390D6BF-26CF-40BB-8715-20369D982075}"/>
              </a:ext>
            </a:extLst>
          </p:cNvPr>
          <p:cNvSpPr txBox="1">
            <a:spLocks/>
          </p:cNvSpPr>
          <p:nvPr/>
        </p:nvSpPr>
        <p:spPr>
          <a:xfrm>
            <a:off x="6662400" y="1822636"/>
            <a:ext cx="476092" cy="123111"/>
          </a:xfrm>
          <a:prstGeom prst="rect">
            <a:avLst/>
          </a:prstGeom>
          <a:solidFill>
            <a:schemeClr val="accent2">
              <a:lumMod val="20000"/>
              <a:lumOff val="80000"/>
            </a:schemeClr>
          </a:solidFill>
        </p:spPr>
        <p:txBody>
          <a:bodyPr wrap="none" lIns="0" tIns="0" rIns="0" bIns="0" rtlCol="0" anchor="t">
            <a:spAutoFit/>
          </a:bodyPr>
          <a:lstStyle>
            <a:defPPr>
              <a:defRPr lang="en-US"/>
            </a:defPPr>
            <a:lvl1pPr lvl="0" indent="0">
              <a:defRPr sz="800"/>
            </a:lvl1pPr>
            <a:lvl2pPr indent="0">
              <a:defRPr sz="1100"/>
            </a:lvl2pPr>
            <a:lvl3pPr indent="0">
              <a:defRPr sz="1100"/>
            </a:lvl3pPr>
            <a:lvl4pPr indent="0">
              <a:defRPr sz="1100"/>
            </a:lvl4pPr>
            <a:lvl5pPr indent="0">
              <a:defRPr sz="1100"/>
            </a:lvl5pPr>
            <a:lvl6pPr indent="0">
              <a:defRPr sz="1100"/>
            </a:lvl6pPr>
            <a:lvl7pPr indent="0">
              <a:defRPr sz="1100"/>
            </a:lvl7pPr>
            <a:lvl8pPr indent="0">
              <a:defRPr sz="1100"/>
            </a:lvl8pPr>
            <a:lvl9pPr indent="0">
              <a:defRPr sz="1100"/>
            </a:lvl9pPr>
          </a:lstStyle>
          <a:p>
            <a:pPr rtl="0"/>
            <a:r>
              <a:rPr lang="ru" b="1" dirty="0">
                <a:solidFill>
                  <a:schemeClr val="accent1"/>
                </a:solidFill>
              </a:rPr>
              <a:t>2</a:t>
            </a:r>
            <a:r>
              <a:rPr lang="en-US" b="1" dirty="0">
                <a:solidFill>
                  <a:schemeClr val="accent1"/>
                </a:solidFill>
              </a:rPr>
              <a:t>90</a:t>
            </a:r>
            <a:r>
              <a:rPr lang="ru" b="1" noProof="0" dirty="0">
                <a:solidFill>
                  <a:schemeClr val="accent1"/>
                </a:solidFill>
              </a:rPr>
              <a:t> </a:t>
            </a:r>
            <a:r>
              <a:rPr lang="ru" b="1" dirty="0">
                <a:solidFill>
                  <a:schemeClr val="accent5">
                    <a:lumMod val="75000"/>
                    <a:lumOff val="25000"/>
                  </a:schemeClr>
                </a:solidFill>
              </a:rPr>
              <a:t>(14%)</a:t>
            </a:r>
          </a:p>
        </p:txBody>
      </p:sp>
      <p:graphicFrame>
        <p:nvGraphicFramePr>
          <p:cNvPr id="123" name="Chart 95">
            <a:extLst>
              <a:ext uri="{FF2B5EF4-FFF2-40B4-BE49-F238E27FC236}">
                <a16:creationId xmlns:a16="http://schemas.microsoft.com/office/drawing/2014/main" id="{DF91E11C-2B48-4F01-BDF1-5D8DCBFDD06B}"/>
              </a:ext>
            </a:extLst>
          </p:cNvPr>
          <p:cNvGraphicFramePr/>
          <p:nvPr>
            <p:custDataLst>
              <p:tags r:id="rId30"/>
            </p:custDataLst>
            <p:extLst>
              <p:ext uri="{D42A27DB-BD31-4B8C-83A1-F6EECF244321}">
                <p14:modId xmlns:p14="http://schemas.microsoft.com/office/powerpoint/2010/main" val="1357363854"/>
              </p:ext>
            </p:extLst>
          </p:nvPr>
        </p:nvGraphicFramePr>
        <p:xfrm>
          <a:off x="8929667" y="1485479"/>
          <a:ext cx="1160463" cy="1160463"/>
        </p:xfrm>
        <a:graphic>
          <a:graphicData uri="http://schemas.openxmlformats.org/drawingml/2006/chart">
            <c:chart xmlns:c="http://schemas.openxmlformats.org/drawingml/2006/chart" xmlns:r="http://schemas.openxmlformats.org/officeDocument/2006/relationships" r:id="rId45"/>
          </a:graphicData>
        </a:graphic>
      </p:graphicFrame>
      <p:sp>
        <p:nvSpPr>
          <p:cNvPr id="124" name="Rectangle 187">
            <a:extLst>
              <a:ext uri="{FF2B5EF4-FFF2-40B4-BE49-F238E27FC236}">
                <a16:creationId xmlns:a16="http://schemas.microsoft.com/office/drawing/2014/main" id="{C87BB045-2B4D-4D46-85D7-58981B4BDFE2}"/>
              </a:ext>
            </a:extLst>
          </p:cNvPr>
          <p:cNvSpPr/>
          <p:nvPr>
            <p:custDataLst>
              <p:tags r:id="rId31"/>
            </p:custDataLst>
          </p:nvPr>
        </p:nvSpPr>
        <p:spPr bwMode="auto">
          <a:xfrm>
            <a:off x="10116323" y="2461474"/>
            <a:ext cx="107950" cy="80963"/>
          </a:xfrm>
          <a:prstGeom prst="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125" name="Rectangle 188">
            <a:extLst>
              <a:ext uri="{FF2B5EF4-FFF2-40B4-BE49-F238E27FC236}">
                <a16:creationId xmlns:a16="http://schemas.microsoft.com/office/drawing/2014/main" id="{D5EAA3A9-7362-4224-AFED-C76DA0DB1D39}"/>
              </a:ext>
            </a:extLst>
          </p:cNvPr>
          <p:cNvSpPr/>
          <p:nvPr>
            <p:custDataLst>
              <p:tags r:id="rId32"/>
            </p:custDataLst>
          </p:nvPr>
        </p:nvSpPr>
        <p:spPr bwMode="auto">
          <a:xfrm>
            <a:off x="10120292" y="2596265"/>
            <a:ext cx="107950" cy="80963"/>
          </a:xfrm>
          <a:prstGeom prst="rect">
            <a:avLst/>
          </a:prstGeom>
          <a:solidFill>
            <a:schemeClr val="folHlink"/>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126" name="Rectangle 65">
            <a:extLst>
              <a:ext uri="{FF2B5EF4-FFF2-40B4-BE49-F238E27FC236}">
                <a16:creationId xmlns:a16="http://schemas.microsoft.com/office/drawing/2014/main" id="{94D50C55-7C4A-4D6E-AB14-960F2402BAE2}"/>
              </a:ext>
            </a:extLst>
          </p:cNvPr>
          <p:cNvSpPr/>
          <p:nvPr>
            <p:custDataLst>
              <p:tags r:id="rId33"/>
            </p:custDataLst>
          </p:nvPr>
        </p:nvSpPr>
        <p:spPr bwMode="auto">
          <a:xfrm>
            <a:off x="10120292" y="2736112"/>
            <a:ext cx="107950" cy="80963"/>
          </a:xfrm>
          <a:prstGeom prst="rect">
            <a:avLst/>
          </a:prstGeom>
          <a:solidFill>
            <a:schemeClr val="accent4"/>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US" sz="1400" noProof="0" dirty="0">
              <a:solidFill>
                <a:schemeClr val="tx1"/>
              </a:solidFill>
            </a:endParaRPr>
          </a:p>
        </p:txBody>
      </p:sp>
      <p:sp>
        <p:nvSpPr>
          <p:cNvPr id="127" name="Rectangle 190">
            <a:extLst>
              <a:ext uri="{FF2B5EF4-FFF2-40B4-BE49-F238E27FC236}">
                <a16:creationId xmlns:a16="http://schemas.microsoft.com/office/drawing/2014/main" id="{382A9DC7-8F16-4AA8-813B-1BD3709655AF}"/>
              </a:ext>
            </a:extLst>
          </p:cNvPr>
          <p:cNvSpPr/>
          <p:nvPr>
            <p:custDataLst>
              <p:tags r:id="rId34"/>
            </p:custDataLst>
          </p:nvPr>
        </p:nvSpPr>
        <p:spPr bwMode="auto">
          <a:xfrm>
            <a:off x="10279042" y="2398489"/>
            <a:ext cx="1076325" cy="18415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 xml:space="preserve">Transactions of counterparties from CL</a:t>
            </a:r>
            <a:r>
              <a:rPr lang="ru-RU" sz="600" dirty="0">
                <a:solidFill>
                  <a:schemeClr val="tx1"/>
                </a:solidFill>
              </a:rPr>
              <a:t/>
            </a:r>
            <a:r>
              <a:rPr lang="en-US" sz="600" noProof="0" dirty="0">
                <a:solidFill>
                  <a:schemeClr val="tx1"/>
                </a:solidFill>
              </a:rPr>
              <a:t/>
            </a:r>
            <a:r>
              <a:rPr lang="ru-RU" sz="600" noProof="0" dirty="0">
                <a:solidFill>
                  <a:schemeClr val="tx1"/>
                </a:solidFill>
              </a:rPr>
              <a:t/>
            </a:r>
            <a:endParaRPr lang="en-US" sz="600" noProof="0" dirty="0">
              <a:solidFill>
                <a:schemeClr val="tx1"/>
              </a:solidFill>
            </a:endParaRPr>
          </a:p>
        </p:txBody>
      </p:sp>
      <p:sp>
        <p:nvSpPr>
          <p:cNvPr id="128" name="Rectangle 191">
            <a:extLst>
              <a:ext uri="{FF2B5EF4-FFF2-40B4-BE49-F238E27FC236}">
                <a16:creationId xmlns:a16="http://schemas.microsoft.com/office/drawing/2014/main" id="{75658143-5A58-47B9-87A7-22830D55CE00}"/>
              </a:ext>
            </a:extLst>
          </p:cNvPr>
          <p:cNvSpPr/>
          <p:nvPr>
            <p:custDataLst>
              <p:tags r:id="rId35"/>
            </p:custDataLst>
          </p:nvPr>
        </p:nvSpPr>
        <p:spPr bwMode="auto">
          <a:xfrm>
            <a:off x="10283011" y="2531365"/>
            <a:ext cx="717550" cy="18415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noProof="0" dirty="0">
                <a:solidFill>
                  <a:schemeClr val="tx1"/>
                </a:solidFill>
              </a:rPr>
              <a:t xml:space="preserve">Transactions of other counterparties</a:t>
            </a:r>
            <a:endParaRPr lang="en-US" sz="600" noProof="0" dirty="0">
              <a:solidFill>
                <a:schemeClr val="tx1"/>
              </a:solidFill>
            </a:endParaRPr>
          </a:p>
        </p:txBody>
      </p:sp>
      <p:sp>
        <p:nvSpPr>
          <p:cNvPr id="129" name="Rectangle 200">
            <a:extLst>
              <a:ext uri="{FF2B5EF4-FFF2-40B4-BE49-F238E27FC236}">
                <a16:creationId xmlns:a16="http://schemas.microsoft.com/office/drawing/2014/main" id="{593AC763-C55E-4BBC-BC14-AE4ABF9F31E8}"/>
              </a:ext>
            </a:extLst>
          </p:cNvPr>
          <p:cNvSpPr/>
          <p:nvPr>
            <p:custDataLst>
              <p:tags r:id="rId36"/>
            </p:custDataLst>
          </p:nvPr>
        </p:nvSpPr>
        <p:spPr bwMode="auto">
          <a:xfrm>
            <a:off x="10279042" y="2699599"/>
            <a:ext cx="731838" cy="117038"/>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ru-RU" sz="600" dirty="0">
                <a:solidFill>
                  <a:schemeClr val="tx1"/>
                </a:solidFill>
              </a:rPr>
              <a:t xml:space="preserve">Transaction potential with CL</a:t>
            </a:r>
            <a:r>
              <a:rPr lang="ru-RU" sz="600" noProof="0" dirty="0">
                <a:solidFill>
                  <a:schemeClr val="tx1"/>
                </a:solidFill>
              </a:rPr>
              <a:t/>
            </a:r>
            <a:endParaRPr lang="en-US" sz="600" noProof="0" dirty="0">
              <a:solidFill>
                <a:schemeClr val="tx1"/>
              </a:solidFill>
            </a:endParaRPr>
          </a:p>
        </p:txBody>
      </p:sp>
      <p:sp>
        <p:nvSpPr>
          <p:cNvPr id="130" name="Text Placeholder 39">
            <a:extLst>
              <a:ext uri="{FF2B5EF4-FFF2-40B4-BE49-F238E27FC236}">
                <a16:creationId xmlns:a16="http://schemas.microsoft.com/office/drawing/2014/main" id="{8E9F9382-CA1D-4A5E-A694-D1210DA470B6}"/>
              </a:ext>
            </a:extLst>
          </p:cNvPr>
          <p:cNvSpPr txBox="1">
            <a:spLocks/>
          </p:cNvSpPr>
          <p:nvPr/>
        </p:nvSpPr>
        <p:spPr>
          <a:xfrm>
            <a:off x="9486170" y="2575337"/>
            <a:ext cx="591509" cy="12311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en-US" sz="800" b="1" noProof="0" dirty="0">
                <a:solidFill>
                  <a:schemeClr val="accent1"/>
                </a:solidFill>
              </a:rPr>
              <a:t>12929</a:t>
            </a:r>
            <a:r>
              <a:rPr lang="ru" sz="800" b="1" noProof="0" dirty="0">
                <a:solidFill>
                  <a:schemeClr val="accent1"/>
                </a:solidFill>
              </a:rPr>
              <a:t> </a:t>
            </a:r>
            <a:r>
              <a:rPr lang="ru" sz="800" b="1" dirty="0">
                <a:solidFill>
                  <a:schemeClr val="accent5">
                    <a:lumMod val="75000"/>
                    <a:lumOff val="25000"/>
                  </a:schemeClr>
                </a:solidFill>
              </a:rPr>
              <a:t>(7</a:t>
            </a:r>
            <a:r>
              <a:rPr lang="en-US" sz="800" b="1" dirty="0">
                <a:solidFill>
                  <a:schemeClr val="accent5">
                    <a:lumMod val="75000"/>
                    <a:lumOff val="25000"/>
                  </a:schemeClr>
                </a:solidFill>
              </a:rPr>
              <a:t>6</a:t>
            </a:r>
            <a:r>
              <a:rPr lang="ru" sz="800" b="1" dirty="0">
                <a:solidFill>
                  <a:schemeClr val="accent5">
                    <a:lumMod val="75000"/>
                    <a:lumOff val="25000"/>
                  </a:schemeClr>
                </a:solidFill>
              </a:rPr>
              <a:t>%)</a:t>
            </a:r>
          </a:p>
        </p:txBody>
      </p:sp>
      <p:sp>
        <p:nvSpPr>
          <p:cNvPr id="131" name="Text Placeholder 39">
            <a:extLst>
              <a:ext uri="{FF2B5EF4-FFF2-40B4-BE49-F238E27FC236}">
                <a16:creationId xmlns:a16="http://schemas.microsoft.com/office/drawing/2014/main" id="{19CCA0B4-341E-407C-806D-0391B6AD8316}"/>
              </a:ext>
            </a:extLst>
          </p:cNvPr>
          <p:cNvSpPr txBox="1">
            <a:spLocks/>
          </p:cNvSpPr>
          <p:nvPr>
            <p:custDataLst>
              <p:tags r:id="rId37"/>
            </p:custDataLst>
          </p:nvPr>
        </p:nvSpPr>
        <p:spPr>
          <a:xfrm>
            <a:off x="9143980" y="1139087"/>
            <a:ext cx="694101" cy="1538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1000" noProof="0" dirty="0"/>
              <a:t xml:space="preserve">Transactions</a:t>
            </a:r>
          </a:p>
        </p:txBody>
      </p:sp>
      <p:sp>
        <p:nvSpPr>
          <p:cNvPr id="174" name="Text Placeholder 39">
            <a:extLst>
              <a:ext uri="{FF2B5EF4-FFF2-40B4-BE49-F238E27FC236}">
                <a16:creationId xmlns:a16="http://schemas.microsoft.com/office/drawing/2014/main" id="{3E271D0D-85C6-4E34-988C-04F3BC9D6016}"/>
              </a:ext>
            </a:extLst>
          </p:cNvPr>
          <p:cNvSpPr txBox="1">
            <a:spLocks/>
          </p:cNvSpPr>
          <p:nvPr>
            <p:custDataLst>
              <p:tags r:id="rId38"/>
            </p:custDataLst>
          </p:nvPr>
        </p:nvSpPr>
        <p:spPr>
          <a:xfrm>
            <a:off x="8856642" y="1552656"/>
            <a:ext cx="533800" cy="123111"/>
          </a:xfrm>
          <a:prstGeom prst="rect">
            <a:avLst/>
          </a:prstGeom>
          <a:solidFill>
            <a:schemeClr val="accent2">
              <a:lumMod val="20000"/>
              <a:lumOff val="80000"/>
            </a:schemeClr>
          </a:solidFill>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en-US" sz="800" b="1" noProof="0" dirty="0">
                <a:solidFill>
                  <a:schemeClr val="accent1"/>
                </a:solidFill>
              </a:rPr>
              <a:t>2973</a:t>
            </a:r>
            <a:r>
              <a:rPr lang="ru" sz="800" b="1" noProof="0" dirty="0">
                <a:solidFill>
                  <a:schemeClr val="accent1"/>
                </a:solidFill>
              </a:rPr>
              <a:t> </a:t>
            </a:r>
            <a:r>
              <a:rPr lang="ru" sz="800" b="1" dirty="0">
                <a:solidFill>
                  <a:schemeClr val="accent5">
                    <a:lumMod val="75000"/>
                    <a:lumOff val="25000"/>
                  </a:schemeClr>
                </a:solidFill>
              </a:rPr>
              <a:t>(1</a:t>
            </a:r>
            <a:r>
              <a:rPr lang="en-US" sz="800" b="1" dirty="0">
                <a:solidFill>
                  <a:schemeClr val="accent5">
                    <a:lumMod val="75000"/>
                    <a:lumOff val="25000"/>
                  </a:schemeClr>
                </a:solidFill>
              </a:rPr>
              <a:t>7</a:t>
            </a:r>
            <a:r>
              <a:rPr lang="ru" sz="800" b="1" dirty="0">
                <a:solidFill>
                  <a:schemeClr val="accent5">
                    <a:lumMod val="75000"/>
                    <a:lumOff val="25000"/>
                  </a:schemeClr>
                </a:solidFill>
              </a:rPr>
              <a:t>%)</a:t>
            </a:r>
          </a:p>
        </p:txBody>
      </p:sp>
      <p:sp>
        <p:nvSpPr>
          <p:cNvPr id="175" name="Text Placeholder 39">
            <a:extLst>
              <a:ext uri="{FF2B5EF4-FFF2-40B4-BE49-F238E27FC236}">
                <a16:creationId xmlns:a16="http://schemas.microsoft.com/office/drawing/2014/main" id="{4A55B36A-7138-4EE4-9E80-8ECAB438B3C5}"/>
              </a:ext>
            </a:extLst>
          </p:cNvPr>
          <p:cNvSpPr txBox="1">
            <a:spLocks/>
          </p:cNvSpPr>
          <p:nvPr/>
        </p:nvSpPr>
        <p:spPr>
          <a:xfrm>
            <a:off x="9742127" y="1522544"/>
            <a:ext cx="476092" cy="12311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en-US" sz="800" b="1" dirty="0" smtClean="0">
                <a:solidFill>
                  <a:schemeClr val="accent1"/>
                </a:solidFill>
              </a:rPr>
              <a:t>1224</a:t>
            </a:r>
            <a:r>
              <a:rPr lang="ru" sz="800" b="1" noProof="0" dirty="0" smtClean="0">
                <a:solidFill>
                  <a:schemeClr val="accent1"/>
                </a:solidFill>
              </a:rPr>
              <a:t> </a:t>
            </a:r>
            <a:r>
              <a:rPr lang="ru" sz="800" b="1" dirty="0">
                <a:solidFill>
                  <a:schemeClr val="accent5">
                    <a:lumMod val="75000"/>
                    <a:lumOff val="25000"/>
                  </a:schemeClr>
                </a:solidFill>
              </a:rPr>
              <a:t>(</a:t>
            </a:r>
            <a:r>
              <a:rPr lang="en-US" sz="800" b="1" dirty="0">
                <a:solidFill>
                  <a:schemeClr val="accent5">
                    <a:lumMod val="75000"/>
                    <a:lumOff val="25000"/>
                  </a:schemeClr>
                </a:solidFill>
              </a:rPr>
              <a:t>7</a:t>
            </a:r>
            <a:r>
              <a:rPr lang="ru" sz="800" b="1" dirty="0">
                <a:solidFill>
                  <a:schemeClr val="accent5">
                    <a:lumMod val="75000"/>
                    <a:lumOff val="25000"/>
                  </a:schemeClr>
                </a:solidFill>
              </a:rPr>
              <a:t>%)</a:t>
            </a:r>
          </a:p>
        </p:txBody>
      </p:sp>
      <p:sp>
        <p:nvSpPr>
          <p:cNvPr id="176" name="Rectangle 195">
            <a:extLst>
              <a:ext uri="{FF2B5EF4-FFF2-40B4-BE49-F238E27FC236}">
                <a16:creationId xmlns:a16="http://schemas.microsoft.com/office/drawing/2014/main" id="{2F65D3A7-5DB4-4765-843C-EC5B3260B844}"/>
              </a:ext>
            </a:extLst>
          </p:cNvPr>
          <p:cNvSpPr/>
          <p:nvPr/>
        </p:nvSpPr>
        <p:spPr>
          <a:xfrm>
            <a:off x="7519967" y="1341189"/>
            <a:ext cx="1231900" cy="123111"/>
          </a:xfrm>
          <a:prstGeom prst="rect">
            <a:avLst/>
          </a:prstGeom>
        </p:spPr>
        <p:txBody>
          <a:bodyPr wrap="none" lIns="0" tIns="0" rIns="0" bIns="0" rtlCol="0" anchor="t">
            <a:spAutoFit/>
          </a:bodyPr>
          <a:lstStyle/>
          <a:p>
            <a:pPr algn="ctr" rtl="0"/>
            <a:r>
              <a:rPr lang="ru" sz="800" i="1" noProof="0">
                <a:solidFill>
                  <a:schemeClr val="accent1"/>
                </a:solidFill>
              </a:rPr>
              <a:t xml:space="preserve">Special compliance regime</a:t>
            </a:r>
          </a:p>
        </p:txBody>
      </p:sp>
      <p:cxnSp>
        <p:nvCxnSpPr>
          <p:cNvPr id="177" name="Straight Connector 223">
            <a:extLst>
              <a:ext uri="{FF2B5EF4-FFF2-40B4-BE49-F238E27FC236}">
                <a16:creationId xmlns:a16="http://schemas.microsoft.com/office/drawing/2014/main" id="{5635D573-17B4-4D16-9709-7F283C04BEC1}"/>
              </a:ext>
            </a:extLst>
          </p:cNvPr>
          <p:cNvCxnSpPr/>
          <p:nvPr/>
        </p:nvCxnSpPr>
        <p:spPr>
          <a:xfrm>
            <a:off x="6600805" y="1526724"/>
            <a:ext cx="3070225" cy="0"/>
          </a:xfrm>
          <a:prstGeom prst="line">
            <a:avLst/>
          </a:pr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sp>
        <p:nvSpPr>
          <p:cNvPr id="178" name="Правая фигурная скобка 45">
            <a:extLst>
              <a:ext uri="{FF2B5EF4-FFF2-40B4-BE49-F238E27FC236}">
                <a16:creationId xmlns:a16="http://schemas.microsoft.com/office/drawing/2014/main" id="{5F497B50-9DD9-46CF-84D6-84004F78EDBA}"/>
              </a:ext>
            </a:extLst>
          </p:cNvPr>
          <p:cNvSpPr/>
          <p:nvPr/>
        </p:nvSpPr>
        <p:spPr>
          <a:xfrm>
            <a:off x="7245330" y="1556987"/>
            <a:ext cx="96838" cy="475226"/>
          </a:xfrm>
          <a:prstGeom prst="rightBrace">
            <a:avLst>
              <a:gd name="adj1" fmla="val 31760"/>
              <a:gd name="adj2" fmla="val 50000"/>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noProof="0" dirty="0"/>
          </a:p>
        </p:txBody>
      </p:sp>
      <p:sp>
        <p:nvSpPr>
          <p:cNvPr id="179" name="Rectangle 195">
            <a:extLst>
              <a:ext uri="{FF2B5EF4-FFF2-40B4-BE49-F238E27FC236}">
                <a16:creationId xmlns:a16="http://schemas.microsoft.com/office/drawing/2014/main" id="{B6CD4CAA-DBFA-482D-ABD6-A896E268EEF8}"/>
              </a:ext>
            </a:extLst>
          </p:cNvPr>
          <p:cNvSpPr/>
          <p:nvPr/>
        </p:nvSpPr>
        <p:spPr>
          <a:xfrm>
            <a:off x="7413605" y="1733045"/>
            <a:ext cx="872034" cy="123111"/>
          </a:xfrm>
          <a:prstGeom prst="rect">
            <a:avLst/>
          </a:prstGeom>
        </p:spPr>
        <p:txBody>
          <a:bodyPr wrap="none" lIns="0" tIns="0" rIns="0" bIns="0" rtlCol="0" anchor="ctr">
            <a:spAutoFit/>
          </a:bodyPr>
          <a:lstStyle/>
          <a:p>
            <a:pPr rtl="0"/>
            <a:r>
              <a:rPr lang="ru" sz="800" i="1" dirty="0">
                <a:solidFill>
                  <a:schemeClr val="accent1"/>
                </a:solidFill>
              </a:rPr>
              <a:t xml:space="preserve">463 counterparties</a:t>
            </a:r>
            <a:r>
              <a:rPr lang="ru" sz="800" i="1" noProof="0" dirty="0">
                <a:solidFill>
                  <a:schemeClr val="accent1"/>
                </a:solidFill>
              </a:rPr>
              <a:t/>
            </a:r>
          </a:p>
        </p:txBody>
      </p:sp>
      <p:cxnSp>
        <p:nvCxnSpPr>
          <p:cNvPr id="180" name="Straight Connector 226">
            <a:extLst>
              <a:ext uri="{FF2B5EF4-FFF2-40B4-BE49-F238E27FC236}">
                <a16:creationId xmlns:a16="http://schemas.microsoft.com/office/drawing/2014/main" id="{50B2C81A-9F7F-4EAB-AECB-FB04CF6EE787}"/>
              </a:ext>
            </a:extLst>
          </p:cNvPr>
          <p:cNvCxnSpPr>
            <a:cxnSpLocks/>
          </p:cNvCxnSpPr>
          <p:nvPr/>
        </p:nvCxnSpPr>
        <p:spPr>
          <a:xfrm>
            <a:off x="7050067" y="2315424"/>
            <a:ext cx="1974850" cy="0"/>
          </a:xfrm>
          <a:prstGeom prst="line">
            <a:avLst/>
          </a:prstGeom>
          <a:noFill/>
          <a:ln w="9525">
            <a:solidFill>
              <a:schemeClr val="accent4">
                <a:lumMod val="40000"/>
                <a:lumOff val="6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sp>
        <p:nvSpPr>
          <p:cNvPr id="181" name="Rectangle 203">
            <a:extLst>
              <a:ext uri="{FF2B5EF4-FFF2-40B4-BE49-F238E27FC236}">
                <a16:creationId xmlns:a16="http://schemas.microsoft.com/office/drawing/2014/main" id="{33A5CADE-05A8-4003-A0E5-7E8AA3C35D17}"/>
              </a:ext>
            </a:extLst>
          </p:cNvPr>
          <p:cNvSpPr/>
          <p:nvPr/>
        </p:nvSpPr>
        <p:spPr>
          <a:xfrm>
            <a:off x="7098332" y="2083114"/>
            <a:ext cx="1875015" cy="215444"/>
          </a:xfrm>
          <a:prstGeom prst="rect">
            <a:avLst/>
          </a:prstGeom>
        </p:spPr>
        <p:txBody>
          <a:bodyPr wrap="square" lIns="0" tIns="0" rIns="0" bIns="0" rtlCol="0" anchor="t">
            <a:spAutoFit/>
          </a:bodyPr>
          <a:lstStyle/>
          <a:p>
            <a:pPr algn="ctr" rtl="0">
              <a:spcAft>
                <a:spcPts val="300"/>
              </a:spcAft>
            </a:pPr>
            <a:r>
              <a:rPr lang="ru" sz="700" i="1" noProof="0" dirty="0"/>
              <a:t xml:space="preserve">According to the Compliance 2.2 System (Kazakhstan)</a:t>
            </a:r>
            <a:r>
              <a:rPr lang="en-US" sz="700" i="1" noProof="0" dirty="0"/>
              <a:t/>
            </a:r>
            <a:r>
              <a:rPr lang="ru" sz="700" i="1" noProof="0" dirty="0"/>
              <a:t/>
            </a:r>
          </a:p>
        </p:txBody>
      </p:sp>
    </p:spTree>
    <p:extLst>
      <p:ext uri="{BB962C8B-B14F-4D97-AF65-F5344CB8AC3E}">
        <p14:creationId xmlns:p14="http://schemas.microsoft.com/office/powerpoint/2010/main" val="8028274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EC269-A09D-53AA-A598-18FE45306508}"/>
            </a:ext>
          </a:extLst>
        </p:cNvPr>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903F5A5-F8C4-EE91-023C-402E3D3A881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8865" name="think-cell Slide" r:id="rId14" imgW="353" imgH="353" progId="TCLayout.ActiveDocument.1">
                  <p:embed/>
                </p:oleObj>
              </mc:Choice>
              <mc:Fallback>
                <p:oleObj name="think-cell Slide" r:id="rId14" imgW="353" imgH="353" progId="TCLayout.ActiveDocument.1">
                  <p:embed/>
                  <p:pic>
                    <p:nvPicPr>
                      <p:cNvPr id="13" name="Object 12" hidden="1"/>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39" name="Rectangle 38" hidden="1">
            <a:extLst>
              <a:ext uri="{FF2B5EF4-FFF2-40B4-BE49-F238E27FC236}">
                <a16:creationId xmlns:a16="http://schemas.microsoft.com/office/drawing/2014/main" id="{E6A47BB8-B9AA-5A8E-24F1-0E4727BC85E9}"/>
              </a:ext>
            </a:extLst>
          </p:cNvPr>
          <p:cNvSpPr/>
          <p:nvPr>
            <p:custDataLst>
              <p:tags r:id="rId3"/>
            </p:custDataLst>
          </p:nvPr>
        </p:nvSpPr>
        <p:spPr>
          <a:xfrm>
            <a:off x="0" y="0"/>
            <a:ext cx="158750" cy="1587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dirty="0">
              <a:solidFill>
                <a:schemeClr val="accent1"/>
              </a:solidFill>
              <a:latin typeface="Arial" panose="020B0604020202020204" pitchFamily="34" charset="0"/>
              <a:ea typeface="+mj-ea"/>
              <a:cs typeface="+mj-cs"/>
              <a:sym typeface="Arial" panose="020B0604020202020204" pitchFamily="34" charset="0"/>
            </a:endParaRPr>
          </a:p>
        </p:txBody>
      </p:sp>
      <p:sp>
        <p:nvSpPr>
          <p:cNvPr id="11" name="Title 10">
            <a:extLst>
              <a:ext uri="{FF2B5EF4-FFF2-40B4-BE49-F238E27FC236}">
                <a16:creationId xmlns:a16="http://schemas.microsoft.com/office/drawing/2014/main" id="{475416F6-222D-7A22-0800-717A4C26A815}"/>
              </a:ext>
            </a:extLst>
          </p:cNvPr>
          <p:cNvSpPr>
            <a:spLocks noGrp="1"/>
          </p:cNvSpPr>
          <p:nvPr>
            <p:ph type="title"/>
          </p:nvPr>
        </p:nvSpPr>
        <p:spPr>
          <a:xfrm>
            <a:off x="317499" y="0"/>
            <a:ext cx="10584209" cy="704850"/>
          </a:xfrm>
        </p:spPr>
        <p:txBody>
          <a:bodyPr/>
          <a:lstStyle/>
          <a:p>
            <a:r>
              <a:rPr lang="ru-RU" dirty="0"/>
              <a:t>Годовой дашборд </a:t>
            </a:r>
            <a:r>
              <a:rPr lang="en-US" dirty="0"/>
              <a:t>2025: </a:t>
            </a:r>
            <a:r>
              <a:rPr lang="ru-RU" dirty="0"/>
              <a:t>Периметр Казахстан</a:t>
            </a:r>
            <a:r>
              <a:rPr lang="en-US" dirty="0"/>
              <a:t/>
            </a:r>
            <a:br>
              <a:rPr lang="en-US" dirty="0"/>
            </a:br>
            <a:r>
              <a:rPr lang="ru-RU" dirty="0">
                <a:solidFill>
                  <a:schemeClr val="tx1"/>
                </a:solidFill>
              </a:rPr>
              <a:t>Краткое изложение</a:t>
            </a:r>
            <a:r>
              <a:rPr lang="en-US" dirty="0" smtClean="0">
                <a:solidFill>
                  <a:schemeClr val="tx1"/>
                </a:solidFill>
              </a:rPr>
              <a:t> </a:t>
            </a:r>
            <a:r>
              <a:rPr lang="en-US" dirty="0">
                <a:solidFill>
                  <a:schemeClr val="tx1"/>
                </a:solidFill>
              </a:rPr>
              <a:t>(3/6)</a:t>
            </a:r>
            <a:endParaRPr lang="en-US" dirty="0"/>
          </a:p>
        </p:txBody>
      </p:sp>
      <p:cxnSp>
        <p:nvCxnSpPr>
          <p:cNvPr id="6" name="Straight Connector 5">
            <a:extLst>
              <a:ext uri="{FF2B5EF4-FFF2-40B4-BE49-F238E27FC236}">
                <a16:creationId xmlns:a16="http://schemas.microsoft.com/office/drawing/2014/main" id="{A2F9DF42-B427-903E-A9A9-25E9720774C9}"/>
              </a:ext>
            </a:extLst>
          </p:cNvPr>
          <p:cNvCxnSpPr/>
          <p:nvPr/>
        </p:nvCxnSpPr>
        <p:spPr>
          <a:xfrm>
            <a:off x="-9427" y="4172575"/>
            <a:ext cx="12192000" cy="0"/>
          </a:xfrm>
          <a:prstGeom prst="line">
            <a:avLst/>
          </a:pr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cxnSp>
      <p:sp>
        <p:nvSpPr>
          <p:cNvPr id="26" name="Text Placeholder 39">
            <a:extLst>
              <a:ext uri="{FF2B5EF4-FFF2-40B4-BE49-F238E27FC236}">
                <a16:creationId xmlns:a16="http://schemas.microsoft.com/office/drawing/2014/main" id="{6ABCBF5D-6507-125C-CAE2-D47E70369C1D}"/>
              </a:ext>
            </a:extLst>
          </p:cNvPr>
          <p:cNvSpPr txBox="1">
            <a:spLocks/>
          </p:cNvSpPr>
          <p:nvPr/>
        </p:nvSpPr>
        <p:spPr>
          <a:xfrm>
            <a:off x="1332293" y="4061923"/>
            <a:ext cx="3740351"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 xml:space="preserve">CSR – Charity and Sponsorship</a:t>
            </a:r>
            <a:endParaRPr lang="en-US" sz="1400" dirty="0">
              <a:solidFill>
                <a:srgbClr val="7030A0"/>
              </a:solidFill>
            </a:endParaRPr>
          </a:p>
        </p:txBody>
      </p:sp>
      <p:sp>
        <p:nvSpPr>
          <p:cNvPr id="3" name="Rectangle: Rounded Corners 2">
            <a:extLst>
              <a:ext uri="{FF2B5EF4-FFF2-40B4-BE49-F238E27FC236}">
                <a16:creationId xmlns:a16="http://schemas.microsoft.com/office/drawing/2014/main" id="{D64AB0D8-5C9C-6A43-8998-9FED412FF998}"/>
              </a:ext>
            </a:extLst>
          </p:cNvPr>
          <p:cNvSpPr/>
          <p:nvPr/>
        </p:nvSpPr>
        <p:spPr>
          <a:xfrm>
            <a:off x="281980" y="818046"/>
            <a:ext cx="5613681" cy="2982013"/>
          </a:xfrm>
          <a:prstGeom prst="roundRect">
            <a:avLst>
              <a:gd name="adj" fmla="val 622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p:txBody>
      </p:sp>
      <p:sp>
        <p:nvSpPr>
          <p:cNvPr id="4" name="TextBox 3">
            <a:extLst>
              <a:ext uri="{FF2B5EF4-FFF2-40B4-BE49-F238E27FC236}">
                <a16:creationId xmlns:a16="http://schemas.microsoft.com/office/drawing/2014/main" id="{E0534A77-4A43-2A17-5FEA-EA160EEC3FE0}"/>
              </a:ext>
            </a:extLst>
          </p:cNvPr>
          <p:cNvSpPr txBox="1"/>
          <p:nvPr/>
        </p:nvSpPr>
        <p:spPr>
          <a:xfrm>
            <a:off x="236722" y="866306"/>
            <a:ext cx="2074617" cy="400110"/>
          </a:xfrm>
          <a:prstGeom prst="rect">
            <a:avLst/>
          </a:prstGeom>
          <a:noFill/>
        </p:spPr>
        <p:txBody>
          <a:bodyPr wrap="square" rtlCol="0">
            <a:spAutoFit/>
          </a:bodyPr>
          <a:lstStyle/>
          <a:p>
            <a:pPr algn="ctr"/>
            <a:r>
              <a:rPr lang="ru" sz="1000" b="1" dirty="0"/>
              <a:t xml:space="preserve">Annual budget for CSR</a:t>
            </a:r>
            <a:r>
              <a:rPr lang="ru-RU" sz="1000" b="1" dirty="0"/>
              <a:t/>
            </a:r>
            <a:r>
              <a:rPr lang="ru" sz="1000" b="1" dirty="0"/>
              <a:t/>
            </a:r>
          </a:p>
          <a:p>
            <a:pPr algn="ctr"/>
            <a:r>
              <a:rPr lang="ru" sz="1000" b="1" dirty="0"/>
              <a:t xml:space="preserve">($ million and its use)</a:t>
            </a:r>
            <a:r>
              <a:rPr lang="ru-RU" sz="1000" b="1" dirty="0"/>
              <a:t/>
            </a:r>
            <a:r>
              <a:rPr lang="ru" sz="1000" b="1" dirty="0"/>
              <a:t/>
            </a:r>
          </a:p>
        </p:txBody>
      </p:sp>
      <p:grpSp>
        <p:nvGrpSpPr>
          <p:cNvPr id="21" name="Group 20">
            <a:extLst>
              <a:ext uri="{FF2B5EF4-FFF2-40B4-BE49-F238E27FC236}">
                <a16:creationId xmlns:a16="http://schemas.microsoft.com/office/drawing/2014/main" id="{53EC60ED-D19F-531C-42EB-A5A84FA3A436}"/>
              </a:ext>
            </a:extLst>
          </p:cNvPr>
          <p:cNvGrpSpPr/>
          <p:nvPr/>
        </p:nvGrpSpPr>
        <p:grpSpPr>
          <a:xfrm>
            <a:off x="555742" y="1300775"/>
            <a:ext cx="1564697" cy="557882"/>
            <a:chOff x="684644" y="2043150"/>
            <a:chExt cx="1564697" cy="557882"/>
          </a:xfrm>
        </p:grpSpPr>
        <p:sp>
          <p:nvSpPr>
            <p:cNvPr id="22" name="Text Placeholder 39">
              <a:extLst>
                <a:ext uri="{FF2B5EF4-FFF2-40B4-BE49-F238E27FC236}">
                  <a16:creationId xmlns:a16="http://schemas.microsoft.com/office/drawing/2014/main" id="{C4D3036A-553B-0945-DAFE-30D9B81F3CAE}"/>
                </a:ext>
              </a:extLst>
            </p:cNvPr>
            <p:cNvSpPr txBox="1">
              <a:spLocks/>
            </p:cNvSpPr>
            <p:nvPr/>
          </p:nvSpPr>
          <p:spPr>
            <a:xfrm>
              <a:off x="684644" y="2047034"/>
              <a:ext cx="512961" cy="55399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3600" noProof="0" dirty="0">
                  <a:solidFill>
                    <a:schemeClr val="accent1"/>
                  </a:solidFill>
                </a:rPr>
                <a:t>64</a:t>
              </a:r>
              <a:endParaRPr lang="en-US" sz="1600" noProof="0" dirty="0">
                <a:solidFill>
                  <a:schemeClr val="accent1"/>
                </a:solidFill>
              </a:endParaRPr>
            </a:p>
          </p:txBody>
        </p:sp>
        <p:cxnSp>
          <p:nvCxnSpPr>
            <p:cNvPr id="23" name="Straight Connector 22">
              <a:extLst>
                <a:ext uri="{FF2B5EF4-FFF2-40B4-BE49-F238E27FC236}">
                  <a16:creationId xmlns:a16="http://schemas.microsoft.com/office/drawing/2014/main" id="{DDE5EA1C-478C-6F41-1092-791388A55122}"/>
                </a:ext>
              </a:extLst>
            </p:cNvPr>
            <p:cNvCxnSpPr>
              <a:cxnSpLocks/>
            </p:cNvCxnSpPr>
            <p:nvPr/>
          </p:nvCxnSpPr>
          <p:spPr>
            <a:xfrm flipV="1">
              <a:off x="1325312" y="2229425"/>
              <a:ext cx="94288" cy="272355"/>
            </a:xfrm>
            <a:prstGeom prst="line">
              <a:avLst/>
            </a:prstGeom>
            <a:ln/>
          </p:spPr>
          <p:style>
            <a:lnRef idx="3">
              <a:schemeClr val="accent1"/>
            </a:lnRef>
            <a:fillRef idx="0">
              <a:schemeClr val="accent1"/>
            </a:fillRef>
            <a:effectRef idx="2">
              <a:schemeClr val="accent1"/>
            </a:effectRef>
            <a:fontRef idx="minor">
              <a:schemeClr val="tx1"/>
            </a:fontRef>
          </p:style>
        </p:cxnSp>
        <p:sp>
          <p:nvSpPr>
            <p:cNvPr id="24" name="Text Placeholder 39">
              <a:extLst>
                <a:ext uri="{FF2B5EF4-FFF2-40B4-BE49-F238E27FC236}">
                  <a16:creationId xmlns:a16="http://schemas.microsoft.com/office/drawing/2014/main" id="{DA03BC92-C9F2-9434-C03E-847A82776C2C}"/>
                </a:ext>
              </a:extLst>
            </p:cNvPr>
            <p:cNvSpPr txBox="1">
              <a:spLocks/>
            </p:cNvSpPr>
            <p:nvPr/>
          </p:nvSpPr>
          <p:spPr>
            <a:xfrm>
              <a:off x="1508754" y="2043150"/>
              <a:ext cx="740587" cy="55399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r>
                <a:rPr lang="ru" sz="3600" dirty="0">
                  <a:solidFill>
                    <a:schemeClr val="accent1"/>
                  </a:solidFill>
                </a:rPr>
                <a:t>5</a:t>
              </a:r>
              <a:r>
                <a:rPr lang="ru" sz="3600" noProof="0" dirty="0" smtClean="0">
                  <a:solidFill>
                    <a:schemeClr val="accent1"/>
                  </a:solidFill>
                </a:rPr>
                <a:t>9</a:t>
              </a:r>
              <a:r>
                <a:rPr lang="ru" sz="2000" noProof="0" dirty="0">
                  <a:solidFill>
                    <a:schemeClr val="accent1"/>
                  </a:solidFill>
                </a:rPr>
                <a:t>%</a:t>
              </a:r>
              <a:endParaRPr lang="en-US" sz="1600" noProof="0" dirty="0">
                <a:solidFill>
                  <a:schemeClr val="accent1"/>
                </a:solidFill>
              </a:endParaRPr>
            </a:p>
          </p:txBody>
        </p:sp>
      </p:grpSp>
      <p:sp>
        <p:nvSpPr>
          <p:cNvPr id="50" name="Rectangle: Rounded Corners 49">
            <a:extLst>
              <a:ext uri="{FF2B5EF4-FFF2-40B4-BE49-F238E27FC236}">
                <a16:creationId xmlns:a16="http://schemas.microsoft.com/office/drawing/2014/main" id="{31761BC0-E0F3-B3A0-298D-B3EF22AE0246}"/>
              </a:ext>
            </a:extLst>
          </p:cNvPr>
          <p:cNvSpPr/>
          <p:nvPr/>
        </p:nvSpPr>
        <p:spPr>
          <a:xfrm>
            <a:off x="6071779" y="818046"/>
            <a:ext cx="2883770" cy="2982013"/>
          </a:xfrm>
          <a:prstGeom prst="roundRect">
            <a:avLst>
              <a:gd name="adj" fmla="val 4327"/>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en-US" sz="1000" b="1" noProof="0" dirty="0">
              <a:solidFill>
                <a:schemeClr val="tx1"/>
              </a:solidFill>
            </a:endParaRPr>
          </a:p>
        </p:txBody>
      </p:sp>
      <p:sp>
        <p:nvSpPr>
          <p:cNvPr id="55" name="TextBox 54">
            <a:extLst>
              <a:ext uri="{FF2B5EF4-FFF2-40B4-BE49-F238E27FC236}">
                <a16:creationId xmlns:a16="http://schemas.microsoft.com/office/drawing/2014/main" id="{39B036BC-7408-16AA-1C39-91C6A4737E48}"/>
              </a:ext>
            </a:extLst>
          </p:cNvPr>
          <p:cNvSpPr txBox="1"/>
          <p:nvPr/>
        </p:nvSpPr>
        <p:spPr>
          <a:xfrm>
            <a:off x="6398712" y="959931"/>
            <a:ext cx="2365288" cy="553998"/>
          </a:xfrm>
          <a:prstGeom prst="rect">
            <a:avLst/>
          </a:prstGeom>
          <a:noFill/>
        </p:spPr>
        <p:txBody>
          <a:bodyPr wrap="square" rtlCol="0">
            <a:spAutoFit/>
          </a:bodyPr>
          <a:lstStyle/>
          <a:p>
            <a:pPr algn="ctr"/>
            <a:r>
              <a:rPr lang="ru" sz="1000" b="1" dirty="0"/>
              <a:t xml:space="preserve">Related Parties and Violations of the Related Party Agreement Policy (#, $)</a:t>
            </a:r>
          </a:p>
        </p:txBody>
      </p:sp>
      <p:sp>
        <p:nvSpPr>
          <p:cNvPr id="56" name="Rectangle: Rounded Corners 55">
            <a:extLst>
              <a:ext uri="{FF2B5EF4-FFF2-40B4-BE49-F238E27FC236}">
                <a16:creationId xmlns:a16="http://schemas.microsoft.com/office/drawing/2014/main" id="{BA6EAD05-6AE9-FCDD-8CE9-2D489CEFAB19}"/>
              </a:ext>
            </a:extLst>
          </p:cNvPr>
          <p:cNvSpPr/>
          <p:nvPr>
            <p:custDataLst>
              <p:tags r:id="rId4"/>
            </p:custDataLst>
          </p:nvPr>
        </p:nvSpPr>
        <p:spPr>
          <a:xfrm>
            <a:off x="9126916" y="824302"/>
            <a:ext cx="2650303" cy="3018013"/>
          </a:xfrm>
          <a:prstGeom prst="roundRect">
            <a:avLst>
              <a:gd name="adj" fmla="val 6024"/>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144000" bIns="72000" rtlCol="0" anchor="t"/>
          <a:lstStyle/>
          <a:p>
            <a:pPr algn="ctr">
              <a:spcBef>
                <a:spcPts val="1200"/>
              </a:spcBef>
            </a:pPr>
            <a:r>
              <a:rPr lang="ru" sz="1000" b="1" dirty="0" smtClean="0">
                <a:solidFill>
                  <a:schemeClr val="tx1"/>
                </a:solidFill>
              </a:rPr>
              <a:t xml:space="preserve">Incidents and violations in the area</a:t>
            </a:r>
            <a:r>
              <a:rPr lang="ru" sz="1000" b="1" dirty="0">
                <a:solidFill>
                  <a:schemeClr val="tx1"/>
                </a:solidFill>
              </a:rPr>
              <a:t/>
            </a:r>
          </a:p>
          <a:p>
            <a:pPr algn="ctr"/>
            <a:r>
              <a:rPr lang="ru" sz="1000" b="1" dirty="0">
                <a:solidFill>
                  <a:schemeClr val="tx1"/>
                </a:solidFill>
              </a:rPr>
              <a:t xml:space="preserve">protection of personal data (PD)</a:t>
            </a:r>
          </a:p>
          <a:p>
            <a:pPr algn="ctr"/>
            <a:r>
              <a:rPr lang="ru" sz="1000" b="1" dirty="0">
                <a:solidFill>
                  <a:schemeClr val="tx1"/>
                </a:solidFill>
              </a:rPr>
              <a:t xml:space="preserve">(#, %)</a:t>
            </a:r>
          </a:p>
        </p:txBody>
      </p:sp>
      <p:sp>
        <p:nvSpPr>
          <p:cNvPr id="58" name="Прямоугольник 19">
            <a:extLst>
              <a:ext uri="{FF2B5EF4-FFF2-40B4-BE49-F238E27FC236}">
                <a16:creationId xmlns:a16="http://schemas.microsoft.com/office/drawing/2014/main" id="{3421E8BD-783F-E55A-8319-F868596E1764}"/>
              </a:ext>
            </a:extLst>
          </p:cNvPr>
          <p:cNvSpPr/>
          <p:nvPr/>
        </p:nvSpPr>
        <p:spPr>
          <a:xfrm>
            <a:off x="9463179" y="2237048"/>
            <a:ext cx="1915552" cy="553998"/>
          </a:xfrm>
          <a:prstGeom prst="rect">
            <a:avLst/>
          </a:prstGeom>
        </p:spPr>
        <p:txBody>
          <a:bodyPr wrap="square">
            <a:spAutoFit/>
          </a:bodyPr>
          <a:lstStyle/>
          <a:p>
            <a:pPr algn="ctr"/>
            <a:r>
              <a:rPr lang="ru-RU" sz="1000" dirty="0">
                <a:solidFill>
                  <a:schemeClr val="accent1"/>
                </a:solidFill>
                <a:latin typeface="Arial" panose="020B0604020202020204" pitchFamily="34" charset="0"/>
                <a:ea typeface="Calibri" panose="020F0502020204030204" pitchFamily="34" charset="0"/>
              </a:rPr>
              <a:t xml:space="preserve">0 personal data security incidents/violations</a:t>
            </a:r>
            <a:endParaRPr lang="ru-RU" sz="1000" dirty="0">
              <a:solidFill>
                <a:schemeClr val="accent1"/>
              </a:solidFill>
            </a:endParaRPr>
          </a:p>
        </p:txBody>
      </p:sp>
      <p:sp>
        <p:nvSpPr>
          <p:cNvPr id="61" name="Text Placeholder 39">
            <a:extLst>
              <a:ext uri="{FF2B5EF4-FFF2-40B4-BE49-F238E27FC236}">
                <a16:creationId xmlns:a16="http://schemas.microsoft.com/office/drawing/2014/main" id="{60E1C2C5-2D20-3647-CEC2-20E9D1C9729F}"/>
              </a:ext>
            </a:extLst>
          </p:cNvPr>
          <p:cNvSpPr txBox="1">
            <a:spLocks/>
          </p:cNvSpPr>
          <p:nvPr/>
        </p:nvSpPr>
        <p:spPr>
          <a:xfrm>
            <a:off x="9307297" y="4055993"/>
            <a:ext cx="2334372"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 xml:space="preserve">Personal protection PD data)</a:t>
            </a:r>
            <a:endParaRPr lang="en-US" sz="1400" dirty="0">
              <a:solidFill>
                <a:srgbClr val="7030A0"/>
              </a:solidFill>
            </a:endParaRPr>
          </a:p>
        </p:txBody>
      </p:sp>
      <p:sp>
        <p:nvSpPr>
          <p:cNvPr id="64" name="Freeform 122">
            <a:extLst>
              <a:ext uri="{FF2B5EF4-FFF2-40B4-BE49-F238E27FC236}">
                <a16:creationId xmlns:a16="http://schemas.microsoft.com/office/drawing/2014/main" id="{842BEB09-EF3D-B0B0-9F11-588FF02AB72E}"/>
              </a:ext>
            </a:extLst>
          </p:cNvPr>
          <p:cNvSpPr/>
          <p:nvPr/>
        </p:nvSpPr>
        <p:spPr>
          <a:xfrm>
            <a:off x="281980" y="4498875"/>
            <a:ext cx="5480130" cy="1954188"/>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rgbClr val="7030A0"/>
              </a:solidFill>
            </a:endParaRPr>
          </a:p>
        </p:txBody>
      </p:sp>
      <p:sp>
        <p:nvSpPr>
          <p:cNvPr id="65" name="Freeform 122">
            <a:extLst>
              <a:ext uri="{FF2B5EF4-FFF2-40B4-BE49-F238E27FC236}">
                <a16:creationId xmlns:a16="http://schemas.microsoft.com/office/drawing/2014/main" id="{4F7B47F5-EDF3-ABC4-5014-01B745F4C90D}"/>
              </a:ext>
            </a:extLst>
          </p:cNvPr>
          <p:cNvSpPr/>
          <p:nvPr/>
        </p:nvSpPr>
        <p:spPr>
          <a:xfrm>
            <a:off x="6034231" y="4513457"/>
            <a:ext cx="2863320" cy="1939605"/>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rgbClr val="7030A0"/>
              </a:solidFill>
            </a:endParaRPr>
          </a:p>
        </p:txBody>
      </p:sp>
      <p:sp>
        <p:nvSpPr>
          <p:cNvPr id="66" name="Freeform 122">
            <a:extLst>
              <a:ext uri="{FF2B5EF4-FFF2-40B4-BE49-F238E27FC236}">
                <a16:creationId xmlns:a16="http://schemas.microsoft.com/office/drawing/2014/main" id="{D5505634-B5ED-2444-159F-B9CD172F8917}"/>
              </a:ext>
            </a:extLst>
          </p:cNvPr>
          <p:cNvSpPr/>
          <p:nvPr/>
        </p:nvSpPr>
        <p:spPr>
          <a:xfrm>
            <a:off x="9126916" y="4513458"/>
            <a:ext cx="2866117" cy="1939604"/>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rgbClr val="7030A0"/>
              </a:solidFill>
            </a:endParaRPr>
          </a:p>
        </p:txBody>
      </p:sp>
      <p:sp>
        <p:nvSpPr>
          <p:cNvPr id="67" name="Text Placeholder 39">
            <a:extLst>
              <a:ext uri="{FF2B5EF4-FFF2-40B4-BE49-F238E27FC236}">
                <a16:creationId xmlns:a16="http://schemas.microsoft.com/office/drawing/2014/main" id="{858FAAA3-0B48-1D01-414A-9CBC1EF39D71}"/>
              </a:ext>
            </a:extLst>
          </p:cNvPr>
          <p:cNvSpPr txBox="1">
            <a:spLocks/>
          </p:cNvSpPr>
          <p:nvPr/>
        </p:nvSpPr>
        <p:spPr>
          <a:xfrm>
            <a:off x="10595805" y="3908725"/>
            <a:ext cx="1181414" cy="1538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rtl="0">
              <a:defRPr/>
            </a:pPr>
            <a:r>
              <a:rPr lang="ru-RU" sz="1000" i="1" noProof="0" dirty="0" smtClean="0">
                <a:solidFill>
                  <a:schemeClr val="accent1"/>
                </a:solidFill>
              </a:rPr>
              <a:t xml:space="preserve">Key Metrics</a:t>
            </a:r>
            <a:endParaRPr lang="ru" sz="1000" i="1" noProof="0" dirty="0">
              <a:solidFill>
                <a:schemeClr val="accent1"/>
              </a:solidFill>
            </a:endParaRPr>
          </a:p>
        </p:txBody>
      </p:sp>
      <p:sp>
        <p:nvSpPr>
          <p:cNvPr id="68" name="Text Placeholder 39">
            <a:extLst>
              <a:ext uri="{FF2B5EF4-FFF2-40B4-BE49-F238E27FC236}">
                <a16:creationId xmlns:a16="http://schemas.microsoft.com/office/drawing/2014/main" id="{248CE158-7247-E45E-7E98-9E5E8B263178}"/>
              </a:ext>
            </a:extLst>
          </p:cNvPr>
          <p:cNvSpPr txBox="1">
            <a:spLocks/>
          </p:cNvSpPr>
          <p:nvPr/>
        </p:nvSpPr>
        <p:spPr>
          <a:xfrm>
            <a:off x="8710963" y="4261730"/>
            <a:ext cx="3387904" cy="153888"/>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a:defRPr/>
            </a:pPr>
            <a:r>
              <a:rPr lang="ru-RU" sz="1000" i="1" dirty="0">
                <a:solidFill>
                  <a:srgbClr val="7030A0"/>
                </a:solidFill>
              </a:rPr>
              <a:t xml:space="preserve">Trends, risks and impact on the Annual Program</a:t>
            </a:r>
            <a:endParaRPr lang="ru" sz="1000" i="1" dirty="0">
              <a:solidFill>
                <a:srgbClr val="7030A0"/>
              </a:solidFill>
            </a:endParaRPr>
          </a:p>
        </p:txBody>
      </p:sp>
      <p:sp>
        <p:nvSpPr>
          <p:cNvPr id="194" name="Text Placeholder 39">
            <a:extLst>
              <a:ext uri="{FF2B5EF4-FFF2-40B4-BE49-F238E27FC236}">
                <a16:creationId xmlns:a16="http://schemas.microsoft.com/office/drawing/2014/main" id="{F0F472B4-7500-7395-7177-DA3485EEA85C}"/>
              </a:ext>
            </a:extLst>
          </p:cNvPr>
          <p:cNvSpPr txBox="1">
            <a:spLocks/>
          </p:cNvSpPr>
          <p:nvPr/>
        </p:nvSpPr>
        <p:spPr>
          <a:xfrm>
            <a:off x="6472767" y="4058833"/>
            <a:ext cx="2238195"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 xml:space="preserve">Related Parties (RP)</a:t>
            </a:r>
            <a:endParaRPr lang="en-US" sz="1400" dirty="0">
              <a:solidFill>
                <a:srgbClr val="7030A0"/>
              </a:solidFill>
            </a:endParaRPr>
          </a:p>
        </p:txBody>
      </p:sp>
      <p:sp>
        <p:nvSpPr>
          <p:cNvPr id="2" name="Text Placeholder 39">
            <a:extLst>
              <a:ext uri="{FF2B5EF4-FFF2-40B4-BE49-F238E27FC236}">
                <a16:creationId xmlns:a16="http://schemas.microsoft.com/office/drawing/2014/main" id="{7C010EAA-6DDA-619E-FE02-64C5B0444B54}"/>
              </a:ext>
            </a:extLst>
          </p:cNvPr>
          <p:cNvSpPr txBox="1">
            <a:spLocks/>
          </p:cNvSpPr>
          <p:nvPr/>
        </p:nvSpPr>
        <p:spPr>
          <a:xfrm>
            <a:off x="386696" y="4498875"/>
            <a:ext cx="5375414" cy="1800493"/>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7313" indent="-87313">
              <a:lnSpc>
                <a:spcPct val="100000"/>
              </a:lnSpc>
              <a:spcBef>
                <a:spcPts val="0"/>
              </a:spcBef>
              <a:buFont typeface="Arial" panose="020B0604020202020204" pitchFamily="34" charset="0"/>
              <a:buChar char="•"/>
            </a:pPr>
            <a:r>
              <a:rPr lang="ru-RU" sz="900" dirty="0" smtClean="0">
                <a:solidFill>
                  <a:srgbClr val="7030A0"/>
                </a:solidFill>
              </a:rPr>
              <a:t xml:space="preserve">Trends:</a:t>
            </a:r>
          </a:p>
          <a:p>
            <a:pPr marL="177800" lvl="1" indent="-90488">
              <a:lnSpc>
                <a:spcPct val="100000"/>
              </a:lnSpc>
              <a:spcBef>
                <a:spcPts val="0"/>
              </a:spcBef>
              <a:buClr>
                <a:srgbClr val="7030A0"/>
              </a:buClr>
              <a:buFont typeface="Courier New" panose="02070309020205020404" pitchFamily="49" charset="0"/>
              <a:buChar char="o"/>
            </a:pPr>
            <a:r>
              <a:rPr lang="ru-RU" sz="900" dirty="0" smtClean="0"/>
              <a:t xml:space="preserve">During the 4 quarters of 2025, 244 projects were financed for a total amount of $38 million, including projects in 2024 for which payment was made this year.</a:t>
            </a:r>
            <a:r>
              <a:rPr lang="ru-RU" sz="900" dirty="0" smtClean="0">
                <a:solidFill>
                  <a:schemeClr val="tx1"/>
                </a:solidFill>
              </a:rPr>
              <a:t/>
            </a:r>
            <a:r>
              <a:rPr lang="ru-RU" sz="900" dirty="0">
                <a:solidFill>
                  <a:schemeClr val="tx1"/>
                </a:solidFill>
              </a:rPr>
              <a:t/>
            </a:r>
            <a:r>
              <a:rPr lang="ru-RU" sz="900" dirty="0" smtClean="0">
                <a:solidFill>
                  <a:schemeClr val="tx1"/>
                </a:solidFill>
              </a:rPr>
              <a:t/>
            </a:r>
          </a:p>
          <a:p>
            <a:pPr marL="177800" lvl="1" indent="-90488">
              <a:lnSpc>
                <a:spcPct val="100000"/>
              </a:lnSpc>
              <a:spcBef>
                <a:spcPts val="0"/>
              </a:spcBef>
              <a:buClr>
                <a:srgbClr val="7030A0"/>
              </a:buClr>
              <a:buFont typeface="Courier New" panose="02070309020205020404" pitchFamily="49" charset="0"/>
              <a:buChar char="o"/>
            </a:pPr>
            <a:r>
              <a:rPr lang="ru-RU" sz="900" dirty="0" smtClean="0">
                <a:solidFill>
                  <a:schemeClr val="tx1"/>
                </a:solidFill>
              </a:rPr>
              <a:t xml:space="preserve">59% ($38 million) of the planned budget ($64 million) has been used.</a:t>
            </a:r>
            <a:r>
              <a:rPr lang="ru-RU" sz="900" dirty="0">
                <a:solidFill>
                  <a:schemeClr val="tx1"/>
                </a:solidFill>
              </a:rPr>
              <a:t/>
            </a:r>
            <a:endParaRPr lang="ru-RU" sz="900" dirty="0" smtClean="0">
              <a:solidFill>
                <a:schemeClr val="tx1"/>
              </a:solidFill>
            </a:endParaRPr>
          </a:p>
          <a:p>
            <a:pPr marL="177800" lvl="1" indent="-90488">
              <a:lnSpc>
                <a:spcPct val="100000"/>
              </a:lnSpc>
              <a:spcBef>
                <a:spcPts val="0"/>
              </a:spcBef>
              <a:buClr>
                <a:srgbClr val="7030A0"/>
              </a:buClr>
              <a:buFont typeface="Courier New" panose="02070309020205020404" pitchFamily="49" charset="0"/>
              <a:buChar char="o"/>
            </a:pPr>
            <a:r>
              <a:rPr lang="ru-RU" sz="900" dirty="0" smtClean="0"/>
              <a:t xml:space="preserve">At the end of 2025, 3 significant projects for 2023-2025 remain under monitoring. (total amount $353 thousand) and projects in 2019 in connection with identified risks.</a:t>
            </a:r>
            <a:r>
              <a:rPr lang="ru-RU" sz="900" dirty="0" smtClean="0">
                <a:solidFill>
                  <a:schemeClr val="tx1"/>
                </a:solidFill>
              </a:rPr>
              <a:t/>
            </a:r>
            <a:r>
              <a:rPr lang="ru-RU" sz="900" dirty="0">
                <a:solidFill>
                  <a:schemeClr val="tx1"/>
                </a:solidFill>
              </a:rPr>
              <a:t/>
            </a:r>
            <a:r>
              <a:rPr lang="ru-RU" sz="900" dirty="0" smtClean="0">
                <a:solidFill>
                  <a:schemeClr val="tx1"/>
                </a:solidFill>
              </a:rPr>
              <a:t/>
            </a:r>
          </a:p>
          <a:p>
            <a:pPr marL="87313" lvl="1" indent="-87313">
              <a:lnSpc>
                <a:spcPct val="100000"/>
              </a:lnSpc>
              <a:spcBef>
                <a:spcPts val="0"/>
              </a:spcBef>
              <a:buClr>
                <a:srgbClr val="7030A0"/>
              </a:buClr>
            </a:pPr>
            <a:r>
              <a:rPr lang="ru-RU" sz="900" dirty="0">
                <a:solidFill>
                  <a:srgbClr val="7030A0"/>
                </a:solidFill>
              </a:rPr>
              <a:t xml:space="preserve">Identified risks - No. no materialized risks were identified. The Perimeter BIS Commission is working to obtain reports on the intended use of the assistance provided for completed projects.</a:t>
            </a:r>
            <a:r>
              <a:rPr lang="ru-RU" sz="900" dirty="0">
                <a:solidFill>
                  <a:schemeClr val="tx1"/>
                </a:solidFill>
              </a:rPr>
              <a:t/>
            </a:r>
            <a:r>
              <a:rPr lang="ru-RU" sz="900" dirty="0" smtClean="0">
                <a:solidFill>
                  <a:schemeClr val="tx1"/>
                </a:solidFill>
              </a:rPr>
              <a:t/>
            </a:r>
            <a:r>
              <a:rPr lang="ru-RU" sz="900" dirty="0">
                <a:solidFill>
                  <a:schemeClr val="tx1"/>
                </a:solidFill>
              </a:rPr>
              <a:t/>
            </a:r>
            <a:r>
              <a:rPr lang="ru-RU" sz="900" dirty="0" err="1">
                <a:solidFill>
                  <a:schemeClr val="tx1"/>
                </a:solidFill>
              </a:rPr>
              <a:t/>
            </a:r>
            <a:r>
              <a:rPr lang="ru-RU" sz="900" dirty="0">
                <a:solidFill>
                  <a:schemeClr val="tx1"/>
                </a:solidFill>
              </a:rPr>
              <a:t/>
            </a:r>
            <a:r>
              <a:rPr lang="ru-RU" sz="900" dirty="0" smtClean="0">
                <a:solidFill>
                  <a:schemeClr val="tx1"/>
                </a:solidFill>
              </a:rPr>
              <a:t/>
            </a:r>
            <a:r>
              <a:rPr lang="ru-RU" sz="900" dirty="0">
                <a:solidFill>
                  <a:schemeClr val="tx1"/>
                </a:solidFill>
              </a:rPr>
              <a:t/>
            </a:r>
            <a:r>
              <a:rPr lang="ru-RU" sz="900" dirty="0" smtClean="0">
                <a:solidFill>
                  <a:schemeClr val="tx1"/>
                </a:solidFill>
              </a:rPr>
              <a:t/>
            </a:r>
            <a:r>
              <a:rPr lang="ru-RU" sz="900" dirty="0">
                <a:solidFill>
                  <a:schemeClr val="tx1"/>
                </a:solidFill>
              </a:rPr>
              <a:t/>
            </a:r>
            <a:endParaRPr lang="ru-RU" sz="900" dirty="0" smtClean="0">
              <a:solidFill>
                <a:schemeClr val="tx1"/>
              </a:solidFill>
            </a:endParaRPr>
          </a:p>
          <a:p>
            <a:pPr marL="87313" lvl="1" indent="-87313">
              <a:lnSpc>
                <a:spcPct val="100000"/>
              </a:lnSpc>
              <a:spcBef>
                <a:spcPts val="0"/>
              </a:spcBef>
              <a:buClr>
                <a:srgbClr val="7030A0"/>
              </a:buClr>
            </a:pPr>
            <a:r>
              <a:rPr lang="ru-RU" sz="900" dirty="0" smtClean="0">
                <a:solidFill>
                  <a:srgbClr val="7030A0"/>
                </a:solidFill>
              </a:rPr>
              <a:t xml:space="preserve">Impact on Perimeter Annual Program/Lessons - Not identified. A new format of the Perimeter CSR dashboard was developed and implemented. In 2026, it is planned to update the Perimeter BIS Regulations, self-testing with an on-site audit, and compliance training for members of the Perimeter BIS Commission.</a:t>
            </a:r>
            <a:r>
              <a:rPr lang="ru-RU" sz="900" dirty="0">
                <a:solidFill>
                  <a:srgbClr val="7030A0"/>
                </a:solidFill>
              </a:rPr>
              <a:t/>
            </a:r>
            <a:r>
              <a:rPr lang="ru-RU" sz="900" dirty="0">
                <a:solidFill>
                  <a:schemeClr val="tx1"/>
                </a:solidFill>
              </a:rPr>
              <a:t/>
            </a:r>
            <a:r>
              <a:rPr lang="ru-RU" sz="900" dirty="0" smtClean="0"/>
              <a:t/>
            </a:r>
            <a:r>
              <a:rPr lang="ru-RU" sz="900" dirty="0" smtClean="0">
                <a:solidFill>
                  <a:schemeClr val="tx1"/>
                </a:solidFill>
              </a:rPr>
              <a:t/>
            </a:r>
            <a:r>
              <a:rPr lang="ru-RU" sz="900" dirty="0">
                <a:solidFill>
                  <a:schemeClr val="tx1"/>
                </a:solidFill>
              </a:rPr>
              <a:t/>
            </a:r>
            <a:r>
              <a:rPr lang="ru-RU" sz="900" dirty="0" smtClean="0">
                <a:solidFill>
                  <a:schemeClr val="tx1"/>
                </a:solidFill>
              </a:rPr>
              <a:t/>
            </a:r>
            <a:r>
              <a:rPr lang="ru-RU" sz="900" dirty="0" err="1" smtClean="0">
                <a:solidFill>
                  <a:schemeClr val="tx1"/>
                </a:solidFill>
              </a:rPr>
              <a:t/>
            </a:r>
            <a:r>
              <a:rPr lang="ru-RU" sz="900" dirty="0" smtClean="0">
                <a:solidFill>
                  <a:schemeClr val="tx1"/>
                </a:solidFill>
              </a:rPr>
              <a:t/>
            </a:r>
            <a:endParaRPr lang="en-US" sz="900" dirty="0">
              <a:solidFill>
                <a:schemeClr val="tx1"/>
              </a:solidFill>
            </a:endParaRPr>
          </a:p>
        </p:txBody>
      </p:sp>
      <p:sp>
        <p:nvSpPr>
          <p:cNvPr id="9" name="Text Placeholder 39">
            <a:extLst>
              <a:ext uri="{FF2B5EF4-FFF2-40B4-BE49-F238E27FC236}">
                <a16:creationId xmlns:a16="http://schemas.microsoft.com/office/drawing/2014/main" id="{5E0B1970-B1DE-9951-1CB2-0AA0530D477A}"/>
              </a:ext>
            </a:extLst>
          </p:cNvPr>
          <p:cNvSpPr txBox="1">
            <a:spLocks/>
          </p:cNvSpPr>
          <p:nvPr/>
        </p:nvSpPr>
        <p:spPr>
          <a:xfrm>
            <a:off x="6071779" y="4498875"/>
            <a:ext cx="2935682" cy="1855893"/>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8900" indent="-88900">
              <a:lnSpc>
                <a:spcPct val="100000"/>
              </a:lnSpc>
              <a:spcBef>
                <a:spcPts val="0"/>
              </a:spcBef>
              <a:buFont typeface="Arial" panose="020B0604020202020204" pitchFamily="34" charset="0"/>
              <a:buChar char="•"/>
            </a:pPr>
            <a:r>
              <a:rPr lang="ru-RU" sz="900" dirty="0" smtClean="0">
                <a:solidFill>
                  <a:srgbClr val="7030A0"/>
                </a:solidFill>
              </a:rPr>
              <a:t xml:space="preserve">Trends:</a:t>
            </a:r>
          </a:p>
          <a:p>
            <a:pPr marL="177800" lvl="1" indent="-90488">
              <a:lnSpc>
                <a:spcPct val="100000"/>
              </a:lnSpc>
              <a:spcBef>
                <a:spcPts val="0"/>
              </a:spcBef>
              <a:buClr>
                <a:srgbClr val="7030A0"/>
              </a:buClr>
              <a:buFont typeface="Courier New" panose="02070309020205020404" pitchFamily="49" charset="0"/>
              <a:buChar char="o"/>
            </a:pPr>
            <a:r>
              <a:rPr lang="ru-RU" sz="900" dirty="0"/>
              <a:t xml:space="preserve">The number of contracts with SS is generally maintained at the same level according to CPC data (on average, 6.1% of the total number of CPCs).</a:t>
            </a:r>
          </a:p>
          <a:p>
            <a:pPr marL="177800" lvl="1" indent="-90488">
              <a:lnSpc>
                <a:spcPct val="100000"/>
              </a:lnSpc>
              <a:spcBef>
                <a:spcPts val="0"/>
              </a:spcBef>
              <a:buClr>
                <a:srgbClr val="7030A0"/>
              </a:buClr>
              <a:buFont typeface="Courier New" panose="02070309020205020404" pitchFamily="49" charset="0"/>
              <a:buChar char="o"/>
            </a:pPr>
            <a:r>
              <a:rPr lang="ru-RU" sz="900" dirty="0"/>
              <a:t xml:space="preserve">During the year, 9 violations of the CCP procedure were identified when concluding a transaction with the CC (skipping the initiation of the CCP)</a:t>
            </a:r>
            <a:r>
              <a:rPr lang="ru-RU" sz="900" dirty="0" smtClean="0"/>
              <a:t/>
            </a:r>
            <a:r>
              <a:rPr lang="ru-RU" sz="900" dirty="0"/>
              <a:t/>
            </a:r>
          </a:p>
          <a:p>
            <a:pPr marL="88900" indent="-88900">
              <a:lnSpc>
                <a:spcPct val="100000"/>
              </a:lnSpc>
              <a:spcBef>
                <a:spcPts val="0"/>
              </a:spcBef>
              <a:buFont typeface="Arial" panose="020B0604020202020204" pitchFamily="34" charset="0"/>
              <a:buChar char="•"/>
            </a:pPr>
            <a:r>
              <a:rPr lang="ru-RU" sz="900" dirty="0" smtClean="0">
                <a:solidFill>
                  <a:srgbClr val="7030A0"/>
                </a:solidFill>
              </a:rPr>
              <a:t xml:space="preserve">Identified risks – No. no risks identified.</a:t>
            </a:r>
            <a:r>
              <a:rPr lang="ru-RU" sz="900" dirty="0">
                <a:solidFill>
                  <a:schemeClr val="tx1"/>
                </a:solidFill>
              </a:rPr>
              <a:t/>
            </a:r>
            <a:r>
              <a:rPr lang="ru-RU" sz="900" dirty="0" smtClean="0">
                <a:solidFill>
                  <a:schemeClr val="tx1"/>
                </a:solidFill>
              </a:rPr>
              <a:t/>
            </a:r>
            <a:endParaRPr lang="ru-RU" sz="900" dirty="0">
              <a:solidFill>
                <a:srgbClr val="7030A0"/>
              </a:solidFill>
            </a:endParaRPr>
          </a:p>
          <a:p>
            <a:pPr marL="88900" indent="-88900">
              <a:spcBef>
                <a:spcPts val="0"/>
              </a:spcBef>
              <a:buClr>
                <a:srgbClr val="7030A0"/>
              </a:buClr>
              <a:buFont typeface="Arial" panose="020B0604020202020204" pitchFamily="34" charset="0"/>
              <a:buChar char="•"/>
            </a:pPr>
            <a:r>
              <a:rPr lang="ru-RU" sz="900" dirty="0" smtClean="0">
                <a:solidFill>
                  <a:srgbClr val="7030A0"/>
                </a:solidFill>
              </a:rPr>
              <a:t xml:space="preserve">Impact on Perimeter Annual Program/Lessons - Not identified. In 2026, it is planned to participate in the Compliance Group project to update the Policy regarding contracts with CC and develop Instructions for managing the Perimeter CC List (after approval of the Policy)</a:t>
            </a:r>
            <a:r>
              <a:rPr lang="ru-RU" sz="900" dirty="0">
                <a:solidFill>
                  <a:srgbClr val="7030A0"/>
                </a:solidFill>
              </a:rPr>
              <a:t/>
            </a:r>
            <a:r>
              <a:rPr lang="ru-RU" sz="900" dirty="0"/>
              <a:t/>
            </a:r>
            <a:r>
              <a:rPr lang="ru-RU" sz="900" dirty="0" smtClean="0"/>
              <a:t/>
            </a:r>
            <a:r>
              <a:rPr lang="ru" sz="900" dirty="0" smtClean="0">
                <a:solidFill>
                  <a:schemeClr val="tx1"/>
                </a:solidFill>
              </a:rPr>
              <a:t/>
            </a:r>
            <a:r>
              <a:rPr lang="ru" sz="900" dirty="0">
                <a:solidFill>
                  <a:schemeClr val="tx1"/>
                </a:solidFill>
              </a:rPr>
              <a:t/>
            </a:r>
            <a:r>
              <a:rPr lang="ru-RU" sz="900" dirty="0">
                <a:solidFill>
                  <a:schemeClr val="tx1"/>
                </a:solidFill>
              </a:rPr>
              <a:t/>
            </a:r>
            <a:r>
              <a:rPr lang="ru-RU" sz="900" dirty="0" smtClean="0">
                <a:solidFill>
                  <a:schemeClr val="tx1"/>
                </a:solidFill>
              </a:rPr>
              <a:t/>
            </a:r>
            <a:r>
              <a:rPr lang="ru-RU" sz="900" dirty="0">
                <a:solidFill>
                  <a:schemeClr val="tx1"/>
                </a:solidFill>
              </a:rPr>
              <a:t/>
            </a:r>
          </a:p>
        </p:txBody>
      </p:sp>
      <p:sp>
        <p:nvSpPr>
          <p:cNvPr id="27" name="Text Placeholder 39">
            <a:extLst>
              <a:ext uri="{FF2B5EF4-FFF2-40B4-BE49-F238E27FC236}">
                <a16:creationId xmlns:a16="http://schemas.microsoft.com/office/drawing/2014/main" id="{E00EEE06-CCB2-A33D-9222-93FBACE09CF4}"/>
              </a:ext>
            </a:extLst>
          </p:cNvPr>
          <p:cNvSpPr txBox="1">
            <a:spLocks/>
          </p:cNvSpPr>
          <p:nvPr/>
        </p:nvSpPr>
        <p:spPr>
          <a:xfrm>
            <a:off x="9169672" y="4513458"/>
            <a:ext cx="2929195" cy="1938992"/>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8900" indent="-82550">
              <a:lnSpc>
                <a:spcPct val="100000"/>
              </a:lnSpc>
              <a:spcBef>
                <a:spcPts val="0"/>
              </a:spcBef>
              <a:buClr>
                <a:srgbClr val="7030A0"/>
              </a:buClr>
              <a:buFont typeface="Arial" panose="020B0604020202020204" pitchFamily="34" charset="0"/>
              <a:buChar char="•"/>
            </a:pPr>
            <a:r>
              <a:rPr lang="ru-RU" sz="900" dirty="0" smtClean="0">
                <a:solidFill>
                  <a:srgbClr val="7030A0"/>
                </a:solidFill>
              </a:rPr>
              <a:t xml:space="preserve">Trends:</a:t>
            </a:r>
            <a:endParaRPr lang="ru-RU" sz="900" dirty="0">
              <a:solidFill>
                <a:srgbClr val="FF0000"/>
              </a:solidFill>
            </a:endParaRPr>
          </a:p>
          <a:p>
            <a:pPr marL="177800" lvl="1" indent="-90488">
              <a:lnSpc>
                <a:spcPct val="100000"/>
              </a:lnSpc>
              <a:spcBef>
                <a:spcPts val="0"/>
              </a:spcBef>
              <a:buClr>
                <a:srgbClr val="7030A0"/>
              </a:buClr>
              <a:buFont typeface="Courier New" panose="02070309020205020404" pitchFamily="49" charset="0"/>
              <a:buChar char="o"/>
            </a:pPr>
            <a:r>
              <a:rPr lang="ru-RU" sz="900" dirty="0" smtClean="0"/>
              <a:t xml:space="preserve">100% coverage of IGA enterprises is supported.</a:t>
            </a:r>
            <a:r>
              <a:rPr lang="ru-RU" sz="900" dirty="0"/>
              <a:t/>
            </a:r>
          </a:p>
          <a:p>
            <a:pPr marL="177800" lvl="1" indent="-90488">
              <a:lnSpc>
                <a:spcPct val="100000"/>
              </a:lnSpc>
              <a:spcBef>
                <a:spcPts val="0"/>
              </a:spcBef>
              <a:buClr>
                <a:srgbClr val="7030A0"/>
              </a:buClr>
              <a:buFont typeface="Courier New" panose="02070309020205020404" pitchFamily="49" charset="0"/>
              <a:buChar char="o"/>
            </a:pPr>
            <a:r>
              <a:rPr lang="ru-RU" sz="900" dirty="0" smtClean="0"/>
              <a:t xml:space="preserve">Coverage of employees with Consents for the collection/processing of personal data &lt;100% (based on the results of self-testing using the sampling method, 4.2% was missed).</a:t>
            </a:r>
            <a:r>
              <a:rPr lang="ru-RU" sz="900" dirty="0"/>
              <a:t/>
            </a:r>
            <a:r>
              <a:rPr lang="ru-RU" sz="900" dirty="0" smtClean="0"/>
              <a:t/>
            </a:r>
            <a:r>
              <a:rPr lang="ru-RU" sz="900" dirty="0"/>
              <a:t/>
            </a:r>
            <a:r>
              <a:rPr lang="ru-RU" sz="900" dirty="0" smtClean="0"/>
              <a:t/>
            </a:r>
            <a:endParaRPr lang="ru-RU" sz="900" dirty="0"/>
          </a:p>
          <a:p>
            <a:pPr marL="177800" lvl="1" indent="-90488">
              <a:lnSpc>
                <a:spcPct val="100000"/>
              </a:lnSpc>
              <a:spcBef>
                <a:spcPts val="0"/>
              </a:spcBef>
              <a:buClr>
                <a:srgbClr val="7030A0"/>
              </a:buClr>
              <a:buFont typeface="Courier New" panose="02070309020205020404" pitchFamily="49" charset="0"/>
              <a:buChar char="o"/>
            </a:pPr>
            <a:r>
              <a:rPr lang="ru-RU" sz="900" dirty="0" smtClean="0"/>
              <a:t xml:space="preserve">95.83% coverage of enterprises by the Group’s PD Policy and Perimeter PD Regulations (Aitu Dala LLP - implemented in January 2026, ERG Beijing - in progress).</a:t>
            </a:r>
            <a:r>
              <a:rPr lang="ru-RU" sz="900" dirty="0"/>
              <a:t/>
            </a:r>
            <a:r>
              <a:rPr lang="ru-RU" sz="900" dirty="0" smtClean="0"/>
              <a:t/>
            </a:r>
            <a:r>
              <a:rPr lang="ru-RU" sz="900" dirty="0"/>
              <a:t/>
            </a:r>
            <a:r>
              <a:rPr lang="ru-RU" sz="900" dirty="0" smtClean="0"/>
              <a:t/>
            </a:r>
            <a:r>
              <a:rPr lang="ru-RU" sz="900" dirty="0"/>
              <a:t/>
            </a:r>
            <a:r>
              <a:rPr lang="ru-RU" sz="900" dirty="0" smtClean="0"/>
              <a:t/>
            </a:r>
            <a:r>
              <a:rPr lang="ru-RU" sz="900" dirty="0"/>
              <a:t/>
            </a:r>
            <a:r>
              <a:rPr lang="ru-RU" sz="900" dirty="0" err="1"/>
              <a:t/>
            </a:r>
            <a:r>
              <a:rPr lang="ru-RU" sz="900" dirty="0"/>
              <a:t/>
            </a:r>
            <a:r>
              <a:rPr lang="ru-RU" sz="900" dirty="0" err="1"/>
              <a:t/>
            </a:r>
            <a:r>
              <a:rPr lang="ru-RU" sz="900" dirty="0"/>
              <a:t/>
            </a:r>
            <a:r>
              <a:rPr lang="ru-RU" sz="900" dirty="0" smtClean="0"/>
              <a:t/>
            </a:r>
            <a:r>
              <a:rPr lang="ru-RU" sz="900" dirty="0"/>
              <a:t/>
            </a:r>
            <a:r>
              <a:rPr lang="ru-RU" sz="900" dirty="0" smtClean="0"/>
              <a:t/>
            </a:r>
            <a:r>
              <a:rPr lang="ru-RU" sz="900" dirty="0" err="1"/>
              <a:t/>
            </a:r>
            <a:r>
              <a:rPr lang="ru-RU" sz="900" dirty="0"/>
              <a:t/>
            </a:r>
            <a:r>
              <a:rPr lang="ru-RU" sz="900" dirty="0" smtClean="0"/>
              <a:t/>
            </a:r>
            <a:r>
              <a:rPr lang="ru-RU" sz="900" dirty="0"/>
              <a:t/>
            </a:r>
          </a:p>
          <a:p>
            <a:pPr marL="88900" indent="-82550">
              <a:lnSpc>
                <a:spcPct val="100000"/>
              </a:lnSpc>
              <a:spcBef>
                <a:spcPts val="0"/>
              </a:spcBef>
              <a:buFont typeface="Arial" panose="020B0604020202020204" pitchFamily="34" charset="0"/>
              <a:buChar char="•"/>
            </a:pPr>
            <a:r>
              <a:rPr lang="ru-RU" sz="900" dirty="0" smtClean="0">
                <a:solidFill>
                  <a:srgbClr val="7030A0"/>
                </a:solidFill>
              </a:rPr>
              <a:t xml:space="preserve">Identified risks – No. no risks identified. Based on the results of self-tests, recommendations were sent.</a:t>
            </a:r>
            <a:r>
              <a:rPr lang="ru-RU" sz="900" dirty="0">
                <a:solidFill>
                  <a:srgbClr val="7030A0"/>
                </a:solidFill>
              </a:rPr>
              <a:t/>
            </a:r>
            <a:r>
              <a:rPr lang="ru-RU" sz="900" dirty="0">
                <a:solidFill>
                  <a:schemeClr val="tx1"/>
                </a:solidFill>
              </a:rPr>
              <a:t/>
            </a:r>
            <a:r>
              <a:rPr lang="ru-RU" sz="900" dirty="0" smtClean="0">
                <a:solidFill>
                  <a:schemeClr val="tx1"/>
                </a:solidFill>
              </a:rPr>
              <a:t/>
            </a:r>
            <a:endParaRPr lang="ru-RU" sz="900" dirty="0">
              <a:solidFill>
                <a:srgbClr val="7030A0"/>
              </a:solidFill>
            </a:endParaRPr>
          </a:p>
          <a:p>
            <a:pPr marL="88900" indent="-82550">
              <a:lnSpc>
                <a:spcPct val="100000"/>
              </a:lnSpc>
              <a:spcBef>
                <a:spcPts val="0"/>
              </a:spcBef>
              <a:buClr>
                <a:srgbClr val="7030A0"/>
              </a:buClr>
              <a:buFont typeface="Arial" panose="020B0604020202020204" pitchFamily="34" charset="0"/>
              <a:buChar char="•"/>
            </a:pPr>
            <a:r>
              <a:rPr lang="ru-RU" sz="900" dirty="0">
                <a:solidFill>
                  <a:srgbClr val="7030A0"/>
                </a:solidFill>
              </a:rPr>
              <a:t xml:space="preserve">Impact on Perimeter Annual Program/Lessons - Not identified. In 2026, it is planned to implement the Perimeter PD Protection Program.</a:t>
            </a:r>
            <a:r>
              <a:rPr lang="ru-RU" sz="900" dirty="0"/>
              <a:t/>
            </a:r>
            <a:r>
              <a:rPr lang="ru" sz="900" dirty="0" smtClean="0">
                <a:solidFill>
                  <a:schemeClr val="tx1"/>
                </a:solidFill>
              </a:rPr>
              <a:t/>
            </a:r>
            <a:endParaRPr lang="ru-RU" sz="900" dirty="0">
              <a:solidFill>
                <a:schemeClr val="tx1"/>
              </a:solidFill>
            </a:endParaRPr>
          </a:p>
        </p:txBody>
      </p:sp>
      <p:sp>
        <p:nvSpPr>
          <p:cNvPr id="69" name="TextBox 68">
            <a:extLst>
              <a:ext uri="{FF2B5EF4-FFF2-40B4-BE49-F238E27FC236}">
                <a16:creationId xmlns:a16="http://schemas.microsoft.com/office/drawing/2014/main" id="{8C74526F-F0E1-8F64-8D85-6F60B8935F6C}"/>
              </a:ext>
            </a:extLst>
          </p:cNvPr>
          <p:cNvSpPr txBox="1"/>
          <p:nvPr/>
        </p:nvSpPr>
        <p:spPr>
          <a:xfrm>
            <a:off x="467881" y="2029482"/>
            <a:ext cx="1484780" cy="400110"/>
          </a:xfrm>
          <a:prstGeom prst="rect">
            <a:avLst/>
          </a:prstGeom>
          <a:noFill/>
        </p:spPr>
        <p:txBody>
          <a:bodyPr wrap="square" rtlCol="0">
            <a:spAutoFit/>
          </a:bodyPr>
          <a:lstStyle/>
          <a:p>
            <a:pPr algn="ctr">
              <a:spcAft>
                <a:spcPts val="300"/>
              </a:spcAft>
            </a:pPr>
            <a:r>
              <a:rPr lang="ru-RU" sz="1000" b="1" dirty="0"/>
              <a:t xml:space="preserve">Projects for the period (2025)</a:t>
            </a:r>
            <a:r>
              <a:rPr lang="ru" sz="1000" b="1" noProof="0" dirty="0"/>
              <a:t/>
            </a:r>
          </a:p>
        </p:txBody>
      </p:sp>
      <p:sp>
        <p:nvSpPr>
          <p:cNvPr id="70" name="TextBox 69">
            <a:extLst>
              <a:ext uri="{FF2B5EF4-FFF2-40B4-BE49-F238E27FC236}">
                <a16:creationId xmlns:a16="http://schemas.microsoft.com/office/drawing/2014/main" id="{6B5015D7-6284-F411-9768-A8E9405FE5DE}"/>
              </a:ext>
            </a:extLst>
          </p:cNvPr>
          <p:cNvSpPr txBox="1"/>
          <p:nvPr/>
        </p:nvSpPr>
        <p:spPr>
          <a:xfrm>
            <a:off x="2395386" y="984124"/>
            <a:ext cx="2620069" cy="246221"/>
          </a:xfrm>
          <a:prstGeom prst="rect">
            <a:avLst/>
          </a:prstGeom>
          <a:noFill/>
        </p:spPr>
        <p:txBody>
          <a:bodyPr wrap="square" rtlCol="0">
            <a:spAutoFit/>
          </a:bodyPr>
          <a:lstStyle/>
          <a:p>
            <a:pPr algn="ctr" rtl="0"/>
            <a:r>
              <a:rPr lang="ru" sz="1000" b="1" noProof="0" dirty="0"/>
              <a:t xml:space="preserve">Project status – current year ($ million)</a:t>
            </a:r>
          </a:p>
        </p:txBody>
      </p:sp>
      <p:graphicFrame>
        <p:nvGraphicFramePr>
          <p:cNvPr id="71" name="Chart 65">
            <a:extLst>
              <a:ext uri="{FF2B5EF4-FFF2-40B4-BE49-F238E27FC236}">
                <a16:creationId xmlns:a16="http://schemas.microsoft.com/office/drawing/2014/main" id="{9A395AFC-E3F2-5E18-07C0-A00C1335D98E}"/>
              </a:ext>
            </a:extLst>
          </p:cNvPr>
          <p:cNvGraphicFramePr/>
          <p:nvPr>
            <p:custDataLst>
              <p:tags r:id="rId5"/>
            </p:custDataLst>
            <p:extLst>
              <p:ext uri="{D42A27DB-BD31-4B8C-83A1-F6EECF244321}">
                <p14:modId xmlns:p14="http://schemas.microsoft.com/office/powerpoint/2010/main" val="3560939229"/>
              </p:ext>
            </p:extLst>
          </p:nvPr>
        </p:nvGraphicFramePr>
        <p:xfrm>
          <a:off x="467881" y="2508521"/>
          <a:ext cx="1546209" cy="1229139"/>
        </p:xfrm>
        <a:graphic>
          <a:graphicData uri="http://schemas.openxmlformats.org/drawingml/2006/chart">
            <c:chart xmlns:c="http://schemas.openxmlformats.org/drawingml/2006/chart" xmlns:r="http://schemas.openxmlformats.org/officeDocument/2006/relationships" r:id="rId16"/>
          </a:graphicData>
        </a:graphic>
      </p:graphicFrame>
      <p:grpSp>
        <p:nvGrpSpPr>
          <p:cNvPr id="72" name="Group 70">
            <a:extLst>
              <a:ext uri="{FF2B5EF4-FFF2-40B4-BE49-F238E27FC236}">
                <a16:creationId xmlns:a16="http://schemas.microsoft.com/office/drawing/2014/main" id="{B8281891-41D7-3A37-C9F8-62D77D218693}"/>
              </a:ext>
            </a:extLst>
          </p:cNvPr>
          <p:cNvGrpSpPr/>
          <p:nvPr/>
        </p:nvGrpSpPr>
        <p:grpSpPr>
          <a:xfrm>
            <a:off x="632303" y="2554451"/>
            <a:ext cx="1618111" cy="609364"/>
            <a:chOff x="1527301" y="2598994"/>
            <a:chExt cx="3615002" cy="609364"/>
          </a:xfrm>
        </p:grpSpPr>
        <p:sp>
          <p:nvSpPr>
            <p:cNvPr id="73" name="Rectangle 71">
              <a:extLst>
                <a:ext uri="{FF2B5EF4-FFF2-40B4-BE49-F238E27FC236}">
                  <a16:creationId xmlns:a16="http://schemas.microsoft.com/office/drawing/2014/main" id="{D762D443-F2CD-BB96-4B61-4ABBDF653165}"/>
                </a:ext>
              </a:extLst>
            </p:cNvPr>
            <p:cNvSpPr/>
            <p:nvPr>
              <p:custDataLst>
                <p:tags r:id="rId11"/>
              </p:custDataLst>
            </p:nvPr>
          </p:nvSpPr>
          <p:spPr bwMode="auto">
            <a:xfrm>
              <a:off x="4021374" y="2598994"/>
              <a:ext cx="1120929" cy="430887"/>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b" anchorCtr="0" forceAA="0" compatLnSpc="1">
              <a:prstTxWarp prst="textNoShape">
                <a:avLst/>
              </a:prstTxWarp>
              <a:spAutoFit/>
            </a:bodyPr>
            <a:lstStyle/>
            <a:p>
              <a:pPr algn="r" rtl="0">
                <a:spcBef>
                  <a:spcPct val="0"/>
                </a:spcBef>
                <a:spcAft>
                  <a:spcPct val="0"/>
                </a:spcAft>
              </a:pPr>
              <a:r>
                <a:rPr lang="ru-RU" sz="700" dirty="0">
                  <a:solidFill>
                    <a:schemeClr val="tx1"/>
                  </a:solidFill>
                </a:rPr>
                <a:t xml:space="preserve">Projects</a:t>
              </a:r>
            </a:p>
            <a:p>
              <a:pPr algn="r" rtl="0">
                <a:spcBef>
                  <a:spcPct val="0"/>
                </a:spcBef>
                <a:spcAft>
                  <a:spcPct val="0"/>
                </a:spcAft>
              </a:pPr>
              <a:r>
                <a:rPr lang="ru-RU" sz="700" dirty="0">
                  <a:solidFill>
                    <a:schemeClr val="tx1"/>
                  </a:solidFill>
                </a:rPr>
                <a:t xml:space="preserve">completed</a:t>
              </a:r>
              <a:r>
                <a:rPr lang="ru-RU" sz="700" dirty="0" smtClean="0">
                  <a:solidFill>
                    <a:schemeClr val="tx1"/>
                  </a:solidFill>
                </a:rPr>
                <a:t/>
              </a:r>
              <a:r>
                <a:rPr lang="en-US" sz="700" dirty="0" smtClean="0">
                  <a:solidFill>
                    <a:schemeClr val="tx1"/>
                  </a:solidFill>
                </a:rPr>
                <a:t/>
              </a:r>
              <a:endParaRPr lang="ru-RU" sz="700" dirty="0" smtClean="0">
                <a:solidFill>
                  <a:schemeClr val="tx1"/>
                </a:solidFill>
              </a:endParaRPr>
            </a:p>
            <a:p>
              <a:pPr algn="r" rtl="0">
                <a:spcBef>
                  <a:spcPct val="0"/>
                </a:spcBef>
                <a:spcAft>
                  <a:spcPct val="0"/>
                </a:spcAft>
              </a:pPr>
              <a:r>
                <a:rPr lang="ru-RU" sz="700" dirty="0" smtClean="0">
                  <a:solidFill>
                    <a:schemeClr val="tx1"/>
                  </a:solidFill>
                </a:rPr>
                <a:t xml:space="preserve">in 2025</a:t>
              </a:r>
              <a:endParaRPr lang="ru-RU" sz="700" dirty="0">
                <a:solidFill>
                  <a:schemeClr val="tx1"/>
                </a:solidFill>
              </a:endParaRPr>
            </a:p>
            <a:p>
              <a:pPr algn="r" rtl="0">
                <a:spcBef>
                  <a:spcPct val="0"/>
                </a:spcBef>
                <a:spcAft>
                  <a:spcPct val="0"/>
                </a:spcAft>
              </a:pPr>
              <a:r>
                <a:rPr lang="ru-RU" sz="700" dirty="0" smtClean="0">
                  <a:solidFill>
                    <a:schemeClr val="tx1"/>
                  </a:solidFill>
                </a:rPr>
                <a:t xml:space="preserve">($14.2 million)</a:t>
              </a:r>
              <a:r>
                <a:rPr lang="en-US" sz="700" dirty="0" smtClean="0">
                  <a:solidFill>
                    <a:schemeClr val="tx1"/>
                  </a:solidFill>
                </a:rPr>
                <a:t/>
              </a:r>
              <a:r>
                <a:rPr lang="ru-RU" sz="700" dirty="0" smtClean="0">
                  <a:solidFill>
                    <a:schemeClr val="tx1"/>
                  </a:solidFill>
                </a:rPr>
                <a:t/>
              </a:r>
              <a:endParaRPr lang="ru" sz="700" dirty="0">
                <a:solidFill>
                  <a:schemeClr val="tx1"/>
                </a:solidFill>
              </a:endParaRPr>
            </a:p>
          </p:txBody>
        </p:sp>
        <p:sp>
          <p:nvSpPr>
            <p:cNvPr id="74" name="Rectangle 75">
              <a:extLst>
                <a:ext uri="{FF2B5EF4-FFF2-40B4-BE49-F238E27FC236}">
                  <a16:creationId xmlns:a16="http://schemas.microsoft.com/office/drawing/2014/main" id="{DE2AB93F-D2F3-BC6B-926D-0231855D3AEE}"/>
                </a:ext>
              </a:extLst>
            </p:cNvPr>
            <p:cNvSpPr/>
            <p:nvPr>
              <p:custDataLst>
                <p:tags r:id="rId12"/>
              </p:custDataLst>
            </p:nvPr>
          </p:nvSpPr>
          <p:spPr bwMode="auto">
            <a:xfrm>
              <a:off x="1527301" y="3085247"/>
              <a:ext cx="145" cy="123111"/>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r" rtl="0">
                <a:spcBef>
                  <a:spcPct val="0"/>
                </a:spcBef>
                <a:spcAft>
                  <a:spcPct val="0"/>
                </a:spcAft>
              </a:pPr>
              <a:endParaRPr lang="en-US" sz="800" noProof="0" dirty="0">
                <a:solidFill>
                  <a:srgbClr val="0070C0"/>
                </a:solidFill>
              </a:endParaRPr>
            </a:p>
          </p:txBody>
        </p:sp>
      </p:grpSp>
      <p:sp>
        <p:nvSpPr>
          <p:cNvPr id="75" name="Rectangle 84">
            <a:extLst>
              <a:ext uri="{FF2B5EF4-FFF2-40B4-BE49-F238E27FC236}">
                <a16:creationId xmlns:a16="http://schemas.microsoft.com/office/drawing/2014/main" id="{CA51A5FA-715A-561A-5D9E-C322F002CA45}"/>
              </a:ext>
            </a:extLst>
          </p:cNvPr>
          <p:cNvSpPr/>
          <p:nvPr>
            <p:custDataLst>
              <p:tags r:id="rId6"/>
            </p:custDataLst>
          </p:nvPr>
        </p:nvSpPr>
        <p:spPr bwMode="auto">
          <a:xfrm>
            <a:off x="334838" y="2423559"/>
            <a:ext cx="781669" cy="430887"/>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rtl="0">
              <a:spcBef>
                <a:spcPct val="0"/>
              </a:spcBef>
              <a:spcAft>
                <a:spcPct val="0"/>
              </a:spcAft>
            </a:pPr>
            <a:r>
              <a:rPr lang="ru" sz="700" dirty="0">
                <a:solidFill>
                  <a:schemeClr val="tx1"/>
                </a:solidFill>
              </a:rPr>
              <a:t xml:space="preserve">Ongoing projects</a:t>
            </a:r>
            <a:endParaRPr lang="ru" sz="700" dirty="0" smtClean="0">
              <a:solidFill>
                <a:schemeClr val="tx1"/>
              </a:solidFill>
            </a:endParaRPr>
          </a:p>
          <a:p>
            <a:pPr rtl="0">
              <a:spcBef>
                <a:spcPct val="0"/>
              </a:spcBef>
              <a:spcAft>
                <a:spcPct val="0"/>
              </a:spcAft>
            </a:pPr>
            <a:r>
              <a:rPr lang="ru" sz="700" dirty="0" smtClean="0">
                <a:solidFill>
                  <a:schemeClr val="tx1"/>
                </a:solidFill>
              </a:rPr>
              <a:t xml:space="preserve">in 2025</a:t>
            </a:r>
            <a:r>
              <a:rPr lang="ru" sz="700" dirty="0">
                <a:solidFill>
                  <a:schemeClr val="tx1"/>
                </a:solidFill>
              </a:rPr>
              <a:t/>
            </a:r>
            <a:endParaRPr lang="ru" sz="700" dirty="0" smtClean="0">
              <a:solidFill>
                <a:schemeClr val="tx1"/>
              </a:solidFill>
            </a:endParaRPr>
          </a:p>
          <a:p>
            <a:pPr rtl="0">
              <a:spcBef>
                <a:spcPct val="0"/>
              </a:spcBef>
              <a:spcAft>
                <a:spcPct val="0"/>
              </a:spcAft>
            </a:pPr>
            <a:r>
              <a:rPr lang="ru" sz="700" dirty="0" smtClean="0">
                <a:solidFill>
                  <a:schemeClr val="tx1"/>
                </a:solidFill>
              </a:rPr>
              <a:t xml:space="preserve">($23.8 million)</a:t>
            </a:r>
            <a:r>
              <a:rPr lang="en-US" sz="700" dirty="0" smtClean="0">
                <a:solidFill>
                  <a:schemeClr val="tx1"/>
                </a:solidFill>
              </a:rPr>
              <a:t/>
            </a:r>
            <a:r>
              <a:rPr lang="ru-RU" sz="700" dirty="0" smtClean="0">
                <a:solidFill>
                  <a:schemeClr val="tx1"/>
                </a:solidFill>
              </a:rPr>
              <a:t/>
            </a:r>
            <a:r>
              <a:rPr lang="ru" sz="700" dirty="0" smtClean="0">
                <a:solidFill>
                  <a:schemeClr val="tx1"/>
                </a:solidFill>
              </a:rPr>
              <a:t/>
            </a:r>
            <a:endParaRPr lang="ru" sz="700" dirty="0">
              <a:solidFill>
                <a:schemeClr val="tx1"/>
              </a:solidFill>
            </a:endParaRPr>
          </a:p>
        </p:txBody>
      </p:sp>
      <p:sp>
        <p:nvSpPr>
          <p:cNvPr id="76" name="TextBox 75">
            <a:extLst>
              <a:ext uri="{FF2B5EF4-FFF2-40B4-BE49-F238E27FC236}">
                <a16:creationId xmlns:a16="http://schemas.microsoft.com/office/drawing/2014/main" id="{B9F829B5-4229-0172-17DA-A018AB33B3CF}"/>
              </a:ext>
            </a:extLst>
          </p:cNvPr>
          <p:cNvSpPr txBox="1"/>
          <p:nvPr/>
        </p:nvSpPr>
        <p:spPr>
          <a:xfrm>
            <a:off x="2490181" y="2360473"/>
            <a:ext cx="3408315" cy="246221"/>
          </a:xfrm>
          <a:prstGeom prst="rect">
            <a:avLst/>
          </a:prstGeom>
          <a:noFill/>
        </p:spPr>
        <p:txBody>
          <a:bodyPr wrap="square" rtlCol="0">
            <a:spAutoFit/>
          </a:bodyPr>
          <a:lstStyle/>
          <a:p>
            <a:pPr rtl="0"/>
            <a:r>
              <a:rPr lang="ru" sz="1000" b="1" noProof="0" dirty="0"/>
              <a:t xml:space="preserve">Project status – previous year(s) ($ million)</a:t>
            </a:r>
          </a:p>
        </p:txBody>
      </p:sp>
      <p:graphicFrame>
        <p:nvGraphicFramePr>
          <p:cNvPr id="77" name="Chart 55">
            <a:extLst>
              <a:ext uri="{FF2B5EF4-FFF2-40B4-BE49-F238E27FC236}">
                <a16:creationId xmlns:a16="http://schemas.microsoft.com/office/drawing/2014/main" id="{F210101D-B096-423F-1842-00197FBC44A0}"/>
              </a:ext>
            </a:extLst>
          </p:cNvPr>
          <p:cNvGraphicFramePr/>
          <p:nvPr>
            <p:custDataLst>
              <p:tags r:id="rId7"/>
            </p:custDataLst>
            <p:extLst>
              <p:ext uri="{D42A27DB-BD31-4B8C-83A1-F6EECF244321}">
                <p14:modId xmlns:p14="http://schemas.microsoft.com/office/powerpoint/2010/main" val="2590808558"/>
              </p:ext>
            </p:extLst>
          </p:nvPr>
        </p:nvGraphicFramePr>
        <p:xfrm>
          <a:off x="2408438" y="1222101"/>
          <a:ext cx="3315856" cy="1085409"/>
        </p:xfrm>
        <a:graphic>
          <a:graphicData uri="http://schemas.openxmlformats.org/drawingml/2006/chart">
            <c:chart xmlns:c="http://schemas.openxmlformats.org/drawingml/2006/chart" xmlns:r="http://schemas.openxmlformats.org/officeDocument/2006/relationships" r:id="rId17"/>
          </a:graphicData>
        </a:graphic>
      </p:graphicFrame>
      <p:graphicFrame>
        <p:nvGraphicFramePr>
          <p:cNvPr id="78" name="Chart 55">
            <a:extLst>
              <a:ext uri="{FF2B5EF4-FFF2-40B4-BE49-F238E27FC236}">
                <a16:creationId xmlns:a16="http://schemas.microsoft.com/office/drawing/2014/main" id="{F210101D-B096-423F-1842-00197FBC44A0}"/>
              </a:ext>
            </a:extLst>
          </p:cNvPr>
          <p:cNvGraphicFramePr/>
          <p:nvPr>
            <p:custDataLst>
              <p:tags r:id="rId8"/>
            </p:custDataLst>
            <p:extLst>
              <p:ext uri="{D42A27DB-BD31-4B8C-83A1-F6EECF244321}">
                <p14:modId xmlns:p14="http://schemas.microsoft.com/office/powerpoint/2010/main" val="217613120"/>
              </p:ext>
            </p:extLst>
          </p:nvPr>
        </p:nvGraphicFramePr>
        <p:xfrm>
          <a:off x="2415694" y="2587687"/>
          <a:ext cx="3355344" cy="1103476"/>
        </p:xfrm>
        <a:graphic>
          <a:graphicData uri="http://schemas.openxmlformats.org/drawingml/2006/chart">
            <c:chart xmlns:c="http://schemas.openxmlformats.org/drawingml/2006/chart" xmlns:r="http://schemas.openxmlformats.org/officeDocument/2006/relationships" r:id="rId18"/>
          </a:graphicData>
        </a:graphic>
      </p:graphicFrame>
      <p:sp>
        <p:nvSpPr>
          <p:cNvPr id="80" name="TextBox 79">
            <a:extLst>
              <a:ext uri="{FF2B5EF4-FFF2-40B4-BE49-F238E27FC236}">
                <a16:creationId xmlns:a16="http://schemas.microsoft.com/office/drawing/2014/main" id="{7EEE0F13-CAAB-426F-97F5-90E33AC687F4}"/>
              </a:ext>
            </a:extLst>
          </p:cNvPr>
          <p:cNvSpPr txBox="1"/>
          <p:nvPr/>
        </p:nvSpPr>
        <p:spPr>
          <a:xfrm>
            <a:off x="6145559" y="2061863"/>
            <a:ext cx="619346" cy="754053"/>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spcBef>
                <a:spcPct val="0"/>
              </a:spcBef>
              <a:spcAft>
                <a:spcPct val="0"/>
              </a:spcAft>
              <a:defRPr sz="8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rtl="0"/>
            <a:r>
              <a:rPr lang="ru" sz="700" noProof="0" dirty="0">
                <a:solidFill>
                  <a:schemeClr val="tx1"/>
                </a:solidFill>
              </a:rPr>
              <a:t>Кол-во договоров</a:t>
            </a:r>
            <a:r>
              <a:rPr lang="en-US" sz="700" noProof="0" dirty="0">
                <a:solidFill>
                  <a:schemeClr val="tx1"/>
                </a:solidFill>
              </a:rPr>
              <a:t/>
            </a:r>
            <a:br>
              <a:rPr lang="en-US" sz="700" noProof="0" dirty="0">
                <a:solidFill>
                  <a:schemeClr val="tx1"/>
                </a:solidFill>
              </a:rPr>
            </a:br>
            <a:r>
              <a:rPr lang="ru" sz="700" noProof="0" dirty="0">
                <a:solidFill>
                  <a:schemeClr val="tx1"/>
                </a:solidFill>
              </a:rPr>
              <a:t>со связанными сторонами </a:t>
            </a:r>
            <a:endParaRPr lang="ru" sz="700" noProof="0" dirty="0" smtClean="0">
              <a:solidFill>
                <a:schemeClr val="tx1"/>
              </a:solidFill>
            </a:endParaRPr>
          </a:p>
          <a:p>
            <a:pPr rtl="0"/>
            <a:r>
              <a:rPr lang="ru" sz="700" noProof="0" dirty="0" smtClean="0">
                <a:solidFill>
                  <a:schemeClr val="tx1"/>
                </a:solidFill>
              </a:rPr>
              <a:t xml:space="preserve">(according to KPK)</a:t>
            </a:r>
            <a:r>
              <a:rPr lang="ru" sz="700" noProof="0" dirty="0">
                <a:solidFill>
                  <a:schemeClr val="tx1"/>
                </a:solidFill>
              </a:rPr>
              <a:t/>
            </a:r>
          </a:p>
        </p:txBody>
      </p:sp>
      <p:graphicFrame>
        <p:nvGraphicFramePr>
          <p:cNvPr id="81" name="Chart 79">
            <a:extLst>
              <a:ext uri="{FF2B5EF4-FFF2-40B4-BE49-F238E27FC236}">
                <a16:creationId xmlns:a16="http://schemas.microsoft.com/office/drawing/2014/main" id="{0E81C360-28A2-42C3-8377-C3E231479398}"/>
              </a:ext>
            </a:extLst>
          </p:cNvPr>
          <p:cNvGraphicFramePr/>
          <p:nvPr>
            <p:custDataLst>
              <p:tags r:id="rId9"/>
            </p:custDataLst>
            <p:extLst>
              <p:ext uri="{D42A27DB-BD31-4B8C-83A1-F6EECF244321}">
                <p14:modId xmlns:p14="http://schemas.microsoft.com/office/powerpoint/2010/main" val="3020399508"/>
              </p:ext>
            </p:extLst>
          </p:nvPr>
        </p:nvGraphicFramePr>
        <p:xfrm>
          <a:off x="6580909" y="2029482"/>
          <a:ext cx="1606855" cy="896937"/>
        </p:xfrm>
        <a:graphic>
          <a:graphicData uri="http://schemas.openxmlformats.org/drawingml/2006/chart">
            <c:chart xmlns:c="http://schemas.openxmlformats.org/drawingml/2006/chart" xmlns:r="http://schemas.openxmlformats.org/officeDocument/2006/relationships" r:id="rId19"/>
          </a:graphicData>
        </a:graphic>
      </p:graphicFrame>
      <p:sp>
        <p:nvSpPr>
          <p:cNvPr id="82" name="TextBox 81"/>
          <p:cNvSpPr txBox="1"/>
          <p:nvPr/>
        </p:nvSpPr>
        <p:spPr>
          <a:xfrm>
            <a:off x="8251010" y="2339148"/>
            <a:ext cx="50863" cy="123111"/>
          </a:xfrm>
          <a:prstGeom prst="rect">
            <a:avLst/>
          </a:prstGeom>
          <a:solidFill>
            <a:schemeClr val="accent2"/>
          </a:solidFill>
        </p:spPr>
        <p:txBody>
          <a:bodyPr wrap="square" lIns="0" tIns="0" rIns="0" bIns="0" rtlCol="0">
            <a:spAutoFit/>
          </a:bodyPr>
          <a:lstStyle/>
          <a:p>
            <a:r>
              <a:rPr lang="ru-RU" sz="800" dirty="0" smtClean="0"/>
              <a:t>0</a:t>
            </a:r>
            <a:endParaRPr lang="ru-RU" sz="800" dirty="0"/>
          </a:p>
        </p:txBody>
      </p:sp>
      <p:graphicFrame>
        <p:nvGraphicFramePr>
          <p:cNvPr id="83" name="Chart 78">
            <a:extLst>
              <a:ext uri="{FF2B5EF4-FFF2-40B4-BE49-F238E27FC236}">
                <a16:creationId xmlns:a16="http://schemas.microsoft.com/office/drawing/2014/main" id="{52DD924D-A169-4FDD-9BA2-D459FF44CFEC}"/>
              </a:ext>
            </a:extLst>
          </p:cNvPr>
          <p:cNvGraphicFramePr/>
          <p:nvPr>
            <p:custDataLst>
              <p:tags r:id="rId10"/>
            </p:custDataLst>
            <p:extLst>
              <p:ext uri="{D42A27DB-BD31-4B8C-83A1-F6EECF244321}">
                <p14:modId xmlns:p14="http://schemas.microsoft.com/office/powerpoint/2010/main" val="1971006969"/>
              </p:ext>
            </p:extLst>
          </p:nvPr>
        </p:nvGraphicFramePr>
        <p:xfrm>
          <a:off x="7975624" y="2029481"/>
          <a:ext cx="837305" cy="896937"/>
        </p:xfrm>
        <a:graphic>
          <a:graphicData uri="http://schemas.openxmlformats.org/drawingml/2006/chart">
            <c:chart xmlns:c="http://schemas.openxmlformats.org/drawingml/2006/chart" xmlns:r="http://schemas.openxmlformats.org/officeDocument/2006/relationships" r:id="rId20"/>
          </a:graphicData>
        </a:graphic>
      </p:graphicFrame>
      <p:sp>
        <p:nvSpPr>
          <p:cNvPr id="79" name="TextBox 78">
            <a:extLst>
              <a:ext uri="{FF2B5EF4-FFF2-40B4-BE49-F238E27FC236}">
                <a16:creationId xmlns:a16="http://schemas.microsoft.com/office/drawing/2014/main" id="{554A2975-04FC-476E-B66D-314C56825C9E}"/>
              </a:ext>
            </a:extLst>
          </p:cNvPr>
          <p:cNvSpPr txBox="1"/>
          <p:nvPr/>
        </p:nvSpPr>
        <p:spPr>
          <a:xfrm>
            <a:off x="8251010" y="2115723"/>
            <a:ext cx="671041" cy="754053"/>
          </a:xfrm>
          <a:prstGeom prst="rect">
            <a:avLst/>
          </a:prstGeom>
          <a:solidFill>
            <a:schemeClr val="accent2">
              <a:lumMod val="20000"/>
              <a:lumOff val="80000"/>
            </a:schemeClr>
          </a:solidFill>
          <a:ln w="9525">
            <a:noFill/>
          </a:ln>
          <a:effectLs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spcBef>
                <a:spcPct val="0"/>
              </a:spcBef>
              <a:spcAft>
                <a:spcPct val="0"/>
              </a:spcAft>
              <a:defRPr sz="8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ru" sz="700" noProof="0" dirty="0">
                <a:solidFill>
                  <a:schemeClr val="tx1"/>
                </a:solidFill>
              </a:rPr>
              <a:t xml:space="preserve">Violations of the Policy on Related Party Agreements (KPC data)</a:t>
            </a:r>
            <a:r>
              <a:rPr lang="ru-RU" sz="700" dirty="0">
                <a:solidFill>
                  <a:schemeClr val="tx1"/>
                </a:solidFill>
              </a:rPr>
              <a:t/>
            </a:r>
            <a:endParaRPr lang="ru" sz="700" noProof="0" dirty="0">
              <a:solidFill>
                <a:schemeClr val="tx1"/>
              </a:solidFill>
            </a:endParaRPr>
          </a:p>
        </p:txBody>
      </p:sp>
      <p:sp>
        <p:nvSpPr>
          <p:cNvPr id="8" name="TextBox 7"/>
          <p:cNvSpPr txBox="1"/>
          <p:nvPr/>
        </p:nvSpPr>
        <p:spPr>
          <a:xfrm>
            <a:off x="8097269" y="2385410"/>
            <a:ext cx="329098" cy="123111"/>
          </a:xfrm>
          <a:prstGeom prst="rect">
            <a:avLst/>
          </a:prstGeom>
        </p:spPr>
        <p:txBody>
          <a:bodyPr wrap="square" lIns="0" tIns="0" rIns="0" bIns="0" rtlCol="0">
            <a:spAutoFit/>
          </a:bodyPr>
          <a:lstStyle/>
          <a:p>
            <a:r>
              <a:rPr lang="ru-RU" sz="800" dirty="0" smtClean="0"/>
              <a:t>9</a:t>
            </a:r>
            <a:endParaRPr lang="ru-RU" sz="800" dirty="0"/>
          </a:p>
        </p:txBody>
      </p:sp>
    </p:spTree>
    <p:extLst>
      <p:ext uri="{BB962C8B-B14F-4D97-AF65-F5344CB8AC3E}">
        <p14:creationId xmlns:p14="http://schemas.microsoft.com/office/powerpoint/2010/main" val="40450365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37966-A69E-77B2-A785-02C2EBC0BBD2}"/>
            </a:ext>
          </a:extLst>
        </p:cNvPr>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3E8A4745-C2E3-0474-999F-FF2DE800C50A}"/>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9885" name="think-cell Slide" r:id="rId24" imgW="353" imgH="353" progId="TCLayout.ActiveDocument.1">
                  <p:embed/>
                </p:oleObj>
              </mc:Choice>
              <mc:Fallback>
                <p:oleObj name="think-cell Slide" r:id="rId24" imgW="353" imgH="353" progId="TCLayout.ActiveDocument.1">
                  <p:embed/>
                  <p:pic>
                    <p:nvPicPr>
                      <p:cNvPr id="13" name="Object 12" hidden="1">
                        <a:extLst>
                          <a:ext uri="{FF2B5EF4-FFF2-40B4-BE49-F238E27FC236}">
                            <a16:creationId xmlns:a16="http://schemas.microsoft.com/office/drawing/2014/main" id="{A903F5A5-F8C4-EE91-023C-402E3D3A881F}"/>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39" name="Rectangle 38" hidden="1">
            <a:extLst>
              <a:ext uri="{FF2B5EF4-FFF2-40B4-BE49-F238E27FC236}">
                <a16:creationId xmlns:a16="http://schemas.microsoft.com/office/drawing/2014/main" id="{D1F01A0C-9BC4-ADE5-5AFB-A6D1BC2B9DFB}"/>
              </a:ext>
            </a:extLst>
          </p:cNvPr>
          <p:cNvSpPr/>
          <p:nvPr>
            <p:custDataLst>
              <p:tags r:id="rId3"/>
            </p:custDataLst>
          </p:nvPr>
        </p:nvSpPr>
        <p:spPr>
          <a:xfrm>
            <a:off x="0" y="0"/>
            <a:ext cx="158750" cy="1587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dirty="0">
              <a:solidFill>
                <a:schemeClr val="accent1"/>
              </a:solidFill>
              <a:latin typeface="Arial" panose="020B0604020202020204" pitchFamily="34" charset="0"/>
              <a:ea typeface="+mj-ea"/>
              <a:cs typeface="+mj-cs"/>
              <a:sym typeface="Arial" panose="020B0604020202020204" pitchFamily="34" charset="0"/>
            </a:endParaRPr>
          </a:p>
        </p:txBody>
      </p:sp>
      <p:sp>
        <p:nvSpPr>
          <p:cNvPr id="11" name="Title 10">
            <a:extLst>
              <a:ext uri="{FF2B5EF4-FFF2-40B4-BE49-F238E27FC236}">
                <a16:creationId xmlns:a16="http://schemas.microsoft.com/office/drawing/2014/main" id="{B878A816-ADC1-3FF9-35B2-AB471C157FD3}"/>
              </a:ext>
            </a:extLst>
          </p:cNvPr>
          <p:cNvSpPr>
            <a:spLocks noGrp="1"/>
          </p:cNvSpPr>
          <p:nvPr>
            <p:ph type="title"/>
          </p:nvPr>
        </p:nvSpPr>
        <p:spPr>
          <a:xfrm>
            <a:off x="317499" y="0"/>
            <a:ext cx="10584209" cy="704850"/>
          </a:xfrm>
        </p:spPr>
        <p:txBody>
          <a:bodyPr/>
          <a:lstStyle/>
          <a:p>
            <a:r>
              <a:rPr lang="ru-RU" dirty="0" smtClean="0"/>
              <a:t>Годовой дашборд </a:t>
            </a:r>
            <a:r>
              <a:rPr lang="en-US" dirty="0" smtClean="0"/>
              <a:t>2025: </a:t>
            </a:r>
            <a:r>
              <a:rPr lang="ru-RU" dirty="0" smtClean="0"/>
              <a:t>Периметр Казахстан</a:t>
            </a:r>
            <a:r>
              <a:rPr lang="en-US" dirty="0" smtClean="0"/>
              <a:t/>
            </a:r>
            <a:br>
              <a:rPr lang="en-US" dirty="0" smtClean="0"/>
            </a:br>
            <a:r>
              <a:rPr lang="ru-RU" dirty="0" smtClean="0">
                <a:solidFill>
                  <a:schemeClr val="tx1"/>
                </a:solidFill>
              </a:rPr>
              <a:t>Краткое изложение</a:t>
            </a:r>
            <a:r>
              <a:rPr lang="en-US" dirty="0" smtClean="0">
                <a:solidFill>
                  <a:schemeClr val="tx1"/>
                </a:solidFill>
              </a:rPr>
              <a:t> (4/6)</a:t>
            </a:r>
            <a:endParaRPr lang="en-US" dirty="0"/>
          </a:p>
        </p:txBody>
      </p:sp>
      <p:sp>
        <p:nvSpPr>
          <p:cNvPr id="2" name="Rectangle: Rounded Corners 1">
            <a:extLst>
              <a:ext uri="{FF2B5EF4-FFF2-40B4-BE49-F238E27FC236}">
                <a16:creationId xmlns:a16="http://schemas.microsoft.com/office/drawing/2014/main" id="{B1DC64D6-DD3E-A837-F2F9-502A84358964}"/>
              </a:ext>
            </a:extLst>
          </p:cNvPr>
          <p:cNvSpPr/>
          <p:nvPr>
            <p:custDataLst>
              <p:tags r:id="rId4"/>
            </p:custDataLst>
          </p:nvPr>
        </p:nvSpPr>
        <p:spPr>
          <a:xfrm>
            <a:off x="317499" y="911189"/>
            <a:ext cx="3321247" cy="2481811"/>
          </a:xfrm>
          <a:prstGeom prst="roundRect">
            <a:avLst>
              <a:gd name="adj" fmla="val 6024"/>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algn="ctr"/>
            <a:endParaRPr lang="ru" sz="1000" b="1" dirty="0">
              <a:solidFill>
                <a:schemeClr val="accent1"/>
              </a:solidFill>
            </a:endParaRPr>
          </a:p>
        </p:txBody>
      </p:sp>
      <p:sp>
        <p:nvSpPr>
          <p:cNvPr id="9" name="Rectangle: Rounded Corners 8">
            <a:extLst>
              <a:ext uri="{FF2B5EF4-FFF2-40B4-BE49-F238E27FC236}">
                <a16:creationId xmlns:a16="http://schemas.microsoft.com/office/drawing/2014/main" id="{20AE56A2-7E8C-531B-0618-1B694260DDCB}"/>
              </a:ext>
            </a:extLst>
          </p:cNvPr>
          <p:cNvSpPr/>
          <p:nvPr>
            <p:custDataLst>
              <p:tags r:id="rId5"/>
            </p:custDataLst>
          </p:nvPr>
        </p:nvSpPr>
        <p:spPr>
          <a:xfrm>
            <a:off x="7714622" y="909633"/>
            <a:ext cx="4383593" cy="2483171"/>
          </a:xfrm>
          <a:prstGeom prst="roundRect">
            <a:avLst>
              <a:gd name="adj" fmla="val 6937"/>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algn="ctr" rtl="0"/>
            <a:endParaRPr lang="en-US" sz="900" b="1" dirty="0">
              <a:solidFill>
                <a:schemeClr val="tx1"/>
              </a:solidFill>
            </a:endParaRPr>
          </a:p>
          <a:p>
            <a:pPr algn="ctr" rtl="0"/>
            <a:endParaRPr lang="en-US" sz="900" b="1" dirty="0">
              <a:solidFill>
                <a:schemeClr val="tx1"/>
              </a:solidFill>
            </a:endParaRPr>
          </a:p>
          <a:p>
            <a:pPr algn="ctr" rtl="0"/>
            <a:endParaRPr lang="en-US" sz="900" b="1" dirty="0">
              <a:solidFill>
                <a:schemeClr val="tx1"/>
              </a:solidFill>
            </a:endParaRPr>
          </a:p>
          <a:p>
            <a:pPr algn="ctr" rtl="0"/>
            <a:endParaRPr lang="en-US" sz="900" b="1" dirty="0">
              <a:solidFill>
                <a:schemeClr val="tx1"/>
              </a:solidFill>
            </a:endParaRPr>
          </a:p>
          <a:p>
            <a:pPr algn="ctr" rtl="0"/>
            <a:endParaRPr lang="ru" sz="900" b="1" dirty="0">
              <a:solidFill>
                <a:schemeClr val="tx1"/>
              </a:solidFill>
            </a:endParaRPr>
          </a:p>
          <a:p>
            <a:pPr algn="ctr"/>
            <a:endParaRPr lang="en-US" sz="900" b="1" dirty="0">
              <a:solidFill>
                <a:schemeClr val="tx1"/>
              </a:solidFill>
            </a:endParaRPr>
          </a:p>
          <a:p>
            <a:pPr algn="ctr"/>
            <a:endParaRPr lang="en-US" sz="1000" b="1" dirty="0">
              <a:solidFill>
                <a:schemeClr val="tx1"/>
              </a:solidFill>
            </a:endParaRPr>
          </a:p>
          <a:p>
            <a:pPr algn="ctr"/>
            <a:endParaRPr lang="en-US" sz="1000" b="1" dirty="0">
              <a:solidFill>
                <a:schemeClr val="tx1"/>
              </a:solidFill>
            </a:endParaRPr>
          </a:p>
          <a:p>
            <a:pPr rtl="0"/>
            <a:endParaRPr lang="en-US" sz="900" b="1" dirty="0">
              <a:solidFill>
                <a:schemeClr val="tx1"/>
              </a:solidFill>
            </a:endParaRPr>
          </a:p>
          <a:p>
            <a:pPr rtl="0"/>
            <a:endParaRPr lang="en-US" sz="900" b="1" dirty="0">
              <a:solidFill>
                <a:schemeClr val="tx1"/>
              </a:solidFill>
            </a:endParaRPr>
          </a:p>
        </p:txBody>
      </p:sp>
      <p:sp>
        <p:nvSpPr>
          <p:cNvPr id="204" name="Rectangle: Rounded Corners 203">
            <a:extLst>
              <a:ext uri="{FF2B5EF4-FFF2-40B4-BE49-F238E27FC236}">
                <a16:creationId xmlns:a16="http://schemas.microsoft.com/office/drawing/2014/main" id="{8422EBC8-FD32-A004-E7DB-583D3E4055CE}"/>
              </a:ext>
            </a:extLst>
          </p:cNvPr>
          <p:cNvSpPr/>
          <p:nvPr>
            <p:custDataLst>
              <p:tags r:id="rId6"/>
            </p:custDataLst>
          </p:nvPr>
        </p:nvSpPr>
        <p:spPr>
          <a:xfrm>
            <a:off x="3200627" y="911188"/>
            <a:ext cx="4308913" cy="2481811"/>
          </a:xfrm>
          <a:prstGeom prst="roundRect">
            <a:avLst>
              <a:gd name="adj" fmla="val 5912"/>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algn="ctr"/>
            <a:endParaRPr lang="ru" sz="1000" dirty="0">
              <a:solidFill>
                <a:schemeClr val="tx1"/>
              </a:solidFill>
            </a:endParaRPr>
          </a:p>
        </p:txBody>
      </p:sp>
      <p:cxnSp>
        <p:nvCxnSpPr>
          <p:cNvPr id="218" name="Straight Connector 217">
            <a:extLst>
              <a:ext uri="{FF2B5EF4-FFF2-40B4-BE49-F238E27FC236}">
                <a16:creationId xmlns:a16="http://schemas.microsoft.com/office/drawing/2014/main" id="{163A1F20-A678-7890-42C3-3181413D6689}"/>
              </a:ext>
            </a:extLst>
          </p:cNvPr>
          <p:cNvCxnSpPr/>
          <p:nvPr/>
        </p:nvCxnSpPr>
        <p:spPr>
          <a:xfrm>
            <a:off x="-9427" y="3682382"/>
            <a:ext cx="12192000" cy="0"/>
          </a:xfrm>
          <a:prstGeom prst="line">
            <a:avLst/>
          </a:pr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cxnSp>
      <p:sp>
        <p:nvSpPr>
          <p:cNvPr id="220" name="Text Placeholder 39">
            <a:extLst>
              <a:ext uri="{FF2B5EF4-FFF2-40B4-BE49-F238E27FC236}">
                <a16:creationId xmlns:a16="http://schemas.microsoft.com/office/drawing/2014/main" id="{4EB990F3-6BBF-F6DB-3A28-DF2E81606907}"/>
              </a:ext>
            </a:extLst>
          </p:cNvPr>
          <p:cNvSpPr txBox="1">
            <a:spLocks/>
          </p:cNvSpPr>
          <p:nvPr/>
        </p:nvSpPr>
        <p:spPr>
          <a:xfrm>
            <a:off x="2395386" y="3571730"/>
            <a:ext cx="2217990"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 xml:space="preserve">Conflict of interest (CI)</a:t>
            </a:r>
            <a:endParaRPr lang="en-US" sz="1400" dirty="0">
              <a:solidFill>
                <a:srgbClr val="7030A0"/>
              </a:solidFill>
            </a:endParaRPr>
          </a:p>
        </p:txBody>
      </p:sp>
      <p:sp>
        <p:nvSpPr>
          <p:cNvPr id="224" name="Text Placeholder 39">
            <a:extLst>
              <a:ext uri="{FF2B5EF4-FFF2-40B4-BE49-F238E27FC236}">
                <a16:creationId xmlns:a16="http://schemas.microsoft.com/office/drawing/2014/main" id="{41EB7643-4AD4-634D-D588-4AD04519B175}"/>
              </a:ext>
            </a:extLst>
          </p:cNvPr>
          <p:cNvSpPr txBox="1">
            <a:spLocks/>
          </p:cNvSpPr>
          <p:nvPr/>
        </p:nvSpPr>
        <p:spPr>
          <a:xfrm>
            <a:off x="10595805" y="3418532"/>
            <a:ext cx="1181414" cy="1538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a:defRPr/>
            </a:pPr>
            <a:r>
              <a:rPr lang="ru-RU" sz="1000" i="1" dirty="0">
                <a:solidFill>
                  <a:schemeClr val="accent1"/>
                </a:solidFill>
              </a:rPr>
              <a:t xml:space="preserve">Key Metrics</a:t>
            </a:r>
            <a:endParaRPr lang="ru" sz="1000" i="1" dirty="0">
              <a:solidFill>
                <a:schemeClr val="accent1"/>
              </a:solidFill>
            </a:endParaRPr>
          </a:p>
        </p:txBody>
      </p:sp>
      <p:sp>
        <p:nvSpPr>
          <p:cNvPr id="225" name="Text Placeholder 39">
            <a:extLst>
              <a:ext uri="{FF2B5EF4-FFF2-40B4-BE49-F238E27FC236}">
                <a16:creationId xmlns:a16="http://schemas.microsoft.com/office/drawing/2014/main" id="{F37DB351-FBF8-E9DB-4061-9B6EEA268B22}"/>
              </a:ext>
            </a:extLst>
          </p:cNvPr>
          <p:cNvSpPr txBox="1">
            <a:spLocks/>
          </p:cNvSpPr>
          <p:nvPr/>
        </p:nvSpPr>
        <p:spPr>
          <a:xfrm>
            <a:off x="10434983" y="3791675"/>
            <a:ext cx="1536789" cy="307777"/>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a:defRPr/>
            </a:pPr>
            <a:r>
              <a:rPr lang="ru-RU" sz="1000" i="1" dirty="0">
                <a:solidFill>
                  <a:srgbClr val="7030A0"/>
                </a:solidFill>
              </a:rPr>
              <a:t xml:space="preserve">Trends, risks and impact on the Annual Program</a:t>
            </a:r>
            <a:endParaRPr lang="ru" sz="1000" i="1" dirty="0">
              <a:solidFill>
                <a:srgbClr val="7030A0"/>
              </a:solidFill>
            </a:endParaRPr>
          </a:p>
        </p:txBody>
      </p:sp>
      <p:sp>
        <p:nvSpPr>
          <p:cNvPr id="226" name="Text Placeholder 39">
            <a:extLst>
              <a:ext uri="{FF2B5EF4-FFF2-40B4-BE49-F238E27FC236}">
                <a16:creationId xmlns:a16="http://schemas.microsoft.com/office/drawing/2014/main" id="{FDA30C97-6841-CFBF-66A2-10410E1AD686}"/>
              </a:ext>
            </a:extLst>
          </p:cNvPr>
          <p:cNvSpPr txBox="1">
            <a:spLocks/>
          </p:cNvSpPr>
          <p:nvPr/>
        </p:nvSpPr>
        <p:spPr>
          <a:xfrm>
            <a:off x="8101121" y="3568640"/>
            <a:ext cx="2277707"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 xml:space="preserve">Gifts and KRM / RMM</a:t>
            </a:r>
            <a:endParaRPr lang="en-US" sz="1400" dirty="0">
              <a:solidFill>
                <a:srgbClr val="7030A0"/>
              </a:solidFill>
            </a:endParaRPr>
          </a:p>
        </p:txBody>
      </p:sp>
      <p:sp>
        <p:nvSpPr>
          <p:cNvPr id="3" name="Freeform 122">
            <a:extLst>
              <a:ext uri="{FF2B5EF4-FFF2-40B4-BE49-F238E27FC236}">
                <a16:creationId xmlns:a16="http://schemas.microsoft.com/office/drawing/2014/main" id="{B961850C-74D6-B694-CF40-76B88F8C94D7}"/>
              </a:ext>
            </a:extLst>
          </p:cNvPr>
          <p:cNvSpPr/>
          <p:nvPr/>
        </p:nvSpPr>
        <p:spPr>
          <a:xfrm>
            <a:off x="281979" y="4200318"/>
            <a:ext cx="7176362" cy="2057550"/>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rgbClr val="7030A0"/>
              </a:solidFill>
            </a:endParaRPr>
          </a:p>
        </p:txBody>
      </p:sp>
      <p:sp>
        <p:nvSpPr>
          <p:cNvPr id="4" name="Text Placeholder 39">
            <a:extLst>
              <a:ext uri="{FF2B5EF4-FFF2-40B4-BE49-F238E27FC236}">
                <a16:creationId xmlns:a16="http://schemas.microsoft.com/office/drawing/2014/main" id="{D02B9093-2198-720B-015F-FE45A29929BC}"/>
              </a:ext>
            </a:extLst>
          </p:cNvPr>
          <p:cNvSpPr txBox="1">
            <a:spLocks/>
          </p:cNvSpPr>
          <p:nvPr/>
        </p:nvSpPr>
        <p:spPr>
          <a:xfrm>
            <a:off x="386696" y="4219476"/>
            <a:ext cx="7071645" cy="1384995"/>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8900" indent="-82550">
              <a:lnSpc>
                <a:spcPct val="100000"/>
              </a:lnSpc>
              <a:spcBef>
                <a:spcPts val="0"/>
              </a:spcBef>
              <a:buClr>
                <a:srgbClr val="7030A0"/>
              </a:buClr>
              <a:buFont typeface="Arial" panose="020B0604020202020204" pitchFamily="34" charset="0"/>
              <a:buChar char="•"/>
            </a:pPr>
            <a:r>
              <a:rPr lang="ru-RU" sz="900" dirty="0" smtClean="0">
                <a:solidFill>
                  <a:srgbClr val="7030A0"/>
                </a:solidFill>
              </a:rPr>
              <a:t xml:space="preserve">Trends:</a:t>
            </a:r>
            <a:endParaRPr lang="ru-RU" sz="900" dirty="0">
              <a:solidFill>
                <a:srgbClr val="FF0000"/>
              </a:solidFill>
            </a:endParaRPr>
          </a:p>
          <a:p>
            <a:pPr marL="177800" lvl="1" indent="-90488">
              <a:lnSpc>
                <a:spcPct val="100000"/>
              </a:lnSpc>
              <a:spcBef>
                <a:spcPts val="0"/>
              </a:spcBef>
              <a:buClr>
                <a:srgbClr val="7030A0"/>
              </a:buClr>
              <a:buFont typeface="Courier New" panose="02070309020205020404" pitchFamily="49" charset="0"/>
              <a:buChar char="o"/>
            </a:pPr>
            <a:r>
              <a:rPr lang="ru-RU" sz="900" dirty="0"/>
              <a:t xml:space="preserve">There is a slight increase in confirmed CIs - 1.61% (52 out of 3225 analyzed declarations) (vs. 2024 - 1.32%).</a:t>
            </a:r>
            <a:r>
              <a:rPr lang="ru-RU" sz="900" dirty="0" err="1"/>
              <a:t/>
            </a:r>
            <a:r>
              <a:rPr lang="ru-RU" sz="900" dirty="0"/>
              <a:t/>
            </a:r>
            <a:endParaRPr lang="ru-RU" sz="900" dirty="0" smtClean="0"/>
          </a:p>
          <a:p>
            <a:pPr marL="177800" lvl="1" indent="-90488">
              <a:lnSpc>
                <a:spcPct val="100000"/>
              </a:lnSpc>
              <a:spcBef>
                <a:spcPts val="0"/>
              </a:spcBef>
              <a:buClr>
                <a:srgbClr val="7030A0"/>
              </a:buClr>
              <a:buFont typeface="Courier New" panose="02070309020205020404" pitchFamily="49" charset="0"/>
              <a:buChar char="o"/>
            </a:pPr>
            <a:r>
              <a:rPr lang="ru-RU" sz="900" dirty="0" smtClean="0"/>
              <a:t xml:space="preserve">There is a positive trend in reducing the number of unsubmitted declarations - 2% in 2025. vs. 8% in 2024</a:t>
            </a:r>
            <a:r>
              <a:rPr lang="ru-RU" sz="900" dirty="0"/>
              <a:t/>
            </a:r>
            <a:r>
              <a:rPr lang="ru-RU" sz="900" dirty="0" err="1"/>
              <a:t/>
            </a:r>
            <a:r>
              <a:rPr lang="ru-RU" sz="900" dirty="0"/>
              <a:t/>
            </a:r>
          </a:p>
          <a:p>
            <a:pPr marL="88900" indent="-82550">
              <a:lnSpc>
                <a:spcPct val="100000"/>
              </a:lnSpc>
              <a:spcBef>
                <a:spcPts val="0"/>
              </a:spcBef>
              <a:buFont typeface="Arial" panose="020B0604020202020204" pitchFamily="34" charset="0"/>
              <a:buChar char="•"/>
            </a:pPr>
            <a:r>
              <a:rPr lang="ru-RU" sz="900" dirty="0" smtClean="0">
                <a:solidFill>
                  <a:srgbClr val="7030A0"/>
                </a:solidFill>
              </a:rPr>
              <a:t xml:space="preserve">Identified risks – No. no risks identified. Recommendations were sent based on the self-tests performed.</a:t>
            </a:r>
            <a:r>
              <a:rPr lang="ru-RU" sz="900" dirty="0">
                <a:solidFill>
                  <a:srgbClr val="7030A0"/>
                </a:solidFill>
              </a:rPr>
              <a:t/>
            </a:r>
            <a:r>
              <a:rPr lang="ru-RU" sz="900" dirty="0">
                <a:solidFill>
                  <a:schemeClr val="tx1"/>
                </a:solidFill>
              </a:rPr>
              <a:t/>
            </a:r>
            <a:r>
              <a:rPr lang="ru-RU" sz="900" dirty="0" smtClean="0">
                <a:solidFill>
                  <a:schemeClr val="tx1"/>
                </a:solidFill>
              </a:rPr>
              <a:t/>
            </a:r>
            <a:r>
              <a:rPr lang="ru-RU" sz="900" dirty="0">
                <a:solidFill>
                  <a:schemeClr val="tx1"/>
                </a:solidFill>
              </a:rPr>
              <a:t/>
            </a:r>
            <a:r>
              <a:rPr lang="ru-RU" sz="900" dirty="0" smtClean="0">
                <a:solidFill>
                  <a:schemeClr val="tx1"/>
                </a:solidFill>
              </a:rPr>
              <a:t/>
            </a:r>
          </a:p>
          <a:p>
            <a:pPr marL="88900" indent="-82550">
              <a:lnSpc>
                <a:spcPct val="100000"/>
              </a:lnSpc>
              <a:spcBef>
                <a:spcPts val="0"/>
              </a:spcBef>
              <a:buFont typeface="Arial" panose="020B0604020202020204" pitchFamily="34" charset="0"/>
              <a:buChar char="•"/>
            </a:pPr>
            <a:r>
              <a:rPr lang="ru-RU" sz="900" dirty="0" smtClean="0">
                <a:solidFill>
                  <a:srgbClr val="7030A0"/>
                </a:solidFill>
              </a:rPr>
              <a:t xml:space="preserve">Impact on Perimeter Annual Program/Lessons - Not identified.</a:t>
            </a:r>
            <a:r>
              <a:rPr lang="ru-RU" sz="900" dirty="0">
                <a:solidFill>
                  <a:srgbClr val="7030A0"/>
                </a:solidFill>
              </a:rPr>
              <a:t/>
            </a:r>
            <a:r>
              <a:rPr lang="ru-RU" sz="900" dirty="0"/>
              <a:t/>
            </a:r>
            <a:endParaRPr lang="ru-RU" sz="900" dirty="0" smtClean="0"/>
          </a:p>
          <a:p>
            <a:pPr marL="177800" lvl="1" indent="-90488">
              <a:lnSpc>
                <a:spcPct val="100000"/>
              </a:lnSpc>
              <a:spcBef>
                <a:spcPts val="0"/>
              </a:spcBef>
              <a:buClr>
                <a:srgbClr val="7030A0"/>
              </a:buClr>
              <a:buFont typeface="Courier New" panose="02070309020205020404" pitchFamily="49" charset="0"/>
              <a:buChar char="o"/>
            </a:pPr>
            <a:r>
              <a:rPr lang="ru" sz="900" dirty="0"/>
              <a:t xml:space="preserve">The current CI typology will be updated once the Conflict of Interest Policy is approved by the Compliance Committee.</a:t>
            </a:r>
          </a:p>
          <a:p>
            <a:pPr marL="177800" lvl="1" indent="-90488">
              <a:lnSpc>
                <a:spcPct val="100000"/>
              </a:lnSpc>
              <a:spcBef>
                <a:spcPts val="0"/>
              </a:spcBef>
              <a:buClr>
                <a:srgbClr val="7030A0"/>
              </a:buClr>
              <a:buFont typeface="Courier New" panose="02070309020205020404" pitchFamily="49" charset="0"/>
              <a:buChar char="o"/>
            </a:pPr>
            <a:r>
              <a:rPr lang="ru" sz="900" dirty="0"/>
              <a:t xml:space="preserve">In 2026, an emphasis is planned on prevention and quality management of CIs while maintaining a basic level of control by improving declaration discipline and the absence of significant risks.</a:t>
            </a:r>
            <a:r>
              <a:rPr lang="ru-RU" sz="900" dirty="0"/>
              <a:t/>
            </a:r>
            <a:r>
              <a:rPr lang="ru" sz="900" dirty="0"/>
              <a:t/>
            </a:r>
            <a:r>
              <a:rPr lang="ru-RU" sz="900" dirty="0" err="1"/>
              <a:t/>
            </a:r>
            <a:r>
              <a:rPr lang="ru-RU" sz="900" dirty="0"/>
              <a:t/>
            </a:r>
          </a:p>
        </p:txBody>
      </p:sp>
      <p:sp>
        <p:nvSpPr>
          <p:cNvPr id="5" name="Freeform 122">
            <a:extLst>
              <a:ext uri="{FF2B5EF4-FFF2-40B4-BE49-F238E27FC236}">
                <a16:creationId xmlns:a16="http://schemas.microsoft.com/office/drawing/2014/main" id="{435882F7-22BD-8402-829A-B43082AD3628}"/>
              </a:ext>
            </a:extLst>
          </p:cNvPr>
          <p:cNvSpPr/>
          <p:nvPr/>
        </p:nvSpPr>
        <p:spPr>
          <a:xfrm>
            <a:off x="7714622" y="4201039"/>
            <a:ext cx="3984042" cy="2057601"/>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rgbClr val="7030A0"/>
              </a:solidFill>
            </a:endParaRPr>
          </a:p>
        </p:txBody>
      </p:sp>
      <p:sp>
        <p:nvSpPr>
          <p:cNvPr id="6" name="Text Placeholder 39">
            <a:extLst>
              <a:ext uri="{FF2B5EF4-FFF2-40B4-BE49-F238E27FC236}">
                <a16:creationId xmlns:a16="http://schemas.microsoft.com/office/drawing/2014/main" id="{8E6D03C0-893D-1EB6-007C-949F09FDBDED}"/>
              </a:ext>
            </a:extLst>
          </p:cNvPr>
          <p:cNvSpPr txBox="1">
            <a:spLocks/>
          </p:cNvSpPr>
          <p:nvPr/>
        </p:nvSpPr>
        <p:spPr>
          <a:xfrm>
            <a:off x="7840670" y="4220814"/>
            <a:ext cx="3820756" cy="1800493"/>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8900" indent="-82550">
              <a:lnSpc>
                <a:spcPct val="100000"/>
              </a:lnSpc>
              <a:spcBef>
                <a:spcPts val="0"/>
              </a:spcBef>
              <a:buClr>
                <a:srgbClr val="7030A0"/>
              </a:buClr>
              <a:buFont typeface="Arial" panose="020B0604020202020204" pitchFamily="34" charset="0"/>
              <a:buChar char="•"/>
            </a:pPr>
            <a:r>
              <a:rPr lang="ru-RU" sz="900" dirty="0" smtClean="0">
                <a:solidFill>
                  <a:srgbClr val="7030A0"/>
                </a:solidFill>
              </a:rPr>
              <a:t xml:space="preserve">Trends - There is a slight increase in the total amount of gifts received and given and KRM (received: 2025 - $52,732 vs 2024 - $41,490; given: 2025 - $9,521 vs 2024 - $7,607).</a:t>
            </a:r>
            <a:r>
              <a:rPr lang="ru-RU" sz="900" dirty="0" smtClean="0"/>
              <a:t/>
            </a:r>
            <a:r>
              <a:rPr lang="ru-RU" sz="900" dirty="0"/>
              <a:t/>
            </a:r>
            <a:r>
              <a:rPr lang="ru-RU" sz="900" dirty="0" smtClean="0"/>
              <a:t/>
            </a:r>
            <a:r>
              <a:rPr lang="en-US" sz="900" dirty="0"/>
              <a:t/>
            </a:r>
            <a:r>
              <a:rPr lang="ru-RU" sz="900" dirty="0" smtClean="0"/>
              <a:t/>
            </a:r>
            <a:r>
              <a:rPr lang="en-US" sz="900" dirty="0" smtClean="0"/>
              <a:t/>
            </a:r>
            <a:r>
              <a:rPr lang="ru-RU" sz="900" dirty="0" smtClean="0"/>
              <a:t/>
            </a:r>
            <a:r>
              <a:rPr lang="en-US" sz="900" dirty="0" smtClean="0"/>
              <a:t/>
            </a:r>
            <a:r>
              <a:rPr lang="en-US" sz="900" dirty="0"/>
              <a:t/>
            </a:r>
            <a:r>
              <a:rPr lang="en-US" sz="900" dirty="0" smtClean="0"/>
              <a:t/>
            </a:r>
            <a:r>
              <a:rPr lang="ru-RU" sz="900" dirty="0" smtClean="0"/>
              <a:t/>
            </a:r>
            <a:endParaRPr lang="ru-RU" sz="900" dirty="0"/>
          </a:p>
          <a:p>
            <a:pPr marL="88900" indent="-82550">
              <a:lnSpc>
                <a:spcPct val="100000"/>
              </a:lnSpc>
              <a:spcBef>
                <a:spcPts val="0"/>
              </a:spcBef>
              <a:buFont typeface="Arial" panose="020B0604020202020204" pitchFamily="34" charset="0"/>
              <a:buChar char="•"/>
            </a:pPr>
            <a:r>
              <a:rPr lang="ru-RU" sz="900" dirty="0" smtClean="0">
                <a:solidFill>
                  <a:srgbClr val="7030A0"/>
                </a:solidFill>
              </a:rPr>
              <a:t xml:space="preserve">Identified risks:</a:t>
            </a:r>
          </a:p>
          <a:p>
            <a:pPr marL="177800" lvl="1" indent="-90488">
              <a:lnSpc>
                <a:spcPct val="100000"/>
              </a:lnSpc>
              <a:spcBef>
                <a:spcPts val="0"/>
              </a:spcBef>
              <a:buClr>
                <a:srgbClr val="7030A0"/>
              </a:buClr>
              <a:buFont typeface="Courier New" panose="02070309020205020404" pitchFamily="49" charset="0"/>
              <a:buChar char="o"/>
            </a:pPr>
            <a:r>
              <a:rPr lang="ru-RU" sz="900" dirty="0"/>
              <a:t xml:space="preserve">Noun no risks identified.</a:t>
            </a:r>
            <a:endParaRPr lang="ru-RU" sz="900" dirty="0" smtClean="0"/>
          </a:p>
          <a:p>
            <a:pPr marL="177800" lvl="1" indent="-90488">
              <a:lnSpc>
                <a:spcPct val="100000"/>
              </a:lnSpc>
              <a:spcBef>
                <a:spcPts val="0"/>
              </a:spcBef>
              <a:buClr>
                <a:srgbClr val="7030A0"/>
              </a:buClr>
              <a:buFont typeface="Courier New" panose="02070309020205020404" pitchFamily="49" charset="0"/>
              <a:buChar char="o"/>
            </a:pPr>
            <a:r>
              <a:rPr lang="ru-RU" sz="900" dirty="0" smtClean="0"/>
              <a:t xml:space="preserve">Recommendations were sent based on the self-tests performed.</a:t>
            </a:r>
            <a:r>
              <a:rPr lang="ru-RU" sz="900" dirty="0"/>
              <a:t/>
            </a:r>
            <a:r>
              <a:rPr lang="ru-RU" sz="900" dirty="0" smtClean="0"/>
              <a:t/>
            </a:r>
          </a:p>
          <a:p>
            <a:pPr marL="177800" lvl="1" indent="-90488">
              <a:lnSpc>
                <a:spcPct val="100000"/>
              </a:lnSpc>
              <a:spcBef>
                <a:spcPts val="0"/>
              </a:spcBef>
              <a:buClr>
                <a:srgbClr val="7030A0"/>
              </a:buClr>
              <a:buFont typeface="Courier New" panose="02070309020205020404" pitchFamily="49" charset="0"/>
              <a:buChar char="o"/>
            </a:pPr>
            <a:r>
              <a:rPr lang="ru-RU" sz="900" dirty="0"/>
              <a:t xml:space="preserve">There has been an increase in gift/CRM situations aimed at post-facto approval (received: 2025 – $12,952 vs 2024 – $15,111; provided: 2025 – $1,961 vs 2024 – $0).</a:t>
            </a:r>
            <a:r>
              <a:rPr lang="en-US" sz="900" dirty="0"/>
              <a:t/>
            </a:r>
            <a:r>
              <a:rPr lang="ru-RU" sz="900" dirty="0"/>
              <a:t/>
            </a:r>
            <a:r>
              <a:rPr lang="en-US" sz="900" dirty="0"/>
              <a:t/>
            </a:r>
            <a:r>
              <a:rPr lang="ru-RU" sz="900" dirty="0"/>
              <a:t/>
            </a:r>
            <a:r>
              <a:rPr lang="en-US" sz="900" dirty="0"/>
              <a:t/>
            </a:r>
            <a:r>
              <a:rPr lang="ru-RU" sz="900" dirty="0"/>
              <a:t/>
            </a:r>
            <a:r>
              <a:rPr lang="en-US" sz="900" dirty="0"/>
              <a:t/>
            </a:r>
            <a:r>
              <a:rPr lang="ru-RU" sz="900" dirty="0"/>
              <a:t/>
            </a:r>
          </a:p>
          <a:p>
            <a:pPr marL="88900" indent="-82550">
              <a:lnSpc>
                <a:spcPct val="100000"/>
              </a:lnSpc>
              <a:spcBef>
                <a:spcPts val="0"/>
              </a:spcBef>
              <a:buFont typeface="Arial" panose="020B0604020202020204" pitchFamily="34" charset="0"/>
              <a:buChar char="•"/>
            </a:pPr>
            <a:r>
              <a:rPr lang="ru-RU" sz="900" dirty="0" smtClean="0">
                <a:solidFill>
                  <a:srgbClr val="7030A0"/>
                </a:solidFill>
              </a:rPr>
              <a:t xml:space="preserve">Impact on Perimeter Annual Program/Lessons - Not identified. Self-testing of controls over provided gifts and KRM by Perimeter Divisions will continue in 2026.</a:t>
            </a:r>
            <a:r>
              <a:rPr lang="ru-RU" sz="900" dirty="0">
                <a:solidFill>
                  <a:srgbClr val="7030A0"/>
                </a:solidFill>
              </a:rPr>
              <a:t/>
            </a:r>
            <a:r>
              <a:rPr lang="ru-RU" sz="900" dirty="0"/>
              <a:t/>
            </a:r>
            <a:r>
              <a:rPr lang="ru-RU" sz="900" dirty="0" smtClean="0"/>
              <a:t/>
            </a:r>
            <a:r>
              <a:rPr lang="ru-RU" sz="900" dirty="0"/>
              <a:t/>
            </a:r>
          </a:p>
        </p:txBody>
      </p:sp>
      <p:sp>
        <p:nvSpPr>
          <p:cNvPr id="8" name="Прямоугольник 7"/>
          <p:cNvSpPr/>
          <p:nvPr/>
        </p:nvSpPr>
        <p:spPr>
          <a:xfrm>
            <a:off x="477381" y="985601"/>
            <a:ext cx="2899136" cy="400110"/>
          </a:xfrm>
          <a:prstGeom prst="rect">
            <a:avLst/>
          </a:prstGeom>
        </p:spPr>
        <p:txBody>
          <a:bodyPr wrap="square">
            <a:spAutoFit/>
          </a:bodyPr>
          <a:lstStyle/>
          <a:p>
            <a:pPr algn="ctr"/>
            <a:r>
              <a:rPr lang="ru" sz="1000" b="1" dirty="0"/>
              <a:t xml:space="preserve">Conflict of interest (CI) and coefficient</a:t>
            </a:r>
          </a:p>
          <a:p>
            <a:pPr algn="ctr"/>
            <a:r>
              <a:rPr lang="ru" sz="1000" b="1" dirty="0"/>
              <a:t xml:space="preserve">confirmations (#, %)</a:t>
            </a:r>
            <a:r>
              <a:rPr lang="ru" sz="1000" b="1" dirty="0" smtClean="0"/>
              <a:t/>
            </a:r>
            <a:endParaRPr lang="ru" sz="1000" b="1" baseline="30000" dirty="0">
              <a:solidFill>
                <a:schemeClr val="accent1"/>
              </a:solidFill>
            </a:endParaRPr>
          </a:p>
        </p:txBody>
      </p:sp>
      <p:graphicFrame>
        <p:nvGraphicFramePr>
          <p:cNvPr id="50" name="Chart 25">
            <a:extLst>
              <a:ext uri="{FF2B5EF4-FFF2-40B4-BE49-F238E27FC236}">
                <a16:creationId xmlns:a16="http://schemas.microsoft.com/office/drawing/2014/main" id="{BC777227-8414-195C-8DCA-AB5AF94EFDE3}"/>
              </a:ext>
            </a:extLst>
          </p:cNvPr>
          <p:cNvGraphicFramePr/>
          <p:nvPr>
            <p:custDataLst>
              <p:tags r:id="rId7"/>
            </p:custDataLst>
            <p:extLst>
              <p:ext uri="{D42A27DB-BD31-4B8C-83A1-F6EECF244321}">
                <p14:modId xmlns:p14="http://schemas.microsoft.com/office/powerpoint/2010/main" val="1250559365"/>
              </p:ext>
            </p:extLst>
          </p:nvPr>
        </p:nvGraphicFramePr>
        <p:xfrm>
          <a:off x="1213481" y="1862328"/>
          <a:ext cx="1181100" cy="1181100"/>
        </p:xfrm>
        <a:graphic>
          <a:graphicData uri="http://schemas.openxmlformats.org/drawingml/2006/chart">
            <c:chart xmlns:c="http://schemas.openxmlformats.org/drawingml/2006/chart" xmlns:r="http://schemas.openxmlformats.org/officeDocument/2006/relationships" r:id="rId26"/>
          </a:graphicData>
        </a:graphic>
      </p:graphicFrame>
      <p:sp>
        <p:nvSpPr>
          <p:cNvPr id="51" name="Rectangle 29">
            <a:extLst>
              <a:ext uri="{FF2B5EF4-FFF2-40B4-BE49-F238E27FC236}">
                <a16:creationId xmlns:a16="http://schemas.microsoft.com/office/drawing/2014/main" id="{2AEB1E2D-3DB0-5292-04E7-5BF202CACCC1}"/>
              </a:ext>
            </a:extLst>
          </p:cNvPr>
          <p:cNvSpPr/>
          <p:nvPr>
            <p:custDataLst>
              <p:tags r:id="rId8"/>
            </p:custDataLst>
          </p:nvPr>
        </p:nvSpPr>
        <p:spPr bwMode="gray">
          <a:xfrm>
            <a:off x="1652113" y="1827336"/>
            <a:ext cx="57708" cy="1108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r" rtl="0">
              <a:lnSpc>
                <a:spcPct val="90000"/>
              </a:lnSpc>
              <a:spcBef>
                <a:spcPct val="0"/>
              </a:spcBef>
              <a:spcAft>
                <a:spcPct val="0"/>
              </a:spcAft>
            </a:pPr>
            <a:r>
              <a:rPr lang="ru-RU" altLang="en-US" sz="800" dirty="0" smtClean="0">
                <a:solidFill>
                  <a:schemeClr val="accent1"/>
                </a:solidFill>
              </a:rPr>
              <a:t>5</a:t>
            </a:r>
            <a:endParaRPr lang="en-US" sz="800" dirty="0">
              <a:solidFill>
                <a:schemeClr val="accent5">
                  <a:lumMod val="75000"/>
                  <a:lumOff val="25000"/>
                </a:schemeClr>
              </a:solidFill>
            </a:endParaRPr>
          </a:p>
        </p:txBody>
      </p:sp>
      <p:sp>
        <p:nvSpPr>
          <p:cNvPr id="52" name="Rectangle 30">
            <a:extLst>
              <a:ext uri="{FF2B5EF4-FFF2-40B4-BE49-F238E27FC236}">
                <a16:creationId xmlns:a16="http://schemas.microsoft.com/office/drawing/2014/main" id="{1FF0A965-1377-4654-1CA5-F68116F4F1E7}"/>
              </a:ext>
            </a:extLst>
          </p:cNvPr>
          <p:cNvSpPr/>
          <p:nvPr>
            <p:custDataLst>
              <p:tags r:id="rId9"/>
            </p:custDataLst>
          </p:nvPr>
        </p:nvSpPr>
        <p:spPr bwMode="auto">
          <a:xfrm>
            <a:off x="1174979" y="1684266"/>
            <a:ext cx="511175" cy="122238"/>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altLang="en-US" sz="800" dirty="0">
                <a:solidFill>
                  <a:schemeClr val="tx1"/>
                </a:solidFill>
              </a:rPr>
              <a:t xml:space="preserve">In progress</a:t>
            </a:r>
            <a:endParaRPr lang="en-US" sz="800" dirty="0">
              <a:solidFill>
                <a:schemeClr val="tx1"/>
              </a:solidFill>
            </a:endParaRPr>
          </a:p>
        </p:txBody>
      </p:sp>
      <p:sp>
        <p:nvSpPr>
          <p:cNvPr id="53" name="Rectangle 31">
            <a:extLst>
              <a:ext uri="{FF2B5EF4-FFF2-40B4-BE49-F238E27FC236}">
                <a16:creationId xmlns:a16="http://schemas.microsoft.com/office/drawing/2014/main" id="{EFD8FB65-9E2D-A504-AB7F-618A91E021E5}"/>
              </a:ext>
            </a:extLst>
          </p:cNvPr>
          <p:cNvSpPr/>
          <p:nvPr>
            <p:custDataLst>
              <p:tags r:id="rId10"/>
            </p:custDataLst>
          </p:nvPr>
        </p:nvSpPr>
        <p:spPr bwMode="auto">
          <a:xfrm>
            <a:off x="1578107" y="2337587"/>
            <a:ext cx="485760" cy="182563"/>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rtl="0">
              <a:spcBef>
                <a:spcPct val="0"/>
              </a:spcBef>
              <a:spcAft>
                <a:spcPct val="0"/>
              </a:spcAft>
            </a:pPr>
            <a:r>
              <a:rPr lang="ru-RU" altLang="en-US" sz="1200" dirty="0" smtClean="0">
                <a:solidFill>
                  <a:schemeClr val="accent1"/>
                </a:solidFill>
              </a:rPr>
              <a:t>1,61%</a:t>
            </a:r>
            <a:endParaRPr lang="en-US" sz="1200" dirty="0">
              <a:solidFill>
                <a:schemeClr val="accent1"/>
              </a:solidFill>
            </a:endParaRPr>
          </a:p>
        </p:txBody>
      </p:sp>
      <p:sp>
        <p:nvSpPr>
          <p:cNvPr id="54" name="Rectangle 61">
            <a:extLst>
              <a:ext uri="{FF2B5EF4-FFF2-40B4-BE49-F238E27FC236}">
                <a16:creationId xmlns:a16="http://schemas.microsoft.com/office/drawing/2014/main" id="{FEE4F493-33CF-4BFE-8BEE-A0B76500E3A6}"/>
              </a:ext>
            </a:extLst>
          </p:cNvPr>
          <p:cNvSpPr/>
          <p:nvPr>
            <p:custDataLst>
              <p:tags r:id="rId11"/>
            </p:custDataLst>
          </p:nvPr>
        </p:nvSpPr>
        <p:spPr bwMode="gray">
          <a:xfrm>
            <a:off x="2006159" y="1836372"/>
            <a:ext cx="115416" cy="1108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rtl="0">
              <a:lnSpc>
                <a:spcPct val="90000"/>
              </a:lnSpc>
              <a:spcBef>
                <a:spcPct val="0"/>
              </a:spcBef>
              <a:spcAft>
                <a:spcPct val="0"/>
              </a:spcAft>
            </a:pPr>
            <a:r>
              <a:rPr lang="ru" sz="800" dirty="0" smtClean="0">
                <a:solidFill>
                  <a:schemeClr val="accent1"/>
                </a:solidFill>
              </a:rPr>
              <a:t>52</a:t>
            </a:r>
            <a:endParaRPr lang="en-US" sz="800" dirty="0">
              <a:solidFill>
                <a:schemeClr val="accent5">
                  <a:lumMod val="75000"/>
                  <a:lumOff val="25000"/>
                </a:schemeClr>
              </a:solidFill>
            </a:endParaRPr>
          </a:p>
        </p:txBody>
      </p:sp>
      <p:sp>
        <p:nvSpPr>
          <p:cNvPr id="55" name="Rectangle 85">
            <a:extLst>
              <a:ext uri="{FF2B5EF4-FFF2-40B4-BE49-F238E27FC236}">
                <a16:creationId xmlns:a16="http://schemas.microsoft.com/office/drawing/2014/main" id="{CA9667F0-DA32-4FD9-8915-45F7659641EF}"/>
              </a:ext>
            </a:extLst>
          </p:cNvPr>
          <p:cNvSpPr/>
          <p:nvPr>
            <p:custDataLst>
              <p:tags r:id="rId12"/>
            </p:custDataLst>
          </p:nvPr>
        </p:nvSpPr>
        <p:spPr bwMode="auto">
          <a:xfrm>
            <a:off x="1896975" y="1695917"/>
            <a:ext cx="511175" cy="122238"/>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rtl="0">
              <a:spcBef>
                <a:spcPct val="0"/>
              </a:spcBef>
              <a:spcAft>
                <a:spcPct val="0"/>
              </a:spcAft>
            </a:pPr>
            <a:r>
              <a:rPr lang="en-US" altLang="en-US" sz="800" dirty="0">
                <a:solidFill>
                  <a:schemeClr val="tx1"/>
                </a:solidFill>
              </a:rPr>
              <a:t xml:space="preserve">Confirmed</a:t>
            </a:r>
            <a:endParaRPr lang="en-US" sz="800" dirty="0">
              <a:solidFill>
                <a:schemeClr val="tx1"/>
              </a:solidFill>
            </a:endParaRPr>
          </a:p>
        </p:txBody>
      </p:sp>
      <p:sp>
        <p:nvSpPr>
          <p:cNvPr id="56" name="Rectangle 86">
            <a:extLst>
              <a:ext uri="{FF2B5EF4-FFF2-40B4-BE49-F238E27FC236}">
                <a16:creationId xmlns:a16="http://schemas.microsoft.com/office/drawing/2014/main" id="{174C4228-BBD1-44F1-85A4-1AB677628A07}"/>
              </a:ext>
            </a:extLst>
          </p:cNvPr>
          <p:cNvSpPr/>
          <p:nvPr>
            <p:custDataLst>
              <p:tags r:id="rId13"/>
            </p:custDataLst>
          </p:nvPr>
        </p:nvSpPr>
        <p:spPr bwMode="gray">
          <a:xfrm>
            <a:off x="1107635" y="2826748"/>
            <a:ext cx="230833" cy="1108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r" rtl="0">
              <a:lnSpc>
                <a:spcPct val="90000"/>
              </a:lnSpc>
              <a:spcBef>
                <a:spcPct val="0"/>
              </a:spcBef>
              <a:spcAft>
                <a:spcPct val="0"/>
              </a:spcAft>
            </a:pPr>
            <a:r>
              <a:rPr lang="ru" sz="800" dirty="0" smtClean="0">
                <a:solidFill>
                  <a:schemeClr val="accent1"/>
                </a:solidFill>
              </a:rPr>
              <a:t>3173</a:t>
            </a:r>
            <a:endParaRPr lang="en-US" sz="800" dirty="0">
              <a:solidFill>
                <a:schemeClr val="accent5">
                  <a:lumMod val="75000"/>
                  <a:lumOff val="25000"/>
                </a:schemeClr>
              </a:solidFill>
            </a:endParaRPr>
          </a:p>
        </p:txBody>
      </p:sp>
      <p:sp>
        <p:nvSpPr>
          <p:cNvPr id="57" name="Rectangle 88">
            <a:extLst>
              <a:ext uri="{FF2B5EF4-FFF2-40B4-BE49-F238E27FC236}">
                <a16:creationId xmlns:a16="http://schemas.microsoft.com/office/drawing/2014/main" id="{18F82934-A489-4ED2-A035-8FD775CC2E59}"/>
              </a:ext>
            </a:extLst>
          </p:cNvPr>
          <p:cNvSpPr/>
          <p:nvPr>
            <p:custDataLst>
              <p:tags r:id="rId14"/>
            </p:custDataLst>
          </p:nvPr>
        </p:nvSpPr>
        <p:spPr bwMode="auto">
          <a:xfrm>
            <a:off x="714929" y="2874171"/>
            <a:ext cx="851665" cy="269039"/>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r" rtl="0">
              <a:spcBef>
                <a:spcPct val="0"/>
              </a:spcBef>
              <a:spcAft>
                <a:spcPct val="0"/>
              </a:spcAft>
            </a:pPr>
            <a:r>
              <a:rPr lang="en-US" altLang="en-US" sz="800" dirty="0">
                <a:solidFill>
                  <a:schemeClr val="tx1"/>
                </a:solidFill>
              </a:rPr>
              <a:t xml:space="preserve">Not confirmed</a:t>
            </a:r>
            <a:endParaRPr lang="en-US" sz="800" dirty="0">
              <a:solidFill>
                <a:schemeClr val="tx1"/>
              </a:solidFill>
            </a:endParaRPr>
          </a:p>
        </p:txBody>
      </p:sp>
      <p:sp>
        <p:nvSpPr>
          <p:cNvPr id="10" name="Прямоугольник 9"/>
          <p:cNvSpPr/>
          <p:nvPr/>
        </p:nvSpPr>
        <p:spPr>
          <a:xfrm>
            <a:off x="3552407" y="988350"/>
            <a:ext cx="3667629" cy="400110"/>
          </a:xfrm>
          <a:prstGeom prst="rect">
            <a:avLst/>
          </a:prstGeom>
        </p:spPr>
        <p:txBody>
          <a:bodyPr wrap="square">
            <a:spAutoFit/>
          </a:bodyPr>
          <a:lstStyle/>
          <a:p>
            <a:pPr algn="ctr"/>
            <a:r>
              <a:rPr lang="ru" sz="1000" b="1" dirty="0"/>
              <a:t xml:space="preserve">Measures to mitigate the risk of conflict of interest according to the typology (#)</a:t>
            </a:r>
            <a:r>
              <a:rPr lang="ru" sz="1000" b="1" dirty="0" smtClean="0"/>
              <a:t/>
            </a:r>
            <a:r>
              <a:rPr lang="ru" sz="1000" dirty="0" smtClean="0"/>
              <a:t/>
            </a:r>
            <a:endParaRPr lang="ru" sz="1000" dirty="0"/>
          </a:p>
        </p:txBody>
      </p:sp>
      <p:graphicFrame>
        <p:nvGraphicFramePr>
          <p:cNvPr id="59" name="Диаграмма 58"/>
          <p:cNvGraphicFramePr/>
          <p:nvPr>
            <p:extLst>
              <p:ext uri="{D42A27DB-BD31-4B8C-83A1-F6EECF244321}">
                <p14:modId xmlns:p14="http://schemas.microsoft.com/office/powerpoint/2010/main" val="880709029"/>
              </p:ext>
            </p:extLst>
          </p:nvPr>
        </p:nvGraphicFramePr>
        <p:xfrm>
          <a:off x="4235699" y="1580261"/>
          <a:ext cx="2469662" cy="1608214"/>
        </p:xfrm>
        <a:graphic>
          <a:graphicData uri="http://schemas.openxmlformats.org/drawingml/2006/chart">
            <c:chart xmlns:c="http://schemas.openxmlformats.org/drawingml/2006/chart" xmlns:r="http://schemas.openxmlformats.org/officeDocument/2006/relationships" r:id="rId27"/>
          </a:graphicData>
        </a:graphic>
      </p:graphicFrame>
      <p:graphicFrame>
        <p:nvGraphicFramePr>
          <p:cNvPr id="64" name="Chart 20">
            <a:extLst>
              <a:ext uri="{FF2B5EF4-FFF2-40B4-BE49-F238E27FC236}">
                <a16:creationId xmlns:a16="http://schemas.microsoft.com/office/drawing/2014/main" id="{EF2A2CAD-1217-9BE0-7CE7-707F3860D2B2}"/>
              </a:ext>
            </a:extLst>
          </p:cNvPr>
          <p:cNvGraphicFramePr/>
          <p:nvPr>
            <p:custDataLst>
              <p:tags r:id="rId15"/>
            </p:custDataLst>
            <p:extLst>
              <p:ext uri="{D42A27DB-BD31-4B8C-83A1-F6EECF244321}">
                <p14:modId xmlns:p14="http://schemas.microsoft.com/office/powerpoint/2010/main" val="2576459522"/>
              </p:ext>
            </p:extLst>
          </p:nvPr>
        </p:nvGraphicFramePr>
        <p:xfrm>
          <a:off x="8708038" y="1325235"/>
          <a:ext cx="1779887" cy="727995"/>
        </p:xfrm>
        <a:graphic>
          <a:graphicData uri="http://schemas.openxmlformats.org/drawingml/2006/chart">
            <c:chart xmlns:c="http://schemas.openxmlformats.org/drawingml/2006/chart" xmlns:r="http://schemas.openxmlformats.org/officeDocument/2006/relationships" r:id="rId28"/>
          </a:graphicData>
        </a:graphic>
      </p:graphicFrame>
      <p:graphicFrame>
        <p:nvGraphicFramePr>
          <p:cNvPr id="65" name="Chart 21">
            <a:extLst>
              <a:ext uri="{FF2B5EF4-FFF2-40B4-BE49-F238E27FC236}">
                <a16:creationId xmlns:a16="http://schemas.microsoft.com/office/drawing/2014/main" id="{E9234674-5F80-663C-CA73-E3E1F3FA6ACB}"/>
              </a:ext>
            </a:extLst>
          </p:cNvPr>
          <p:cNvGraphicFramePr/>
          <p:nvPr>
            <p:custDataLst>
              <p:tags r:id="rId16"/>
            </p:custDataLst>
            <p:extLst>
              <p:ext uri="{D42A27DB-BD31-4B8C-83A1-F6EECF244321}">
                <p14:modId xmlns:p14="http://schemas.microsoft.com/office/powerpoint/2010/main" val="1883118170"/>
              </p:ext>
            </p:extLst>
          </p:nvPr>
        </p:nvGraphicFramePr>
        <p:xfrm>
          <a:off x="7923560" y="1325528"/>
          <a:ext cx="953228" cy="727995"/>
        </p:xfrm>
        <a:graphic>
          <a:graphicData uri="http://schemas.openxmlformats.org/drawingml/2006/chart">
            <c:chart xmlns:c="http://schemas.openxmlformats.org/drawingml/2006/chart" xmlns:r="http://schemas.openxmlformats.org/officeDocument/2006/relationships" r:id="rId29"/>
          </a:graphicData>
        </a:graphic>
      </p:graphicFrame>
      <p:sp>
        <p:nvSpPr>
          <p:cNvPr id="66" name="TextBox 65">
            <a:extLst>
              <a:ext uri="{FF2B5EF4-FFF2-40B4-BE49-F238E27FC236}">
                <a16:creationId xmlns:a16="http://schemas.microsoft.com/office/drawing/2014/main" id="{7A39264F-0BB3-B1AF-7FEA-241494E61DA9}"/>
              </a:ext>
            </a:extLst>
          </p:cNvPr>
          <p:cNvSpPr txBox="1"/>
          <p:nvPr/>
        </p:nvSpPr>
        <p:spPr>
          <a:xfrm>
            <a:off x="8021432" y="1794376"/>
            <a:ext cx="757484" cy="215444"/>
          </a:xfrm>
          <a:prstGeom prst="rect">
            <a:avLst/>
          </a:prstGeom>
          <a:noFill/>
        </p:spPr>
        <p:txBody>
          <a:bodyPr wrap="square" rtlCol="0">
            <a:spAutoFit/>
          </a:bodyPr>
          <a:lstStyle/>
          <a:p>
            <a:pPr rtl="0"/>
            <a:r>
              <a:rPr lang="ru" sz="800" dirty="0">
                <a:solidFill>
                  <a:schemeClr val="accent1"/>
                </a:solidFill>
              </a:rPr>
              <a:t xml:space="preserve">Rejected</a:t>
            </a:r>
          </a:p>
        </p:txBody>
      </p:sp>
      <p:sp>
        <p:nvSpPr>
          <p:cNvPr id="67" name="TextBox 66">
            <a:extLst>
              <a:ext uri="{FF2B5EF4-FFF2-40B4-BE49-F238E27FC236}">
                <a16:creationId xmlns:a16="http://schemas.microsoft.com/office/drawing/2014/main" id="{64AEA525-5592-0A71-BDA9-D73790840035}"/>
              </a:ext>
            </a:extLst>
          </p:cNvPr>
          <p:cNvSpPr txBox="1"/>
          <p:nvPr/>
        </p:nvSpPr>
        <p:spPr>
          <a:xfrm>
            <a:off x="9263356" y="1791081"/>
            <a:ext cx="671221" cy="174864"/>
          </a:xfrm>
          <a:prstGeom prst="rect">
            <a:avLst/>
          </a:prstGeom>
          <a:noFill/>
        </p:spPr>
        <p:txBody>
          <a:bodyPr wrap="square" rtlCol="0">
            <a:spAutoFit/>
          </a:bodyPr>
          <a:lstStyle/>
          <a:p>
            <a:pPr rtl="0"/>
            <a:r>
              <a:rPr lang="ru" sz="800" dirty="0">
                <a:solidFill>
                  <a:schemeClr val="accent5">
                    <a:lumMod val="75000"/>
                    <a:lumOff val="25000"/>
                  </a:schemeClr>
                </a:solidFill>
              </a:rPr>
              <a:t xml:space="preserve">Accepted</a:t>
            </a:r>
          </a:p>
        </p:txBody>
      </p:sp>
      <p:sp>
        <p:nvSpPr>
          <p:cNvPr id="68" name="Rectangle 40">
            <a:extLst>
              <a:ext uri="{FF2B5EF4-FFF2-40B4-BE49-F238E27FC236}">
                <a16:creationId xmlns:a16="http://schemas.microsoft.com/office/drawing/2014/main" id="{010B39D1-55F9-F0E6-D8E6-A3557B660C37}"/>
              </a:ext>
            </a:extLst>
          </p:cNvPr>
          <p:cNvSpPr/>
          <p:nvPr>
            <p:custDataLst>
              <p:tags r:id="rId17"/>
            </p:custDataLst>
          </p:nvPr>
        </p:nvSpPr>
        <p:spPr bwMode="gray">
          <a:xfrm>
            <a:off x="7923560" y="1561547"/>
            <a:ext cx="300038" cy="17781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800" dirty="0">
                <a:solidFill>
                  <a:schemeClr val="tx1"/>
                </a:solidFill>
              </a:rPr>
              <a:t>2</a:t>
            </a:r>
            <a:endParaRPr lang="ru" sz="800" dirty="0">
              <a:solidFill>
                <a:schemeClr val="tx1"/>
              </a:solidFill>
            </a:endParaRPr>
          </a:p>
        </p:txBody>
      </p:sp>
      <p:sp>
        <p:nvSpPr>
          <p:cNvPr id="69" name="Rectangle 42">
            <a:extLst>
              <a:ext uri="{FF2B5EF4-FFF2-40B4-BE49-F238E27FC236}">
                <a16:creationId xmlns:a16="http://schemas.microsoft.com/office/drawing/2014/main" id="{7983E895-3F3D-2B2E-B539-6975FCB25662}"/>
              </a:ext>
            </a:extLst>
          </p:cNvPr>
          <p:cNvSpPr/>
          <p:nvPr>
            <p:custDataLst>
              <p:tags r:id="rId18"/>
            </p:custDataLst>
          </p:nvPr>
        </p:nvSpPr>
        <p:spPr bwMode="gray">
          <a:xfrm>
            <a:off x="10090607" y="1553409"/>
            <a:ext cx="300839" cy="17781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800" dirty="0" smtClean="0">
                <a:solidFill>
                  <a:schemeClr val="tx1"/>
                </a:solidFill>
              </a:rPr>
              <a:t>43</a:t>
            </a:r>
            <a:endParaRPr lang="ru" sz="800" dirty="0">
              <a:solidFill>
                <a:schemeClr val="tx1"/>
              </a:solidFill>
            </a:endParaRPr>
          </a:p>
        </p:txBody>
      </p:sp>
      <p:graphicFrame>
        <p:nvGraphicFramePr>
          <p:cNvPr id="70" name="Chart 34">
            <a:extLst>
              <a:ext uri="{FF2B5EF4-FFF2-40B4-BE49-F238E27FC236}">
                <a16:creationId xmlns:a16="http://schemas.microsoft.com/office/drawing/2014/main" id="{136D31F3-7358-D4FB-D162-3B753B6BCA94}"/>
              </a:ext>
            </a:extLst>
          </p:cNvPr>
          <p:cNvGraphicFramePr/>
          <p:nvPr>
            <p:custDataLst>
              <p:tags r:id="rId19"/>
            </p:custDataLst>
            <p:extLst>
              <p:ext uri="{D42A27DB-BD31-4B8C-83A1-F6EECF244321}">
                <p14:modId xmlns:p14="http://schemas.microsoft.com/office/powerpoint/2010/main" val="2304535318"/>
              </p:ext>
            </p:extLst>
          </p:nvPr>
        </p:nvGraphicFramePr>
        <p:xfrm>
          <a:off x="8703428" y="2455830"/>
          <a:ext cx="1784497" cy="727995"/>
        </p:xfrm>
        <a:graphic>
          <a:graphicData uri="http://schemas.openxmlformats.org/drawingml/2006/chart">
            <c:chart xmlns:c="http://schemas.openxmlformats.org/drawingml/2006/chart" xmlns:r="http://schemas.openxmlformats.org/officeDocument/2006/relationships" r:id="rId30"/>
          </a:graphicData>
        </a:graphic>
      </p:graphicFrame>
      <p:graphicFrame>
        <p:nvGraphicFramePr>
          <p:cNvPr id="71" name="Chart 35">
            <a:extLst>
              <a:ext uri="{FF2B5EF4-FFF2-40B4-BE49-F238E27FC236}">
                <a16:creationId xmlns:a16="http://schemas.microsoft.com/office/drawing/2014/main" id="{B1B70652-CBF5-6EF1-5E47-BEBCCAB12F0C}"/>
              </a:ext>
            </a:extLst>
          </p:cNvPr>
          <p:cNvGraphicFramePr/>
          <p:nvPr>
            <p:custDataLst>
              <p:tags r:id="rId20"/>
            </p:custDataLst>
            <p:extLst>
              <p:ext uri="{D42A27DB-BD31-4B8C-83A1-F6EECF244321}">
                <p14:modId xmlns:p14="http://schemas.microsoft.com/office/powerpoint/2010/main" val="2442259311"/>
              </p:ext>
            </p:extLst>
          </p:nvPr>
        </p:nvGraphicFramePr>
        <p:xfrm>
          <a:off x="7925494" y="2456283"/>
          <a:ext cx="953728" cy="727995"/>
        </p:xfrm>
        <a:graphic>
          <a:graphicData uri="http://schemas.openxmlformats.org/drawingml/2006/chart">
            <c:chart xmlns:c="http://schemas.openxmlformats.org/drawingml/2006/chart" xmlns:r="http://schemas.openxmlformats.org/officeDocument/2006/relationships" r:id="rId31"/>
          </a:graphicData>
        </a:graphic>
      </p:graphicFrame>
      <p:sp>
        <p:nvSpPr>
          <p:cNvPr id="72" name="Rectangle 41">
            <a:extLst>
              <a:ext uri="{FF2B5EF4-FFF2-40B4-BE49-F238E27FC236}">
                <a16:creationId xmlns:a16="http://schemas.microsoft.com/office/drawing/2014/main" id="{4BEA28CF-0DD0-8A2F-7919-81D8CB0F5434}"/>
              </a:ext>
            </a:extLst>
          </p:cNvPr>
          <p:cNvSpPr/>
          <p:nvPr>
            <p:custDataLst>
              <p:tags r:id="rId21"/>
            </p:custDataLst>
          </p:nvPr>
        </p:nvSpPr>
        <p:spPr bwMode="gray">
          <a:xfrm>
            <a:off x="7913465" y="2686974"/>
            <a:ext cx="300038" cy="17781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800" dirty="0" smtClean="0">
                <a:solidFill>
                  <a:schemeClr val="tx1"/>
                </a:solidFill>
              </a:rPr>
              <a:t>50</a:t>
            </a:r>
            <a:endParaRPr lang="ru" sz="800" dirty="0">
              <a:solidFill>
                <a:schemeClr val="tx1"/>
              </a:solidFill>
            </a:endParaRPr>
          </a:p>
        </p:txBody>
      </p:sp>
      <p:sp>
        <p:nvSpPr>
          <p:cNvPr id="73" name="Rectangle 43">
            <a:extLst>
              <a:ext uri="{FF2B5EF4-FFF2-40B4-BE49-F238E27FC236}">
                <a16:creationId xmlns:a16="http://schemas.microsoft.com/office/drawing/2014/main" id="{8C922B75-24EF-1D0B-8FA3-2B3C215AA484}"/>
              </a:ext>
            </a:extLst>
          </p:cNvPr>
          <p:cNvSpPr/>
          <p:nvPr>
            <p:custDataLst>
              <p:tags r:id="rId22"/>
            </p:custDataLst>
          </p:nvPr>
        </p:nvSpPr>
        <p:spPr bwMode="gray">
          <a:xfrm>
            <a:off x="10100086" y="2685114"/>
            <a:ext cx="300038" cy="177811"/>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4288" tIns="0" rIns="14288" bIns="0" numCol="1" spcCol="0" rtlCol="0" fromWordArt="0" anchor="ctr" anchorCtr="0" forceAA="0" compatLnSpc="1">
            <a:prstTxWarp prst="textNoShape">
              <a:avLst/>
            </a:prstTxWarp>
            <a:noAutofit/>
          </a:bodyPr>
          <a:lstStyle/>
          <a:p>
            <a:pPr algn="ctr" rtl="0">
              <a:lnSpc>
                <a:spcPct val="90000"/>
              </a:lnSpc>
              <a:spcBef>
                <a:spcPct val="0"/>
              </a:spcBef>
              <a:spcAft>
                <a:spcPct val="0"/>
              </a:spcAft>
            </a:pPr>
            <a:r>
              <a:rPr lang="ru-RU" sz="800" dirty="0" smtClean="0">
                <a:solidFill>
                  <a:schemeClr val="tx1"/>
                </a:solidFill>
              </a:rPr>
              <a:t>160</a:t>
            </a:r>
            <a:endParaRPr lang="ru" sz="800" dirty="0">
              <a:solidFill>
                <a:schemeClr val="tx1"/>
              </a:solidFill>
            </a:endParaRPr>
          </a:p>
        </p:txBody>
      </p:sp>
      <p:graphicFrame>
        <p:nvGraphicFramePr>
          <p:cNvPr id="74" name="Table 44">
            <a:extLst>
              <a:ext uri="{FF2B5EF4-FFF2-40B4-BE49-F238E27FC236}">
                <a16:creationId xmlns:a16="http://schemas.microsoft.com/office/drawing/2014/main" id="{15CBFF33-5DF7-AE46-C2B7-8247930CED13}"/>
              </a:ext>
            </a:extLst>
          </p:cNvPr>
          <p:cNvGraphicFramePr>
            <a:graphicFrameLocks noGrp="1"/>
          </p:cNvGraphicFramePr>
          <p:nvPr>
            <p:extLst>
              <p:ext uri="{D42A27DB-BD31-4B8C-83A1-F6EECF244321}">
                <p14:modId xmlns:p14="http://schemas.microsoft.com/office/powerpoint/2010/main" val="1661941712"/>
              </p:ext>
            </p:extLst>
          </p:nvPr>
        </p:nvGraphicFramePr>
        <p:xfrm>
          <a:off x="10442391" y="1561547"/>
          <a:ext cx="1740182" cy="1485120"/>
        </p:xfrm>
        <a:graphic>
          <a:graphicData uri="http://schemas.openxmlformats.org/drawingml/2006/table">
            <a:tbl>
              <a:tblPr firstRow="1" bandRow="1">
                <a:tableStyleId>{5C22544A-7EE6-4342-B048-85BDC9FD1C3A}</a:tableStyleId>
              </a:tblPr>
              <a:tblGrid>
                <a:gridCol w="1740182">
                  <a:extLst>
                    <a:ext uri="{9D8B030D-6E8A-4147-A177-3AD203B41FA5}">
                      <a16:colId xmlns:a16="http://schemas.microsoft.com/office/drawing/2014/main" val="3085055012"/>
                    </a:ext>
                  </a:extLst>
                </a:gridCol>
              </a:tblGrid>
              <a:tr h="174806">
                <a:tc>
                  <a:txBody>
                    <a:bodyPr/>
                    <a:lstStyle/>
                    <a:p>
                      <a:pPr rtl="0"/>
                      <a:r>
                        <a:rPr lang="ru" sz="800" b="0" dirty="0">
                          <a:solidFill>
                            <a:schemeClr val="accent1"/>
                          </a:solidFill>
                        </a:rPr>
                        <a:t xml:space="preserve">Business partners (rejected)</a:t>
                      </a:r>
                    </a:p>
                  </a:txBody>
                  <a:tcPr marL="0" marR="72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0475509"/>
                  </a:ext>
                </a:extLst>
              </a:tr>
              <a:tr h="614418">
                <a:tc>
                  <a:txBody>
                    <a:bodyPr/>
                    <a:lstStyle/>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 xml:space="preserve">JSC "Development Bank of Kazakhstan"</a:t>
                      </a:r>
                    </a:p>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 xml:space="preserve">JSC "Kazakhstan Stock Exchange"</a:t>
                      </a:r>
                    </a:p>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 xml:space="preserve">JSC "Eurasian Bank"</a:t>
                      </a:r>
                    </a:p>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 xml:space="preserve">KDL "Olympus"</a:t>
                      </a:r>
                    </a:p>
                    <a:p>
                      <a:pPr marL="92075" indent="-92075" algn="l" defTabSz="583170" rtl="0" eaLnBrk="1" latinLnBrk="0" hangingPunct="1">
                        <a:buClr>
                          <a:schemeClr val="accent1"/>
                        </a:buClr>
                        <a:buFont typeface="Arial" panose="020B0604020202020204" pitchFamily="34" charset="0"/>
                        <a:buChar char="•"/>
                      </a:pPr>
                      <a:r>
                        <a:rPr lang="ru-RU" sz="800" kern="1200" dirty="0" smtClean="0">
                          <a:solidFill>
                            <a:schemeClr val="dk1"/>
                          </a:solidFill>
                          <a:latin typeface="+mn-lt"/>
                          <a:ea typeface="+mn-ea"/>
                          <a:cs typeface="+mn-cs"/>
                        </a:rPr>
                        <a:t xml:space="preserve">Industrial Development Fund</a:t>
                      </a:r>
                    </a:p>
                    <a:p>
                      <a:pPr marL="92075" marR="0" lvl="0" indent="-92075"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dk1"/>
                          </a:solidFill>
                          <a:latin typeface="+mn-lt"/>
                          <a:ea typeface="+mn-ea"/>
                          <a:cs typeface="+mn-cs"/>
                        </a:rPr>
                        <a:t xml:space="preserve">LLP "Energokontrakt S.A."</a:t>
                      </a:r>
                      <a:r>
                        <a:rPr lang="ru-RU" sz="800" kern="1200" dirty="0" err="1" smtClean="0">
                          <a:solidFill>
                            <a:schemeClr val="dk1"/>
                          </a:solidFill>
                          <a:latin typeface="+mn-lt"/>
                          <a:ea typeface="+mn-ea"/>
                          <a:cs typeface="+mn-cs"/>
                        </a:rPr>
                        <a:t/>
                      </a:r>
                      <a:r>
                        <a:rPr lang="ru-RU" sz="800" kern="1200" dirty="0" smtClean="0">
                          <a:solidFill>
                            <a:schemeClr val="dk1"/>
                          </a:solidFill>
                          <a:latin typeface="+mn-lt"/>
                          <a:ea typeface="+mn-ea"/>
                          <a:cs typeface="+mn-cs"/>
                        </a:rPr>
                        <a:t/>
                      </a:r>
                      <a:endParaRPr lang="ru" sz="800" kern="1200" dirty="0" smtClean="0">
                        <a:solidFill>
                          <a:schemeClr val="dk1"/>
                        </a:solidFill>
                        <a:latin typeface="+mn-lt"/>
                        <a:ea typeface="+mn-ea"/>
                        <a:cs typeface="+mn-cs"/>
                      </a:endParaRPr>
                    </a:p>
                    <a:p>
                      <a:pPr marL="92075" marR="0" lvl="0" indent="-92075"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ru-RU" sz="800" kern="1200" dirty="0" smtClean="0">
                          <a:solidFill>
                            <a:schemeClr val="dk1"/>
                          </a:solidFill>
                          <a:latin typeface="+mn-lt"/>
                          <a:ea typeface="+mn-ea"/>
                          <a:cs typeface="+mn-cs"/>
                        </a:rPr>
                        <a:t xml:space="preserve">US International Development Corporation (DFC)</a:t>
                      </a:r>
                    </a:p>
                  </a:txBody>
                  <a:tcPr marL="0" marR="72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9104410"/>
                  </a:ext>
                </a:extLst>
              </a:tr>
            </a:tbl>
          </a:graphicData>
        </a:graphic>
      </p:graphicFrame>
      <p:sp>
        <p:nvSpPr>
          <p:cNvPr id="75" name="TextBox 74">
            <a:extLst>
              <a:ext uri="{FF2B5EF4-FFF2-40B4-BE49-F238E27FC236}">
                <a16:creationId xmlns:a16="http://schemas.microsoft.com/office/drawing/2014/main" id="{7A39264F-0BB3-B1AF-7FEA-241494E61DA9}"/>
              </a:ext>
            </a:extLst>
          </p:cNvPr>
          <p:cNvSpPr txBox="1"/>
          <p:nvPr/>
        </p:nvSpPr>
        <p:spPr>
          <a:xfrm>
            <a:off x="8023616" y="2964243"/>
            <a:ext cx="757484" cy="215444"/>
          </a:xfrm>
          <a:prstGeom prst="rect">
            <a:avLst/>
          </a:prstGeom>
          <a:noFill/>
        </p:spPr>
        <p:txBody>
          <a:bodyPr wrap="square" rtlCol="0">
            <a:spAutoFit/>
          </a:bodyPr>
          <a:lstStyle/>
          <a:p>
            <a:pPr rtl="0"/>
            <a:r>
              <a:rPr lang="ru" sz="800" dirty="0">
                <a:solidFill>
                  <a:schemeClr val="accent1"/>
                </a:solidFill>
              </a:rPr>
              <a:t xml:space="preserve">Rejected</a:t>
            </a:r>
          </a:p>
        </p:txBody>
      </p:sp>
      <p:sp>
        <p:nvSpPr>
          <p:cNvPr id="76" name="TextBox 75">
            <a:extLst>
              <a:ext uri="{FF2B5EF4-FFF2-40B4-BE49-F238E27FC236}">
                <a16:creationId xmlns:a16="http://schemas.microsoft.com/office/drawing/2014/main" id="{64AEA525-5592-0A71-BDA9-D73790840035}"/>
              </a:ext>
            </a:extLst>
          </p:cNvPr>
          <p:cNvSpPr txBox="1"/>
          <p:nvPr/>
        </p:nvSpPr>
        <p:spPr>
          <a:xfrm>
            <a:off x="9155463" y="2972217"/>
            <a:ext cx="963588" cy="215444"/>
          </a:xfrm>
          <a:prstGeom prst="rect">
            <a:avLst/>
          </a:prstGeom>
          <a:noFill/>
        </p:spPr>
        <p:txBody>
          <a:bodyPr wrap="square" rtlCol="0">
            <a:spAutoFit/>
          </a:bodyPr>
          <a:lstStyle/>
          <a:p>
            <a:pPr rtl="0"/>
            <a:r>
              <a:rPr lang="ru" sz="800" dirty="0">
                <a:solidFill>
                  <a:schemeClr val="accent5">
                    <a:lumMod val="75000"/>
                    <a:lumOff val="25000"/>
                  </a:schemeClr>
                </a:solidFill>
              </a:rPr>
              <a:t xml:space="preserve">Agreed</a:t>
            </a:r>
          </a:p>
        </p:txBody>
      </p:sp>
      <p:sp>
        <p:nvSpPr>
          <p:cNvPr id="14" name="Прямоугольник 13"/>
          <p:cNvSpPr/>
          <p:nvPr/>
        </p:nvSpPr>
        <p:spPr>
          <a:xfrm>
            <a:off x="7797225" y="985601"/>
            <a:ext cx="2798580" cy="400110"/>
          </a:xfrm>
          <a:prstGeom prst="rect">
            <a:avLst/>
          </a:prstGeom>
        </p:spPr>
        <p:txBody>
          <a:bodyPr wrap="square">
            <a:spAutoFit/>
          </a:bodyPr>
          <a:lstStyle/>
          <a:p>
            <a:pPr algn="ctr"/>
            <a:r>
              <a:rPr lang="ru" sz="1000" b="1" dirty="0"/>
              <a:t xml:space="preserve">Gifts and entertainment (GRE) – Received ($, #)</a:t>
            </a:r>
            <a:r>
              <a:rPr lang="ru" sz="1000" b="1" dirty="0" smtClean="0"/>
              <a:t/>
            </a:r>
            <a:r>
              <a:rPr lang="ru" sz="1000" b="1" dirty="0"/>
              <a:t/>
            </a:r>
            <a:r>
              <a:rPr lang="en-US" sz="1000" b="1" dirty="0"/>
              <a:t/>
            </a:r>
            <a:r>
              <a:rPr lang="ru" sz="1000" b="1" dirty="0"/>
              <a:t/>
            </a:r>
          </a:p>
        </p:txBody>
      </p:sp>
      <p:sp>
        <p:nvSpPr>
          <p:cNvPr id="15" name="Прямоугольник 14"/>
          <p:cNvSpPr/>
          <p:nvPr/>
        </p:nvSpPr>
        <p:spPr>
          <a:xfrm>
            <a:off x="7791572" y="2193946"/>
            <a:ext cx="2696353" cy="400110"/>
          </a:xfrm>
          <a:prstGeom prst="rect">
            <a:avLst/>
          </a:prstGeom>
        </p:spPr>
        <p:txBody>
          <a:bodyPr wrap="square">
            <a:spAutoFit/>
          </a:bodyPr>
          <a:lstStyle/>
          <a:p>
            <a:pPr algn="ctr"/>
            <a:r>
              <a:rPr lang="ru" sz="1000" b="1" dirty="0"/>
              <a:t xml:space="preserve">Gifts and KRM –</a:t>
            </a:r>
          </a:p>
          <a:p>
            <a:pPr algn="ctr"/>
            <a:r>
              <a:rPr lang="ru" sz="1000" b="1" dirty="0" smtClean="0"/>
              <a:t xml:space="preserve">Provided ($, #)</a:t>
            </a:r>
            <a:r>
              <a:rPr lang="ru" sz="1000" b="1" dirty="0"/>
              <a:t/>
            </a:r>
            <a:r>
              <a:rPr lang="en-US" sz="1000" b="1" dirty="0"/>
              <a:t/>
            </a:r>
            <a:r>
              <a:rPr lang="ru" sz="1000" b="1" dirty="0"/>
              <a:t/>
            </a:r>
          </a:p>
        </p:txBody>
      </p:sp>
    </p:spTree>
    <p:extLst>
      <p:ext uri="{BB962C8B-B14F-4D97-AF65-F5344CB8AC3E}">
        <p14:creationId xmlns:p14="http://schemas.microsoft.com/office/powerpoint/2010/main" val="10193000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1FF7A-937B-5D6F-A331-2A3E8C2BF708}"/>
            </a:ext>
          </a:extLst>
        </p:cNvPr>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FF1935C4-E461-3237-16A6-6397F7C435B1}"/>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910" name="think-cell Slide" r:id="rId5" imgW="353" imgH="353" progId="TCLayout.ActiveDocument.1">
                  <p:embed/>
                </p:oleObj>
              </mc:Choice>
              <mc:Fallback>
                <p:oleObj name="think-cell Slide" r:id="rId5" imgW="353" imgH="353" progId="TCLayout.ActiveDocument.1">
                  <p:embed/>
                  <p:pic>
                    <p:nvPicPr>
                      <p:cNvPr id="13" name="Object 12" hidden="1">
                        <a:extLst>
                          <a:ext uri="{FF2B5EF4-FFF2-40B4-BE49-F238E27FC236}">
                            <a16:creationId xmlns:a16="http://schemas.microsoft.com/office/drawing/2014/main" id="{3E8A4745-C2E3-0474-999F-FF2DE800C50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9" name="Rectangle 38" hidden="1">
            <a:extLst>
              <a:ext uri="{FF2B5EF4-FFF2-40B4-BE49-F238E27FC236}">
                <a16:creationId xmlns:a16="http://schemas.microsoft.com/office/drawing/2014/main" id="{FF2F5599-00AB-1D6B-B991-EE5D6A93E1F0}"/>
              </a:ext>
            </a:extLst>
          </p:cNvPr>
          <p:cNvSpPr/>
          <p:nvPr>
            <p:custDataLst>
              <p:tags r:id="rId3"/>
            </p:custDataLst>
          </p:nvPr>
        </p:nvSpPr>
        <p:spPr>
          <a:xfrm>
            <a:off x="0" y="0"/>
            <a:ext cx="158750" cy="1587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dirty="0">
              <a:solidFill>
                <a:schemeClr val="accent1"/>
              </a:solidFill>
              <a:latin typeface="Arial" panose="020B0604020202020204" pitchFamily="34" charset="0"/>
              <a:ea typeface="+mj-ea"/>
              <a:cs typeface="+mj-cs"/>
              <a:sym typeface="Arial" panose="020B0604020202020204" pitchFamily="34" charset="0"/>
            </a:endParaRPr>
          </a:p>
        </p:txBody>
      </p:sp>
      <p:sp>
        <p:nvSpPr>
          <p:cNvPr id="11" name="Title 10">
            <a:extLst>
              <a:ext uri="{FF2B5EF4-FFF2-40B4-BE49-F238E27FC236}">
                <a16:creationId xmlns:a16="http://schemas.microsoft.com/office/drawing/2014/main" id="{69D73152-CA8C-2B93-BCC8-1B6F689A4DB9}"/>
              </a:ext>
            </a:extLst>
          </p:cNvPr>
          <p:cNvSpPr>
            <a:spLocks noGrp="1"/>
          </p:cNvSpPr>
          <p:nvPr>
            <p:ph type="title"/>
          </p:nvPr>
        </p:nvSpPr>
        <p:spPr>
          <a:xfrm>
            <a:off x="317499" y="0"/>
            <a:ext cx="10584209" cy="704850"/>
          </a:xfrm>
        </p:spPr>
        <p:txBody>
          <a:bodyPr/>
          <a:lstStyle/>
          <a:p>
            <a:r>
              <a:rPr lang="ru-RU" dirty="0"/>
              <a:t>Годовой дашборд </a:t>
            </a:r>
            <a:r>
              <a:rPr lang="en-US" dirty="0"/>
              <a:t>2025: </a:t>
            </a:r>
            <a:r>
              <a:rPr lang="ru-RU" dirty="0"/>
              <a:t>Периметр Казахстан </a:t>
            </a:r>
            <a:r>
              <a:rPr lang="ru-RU" dirty="0" smtClean="0"/>
              <a:t/>
            </a:r>
            <a:br>
              <a:rPr lang="ru-RU" dirty="0" smtClean="0"/>
            </a:br>
            <a:r>
              <a:rPr lang="ru-RU" dirty="0" smtClean="0">
                <a:solidFill>
                  <a:schemeClr val="tx1"/>
                </a:solidFill>
              </a:rPr>
              <a:t>Краткое </a:t>
            </a:r>
            <a:r>
              <a:rPr lang="ru-RU" dirty="0">
                <a:solidFill>
                  <a:schemeClr val="tx1"/>
                </a:solidFill>
              </a:rPr>
              <a:t>изложение</a:t>
            </a:r>
            <a:r>
              <a:rPr lang="en-US" dirty="0" smtClean="0">
                <a:solidFill>
                  <a:schemeClr val="tx1"/>
                </a:solidFill>
              </a:rPr>
              <a:t> </a:t>
            </a:r>
            <a:r>
              <a:rPr lang="en-US" dirty="0">
                <a:solidFill>
                  <a:schemeClr val="tx1"/>
                </a:solidFill>
              </a:rPr>
              <a:t>(5/6) </a:t>
            </a:r>
            <a:endParaRPr lang="en-US" dirty="0">
              <a:solidFill>
                <a:srgbClr val="FF0000"/>
              </a:solidFill>
            </a:endParaRPr>
          </a:p>
        </p:txBody>
      </p:sp>
      <p:sp>
        <p:nvSpPr>
          <p:cNvPr id="7" name="Text Placeholder 6">
            <a:extLst>
              <a:ext uri="{FF2B5EF4-FFF2-40B4-BE49-F238E27FC236}">
                <a16:creationId xmlns:a16="http://schemas.microsoft.com/office/drawing/2014/main" id="{BCCF47B2-3E6E-7789-6F36-81D91340E154}"/>
              </a:ext>
            </a:extLst>
          </p:cNvPr>
          <p:cNvSpPr>
            <a:spLocks noGrp="1"/>
          </p:cNvSpPr>
          <p:nvPr>
            <p:ph type="body" sz="quarter" idx="10"/>
          </p:nvPr>
        </p:nvSpPr>
        <p:spPr>
          <a:xfrm>
            <a:off x="317498" y="6416000"/>
            <a:ext cx="11342136" cy="251528"/>
          </a:xfrm>
        </p:spPr>
        <p:txBody>
          <a:bodyPr/>
          <a:lstStyle/>
          <a:p>
            <a:r>
              <a:rPr lang="ru-RU" i="1" dirty="0" smtClean="0"/>
              <a:t xml:space="preserve">* Online training data for previous periods was taken into account to calculate the coverage of existing employees / existing suppliers with online training. Full-time enrollment for 2022-2024 is reported in the 2022-2024 reports.</a:t>
            </a:r>
          </a:p>
          <a:p>
            <a:r>
              <a:rPr lang="ru-RU" i="1" dirty="0" smtClean="0"/>
              <a:t xml:space="preserve">For more details, see the Dashboard for Q4. 2025 (slide 10)</a:t>
            </a:r>
            <a:endParaRPr lang="en-US" i="1" dirty="0"/>
          </a:p>
        </p:txBody>
      </p:sp>
      <p:cxnSp>
        <p:nvCxnSpPr>
          <p:cNvPr id="218" name="Straight Connector 217">
            <a:extLst>
              <a:ext uri="{FF2B5EF4-FFF2-40B4-BE49-F238E27FC236}">
                <a16:creationId xmlns:a16="http://schemas.microsoft.com/office/drawing/2014/main" id="{8A28C351-8DF5-9F59-42A0-70F0C6B3A5FC}"/>
              </a:ext>
            </a:extLst>
          </p:cNvPr>
          <p:cNvCxnSpPr/>
          <p:nvPr/>
        </p:nvCxnSpPr>
        <p:spPr>
          <a:xfrm>
            <a:off x="-9427" y="5085573"/>
            <a:ext cx="12192000" cy="0"/>
          </a:xfrm>
          <a:prstGeom prst="line">
            <a:avLst/>
          </a:pr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cxnSp>
      <p:sp>
        <p:nvSpPr>
          <p:cNvPr id="220" name="Text Placeholder 39">
            <a:extLst>
              <a:ext uri="{FF2B5EF4-FFF2-40B4-BE49-F238E27FC236}">
                <a16:creationId xmlns:a16="http://schemas.microsoft.com/office/drawing/2014/main" id="{D5A05B98-E0F6-C253-0A3B-1692E4123CBE}"/>
              </a:ext>
            </a:extLst>
          </p:cNvPr>
          <p:cNvSpPr txBox="1">
            <a:spLocks/>
          </p:cNvSpPr>
          <p:nvPr/>
        </p:nvSpPr>
        <p:spPr>
          <a:xfrm>
            <a:off x="1792070" y="4974921"/>
            <a:ext cx="2761076"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 xml:space="preserve">Training and communications</a:t>
            </a:r>
            <a:endParaRPr lang="en-US" sz="1400" dirty="0">
              <a:solidFill>
                <a:srgbClr val="7030A0"/>
              </a:solidFill>
            </a:endParaRPr>
          </a:p>
        </p:txBody>
      </p:sp>
      <p:sp>
        <p:nvSpPr>
          <p:cNvPr id="224" name="Text Placeholder 39">
            <a:extLst>
              <a:ext uri="{FF2B5EF4-FFF2-40B4-BE49-F238E27FC236}">
                <a16:creationId xmlns:a16="http://schemas.microsoft.com/office/drawing/2014/main" id="{AA6E3509-E92D-07A1-EB2A-7AFD854C790E}"/>
              </a:ext>
            </a:extLst>
          </p:cNvPr>
          <p:cNvSpPr txBox="1">
            <a:spLocks/>
          </p:cNvSpPr>
          <p:nvPr/>
        </p:nvSpPr>
        <p:spPr>
          <a:xfrm>
            <a:off x="10595805" y="4710005"/>
            <a:ext cx="1181414" cy="1538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a:defRPr/>
            </a:pPr>
            <a:r>
              <a:rPr lang="ru-RU" sz="1000" i="1" dirty="0">
                <a:solidFill>
                  <a:schemeClr val="accent1"/>
                </a:solidFill>
              </a:rPr>
              <a:t xml:space="preserve">Key Metrics</a:t>
            </a:r>
            <a:endParaRPr lang="ru" sz="1000" i="1" dirty="0">
              <a:solidFill>
                <a:schemeClr val="accent1"/>
              </a:solidFill>
            </a:endParaRPr>
          </a:p>
        </p:txBody>
      </p:sp>
      <p:sp>
        <p:nvSpPr>
          <p:cNvPr id="225" name="Text Placeholder 39">
            <a:extLst>
              <a:ext uri="{FF2B5EF4-FFF2-40B4-BE49-F238E27FC236}">
                <a16:creationId xmlns:a16="http://schemas.microsoft.com/office/drawing/2014/main" id="{14F920A9-0E9C-BFFC-6E98-773BA87C0416}"/>
              </a:ext>
            </a:extLst>
          </p:cNvPr>
          <p:cNvSpPr txBox="1">
            <a:spLocks/>
          </p:cNvSpPr>
          <p:nvPr/>
        </p:nvSpPr>
        <p:spPr>
          <a:xfrm>
            <a:off x="10463088" y="5153365"/>
            <a:ext cx="1516129" cy="307777"/>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a:defRPr/>
            </a:pPr>
            <a:r>
              <a:rPr lang="ru-RU" sz="1000" i="1" dirty="0">
                <a:solidFill>
                  <a:srgbClr val="7030A0"/>
                </a:solidFill>
              </a:rPr>
              <a:t xml:space="preserve">Trends, risks and impact on the Annual Program</a:t>
            </a:r>
            <a:endParaRPr lang="ru" sz="1000" i="1" dirty="0">
              <a:solidFill>
                <a:srgbClr val="7030A0"/>
              </a:solidFill>
            </a:endParaRPr>
          </a:p>
        </p:txBody>
      </p:sp>
      <p:sp>
        <p:nvSpPr>
          <p:cNvPr id="5" name="Freeform 122">
            <a:extLst>
              <a:ext uri="{FF2B5EF4-FFF2-40B4-BE49-F238E27FC236}">
                <a16:creationId xmlns:a16="http://schemas.microsoft.com/office/drawing/2014/main" id="{E258CF19-4F67-4647-4737-A9A5F841F6DA}"/>
              </a:ext>
            </a:extLst>
          </p:cNvPr>
          <p:cNvSpPr/>
          <p:nvPr/>
        </p:nvSpPr>
        <p:spPr>
          <a:xfrm>
            <a:off x="317499" y="5096646"/>
            <a:ext cx="11557001" cy="1319353"/>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rgbClr val="7030A0"/>
              </a:solidFill>
            </a:endParaRPr>
          </a:p>
        </p:txBody>
      </p:sp>
      <p:sp>
        <p:nvSpPr>
          <p:cNvPr id="6" name="Text Placeholder 39">
            <a:extLst>
              <a:ext uri="{FF2B5EF4-FFF2-40B4-BE49-F238E27FC236}">
                <a16:creationId xmlns:a16="http://schemas.microsoft.com/office/drawing/2014/main" id="{09A1BDD4-EE9A-7B54-BF43-A4BB278E6D03}"/>
              </a:ext>
            </a:extLst>
          </p:cNvPr>
          <p:cNvSpPr txBox="1">
            <a:spLocks/>
          </p:cNvSpPr>
          <p:nvPr/>
        </p:nvSpPr>
        <p:spPr>
          <a:xfrm>
            <a:off x="422215" y="5365819"/>
            <a:ext cx="11452285" cy="969496"/>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8900" indent="-82550">
              <a:lnSpc>
                <a:spcPct val="100000"/>
              </a:lnSpc>
              <a:spcBef>
                <a:spcPts val="0"/>
              </a:spcBef>
              <a:buClr>
                <a:srgbClr val="7030A0"/>
              </a:buClr>
              <a:buFont typeface="Arial" panose="020B0604020202020204" pitchFamily="34" charset="0"/>
              <a:buChar char="•"/>
            </a:pPr>
            <a:r>
              <a:rPr lang="ru-RU" sz="900" dirty="0">
                <a:solidFill>
                  <a:srgbClr val="7030A0"/>
                </a:solidFill>
              </a:rPr>
              <a:t xml:space="preserve">Trends – The plan has been implemented to maintain the coverage of online training for working RSS at a level of at least 90%, except for the ABC course, which was launched later.</a:t>
            </a:r>
            <a:r>
              <a:rPr lang="ru-RU" sz="900" dirty="0" smtClean="0">
                <a:solidFill>
                  <a:srgbClr val="7030A0"/>
                </a:solidFill>
              </a:rPr>
              <a:t/>
            </a:r>
            <a:r>
              <a:rPr lang="ru-RU" sz="900" dirty="0" smtClean="0">
                <a:solidFill>
                  <a:schemeClr val="tx1"/>
                </a:solidFill>
              </a:rPr>
              <a:t/>
            </a:r>
            <a:endParaRPr lang="ru-RU" sz="900" dirty="0"/>
          </a:p>
          <a:p>
            <a:pPr marL="88900" indent="-82550">
              <a:lnSpc>
                <a:spcPct val="100000"/>
              </a:lnSpc>
              <a:spcBef>
                <a:spcPts val="0"/>
              </a:spcBef>
              <a:buFont typeface="Arial" panose="020B0604020202020204" pitchFamily="34" charset="0"/>
              <a:buChar char="•"/>
            </a:pPr>
            <a:r>
              <a:rPr lang="ru-RU" sz="900" dirty="0">
                <a:solidFill>
                  <a:srgbClr val="7030A0"/>
                </a:solidFill>
              </a:rPr>
              <a:t xml:space="preserve">Identified risks – No. no risks identified. At the same time, training in the online course “ERG Supplier Code of Conduct” is still suspended due to the transition to another platform.</a:t>
            </a:r>
            <a:r>
              <a:rPr lang="ru-RU" sz="900" dirty="0">
                <a:solidFill>
                  <a:schemeClr val="tx1"/>
                </a:solidFill>
              </a:rPr>
              <a:t/>
            </a:r>
            <a:r>
              <a:rPr lang="ru-RU" sz="900" dirty="0" smtClean="0">
                <a:solidFill>
                  <a:schemeClr val="tx1"/>
                </a:solidFill>
              </a:rPr>
              <a:t/>
            </a:r>
            <a:r>
              <a:rPr lang="ru-RU" sz="900" dirty="0">
                <a:solidFill>
                  <a:schemeClr val="tx1"/>
                </a:solidFill>
              </a:rPr>
              <a:t/>
            </a:r>
            <a:r>
              <a:rPr lang="ru-RU" sz="900" dirty="0" smtClean="0">
                <a:solidFill>
                  <a:schemeClr val="tx1"/>
                </a:solidFill>
              </a:rPr>
              <a:t/>
            </a:r>
            <a:r>
              <a:rPr lang="ru-RU" sz="900" dirty="0">
                <a:solidFill>
                  <a:schemeClr val="tx1"/>
                </a:solidFill>
              </a:rPr>
              <a:t/>
            </a:r>
            <a:r>
              <a:rPr lang="ru-RU" sz="900" dirty="0" smtClean="0">
                <a:solidFill>
                  <a:schemeClr val="tx1"/>
                </a:solidFill>
              </a:rPr>
              <a:t/>
            </a:r>
          </a:p>
          <a:p>
            <a:pPr marL="88900" indent="-82550">
              <a:lnSpc>
                <a:spcPct val="100000"/>
              </a:lnSpc>
              <a:spcBef>
                <a:spcPts val="0"/>
              </a:spcBef>
              <a:buFont typeface="Arial" panose="020B0604020202020204" pitchFamily="34" charset="0"/>
              <a:buChar char="•"/>
            </a:pPr>
            <a:r>
              <a:rPr lang="ru-RU" sz="900" dirty="0" smtClean="0">
                <a:solidFill>
                  <a:srgbClr val="7030A0"/>
                </a:solidFill>
              </a:rPr>
              <a:t xml:space="preserve">Impact on the Annual Perimeter Program / Lessons – For the effective implementation of the T&amp;A Program objectives, the following is planned for 2026:</a:t>
            </a:r>
            <a:r>
              <a:rPr lang="ru-RU" sz="900" dirty="0">
                <a:solidFill>
                  <a:srgbClr val="7030A0"/>
                </a:solidFill>
              </a:rPr>
              <a:t/>
            </a:r>
            <a:r>
              <a:rPr lang="ru-RU" sz="900" dirty="0" smtClean="0">
                <a:solidFill>
                  <a:srgbClr val="7030A0"/>
                </a:solidFill>
              </a:rPr>
              <a:t/>
            </a:r>
            <a:r>
              <a:rPr lang="ru-RU" sz="900" dirty="0" smtClean="0">
                <a:solidFill>
                  <a:schemeClr val="tx1"/>
                </a:solidFill>
              </a:rPr>
              <a:t/>
            </a:r>
            <a:r>
              <a:rPr lang="en-US" sz="900" dirty="0" smtClean="0">
                <a:solidFill>
                  <a:schemeClr val="tx1"/>
                </a:solidFill>
              </a:rPr>
              <a:t/>
            </a:r>
            <a:r>
              <a:rPr lang="ru-RU" sz="900" dirty="0" smtClean="0">
                <a:solidFill>
                  <a:schemeClr val="tx1"/>
                </a:solidFill>
              </a:rPr>
              <a:t/>
            </a:r>
          </a:p>
          <a:p>
            <a:pPr marL="177800" lvl="1" indent="-90488">
              <a:lnSpc>
                <a:spcPct val="100000"/>
              </a:lnSpc>
              <a:spcBef>
                <a:spcPts val="0"/>
              </a:spcBef>
              <a:buClr>
                <a:srgbClr val="7030A0"/>
              </a:buClr>
              <a:buFont typeface="Courier New" panose="02070309020205020404" pitchFamily="49" charset="0"/>
              <a:buChar char="o"/>
            </a:pPr>
            <a:r>
              <a:rPr lang="ru-RU" sz="900" dirty="0" smtClean="0"/>
              <a:t xml:space="preserve">Communications at the “Tone from Above” level, incl. holding the annual Perimeter Ethics and Compliance Day.</a:t>
            </a:r>
            <a:r>
              <a:rPr lang="ru-RU" sz="900" dirty="0" err="1" smtClean="0"/>
              <a:t/>
            </a:r>
            <a:r>
              <a:rPr lang="ru-RU" sz="900" dirty="0" smtClean="0"/>
              <a:t/>
            </a:r>
            <a:r>
              <a:rPr lang="ru-RU" sz="900" dirty="0"/>
              <a:t/>
            </a:r>
            <a:r>
              <a:rPr lang="ru-RU" sz="900" dirty="0" smtClean="0"/>
              <a:t/>
            </a:r>
          </a:p>
          <a:p>
            <a:pPr marL="177800" lvl="1" indent="-90488">
              <a:lnSpc>
                <a:spcPct val="100000"/>
              </a:lnSpc>
              <a:spcBef>
                <a:spcPts val="0"/>
              </a:spcBef>
              <a:buClr>
                <a:srgbClr val="7030A0"/>
              </a:buClr>
              <a:buFont typeface="Courier New" panose="02070309020205020404" pitchFamily="49" charset="0"/>
              <a:buChar char="o"/>
            </a:pPr>
            <a:r>
              <a:rPr lang="ru-RU" sz="900" dirty="0" smtClean="0"/>
              <a:t xml:space="preserve">Ensuring coverage of online training for working RSS at a level of at least 90%.</a:t>
            </a:r>
            <a:r>
              <a:rPr lang="ru-RU" sz="900" dirty="0"/>
              <a:t/>
            </a:r>
            <a:r>
              <a:rPr lang="ru-RU" sz="900" dirty="0" smtClean="0"/>
              <a:t/>
            </a:r>
          </a:p>
          <a:p>
            <a:pPr marL="177800" lvl="1" indent="-90488">
              <a:lnSpc>
                <a:spcPct val="100000"/>
              </a:lnSpc>
              <a:spcBef>
                <a:spcPts val="0"/>
              </a:spcBef>
              <a:buClr>
                <a:srgbClr val="7030A0"/>
              </a:buClr>
              <a:buFont typeface="Courier New" panose="02070309020205020404" pitchFamily="49" charset="0"/>
              <a:buChar char="o"/>
            </a:pPr>
            <a:r>
              <a:rPr lang="ru-RU" sz="900" dirty="0" smtClean="0"/>
              <a:t xml:space="preserve">Development of online training modules for Perimeter (on the CCP, on the Code of Corporate Conduct for the share of workers, on the Code of Conduct for ERG suppliers) with the support of the Corporate University.</a:t>
            </a:r>
            <a:r>
              <a:rPr lang="en-US" sz="900" dirty="0" smtClean="0"/>
              <a:t/>
            </a:r>
            <a:r>
              <a:rPr lang="ru-RU" sz="900" dirty="0" smtClean="0"/>
              <a:t/>
            </a:r>
          </a:p>
          <a:p>
            <a:pPr marL="177800" lvl="1" indent="-90488">
              <a:lnSpc>
                <a:spcPct val="100000"/>
              </a:lnSpc>
              <a:spcBef>
                <a:spcPts val="0"/>
              </a:spcBef>
              <a:buClr>
                <a:srgbClr val="7030A0"/>
              </a:buClr>
              <a:buFont typeface="Courier New" panose="02070309020205020404" pitchFamily="49" charset="0"/>
              <a:buChar char="o"/>
            </a:pPr>
            <a:r>
              <a:rPr lang="ru-RU" sz="900" dirty="0" smtClean="0"/>
              <a:t xml:space="preserve">And others (for more details, see Perimeter’s Annual Compliance Program for 2026).</a:t>
            </a:r>
            <a:endParaRPr lang="ru-RU" sz="900" dirty="0"/>
          </a:p>
        </p:txBody>
      </p:sp>
      <p:graphicFrame>
        <p:nvGraphicFramePr>
          <p:cNvPr id="15" name="Table 11">
            <a:extLst>
              <a:ext uri="{FF2B5EF4-FFF2-40B4-BE49-F238E27FC236}">
                <a16:creationId xmlns:a16="http://schemas.microsoft.com/office/drawing/2014/main" id="{5711B25D-D4E7-41CF-8479-FF2811114876}"/>
              </a:ext>
            </a:extLst>
          </p:cNvPr>
          <p:cNvGraphicFramePr>
            <a:graphicFrameLocks noGrp="1"/>
          </p:cNvGraphicFramePr>
          <p:nvPr>
            <p:extLst>
              <p:ext uri="{D42A27DB-BD31-4B8C-83A1-F6EECF244321}">
                <p14:modId xmlns:p14="http://schemas.microsoft.com/office/powerpoint/2010/main" val="1346618847"/>
              </p:ext>
            </p:extLst>
          </p:nvPr>
        </p:nvGraphicFramePr>
        <p:xfrm>
          <a:off x="317498" y="799771"/>
          <a:ext cx="11582524" cy="4044120"/>
        </p:xfrm>
        <a:graphic>
          <a:graphicData uri="http://schemas.openxmlformats.org/drawingml/2006/table">
            <a:tbl>
              <a:tblPr>
                <a:tableStyleId>{5C22544A-7EE6-4342-B048-85BDC9FD1C3A}</a:tableStyleId>
              </a:tblPr>
              <a:tblGrid>
                <a:gridCol w="933429">
                  <a:extLst>
                    <a:ext uri="{9D8B030D-6E8A-4147-A177-3AD203B41FA5}">
                      <a16:colId xmlns:a16="http://schemas.microsoft.com/office/drawing/2014/main" val="4283328280"/>
                    </a:ext>
                  </a:extLst>
                </a:gridCol>
                <a:gridCol w="140394">
                  <a:extLst>
                    <a:ext uri="{9D8B030D-6E8A-4147-A177-3AD203B41FA5}">
                      <a16:colId xmlns:a16="http://schemas.microsoft.com/office/drawing/2014/main" val="538032366"/>
                    </a:ext>
                  </a:extLst>
                </a:gridCol>
                <a:gridCol w="5472000">
                  <a:extLst>
                    <a:ext uri="{9D8B030D-6E8A-4147-A177-3AD203B41FA5}">
                      <a16:colId xmlns:a16="http://schemas.microsoft.com/office/drawing/2014/main" val="3934981002"/>
                    </a:ext>
                  </a:extLst>
                </a:gridCol>
                <a:gridCol w="140394">
                  <a:extLst>
                    <a:ext uri="{9D8B030D-6E8A-4147-A177-3AD203B41FA5}">
                      <a16:colId xmlns:a16="http://schemas.microsoft.com/office/drawing/2014/main" val="3362274983"/>
                    </a:ext>
                  </a:extLst>
                </a:gridCol>
                <a:gridCol w="839104">
                  <a:extLst>
                    <a:ext uri="{9D8B030D-6E8A-4147-A177-3AD203B41FA5}">
                      <a16:colId xmlns:a16="http://schemas.microsoft.com/office/drawing/2014/main" val="1278346448"/>
                    </a:ext>
                  </a:extLst>
                </a:gridCol>
                <a:gridCol w="777858">
                  <a:extLst>
                    <a:ext uri="{9D8B030D-6E8A-4147-A177-3AD203B41FA5}">
                      <a16:colId xmlns:a16="http://schemas.microsoft.com/office/drawing/2014/main" val="2493128676"/>
                    </a:ext>
                  </a:extLst>
                </a:gridCol>
                <a:gridCol w="1008000">
                  <a:extLst>
                    <a:ext uri="{9D8B030D-6E8A-4147-A177-3AD203B41FA5}">
                      <a16:colId xmlns:a16="http://schemas.microsoft.com/office/drawing/2014/main" val="806494428"/>
                    </a:ext>
                  </a:extLst>
                </a:gridCol>
                <a:gridCol w="1244573">
                  <a:extLst>
                    <a:ext uri="{9D8B030D-6E8A-4147-A177-3AD203B41FA5}">
                      <a16:colId xmlns:a16="http://schemas.microsoft.com/office/drawing/2014/main" val="1916123635"/>
                    </a:ext>
                  </a:extLst>
                </a:gridCol>
                <a:gridCol w="404486">
                  <a:extLst>
                    <a:ext uri="{9D8B030D-6E8A-4147-A177-3AD203B41FA5}">
                      <a16:colId xmlns:a16="http://schemas.microsoft.com/office/drawing/2014/main" val="3799039084"/>
                    </a:ext>
                  </a:extLst>
                </a:gridCol>
                <a:gridCol w="622286">
                  <a:extLst>
                    <a:ext uri="{9D8B030D-6E8A-4147-A177-3AD203B41FA5}">
                      <a16:colId xmlns:a16="http://schemas.microsoft.com/office/drawing/2014/main" val="3943256764"/>
                    </a:ext>
                  </a:extLst>
                </a:gridCol>
              </a:tblGrid>
              <a:tr h="162877">
                <a:tc gridSpan="10">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r>
                        <a:rPr lang="en-US" sz="1200" b="0" kern="1200" dirty="0">
                          <a:solidFill>
                            <a:schemeClr val="accent1"/>
                          </a:solidFill>
                          <a:latin typeface="+mn-lt"/>
                          <a:ea typeface="+mn-ea"/>
                          <a:cs typeface="+mn-cs"/>
                        </a:rPr>
                        <a:t xml:space="preserve">Mining &amp; Healthcare</a:t>
                      </a:r>
                      <a:endParaRPr lang="en-US" sz="1200" b="0" i="0" u="none" strike="noStrike" dirty="0">
                        <a:solidFill>
                          <a:schemeClr val="accent1"/>
                        </a:solidFill>
                        <a:effectLst/>
                        <a:latin typeface="+mn-lt"/>
                        <a:cs typeface="Arial" panose="020B0604020202020204" pitchFamily="34" charset="0"/>
                      </a:endParaRPr>
                    </a:p>
                  </a:txBody>
                  <a:tcPr marL="36000" marR="36000" marT="0" marB="0" anchor="ctr">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800" b="0" i="0" u="none" strike="noStrike" dirty="0">
                        <a:solidFill>
                          <a:schemeClr val="bg1"/>
                        </a:solidFill>
                        <a:effectLst/>
                        <a:latin typeface="+mn-lt"/>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indent="0" algn="l" defTabSz="583170" rtl="0" eaLnBrk="1" fontAlgn="t" latinLnBrk="0" hangingPunct="1">
                        <a:lnSpc>
                          <a:spcPct val="100000"/>
                        </a:lnSpc>
                        <a:spcBef>
                          <a:spcPts val="0"/>
                        </a:spcBef>
                        <a:buFont typeface="Arial" panose="020B0604020202020204" pitchFamily="34" charset="0"/>
                        <a:buNone/>
                      </a:pPr>
                      <a:endParaRPr lang="en-US" sz="800" b="0" kern="1200" dirty="0">
                        <a:solidFill>
                          <a:schemeClr val="accent1"/>
                        </a:solidFill>
                        <a:latin typeface="+mn-lt"/>
                        <a:ea typeface="+mn-ea"/>
                        <a:cs typeface="+mn-cs"/>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t"/>
                      <a:endParaRPr lang="en-US" sz="1200" b="0" i="0" u="none" strike="noStrike" dirty="0">
                        <a:solidFill>
                          <a:schemeClr val="bg1"/>
                        </a:solidFill>
                        <a:effectLst/>
                        <a:latin typeface="+mn-lt"/>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1200" b="0" i="0" u="none" strike="noStrike" dirty="0">
                        <a:solidFill>
                          <a:schemeClr val="bg1"/>
                        </a:solidFill>
                        <a:effectLst/>
                        <a:latin typeface="+mn-lt"/>
                        <a:cs typeface="Arial" panose="020B0604020202020204" pitchFamily="34" charset="0"/>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pPr algn="l" fontAlgn="t"/>
                      <a:endParaRPr lang="en-US" sz="800" b="0" i="0" u="none" strike="noStrike" dirty="0">
                        <a:solidFill>
                          <a:schemeClr val="bg1"/>
                        </a:solidFill>
                        <a:effectLst/>
                        <a:latin typeface="+mn-lt"/>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1200" b="0" i="0" u="none" strike="noStrike" dirty="0">
                        <a:solidFill>
                          <a:schemeClr val="accent1"/>
                        </a:solidFill>
                        <a:effectLst/>
                        <a:latin typeface="+mn-lt"/>
                        <a:cs typeface="Arial" panose="020B0604020202020204" pitchFamily="34" charset="0"/>
                      </a:endParaRPr>
                    </a:p>
                  </a:txBody>
                  <a:tcPr marL="36000" marR="36000" marT="36000" marB="36000" anchor="ctr">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1200" b="0" i="0" u="none" strike="noStrike" dirty="0">
                        <a:solidFill>
                          <a:schemeClr val="accent1"/>
                        </a:solidFill>
                        <a:effectLst/>
                        <a:latin typeface="+mn-lt"/>
                        <a:cs typeface="Arial" panose="020B0604020202020204" pitchFamily="34" charset="0"/>
                      </a:endParaRPr>
                    </a:p>
                  </a:txBody>
                  <a:tcPr marL="36000" marR="36000" marT="36000" marB="36000" anchor="ctr">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1758237"/>
                  </a:ext>
                </a:extLst>
              </a:tr>
              <a:tr h="40719">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300" b="0" i="0" u="none" strike="noStrike" dirty="0">
                        <a:solidFill>
                          <a:schemeClr val="bg1"/>
                        </a:solidFill>
                        <a:effectLst/>
                        <a:latin typeface="+mn-lt"/>
                      </a:endParaRPr>
                    </a:p>
                  </a:txBody>
                  <a:tcPr marL="36000" marR="36000" marT="0" marB="0" anchor="ctr">
                    <a:lnL w="12700" cmpd="sng">
                      <a:noFill/>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300" b="0" i="0" u="none" strike="noStrike" dirty="0">
                        <a:solidFill>
                          <a:schemeClr val="bg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583170" rtl="0" eaLnBrk="1" fontAlgn="t" latinLnBrk="0" hangingPunct="1">
                        <a:lnSpc>
                          <a:spcPct val="100000"/>
                        </a:lnSpc>
                        <a:spcBef>
                          <a:spcPts val="0"/>
                        </a:spcBef>
                        <a:buFont typeface="Arial" panose="020B0604020202020204" pitchFamily="34" charset="0"/>
                        <a:buNone/>
                      </a:pPr>
                      <a:endParaRPr lang="en-US" sz="300" b="0" kern="1200" dirty="0">
                        <a:solidFill>
                          <a:schemeClr val="accent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300" b="0" i="0" u="none" strike="noStrike" dirty="0">
                        <a:solidFill>
                          <a:schemeClr val="bg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300" b="0" i="0" u="none" strike="noStrike" dirty="0">
                        <a:solidFill>
                          <a:schemeClr val="bg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pPr algn="l" fontAlgn="t"/>
                      <a:endParaRPr lang="en-US" sz="700" b="0" i="0" u="none" strike="noStrike" dirty="0">
                        <a:solidFill>
                          <a:schemeClr val="bg1"/>
                        </a:solidFill>
                        <a:effectLst/>
                        <a:latin typeface="Arial" panose="020B0604020202020204" pitchFamily="34" charset="0"/>
                        <a:cs typeface="Arial" panose="020B0604020202020204" pitchFamily="34"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300" b="0" i="0" u="none" strike="noStrike" dirty="0">
                        <a:solidFill>
                          <a:schemeClr val="bg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300" b="0" i="0" u="none" strike="noStrike" dirty="0">
                        <a:solidFill>
                          <a:schemeClr val="bg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9134461"/>
                  </a:ext>
                </a:extLst>
              </a:tr>
              <a:tr h="285034">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en-US" sz="1000" b="1" i="0" u="none" strike="noStrike" dirty="0">
                          <a:solidFill>
                            <a:schemeClr val="accent1"/>
                          </a:solidFill>
                          <a:effectLst/>
                          <a:latin typeface="+mn-lt"/>
                        </a:rPr>
                        <a:t xml:space="preserve">T&amp;A Program</a:t>
                      </a:r>
                      <a:r>
                        <a:rPr lang="en-US" sz="1000" b="1" i="0" u="none" strike="noStrike" baseline="0" dirty="0">
                          <a:solidFill>
                            <a:schemeClr val="accent1"/>
                          </a:solidFill>
                          <a:effectLst/>
                          <a:latin typeface="+mn-lt"/>
                        </a:rPr>
                        <a:t/>
                      </a:r>
                      <a:r>
                        <a:rPr lang="ru-RU" sz="1000" b="1" i="0" u="none" strike="noStrike" baseline="0" dirty="0">
                          <a:solidFill>
                            <a:schemeClr val="accent1"/>
                          </a:solidFill>
                          <a:effectLst/>
                          <a:latin typeface="+mn-lt"/>
                        </a:rPr>
                        <a:t/>
                      </a:r>
                      <a:endParaRPr lang="en-US" sz="1000" b="0" i="0" u="none" strike="noStrike" dirty="0">
                        <a:solidFill>
                          <a:schemeClr val="bg1"/>
                        </a:solidFill>
                        <a:effectLst/>
                        <a:latin typeface="+mn-lt"/>
                      </a:endParaRPr>
                    </a:p>
                  </a:txBody>
                  <a:tcPr marL="36000" marR="36000" marT="0" marB="0" anchor="ctr">
                    <a:lnL w="12700" cmpd="sng">
                      <a:noFill/>
                    </a:lnL>
                    <a:lnR w="12700" cap="flat" cmpd="sng" algn="ctr">
                      <a:noFill/>
                      <a:prstDash val="solid"/>
                      <a:round/>
                      <a:headEnd type="none" w="med" len="med"/>
                      <a:tailEnd type="none" w="med" len="med"/>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700" b="0" i="0" u="none" strike="noStrike" dirty="0">
                        <a:solidFill>
                          <a:schemeClr val="bg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ru-RU" sz="700" u="none" strike="noStrike" dirty="0">
                          <a:solidFill>
                            <a:schemeClr val="tx1"/>
                          </a:solidFill>
                          <a:effectLst/>
                          <a:latin typeface="+mn-lt"/>
                        </a:rPr>
                        <a:t xml:space="preserve">Type of training and topic of compliance session</a:t>
                      </a:r>
                      <a:r>
                        <a:rPr lang="ru-RU" sz="700" u="none" strike="noStrike" baseline="0" dirty="0">
                          <a:solidFill>
                            <a:schemeClr val="tx1"/>
                          </a:solidFill>
                          <a:effectLst/>
                          <a:latin typeface="+mn-lt"/>
                        </a:rPr>
                        <a:t/>
                      </a:r>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endParaRPr lang="en-US" sz="700" b="0" i="0" u="none" strike="noStrike" dirty="0">
                        <a:solidFill>
                          <a:schemeClr val="bg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ru-RU" sz="700" b="0" i="0" u="none" strike="noStrike" dirty="0" smtClean="0">
                          <a:solidFill>
                            <a:schemeClr val="tx1"/>
                          </a:solidFill>
                          <a:effectLst/>
                          <a:latin typeface="+mn-lt"/>
                          <a:cs typeface="Arial" panose="020B0604020202020204" pitchFamily="34" charset="0"/>
                        </a:rPr>
                        <a:t xml:space="preserve">Trained online for the period 2022-2024*</a:t>
                      </a:r>
                      <a:r>
                        <a:rPr lang="ru-RU" sz="700" b="0" i="0" u="none" strike="noStrike" baseline="0" dirty="0" smtClean="0">
                          <a:solidFill>
                            <a:schemeClr val="tx1"/>
                          </a:solidFill>
                          <a:effectLst/>
                          <a:latin typeface="+mn-lt"/>
                          <a:cs typeface="Arial" panose="020B0604020202020204" pitchFamily="34" charset="0"/>
                        </a:rPr>
                        <a:t/>
                      </a:r>
                      <a:r>
                        <a:rPr lang="ru-RU" sz="700" b="0" i="0" u="none" strike="noStrike" dirty="0" smtClean="0">
                          <a:solidFill>
                            <a:schemeClr val="tx1"/>
                          </a:solidFill>
                          <a:effectLst/>
                          <a:latin typeface="+mn-lt"/>
                          <a:cs typeface="Arial" panose="020B0604020202020204" pitchFamily="34" charset="0"/>
                        </a:rPr>
                        <a:t/>
                      </a:r>
                      <a:r>
                        <a:rPr lang="en-US" sz="700" b="0" i="0" u="none" strike="noStrike" dirty="0" smtClean="0">
                          <a:solidFill>
                            <a:schemeClr val="tx1"/>
                          </a:solidFill>
                          <a:effectLst/>
                          <a:latin typeface="+mn-lt"/>
                          <a:cs typeface="Arial" panose="020B0604020202020204" pitchFamily="34" charset="0"/>
                        </a:rPr>
                        <a:t/>
                      </a:r>
                      <a:r>
                        <a:rPr lang="ru-RU" sz="700" b="0" i="0" u="none" strike="noStrike" dirty="0" smtClean="0">
                          <a:solidFill>
                            <a:schemeClr val="tx1"/>
                          </a:solidFill>
                          <a:effectLst/>
                          <a:latin typeface="+mn-lt"/>
                          <a:cs typeface="Arial" panose="020B0604020202020204" pitchFamily="34" charset="0"/>
                        </a:rPr>
                        <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smtClean="0">
                          <a:solidFill>
                            <a:schemeClr val="tx1"/>
                          </a:solidFill>
                          <a:effectLst/>
                          <a:latin typeface="+mn-lt"/>
                          <a:cs typeface="Arial" panose="020B0604020202020204" pitchFamily="34" charset="0"/>
                        </a:rPr>
                        <a:t xml:space="preserve">Trained in 2025</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smtClean="0">
                          <a:solidFill>
                            <a:schemeClr val="tx1"/>
                          </a:solidFill>
                          <a:effectLst/>
                          <a:latin typeface="+mn-lt"/>
                          <a:cs typeface="Arial" panose="020B0604020202020204" pitchFamily="34" charset="0"/>
                        </a:rPr>
                        <a:t xml:space="preserve">Data correction (dismissal/rotation)</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baseline="0" dirty="0" smtClean="0">
                          <a:solidFill>
                            <a:schemeClr val="tx1"/>
                          </a:solidFill>
                          <a:effectLst/>
                          <a:latin typeface="+mn-lt"/>
                          <a:cs typeface="Arial" panose="020B0604020202020204" pitchFamily="34" charset="0"/>
                        </a:rPr>
                        <a:t xml:space="preserve">Total training of working PCCs / existing suppliers as of 12/31/2025</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algn="ctr" defTabSz="583170" rtl="0" eaLnBrk="1" fontAlgn="t" latinLnBrk="0" hangingPunct="1"/>
                      <a:r>
                        <a:rPr lang="ru-RU" sz="700" b="0" i="0" u="none" strike="noStrike" kern="1200" baseline="0" dirty="0" smtClean="0">
                          <a:solidFill>
                            <a:schemeClr val="tx1"/>
                          </a:solidFill>
                          <a:effectLst/>
                          <a:latin typeface="+mn-lt"/>
                          <a:ea typeface="+mn-ea"/>
                          <a:cs typeface="Arial" panose="020B0604020202020204" pitchFamily="34" charset="0"/>
                        </a:rPr>
                        <a:t xml:space="preserve">Coverage plan 2025</a:t>
                      </a:r>
                      <a:r>
                        <a:rPr lang="ru-RU" sz="700" b="0" i="0" u="none" strike="noStrike" kern="1200" baseline="0" dirty="0">
                          <a:solidFill>
                            <a:schemeClr val="tx1"/>
                          </a:solidFill>
                          <a:effectLst/>
                          <a:latin typeface="+mn-lt"/>
                          <a:ea typeface="+mn-ea"/>
                          <a:cs typeface="Arial" panose="020B0604020202020204" pitchFamily="34" charset="0"/>
                        </a:rPr>
                        <a:t/>
                      </a:r>
                      <a:r>
                        <a:rPr lang="ru-RU" sz="700" b="0" i="0" u="none" strike="noStrike" kern="1200" baseline="0" dirty="0" smtClean="0">
                          <a:solidFill>
                            <a:schemeClr val="tx1"/>
                          </a:solidFill>
                          <a:effectLst/>
                          <a:latin typeface="+mn-lt"/>
                          <a:ea typeface="+mn-ea"/>
                          <a:cs typeface="Arial" panose="020B0604020202020204" pitchFamily="34" charset="0"/>
                        </a:rPr>
                        <a:t/>
                      </a:r>
                      <a:endParaRPr lang="en-US" sz="700" b="0" i="0" u="none" strike="noStrike" kern="1200" baseline="0" dirty="0">
                        <a:solidFill>
                          <a:schemeClr val="tx1"/>
                        </a:solidFill>
                        <a:effectLst/>
                        <a:latin typeface="+mn-lt"/>
                        <a:ea typeface="+mn-ea"/>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fontAlgn="t"/>
                      <a:r>
                        <a:rPr lang="ru-RU" sz="700" b="0" i="0" u="none" strike="noStrike" dirty="0">
                          <a:solidFill>
                            <a:schemeClr val="tx1"/>
                          </a:solidFill>
                          <a:effectLst/>
                          <a:latin typeface="+mn-lt"/>
                          <a:cs typeface="Arial" panose="020B0604020202020204" pitchFamily="34" charset="0"/>
                        </a:rPr>
                        <a:t xml:space="preserve">% plan completion</a:t>
                      </a:r>
                      <a:endParaRPr lang="en-US" sz="700" b="0" i="0" u="none" strike="noStrike" dirty="0">
                        <a:solidFill>
                          <a:schemeClr val="tx1"/>
                        </a:solidFill>
                        <a:effectLst/>
                        <a:latin typeface="+mn-lt"/>
                        <a:cs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107203712"/>
                  </a:ext>
                </a:extLst>
              </a:tr>
              <a:tr h="190023">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1" i="0" u="none" strike="noStrike" kern="1200" cap="none" spc="0" normalizeH="0" baseline="0" noProof="0" dirty="0">
                          <a:ln>
                            <a:noFill/>
                          </a:ln>
                          <a:solidFill>
                            <a:srgbClr val="32373C"/>
                          </a:solidFill>
                          <a:effectLst/>
                          <a:uLnTx/>
                          <a:uFillTx/>
                          <a:latin typeface="+mn-lt"/>
                          <a:ea typeface="+mn-ea"/>
                          <a:cs typeface="+mn-cs"/>
                        </a:rPr>
                        <a:t xml:space="preserve">Project teams</a:t>
                      </a:r>
                      <a:endParaRPr lang="ru-RU" sz="700" dirty="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700" b="1"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r>
                        <a:rPr lang="ru-RU" sz="700" kern="1200" dirty="0">
                          <a:solidFill>
                            <a:schemeClr val="tx1"/>
                          </a:solidFill>
                          <a:latin typeface="+mn-lt"/>
                          <a:ea typeface="+mn-ea"/>
                          <a:cs typeface="+mn-cs"/>
                        </a:rPr>
                        <a:t xml:space="preserve">Specialized training for project teams (if necessary)</a:t>
                      </a:r>
                      <a:r>
                        <a:rPr lang="ru-RU" sz="700" kern="1200" baseline="0" dirty="0">
                          <a:solidFill>
                            <a:schemeClr val="tx1"/>
                          </a:solidFill>
                          <a:latin typeface="+mn-lt"/>
                          <a:ea typeface="+mn-ea"/>
                          <a:cs typeface="+mn-cs"/>
                        </a:rPr>
                        <a:t/>
                      </a:r>
                      <a:endParaRPr lang="en-US" sz="700" kern="1200" dirty="0">
                        <a:solidFill>
                          <a:schemeClr val="tx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endParaRPr lang="en-US" sz="700" kern="1200" dirty="0">
                        <a:solidFill>
                          <a:schemeClr val="tx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ru-RU" sz="700" b="0" i="0" u="none" strike="noStrike" dirty="0" smtClean="0">
                          <a:solidFill>
                            <a:schemeClr val="tx1"/>
                          </a:solidFill>
                          <a:effectLst/>
                          <a:latin typeface="+mn-lt"/>
                        </a:rPr>
                        <a:t>-</a:t>
                      </a:r>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en-US" sz="700" i="1" dirty="0">
                          <a:solidFill>
                            <a:schemeClr val="tx1"/>
                          </a:solidFill>
                          <a:latin typeface="+mn-lt"/>
                        </a:rPr>
                        <a:t xml:space="preserve">Ad hoc</a:t>
                      </a:r>
                      <a:endParaRPr lang="ru-RU" sz="700" i="1"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291607108"/>
                  </a:ext>
                </a:extLst>
              </a:tr>
              <a:tr h="95011">
                <a:tc rowSpan="2">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1" i="0" u="none" strike="noStrike" kern="1200" cap="none" spc="0" normalizeH="0" baseline="0" noProof="0" dirty="0">
                          <a:ln>
                            <a:noFill/>
                          </a:ln>
                          <a:solidFill>
                            <a:srgbClr val="32373C"/>
                          </a:solidFill>
                          <a:effectLst/>
                          <a:uLnTx/>
                          <a:uFillTx/>
                          <a:latin typeface="+mn-lt"/>
                          <a:ea typeface="+mn-ea"/>
                          <a:cs typeface="+mn-cs"/>
                        </a:rPr>
                        <a:t xml:space="preserve">Management</a:t>
                      </a:r>
                      <a:endParaRPr lang="en-US" sz="700" b="1"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endParaRPr lang="en-US" sz="700" b="0" i="0" u="none" strike="noStrike" dirty="0">
                        <a:solidFill>
                          <a:srgbClr val="0000FF"/>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r>
                        <a:rPr lang="ru-RU" sz="700" b="1" kern="1200" dirty="0">
                          <a:solidFill>
                            <a:schemeClr val="tx1"/>
                          </a:solidFill>
                          <a:latin typeface="+mn-lt"/>
                          <a:ea typeface="+mn-ea"/>
                          <a:cs typeface="+mn-cs"/>
                        </a:rPr>
                        <a:t xml:space="preserve">Introductory compliance risk session</a:t>
                      </a:r>
                      <a:endParaRPr lang="en-US" sz="700" b="1" kern="1200" dirty="0">
                        <a:solidFill>
                          <a:schemeClr val="tx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t" latinLnBrk="0" hangingPunct="1"/>
                      <a:endParaRPr lang="en-US" sz="700" b="1" kern="1200" dirty="0">
                        <a:solidFill>
                          <a:schemeClr val="tx1"/>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402467064"/>
                  </a:ext>
                </a:extLst>
              </a:tr>
              <a:tr h="95011">
                <a:tc vMerge="1">
                  <a:txBody>
                    <a:bodyPr/>
                    <a:lstStyle/>
                    <a:p>
                      <a:endParaRPr lang="ru-RU"/>
                    </a:p>
                  </a:txBody>
                  <a:tcPr/>
                </a:tc>
                <a:tc>
                  <a:txBody>
                    <a:bodyPr/>
                    <a:lstStyle/>
                    <a:p>
                      <a:endParaRPr lang="ru-RU" sz="700" dirty="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rgbClr val="32373C"/>
                          </a:solidFill>
                          <a:effectLst/>
                          <a:uLnTx/>
                          <a:uFillTx/>
                          <a:latin typeface="+mn-lt"/>
                          <a:ea typeface="+mn-ea"/>
                          <a:cs typeface="+mn-cs"/>
                        </a:rPr>
                        <a:t xml:space="preserve">Top management</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rgbClr val="32373C"/>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t" latinLnBrk="0" hangingPunct="1"/>
                      <a:endParaRPr lang="ru-RU" sz="700" u="none" strike="noStrike" kern="1200" dirty="0">
                        <a:solidFill>
                          <a:schemeClr val="tx1"/>
                        </a:solidFill>
                        <a:effectLst/>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t" latinLnBrk="0" hangingPunct="1"/>
                      <a:r>
                        <a:rPr lang="ru-RU" sz="700" u="none" strike="noStrike" kern="1200" dirty="0" smtClean="0">
                          <a:solidFill>
                            <a:schemeClr val="tx1"/>
                          </a:solidFill>
                          <a:effectLst/>
                          <a:latin typeface="+mn-lt"/>
                          <a:ea typeface="+mn-ea"/>
                          <a:cs typeface="+mn-cs"/>
                        </a:rPr>
                        <a:t>-</a:t>
                      </a:r>
                      <a:endParaRPr lang="ru-RU" sz="700" u="none" strike="noStrike" kern="1200" dirty="0">
                        <a:solidFill>
                          <a:schemeClr val="tx1"/>
                        </a:solidFill>
                        <a:effectLst/>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t" latinLnBrk="0" hangingPunct="1"/>
                      <a:endParaRPr lang="ru-RU" sz="700" u="none" strike="noStrike" kern="1200" dirty="0">
                        <a:solidFill>
                          <a:schemeClr val="tx1"/>
                        </a:solidFill>
                        <a:effectLst/>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r>
                        <a:rPr lang="en-US" sz="700" i="1" dirty="0">
                          <a:solidFill>
                            <a:schemeClr val="tx1"/>
                          </a:solidFill>
                          <a:latin typeface="+mn-lt"/>
                        </a:rPr>
                        <a:t xml:space="preserve">Ad hoc</a:t>
                      </a:r>
                      <a:endParaRPr lang="ru-RU" sz="700" i="1"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121508551"/>
                  </a:ext>
                </a:extLst>
              </a:tr>
              <a:tr h="95011">
                <a:tc rowSpan="21">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1" i="0" u="none" strike="noStrike" kern="1200" cap="none" spc="0" normalizeH="0" baseline="0" noProof="0" dirty="0">
                          <a:ln>
                            <a:noFill/>
                          </a:ln>
                          <a:solidFill>
                            <a:srgbClr val="32373C"/>
                          </a:solidFill>
                          <a:effectLst/>
                          <a:uLnTx/>
                          <a:uFillTx/>
                          <a:latin typeface="+mn-lt"/>
                          <a:ea typeface="+mn-ea"/>
                          <a:cs typeface="+mn-cs"/>
                        </a:rPr>
                        <a:t xml:space="preserve">Staff</a:t>
                      </a:r>
                      <a:endParaRPr lang="en-US" sz="700" b="1" i="0" u="none" strike="noStrike" dirty="0">
                        <a:solidFill>
                          <a:schemeClr val="tx1"/>
                        </a:solidFill>
                        <a:effectLst/>
                        <a:latin typeface="+mn-lt"/>
                      </a:endParaRP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accent3"/>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1" i="0" u="none" strike="noStrike" kern="1200" dirty="0">
                          <a:solidFill>
                            <a:schemeClr val="accent3"/>
                          </a:solidFill>
                          <a:effectLst/>
                          <a:latin typeface="+mn-lt"/>
                          <a:ea typeface="+mn-ea"/>
                          <a:cs typeface="+mn-cs"/>
                        </a:rPr>
                        <a:t xml:space="preserve">Online training</a:t>
                      </a:r>
                      <a:endParaRPr lang="en-US" sz="700" kern="1200" dirty="0">
                        <a:solidFill>
                          <a:schemeClr val="accent3"/>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700" kern="1200" dirty="0">
                        <a:solidFill>
                          <a:schemeClr val="accent3"/>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ru-RU" sz="700" dirty="0">
                        <a:solidFill>
                          <a:schemeClr val="tx1"/>
                        </a:solidFill>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2220146298"/>
                  </a:ext>
                </a:extLst>
              </a:tr>
              <a:tr h="103495">
                <a:tc vMerge="1">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lang="en-US" sz="800" b="1" i="0" u="none" strike="noStrike" dirty="0">
                        <a:solidFill>
                          <a:schemeClr val="tx1"/>
                        </a:solidFill>
                        <a:effectLst/>
                        <a:latin typeface="+mn-lt"/>
                      </a:endParaRPr>
                    </a:p>
                  </a:txBody>
                  <a:tcPr marL="18000" marR="1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 xml:space="preserve">ERG Code of Corporate Conduct</a:t>
                      </a:r>
                      <a:r>
                        <a:rPr kumimoji="0" lang="en-US" sz="700" b="0" i="0" u="none" strike="noStrike" kern="1200" cap="none" spc="0" normalizeH="0" baseline="0" dirty="0">
                          <a:ln>
                            <a:noFill/>
                          </a:ln>
                          <a:solidFill>
                            <a:schemeClr val="tx1"/>
                          </a:solidFill>
                          <a:effectLst/>
                          <a:uLnTx/>
                          <a:uFillTx/>
                          <a:latin typeface="+mn-lt"/>
                          <a:ea typeface="+mn-ea"/>
                          <a:cs typeface="+mn-cs"/>
                        </a:rPr>
                        <a:t/>
                      </a:r>
                      <a:endParaRPr lang="ru-RU" sz="700" baseline="30000" dirty="0">
                        <a:solidFill>
                          <a:schemeClr val="tx1"/>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accent3"/>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9 138</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smtClean="0">
                          <a:solidFill>
                            <a:srgbClr val="000000"/>
                          </a:solidFill>
                          <a:latin typeface="+mn-lt"/>
                          <a:ea typeface="+mn-ea"/>
                          <a:cs typeface="+mn-cs"/>
                        </a:rPr>
                        <a:t>5 437</a:t>
                      </a:r>
                      <a:endParaRPr lang="ru-RU" sz="700"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-1 394</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13 181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13 500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11065302"/>
                  </a:ext>
                </a:extLst>
              </a:tr>
              <a:tr h="103495">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583170" rtl="0" eaLnBrk="1" fontAlgn="auto" latinLnBrk="0" hangingPunct="1">
                        <a:lnSpc>
                          <a:spcPct val="100000"/>
                        </a:lnSpc>
                        <a:spcBef>
                          <a:spcPts val="0"/>
                        </a:spcBef>
                        <a:spcAft>
                          <a:spcPts val="0"/>
                        </a:spcAft>
                        <a:buClrTx/>
                        <a:buSzTx/>
                        <a:buFontTx/>
                        <a:buNone/>
                        <a:tabLst/>
                        <a:defRPr/>
                      </a:pPr>
                      <a:r>
                        <a:rPr lang="ru-RU" sz="700" i="1" dirty="0">
                          <a:solidFill>
                            <a:schemeClr val="tx1"/>
                          </a:solidFill>
                          <a:latin typeface="+mn-lt"/>
                        </a:rPr>
                        <a:t xml:space="preserve">Of these, key employees (within the framework of ESG goals)</a:t>
                      </a:r>
                      <a:r>
                        <a:rPr lang="en-US" sz="700" i="1" dirty="0">
                          <a:solidFill>
                            <a:schemeClr val="tx1"/>
                          </a:solidFill>
                          <a:latin typeface="+mn-lt"/>
                        </a:rPr>
                        <a:t/>
                      </a:r>
                      <a:endParaRPr lang="ru-RU" sz="700" i="1" dirty="0">
                        <a:solidFill>
                          <a:schemeClr val="tx1"/>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accent3"/>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i="1" kern="1200" dirty="0">
                          <a:solidFill>
                            <a:srgbClr val="000000"/>
                          </a:solidFill>
                          <a:latin typeface="+mn-lt"/>
                          <a:ea typeface="+mn-ea"/>
                          <a:cs typeface="+mn-cs"/>
                        </a:rPr>
                        <a:t>168</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i="1" kern="1200" dirty="0" smtClean="0">
                          <a:solidFill>
                            <a:srgbClr val="000000"/>
                          </a:solidFill>
                          <a:latin typeface="+mn-lt"/>
                          <a:ea typeface="+mn-ea"/>
                          <a:cs typeface="+mn-cs"/>
                        </a:rPr>
                        <a:t>113</a:t>
                      </a:r>
                      <a:endParaRPr lang="ru-RU" sz="700" i="1"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158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439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smtClean="0">
                          <a:solidFill>
                            <a:schemeClr val="tx1"/>
                          </a:solidFill>
                          <a:latin typeface="+mn-lt"/>
                          <a:ea typeface="+mn-ea"/>
                          <a:cs typeface="+mn-cs"/>
                        </a:rPr>
                        <a:t>447</a:t>
                      </a:r>
                      <a:endParaRPr lang="ru-RU" sz="700" kern="1200" baseline="30000" dirty="0">
                        <a:solidFill>
                          <a:schemeClr val="tx1"/>
                        </a:solidFill>
                        <a:latin typeface="+mn-lt"/>
                        <a:ea typeface="+mn-ea"/>
                        <a:cs typeface="+mn-cs"/>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676966537"/>
                  </a:ext>
                </a:extLst>
              </a:tr>
              <a:tr h="103495">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 xml:space="preserve">Respect for human rights</a:t>
                      </a:r>
                      <a:endParaRPr lang="ru-RU" sz="700" dirty="0">
                        <a:solidFill>
                          <a:schemeClr val="tx1"/>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accent3"/>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12 828</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smtClean="0">
                          <a:solidFill>
                            <a:srgbClr val="000000"/>
                          </a:solidFill>
                          <a:latin typeface="+mn-lt"/>
                          <a:ea typeface="+mn-ea"/>
                          <a:cs typeface="+mn-cs"/>
                        </a:rPr>
                        <a:t>2 054</a:t>
                      </a:r>
                      <a:endParaRPr lang="ru-RU" sz="700"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-1 649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13 233</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13 500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399442698"/>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583170" rtl="0" eaLnBrk="1" fontAlgn="auto" latinLnBrk="0" hangingPunct="1">
                        <a:lnSpc>
                          <a:spcPct val="100000"/>
                        </a:lnSpc>
                        <a:spcBef>
                          <a:spcPts val="0"/>
                        </a:spcBef>
                        <a:spcAft>
                          <a:spcPts val="0"/>
                        </a:spcAft>
                        <a:buClrTx/>
                        <a:buSzTx/>
                        <a:buFontTx/>
                        <a:buNone/>
                        <a:tabLst/>
                        <a:defRPr/>
                      </a:pPr>
                      <a:r>
                        <a:rPr lang="ru-RU" sz="700" i="1" dirty="0">
                          <a:solidFill>
                            <a:schemeClr val="tx1"/>
                          </a:solidFill>
                          <a:latin typeface="+mn-lt"/>
                        </a:rPr>
                        <a:t xml:space="preserve">Of these, key employees (within the framework of ESG goals)</a:t>
                      </a:r>
                      <a:r>
                        <a:rPr lang="en-US" sz="700" i="1" dirty="0">
                          <a:solidFill>
                            <a:schemeClr val="tx1"/>
                          </a:solidFill>
                          <a:latin typeface="+mn-lt"/>
                        </a:rPr>
                        <a:t/>
                      </a:r>
                      <a:endParaRPr lang="ru-RU" sz="700" i="1" dirty="0">
                        <a:solidFill>
                          <a:schemeClr val="tx1"/>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i="1" kern="1200" dirty="0">
                          <a:solidFill>
                            <a:srgbClr val="000000"/>
                          </a:solidFill>
                          <a:latin typeface="+mn-lt"/>
                          <a:ea typeface="+mn-ea"/>
                          <a:cs typeface="+mn-cs"/>
                        </a:rPr>
                        <a:t>235</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i="1" kern="1200" dirty="0" smtClean="0">
                          <a:solidFill>
                            <a:srgbClr val="000000"/>
                          </a:solidFill>
                          <a:latin typeface="+mn-lt"/>
                          <a:ea typeface="+mn-ea"/>
                          <a:cs typeface="+mn-cs"/>
                        </a:rPr>
                        <a:t>20</a:t>
                      </a:r>
                      <a:endParaRPr lang="ru-RU" sz="700" i="1"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190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445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smtClean="0">
                          <a:solidFill>
                            <a:schemeClr val="tx1"/>
                          </a:solidFill>
                          <a:latin typeface="+mn-lt"/>
                          <a:ea typeface="+mn-ea"/>
                          <a:cs typeface="+mn-cs"/>
                        </a:rPr>
                        <a:t>447</a:t>
                      </a:r>
                      <a:endParaRPr lang="ru-RU" sz="700" kern="1200" baseline="30000" dirty="0">
                        <a:solidFill>
                          <a:schemeClr val="tx1"/>
                        </a:solidFill>
                        <a:latin typeface="+mn-lt"/>
                        <a:ea typeface="+mn-ea"/>
                        <a:cs typeface="+mn-cs"/>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99,55%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04234709"/>
                  </a:ext>
                </a:extLst>
              </a:tr>
              <a:tr h="103495">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 xml:space="preserve">Personal data protection</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chemeClr val="accent3"/>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12 351</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smtClean="0">
                          <a:solidFill>
                            <a:srgbClr val="000000"/>
                          </a:solidFill>
                          <a:latin typeface="+mn-lt"/>
                          <a:ea typeface="+mn-ea"/>
                          <a:cs typeface="+mn-cs"/>
                        </a:rPr>
                        <a:t>2 679</a:t>
                      </a:r>
                      <a:endParaRPr lang="ru-RU" sz="700"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-1 845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13 185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13 500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467679166"/>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solidFill>
                            <a:schemeClr val="tx1"/>
                          </a:solidFill>
                          <a:latin typeface="+mn-lt"/>
                        </a:rPr>
                        <a:t xml:space="preserve">Conflict of interest</a:t>
                      </a:r>
                      <a:endParaRPr kumimoji="0" lang="ru-RU" sz="700" b="0" i="0" u="none" strike="noStrike" kern="1200" cap="none" spc="0" normalizeH="0" baseline="0" dirty="0">
                        <a:ln>
                          <a:noFill/>
                        </a:ln>
                        <a:solidFill>
                          <a:schemeClr val="tx1"/>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12 184</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smtClean="0">
                          <a:solidFill>
                            <a:srgbClr val="000000"/>
                          </a:solidFill>
                          <a:latin typeface="+mn-lt"/>
                          <a:ea typeface="+mn-ea"/>
                          <a:cs typeface="+mn-cs"/>
                        </a:rPr>
                        <a:t>2 616</a:t>
                      </a:r>
                      <a:endParaRPr lang="ru-RU" sz="700" kern="1200" dirty="0">
                        <a:solidFill>
                          <a:srgbClr val="000000"/>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-1 618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13 182</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13 500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98%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523866953"/>
                  </a:ext>
                </a:extLst>
              </a:tr>
              <a:tr h="103495">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chemeClr val="accent3"/>
                          </a:solidFill>
                          <a:latin typeface="+mn-lt"/>
                          <a:ea typeface="+mn-ea"/>
                          <a:cs typeface="+mn-cs"/>
                        </a:rPr>
                        <a:t xml:space="preserve">Anti-bribery and corruption</a:t>
                      </a:r>
                      <a:r>
                        <a:rPr lang="ru-RU" sz="700" b="0" kern="1200" dirty="0" smtClean="0">
                          <a:solidFill>
                            <a:schemeClr val="accent3"/>
                          </a:solidFill>
                          <a:latin typeface="+mn-lt"/>
                          <a:ea typeface="+mn-ea"/>
                          <a:cs typeface="+mn-cs"/>
                        </a:rPr>
                        <a:t/>
                      </a:r>
                      <a:endParaRPr kumimoji="0" lang="ru-RU" sz="700" b="0" i="0" u="none" strike="noStrike" kern="1200" cap="none" spc="0" normalizeH="0" baseline="30000" dirty="0">
                        <a:ln>
                          <a:noFill/>
                        </a:ln>
                        <a:solidFill>
                          <a:schemeClr val="accent3"/>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chemeClr val="accent3"/>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rgbClr val="000000"/>
                          </a:solidFill>
                          <a:latin typeface="+mn-lt"/>
                          <a:ea typeface="+mn-ea"/>
                          <a:cs typeface="+mn-cs"/>
                        </a:rPr>
                        <a:t>4</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smtClean="0">
                          <a:solidFill>
                            <a:srgbClr val="000000"/>
                          </a:solidFill>
                          <a:latin typeface="+mn-lt"/>
                          <a:ea typeface="+mn-ea"/>
                          <a:cs typeface="+mn-cs"/>
                        </a:rPr>
                        <a:t>1</a:t>
                      </a:r>
                      <a:r>
                        <a:rPr lang="ru-RU" sz="700" kern="1200" baseline="0" dirty="0" smtClean="0">
                          <a:solidFill>
                            <a:srgbClr val="000000"/>
                          </a:solidFill>
                          <a:latin typeface="+mn-lt"/>
                          <a:ea typeface="+mn-ea"/>
                          <a:cs typeface="+mn-cs"/>
                        </a:rPr>
                        <a:t> 486</a:t>
                      </a:r>
                      <a:endParaRPr lang="ru-RU" sz="700" kern="1200" dirty="0">
                        <a:solidFill>
                          <a:srgbClr val="000000"/>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-56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1 434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kern="1200" dirty="0">
                          <a:solidFill>
                            <a:schemeClr val="tx1"/>
                          </a:solidFill>
                          <a:latin typeface="+mn-lt"/>
                          <a:ea typeface="+mn-ea"/>
                          <a:cs typeface="+mn-cs"/>
                        </a:rPr>
                        <a:t>1 </a:t>
                      </a:r>
                      <a:r>
                        <a:rPr lang="ru-RU" sz="700" kern="1200" dirty="0" smtClean="0">
                          <a:solidFill>
                            <a:schemeClr val="tx1"/>
                          </a:solidFill>
                          <a:latin typeface="+mn-lt"/>
                          <a:ea typeface="+mn-ea"/>
                          <a:cs typeface="+mn-cs"/>
                        </a:rPr>
                        <a:t>729</a:t>
                      </a:r>
                      <a:endParaRPr lang="ru-RU" sz="700" kern="1200" baseline="30000" dirty="0">
                        <a:solidFill>
                          <a:schemeClr val="tx1"/>
                        </a:solidFill>
                        <a:latin typeface="+mn-lt"/>
                        <a:ea typeface="+mn-ea"/>
                        <a:cs typeface="+mn-cs"/>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kern="1200" dirty="0">
                          <a:solidFill>
                            <a:schemeClr val="tx1"/>
                          </a:solidFill>
                          <a:latin typeface="+mn-lt"/>
                          <a:ea typeface="+mn-ea"/>
                          <a:cs typeface="+mn-cs"/>
                        </a:rPr>
                        <a:t>83%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506854652"/>
                  </a:ext>
                </a:extLst>
              </a:tr>
              <a:tr h="95011">
                <a:tc vMerge="1">
                  <a:txBody>
                    <a:bodyPr/>
                    <a:lstStyle/>
                    <a:p>
                      <a:endParaRPr lang="ru-RU"/>
                    </a:p>
                  </a:txBody>
                  <a:tcPr/>
                </a:tc>
                <a:tc>
                  <a:txBody>
                    <a:bodyPr/>
                    <a:lstStyle/>
                    <a:p>
                      <a:endParaRPr lang="ru-RU" sz="700" dirty="0">
                        <a:solidFill>
                          <a:schemeClr val="accent3"/>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1" i="0" u="none" strike="noStrike" kern="1200" dirty="0">
                          <a:solidFill>
                            <a:schemeClr val="accent3"/>
                          </a:solidFill>
                          <a:effectLst/>
                          <a:latin typeface="+mn-lt"/>
                          <a:ea typeface="+mn-ea"/>
                          <a:cs typeface="+mn-cs"/>
                        </a:rPr>
                        <a:t xml:space="preserve">Face-to-face compliance sessions/trainings</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latinLnBrk="0" hangingPunct="1"/>
                      <a:endParaRPr lang="ru-RU" sz="700" b="1" kern="1200" dirty="0">
                        <a:solidFill>
                          <a:schemeClr val="accent3"/>
                        </a:solidFill>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chemeClr val="tx1"/>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chemeClr val="tx1"/>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chemeClr val="tx1"/>
                        </a:solidFill>
                        <a:effectLst/>
                        <a:uLnTx/>
                        <a:uFillTx/>
                        <a:latin typeface="+mn-lt"/>
                        <a:ea typeface="+mn-ea"/>
                        <a:cs typeface="+mn-cs"/>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2327559550"/>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 xml:space="preserve">Third party risks (CSR, CCP, incl. CL, Sanctions, ABC, AML, DP, HR)</a:t>
                      </a:r>
                      <a:r>
                        <a:rPr kumimoji="0" lang="en-US" sz="700" b="0" i="0" u="none" strike="noStrike" kern="1200" cap="none" spc="0" normalizeH="0" baseline="0" dirty="0">
                          <a:ln>
                            <a:noFill/>
                          </a:ln>
                          <a:solidFill>
                            <a:schemeClr val="tx1"/>
                          </a:solidFill>
                          <a:effectLst/>
                          <a:uLnTx/>
                          <a:uFillTx/>
                          <a:latin typeface="+mn-lt"/>
                          <a:ea typeface="+mn-ea"/>
                          <a:cs typeface="+mn-cs"/>
                        </a:rPr>
                        <a:t/>
                      </a:r>
                      <a:r>
                        <a:rPr kumimoji="0" lang="ru-RU" sz="700" b="0" i="0" u="none" strike="noStrike" kern="1200" cap="none" spc="0" normalizeH="0" baseline="0" dirty="0">
                          <a:ln>
                            <a:noFill/>
                          </a:ln>
                          <a:solidFill>
                            <a:schemeClr val="tx1"/>
                          </a:solidFill>
                          <a:effectLst/>
                          <a:uLnTx/>
                          <a:uFillTx/>
                          <a:latin typeface="+mn-lt"/>
                          <a:ea typeface="+mn-ea"/>
                          <a:cs typeface="+mn-cs"/>
                        </a:rPr>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736</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836</a:t>
                      </a:r>
                      <a:endParaRPr lang="ru-RU" sz="700" b="0" i="0" u="none" strike="noStrike" baseline="30000"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88%</a:t>
                      </a: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783030224"/>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 xml:space="preserve">Compliance 2.2 system rules</a:t>
                      </a:r>
                      <a:r>
                        <a:rPr kumimoji="0" lang="en-US" sz="700" b="0" i="0" u="none" strike="noStrike" kern="1200" cap="none" spc="0" normalizeH="0" baseline="0" dirty="0">
                          <a:ln>
                            <a:noFill/>
                          </a:ln>
                          <a:solidFill>
                            <a:schemeClr val="tx1"/>
                          </a:solidFill>
                          <a:effectLst/>
                          <a:uLnTx/>
                          <a:uFillTx/>
                          <a:latin typeface="+mn-lt"/>
                          <a:ea typeface="+mn-ea"/>
                          <a:cs typeface="+mn-cs"/>
                        </a:rPr>
                        <a:t/>
                      </a:r>
                      <a:r>
                        <a:rPr kumimoji="0" lang="ru-RU" sz="700" b="0" i="0" u="none" strike="noStrike" kern="1200" cap="none" spc="0" normalizeH="0" baseline="0" dirty="0">
                          <a:ln>
                            <a:noFill/>
                          </a:ln>
                          <a:solidFill>
                            <a:schemeClr val="tx1"/>
                          </a:solidFill>
                          <a:effectLst/>
                          <a:uLnTx/>
                          <a:uFillTx/>
                          <a:latin typeface="+mn-lt"/>
                          <a:ea typeface="+mn-ea"/>
                          <a:cs typeface="+mn-cs"/>
                        </a:rPr>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smtClean="0">
                          <a:solidFill>
                            <a:schemeClr val="tx1"/>
                          </a:solidFill>
                          <a:latin typeface="+mn-lt"/>
                          <a:ea typeface="+mn-ea"/>
                          <a:cs typeface="+mn-cs"/>
                        </a:rPr>
                        <a:t>-</a:t>
                      </a:r>
                      <a:endParaRPr lang="ru-RU" sz="700" kern="1200" dirty="0">
                        <a:solidFill>
                          <a:schemeClr val="tx1"/>
                        </a:solidFill>
                        <a:latin typeface="+mn-lt"/>
                        <a:ea typeface="+mn-ea"/>
                        <a:cs typeface="+mn-cs"/>
                      </a:endParaRP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en-US" sz="700" b="0" i="1" u="none" strike="noStrike">
                          <a:solidFill>
                            <a:schemeClr val="tx1"/>
                          </a:solidFill>
                          <a:effectLst/>
                          <a:latin typeface="Arial" panose="020B0604020202020204" pitchFamily="34" charset="0"/>
                        </a:rPr>
                        <a:t xml:space="preserve">Ad hoc</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280912008"/>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 xml:space="preserve">Results of self-testing of the PDA and Compliance Sheet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28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en-US" sz="700" b="0" i="1" u="none" strike="noStrike">
                          <a:solidFill>
                            <a:schemeClr val="tx1"/>
                          </a:solidFill>
                          <a:effectLst/>
                          <a:latin typeface="Arial" panose="020B0604020202020204" pitchFamily="34" charset="0"/>
                        </a:rPr>
                        <a:t xml:space="preserve">Ad hoc</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715533612"/>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chemeClr val="accent3"/>
                          </a:solidFill>
                          <a:latin typeface="+mn-lt"/>
                          <a:ea typeface="+mn-ea"/>
                          <a:cs typeface="+mn-cs"/>
                        </a:rPr>
                        <a:t xml:space="preserve">Personal data protection</a:t>
                      </a:r>
                      <a:r>
                        <a:rPr lang="ru-RU" sz="700" b="0" kern="1200" dirty="0" smtClean="0">
                          <a:solidFill>
                            <a:schemeClr val="accent3"/>
                          </a:solidFill>
                          <a:latin typeface="+mn-lt"/>
                          <a:ea typeface="+mn-ea"/>
                          <a:cs typeface="+mn-cs"/>
                        </a:rPr>
                        <a:t/>
                      </a:r>
                      <a:endParaRPr kumimoji="0" lang="ru-RU" sz="700" b="0" i="0" u="none" strike="sngStrike" kern="1200" cap="none" spc="0" normalizeH="0" baseline="0" dirty="0">
                        <a:ln>
                          <a:noFill/>
                        </a:ln>
                        <a:solidFill>
                          <a:srgbClr val="0070C0"/>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a:solidFill>
                          <a:srgbClr val="FF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20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en-US" sz="700" b="0" i="1" u="none" strike="noStrike" dirty="0">
                          <a:solidFill>
                            <a:schemeClr val="tx1"/>
                          </a:solidFill>
                          <a:effectLst/>
                          <a:latin typeface="Arial" panose="020B0604020202020204" pitchFamily="34" charset="0"/>
                        </a:rPr>
                        <a:t xml:space="preserve">Ad hoc</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606770721"/>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latinLnBrk="0" hangingPunct="1"/>
                      <a:r>
                        <a:rPr lang="ru-RU" sz="700" b="0" kern="1200" dirty="0" smtClean="0">
                          <a:solidFill>
                            <a:schemeClr val="accent3"/>
                          </a:solidFill>
                          <a:latin typeface="+mn-lt"/>
                          <a:ea typeface="+mn-ea"/>
                          <a:cs typeface="+mn-cs"/>
                        </a:rPr>
                        <a:t xml:space="preserve">Discussion of the Compliance Report (dashboard) with the CEO of Perimeter Kazakhstan, Divisions, TG, MCE</a:t>
                      </a:r>
                      <a:r>
                        <a:rPr lang="ru-RU" sz="700" b="0" kern="1200" dirty="0" err="1" smtClean="0">
                          <a:solidFill>
                            <a:schemeClr val="accent3"/>
                          </a:solidFill>
                          <a:latin typeface="+mn-lt"/>
                          <a:ea typeface="+mn-ea"/>
                          <a:cs typeface="+mn-cs"/>
                        </a:rPr>
                        <a:t/>
                      </a:r>
                      <a:r>
                        <a:rPr lang="ru-RU" sz="700" b="0" kern="1200" dirty="0" smtClean="0">
                          <a:solidFill>
                            <a:schemeClr val="accent3"/>
                          </a:solidFill>
                          <a:latin typeface="+mn-lt"/>
                          <a:ea typeface="+mn-ea"/>
                          <a:cs typeface="+mn-cs"/>
                        </a:rPr>
                        <a:t/>
                      </a:r>
                      <a:endParaRPr lang="ru-RU" sz="700" b="0" kern="1200" dirty="0">
                        <a:solidFill>
                          <a:schemeClr val="accent3"/>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94</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en-US" sz="700" b="0" i="1" u="none" strike="noStrike" dirty="0" smtClean="0">
                          <a:solidFill>
                            <a:schemeClr val="tx1"/>
                          </a:solidFill>
                          <a:effectLst/>
                          <a:latin typeface="Arial" panose="020B0604020202020204" pitchFamily="34" charset="0"/>
                        </a:rPr>
                        <a:t xml:space="preserve">Ad hoc</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859995729"/>
                  </a:ext>
                </a:extLst>
              </a:tr>
              <a:tr h="285034">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latinLnBrk="0" hangingPunct="1"/>
                      <a:r>
                        <a:rPr lang="ru-RU" sz="700" b="1" kern="1200" dirty="0" smtClean="0">
                          <a:solidFill>
                            <a:schemeClr val="accent1"/>
                          </a:solidFill>
                          <a:latin typeface="+mn-lt"/>
                          <a:ea typeface="+mn-ea"/>
                          <a:cs typeface="+mn-cs"/>
                        </a:rPr>
                        <a:t xml:space="preserve">Ethics and Compliance Day of the KZ Perimeter (online quiz, offline QUIZ, offline event at the EEC JSC site: Tone from Above session, panel discussion, solution of situational cases on compliance risks at the practical session “Ethics in Action”)</a:t>
                      </a:r>
                      <a:r>
                        <a:rPr lang="ru-RU" sz="700" b="0" kern="1200" dirty="0" smtClean="0">
                          <a:solidFill>
                            <a:schemeClr val="tx1"/>
                          </a:solidFill>
                          <a:latin typeface="+mn-lt"/>
                          <a:ea typeface="+mn-ea"/>
                          <a:cs typeface="+mn-cs"/>
                        </a:rPr>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204</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lang="en-US" sz="700" b="0" i="1" u="none" strike="noStrike" dirty="0" smtClean="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834109762"/>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latinLnBrk="0" hangingPunct="1"/>
                      <a:r>
                        <a:rPr lang="ru-RU" sz="700" b="1" kern="1200" dirty="0">
                          <a:solidFill>
                            <a:schemeClr val="accent3"/>
                          </a:solidFill>
                          <a:latin typeface="+mn-lt"/>
                          <a:ea typeface="+mn-ea"/>
                          <a:cs typeface="+mn-cs"/>
                        </a:rPr>
                        <a:t xml:space="preserve">Compliance communications (number of communications)</a:t>
                      </a:r>
                      <a:r>
                        <a:rPr lang="ru-RU" sz="700" b="1" kern="1200" dirty="0" smtClean="0">
                          <a:solidFill>
                            <a:schemeClr val="accent3"/>
                          </a:solidFill>
                          <a:latin typeface="+mn-lt"/>
                          <a:ea typeface="+mn-ea"/>
                          <a:cs typeface="+mn-cs"/>
                        </a:rPr>
                        <a:t/>
                      </a:r>
                      <a:endParaRPr lang="ru-RU" sz="700" b="1" kern="1200" dirty="0">
                        <a:solidFill>
                          <a:schemeClr val="accent3"/>
                        </a:solidFill>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ru-RU" sz="700" kern="1200" dirty="0">
                        <a:solidFill>
                          <a:schemeClr val="tx1"/>
                        </a:solidFill>
                        <a:latin typeface="+mn-lt"/>
                        <a:ea typeface="+mn-ea"/>
                        <a:cs typeface="+mn-cs"/>
                      </a:endParaRPr>
                    </a:p>
                  </a:txBody>
                  <a:tcPr marL="9525" marR="9525" marT="9525" marB="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fontAlgn="b"/>
                      <a:endParaRPr lang="ru-RU" sz="700" b="0" i="0" u="none" strike="noStrike">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b"/>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52111690"/>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accent3"/>
                          </a:solidFill>
                          <a:effectLst/>
                          <a:uLnTx/>
                          <a:uFillTx/>
                          <a:latin typeface="+mn-lt"/>
                          <a:ea typeface="+mn-ea"/>
                          <a:cs typeface="+mn-cs"/>
                        </a:rPr>
                        <a:t xml:space="preserve">About sanctions</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426324182"/>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 xml:space="preserve">Other communications (Compliance 2.2, CPDD, DP, WBS, G&amp;E, CoI)</a:t>
                      </a:r>
                      <a:r>
                        <a:rPr kumimoji="0" lang="en-US" sz="700" b="0" i="0" u="none" strike="noStrike" kern="1200" cap="none" spc="0" normalizeH="0" baseline="0" dirty="0">
                          <a:ln>
                            <a:noFill/>
                          </a:ln>
                          <a:solidFill>
                            <a:schemeClr val="tx1"/>
                          </a:solidFill>
                          <a:effectLst/>
                          <a:uLnTx/>
                          <a:uFillTx/>
                          <a:latin typeface="+mn-lt"/>
                          <a:ea typeface="+mn-ea"/>
                          <a:cs typeface="+mn-cs"/>
                        </a:rPr>
                        <a:t/>
                      </a:r>
                      <a:r>
                        <a:rPr kumimoji="0" lang="ru-RU" sz="700" b="0" i="0" u="none" strike="noStrike" kern="1200" cap="none" spc="0" normalizeH="0" baseline="0" dirty="0">
                          <a:ln>
                            <a:noFill/>
                          </a:ln>
                          <a:solidFill>
                            <a:schemeClr val="tx1"/>
                          </a:solidFill>
                          <a:effectLst/>
                          <a:uLnTx/>
                          <a:uFillTx/>
                          <a:latin typeface="+mn-lt"/>
                          <a:ea typeface="+mn-ea"/>
                          <a:cs typeface="+mn-cs"/>
                        </a:rPr>
                        <a:t/>
                      </a:r>
                      <a:r>
                        <a:rPr kumimoji="0" lang="en-US" sz="700" b="0" i="0" u="none" strike="noStrike" kern="1200" cap="none" spc="0" normalizeH="0" baseline="0" dirty="0" err="1">
                          <a:ln>
                            <a:noFill/>
                          </a:ln>
                          <a:solidFill>
                            <a:schemeClr val="tx1"/>
                          </a:solidFill>
                          <a:effectLst/>
                          <a:uLnTx/>
                          <a:uFillTx/>
                          <a:latin typeface="+mn-lt"/>
                          <a:ea typeface="+mn-ea"/>
                          <a:cs typeface="+mn-cs"/>
                        </a:rPr>
                        <a:t/>
                      </a:r>
                      <a:r>
                        <a:rPr kumimoji="0" lang="en-US" sz="700" b="0" i="0" u="none" strike="noStrike" kern="1200" cap="none" spc="0" normalizeH="0" baseline="0" dirty="0">
                          <a:ln>
                            <a:noFill/>
                          </a:ln>
                          <a:solidFill>
                            <a:schemeClr val="tx1"/>
                          </a:solidFill>
                          <a:effectLst/>
                          <a:uLnTx/>
                          <a:uFillTx/>
                          <a:latin typeface="+mn-lt"/>
                          <a:ea typeface="+mn-ea"/>
                          <a:cs typeface="+mn-cs"/>
                        </a:rPr>
                        <a:t/>
                      </a:r>
                      <a:endParaRPr kumimoji="0" lang="ru-RU" sz="700" b="0" i="0" u="none" strike="noStrike" kern="1200" cap="none" spc="0" normalizeH="0" baseline="0" dirty="0">
                        <a:ln>
                          <a:noFill/>
                        </a:ln>
                        <a:solidFill>
                          <a:schemeClr val="accent3"/>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7</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7</a:t>
                      </a: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100%</a:t>
                      </a: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769993056"/>
                  </a:ext>
                </a:extLst>
              </a:tr>
              <a:tr h="103495">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smtClean="0">
                          <a:ln>
                            <a:noFill/>
                          </a:ln>
                          <a:solidFill>
                            <a:schemeClr val="tx1"/>
                          </a:solidFill>
                          <a:effectLst/>
                          <a:uLnTx/>
                          <a:uFillTx/>
                          <a:latin typeface="+mn-lt"/>
                          <a:ea typeface="+mn-ea"/>
                          <a:cs typeface="+mn-cs"/>
                        </a:rPr>
                        <a:t xml:space="preserve">Unscheduled G&amp;E communication</a:t>
                      </a:r>
                      <a:r>
                        <a:rPr kumimoji="0" lang="en-US" sz="700" b="0" i="0" u="none" strike="noStrike" kern="1200" cap="none" spc="0" normalizeH="0" baseline="0" dirty="0" smtClean="0">
                          <a:ln>
                            <a:noFill/>
                          </a:ln>
                          <a:solidFill>
                            <a:schemeClr val="tx1"/>
                          </a:solidFill>
                          <a:effectLst/>
                          <a:uLnTx/>
                          <a:uFillTx/>
                          <a:latin typeface="+mn-lt"/>
                          <a:ea typeface="+mn-ea"/>
                          <a:cs typeface="+mn-cs"/>
                        </a:rPr>
                        <a:t/>
                      </a:r>
                      <a:endParaRPr kumimoji="0" lang="ru-RU" sz="700" b="0" i="0" u="none" strike="noStrike" kern="1200" cap="none" spc="0" normalizeH="0" baseline="0" dirty="0">
                        <a:ln>
                          <a:noFill/>
                        </a:ln>
                        <a:solidFill>
                          <a:schemeClr val="tx1"/>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endParaRPr lang="ru-RU" sz="700" b="0" i="0" u="none" strike="noStrike">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42620449"/>
                  </a:ext>
                </a:extLst>
              </a:tr>
              <a:tr h="190023">
                <a:tc vMerge="1">
                  <a:txBody>
                    <a:bodyPr/>
                    <a:lstStyle/>
                    <a:p>
                      <a:endParaRPr lang="ru-RU"/>
                    </a:p>
                  </a:txBody>
                  <a:tcPr/>
                </a:tc>
                <a:tc>
                  <a:txBody>
                    <a:bodyPr/>
                    <a:lstStyle/>
                    <a:p>
                      <a:endParaRPr lang="ru-RU" sz="700" dirty="0">
                        <a:solidFill>
                          <a:schemeClr val="tx1"/>
                        </a:solidFill>
                      </a:endParaRPr>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1" i="0" u="none" strike="noStrike" kern="1200" cap="none" spc="0" normalizeH="0" baseline="0" dirty="0" smtClean="0">
                          <a:ln>
                            <a:noFill/>
                          </a:ln>
                          <a:solidFill>
                            <a:schemeClr val="accent1"/>
                          </a:solidFill>
                          <a:effectLst/>
                          <a:uLnTx/>
                          <a:uFillTx/>
                          <a:latin typeface="+mn-lt"/>
                          <a:ea typeface="+mn-ea"/>
                          <a:cs typeface="+mn-cs"/>
                        </a:rPr>
                        <a:t xml:space="preserve">Additionally for Ethics and Compliance Day:</a:t>
                      </a:r>
                    </a:p>
                    <a:p>
                      <a:pPr marL="88900" marR="0" lvl="0" indent="-8890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ru-RU" sz="700" b="0" i="0" u="none" strike="noStrike" kern="1200" cap="none" spc="0" normalizeH="0" baseline="0" dirty="0" smtClean="0">
                          <a:ln>
                            <a:noFill/>
                          </a:ln>
                          <a:solidFill>
                            <a:schemeClr val="tx1"/>
                          </a:solidFill>
                          <a:effectLst/>
                          <a:uLnTx/>
                          <a:uFillTx/>
                          <a:latin typeface="+mn-lt"/>
                          <a:ea typeface="+mn-ea"/>
                          <a:cs typeface="+mn-cs"/>
                        </a:rPr>
                        <a:t xml:space="preserve">Tone from above (address from the CEO of Perimeter, joint article by the Heads of Divisions, TG, MCE, video interview with CEO-1)</a:t>
                      </a:r>
                      <a:r>
                        <a:rPr kumimoji="0" lang="en-US" sz="700" b="0" i="0" u="none" strike="noStrike" kern="1200" cap="none" spc="0" normalizeH="0" baseline="0" dirty="0" smtClean="0">
                          <a:ln>
                            <a:noFill/>
                          </a:ln>
                          <a:solidFill>
                            <a:schemeClr val="tx1"/>
                          </a:solidFill>
                          <a:effectLst/>
                          <a:uLnTx/>
                          <a:uFillTx/>
                          <a:latin typeface="+mn-lt"/>
                          <a:ea typeface="+mn-ea"/>
                          <a:cs typeface="+mn-cs"/>
                        </a:rPr>
                        <a:t/>
                      </a:r>
                      <a:r>
                        <a:rPr kumimoji="0" lang="ru-RU" sz="700" b="0" i="0" u="none" strike="noStrike" kern="1200" cap="none" spc="0" normalizeH="0" baseline="0" dirty="0" smtClean="0">
                          <a:ln>
                            <a:noFill/>
                          </a:ln>
                          <a:solidFill>
                            <a:schemeClr val="tx1"/>
                          </a:solidFill>
                          <a:effectLst/>
                          <a:uLnTx/>
                          <a:uFillTx/>
                          <a:latin typeface="+mn-lt"/>
                          <a:ea typeface="+mn-ea"/>
                          <a:cs typeface="+mn-cs"/>
                        </a:rPr>
                        <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3</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RU" sz="700" b="0" i="1" u="none" strike="noStrike" dirty="0" smtClean="0">
                          <a:solidFill>
                            <a:schemeClr val="tx1"/>
                          </a:solidFill>
                          <a:effectLst/>
                          <a:latin typeface="Arial" panose="020B0604020202020204" pitchFamily="34" charset="0"/>
                        </a:rPr>
                        <a:t>1</a:t>
                      </a:r>
                      <a:endParaRPr lang="en-US" sz="700" b="0" i="1" u="none" strike="noStrike" dirty="0" smtClean="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smtClean="0">
                          <a:solidFill>
                            <a:schemeClr val="tx1"/>
                          </a:solidFill>
                          <a:effectLst/>
                          <a:latin typeface="Arial" panose="020B0604020202020204" pitchFamily="34" charset="0"/>
                        </a:rPr>
                        <a:t>300%</a:t>
                      </a: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31819797"/>
                  </a:ext>
                </a:extLst>
              </a:tr>
              <a:tr h="190023">
                <a:tc vMerge="1">
                  <a:txBody>
                    <a:bodyPr/>
                    <a:lstStyle/>
                    <a:p>
                      <a:endParaRPr lang="ru-RU"/>
                    </a:p>
                  </a:txBody>
                  <a:tcPr/>
                </a:tc>
                <a:tc>
                  <a:txBody>
                    <a:bodyPr/>
                    <a:lstStyle/>
                    <a:p>
                      <a:endParaRPr lang="ru-RU" sz="700" dirty="0"/>
                    </a:p>
                  </a:txBody>
                  <a:tcPr marL="36000" marR="36000" marT="0" marB="0">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58317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kumimoji="0" lang="ru-RU" sz="700" b="0" i="0" u="none" strike="noStrike" kern="1200" cap="none" spc="0" normalizeH="0" baseline="0" dirty="0" smtClean="0">
                          <a:ln>
                            <a:noFill/>
                          </a:ln>
                          <a:solidFill>
                            <a:schemeClr val="tx1"/>
                          </a:solidFill>
                          <a:effectLst/>
                          <a:uLnTx/>
                          <a:uFillTx/>
                          <a:latin typeface="+mn-lt"/>
                          <a:ea typeface="+mn-ea"/>
                          <a:cs typeface="+mn-cs"/>
                        </a:rPr>
                        <a:t xml:space="preserve">Announcement of communications, video blitz survey of employees, online quiz results, Quiz results, thematic design: photo zone, toppers, stickers, prizes</a:t>
                      </a:r>
                      <a:r>
                        <a:rPr kumimoji="0" lang="ru-RU" sz="700" b="0" i="0" u="none" strike="noStrike" kern="1200" cap="none" spc="0" normalizeH="0" baseline="0" dirty="0" err="1" smtClean="0">
                          <a:ln>
                            <a:noFill/>
                          </a:ln>
                          <a:solidFill>
                            <a:schemeClr val="tx1"/>
                          </a:solidFill>
                          <a:effectLst/>
                          <a:uLnTx/>
                          <a:uFillTx/>
                          <a:latin typeface="+mn-lt"/>
                          <a:ea typeface="+mn-ea"/>
                          <a:cs typeface="+mn-cs"/>
                        </a:rPr>
                        <a:t/>
                      </a:r>
                      <a:r>
                        <a:rPr kumimoji="0" lang="ru-RU" sz="700" b="0" i="0" u="none" strike="noStrike" kern="1200" cap="none" spc="0" normalizeH="0" baseline="0" dirty="0" smtClean="0">
                          <a:ln>
                            <a:noFill/>
                          </a:ln>
                          <a:solidFill>
                            <a:schemeClr val="tx1"/>
                          </a:solidFill>
                          <a:effectLst/>
                          <a:uLnTx/>
                          <a:uFillTx/>
                          <a:latin typeface="+mn-lt"/>
                          <a:ea typeface="+mn-ea"/>
                          <a:cs typeface="+mn-cs"/>
                        </a:rPr>
                        <a:t/>
                      </a:r>
                      <a:r>
                        <a:rPr kumimoji="0" lang="ru-RU" sz="700" b="0" i="0" u="none" strike="noStrike" kern="1200" cap="none" spc="0" normalizeH="0" baseline="0" dirty="0" err="1" smtClean="0">
                          <a:ln>
                            <a:noFill/>
                          </a:ln>
                          <a:solidFill>
                            <a:schemeClr val="tx1"/>
                          </a:solidFill>
                          <a:effectLst/>
                          <a:uLnTx/>
                          <a:uFillTx/>
                          <a:latin typeface="+mn-lt"/>
                          <a:ea typeface="+mn-ea"/>
                          <a:cs typeface="+mn-cs"/>
                        </a:rPr>
                        <a:t/>
                      </a:r>
                      <a:r>
                        <a:rPr kumimoji="0" lang="ru-RU" sz="700" b="0" i="0" u="none" strike="noStrike" kern="1200" cap="none" spc="0" normalizeH="0" baseline="0" dirty="0" smtClean="0">
                          <a:ln>
                            <a:noFill/>
                          </a:ln>
                          <a:solidFill>
                            <a:schemeClr val="tx1"/>
                          </a:solidFill>
                          <a:effectLst/>
                          <a:uLnTx/>
                          <a:uFillTx/>
                          <a:latin typeface="+mn-lt"/>
                          <a:ea typeface="+mn-ea"/>
                          <a:cs typeface="+mn-cs"/>
                        </a:rPr>
                        <a:t/>
                      </a:r>
                      <a:endParaRPr kumimoji="0" lang="ru-RU" sz="700" b="0" i="0" u="none" strike="noStrike" kern="1200" cap="none" spc="0" normalizeH="0" baseline="0" dirty="0">
                        <a:ln>
                          <a:noFill/>
                        </a:ln>
                        <a:solidFill>
                          <a:schemeClr val="tx1"/>
                        </a:solidFill>
                        <a:effectLst/>
                        <a:uLnTx/>
                        <a:uFillTx/>
                        <a:latin typeface="+mn-lt"/>
                        <a:ea typeface="+mn-ea"/>
                        <a:cs typeface="+mn-cs"/>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kern="1200" dirty="0">
                          <a:solidFill>
                            <a:schemeClr val="tx1"/>
                          </a:solidFill>
                          <a:latin typeface="+mn-lt"/>
                          <a:ea typeface="+mn-ea"/>
                          <a:cs typeface="+mn-cs"/>
                        </a:rPr>
                        <a:t>11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solidFill>
                          <a:srgbClr val="000000"/>
                        </a:solidFill>
                        <a:latin typeface="+mn-lt"/>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a:t>
                      </a: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lang="en-US" sz="700" b="0" i="1" u="none" strike="noStrike" dirty="0" smtClean="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endParaRPr lang="ru-RU" sz="700" b="0" i="0" u="none" strike="noStrike" dirty="0">
                        <a:solidFill>
                          <a:schemeClr val="tx1"/>
                        </a:solidFill>
                        <a:effectLst/>
                        <a:latin typeface="Arial" panose="020B0604020202020204" pitchFamily="34" charset="0"/>
                      </a:endParaRPr>
                    </a:p>
                  </a:txBody>
                  <a:tcPr marL="36000" marR="3600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906170152"/>
                  </a:ext>
                </a:extLst>
              </a:tr>
              <a:tr h="127074">
                <a:tc rowSpan="2">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1" i="0" u="none" strike="noStrike" dirty="0">
                          <a:solidFill>
                            <a:schemeClr val="tx1"/>
                          </a:solidFill>
                          <a:effectLst/>
                          <a:latin typeface="+mn-lt"/>
                        </a:rPr>
                        <a:t xml:space="preserve">Third party suppliers</a:t>
                      </a:r>
                      <a:r>
                        <a:rPr lang="en-US" sz="700" b="1" i="0" u="none" strike="noStrike" dirty="0">
                          <a:solidFill>
                            <a:schemeClr val="tx1"/>
                          </a:solidFill>
                          <a:effectLst/>
                          <a:latin typeface="+mn-lt"/>
                        </a:rPr>
                        <a:t/>
                      </a:r>
                      <a:r>
                        <a:rPr lang="ru-RU" sz="700" b="1" i="0" u="none" strike="noStrike" dirty="0">
                          <a:solidFill>
                            <a:schemeClr val="tx1"/>
                          </a:solidFill>
                          <a:effectLst/>
                          <a:latin typeface="+mn-lt"/>
                        </a:rPr>
                        <a:t/>
                      </a:r>
                      <a:endParaRPr lang="en-US" sz="700" b="1" i="0" u="none" strike="noStrike" dirty="0">
                        <a:solidFill>
                          <a:schemeClr val="tx1"/>
                        </a:solidFill>
                        <a:effectLst/>
                        <a:latin typeface="+mn-lt"/>
                      </a:endParaRP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300"/>
                        </a:spcBef>
                        <a:spcAft>
                          <a:spcPts val="0"/>
                        </a:spcAft>
                        <a:buClrTx/>
                        <a:buSzTx/>
                        <a:buFontTx/>
                        <a:buNone/>
                        <a:tabLst/>
                        <a:defRPr/>
                      </a:pPr>
                      <a:r>
                        <a:rPr kumimoji="0" lang="ru-RU" sz="700" b="0" i="0" u="none" strike="noStrike" kern="1200" cap="none" spc="0" normalizeH="0" baseline="0" dirty="0">
                          <a:ln>
                            <a:noFill/>
                          </a:ln>
                          <a:solidFill>
                            <a:schemeClr val="tx1"/>
                          </a:solidFill>
                          <a:effectLst/>
                          <a:uLnTx/>
                          <a:uFillTx/>
                          <a:latin typeface="+mn-lt"/>
                          <a:ea typeface="+mn-ea"/>
                          <a:cs typeface="+mn-cs"/>
                        </a:rPr>
                        <a:t xml:space="preserve">ERG Supplier Code of Conduct (online course)</a:t>
                      </a:r>
                      <a:r>
                        <a:rPr kumimoji="0" lang="en-US" sz="700" b="0" i="0" u="none" strike="noStrike" kern="1200" cap="none" spc="0" normalizeH="0" baseline="0" dirty="0">
                          <a:ln>
                            <a:noFill/>
                          </a:ln>
                          <a:solidFill>
                            <a:schemeClr val="tx1"/>
                          </a:solidFill>
                          <a:effectLst/>
                          <a:uLnTx/>
                          <a:uFillTx/>
                          <a:latin typeface="+mn-lt"/>
                          <a:ea typeface="+mn-ea"/>
                          <a:cs typeface="+mn-cs"/>
                        </a:rPr>
                        <a:t/>
                      </a:r>
                      <a:r>
                        <a:rPr kumimoji="0" lang="ru-RU" sz="700" b="0" i="0" u="none" strike="noStrike" kern="1200" cap="none" spc="0" normalizeH="0" baseline="0" dirty="0">
                          <a:ln>
                            <a:noFill/>
                          </a:ln>
                          <a:solidFill>
                            <a:schemeClr val="tx1"/>
                          </a:solidFill>
                          <a:effectLst/>
                          <a:uLnTx/>
                          <a:uFillTx/>
                          <a:latin typeface="+mn-lt"/>
                          <a:ea typeface="+mn-ea"/>
                          <a:cs typeface="+mn-cs"/>
                        </a:rPr>
                        <a:t/>
                      </a:r>
                      <a:r>
                        <a:rPr kumimoji="0" lang="ru-RU" sz="700" b="0" i="0" u="none" strike="noStrike" kern="1200" cap="none" spc="0" normalizeH="0" baseline="0" dirty="0" smtClean="0">
                          <a:ln>
                            <a:noFill/>
                          </a:ln>
                          <a:solidFill>
                            <a:schemeClr val="tx1"/>
                          </a:solidFill>
                          <a:effectLst/>
                          <a:uLnTx/>
                          <a:uFillTx/>
                          <a:latin typeface="+mn-lt"/>
                          <a:ea typeface="+mn-ea"/>
                          <a:cs typeface="+mn-cs"/>
                        </a:rPr>
                        <a:t/>
                      </a:r>
                      <a:endParaRPr lang="ru-RU" sz="700" baseline="30000" dirty="0">
                        <a:solidFill>
                          <a:schemeClr val="tx1"/>
                        </a:solidFill>
                        <a:latin typeface="+mn-lt"/>
                      </a:endParaRP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lang="ru-RU" sz="700" b="0" i="0" u="none" strike="noStrike" dirty="0" smtClean="0">
                          <a:solidFill>
                            <a:schemeClr val="tx1"/>
                          </a:solidFill>
                          <a:effectLst/>
                          <a:latin typeface="Arial" panose="020B0604020202020204" pitchFamily="34" charset="0"/>
                        </a:rPr>
                        <a:t>921</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-383</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538</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2 995</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18%</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35474032"/>
                  </a:ext>
                </a:extLst>
              </a:tr>
              <a:tr h="95011">
                <a:tc vMerge="1">
                  <a:txBody>
                    <a:bodyPr/>
                    <a:lstStyle/>
                    <a:p>
                      <a:pPr marL="0" marR="0" lvl="0" indent="0" algn="l" defTabSz="583170" rtl="0" eaLnBrk="1" fontAlgn="t" latinLnBrk="0" hangingPunct="1">
                        <a:lnSpc>
                          <a:spcPct val="100000"/>
                        </a:lnSpc>
                        <a:spcBef>
                          <a:spcPts val="0"/>
                        </a:spcBef>
                        <a:spcAft>
                          <a:spcPts val="0"/>
                        </a:spcAft>
                        <a:buClrTx/>
                        <a:buSzTx/>
                        <a:buFontTx/>
                        <a:buNone/>
                        <a:tabLst/>
                        <a:defRPr/>
                      </a:pPr>
                      <a:endParaRPr lang="en-US" sz="700" b="1" i="0" u="none" strike="noStrike" dirty="0">
                        <a:solidFill>
                          <a:schemeClr val="tx1"/>
                        </a:solidFill>
                        <a:effectLst/>
                        <a:latin typeface="+mn-lt"/>
                      </a:endParaRP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583170" rtl="0" eaLnBrk="1" fontAlgn="auto" latinLnBrk="0" hangingPunct="1">
                        <a:lnSpc>
                          <a:spcPct val="100000"/>
                        </a:lnSpc>
                        <a:spcBef>
                          <a:spcPts val="0"/>
                        </a:spcBef>
                        <a:spcAft>
                          <a:spcPts val="0"/>
                        </a:spcAft>
                        <a:buClrTx/>
                        <a:buSzTx/>
                        <a:buFontTx/>
                        <a:buNone/>
                        <a:tabLst/>
                        <a:defRPr/>
                      </a:pPr>
                      <a:r>
                        <a:rPr lang="ru-RU" sz="700" i="1" dirty="0">
                          <a:solidFill>
                            <a:schemeClr val="tx1"/>
                          </a:solidFill>
                          <a:latin typeface="+mn-lt"/>
                        </a:rPr>
                        <a:t xml:space="preserve">Of these, key suppliers (within ESG objectives)</a:t>
                      </a:r>
                      <a:r>
                        <a:rPr lang="en-US" sz="700" i="1" dirty="0">
                          <a:solidFill>
                            <a:schemeClr val="tx1"/>
                          </a:solidFill>
                          <a:latin typeface="+mn-lt"/>
                        </a:rPr>
                        <a:t/>
                      </a:r>
                      <a:endParaRPr lang="ru-RU" sz="700" i="1"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dirty="0">
                        <a:solidFill>
                          <a:schemeClr val="tx1"/>
                        </a:solidFill>
                        <a:latin typeface="+mn-lt"/>
                      </a:endParaRPr>
                    </a:p>
                  </a:txBody>
                  <a:tcPr marL="36000" marR="3600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68</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a:solidFill>
                            <a:schemeClr val="tx1"/>
                          </a:solidFill>
                          <a:effectLst/>
                          <a:latin typeface="Arial" panose="020B0604020202020204" pitchFamily="34" charset="0"/>
                        </a:rPr>
                        <a:t>-12</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RU" sz="700" b="0" i="0" u="none" strike="noStrike" dirty="0" smtClean="0">
                          <a:solidFill>
                            <a:schemeClr val="tx1"/>
                          </a:solidFill>
                          <a:effectLst/>
                          <a:latin typeface="Arial" panose="020B0604020202020204" pitchFamily="34" charset="0"/>
                        </a:rPr>
                        <a:t>56</a:t>
                      </a:r>
                      <a:endParaRPr lang="ru-RU" sz="700" b="0" i="0" u="none" strike="noStrike" dirty="0">
                        <a:solidFill>
                          <a:schemeClr val="tx1"/>
                        </a:solidFill>
                        <a:effectLst/>
                        <a:latin typeface="Arial" panose="020B0604020202020204" pitchFamily="34" charset="0"/>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108</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r>
                        <a:rPr lang="ru-RU" sz="700" b="0" i="0" u="none" strike="noStrike" dirty="0">
                          <a:solidFill>
                            <a:schemeClr val="tx1"/>
                          </a:solidFill>
                          <a:effectLst/>
                          <a:latin typeface="Arial" panose="020B0604020202020204" pitchFamily="34" charset="0"/>
                        </a:rPr>
                        <a:t>52%</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278218633"/>
                  </a:ext>
                </a:extLst>
              </a:tr>
            </a:tbl>
          </a:graphicData>
        </a:graphic>
      </p:graphicFrame>
    </p:spTree>
    <p:extLst>
      <p:ext uri="{BB962C8B-B14F-4D97-AF65-F5344CB8AC3E}">
        <p14:creationId xmlns:p14="http://schemas.microsoft.com/office/powerpoint/2010/main" val="14451405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8E854-0A3C-8C20-7FB0-702E85CDA660}"/>
            </a:ext>
          </a:extLst>
        </p:cNvPr>
        <p:cNvGrpSpPr/>
        <p:nvPr/>
      </p:nvGrpSpPr>
      <p:grpSpPr>
        <a:xfrm>
          <a:off x="0" y="0"/>
          <a:ext cx="0" cy="0"/>
          <a:chOff x="0" y="0"/>
          <a:chExt cx="0" cy="0"/>
        </a:xfrm>
      </p:grpSpPr>
      <p:sp>
        <p:nvSpPr>
          <p:cNvPr id="3" name="Text Placeholder 39">
            <a:extLst>
              <a:ext uri="{FF2B5EF4-FFF2-40B4-BE49-F238E27FC236}">
                <a16:creationId xmlns:a16="http://schemas.microsoft.com/office/drawing/2014/main" id="{D71E05B7-BC72-C057-116B-2B280781FDBC}"/>
              </a:ext>
            </a:extLst>
          </p:cNvPr>
          <p:cNvSpPr txBox="1">
            <a:spLocks/>
          </p:cNvSpPr>
          <p:nvPr/>
        </p:nvSpPr>
        <p:spPr>
          <a:xfrm>
            <a:off x="376518" y="4518453"/>
            <a:ext cx="6322333" cy="1969770"/>
          </a:xfrm>
          <a:prstGeom prst="rect">
            <a:avLst/>
          </a:prstGeom>
        </p:spPr>
        <p:txBody>
          <a:bodyPr wrap="square" lIns="0" tIns="0" rIns="0" bIns="0">
            <a:spAutoFit/>
          </a:bodyPr>
          <a:lstStyle>
            <a:lvl1pPr indent="0" defTabSz="583170">
              <a:lnSpc>
                <a:spcPct val="90000"/>
              </a:lnSpc>
              <a:spcBef>
                <a:spcPts val="638"/>
              </a:spcBef>
              <a:buFont typeface="Arial" panose="020B0604020202020204" pitchFamily="34" charset="0"/>
              <a:buNone/>
              <a:defRPr lang="en-US" sz="1200" b="0" dirty="0">
                <a:solidFill>
                  <a:schemeClr val="accent3"/>
                </a:solidFill>
              </a:defRPr>
            </a:lvl1pPr>
            <a:lvl2pPr marL="437378" indent="-145792" defTabSz="583170">
              <a:lnSpc>
                <a:spcPct val="90000"/>
              </a:lnSpc>
              <a:spcBef>
                <a:spcPts val="319"/>
              </a:spcBef>
              <a:buFont typeface="Arial" panose="020B0604020202020204" pitchFamily="34" charset="0"/>
              <a:buChar char="•"/>
              <a:defRPr sz="1531"/>
            </a:lvl2pPr>
            <a:lvl3pPr marL="728963" indent="-145792" defTabSz="583170">
              <a:lnSpc>
                <a:spcPct val="90000"/>
              </a:lnSpc>
              <a:spcBef>
                <a:spcPts val="319"/>
              </a:spcBef>
              <a:buFont typeface="Arial" panose="020B0604020202020204" pitchFamily="34" charset="0"/>
              <a:buChar char="•"/>
              <a:defRPr sz="1275"/>
            </a:lvl3pPr>
            <a:lvl4pPr marL="1020548" indent="-145792" defTabSz="583170">
              <a:lnSpc>
                <a:spcPct val="90000"/>
              </a:lnSpc>
              <a:spcBef>
                <a:spcPts val="319"/>
              </a:spcBef>
              <a:buFont typeface="Arial" panose="020B0604020202020204" pitchFamily="34" charset="0"/>
              <a:buChar char="•"/>
              <a:defRPr sz="1148"/>
            </a:lvl4pPr>
            <a:lvl5pPr marL="1312133" indent="-145792" defTabSz="583170">
              <a:lnSpc>
                <a:spcPct val="90000"/>
              </a:lnSpc>
              <a:spcBef>
                <a:spcPts val="319"/>
              </a:spcBef>
              <a:buFont typeface="Arial" panose="020B0604020202020204" pitchFamily="34" charset="0"/>
              <a:buChar char="•"/>
              <a:defRPr sz="1148"/>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marL="88900" indent="-82550">
              <a:lnSpc>
                <a:spcPct val="100000"/>
              </a:lnSpc>
              <a:spcBef>
                <a:spcPts val="0"/>
              </a:spcBef>
              <a:buFont typeface="Arial" panose="020B0604020202020204" pitchFamily="34" charset="0"/>
              <a:buChar char="•"/>
            </a:pPr>
            <a:r>
              <a:rPr lang="ru-RU" sz="800" dirty="0" smtClean="0">
                <a:solidFill>
                  <a:srgbClr val="7030A0"/>
                </a:solidFill>
              </a:rPr>
              <a:t xml:space="preserve">Trends:</a:t>
            </a:r>
            <a:endParaRPr lang="ru-RU" sz="800" dirty="0">
              <a:solidFill>
                <a:srgbClr val="7030A0"/>
              </a:solidFill>
            </a:endParaRPr>
          </a:p>
          <a:p>
            <a:pPr marL="177800" lvl="1" indent="-90488" defTabSz="457200">
              <a:lnSpc>
                <a:spcPct val="100000"/>
              </a:lnSpc>
              <a:spcBef>
                <a:spcPts val="0"/>
              </a:spcBef>
              <a:buClr>
                <a:srgbClr val="7030A0"/>
              </a:buClr>
              <a:buFont typeface="Courier New" panose="02070309020205020404" pitchFamily="49" charset="0"/>
              <a:buChar char="o"/>
            </a:pPr>
            <a:r>
              <a:rPr lang="ru-RU" sz="800" dirty="0">
                <a:solidFill>
                  <a:srgbClr val="7030A0"/>
                </a:solidFill>
              </a:rPr>
              <a:t xml:space="preserve">Analysis of WBS data (2025 vs 2024) for the KZ Perimeter showed an increase in the number of requests by 13%. A total of 208 requests were received (without the “Question” category). The share of confirmed requests is 59%. Noun no damage was detected.</a:t>
            </a:r>
            <a:r>
              <a:rPr lang="ru-RU" sz="800" dirty="0" smtClean="0"/>
              <a:t/>
            </a:r>
            <a:r>
              <a:rPr lang="ru-RU" sz="800" dirty="0"/>
              <a:t/>
            </a:r>
            <a:r>
              <a:rPr lang="ru-RU" sz="800" dirty="0" smtClean="0"/>
              <a:t/>
            </a:r>
            <a:r>
              <a:rPr lang="en-US" sz="800" dirty="0" smtClean="0"/>
              <a:t/>
            </a:r>
            <a:r>
              <a:rPr lang="ru-RU" sz="800" dirty="0" smtClean="0"/>
              <a:t/>
            </a:r>
            <a:r>
              <a:rPr lang="ru-RU" sz="800" dirty="0"/>
              <a:t/>
            </a:r>
            <a:r>
              <a:rPr lang="ru-RU" sz="800" dirty="0" smtClean="0"/>
              <a:t/>
            </a:r>
            <a:r>
              <a:rPr lang="ru-RU" sz="800" dirty="0"/>
              <a:t/>
            </a:r>
            <a:r>
              <a:rPr lang="ru-RU" sz="800" dirty="0" smtClean="0"/>
              <a:t/>
            </a:r>
            <a:r>
              <a:rPr lang="ru-RU" sz="800" dirty="0"/>
              <a:t/>
            </a:r>
            <a:r>
              <a:rPr lang="ru-RU" sz="800" dirty="0" smtClean="0"/>
              <a:t/>
            </a:r>
            <a:r>
              <a:rPr lang="ru-RU" sz="800" dirty="0"/>
              <a:t/>
            </a:r>
            <a:r>
              <a:rPr lang="ru-RU" sz="800" dirty="0" smtClean="0"/>
              <a:t/>
            </a:r>
            <a:r>
              <a:rPr lang="ru-RU" sz="800" dirty="0"/>
              <a:t/>
            </a:r>
            <a:r>
              <a:rPr lang="ru-RU" sz="800" dirty="0" smtClean="0"/>
              <a:t/>
            </a:r>
            <a:r>
              <a:rPr lang="ru-RU" sz="800" dirty="0"/>
              <a:t/>
            </a:r>
            <a:r>
              <a:rPr lang="ru-RU" sz="800" dirty="0" smtClean="0"/>
              <a:t/>
            </a:r>
          </a:p>
          <a:p>
            <a:pPr marL="177800" lvl="1" indent="-90488" defTabSz="457200">
              <a:lnSpc>
                <a:spcPct val="100000"/>
              </a:lnSpc>
              <a:spcBef>
                <a:spcPts val="0"/>
              </a:spcBef>
              <a:buClr>
                <a:srgbClr val="7030A0"/>
              </a:buClr>
              <a:buFont typeface="Courier New" panose="02070309020205020404" pitchFamily="49" charset="0"/>
              <a:buChar char="o"/>
            </a:pPr>
            <a:r>
              <a:rPr lang="ru-RU" sz="800" dirty="0" smtClean="0"/>
              <a:t xml:space="preserve">Top 3 categories by number of requests: “Business integrity” - 40%, “Sustainability” - 31%, “Fraud, corruption, AML/CFT” - 24%. The increase in the total number of requests is due to an increase in cases in cat. “Fraud, corruption, AML/CFT” (+56%) - related to the activities of the Department of Education and Culture to test the Procurement function. For other categories, the indicators are comparable to 2024.</a:t>
            </a:r>
            <a:r>
              <a:rPr lang="ru-RU" sz="800" dirty="0"/>
              <a:t/>
            </a:r>
            <a:r>
              <a:rPr lang="ru-RU" sz="800" dirty="0" smtClean="0"/>
              <a:t/>
            </a:r>
            <a:r>
              <a:rPr lang="ru-RU" sz="800" dirty="0"/>
              <a:t/>
            </a:r>
            <a:r>
              <a:rPr lang="ru-RU" sz="800" dirty="0" smtClean="0"/>
              <a:t/>
            </a:r>
            <a:r>
              <a:rPr lang="ru-RU" sz="800" dirty="0"/>
              <a:t/>
            </a:r>
            <a:r>
              <a:rPr lang="ru-RU" sz="800" dirty="0" err="1" smtClean="0"/>
              <a:t/>
            </a:r>
            <a:r>
              <a:rPr lang="ru-RU" sz="800" dirty="0" smtClean="0"/>
              <a:t/>
            </a:r>
            <a:r>
              <a:rPr lang="ru-RU" sz="800" dirty="0"/>
              <a:t/>
            </a:r>
            <a:r>
              <a:rPr lang="ru-RU" sz="800" dirty="0" smtClean="0"/>
              <a:t/>
            </a:r>
            <a:r>
              <a:rPr lang="ru-RU" sz="800" dirty="0"/>
              <a:t/>
            </a:r>
            <a:r>
              <a:rPr lang="ru-RU" sz="800" dirty="0" smtClean="0"/>
              <a:t/>
            </a:r>
            <a:r>
              <a:rPr lang="ru-RU" sz="800" dirty="0"/>
              <a:t/>
            </a:r>
            <a:r>
              <a:rPr lang="ru-RU" sz="800" dirty="0" smtClean="0"/>
              <a:t/>
            </a:r>
            <a:r>
              <a:rPr lang="ru-RU" sz="800" dirty="0"/>
              <a:t/>
            </a:r>
            <a:r>
              <a:rPr lang="ru-RU" sz="800" dirty="0" smtClean="0"/>
              <a:t/>
            </a:r>
            <a:r>
              <a:rPr lang="ru-RU" sz="800" dirty="0"/>
              <a:t/>
            </a:r>
            <a:r>
              <a:rPr lang="ru-RU" sz="800" dirty="0" err="1" smtClean="0"/>
              <a:t/>
            </a:r>
            <a:r>
              <a:rPr lang="ru-RU" sz="800" dirty="0" smtClean="0"/>
              <a:t/>
            </a:r>
            <a:r>
              <a:rPr lang="ru-RU" sz="800" dirty="0"/>
              <a:t/>
            </a:r>
            <a:r>
              <a:rPr lang="ru-RU" sz="800" dirty="0" smtClean="0"/>
              <a:t/>
            </a:r>
            <a:r>
              <a:rPr lang="ru-RU" sz="800" dirty="0"/>
              <a:t/>
            </a:r>
            <a:r>
              <a:rPr lang="ru-RU" sz="800" dirty="0" smtClean="0"/>
              <a:t/>
            </a:r>
            <a:r>
              <a:rPr lang="ru-RU" sz="800" dirty="0"/>
              <a:t/>
            </a:r>
            <a:r>
              <a:rPr lang="ru-RU" sz="800" dirty="0" err="1"/>
              <a:t/>
            </a:r>
            <a:r>
              <a:rPr lang="ru-RU" sz="800" dirty="0"/>
              <a:t/>
            </a:r>
            <a:r>
              <a:rPr lang="ru-RU" sz="800" dirty="0" smtClean="0"/>
              <a:t/>
            </a:r>
            <a:r>
              <a:rPr lang="ru-RU" sz="800" dirty="0"/>
              <a:t/>
            </a:r>
            <a:r>
              <a:rPr lang="ru-RU" sz="800" dirty="0" smtClean="0"/>
              <a:t/>
            </a:r>
            <a:r>
              <a:rPr lang="ru-RU" sz="800" dirty="0"/>
              <a:t/>
            </a:r>
            <a:r>
              <a:rPr lang="ru-RU" sz="800" dirty="0" smtClean="0"/>
              <a:t/>
            </a:r>
            <a:r>
              <a:rPr lang="ru-RU" sz="800" dirty="0"/>
              <a:t/>
            </a:r>
          </a:p>
          <a:p>
            <a:pPr marL="177800" lvl="1" indent="-90488" defTabSz="457200">
              <a:lnSpc>
                <a:spcPct val="100000"/>
              </a:lnSpc>
              <a:spcBef>
                <a:spcPts val="0"/>
              </a:spcBef>
              <a:buClr>
                <a:srgbClr val="7030A0"/>
              </a:buClr>
              <a:buFont typeface="Courier New" panose="02070309020205020404" pitchFamily="49" charset="0"/>
              <a:buChar char="o"/>
            </a:pPr>
            <a:r>
              <a:rPr lang="ru-RU" sz="800" dirty="0"/>
              <a:t xml:space="preserve">The share of anonymous requests is 25%, which corresponds to the level of 2023–2025. (23-25%) and below the international average (56% according to Navex 2024), indicating a high level of trust in GL channels.</a:t>
            </a:r>
            <a:r>
              <a:rPr lang="ru-RU" sz="800" dirty="0" smtClean="0"/>
              <a:t/>
            </a:r>
            <a:r>
              <a:rPr lang="ru-RU" sz="800" dirty="0"/>
              <a:t/>
            </a:r>
            <a:r>
              <a:rPr lang="ru-RU" sz="800" dirty="0" err="1"/>
              <a:t/>
            </a:r>
            <a:r>
              <a:rPr lang="ru-RU" sz="800" dirty="0"/>
              <a:t/>
            </a:r>
            <a:r>
              <a:rPr lang="ru-RU" sz="800" dirty="0" smtClean="0"/>
              <a:t/>
            </a:r>
          </a:p>
          <a:p>
            <a:pPr marL="177800" lvl="1" indent="-90488" defTabSz="457200">
              <a:lnSpc>
                <a:spcPct val="100000"/>
              </a:lnSpc>
              <a:spcBef>
                <a:spcPts val="0"/>
              </a:spcBef>
              <a:buClr>
                <a:srgbClr val="7030A0"/>
              </a:buClr>
              <a:buFont typeface="Courier New" panose="02070309020205020404" pitchFamily="49" charset="0"/>
              <a:buChar char="o"/>
            </a:pPr>
            <a:r>
              <a:rPr lang="ru-RU" sz="800" dirty="0" smtClean="0"/>
              <a:t xml:space="preserve">An annual survey about GL (10.5 thousand participants, 18% of personnel; +63% by 2024) confirmed a high level of awareness of GL channels: 77% - know about GL; 69% - where to find contacts; 75% rated accessibility as sufficient/high.</a:t>
            </a:r>
            <a:r>
              <a:rPr lang="ru-RU" sz="800" dirty="0"/>
              <a:t/>
            </a:r>
            <a:r>
              <a:rPr lang="ru-RU" sz="800" dirty="0" smtClean="0"/>
              <a:t/>
            </a:r>
            <a:r>
              <a:rPr lang="ru-RU" sz="800" dirty="0"/>
              <a:t/>
            </a:r>
            <a:r>
              <a:rPr lang="ru-RU" sz="800" dirty="0" smtClean="0"/>
              <a:t/>
            </a:r>
            <a:r>
              <a:rPr lang="ru-RU" sz="800" dirty="0"/>
              <a:t/>
            </a:r>
            <a:r>
              <a:rPr lang="ru-RU" sz="800" dirty="0" smtClean="0"/>
              <a:t/>
            </a:r>
            <a:r>
              <a:rPr lang="ru-RU" sz="800" dirty="0"/>
              <a:t/>
            </a:r>
            <a:r>
              <a:rPr lang="ru-RU" sz="800" dirty="0" smtClean="0"/>
              <a:t/>
            </a:r>
            <a:r>
              <a:rPr lang="ru-RU" sz="800" dirty="0"/>
              <a:t/>
            </a:r>
            <a:r>
              <a:rPr lang="ru-RU" sz="800" dirty="0" smtClean="0"/>
              <a:t/>
            </a:r>
            <a:r>
              <a:rPr lang="ru-RU" sz="800" dirty="0"/>
              <a:t/>
            </a:r>
            <a:r>
              <a:rPr lang="ru-RU" sz="800" dirty="0" smtClean="0"/>
              <a:t/>
            </a:r>
            <a:r>
              <a:rPr lang="ru-RU" sz="800" dirty="0"/>
              <a:t/>
            </a:r>
            <a:r>
              <a:rPr lang="ru-RU" sz="800" dirty="0" smtClean="0"/>
              <a:t/>
            </a:r>
            <a:r>
              <a:rPr lang="ru-RU" sz="800" dirty="0"/>
              <a:t/>
            </a:r>
            <a:r>
              <a:rPr lang="ru-RU" sz="800" dirty="0" smtClean="0"/>
              <a:t/>
            </a:r>
            <a:r>
              <a:rPr lang="ru-RU" sz="800" dirty="0"/>
              <a:t/>
            </a:r>
            <a:r>
              <a:rPr lang="ru-RU" sz="800" dirty="0" smtClean="0"/>
              <a:t/>
            </a:r>
            <a:endParaRPr lang="ru-RU" sz="800" dirty="0"/>
          </a:p>
          <a:p>
            <a:pPr marL="88900" indent="-82550">
              <a:lnSpc>
                <a:spcPct val="100000"/>
              </a:lnSpc>
              <a:spcBef>
                <a:spcPts val="0"/>
              </a:spcBef>
              <a:buFont typeface="Arial" panose="020B0604020202020204" pitchFamily="34" charset="0"/>
              <a:buChar char="•"/>
            </a:pPr>
            <a:r>
              <a:rPr lang="ru-RU" sz="800" dirty="0" smtClean="0">
                <a:solidFill>
                  <a:srgbClr val="7030A0"/>
                </a:solidFill>
              </a:rPr>
              <a:t xml:space="preserve">Identified risks – No. no risks identified. Based on the results of the inspections, measures were implemented to strengthen controls, incl. limited cooperation with contractors (30 cases), dismissals, disciplinary sanctions (28 cases), strengthening of procurement. and internal controls (23 cases), additional. analysis, transition to direct deliveries (12 cases), revision/termination of contracts, claims. work (8 cases).</a:t>
            </a:r>
            <a:r>
              <a:rPr lang="ru-RU" sz="800" dirty="0">
                <a:solidFill>
                  <a:schemeClr val="tx1"/>
                </a:solidFill>
              </a:rPr>
              <a:t/>
            </a:r>
            <a:r>
              <a:rPr lang="ru-RU" sz="800" dirty="0" smtClean="0">
                <a:solidFill>
                  <a:schemeClr val="tx1"/>
                </a:solidFill>
              </a:rPr>
              <a:t/>
            </a:r>
            <a:r>
              <a:rPr lang="ru-RU" sz="800" dirty="0" err="1" smtClean="0">
                <a:solidFill>
                  <a:schemeClr val="tx1"/>
                </a:solidFill>
              </a:rPr>
              <a:t/>
            </a:r>
            <a:r>
              <a:rPr lang="ru-RU" sz="800" dirty="0" smtClean="0">
                <a:solidFill>
                  <a:schemeClr val="tx1"/>
                </a:solidFill>
              </a:rPr>
              <a:t/>
            </a:r>
            <a:r>
              <a:rPr lang="ru-RU" sz="800" dirty="0" err="1">
                <a:solidFill>
                  <a:schemeClr val="tx1"/>
                </a:solidFill>
              </a:rPr>
              <a:t/>
            </a:r>
            <a:r>
              <a:rPr lang="ru-RU" sz="800" dirty="0" err="1" smtClean="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err="1" smtClean="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r>
              <a:rPr lang="ru-RU" sz="800" dirty="0">
                <a:solidFill>
                  <a:schemeClr val="tx1"/>
                </a:solidFill>
              </a:rPr>
              <a:t/>
            </a:r>
            <a:r>
              <a:rPr lang="ru-RU" sz="800" dirty="0" err="1" smtClean="0">
                <a:solidFill>
                  <a:schemeClr val="tx1"/>
                </a:solidFill>
              </a:rPr>
              <a:t/>
            </a:r>
            <a:r>
              <a:rPr lang="ru-RU" sz="800" dirty="0" smtClean="0">
                <a:solidFill>
                  <a:schemeClr val="tx1"/>
                </a:solidFill>
              </a:rPr>
              <a:t/>
            </a:r>
            <a:r>
              <a:rPr lang="ru-RU" sz="800" dirty="0">
                <a:solidFill>
                  <a:schemeClr val="tx1"/>
                </a:solidFill>
              </a:rPr>
              <a:t/>
            </a:r>
            <a:r>
              <a:rPr lang="ru-RU" sz="800" dirty="0" smtClean="0">
                <a:solidFill>
                  <a:schemeClr val="tx1"/>
                </a:solidFill>
              </a:rPr>
              <a:t/>
            </a:r>
          </a:p>
          <a:p>
            <a:pPr marL="88900" indent="-82550">
              <a:lnSpc>
                <a:spcPct val="100000"/>
              </a:lnSpc>
              <a:spcBef>
                <a:spcPts val="0"/>
              </a:spcBef>
              <a:buFont typeface="Arial" panose="020B0604020202020204" pitchFamily="34" charset="0"/>
              <a:buChar char="•"/>
            </a:pPr>
            <a:r>
              <a:rPr lang="ru-RU" sz="800" dirty="0" smtClean="0">
                <a:solidFill>
                  <a:srgbClr val="7030A0"/>
                </a:solidFill>
              </a:rPr>
              <a:t xml:space="preserve">Impact on the Annual Perimeter Program / Lessons – In 2026, it is planned to continue activities to increase awareness of employees and partners about the Hotline channels.</a:t>
            </a:r>
            <a:r>
              <a:rPr lang="ru-RU" sz="800" dirty="0">
                <a:solidFill>
                  <a:srgbClr val="7030A0"/>
                </a:solidFill>
              </a:rPr>
              <a:t/>
            </a:r>
            <a:r>
              <a:rPr lang="ru-RU" sz="800" dirty="0"/>
              <a:t/>
            </a:r>
            <a:r>
              <a:rPr lang="ru-RU" sz="800" dirty="0" smtClean="0"/>
              <a:t/>
            </a:r>
            <a:r>
              <a:rPr lang="ru-RU" sz="800" dirty="0"/>
              <a:t/>
            </a:r>
            <a:r>
              <a:rPr lang="ru-RU" sz="800" dirty="0" smtClean="0"/>
              <a:t/>
            </a:r>
            <a:endParaRPr lang="ru-RU" sz="800" dirty="0"/>
          </a:p>
        </p:txBody>
      </p:sp>
      <p:sp>
        <p:nvSpPr>
          <p:cNvPr id="5" name="Прямоугольник 4"/>
          <p:cNvSpPr/>
          <p:nvPr/>
        </p:nvSpPr>
        <p:spPr>
          <a:xfrm>
            <a:off x="6803368" y="4506310"/>
            <a:ext cx="5203821" cy="1938992"/>
          </a:xfrm>
          <a:prstGeom prst="rect">
            <a:avLst/>
          </a:prstGeom>
        </p:spPr>
        <p:txBody>
          <a:bodyPr wrap="square">
            <a:spAutoFit/>
          </a:bodyPr>
          <a:lstStyle/>
          <a:p>
            <a:pPr marL="88900" indent="-82550">
              <a:lnSpc>
                <a:spcPct val="100000"/>
              </a:lnSpc>
              <a:spcBef>
                <a:spcPts val="0"/>
              </a:spcBef>
              <a:buClr>
                <a:srgbClr val="7030A0"/>
              </a:buClr>
              <a:buFont typeface="Arial" panose="020B0604020202020204" pitchFamily="34" charset="0"/>
              <a:buChar char="•"/>
            </a:pPr>
            <a:r>
              <a:rPr lang="ru-RU" sz="800" dirty="0" smtClean="0">
                <a:solidFill>
                  <a:srgbClr val="7030A0"/>
                </a:solidFill>
              </a:rPr>
              <a:t xml:space="preserve">Trends:</a:t>
            </a:r>
          </a:p>
          <a:p>
            <a:pPr marL="177800" lvl="1" indent="-90488">
              <a:buClr>
                <a:srgbClr val="7030A0"/>
              </a:buClr>
              <a:buFont typeface="Courier New" panose="02070309020205020404" pitchFamily="49" charset="0"/>
              <a:buChar char="o"/>
            </a:pPr>
            <a:r>
              <a:rPr lang="ru-RU" sz="800" dirty="0"/>
              <a:t xml:space="preserve">The budget is implemented within the planned volumes.</a:t>
            </a:r>
          </a:p>
          <a:p>
            <a:pPr marL="177800" lvl="1" indent="-90488">
              <a:buClr>
                <a:srgbClr val="7030A0"/>
              </a:buClr>
              <a:buFont typeface="Courier New" panose="02070309020205020404" pitchFamily="49" charset="0"/>
              <a:buChar char="o"/>
            </a:pPr>
            <a:r>
              <a:rPr lang="ru-RU" sz="800" dirty="0"/>
              <a:t xml:space="preserve">As of December 31, 2025 3 vacancies not filled.</a:t>
            </a:r>
          </a:p>
          <a:p>
            <a:pPr marL="88900" indent="-82550">
              <a:lnSpc>
                <a:spcPct val="100000"/>
              </a:lnSpc>
              <a:spcBef>
                <a:spcPts val="0"/>
              </a:spcBef>
              <a:buFont typeface="Arial" panose="020B0604020202020204" pitchFamily="34" charset="0"/>
              <a:buChar char="•"/>
            </a:pPr>
            <a:r>
              <a:rPr lang="ru-RU" sz="800" dirty="0" smtClean="0">
                <a:solidFill>
                  <a:srgbClr val="7030A0"/>
                </a:solidFill>
              </a:rPr>
              <a:t xml:space="preserve">Identified risks:</a:t>
            </a:r>
          </a:p>
          <a:p>
            <a:pPr marL="177800" lvl="1" indent="-90488">
              <a:lnSpc>
                <a:spcPct val="100000"/>
              </a:lnSpc>
              <a:spcBef>
                <a:spcPts val="0"/>
              </a:spcBef>
              <a:buClr>
                <a:srgbClr val="7030A0"/>
              </a:buClr>
              <a:buFont typeface="Courier New" panose="02070309020205020404" pitchFamily="49" charset="0"/>
              <a:buChar char="o"/>
            </a:pPr>
            <a:r>
              <a:rPr lang="ru-RU" sz="800" dirty="0"/>
              <a:t xml:space="preserve">No significant risks were identified.</a:t>
            </a:r>
          </a:p>
          <a:p>
            <a:pPr marL="177800" lvl="1" indent="-90488">
              <a:buClr>
                <a:srgbClr val="7030A0"/>
              </a:buClr>
              <a:buFont typeface="Courier New" panose="02070309020205020404" pitchFamily="49" charset="0"/>
              <a:buChar char="o"/>
            </a:pPr>
            <a:r>
              <a:rPr lang="ru-RU" sz="800" dirty="0"/>
              <a:t xml:space="preserve">The suspension of funding for IT projects has postponed tasks for further automation of compliance processes to 2026+.</a:t>
            </a:r>
            <a:r>
              <a:rPr lang="ru-RU" sz="800" dirty="0" smtClean="0"/>
              <a:t/>
            </a:r>
            <a:endParaRPr lang="ru-RU" sz="800" dirty="0"/>
          </a:p>
          <a:p>
            <a:pPr marL="88900" indent="-82550">
              <a:lnSpc>
                <a:spcPct val="100000"/>
              </a:lnSpc>
              <a:spcBef>
                <a:spcPts val="0"/>
              </a:spcBef>
              <a:buFont typeface="Arial" panose="020B0604020202020204" pitchFamily="34" charset="0"/>
              <a:buChar char="•"/>
            </a:pPr>
            <a:r>
              <a:rPr lang="ru-RU" sz="800" dirty="0" smtClean="0">
                <a:solidFill>
                  <a:srgbClr val="7030A0"/>
                </a:solidFill>
              </a:rPr>
              <a:t xml:space="preserve">Impact on the Annual Perimeter Program/Lessons:</a:t>
            </a:r>
            <a:r>
              <a:rPr lang="ru-RU" sz="800" dirty="0">
                <a:solidFill>
                  <a:srgbClr val="7030A0"/>
                </a:solidFill>
              </a:rPr>
              <a:t/>
            </a:r>
            <a:r>
              <a:rPr lang="ru-RU" sz="800" dirty="0" smtClean="0">
                <a:solidFill>
                  <a:srgbClr val="7030A0"/>
                </a:solidFill>
              </a:rPr>
              <a:t/>
            </a:r>
            <a:endParaRPr lang="ru-RU" sz="800" dirty="0"/>
          </a:p>
          <a:p>
            <a:pPr marL="177800" lvl="1" indent="-90488">
              <a:buClr>
                <a:srgbClr val="7030A0"/>
              </a:buClr>
              <a:buFont typeface="Courier New" panose="02070309020205020404" pitchFamily="49" charset="0"/>
              <a:buChar char="o"/>
            </a:pPr>
            <a:r>
              <a:rPr lang="ru" sz="800" dirty="0"/>
              <a:t xml:space="preserve">Hiring planned for 3 open vacancies in Q1. 2026:</a:t>
            </a:r>
            <a:r>
              <a:rPr lang="ru-RU" sz="800" dirty="0"/>
              <a:t/>
            </a:r>
          </a:p>
          <a:p>
            <a:pPr marL="268288" indent="-90488">
              <a:buFont typeface="Arial" panose="020B0604020202020204" pitchFamily="34" charset="0"/>
              <a:buChar char="•"/>
            </a:pPr>
            <a:r>
              <a:rPr lang="ru-RU" sz="800" dirty="0"/>
              <a:t xml:space="preserve">01/05/2026 – vacancy “Compliance officer for CCP – ABC, HR” is closed</a:t>
            </a:r>
            <a:r>
              <a:rPr lang="en-US" sz="800" dirty="0"/>
              <a:t/>
            </a:r>
            <a:r>
              <a:rPr lang="ru-RU" sz="800" dirty="0"/>
              <a:t/>
            </a:r>
          </a:p>
          <a:p>
            <a:pPr marL="268288" indent="-90488">
              <a:buFont typeface="Arial" panose="020B0604020202020204" pitchFamily="34" charset="0"/>
              <a:buChar char="•"/>
            </a:pPr>
            <a:r>
              <a:rPr lang="ru-RU" sz="800" dirty="0"/>
              <a:t xml:space="preserve">02/11/2026 – the vacancy for “Compliance Risk Compliance Officer” has been filled.</a:t>
            </a:r>
            <a:endParaRPr lang="en-US" sz="800" dirty="0"/>
          </a:p>
          <a:p>
            <a:pPr marL="268288" indent="-90488">
              <a:buFont typeface="Arial" panose="020B0604020202020204" pitchFamily="34" charset="0"/>
              <a:buChar char="•"/>
            </a:pPr>
            <a:r>
              <a:rPr lang="en-US" sz="800" dirty="0"/>
              <a:t xml:space="preserve">03/02/2026 – planned closed vacancies “Compliance officer for compliance risk management and controls”</a:t>
            </a:r>
            <a:r>
              <a:rPr lang="ru-RU" sz="800" dirty="0" smtClean="0"/>
              <a:t/>
            </a:r>
            <a:r>
              <a:rPr lang="ru-RU" sz="800" dirty="0"/>
              <a:t/>
            </a:r>
          </a:p>
          <a:p>
            <a:pPr marL="177800" lvl="1" indent="-90488">
              <a:buClr>
                <a:srgbClr val="7030A0"/>
              </a:buClr>
              <a:buFont typeface="Courier New" panose="02070309020205020404" pitchFamily="49" charset="0"/>
              <a:buChar char="o"/>
            </a:pPr>
            <a:r>
              <a:rPr lang="ru-RU" sz="800" dirty="0"/>
              <a:t xml:space="preserve">The possibility of resuming financing of IT projects in 2026 was discussed with the CEO of Perimeter. upon confirmation of their effectiveness.</a:t>
            </a:r>
          </a:p>
        </p:txBody>
      </p:sp>
      <p:sp>
        <p:nvSpPr>
          <p:cNvPr id="27" name="Rectangle: Rounded Corners 26">
            <a:extLst>
              <a:ext uri="{FF2B5EF4-FFF2-40B4-BE49-F238E27FC236}">
                <a16:creationId xmlns:a16="http://schemas.microsoft.com/office/drawing/2014/main" id="{026669EF-E77D-2AD4-D248-9E28CA107B28}"/>
              </a:ext>
            </a:extLst>
          </p:cNvPr>
          <p:cNvSpPr/>
          <p:nvPr>
            <p:custDataLst>
              <p:tags r:id="rId2"/>
            </p:custDataLst>
          </p:nvPr>
        </p:nvSpPr>
        <p:spPr>
          <a:xfrm>
            <a:off x="284640" y="859724"/>
            <a:ext cx="6375239" cy="2848483"/>
          </a:xfrm>
          <a:prstGeom prst="roundRect">
            <a:avLst>
              <a:gd name="adj" fmla="val 6024"/>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endParaRPr lang="ru" sz="1000" b="1" dirty="0">
              <a:solidFill>
                <a:schemeClr val="accent1"/>
              </a:solidFill>
            </a:endParaRPr>
          </a:p>
        </p:txBody>
      </p:sp>
      <p:graphicFrame>
        <p:nvGraphicFramePr>
          <p:cNvPr id="13" name="Object 12" hidden="1">
            <a:extLst>
              <a:ext uri="{FF2B5EF4-FFF2-40B4-BE49-F238E27FC236}">
                <a16:creationId xmlns:a16="http://schemas.microsoft.com/office/drawing/2014/main" id="{93112E5F-464E-0051-6FAA-8D0ED97C0B72}"/>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1934" name="think-cell Slide" r:id="rId9" imgW="353" imgH="353" progId="TCLayout.ActiveDocument.1">
                  <p:embed/>
                </p:oleObj>
              </mc:Choice>
              <mc:Fallback>
                <p:oleObj name="think-cell Slide" r:id="rId9" imgW="353" imgH="353" progId="TCLayout.ActiveDocument.1">
                  <p:embed/>
                  <p:pic>
                    <p:nvPicPr>
                      <p:cNvPr id="13" name="Object 12" hidden="1">
                        <a:extLst>
                          <a:ext uri="{FF2B5EF4-FFF2-40B4-BE49-F238E27FC236}">
                            <a16:creationId xmlns:a16="http://schemas.microsoft.com/office/drawing/2014/main" id="{FF1935C4-E461-3237-16A6-6397F7C435B1}"/>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39" name="Rectangle 38" hidden="1">
            <a:extLst>
              <a:ext uri="{FF2B5EF4-FFF2-40B4-BE49-F238E27FC236}">
                <a16:creationId xmlns:a16="http://schemas.microsoft.com/office/drawing/2014/main" id="{872AA2B0-7601-73F4-21B7-AC7FD36E4214}"/>
              </a:ext>
            </a:extLst>
          </p:cNvPr>
          <p:cNvSpPr/>
          <p:nvPr>
            <p:custDataLst>
              <p:tags r:id="rId4"/>
            </p:custDataLst>
          </p:nvPr>
        </p:nvSpPr>
        <p:spPr>
          <a:xfrm>
            <a:off x="0" y="0"/>
            <a:ext cx="158750" cy="1587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dirty="0">
              <a:solidFill>
                <a:schemeClr val="accent1"/>
              </a:solidFill>
              <a:latin typeface="Arial" panose="020B0604020202020204" pitchFamily="34" charset="0"/>
              <a:ea typeface="+mj-ea"/>
              <a:cs typeface="+mj-cs"/>
              <a:sym typeface="Arial" panose="020B0604020202020204" pitchFamily="34" charset="0"/>
            </a:endParaRPr>
          </a:p>
        </p:txBody>
      </p:sp>
      <p:sp>
        <p:nvSpPr>
          <p:cNvPr id="11" name="Title 10">
            <a:extLst>
              <a:ext uri="{FF2B5EF4-FFF2-40B4-BE49-F238E27FC236}">
                <a16:creationId xmlns:a16="http://schemas.microsoft.com/office/drawing/2014/main" id="{5DD01EFF-4480-C99F-33F3-0B5EED9A1C21}"/>
              </a:ext>
            </a:extLst>
          </p:cNvPr>
          <p:cNvSpPr>
            <a:spLocks noGrp="1"/>
          </p:cNvSpPr>
          <p:nvPr>
            <p:ph type="title"/>
          </p:nvPr>
        </p:nvSpPr>
        <p:spPr>
          <a:xfrm>
            <a:off x="317499" y="0"/>
            <a:ext cx="10584209" cy="704850"/>
          </a:xfrm>
        </p:spPr>
        <p:txBody>
          <a:bodyPr/>
          <a:lstStyle/>
          <a:p>
            <a:r>
              <a:rPr lang="ru-RU" dirty="0"/>
              <a:t>Годовой дашборд </a:t>
            </a:r>
            <a:r>
              <a:rPr lang="en-US" dirty="0"/>
              <a:t>2025: </a:t>
            </a:r>
            <a:r>
              <a:rPr lang="ru-RU" dirty="0"/>
              <a:t>Периметр Казахстан</a:t>
            </a:r>
            <a:r>
              <a:rPr lang="en-US" dirty="0"/>
              <a:t/>
            </a:r>
            <a:br>
              <a:rPr lang="en-US" dirty="0"/>
            </a:br>
            <a:r>
              <a:rPr lang="ru-RU" dirty="0">
                <a:solidFill>
                  <a:schemeClr val="tx1"/>
                </a:solidFill>
              </a:rPr>
              <a:t>Краткое изложение</a:t>
            </a:r>
            <a:r>
              <a:rPr lang="en-US" dirty="0" smtClean="0">
                <a:solidFill>
                  <a:schemeClr val="tx1"/>
                </a:solidFill>
              </a:rPr>
              <a:t> </a:t>
            </a:r>
            <a:r>
              <a:rPr lang="en-US" dirty="0">
                <a:solidFill>
                  <a:schemeClr val="tx1"/>
                </a:solidFill>
              </a:rPr>
              <a:t>(6/6)</a:t>
            </a:r>
            <a:endParaRPr lang="en-US" dirty="0"/>
          </a:p>
        </p:txBody>
      </p:sp>
      <p:sp>
        <p:nvSpPr>
          <p:cNvPr id="7" name="Text Placeholder 6">
            <a:extLst>
              <a:ext uri="{FF2B5EF4-FFF2-40B4-BE49-F238E27FC236}">
                <a16:creationId xmlns:a16="http://schemas.microsoft.com/office/drawing/2014/main" id="{5ABDF501-D97F-847C-9C7C-CBDC6BD838AA}"/>
              </a:ext>
            </a:extLst>
          </p:cNvPr>
          <p:cNvSpPr>
            <a:spLocks noGrp="1"/>
          </p:cNvSpPr>
          <p:nvPr>
            <p:ph type="body" sz="quarter" idx="10"/>
          </p:nvPr>
        </p:nvSpPr>
        <p:spPr>
          <a:xfrm>
            <a:off x="376518" y="6434370"/>
            <a:ext cx="10525190" cy="292100"/>
          </a:xfrm>
        </p:spPr>
        <p:txBody>
          <a:bodyPr/>
          <a:lstStyle/>
          <a:p>
            <a:r>
              <a:rPr lang="ru-RU" i="1" dirty="0"/>
              <a:t xml:space="preserve">For more details, see the Dashboard for Q4. 2025 (slides 11-12)</a:t>
            </a:r>
            <a:r>
              <a:rPr lang="ru-RU" i="1" dirty="0" smtClean="0"/>
              <a:t/>
            </a:r>
            <a:endParaRPr lang="en-US" i="1" dirty="0"/>
          </a:p>
        </p:txBody>
      </p:sp>
      <p:cxnSp>
        <p:nvCxnSpPr>
          <p:cNvPr id="218" name="Straight Connector 217">
            <a:extLst>
              <a:ext uri="{FF2B5EF4-FFF2-40B4-BE49-F238E27FC236}">
                <a16:creationId xmlns:a16="http://schemas.microsoft.com/office/drawing/2014/main" id="{79ACCC28-6E07-E721-6D77-C3E9CE7D16A6}"/>
              </a:ext>
            </a:extLst>
          </p:cNvPr>
          <p:cNvCxnSpPr/>
          <p:nvPr/>
        </p:nvCxnSpPr>
        <p:spPr>
          <a:xfrm>
            <a:off x="-9427" y="4097161"/>
            <a:ext cx="12192000" cy="0"/>
          </a:xfrm>
          <a:prstGeom prst="line">
            <a:avLst/>
          </a:pr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cxnSp>
      <p:sp>
        <p:nvSpPr>
          <p:cNvPr id="220" name="Text Placeholder 39">
            <a:extLst>
              <a:ext uri="{FF2B5EF4-FFF2-40B4-BE49-F238E27FC236}">
                <a16:creationId xmlns:a16="http://schemas.microsoft.com/office/drawing/2014/main" id="{0EA95709-3A73-D2C0-0448-63FA9894A8BE}"/>
              </a:ext>
            </a:extLst>
          </p:cNvPr>
          <p:cNvSpPr txBox="1">
            <a:spLocks/>
          </p:cNvSpPr>
          <p:nvPr/>
        </p:nvSpPr>
        <p:spPr>
          <a:xfrm>
            <a:off x="2234152" y="3986508"/>
            <a:ext cx="2318993"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en-US" sz="1400" dirty="0" smtClean="0">
                <a:solidFill>
                  <a:srgbClr val="7030A0"/>
                </a:solidFill>
              </a:rPr>
              <a:t xml:space="preserve">WBS – ERG Hotline</a:t>
            </a:r>
            <a:r>
              <a:rPr lang="ru-RU" sz="1400" dirty="0" smtClean="0">
                <a:solidFill>
                  <a:srgbClr val="7030A0"/>
                </a:solidFill>
              </a:rPr>
              <a:t/>
            </a:r>
            <a:r>
              <a:rPr lang="en-US" sz="1400" dirty="0" smtClean="0">
                <a:solidFill>
                  <a:srgbClr val="7030A0"/>
                </a:solidFill>
              </a:rPr>
              <a:t/>
            </a:r>
            <a:endParaRPr lang="en-US" sz="1400" dirty="0">
              <a:solidFill>
                <a:srgbClr val="7030A0"/>
              </a:solidFill>
            </a:endParaRPr>
          </a:p>
        </p:txBody>
      </p:sp>
      <p:sp>
        <p:nvSpPr>
          <p:cNvPr id="224" name="Text Placeholder 39">
            <a:extLst>
              <a:ext uri="{FF2B5EF4-FFF2-40B4-BE49-F238E27FC236}">
                <a16:creationId xmlns:a16="http://schemas.microsoft.com/office/drawing/2014/main" id="{E8F7BA83-73CC-BF12-016D-BCD247F7C28C}"/>
              </a:ext>
            </a:extLst>
          </p:cNvPr>
          <p:cNvSpPr txBox="1">
            <a:spLocks/>
          </p:cNvSpPr>
          <p:nvPr/>
        </p:nvSpPr>
        <p:spPr>
          <a:xfrm>
            <a:off x="10595805" y="3833311"/>
            <a:ext cx="1181414" cy="153888"/>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a:defRPr/>
            </a:pPr>
            <a:r>
              <a:rPr lang="ru-RU" sz="1000" i="1" dirty="0">
                <a:solidFill>
                  <a:schemeClr val="accent1"/>
                </a:solidFill>
              </a:rPr>
              <a:t xml:space="preserve">Key Metrics</a:t>
            </a:r>
            <a:endParaRPr lang="ru" sz="1000" i="1" dirty="0">
              <a:solidFill>
                <a:schemeClr val="accent1"/>
              </a:solidFill>
            </a:endParaRPr>
          </a:p>
        </p:txBody>
      </p:sp>
      <p:sp>
        <p:nvSpPr>
          <p:cNvPr id="225" name="Text Placeholder 39">
            <a:extLst>
              <a:ext uri="{FF2B5EF4-FFF2-40B4-BE49-F238E27FC236}">
                <a16:creationId xmlns:a16="http://schemas.microsoft.com/office/drawing/2014/main" id="{52C5A857-3DBD-07AF-3E22-AF33D9BE845B}"/>
              </a:ext>
            </a:extLst>
          </p:cNvPr>
          <p:cNvSpPr txBox="1">
            <a:spLocks/>
          </p:cNvSpPr>
          <p:nvPr/>
        </p:nvSpPr>
        <p:spPr>
          <a:xfrm>
            <a:off x="10499363" y="4210676"/>
            <a:ext cx="1507826" cy="307777"/>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r">
              <a:defRPr/>
            </a:pPr>
            <a:r>
              <a:rPr lang="ru-RU" sz="1000" i="1" dirty="0">
                <a:solidFill>
                  <a:srgbClr val="7030A0"/>
                </a:solidFill>
              </a:rPr>
              <a:t xml:space="preserve">Trends, risks and impact on the Annual Program</a:t>
            </a:r>
            <a:endParaRPr lang="ru" sz="1000" i="1" dirty="0">
              <a:solidFill>
                <a:srgbClr val="7030A0"/>
              </a:solidFill>
            </a:endParaRPr>
          </a:p>
        </p:txBody>
      </p:sp>
      <p:sp>
        <p:nvSpPr>
          <p:cNvPr id="31" name="Text Placeholder 39">
            <a:extLst>
              <a:ext uri="{FF2B5EF4-FFF2-40B4-BE49-F238E27FC236}">
                <a16:creationId xmlns:a16="http://schemas.microsoft.com/office/drawing/2014/main" id="{6CB612B1-7841-E20F-6E3B-A1C5EB2417C1}"/>
              </a:ext>
            </a:extLst>
          </p:cNvPr>
          <p:cNvSpPr txBox="1">
            <a:spLocks/>
          </p:cNvSpPr>
          <p:nvPr/>
        </p:nvSpPr>
        <p:spPr>
          <a:xfrm>
            <a:off x="7560297" y="3986509"/>
            <a:ext cx="2964666" cy="215444"/>
          </a:xfrm>
          <a:prstGeom prst="rect">
            <a:avLst/>
          </a:prstGeom>
          <a:solidFill>
            <a:schemeClr val="bg1"/>
          </a:solidFill>
        </p:spPr>
        <p:txBody>
          <a:bodyPr wrap="square" lIns="0" tIns="0" rIns="0" bIns="0">
            <a:spAutoFit/>
          </a:bodyPr>
          <a:lstStyle>
            <a:defPPr>
              <a:defRPr lang="en-US"/>
            </a:defPPr>
            <a:lvl1pPr indent="0" defTabSz="583170">
              <a:lnSpc>
                <a:spcPct val="100000"/>
              </a:lnSpc>
              <a:spcBef>
                <a:spcPts val="0"/>
              </a:spcBef>
              <a:buFont typeface="Arial" panose="020B0604020202020204" pitchFamily="34" charset="0"/>
              <a:buNone/>
              <a:defRPr b="0">
                <a:solidFill>
                  <a:schemeClr val="accent1"/>
                </a:solidFill>
              </a:defRPr>
            </a:lvl1pPr>
            <a:lvl2pPr marL="437378" indent="-145792" defTabSz="583170">
              <a:lnSpc>
                <a:spcPct val="90000"/>
              </a:lnSpc>
              <a:spcBef>
                <a:spcPts val="319"/>
              </a:spcBef>
              <a:buFont typeface="Arial" panose="020B0604020202020204" pitchFamily="34" charset="0"/>
              <a:buChar char="•"/>
              <a:defRPr sz="3600">
                <a:solidFill>
                  <a:schemeClr val="accent3"/>
                </a:solidFill>
              </a:defRPr>
            </a:lvl2pPr>
            <a:lvl3pPr marL="728963" indent="-145792" defTabSz="583170">
              <a:lnSpc>
                <a:spcPct val="90000"/>
              </a:lnSpc>
              <a:spcBef>
                <a:spcPts val="319"/>
              </a:spcBef>
              <a:buFont typeface="Arial" panose="020B0604020202020204" pitchFamily="34" charset="0"/>
              <a:buChar char="•"/>
              <a:defRPr sz="3600">
                <a:solidFill>
                  <a:schemeClr val="accent3"/>
                </a:solidFill>
              </a:defRPr>
            </a:lvl3pPr>
            <a:lvl4pPr marL="1020548" indent="-145792" defTabSz="583170">
              <a:lnSpc>
                <a:spcPct val="90000"/>
              </a:lnSpc>
              <a:spcBef>
                <a:spcPts val="319"/>
              </a:spcBef>
              <a:buFont typeface="Arial" panose="020B0604020202020204" pitchFamily="34" charset="0"/>
              <a:buChar char="•"/>
              <a:defRPr sz="3600">
                <a:solidFill>
                  <a:schemeClr val="accent3"/>
                </a:solidFill>
              </a:defRPr>
            </a:lvl4pPr>
            <a:lvl5pPr marL="1312133" indent="-145792" defTabSz="583170">
              <a:lnSpc>
                <a:spcPct val="90000"/>
              </a:lnSpc>
              <a:spcBef>
                <a:spcPts val="319"/>
              </a:spcBef>
              <a:buFont typeface="Arial" panose="020B0604020202020204" pitchFamily="34" charset="0"/>
              <a:buChar char="•"/>
              <a:defRPr sz="3600">
                <a:solidFill>
                  <a:schemeClr val="accent3"/>
                </a:solidFill>
              </a:defRPr>
            </a:lvl5pPr>
            <a:lvl6pPr marL="1603718" indent="-145792" defTabSz="583170">
              <a:lnSpc>
                <a:spcPct val="90000"/>
              </a:lnSpc>
              <a:spcBef>
                <a:spcPts val="319"/>
              </a:spcBef>
              <a:buFont typeface="Arial" panose="020B0604020202020204" pitchFamily="34" charset="0"/>
              <a:buChar char="•"/>
              <a:defRPr sz="1148"/>
            </a:lvl6pPr>
            <a:lvl7pPr marL="1895303" indent="-145792" defTabSz="583170">
              <a:lnSpc>
                <a:spcPct val="90000"/>
              </a:lnSpc>
              <a:spcBef>
                <a:spcPts val="319"/>
              </a:spcBef>
              <a:buFont typeface="Arial" panose="020B0604020202020204" pitchFamily="34" charset="0"/>
              <a:buChar char="•"/>
              <a:defRPr sz="1148"/>
            </a:lvl7pPr>
            <a:lvl8pPr marL="2186888" indent="-145792" defTabSz="583170">
              <a:lnSpc>
                <a:spcPct val="90000"/>
              </a:lnSpc>
              <a:spcBef>
                <a:spcPts val="319"/>
              </a:spcBef>
              <a:buFont typeface="Arial" panose="020B0604020202020204" pitchFamily="34" charset="0"/>
              <a:buChar char="•"/>
              <a:defRPr sz="1148"/>
            </a:lvl8pPr>
            <a:lvl9pPr marL="2478472" indent="-145792" defTabSz="583170">
              <a:lnSpc>
                <a:spcPct val="90000"/>
              </a:lnSpc>
              <a:spcBef>
                <a:spcPts val="319"/>
              </a:spcBef>
              <a:buFont typeface="Arial" panose="020B0604020202020204" pitchFamily="34" charset="0"/>
              <a:buChar char="•"/>
              <a:defRPr sz="1148"/>
            </a:lvl9pPr>
          </a:lstStyle>
          <a:p>
            <a:pPr algn="ctr"/>
            <a:r>
              <a:rPr lang="ru-RU" sz="1400" dirty="0" smtClean="0">
                <a:solidFill>
                  <a:srgbClr val="7030A0"/>
                </a:solidFill>
              </a:rPr>
              <a:t xml:space="preserve">Budget, resources and IT projects</a:t>
            </a:r>
            <a:r>
              <a:rPr lang="en-US" sz="1400" dirty="0" smtClean="0">
                <a:solidFill>
                  <a:srgbClr val="7030A0"/>
                </a:solidFill>
              </a:rPr>
              <a:t/>
            </a:r>
            <a:r>
              <a:rPr lang="ru-RU" sz="1400" dirty="0" smtClean="0">
                <a:solidFill>
                  <a:srgbClr val="7030A0"/>
                </a:solidFill>
              </a:rPr>
              <a:t/>
            </a:r>
            <a:endParaRPr lang="en-US" sz="1400" dirty="0">
              <a:solidFill>
                <a:srgbClr val="7030A0"/>
              </a:solidFill>
            </a:endParaRPr>
          </a:p>
        </p:txBody>
      </p:sp>
      <p:grpSp>
        <p:nvGrpSpPr>
          <p:cNvPr id="34" name="Group 33">
            <a:extLst>
              <a:ext uri="{FF2B5EF4-FFF2-40B4-BE49-F238E27FC236}">
                <a16:creationId xmlns:a16="http://schemas.microsoft.com/office/drawing/2014/main" id="{BB1F2524-A88A-5EB3-0B06-FFB9A170F57C}"/>
              </a:ext>
            </a:extLst>
          </p:cNvPr>
          <p:cNvGrpSpPr/>
          <p:nvPr/>
        </p:nvGrpSpPr>
        <p:grpSpPr>
          <a:xfrm>
            <a:off x="8380864" y="1227666"/>
            <a:ext cx="1175412" cy="811741"/>
            <a:chOff x="663969" y="2223945"/>
            <a:chExt cx="1175412" cy="811741"/>
          </a:xfrm>
        </p:grpSpPr>
        <p:sp>
          <p:nvSpPr>
            <p:cNvPr id="35" name="Text Placeholder 39">
              <a:extLst>
                <a:ext uri="{FF2B5EF4-FFF2-40B4-BE49-F238E27FC236}">
                  <a16:creationId xmlns:a16="http://schemas.microsoft.com/office/drawing/2014/main" id="{F7F9D8F2-0D3D-90AF-C123-F87FA65D4BF5}"/>
                </a:ext>
              </a:extLst>
            </p:cNvPr>
            <p:cNvSpPr txBox="1">
              <a:spLocks/>
            </p:cNvSpPr>
            <p:nvPr/>
          </p:nvSpPr>
          <p:spPr>
            <a:xfrm>
              <a:off x="817568" y="2789465"/>
              <a:ext cx="65" cy="24622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endParaRPr lang="ru" sz="1600" noProof="0" dirty="0">
                <a:solidFill>
                  <a:schemeClr val="accent1"/>
                </a:solidFill>
              </a:endParaRPr>
            </a:p>
          </p:txBody>
        </p:sp>
        <p:sp>
          <p:nvSpPr>
            <p:cNvPr id="36" name="Text Placeholder 39">
              <a:extLst>
                <a:ext uri="{FF2B5EF4-FFF2-40B4-BE49-F238E27FC236}">
                  <a16:creationId xmlns:a16="http://schemas.microsoft.com/office/drawing/2014/main" id="{6E35DC1A-AED9-3BFD-DBA3-C3DD56F71EF8}"/>
                </a:ext>
              </a:extLst>
            </p:cNvPr>
            <p:cNvSpPr txBox="1">
              <a:spLocks/>
            </p:cNvSpPr>
            <p:nvPr/>
          </p:nvSpPr>
          <p:spPr>
            <a:xfrm>
              <a:off x="663969" y="2223945"/>
              <a:ext cx="65" cy="246221"/>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rtl="0">
                <a:defRPr/>
              </a:pPr>
              <a:endParaRPr lang="ru" sz="1600" noProof="0" dirty="0">
                <a:solidFill>
                  <a:schemeClr val="accent1"/>
                </a:solidFill>
              </a:endParaRPr>
            </a:p>
          </p:txBody>
        </p:sp>
        <p:cxnSp>
          <p:nvCxnSpPr>
            <p:cNvPr id="37" name="Straight Connector 36">
              <a:extLst>
                <a:ext uri="{FF2B5EF4-FFF2-40B4-BE49-F238E27FC236}">
                  <a16:creationId xmlns:a16="http://schemas.microsoft.com/office/drawing/2014/main" id="{61B20C25-70BA-F0FF-E899-7E4EF037DA4E}"/>
                </a:ext>
              </a:extLst>
            </p:cNvPr>
            <p:cNvCxnSpPr>
              <a:cxnSpLocks/>
            </p:cNvCxnSpPr>
            <p:nvPr/>
          </p:nvCxnSpPr>
          <p:spPr>
            <a:xfrm>
              <a:off x="939381" y="2777943"/>
              <a:ext cx="900000" cy="0"/>
            </a:xfrm>
            <a:prstGeom prst="line">
              <a:avLst/>
            </a:prstGeom>
            <a:ln/>
          </p:spPr>
          <p:style>
            <a:lnRef idx="3">
              <a:schemeClr val="accent1"/>
            </a:lnRef>
            <a:fillRef idx="0">
              <a:schemeClr val="accent1"/>
            </a:fillRef>
            <a:effectRef idx="2">
              <a:schemeClr val="accent1"/>
            </a:effectRef>
            <a:fontRef idx="minor">
              <a:schemeClr val="tx1"/>
            </a:fontRef>
          </p:style>
        </p:cxnSp>
      </p:grpSp>
      <p:sp>
        <p:nvSpPr>
          <p:cNvPr id="38" name="Rectangle: Rounded Corners 37">
            <a:extLst>
              <a:ext uri="{FF2B5EF4-FFF2-40B4-BE49-F238E27FC236}">
                <a16:creationId xmlns:a16="http://schemas.microsoft.com/office/drawing/2014/main" id="{E3FCC923-3020-F920-EC60-C88BA68247FE}"/>
              </a:ext>
            </a:extLst>
          </p:cNvPr>
          <p:cNvSpPr/>
          <p:nvPr/>
        </p:nvSpPr>
        <p:spPr>
          <a:xfrm>
            <a:off x="6803368" y="859724"/>
            <a:ext cx="5103992" cy="2822428"/>
          </a:xfrm>
          <a:prstGeom prst="roundRect">
            <a:avLst>
              <a:gd name="adj" fmla="val 6438"/>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a:p>
            <a:pPr rtl="0"/>
            <a:endParaRPr lang="en-US" sz="1000" b="1" noProof="0" dirty="0">
              <a:solidFill>
                <a:schemeClr val="tx1"/>
              </a:solidFill>
            </a:endParaRPr>
          </a:p>
        </p:txBody>
      </p:sp>
      <p:grpSp>
        <p:nvGrpSpPr>
          <p:cNvPr id="41" name="Group 40">
            <a:extLst>
              <a:ext uri="{FF2B5EF4-FFF2-40B4-BE49-F238E27FC236}">
                <a16:creationId xmlns:a16="http://schemas.microsoft.com/office/drawing/2014/main" id="{36F61083-3EA8-2D27-2907-0D04DAD015BF}"/>
              </a:ext>
            </a:extLst>
          </p:cNvPr>
          <p:cNvGrpSpPr/>
          <p:nvPr/>
        </p:nvGrpSpPr>
        <p:grpSpPr>
          <a:xfrm>
            <a:off x="7700758" y="1276521"/>
            <a:ext cx="1852735" cy="934852"/>
            <a:chOff x="663969" y="2223945"/>
            <a:chExt cx="1649201" cy="934852"/>
          </a:xfrm>
        </p:grpSpPr>
        <p:sp>
          <p:nvSpPr>
            <p:cNvPr id="42" name="Text Placeholder 39">
              <a:extLst>
                <a:ext uri="{FF2B5EF4-FFF2-40B4-BE49-F238E27FC236}">
                  <a16:creationId xmlns:a16="http://schemas.microsoft.com/office/drawing/2014/main" id="{40ADF5F8-6760-4440-C7EE-E6AF7A5C98DB}"/>
                </a:ext>
              </a:extLst>
            </p:cNvPr>
            <p:cNvSpPr txBox="1">
              <a:spLocks/>
            </p:cNvSpPr>
            <p:nvPr/>
          </p:nvSpPr>
          <p:spPr>
            <a:xfrm>
              <a:off x="663969" y="2789465"/>
              <a:ext cx="1649201" cy="369332"/>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a:defRPr/>
              </a:pPr>
              <a:r>
                <a:rPr lang="ru-RU" sz="2400" dirty="0" smtClean="0">
                  <a:solidFill>
                    <a:schemeClr val="accent1"/>
                  </a:solidFill>
                </a:rPr>
                <a:t>51.8</a:t>
              </a:r>
              <a:r>
                <a:rPr lang="ru" noProof="0" dirty="0" smtClean="0">
                  <a:solidFill>
                    <a:schemeClr val="accent1"/>
                  </a:solidFill>
                </a:rPr>
                <a:t> </a:t>
              </a:r>
              <a:endParaRPr lang="ru" noProof="0" dirty="0">
                <a:solidFill>
                  <a:schemeClr val="accent1"/>
                </a:solidFill>
              </a:endParaRPr>
            </a:p>
          </p:txBody>
        </p:sp>
        <p:sp>
          <p:nvSpPr>
            <p:cNvPr id="43" name="Text Placeholder 39">
              <a:extLst>
                <a:ext uri="{FF2B5EF4-FFF2-40B4-BE49-F238E27FC236}">
                  <a16:creationId xmlns:a16="http://schemas.microsoft.com/office/drawing/2014/main" id="{9C4DD9DF-225A-17C7-E219-46BB265BBB32}"/>
                </a:ext>
              </a:extLst>
            </p:cNvPr>
            <p:cNvSpPr txBox="1">
              <a:spLocks/>
            </p:cNvSpPr>
            <p:nvPr/>
          </p:nvSpPr>
          <p:spPr>
            <a:xfrm>
              <a:off x="952403" y="2223945"/>
              <a:ext cx="1021813" cy="369332"/>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ru" sz="2400" dirty="0" smtClean="0">
                  <a:solidFill>
                    <a:schemeClr val="accent1"/>
                  </a:solidFill>
                </a:rPr>
                <a:t xml:space="preserve">124*</a:t>
              </a:r>
              <a:r>
                <a:rPr lang="ru" noProof="0" dirty="0" smtClean="0">
                  <a:solidFill>
                    <a:schemeClr val="accent1"/>
                  </a:solidFill>
                </a:rPr>
                <a:t/>
              </a:r>
              <a:endParaRPr lang="ru" noProof="0" dirty="0">
                <a:solidFill>
                  <a:schemeClr val="accent1"/>
                </a:solidFill>
              </a:endParaRPr>
            </a:p>
          </p:txBody>
        </p:sp>
        <p:cxnSp>
          <p:nvCxnSpPr>
            <p:cNvPr id="44" name="Straight Connector 43">
              <a:extLst>
                <a:ext uri="{FF2B5EF4-FFF2-40B4-BE49-F238E27FC236}">
                  <a16:creationId xmlns:a16="http://schemas.microsoft.com/office/drawing/2014/main" id="{B77DAE92-2EEC-F339-D431-AA5AEC713E24}"/>
                </a:ext>
              </a:extLst>
            </p:cNvPr>
            <p:cNvCxnSpPr>
              <a:cxnSpLocks/>
            </p:cNvCxnSpPr>
            <p:nvPr/>
          </p:nvCxnSpPr>
          <p:spPr>
            <a:xfrm flipV="1">
              <a:off x="980983" y="2688085"/>
              <a:ext cx="986100" cy="14754"/>
            </a:xfrm>
            <a:prstGeom prst="line">
              <a:avLst/>
            </a:prstGeom>
            <a:ln/>
          </p:spPr>
          <p:style>
            <a:lnRef idx="3">
              <a:schemeClr val="accent1"/>
            </a:lnRef>
            <a:fillRef idx="0">
              <a:schemeClr val="accent1"/>
            </a:fillRef>
            <a:effectRef idx="2">
              <a:schemeClr val="accent1"/>
            </a:effectRef>
            <a:fontRef idx="minor">
              <a:schemeClr val="tx1"/>
            </a:fontRef>
          </p:style>
        </p:cxnSp>
      </p:grpSp>
      <p:grpSp>
        <p:nvGrpSpPr>
          <p:cNvPr id="45" name="Group 44">
            <a:extLst>
              <a:ext uri="{FF2B5EF4-FFF2-40B4-BE49-F238E27FC236}">
                <a16:creationId xmlns:a16="http://schemas.microsoft.com/office/drawing/2014/main" id="{2E82513F-8B00-8219-B1D6-58B297D81503}"/>
              </a:ext>
            </a:extLst>
          </p:cNvPr>
          <p:cNvGrpSpPr/>
          <p:nvPr/>
        </p:nvGrpSpPr>
        <p:grpSpPr>
          <a:xfrm>
            <a:off x="8359536" y="2492761"/>
            <a:ext cx="515838" cy="911706"/>
            <a:chOff x="1067882" y="4569016"/>
            <a:chExt cx="515838" cy="911706"/>
          </a:xfrm>
        </p:grpSpPr>
        <p:sp>
          <p:nvSpPr>
            <p:cNvPr id="46" name="Text Placeholder 39">
              <a:extLst>
                <a:ext uri="{FF2B5EF4-FFF2-40B4-BE49-F238E27FC236}">
                  <a16:creationId xmlns:a16="http://schemas.microsoft.com/office/drawing/2014/main" id="{0AFF4D37-280D-EA2E-70C6-374628AA6FC6}"/>
                </a:ext>
              </a:extLst>
            </p:cNvPr>
            <p:cNvSpPr txBox="1">
              <a:spLocks/>
            </p:cNvSpPr>
            <p:nvPr/>
          </p:nvSpPr>
          <p:spPr>
            <a:xfrm>
              <a:off x="1067882" y="4569016"/>
              <a:ext cx="515838" cy="369332"/>
            </a:xfrm>
            <a:prstGeom prst="rect">
              <a:avLst/>
            </a:prstGeom>
          </p:spPr>
          <p:txBody>
            <a:bodyPr wrap="squar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lvl="0" algn="ctr" rtl="0">
                <a:defRPr/>
              </a:pPr>
              <a:r>
                <a:rPr lang="en-US" sz="2400" dirty="0">
                  <a:solidFill>
                    <a:schemeClr val="accent1"/>
                  </a:solidFill>
                </a:rPr>
                <a:t>15</a:t>
              </a:r>
              <a:endParaRPr lang="ru" sz="2400" dirty="0">
                <a:solidFill>
                  <a:schemeClr val="accent1"/>
                </a:solidFill>
              </a:endParaRPr>
            </a:p>
          </p:txBody>
        </p:sp>
        <p:cxnSp>
          <p:nvCxnSpPr>
            <p:cNvPr id="47" name="Straight Connector 46">
              <a:extLst>
                <a:ext uri="{FF2B5EF4-FFF2-40B4-BE49-F238E27FC236}">
                  <a16:creationId xmlns:a16="http://schemas.microsoft.com/office/drawing/2014/main" id="{F7532F73-7D72-B91C-D128-9B5DF0690D8D}"/>
                </a:ext>
              </a:extLst>
            </p:cNvPr>
            <p:cNvCxnSpPr>
              <a:cxnSpLocks/>
            </p:cNvCxnSpPr>
            <p:nvPr/>
          </p:nvCxnSpPr>
          <p:spPr>
            <a:xfrm>
              <a:off x="1093881" y="5033156"/>
              <a:ext cx="468000" cy="0"/>
            </a:xfrm>
            <a:prstGeom prst="line">
              <a:avLst/>
            </a:prstGeom>
            <a:ln/>
          </p:spPr>
          <p:style>
            <a:lnRef idx="3">
              <a:schemeClr val="accent1"/>
            </a:lnRef>
            <a:fillRef idx="0">
              <a:schemeClr val="accent1"/>
            </a:fillRef>
            <a:effectRef idx="2">
              <a:schemeClr val="accent1"/>
            </a:effectRef>
            <a:fontRef idx="minor">
              <a:schemeClr val="tx1"/>
            </a:fontRef>
          </p:style>
        </p:cxnSp>
        <p:sp>
          <p:nvSpPr>
            <p:cNvPr id="48" name="Text Placeholder 39">
              <a:extLst>
                <a:ext uri="{FF2B5EF4-FFF2-40B4-BE49-F238E27FC236}">
                  <a16:creationId xmlns:a16="http://schemas.microsoft.com/office/drawing/2014/main" id="{903FBF56-A36E-FEC8-DFA0-E1C89FFD19E5}"/>
                </a:ext>
              </a:extLst>
            </p:cNvPr>
            <p:cNvSpPr txBox="1">
              <a:spLocks/>
            </p:cNvSpPr>
            <p:nvPr/>
          </p:nvSpPr>
          <p:spPr>
            <a:xfrm>
              <a:off x="1240040" y="5111390"/>
              <a:ext cx="171522" cy="369332"/>
            </a:xfrm>
            <a:prstGeom prst="rect">
              <a:avLst/>
            </a:prstGeom>
          </p:spPr>
          <p:txBody>
            <a:bodyPr wrap="none" lIns="0" tIns="0" rIns="0" bIns="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rtl="0">
                <a:defRPr/>
              </a:pPr>
              <a:r>
                <a:rPr lang="ru" sz="2400" dirty="0">
                  <a:solidFill>
                    <a:schemeClr val="accent1"/>
                  </a:solidFill>
                </a:rPr>
                <a:t>3</a:t>
              </a:r>
            </a:p>
          </p:txBody>
        </p:sp>
      </p:grpSp>
      <p:graphicFrame>
        <p:nvGraphicFramePr>
          <p:cNvPr id="49" name="Table 48">
            <a:extLst>
              <a:ext uri="{FF2B5EF4-FFF2-40B4-BE49-F238E27FC236}">
                <a16:creationId xmlns:a16="http://schemas.microsoft.com/office/drawing/2014/main" id="{E69D075E-8D8E-3690-454E-DF8F70CFED10}"/>
              </a:ext>
            </a:extLst>
          </p:cNvPr>
          <p:cNvGraphicFramePr>
            <a:graphicFrameLocks noGrp="1"/>
          </p:cNvGraphicFramePr>
          <p:nvPr>
            <p:extLst>
              <p:ext uri="{D42A27DB-BD31-4B8C-83A1-F6EECF244321}">
                <p14:modId xmlns:p14="http://schemas.microsoft.com/office/powerpoint/2010/main" val="3784308061"/>
              </p:ext>
            </p:extLst>
          </p:nvPr>
        </p:nvGraphicFramePr>
        <p:xfrm>
          <a:off x="9720214" y="1409060"/>
          <a:ext cx="2113197" cy="1557120"/>
        </p:xfrm>
        <a:graphic>
          <a:graphicData uri="http://schemas.openxmlformats.org/drawingml/2006/table">
            <a:tbl>
              <a:tblPr firstRow="1" bandRow="1">
                <a:tableStyleId>{5C22544A-7EE6-4342-B048-85BDC9FD1C3A}</a:tableStyleId>
              </a:tblPr>
              <a:tblGrid>
                <a:gridCol w="1256724">
                  <a:extLst>
                    <a:ext uri="{9D8B030D-6E8A-4147-A177-3AD203B41FA5}">
                      <a16:colId xmlns:a16="http://schemas.microsoft.com/office/drawing/2014/main" val="3085055012"/>
                    </a:ext>
                  </a:extLst>
                </a:gridCol>
                <a:gridCol w="856473">
                  <a:extLst>
                    <a:ext uri="{9D8B030D-6E8A-4147-A177-3AD203B41FA5}">
                      <a16:colId xmlns:a16="http://schemas.microsoft.com/office/drawing/2014/main" val="2928140346"/>
                    </a:ext>
                  </a:extLst>
                </a:gridCol>
              </a:tblGrid>
              <a:tr h="123381">
                <a:tc>
                  <a:txBody>
                    <a:bodyPr/>
                    <a:lstStyle/>
                    <a:p>
                      <a:pPr rtl="0"/>
                      <a:r>
                        <a:rPr lang="ru-RU" sz="800" b="0" noProof="0" dirty="0" smtClean="0">
                          <a:solidFill>
                            <a:schemeClr val="accent1"/>
                          </a:solidFill>
                        </a:rPr>
                        <a:t xml:space="preserve">Project</a:t>
                      </a:r>
                      <a:endParaRPr lang="ru" sz="800" b="0" noProof="0" dirty="0">
                        <a:solidFill>
                          <a:schemeClr val="accent1"/>
                        </a:solidFill>
                      </a:endParaRPr>
                    </a:p>
                  </a:txBody>
                  <a:tcPr marL="36000" marR="36000" marT="36000" marB="36000">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RU" sz="800" b="0" noProof="0" dirty="0" smtClean="0">
                          <a:solidFill>
                            <a:schemeClr val="accent1"/>
                          </a:solidFill>
                        </a:rPr>
                        <a:t xml:space="preserve">Status</a:t>
                      </a:r>
                      <a:endParaRPr lang="ru" sz="800" b="0" noProof="0" dirty="0">
                        <a:solidFill>
                          <a:schemeClr val="accent1"/>
                        </a:solidFill>
                      </a:endParaRPr>
                    </a:p>
                  </a:txBody>
                  <a:tcPr marL="36000" marR="36000" marT="36000" marB="36000">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0475509"/>
                  </a:ext>
                </a:extLst>
              </a:tr>
              <a:tr h="123381">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800" dirty="0" smtClean="0">
                          <a:solidFill>
                            <a:schemeClr val="tx1"/>
                          </a:solidFill>
                        </a:rPr>
                        <a:t xml:space="preserve">Project to develop an additional resource to inform businesses about current sanctions restrictions</a:t>
                      </a:r>
                      <a:r>
                        <a:rPr lang="ru" sz="800" dirty="0" smtClean="0">
                          <a:solidFill>
                            <a:schemeClr val="tx1"/>
                          </a:solidFill>
                        </a:rPr>
                        <a:t/>
                      </a:r>
                      <a:r>
                        <a:rPr lang="ru-RU" sz="800" dirty="0" smtClean="0">
                          <a:solidFill>
                            <a:schemeClr val="tx1"/>
                          </a:solidFill>
                        </a:rPr>
                        <a:t/>
                      </a:r>
                      <a:endParaRPr lang="en-US" sz="800" dirty="0" smtClean="0">
                        <a:solidFill>
                          <a:schemeClr val="tx1"/>
                        </a:solidFill>
                      </a:endParaRPr>
                    </a:p>
                    <a:p>
                      <a:pPr rtl="0"/>
                      <a:endParaRPr lang="ru" sz="800" b="0" noProof="0" dirty="0">
                        <a:solidFill>
                          <a:schemeClr val="accent1"/>
                        </a:solidFill>
                      </a:endParaRPr>
                    </a:p>
                  </a:txBody>
                  <a:tcPr marL="36000" marR="36000" marT="36000" marB="36000">
                    <a:lnL w="9525" cap="flat" cmpd="sng" algn="ctr">
                      <a:noFill/>
                      <a:prstDash val="solid"/>
                      <a:round/>
                      <a:headEnd type="none" w="med" len="med"/>
                      <a:tailEnd type="none" w="med" len="med"/>
                    </a:lnL>
                    <a:lnR w="12700" cmpd="sng">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800" dirty="0" smtClean="0">
                          <a:solidFill>
                            <a:schemeClr val="tx1"/>
                          </a:solidFill>
                        </a:rPr>
                        <a:t xml:space="preserve">Implemented.</a:t>
                      </a:r>
                      <a:endParaRPr lang="en-US" sz="800" dirty="0" smtClean="0">
                        <a:solidFill>
                          <a:schemeClr val="tx1"/>
                        </a:solidFill>
                      </a:endParaRPr>
                    </a:p>
                    <a:p>
                      <a:r>
                        <a:rPr lang="ru-RU" sz="800" dirty="0" smtClean="0">
                          <a:solidFill>
                            <a:schemeClr val="tx1"/>
                          </a:solidFill>
                        </a:rPr>
                        <a:t xml:space="preserve">The Compliance System 2.2 contains the directory “List of Sanctioned Persons”</a:t>
                      </a:r>
                      <a:endParaRPr lang="ru" sz="800" b="0" noProof="0" dirty="0">
                        <a:solidFill>
                          <a:schemeClr val="accent1"/>
                        </a:solidFill>
                      </a:endParaRPr>
                    </a:p>
                  </a:txBody>
                  <a:tcPr marL="36000" marR="36000" marT="36000" marB="36000">
                    <a:lnL w="12700" cmpd="sng">
                      <a:noFill/>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784555"/>
                  </a:ext>
                </a:extLst>
              </a:tr>
              <a:tr h="123381">
                <a:tc grid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800" dirty="0" smtClean="0">
                          <a:solidFill>
                            <a:schemeClr val="tx1"/>
                          </a:solidFill>
                        </a:rPr>
                        <a:t xml:space="preserve">Funding for IT projects has been suspended.</a:t>
                      </a:r>
                    </a:p>
                  </a:txBody>
                  <a:tcPr marL="36000" marR="36000" marT="36000" marB="36000">
                    <a:lnL w="9525" cap="flat" cmpd="sng" algn="ctr">
                      <a:noFill/>
                      <a:prstDash val="solid"/>
                      <a:round/>
                      <a:headEnd type="none" w="med" len="med"/>
                      <a:tailEnd type="none" w="med" len="med"/>
                    </a:lnL>
                    <a:lnR w="12700" cmpd="sng">
                      <a:noFill/>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rtl="0"/>
                      <a:endParaRPr lang="ru" sz="800" b="0" noProof="0" dirty="0">
                        <a:solidFill>
                          <a:schemeClr val="accent1"/>
                        </a:solidFill>
                      </a:endParaRPr>
                    </a:p>
                  </a:txBody>
                  <a:tcPr marL="36000" marR="36000" marT="36000" marB="36000">
                    <a:lnL w="12700" cmpd="sng">
                      <a:noFill/>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2976846"/>
                  </a:ext>
                </a:extLst>
              </a:tr>
            </a:tbl>
          </a:graphicData>
        </a:graphic>
      </p:graphicFrame>
      <p:sp>
        <p:nvSpPr>
          <p:cNvPr id="51" name="TextBox 50">
            <a:extLst>
              <a:ext uri="{FF2B5EF4-FFF2-40B4-BE49-F238E27FC236}">
                <a16:creationId xmlns:a16="http://schemas.microsoft.com/office/drawing/2014/main" id="{2C0D3F39-41FA-2366-A559-91CCDEE703C1}"/>
              </a:ext>
            </a:extLst>
          </p:cNvPr>
          <p:cNvSpPr txBox="1"/>
          <p:nvPr/>
        </p:nvSpPr>
        <p:spPr>
          <a:xfrm>
            <a:off x="6856065" y="1287173"/>
            <a:ext cx="1130891" cy="861774"/>
          </a:xfrm>
          <a:prstGeom prst="rect">
            <a:avLst/>
          </a:prstGeom>
          <a:noFill/>
        </p:spPr>
        <p:txBody>
          <a:bodyPr wrap="square">
            <a:spAutoFit/>
          </a:bodyPr>
          <a:lstStyle/>
          <a:p>
            <a:r>
              <a:rPr lang="ru" sz="1000" b="1" dirty="0"/>
              <a:t xml:space="preserve">Budget for 2025,</a:t>
            </a:r>
          </a:p>
          <a:p>
            <a:r>
              <a:rPr lang="ru" sz="1000" b="1" dirty="0"/>
              <a:t xml:space="preserve">General and factual</a:t>
            </a:r>
          </a:p>
          <a:p>
            <a:r>
              <a:rPr lang="ru" sz="1000" b="1" dirty="0"/>
              <a:t xml:space="preserve">expenses ($)</a:t>
            </a:r>
          </a:p>
        </p:txBody>
      </p:sp>
      <p:sp>
        <p:nvSpPr>
          <p:cNvPr id="53" name="TextBox 52">
            <a:extLst>
              <a:ext uri="{FF2B5EF4-FFF2-40B4-BE49-F238E27FC236}">
                <a16:creationId xmlns:a16="http://schemas.microsoft.com/office/drawing/2014/main" id="{E2DB6E69-0504-6009-8892-549F74911579}"/>
              </a:ext>
            </a:extLst>
          </p:cNvPr>
          <p:cNvSpPr txBox="1"/>
          <p:nvPr/>
        </p:nvSpPr>
        <p:spPr>
          <a:xfrm>
            <a:off x="6851205" y="2413723"/>
            <a:ext cx="1285398" cy="1169551"/>
          </a:xfrm>
          <a:prstGeom prst="rect">
            <a:avLst/>
          </a:prstGeom>
          <a:noFill/>
        </p:spPr>
        <p:txBody>
          <a:bodyPr wrap="square">
            <a:spAutoFit/>
          </a:bodyPr>
          <a:lstStyle/>
          <a:p>
            <a:r>
              <a:rPr lang="ru" sz="1000" b="1" dirty="0"/>
              <a:t xml:space="preserve">Resources –</a:t>
            </a:r>
          </a:p>
          <a:p>
            <a:r>
              <a:rPr lang="ru" sz="1000" b="1" dirty="0"/>
              <a:t xml:space="preserve">Actual headcount and open positions as of 12/31/2025 (state)</a:t>
            </a:r>
            <a:r>
              <a:rPr lang="en-US" sz="1000" b="1" dirty="0"/>
              <a:t/>
            </a:r>
            <a:r>
              <a:rPr lang="ru-RU" sz="1000" b="1" dirty="0"/>
              <a:t/>
            </a:r>
            <a:r>
              <a:rPr lang="ru" sz="1000" b="1" dirty="0"/>
              <a:t/>
            </a:r>
          </a:p>
        </p:txBody>
      </p:sp>
      <p:sp>
        <p:nvSpPr>
          <p:cNvPr id="55" name="TextBox 54">
            <a:extLst>
              <a:ext uri="{FF2B5EF4-FFF2-40B4-BE49-F238E27FC236}">
                <a16:creationId xmlns:a16="http://schemas.microsoft.com/office/drawing/2014/main" id="{041257AE-BA1A-C448-F4D9-25B16D5C2D57}"/>
              </a:ext>
            </a:extLst>
          </p:cNvPr>
          <p:cNvSpPr txBox="1"/>
          <p:nvPr/>
        </p:nvSpPr>
        <p:spPr>
          <a:xfrm>
            <a:off x="498866" y="993931"/>
            <a:ext cx="2886451" cy="553998"/>
          </a:xfrm>
          <a:prstGeom prst="rect">
            <a:avLst/>
          </a:prstGeom>
          <a:noFill/>
        </p:spPr>
        <p:txBody>
          <a:bodyPr wrap="square">
            <a:spAutoFit/>
          </a:bodyPr>
          <a:lstStyle/>
          <a:p>
            <a:pPr fontAlgn="t"/>
            <a:r>
              <a:rPr lang="en-US" sz="1000" b="1" dirty="0"/>
              <a:t xml:space="preserve">WBS – requests received through the Hotline channels in 2025 (*),</a:t>
            </a:r>
            <a:r>
              <a:rPr lang="ru-RU" sz="1000" b="1" dirty="0" smtClean="0"/>
              <a:t/>
            </a:r>
          </a:p>
          <a:p>
            <a:pPr fontAlgn="t"/>
            <a:r>
              <a:rPr lang="ru-RU" sz="800" i="1" dirty="0" smtClean="0"/>
              <a:t xml:space="preserve">except for the “Question” category</a:t>
            </a:r>
            <a:r>
              <a:rPr lang="en-US" sz="1000" b="1" dirty="0" smtClean="0"/>
              <a:t/>
            </a:r>
            <a:endParaRPr lang="en-US" sz="1000" b="1" dirty="0"/>
          </a:p>
        </p:txBody>
      </p:sp>
      <p:sp>
        <p:nvSpPr>
          <p:cNvPr id="57" name="TextBox 56">
            <a:extLst>
              <a:ext uri="{FF2B5EF4-FFF2-40B4-BE49-F238E27FC236}">
                <a16:creationId xmlns:a16="http://schemas.microsoft.com/office/drawing/2014/main" id="{FE73EEFD-D274-8D9B-1BC5-4009EE28BC2B}"/>
              </a:ext>
            </a:extLst>
          </p:cNvPr>
          <p:cNvSpPr txBox="1"/>
          <p:nvPr/>
        </p:nvSpPr>
        <p:spPr>
          <a:xfrm>
            <a:off x="3484557" y="990301"/>
            <a:ext cx="3146619" cy="523220"/>
          </a:xfrm>
          <a:prstGeom prst="rect">
            <a:avLst/>
          </a:prstGeom>
          <a:noFill/>
        </p:spPr>
        <p:txBody>
          <a:bodyPr wrap="square">
            <a:spAutoFit/>
          </a:bodyPr>
          <a:lstStyle/>
          <a:p>
            <a:pPr fontAlgn="t"/>
            <a:r>
              <a:rPr lang="en-US" sz="1000" b="1" dirty="0"/>
              <a:t xml:space="preserve">WBS – realized risks / confirmed calls (by category),</a:t>
            </a:r>
            <a:r>
              <a:rPr lang="ru-RU" sz="1000" b="1" dirty="0" smtClean="0"/>
              <a:t/>
            </a:r>
          </a:p>
          <a:p>
            <a:pPr fontAlgn="t"/>
            <a:r>
              <a:rPr lang="ru-RU" sz="800" i="1" dirty="0" smtClean="0"/>
              <a:t xml:space="preserve">received in 2024-2025. and completed in 2025.</a:t>
            </a:r>
            <a:endParaRPr lang="en-US" sz="800" i="1" dirty="0"/>
          </a:p>
        </p:txBody>
      </p:sp>
      <p:sp>
        <p:nvSpPr>
          <p:cNvPr id="58" name="TextBox 57">
            <a:extLst>
              <a:ext uri="{FF2B5EF4-FFF2-40B4-BE49-F238E27FC236}">
                <a16:creationId xmlns:a16="http://schemas.microsoft.com/office/drawing/2014/main" id="{4F440C1C-5970-F7F6-38F5-28BDA6BA977F}"/>
              </a:ext>
            </a:extLst>
          </p:cNvPr>
          <p:cNvSpPr txBox="1"/>
          <p:nvPr/>
        </p:nvSpPr>
        <p:spPr>
          <a:xfrm>
            <a:off x="9904149" y="1039317"/>
            <a:ext cx="1734708" cy="246221"/>
          </a:xfrm>
          <a:prstGeom prst="rect">
            <a:avLst/>
          </a:prstGeom>
          <a:noFill/>
        </p:spPr>
        <p:txBody>
          <a:bodyPr wrap="square">
            <a:spAutoFit/>
          </a:bodyPr>
          <a:lstStyle/>
          <a:p>
            <a:pPr algn="ctr"/>
            <a:r>
              <a:rPr lang="ru-RU" sz="1000" b="1" dirty="0" smtClean="0"/>
              <a:t xml:space="preserve">IT projects</a:t>
            </a:r>
            <a:endParaRPr lang="ru" sz="1000" b="1" dirty="0"/>
          </a:p>
        </p:txBody>
      </p:sp>
      <p:sp>
        <p:nvSpPr>
          <p:cNvPr id="2" name="Freeform 122">
            <a:extLst>
              <a:ext uri="{FF2B5EF4-FFF2-40B4-BE49-F238E27FC236}">
                <a16:creationId xmlns:a16="http://schemas.microsoft.com/office/drawing/2014/main" id="{F57FA77F-8937-C725-9A3F-E993B55475F5}"/>
              </a:ext>
            </a:extLst>
          </p:cNvPr>
          <p:cNvSpPr/>
          <p:nvPr/>
        </p:nvSpPr>
        <p:spPr>
          <a:xfrm>
            <a:off x="317499" y="4448320"/>
            <a:ext cx="6342379" cy="2090839"/>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rgbClr val="7030A0"/>
              </a:solidFill>
            </a:endParaRPr>
          </a:p>
        </p:txBody>
      </p:sp>
      <p:sp>
        <p:nvSpPr>
          <p:cNvPr id="4" name="Freeform 122">
            <a:extLst>
              <a:ext uri="{FF2B5EF4-FFF2-40B4-BE49-F238E27FC236}">
                <a16:creationId xmlns:a16="http://schemas.microsoft.com/office/drawing/2014/main" id="{4FAC4E06-3AC2-D90D-12DA-8C6B7204F334}"/>
              </a:ext>
            </a:extLst>
          </p:cNvPr>
          <p:cNvSpPr/>
          <p:nvPr/>
        </p:nvSpPr>
        <p:spPr>
          <a:xfrm>
            <a:off x="6803368" y="4448320"/>
            <a:ext cx="5071132" cy="2090839"/>
          </a:xfrm>
          <a:custGeom>
            <a:avLst/>
            <a:gdLst>
              <a:gd name="connsiteX0" fmla="*/ 0 w 937260"/>
              <a:gd name="connsiteY0" fmla="*/ 0 h 350520"/>
              <a:gd name="connsiteX1" fmla="*/ 0 w 937260"/>
              <a:gd name="connsiteY1" fmla="*/ 350520 h 350520"/>
              <a:gd name="connsiteX2" fmla="*/ 937260 w 937260"/>
              <a:gd name="connsiteY2" fmla="*/ 350520 h 350520"/>
            </a:gdLst>
            <a:ahLst/>
            <a:cxnLst>
              <a:cxn ang="0">
                <a:pos x="connsiteX0" y="connsiteY0"/>
              </a:cxn>
              <a:cxn ang="0">
                <a:pos x="connsiteX1" y="connsiteY1"/>
              </a:cxn>
              <a:cxn ang="0">
                <a:pos x="connsiteX2" y="connsiteY2"/>
              </a:cxn>
            </a:cxnLst>
            <a:rect l="l" t="t" r="r" b="b"/>
            <a:pathLst>
              <a:path w="937260" h="350520">
                <a:moveTo>
                  <a:pt x="0" y="0"/>
                </a:moveTo>
                <a:lnTo>
                  <a:pt x="0" y="350520"/>
                </a:lnTo>
                <a:lnTo>
                  <a:pt x="937260" y="350520"/>
                </a:lnTo>
              </a:path>
            </a:pathLst>
          </a:custGeom>
          <a:noFill/>
          <a:ln w="95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defTabSz="583170">
              <a:spcAft>
                <a:spcPts val="300"/>
              </a:spcAft>
              <a:buFont typeface="Arial" panose="020B0604020202020204" pitchFamily="34" charset="0"/>
              <a:buNone/>
            </a:pPr>
            <a:endParaRPr lang="da-DK" sz="1200" dirty="0">
              <a:solidFill>
                <a:srgbClr val="7030A0"/>
              </a:solidFill>
            </a:endParaRPr>
          </a:p>
        </p:txBody>
      </p:sp>
      <p:grpSp>
        <p:nvGrpSpPr>
          <p:cNvPr id="52" name="Группа 51">
            <a:extLst>
              <a:ext uri="{FF2B5EF4-FFF2-40B4-BE49-F238E27FC236}">
                <a16:creationId xmlns:a16="http://schemas.microsoft.com/office/drawing/2014/main" id="{38DFD477-86A1-495B-AA2C-A1DD60AE1712}"/>
              </a:ext>
            </a:extLst>
          </p:cNvPr>
          <p:cNvGrpSpPr/>
          <p:nvPr/>
        </p:nvGrpSpPr>
        <p:grpSpPr>
          <a:xfrm>
            <a:off x="259285" y="1356353"/>
            <a:ext cx="3141204" cy="2393362"/>
            <a:chOff x="1925588" y="3015463"/>
            <a:chExt cx="3060296" cy="1774604"/>
          </a:xfrm>
        </p:grpSpPr>
        <p:graphicFrame>
          <p:nvGraphicFramePr>
            <p:cNvPr id="54" name="Диаграмма 53">
              <a:extLst>
                <a:ext uri="{FF2B5EF4-FFF2-40B4-BE49-F238E27FC236}">
                  <a16:creationId xmlns:a16="http://schemas.microsoft.com/office/drawing/2014/main" id="{5C19FE4E-6EE8-4032-861F-231E3C2FF2BA}"/>
                </a:ext>
              </a:extLst>
            </p:cNvPr>
            <p:cNvGraphicFramePr/>
            <p:nvPr>
              <p:extLst>
                <p:ext uri="{D42A27DB-BD31-4B8C-83A1-F6EECF244321}">
                  <p14:modId xmlns:p14="http://schemas.microsoft.com/office/powerpoint/2010/main" val="412267644"/>
                </p:ext>
              </p:extLst>
            </p:nvPr>
          </p:nvGraphicFramePr>
          <p:xfrm>
            <a:off x="1925588" y="3015463"/>
            <a:ext cx="3060296" cy="1774604"/>
          </p:xfrm>
          <a:graphic>
            <a:graphicData uri="http://schemas.openxmlformats.org/drawingml/2006/chart">
              <c:chart xmlns:c="http://schemas.openxmlformats.org/drawingml/2006/chart" xmlns:r="http://schemas.openxmlformats.org/officeDocument/2006/relationships" r:id="rId11"/>
            </a:graphicData>
          </a:graphic>
        </p:graphicFrame>
        <p:grpSp>
          <p:nvGrpSpPr>
            <p:cNvPr id="56" name="Группа 55">
              <a:extLst>
                <a:ext uri="{FF2B5EF4-FFF2-40B4-BE49-F238E27FC236}">
                  <a16:creationId xmlns:a16="http://schemas.microsoft.com/office/drawing/2014/main" id="{2384E255-BFD9-4B2A-8546-F584A01EF306}"/>
                </a:ext>
              </a:extLst>
            </p:cNvPr>
            <p:cNvGrpSpPr/>
            <p:nvPr/>
          </p:nvGrpSpPr>
          <p:grpSpPr>
            <a:xfrm>
              <a:off x="3238451" y="3470430"/>
              <a:ext cx="632494" cy="408458"/>
              <a:chOff x="3238451" y="3455291"/>
              <a:chExt cx="632494" cy="583652"/>
            </a:xfrm>
          </p:grpSpPr>
          <p:sp>
            <p:nvSpPr>
              <p:cNvPr id="59" name="Rectangle 173">
                <a:extLst>
                  <a:ext uri="{FF2B5EF4-FFF2-40B4-BE49-F238E27FC236}">
                    <a16:creationId xmlns:a16="http://schemas.microsoft.com/office/drawing/2014/main" id="{7679144E-68C8-4094-8F56-E53FDDC2BC54}"/>
                  </a:ext>
                </a:extLst>
              </p:cNvPr>
              <p:cNvSpPr/>
              <p:nvPr>
                <p:custDataLst>
                  <p:tags r:id="rId6"/>
                </p:custDataLst>
              </p:nvPr>
            </p:nvSpPr>
            <p:spPr bwMode="auto">
              <a:xfrm>
                <a:off x="3360483" y="3455291"/>
                <a:ext cx="421905" cy="391651"/>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1588" numCol="1" spcCol="0" rtlCol="0" fromWordArt="0" anchor="ctr" anchorCtr="0" forceAA="0" compatLnSpc="1">
                <a:prstTxWarp prst="textNoShape">
                  <a:avLst/>
                </a:prstTxWarp>
                <a:noAutofit/>
              </a:bodyPr>
              <a:lstStyle/>
              <a:p>
                <a:pPr algn="ctr">
                  <a:spcBef>
                    <a:spcPct val="0"/>
                  </a:spcBef>
                  <a:spcAft>
                    <a:spcPct val="0"/>
                  </a:spcAft>
                </a:pPr>
                <a:r>
                  <a:rPr lang="en-US" altLang="en-US" sz="1200" b="1" dirty="0">
                    <a:solidFill>
                      <a:schemeClr val="accent1"/>
                    </a:solidFill>
                  </a:rPr>
                  <a:t>5</a:t>
                </a:r>
                <a:r>
                  <a:rPr lang="ru-RU" altLang="en-US" sz="1200" b="1" dirty="0">
                    <a:solidFill>
                      <a:schemeClr val="accent1"/>
                    </a:solidFill>
                  </a:rPr>
                  <a:t>9</a:t>
                </a:r>
                <a:r>
                  <a:rPr lang="en-US" altLang="en-US" sz="1200" dirty="0">
                    <a:solidFill>
                      <a:schemeClr val="accent1"/>
                    </a:solidFill>
                  </a:rPr>
                  <a:t>%</a:t>
                </a:r>
              </a:p>
            </p:txBody>
          </p:sp>
          <p:sp>
            <p:nvSpPr>
              <p:cNvPr id="60" name="Rectangle 232">
                <a:extLst>
                  <a:ext uri="{FF2B5EF4-FFF2-40B4-BE49-F238E27FC236}">
                    <a16:creationId xmlns:a16="http://schemas.microsoft.com/office/drawing/2014/main" id="{20750C72-FB8C-4883-B33D-527D6CE769AB}"/>
                  </a:ext>
                </a:extLst>
              </p:cNvPr>
              <p:cNvSpPr/>
              <p:nvPr/>
            </p:nvSpPr>
            <p:spPr>
              <a:xfrm>
                <a:off x="3238451" y="3769920"/>
                <a:ext cx="632494" cy="269023"/>
              </a:xfrm>
              <a:prstGeom prst="rect">
                <a:avLst/>
              </a:prstGeom>
            </p:spPr>
            <p:txBody>
              <a:bodyPr wrap="none" lIns="0" tIns="0" rIns="0" bIns="0" anchor="t">
                <a:spAutoFit/>
              </a:bodyPr>
              <a:lstStyle/>
              <a:p>
                <a:pPr algn="ctr">
                  <a:spcAft>
                    <a:spcPts val="300"/>
                  </a:spcAft>
                  <a:buClr>
                    <a:schemeClr val="accent1"/>
                  </a:buClr>
                </a:pPr>
                <a:r>
                  <a:rPr lang="ru-RU" sz="700" dirty="0">
                    <a:solidFill>
                      <a:schemeClr val="accent1"/>
                    </a:solidFill>
                  </a:rPr>
                  <a:t xml:space="preserve">Coefficient</a:t>
                </a:r>
              </a:p>
              <a:p>
                <a:pPr algn="ctr">
                  <a:spcAft>
                    <a:spcPts val="300"/>
                  </a:spcAft>
                  <a:buClr>
                    <a:schemeClr val="accent1"/>
                  </a:buClr>
                </a:pPr>
                <a:r>
                  <a:rPr lang="ru-RU" sz="700" dirty="0" smtClean="0">
                    <a:solidFill>
                      <a:schemeClr val="accent1"/>
                    </a:solidFill>
                  </a:rPr>
                  <a:t xml:space="preserve">confirmation</a:t>
                </a:r>
                <a:endParaRPr lang="en-US" sz="700" dirty="0">
                  <a:solidFill>
                    <a:schemeClr val="accent1"/>
                  </a:solidFill>
                </a:endParaRPr>
              </a:p>
            </p:txBody>
          </p:sp>
        </p:grpSp>
      </p:grpSp>
      <p:grpSp>
        <p:nvGrpSpPr>
          <p:cNvPr id="61" name="Группа 60">
            <a:extLst>
              <a:ext uri="{FF2B5EF4-FFF2-40B4-BE49-F238E27FC236}">
                <a16:creationId xmlns:a16="http://schemas.microsoft.com/office/drawing/2014/main" id="{38DFD477-86A1-495B-AA2C-A1DD60AE1712}"/>
              </a:ext>
            </a:extLst>
          </p:cNvPr>
          <p:cNvGrpSpPr/>
          <p:nvPr/>
        </p:nvGrpSpPr>
        <p:grpSpPr>
          <a:xfrm>
            <a:off x="3271006" y="1356353"/>
            <a:ext cx="3141204" cy="2393362"/>
            <a:chOff x="1925588" y="3015463"/>
            <a:chExt cx="3060296" cy="1774604"/>
          </a:xfrm>
        </p:grpSpPr>
        <p:graphicFrame>
          <p:nvGraphicFramePr>
            <p:cNvPr id="62" name="Диаграмма 61">
              <a:extLst>
                <a:ext uri="{FF2B5EF4-FFF2-40B4-BE49-F238E27FC236}">
                  <a16:creationId xmlns:a16="http://schemas.microsoft.com/office/drawing/2014/main" id="{5C19FE4E-6EE8-4032-861F-231E3C2FF2BA}"/>
                </a:ext>
              </a:extLst>
            </p:cNvPr>
            <p:cNvGraphicFramePr/>
            <p:nvPr>
              <p:extLst>
                <p:ext uri="{D42A27DB-BD31-4B8C-83A1-F6EECF244321}">
                  <p14:modId xmlns:p14="http://schemas.microsoft.com/office/powerpoint/2010/main" val="3232157033"/>
                </p:ext>
              </p:extLst>
            </p:nvPr>
          </p:nvGraphicFramePr>
          <p:xfrm>
            <a:off x="1925588" y="3015463"/>
            <a:ext cx="3060296" cy="1774604"/>
          </p:xfrm>
          <a:graphic>
            <a:graphicData uri="http://schemas.openxmlformats.org/drawingml/2006/chart">
              <c:chart xmlns:c="http://schemas.openxmlformats.org/drawingml/2006/chart" xmlns:r="http://schemas.openxmlformats.org/officeDocument/2006/relationships" r:id="rId12"/>
            </a:graphicData>
          </a:graphic>
        </p:graphicFrame>
        <p:sp>
          <p:nvSpPr>
            <p:cNvPr id="64" name="Rectangle 173">
              <a:extLst>
                <a:ext uri="{FF2B5EF4-FFF2-40B4-BE49-F238E27FC236}">
                  <a16:creationId xmlns:a16="http://schemas.microsoft.com/office/drawing/2014/main" id="{7679144E-68C8-4094-8F56-E53FDDC2BC54}"/>
                </a:ext>
              </a:extLst>
            </p:cNvPr>
            <p:cNvSpPr/>
            <p:nvPr>
              <p:custDataLst>
                <p:tags r:id="rId5"/>
              </p:custDataLst>
            </p:nvPr>
          </p:nvSpPr>
          <p:spPr bwMode="auto">
            <a:xfrm>
              <a:off x="3307858" y="3553572"/>
              <a:ext cx="421905" cy="274090"/>
            </a:xfrm>
            <a:prstGeom prst="rect">
              <a:avLst/>
            </a:prstGeom>
            <a:noFill/>
            <a:ln w="9525">
              <a:noFill/>
            </a:ln>
            <a:effectLst/>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1588" numCol="1" spcCol="0" rtlCol="0" fromWordArt="0" anchor="ctr" anchorCtr="0" forceAA="0" compatLnSpc="1">
              <a:prstTxWarp prst="textNoShape">
                <a:avLst/>
              </a:prstTxWarp>
              <a:noAutofit/>
            </a:bodyPr>
            <a:lstStyle/>
            <a:p>
              <a:pPr algn="ctr">
                <a:spcBef>
                  <a:spcPct val="0"/>
                </a:spcBef>
                <a:spcAft>
                  <a:spcPct val="0"/>
                </a:spcAft>
              </a:pPr>
              <a:r>
                <a:rPr lang="ru-RU" altLang="en-US" sz="1200" b="1" dirty="0" smtClean="0">
                  <a:solidFill>
                    <a:schemeClr val="accent1"/>
                  </a:solidFill>
                </a:rPr>
                <a:t>116</a:t>
              </a:r>
              <a:endParaRPr lang="en-US" altLang="en-US" sz="1200" dirty="0">
                <a:solidFill>
                  <a:schemeClr val="accent1"/>
                </a:solidFill>
              </a:endParaRPr>
            </a:p>
          </p:txBody>
        </p:sp>
      </p:grpSp>
      <p:sp>
        <p:nvSpPr>
          <p:cNvPr id="66" name="Прямоугольник 65"/>
          <p:cNvSpPr/>
          <p:nvPr/>
        </p:nvSpPr>
        <p:spPr>
          <a:xfrm>
            <a:off x="6831540" y="6565293"/>
            <a:ext cx="6096000" cy="215444"/>
          </a:xfrm>
          <a:prstGeom prst="rect">
            <a:avLst/>
          </a:prstGeom>
        </p:spPr>
        <p:txBody>
          <a:bodyPr>
            <a:spAutoFit/>
          </a:bodyPr>
          <a:lstStyle/>
          <a:p>
            <a:r>
              <a:rPr lang="ru" sz="800" i="1" dirty="0" smtClean="0"/>
              <a:t xml:space="preserve">* Budget of the Compliance Directorate ($101,329) + IT budget for the database ($22,731)</a:t>
            </a:r>
            <a:r>
              <a:rPr lang="ru" sz="800" i="1" dirty="0"/>
              <a:t/>
            </a:r>
            <a:r>
              <a:rPr lang="en-US" sz="800" i="1" dirty="0"/>
              <a:t/>
            </a:r>
            <a:r>
              <a:rPr lang="ru-RU" sz="800" i="1" dirty="0"/>
              <a:t/>
            </a:r>
            <a:r>
              <a:rPr lang="en-US" sz="800" i="1" dirty="0"/>
              <a:t/>
            </a:r>
            <a:r>
              <a:rPr lang="ru-RU" sz="800" i="1" dirty="0"/>
              <a:t/>
            </a:r>
            <a:r>
              <a:rPr lang="en-US" sz="800" i="1" dirty="0"/>
              <a:t/>
            </a:r>
            <a:r>
              <a:rPr lang="ru-RU" sz="800" i="1" dirty="0"/>
              <a:t/>
            </a:r>
            <a:r>
              <a:rPr lang="en-US" sz="800" i="1" dirty="0"/>
              <a:t/>
            </a:r>
            <a:r>
              <a:rPr lang="ru-RU" sz="800" i="1" dirty="0"/>
              <a:t/>
            </a:r>
            <a:endParaRPr lang="ru" sz="800" i="1" dirty="0"/>
          </a:p>
        </p:txBody>
      </p:sp>
    </p:spTree>
    <p:extLst>
      <p:ext uri="{BB962C8B-B14F-4D97-AF65-F5344CB8AC3E}">
        <p14:creationId xmlns:p14="http://schemas.microsoft.com/office/powerpoint/2010/main" val="11230499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20D4B-3F70-28EE-E06A-BE3DB621880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8291377-B6F0-7F4C-C78F-96D00673526B}"/>
              </a:ext>
            </a:extLst>
          </p:cNvPr>
          <p:cNvSpPr>
            <a:spLocks noGrp="1"/>
          </p:cNvSpPr>
          <p:nvPr>
            <p:ph type="body" sz="quarter" idx="12"/>
          </p:nvPr>
        </p:nvSpPr>
        <p:spPr>
          <a:xfrm>
            <a:off x="323032" y="2986268"/>
            <a:ext cx="6743915" cy="885464"/>
          </a:xfrm>
        </p:spPr>
        <p:txBody>
          <a:bodyPr/>
          <a:lstStyle/>
          <a:p>
            <a:r>
              <a:rPr lang="ru-RU" dirty="0" smtClean="0"/>
              <a:t xml:space="preserve">Part III:</a:t>
            </a:r>
            <a:r>
              <a:rPr lang="en-US" dirty="0" smtClean="0"/>
              <a:t/>
            </a:r>
            <a:r>
              <a:rPr lang="en-US" dirty="0"/>
              <a:t/>
            </a:r>
          </a:p>
          <a:p>
            <a:r>
              <a:rPr lang="ru-RU" dirty="0" smtClean="0"/>
              <a:t xml:space="preserve">Annual compliance program for 2025:</a:t>
            </a:r>
            <a:r>
              <a:rPr lang="en-US" dirty="0" smtClean="0"/>
              <a:t/>
            </a:r>
            <a:r>
              <a:rPr lang="ru-RU" dirty="0" smtClean="0"/>
              <a:t/>
            </a:r>
            <a:r>
              <a:rPr lang="en-US" dirty="0" smtClean="0"/>
              <a:t/>
            </a:r>
            <a:endParaRPr lang="ru-RU" dirty="0" smtClean="0"/>
          </a:p>
          <a:p>
            <a:r>
              <a:rPr lang="ru-RU" dirty="0" smtClean="0"/>
              <a:t xml:space="preserve">Perimeter Kazakhstan</a:t>
            </a:r>
            <a:endParaRPr lang="en-US" dirty="0"/>
          </a:p>
          <a:p>
            <a:r>
              <a:rPr lang="ru-RU" dirty="0" smtClean="0"/>
              <a:t xml:space="preserve">Execution Status</a:t>
            </a:r>
            <a:endParaRPr lang="en-US" dirty="0"/>
          </a:p>
          <a:p>
            <a:r>
              <a:rPr lang="ru-RU" b="0" dirty="0" smtClean="0"/>
              <a:t xml:space="preserve">Speaker: Annetta Natanzon</a:t>
            </a:r>
            <a:r>
              <a:rPr lang="en-US" b="0" dirty="0" smtClean="0"/>
              <a:t/>
            </a:r>
            <a:r>
              <a:rPr lang="ru-RU" b="0" dirty="0" smtClean="0"/>
              <a:t/>
            </a:r>
            <a:endParaRPr lang="en-US" b="0" dirty="0"/>
          </a:p>
        </p:txBody>
      </p:sp>
    </p:spTree>
    <p:extLst>
      <p:ext uri="{BB962C8B-B14F-4D97-AF65-F5344CB8AC3E}">
        <p14:creationId xmlns:p14="http://schemas.microsoft.com/office/powerpoint/2010/main" val="28835490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2623"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 xml:space="preserve">Annual compliance program 2025: Perimeter Kazakhstan Implementation status</a:t>
            </a:r>
            <a:r>
              <a:rPr lang="ru-RU" dirty="0"/>
              <a:t/>
            </a:r>
            <a:r>
              <a:rPr lang="ru-RU" dirty="0" smtClean="0"/>
              <a:t/>
            </a:r>
            <a:br>
              <a:rPr lang="ru-RU" dirty="0" smtClean="0"/>
            </a:br>
            <a:r>
              <a:rPr lang="ru-RU" dirty="0" smtClean="0">
                <a:solidFill>
                  <a:schemeClr val="tx1"/>
                </a:solidFill>
              </a:rPr>
              <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2400781092"/>
              </p:ext>
            </p:extLst>
          </p:nvPr>
        </p:nvGraphicFramePr>
        <p:xfrm>
          <a:off x="317499" y="801681"/>
          <a:ext cx="11595782" cy="5550000"/>
        </p:xfrm>
        <a:graphic>
          <a:graphicData uri="http://schemas.openxmlformats.org/drawingml/2006/table">
            <a:tbl>
              <a:tblPr firstRow="1" bandRow="1">
                <a:tableStyleId>{5C22544A-7EE6-4342-B048-85BDC9FD1C3A}</a:tableStyleId>
              </a:tblPr>
              <a:tblGrid>
                <a:gridCol w="831782">
                  <a:extLst>
                    <a:ext uri="{9D8B030D-6E8A-4147-A177-3AD203B41FA5}">
                      <a16:colId xmlns:a16="http://schemas.microsoft.com/office/drawing/2014/main" val="2229066145"/>
                    </a:ext>
                  </a:extLst>
                </a:gridCol>
                <a:gridCol w="2412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580000">
                  <a:extLst>
                    <a:ext uri="{9D8B030D-6E8A-4147-A177-3AD203B41FA5}">
                      <a16:colId xmlns:a16="http://schemas.microsoft.com/office/drawing/2014/main" val="2252265905"/>
                    </a:ext>
                  </a:extLst>
                </a:gridCol>
              </a:tblGrid>
              <a:tr h="153580">
                <a:tc rowSpan="2">
                  <a:txBody>
                    <a:bodyPr/>
                    <a:lstStyle/>
                    <a:p>
                      <a:r>
                        <a:rPr lang="ru-RU" sz="700" b="0" dirty="0">
                          <a:solidFill>
                            <a:schemeClr val="accent5">
                              <a:lumMod val="75000"/>
                              <a:lumOff val="25000"/>
                            </a:schemeClr>
                          </a:solidFill>
                          <a:latin typeface="+mn-lt"/>
                        </a:rPr>
                        <a:t xml:space="preserve">Compliance Model Component</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 xml:space="preserve">Events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 xml:space="preserve">Other divisions - participants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 xml:space="preserve">Execution Status</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53580">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 xml:space="preserve">1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2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3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4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1928858">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solidFill>
                            <a:schemeClr val="tx1"/>
                          </a:solidFill>
                          <a:latin typeface="+mn-lt"/>
                        </a:rPr>
                        <a:t xml:space="preserve">Risk management</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a:tabLst/>
                        <a:defRPr/>
                      </a:pPr>
                      <a:r>
                        <a:rPr lang="ru-RU" sz="700" b="0" i="0" u="none" strike="noStrike" kern="1200" dirty="0">
                          <a:solidFill>
                            <a:schemeClr val="tx1"/>
                          </a:solidFill>
                          <a:effectLst/>
                          <a:latin typeface="+mn-lt"/>
                          <a:ea typeface="+mn-ea"/>
                          <a:cs typeface="+mn-cs"/>
                        </a:rPr>
                        <a:t xml:space="preserve">Complete the formation of the Register of Compliance Risks and Obligations of Perimeter (Mining &amp; Healthcare) with periodic revision of the master file, including further decomposition of 5 compliance risks, analysis, assessment of the design and effectiveness of controls applicable to Perimeter’s business processes, as the basis for quarterly compliance reporting within the framework of the Annual Compliance Program.</a:t>
                      </a:r>
                      <a:r>
                        <a:rPr lang="ru-RU" sz="700" b="0" i="0" u="none" strike="noStrike" kern="1200" baseline="0" dirty="0">
                          <a:solidFill>
                            <a:schemeClr val="tx1"/>
                          </a:solidFill>
                          <a:effectLst/>
                          <a:latin typeface="+mn-lt"/>
                          <a:ea typeface="+mn-ea"/>
                          <a:cs typeface="+mn-cs"/>
                        </a:rPr>
                        <a:t/>
                      </a:r>
                      <a:r>
                        <a:rPr lang="ru-RU" sz="700" b="0" i="0" u="none" strike="noStrike" kern="120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ru-RU" sz="700" b="0" i="0" u="none" strike="noStrike" kern="120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ru-RU" sz="700" b="0" i="0" u="none" strike="noStrike" kern="1200" dirty="0">
                          <a:solidFill>
                            <a:schemeClr val="tx1"/>
                          </a:solidFill>
                          <a:effectLst/>
                          <a:latin typeface="+mn-lt"/>
                          <a:ea typeface="+mn-ea"/>
                          <a:cs typeface="+mn-cs"/>
                        </a:rPr>
                        <a:t/>
                      </a:r>
                    </a:p>
                  </a:txBody>
                  <a:tcPr marT="36000" marB="36000">
                    <a:lnT w="9525" cap="flat" cmpd="sng" algn="ctr">
                      <a:solidFill>
                        <a:srgbClr val="0070C0"/>
                      </a:solidFill>
                      <a:prstDash val="solid"/>
                      <a:round/>
                      <a:headEnd type="none" w="med" len="med"/>
                      <a:tailEnd type="none" w="med" len="med"/>
                    </a:lnT>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chemeClr val="tx1"/>
                          </a:solidFill>
                          <a:effectLst/>
                          <a:uLnTx/>
                          <a:uFillTx/>
                          <a:latin typeface="+mn-lt"/>
                          <a:ea typeface="+mn-ea"/>
                          <a:cs typeface="+mn-cs"/>
                        </a:rPr>
                        <a:t>Х</a:t>
                      </a:r>
                    </a:p>
                    <a:p>
                      <a:pPr algn="ctr"/>
                      <a:endParaRPr lang="ru-RU" sz="700" b="0" dirty="0">
                        <a:solidFill>
                          <a:schemeClr val="tx1"/>
                        </a:solidFill>
                        <a:latin typeface="+mn-lt"/>
                      </a:endParaRP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 xml:space="preserve">Group Compliance, International Perimeter Compliance, business divisions</a:t>
                      </a:r>
                      <a:r>
                        <a:rPr lang="ru-RU" sz="700" b="0" baseline="0" dirty="0">
                          <a:latin typeface="+mn-lt"/>
                        </a:rPr>
                        <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In 2024, within the framework of the formed Working Group (from representatives of the Compliance Group and Compliance Perimeters), to redesign the compliance risk management process, an approach to risk management was developed and a register of compliance risks and obligations was created (top-level design of the risk and control matrix). In 2025, further scaling of the approach continued - the Compliance Group initiated a pilot project in Kazakhstan to decompose the risk of anti-bribery and corruption with the development of a compliance risk management tool to form:</a:t>
                      </a:r>
                      <a:r>
                        <a:rPr lang="ru-RU" sz="700" b="0" dirty="0" err="1" smtClean="0">
                          <a:latin typeface="+mn-lt"/>
                        </a:rPr>
                        <a:t/>
                      </a:r>
                      <a:r>
                        <a:rPr lang="ru-RU" sz="700" b="0" dirty="0" smtClean="0">
                          <a:latin typeface="+mn-lt"/>
                        </a:rPr>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dirty="0" smtClean="0">
                          <a:latin typeface="+mn-lt"/>
                        </a:rPr>
                        <a:t xml:space="preserve">register of compliance risks at the Perimeter level (with the possibility of integration with the register of compliance risks at the Group level);</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dirty="0" smtClean="0">
                          <a:latin typeface="+mn-lt"/>
                        </a:rPr>
                        <a:t xml:space="preserve">risk and control matrices (top-level design).</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At the level of the KZ Perimeter, a detailed matrix of risks and controls has been developed with classification by levels (low, medium, high) based on the decomposition of risk categories (legal, operational, financial, etc.) in relation to key compliance processes: CoI (including CoI risks in procurement procedures), SCR, G&amp;E, M&amp;A. The Register of Compliance Risks and Obligations is updated on a quarterly basis based on the results of monitoring changes in legislative and regulatory requirements.</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In 2026, it is planned to develop a compliance program to combat the risk of bribery and corruption. The program will be based on similar approaches as the ERG Sanctions Compliance Program and the Personal Data Protection Program. It is also planned to develop a program to combat the risk of fraud, taking into account updates to Group Policy and the application of new legal requirements, including the provisions of:</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UK Economic Crime and Corporate Transparency Act 2023, and</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Guidelines to it (Guidance on Economic Crime and Corporate Transparency Act 2023: Guidance to organizations on the offense of failure to prevent fraud).</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noFill/>
                  </a:tcPr>
                </a:tc>
                <a:extLst>
                  <a:ext uri="{0D108BD9-81ED-4DB2-BD59-A6C34878D82A}">
                    <a16:rowId xmlns:a16="http://schemas.microsoft.com/office/drawing/2014/main" val="425885450"/>
                  </a:ext>
                </a:extLst>
              </a:tr>
              <a:tr h="792000">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2"/>
                        <a:tabLst/>
                        <a:defRPr/>
                      </a:pPr>
                      <a:r>
                        <a:rPr lang="ru-RU" sz="700" b="0" kern="1200" dirty="0">
                          <a:solidFill>
                            <a:schemeClr val="dk1"/>
                          </a:solidFill>
                          <a:latin typeface="+mn-lt"/>
                          <a:ea typeface="+mn-ea"/>
                          <a:cs typeface="+mn-cs"/>
                        </a:rPr>
                        <a:t xml:space="preserve">As part of the decomposition of compliance risks, conduct an analysis and assessment of the design and effectiveness of procurement procedures controls, incl. in terms of mitigating the risk of fraud, including commercial bribery, conflicts of interest in tender procedures (inclusion in the procurement documentation of a written condition on disclosing a conflict of interest, expanding the list of high-risk positions for the annual declaration of a conflict of interest, initiating appropriate changes to strengthen controls in Perimeter’s GND, and tender documentation, etc.).</a:t>
                      </a:r>
                      <a:r>
                        <a:rPr lang="ru-RU" sz="700" b="0" kern="1200" baseline="0" dirty="0">
                          <a:solidFill>
                            <a:schemeClr val="dk1"/>
                          </a:solidFill>
                          <a:latin typeface="+mn-lt"/>
                          <a:ea typeface="+mn-ea"/>
                          <a:cs typeface="+mn-cs"/>
                        </a:rPr>
                        <a:t/>
                      </a:r>
                      <a:r>
                        <a:rPr lang="ru-RU" sz="700" b="0" kern="1200" dirty="0">
                          <a:solidFill>
                            <a:schemeClr val="dk1"/>
                          </a:solidFill>
                          <a:latin typeface="+mn-lt"/>
                          <a:ea typeface="+mn-ea"/>
                          <a:cs typeface="+mn-cs"/>
                        </a:rPr>
                        <a:t/>
                      </a:r>
                      <a:r>
                        <a:rPr lang="ru-RU" sz="700" b="0" i="0" u="none" strike="noStrike" kern="120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ru-RU" sz="700" b="0" i="0" u="none" strike="noStrike" kern="120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ru-RU" sz="700" b="0" i="0" u="none" strike="noStrike" kern="120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endParaRPr lang="ru-RU" sz="700" b="0" kern="1200" dirty="0">
                        <a:solidFill>
                          <a:schemeClr val="dk1"/>
                        </a:solidFill>
                        <a:latin typeface="+mn-lt"/>
                        <a:ea typeface="+mn-ea"/>
                        <a:cs typeface="+mn-cs"/>
                      </a:endParaRPr>
                    </a:p>
                  </a:txBody>
                  <a:tcPr marT="36000" marB="36000">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FF0000"/>
                        </a:solidFill>
                        <a:effectLst/>
                        <a:uLnTx/>
                        <a:uFillTx/>
                        <a:latin typeface="+mn-lt"/>
                        <a:ea typeface="+mn-ea"/>
                        <a:cs typeface="+mn-cs"/>
                      </a:endParaRP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chemeClr val="tx1"/>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chemeClr val="tx1"/>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chemeClr val="tx1"/>
                        </a:solidFill>
                        <a:effectLst/>
                        <a:uLnTx/>
                        <a:uFillTx/>
                        <a:latin typeface="+mn-lt"/>
                        <a:ea typeface="+mn-ea"/>
                        <a:cs typeface="+mn-cs"/>
                      </a:endParaRP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 xml:space="preserve">DVAiKR, Commercial Center, Procurement Controlling, Legal. block</a:t>
                      </a:r>
                      <a:r>
                        <a:rPr lang="ru-RU" sz="700" b="0" baseline="0" dirty="0">
                          <a:latin typeface="+mn-lt"/>
                        </a:rPr>
                        <a:t/>
                      </a:r>
                      <a:endParaRPr lang="ru-RU" sz="700" b="0" dirty="0">
                        <a:latin typeface="+mn-lt"/>
                      </a:endParaRPr>
                    </a:p>
                  </a:txBody>
                  <a:tcPr marT="36000" marB="36000">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In 1Q. In 2025, an annual declaration of conflict of interest (CI) was launched for employees of key positions and high-risk areas of Perimeter companies (the list was expanded to include employees of the procurement function, including taking into account the instructions of the CEO). A total of 1,031 declarations were received, the analysis of which has been completed. Identified - 11 CI situations that were resolved.</a:t>
                      </a:r>
                      <a:r>
                        <a:rPr lang="ru-RU" sz="700" b="0" dirty="0" err="1" smtClean="0">
                          <a:latin typeface="+mn-lt"/>
                        </a:rPr>
                        <a:t/>
                      </a:r>
                      <a:r>
                        <a:rPr lang="ru-RU" sz="700" b="0" dirty="0" smtClean="0">
                          <a:latin typeface="+mn-lt"/>
                        </a:rPr>
                        <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At the same time, as part of this annual declaration, declarations of employees whose activities are related to sales or procurement were also analyzed. As a result:</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555 declarations out of 607 were received. Data analysis of the received declarations has been completed. 5 CI situations have been identified and resolved.</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52 declarations were not received for objective reasons (termination of employment, being on maternity leave, etc.) - no further action is required.</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Based on the results of the analysis, assessment of the design and effectiveness of procurement procedures controls, the Compliance Directorate sent recommendations to the DKZ:</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On problem areas of procurement procedures identified as a result of inspections, as well as during the analysis of the Regulations on the organization of procurement of goods, works and services, in order to increase the efficiency of procurement activities and minimize the risks of violations.</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Proposals for changes to existing procurement processes and regulations regarding CI risk management mechanisms to improve existing procedures in order to increase the efficiency of the analysis, identification, and resolution of potential and actual CIs within the framework of procurement processes.</a:t>
                      </a:r>
                    </a:p>
                    <a:p>
                      <a:pPr marL="0" marR="0" lvl="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a:pPr>
                      <a:r>
                        <a:rPr lang="ru-RU" sz="700" b="0" kern="1200" dirty="0" smtClean="0">
                          <a:solidFill>
                            <a:schemeClr val="dk1"/>
                          </a:solidFill>
                          <a:latin typeface="+mn-lt"/>
                          <a:ea typeface="+mn-ea"/>
                          <a:cs typeface="+mn-cs"/>
                        </a:rPr>
                        <a:t xml:space="preserve">As part of the developed approach to risk management in 2025, the Compliance Group initiated a pilot project in Kazakhstan to decompose the risk of anti-bribery and corruption. At the level of the KZ Perimeter, a detailed matrix of risks and controls has been developed with classification by levels (low, medium, high) based on the decomposition of risk categories (legal, operational, financial, etc.), incl. in relation to the CI process (including CI risks in procurement procedures). In 2026, it is planned to develop a compliance program to combat the risk of bribery and corruption. It is also planned to develop a program to combat the risk of fraud, taking into account updates to Group Policy and the application of new legal requirements. In Perimeter, in 2026, it is planned to update the CPC Instructions and the Instructions “Disclosure and Settlement of CIs”.</a:t>
                      </a:r>
                      <a:r>
                        <a:rPr lang="ru-RU" sz="700" b="0" dirty="0" smtClean="0">
                          <a:latin typeface="+mn-lt"/>
                        </a:rPr>
                        <a:t/>
                      </a:r>
                      <a:r>
                        <a:rPr lang="ru-RU" sz="700" b="0" dirty="0" err="1" smtClean="0">
                          <a:latin typeface="+mn-lt"/>
                        </a:rPr>
                        <a:t/>
                      </a:r>
                      <a:r>
                        <a:rPr lang="ru-RU" sz="700" b="0" dirty="0" smtClean="0">
                          <a:latin typeface="+mn-lt"/>
                        </a:rPr>
                        <a:t/>
                      </a:r>
                    </a:p>
                  </a:txBody>
                  <a:tcPr marL="36000" marR="36000" marT="36000" marB="36000">
                    <a:noFill/>
                  </a:tcPr>
                </a:tc>
                <a:extLst>
                  <a:ext uri="{0D108BD9-81ED-4DB2-BD59-A6C34878D82A}">
                    <a16:rowId xmlns:a16="http://schemas.microsoft.com/office/drawing/2014/main" val="2063865917"/>
                  </a:ext>
                </a:extLst>
              </a:tr>
            </a:tbl>
          </a:graphicData>
        </a:graphic>
      </p:graphicFrame>
    </p:spTree>
    <p:extLst>
      <p:ext uri="{BB962C8B-B14F-4D97-AF65-F5344CB8AC3E}">
        <p14:creationId xmlns:p14="http://schemas.microsoft.com/office/powerpoint/2010/main" val="35758842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1835"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 xml:space="preserve">Annual compliance program 2025: Perimeter Kazakhstan Implementation status</a:t>
            </a:r>
            <a:r>
              <a:rPr lang="ru-RU" dirty="0"/>
              <a:t/>
            </a:r>
            <a:r>
              <a:rPr lang="ru-RU" dirty="0" smtClean="0"/>
              <a:t/>
            </a:r>
            <a:br>
              <a:rPr lang="ru-RU" dirty="0" smtClean="0"/>
            </a:br>
            <a:r>
              <a:rPr lang="ru-RU" dirty="0" smtClean="0">
                <a:solidFill>
                  <a:schemeClr val="tx1"/>
                </a:solidFill>
              </a:rPr>
              <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3917864580"/>
              </p:ext>
            </p:extLst>
          </p:nvPr>
        </p:nvGraphicFramePr>
        <p:xfrm>
          <a:off x="317499" y="801681"/>
          <a:ext cx="11595782" cy="5480640"/>
        </p:xfrm>
        <a:graphic>
          <a:graphicData uri="http://schemas.openxmlformats.org/drawingml/2006/table">
            <a:tbl>
              <a:tblPr firstRow="1" bandRow="1">
                <a:tableStyleId>{5C22544A-7EE6-4342-B048-85BDC9FD1C3A}</a:tableStyleId>
              </a:tblPr>
              <a:tblGrid>
                <a:gridCol w="831782">
                  <a:extLst>
                    <a:ext uri="{9D8B030D-6E8A-4147-A177-3AD203B41FA5}">
                      <a16:colId xmlns:a16="http://schemas.microsoft.com/office/drawing/2014/main" val="2229066145"/>
                    </a:ext>
                  </a:extLst>
                </a:gridCol>
                <a:gridCol w="2412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580000">
                  <a:extLst>
                    <a:ext uri="{9D8B030D-6E8A-4147-A177-3AD203B41FA5}">
                      <a16:colId xmlns:a16="http://schemas.microsoft.com/office/drawing/2014/main" val="2252265905"/>
                    </a:ext>
                  </a:extLst>
                </a:gridCol>
              </a:tblGrid>
              <a:tr h="164467">
                <a:tc rowSpan="2">
                  <a:txBody>
                    <a:bodyPr/>
                    <a:lstStyle/>
                    <a:p>
                      <a:r>
                        <a:rPr lang="ru-RU" sz="700" b="0" dirty="0">
                          <a:solidFill>
                            <a:schemeClr val="accent5">
                              <a:lumMod val="75000"/>
                              <a:lumOff val="25000"/>
                            </a:schemeClr>
                          </a:solidFill>
                          <a:latin typeface="+mn-lt"/>
                        </a:rPr>
                        <a:t xml:space="preserve">Compliance Model Component</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 xml:space="preserve">Events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 xml:space="preserve">Other divisions - participants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 xml:space="preserve">Execution Status</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96388">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 xml:space="preserve">1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2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3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4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950021">
                <a:tc rowSpan="4">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solidFill>
                            <a:schemeClr val="tx1"/>
                          </a:solidFill>
                          <a:latin typeface="+mn-lt"/>
                        </a:rPr>
                        <a:t xml:space="preserve">Risk management</a:t>
                      </a:r>
                      <a:r>
                        <a:rPr lang="ru-RU" sz="700" dirty="0" smtClean="0">
                          <a:solidFill>
                            <a:schemeClr val="tx1"/>
                          </a:solidFill>
                          <a:latin typeface="+mn-lt"/>
                        </a:rPr>
                        <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1" dirty="0" smtClean="0">
                          <a:solidFill>
                            <a:schemeClr val="tx1"/>
                          </a:solidFill>
                          <a:latin typeface="+mn-lt"/>
                        </a:rPr>
                        <a:t xml:space="preserve">(continuation)</a:t>
                      </a: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3"/>
                        <a:tabLst/>
                        <a:defRPr/>
                      </a:pPr>
                      <a:r>
                        <a:rPr lang="ru-RU" sz="700" b="0" dirty="0">
                          <a:latin typeface="+mn-lt"/>
                        </a:rPr>
                        <a:t xml:space="preserve">Provide support to businesses in managing compliance risks through compliance processes (CPC, analysis of compliance risks in CSR/BIS projects, conflicts of interest, business gifts and cultural and entertainment events, analysis of risks of non-compliance with personal data protection requirements in Perimeter projects, etc.), provision of guarantees.</a:t>
                      </a:r>
                      <a:r>
                        <a:rPr lang="ru-RU" sz="700" b="0" baseline="0" dirty="0">
                          <a:latin typeface="+mn-lt"/>
                        </a:rPr>
                        <a:t/>
                      </a:r>
                      <a:r>
                        <a:rPr lang="ru-RU" sz="700" b="0" dirty="0">
                          <a:latin typeface="+mn-lt"/>
                        </a:rPr>
                        <a:t/>
                      </a:r>
                    </a:p>
                  </a:txBody>
                  <a:tcPr marT="36000" marB="36000">
                    <a:lnT w="9525" cap="flat" cmpd="sng" algn="ctr">
                      <a:solidFill>
                        <a:srgbClr val="0070C0"/>
                      </a:solidFill>
                      <a:prstDash val="solid"/>
                      <a:round/>
                      <a:headEnd type="none" w="med" len="med"/>
                      <a:tailEnd type="none" w="med" len="med"/>
                    </a:lnT>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 xml:space="preserve">Perimeter Business Units</a:t>
                      </a:r>
                    </a:p>
                  </a:txBody>
                  <a:tcPr marT="36000" marB="36000">
                    <a:lnT w="9525" cap="flat" cmpd="sng" algn="ctr">
                      <a:solidFill>
                        <a:srgbClr val="0070C0"/>
                      </a:solidFill>
                      <a:prstDash val="solid"/>
                      <a:round/>
                      <a:headEnd type="none" w="med" len="med"/>
                      <a:tailEnd type="none" w="med" len="med"/>
                    </a:lnT>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All processes of the process area “Compliance Management” of Perimeter KZ are implemented in accordance with the rules and requirements of the relevant regulatory Policies of the Group and procedures of Perimeter, providing proper reporting and guarantees.</a:t>
                      </a:r>
                      <a:r>
                        <a:rPr lang="ru-RU" sz="700" b="0" baseline="0" dirty="0" smtClean="0">
                          <a:latin typeface="+mn-lt"/>
                        </a:rPr>
                        <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noFill/>
                  </a:tcPr>
                </a:tc>
                <a:extLst>
                  <a:ext uri="{0D108BD9-81ED-4DB2-BD59-A6C34878D82A}">
                    <a16:rowId xmlns:a16="http://schemas.microsoft.com/office/drawing/2014/main" val="116524552"/>
                  </a:ext>
                </a:extLst>
              </a:tr>
              <a:tr h="2128351">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4"/>
                        <a:tabLst/>
                        <a:defRPr/>
                      </a:pPr>
                      <a:r>
                        <a:rPr lang="ru-RU" sz="700" b="0" kern="1200" dirty="0">
                          <a:solidFill>
                            <a:schemeClr val="dk1"/>
                          </a:solidFill>
                          <a:latin typeface="+mn-lt"/>
                          <a:ea typeface="+mn-ea"/>
                          <a:cs typeface="+mn-cs"/>
                        </a:rPr>
                        <a:t xml:space="preserve">Perform an assessment of the risk of human rights violations associated with one’s own activities and/or relations with third parties in the business processes of one of the Perimeter enterprises as a pilot project.</a:t>
                      </a:r>
                      <a:r>
                        <a:rPr lang="ru" sz="700" b="0" kern="1200" dirty="0">
                          <a:solidFill>
                            <a:schemeClr val="dk1"/>
                          </a:solidFill>
                          <a:latin typeface="+mn-lt"/>
                          <a:ea typeface="+mn-ea"/>
                          <a:cs typeface="+mn-cs"/>
                        </a:rPr>
                        <a:t/>
                      </a:r>
                      <a:endParaRPr lang="ru-RU" sz="700" b="0" kern="1200" dirty="0">
                        <a:solidFill>
                          <a:schemeClr val="dk1"/>
                        </a:solidFill>
                        <a:latin typeface="+mn-lt"/>
                        <a:ea typeface="+mn-ea"/>
                        <a:cs typeface="+mn-cs"/>
                      </a:endParaRPr>
                    </a:p>
                  </a:txBody>
                  <a:tcPr marT="36000" marB="36000">
                    <a:noFill/>
                  </a:tcPr>
                </a:tc>
                <a:tc>
                  <a:txBody>
                    <a:bodyPr/>
                    <a:lstStyle/>
                    <a:p>
                      <a:pPr marL="228600" marR="0" lvl="0" indent="-228600" algn="ctr" defTabSz="583170" rtl="0" eaLnBrk="1" fontAlgn="auto" latinLnBrk="0" hangingPunct="1">
                        <a:lnSpc>
                          <a:spcPct val="100000"/>
                        </a:lnSpc>
                        <a:spcBef>
                          <a:spcPts val="0"/>
                        </a:spcBef>
                        <a:spcAft>
                          <a:spcPts val="0"/>
                        </a:spcAft>
                        <a:buClrTx/>
                        <a:buSzTx/>
                        <a:buFont typeface="+mj-lt"/>
                        <a:buAutoNum type="arabicPeriod"/>
                        <a:tabLst/>
                        <a:defRPr/>
                      </a:pPr>
                      <a:endParaRPr kumimoji="0" lang="ru-RU" sz="700" b="0" i="0" u="none" strike="noStrike" kern="1200" cap="none" spc="0" normalizeH="0" baseline="0" noProof="0" dirty="0">
                        <a:ln>
                          <a:noFill/>
                        </a:ln>
                        <a:solidFill>
                          <a:schemeClr val="tx1"/>
                        </a:solidFill>
                        <a:effectLst/>
                        <a:uLnTx/>
                        <a:uFillTx/>
                        <a:latin typeface="+mn-lt"/>
                        <a:ea typeface="+mn-ea"/>
                        <a:cs typeface="+mn-cs"/>
                      </a:endParaRPr>
                    </a:p>
                  </a:txBody>
                  <a:tcPr marT="36000" marB="36000">
                    <a:gradFill>
                      <a:gsLst>
                        <a:gs pos="0">
                          <a:schemeClr val="accent4">
                            <a:lumMod val="20000"/>
                            <a:lumOff val="80000"/>
                          </a:schemeClr>
                        </a:gs>
                        <a:gs pos="100000">
                          <a:schemeClr val="bg1"/>
                        </a:gs>
                      </a:gsLst>
                      <a:lin ang="5400000" scaled="1"/>
                    </a:gradFill>
                  </a:tcPr>
                </a:tc>
                <a:tc>
                  <a:txBody>
                    <a:bodyPr/>
                    <a:lstStyle/>
                    <a:p>
                      <a:endParaRPr lang="ru-RU"/>
                    </a:p>
                  </a:txBody>
                  <a:tcPr marT="36000" marB="36000">
                    <a:gradFill>
                      <a:gsLst>
                        <a:gs pos="0">
                          <a:schemeClr val="accent4">
                            <a:lumMod val="20000"/>
                            <a:lumOff val="80000"/>
                          </a:schemeClr>
                        </a:gs>
                        <a:gs pos="100000">
                          <a:schemeClr val="bg1"/>
                        </a:gs>
                      </a:gsLst>
                      <a:lin ang="5400000" scaled="1"/>
                    </a:gradFill>
                  </a:tcPr>
                </a:tc>
                <a:tc>
                  <a:txBody>
                    <a:bodyPr/>
                    <a:lstStyle/>
                    <a:p>
                      <a:pPr marL="228600" marR="0" lvl="0" indent="-228600" algn="ctr" defTabSz="583170" rtl="0" eaLnBrk="1" fontAlgn="auto" latinLnBrk="0" hangingPunct="1">
                        <a:lnSpc>
                          <a:spcPct val="100000"/>
                        </a:lnSpc>
                        <a:spcBef>
                          <a:spcPts val="0"/>
                        </a:spcBef>
                        <a:spcAft>
                          <a:spcPts val="0"/>
                        </a:spcAft>
                        <a:buClrTx/>
                        <a:buSzTx/>
                        <a:buFont typeface="+mj-lt"/>
                        <a:buAutoNum type="arabicPeriod"/>
                        <a:tabLst/>
                        <a:defRPr/>
                      </a:pPr>
                      <a:endParaRPr kumimoji="0" lang="ru-RU" sz="700" b="0" i="0" u="none" strike="noStrike" kern="1200" cap="none" spc="0" normalizeH="0" baseline="0" noProof="0" dirty="0">
                        <a:ln>
                          <a:noFill/>
                        </a:ln>
                        <a:solidFill>
                          <a:schemeClr val="tx1"/>
                        </a:solidFill>
                        <a:effectLst/>
                        <a:uLnTx/>
                        <a:uFillTx/>
                        <a:latin typeface="+mn-lt"/>
                        <a:ea typeface="+mn-ea"/>
                        <a:cs typeface="+mn-cs"/>
                      </a:endParaRP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 typeface="+mj-lt"/>
                        <a:buNone/>
                        <a:tabLst/>
                        <a:defRPr/>
                      </a:pPr>
                      <a:r>
                        <a:rPr kumimoji="0" lang="ru-RU" sz="700" b="0" i="0" u="none" strike="noStrike" kern="1200" cap="none" spc="0" normalizeH="0" baseline="0" noProof="0" dirty="0">
                          <a:ln>
                            <a:noFill/>
                          </a:ln>
                          <a:solidFill>
                            <a:schemeClr val="tx1"/>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indent="0">
                        <a:buFont typeface="+mj-lt"/>
                        <a:buNone/>
                      </a:pPr>
                      <a:r>
                        <a:rPr lang="ru-RU" sz="700" b="0" dirty="0">
                          <a:latin typeface="+mn-lt"/>
                        </a:rPr>
                        <a:t xml:space="preserve">ESG team, HR, business divisions of the enterprise</a:t>
                      </a:r>
                      <a:r>
                        <a:rPr lang="en-US" sz="700" b="0" dirty="0">
                          <a:latin typeface="+mn-lt"/>
                        </a:rPr>
                        <a:t/>
                      </a:r>
                      <a:r>
                        <a:rPr lang="ru-RU" sz="700" b="0" dirty="0">
                          <a:latin typeface="+mn-lt"/>
                        </a:rPr>
                        <a:t/>
                      </a:r>
                      <a:r>
                        <a:rPr lang="en-US" sz="700" b="0" dirty="0">
                          <a:latin typeface="+mn-lt"/>
                        </a:rPr>
                        <a:t/>
                      </a:r>
                      <a:r>
                        <a:rPr lang="ru-RU" sz="700" b="0" dirty="0">
                          <a:latin typeface="+mn-lt"/>
                        </a:rPr>
                        <a:t/>
                      </a:r>
                    </a:p>
                  </a:txBody>
                  <a:tcPr marT="36000" marB="36000">
                    <a:noFill/>
                  </a:tcPr>
                </a:tc>
                <a:tc>
                  <a:txBody>
                    <a:bodyPr/>
                    <a:lstStyle/>
                    <a:p>
                      <a:pPr marL="0" indent="0">
                        <a:buFont typeface="+mj-lt"/>
                        <a:buNone/>
                      </a:pPr>
                      <a:r>
                        <a:rPr lang="ru-RU" sz="700" b="0" dirty="0" smtClean="0">
                          <a:latin typeface="+mn-lt"/>
                        </a:rPr>
                        <a:t xml:space="preserve">The implementation of this task was mainly planned for the purpose of passing the ESG assessment according to EcoVadis for Kazchrome (to have additional analysis confirming the low risk in Perimeter). At the same time, the owner of the ESG process did not show interest in this project, because The EcoVadis assessment itself already includes an in-depth risk assessment, incl. in the field of human rights, to which a separate (most comprehensive) section of the assessment is devoted.</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p>
                    <a:p>
                      <a:pPr marL="0" indent="0">
                        <a:buFont typeface="+mj-lt"/>
                        <a:buNone/>
                      </a:pPr>
                      <a:r>
                        <a:rPr lang="ru-RU" sz="700" b="0" dirty="0" smtClean="0">
                          <a:latin typeface="+mn-lt"/>
                        </a:rPr>
                        <a:t xml:space="preserve">Thus, according to the results of the previous EcoVadis assessment, the criterion “Labor Rights and Human Rights” received a score of 60 out of 100, while most indicators in this section received the highest score of 100 out of 100, incl. an indicator of public statements by ERG and Kazchrome in particular about commitment to the principles of respect for human rights, an indicator of measures and actions to implement obligations in the field of compliance with labor and human rights, an indicator of the coverage and level of implementation of mitigation measures, the strengths of ERG Human Rights Policy, etc. were noted. The assessment was reduced not due to the identification of risks, but due to the absence in the SDR of quantitative goals for the number of incidents in the field of human rights (we do not have one, because the risk is low and there are practically no such incidents, for example, 0 cases according to WBS by Perimeter for 2023-2025), lack of some ISO certificates by Perimeter, several industrial accidents). The 2025 assessment has been completed and results are currently awaited. Thus, human rights risk assessment is now sufficiently “covered” within the EcoVadis assessment as well as the LME.</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p>
                    <a:p>
                      <a:pPr marL="0" indent="0">
                        <a:buFont typeface="+mj-lt"/>
                        <a:buNone/>
                      </a:pPr>
                      <a:r>
                        <a:rPr lang="ru-RU" sz="700" b="0" dirty="0" smtClean="0">
                          <a:latin typeface="+mn-lt"/>
                        </a:rPr>
                        <a:t xml:space="preserve">Additionally, the risk of human rights violations will be decomposed within the framework of the project to create a register of compliance risks at the Perimeter level (with the possibility of integration with the register of compliance risks at the Group level) and a matrix of risks and controls.</a:t>
                      </a:r>
                    </a:p>
                    <a:p>
                      <a:pPr marL="0" indent="0">
                        <a:buFont typeface="+mj-lt"/>
                        <a:buNone/>
                      </a:pPr>
                      <a:r>
                        <a:rPr lang="ru-RU" sz="700" b="0" dirty="0" smtClean="0">
                          <a:latin typeface="+mn-lt"/>
                        </a:rPr>
                        <a:t xml:space="preserve">It should be noted that the resolution of the Compliance Committee dated February 14, 2025 supported the hiring of a specialist for a vacant position, incl. to conduct such a pilot assessment at the request of Perimeter due to lack of resources, however, due to reasons discussed with the Chairman of the Compliance Committee (including restrictions on external recruitment), as of 12/31/2025 the vacancy was not filled (expected to hire a specialist on 03/02/2026).</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endParaRPr lang="ru-RU" sz="700" b="0" dirty="0">
                        <a:latin typeface="+mn-lt"/>
                      </a:endParaRPr>
                    </a:p>
                  </a:txBody>
                  <a:tcPr marT="36000" marB="36000">
                    <a:noFill/>
                  </a:tcPr>
                </a:tc>
                <a:extLst>
                  <a:ext uri="{0D108BD9-81ED-4DB2-BD59-A6C34878D82A}">
                    <a16:rowId xmlns:a16="http://schemas.microsoft.com/office/drawing/2014/main" val="743716193"/>
                  </a:ext>
                </a:extLst>
              </a:tr>
              <a:tr h="1244603">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5"/>
                        <a:tabLst/>
                        <a:defRPr/>
                      </a:pPr>
                      <a:r>
                        <a:rPr lang="ru-RU" sz="700" b="0" kern="1200" dirty="0">
                          <a:solidFill>
                            <a:schemeClr val="dk1"/>
                          </a:solidFill>
                          <a:latin typeface="+mn-lt"/>
                          <a:ea typeface="+mn-ea"/>
                          <a:cs typeface="+mn-cs"/>
                        </a:rPr>
                        <a:t xml:space="preserve">Conduct additional risk analysis regarding proper reporting of the intended use of funds for B&amp;S projects.</a:t>
                      </a:r>
                      <a:r>
                        <a:rPr lang="ru-RU" sz="700" b="0" kern="1200" baseline="0" dirty="0">
                          <a:solidFill>
                            <a:schemeClr val="dk1"/>
                          </a:solidFill>
                          <a:latin typeface="+mn-lt"/>
                          <a:ea typeface="+mn-ea"/>
                          <a:cs typeface="+mn-cs"/>
                        </a:rPr>
                        <a:t/>
                      </a:r>
                      <a:endParaRPr lang="ru-RU" sz="700" b="0" kern="1200" dirty="0">
                        <a:solidFill>
                          <a:schemeClr val="dk1"/>
                        </a:solidFill>
                        <a:latin typeface="+mn-lt"/>
                        <a:ea typeface="+mn-ea"/>
                        <a:cs typeface="+mn-cs"/>
                      </a:endParaRPr>
                    </a:p>
                  </a:txBody>
                  <a:tcPr marT="36000" marB="36000">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FF0000"/>
                        </a:solidFill>
                        <a:effectLst/>
                        <a:uLnTx/>
                        <a:uFillTx/>
                        <a:latin typeface="+mn-lt"/>
                        <a:ea typeface="+mn-ea"/>
                        <a:cs typeface="+mn-cs"/>
                      </a:endParaRPr>
                    </a:p>
                  </a:txBody>
                  <a:tcPr marT="36000" marB="36000">
                    <a:gradFill>
                      <a:gsLst>
                        <a:gs pos="0">
                          <a:schemeClr val="accent4">
                            <a:lumMod val="20000"/>
                            <a:lumOff val="80000"/>
                          </a:schemeClr>
                        </a:gs>
                        <a:gs pos="100000">
                          <a:schemeClr val="bg1"/>
                        </a:gs>
                      </a:gsLst>
                      <a:lin ang="5400000" scaled="1"/>
                    </a:gradFill>
                  </a:tcPr>
                </a:tc>
                <a:tc>
                  <a:txBody>
                    <a:bodyPr/>
                    <a:lstStyle/>
                    <a:p>
                      <a:endParaRPr lang="ru-RU"/>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chemeClr val="tx1"/>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FF0000"/>
                        </a:solidFill>
                        <a:effectLst/>
                        <a:uLnTx/>
                        <a:uFillTx/>
                        <a:latin typeface="+mn-lt"/>
                        <a:ea typeface="+mn-ea"/>
                        <a:cs typeface="+mn-cs"/>
                      </a:endParaRP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 xml:space="preserve">Perimeter BiS Commission, Perimeter CLO, Fin. block</a:t>
                      </a:r>
                      <a:r>
                        <a:rPr lang="en-US" sz="700" b="0" dirty="0">
                          <a:latin typeface="+mn-lt"/>
                        </a:rPr>
                        <a:t/>
                      </a:r>
                      <a:r>
                        <a:rPr lang="ru-RU" sz="700" b="0" dirty="0">
                          <a:latin typeface="+mn-lt"/>
                        </a:rPr>
                        <a:t/>
                      </a:r>
                    </a:p>
                  </a:txBody>
                  <a:tcPr marT="36000" marB="36000">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Together with Komek analysts, an additional analysis was carried out in relation to three BiS projects of 2019 - there is no progress in obtaining reports on the intended use of funds for these projects (the issue of the current circumstances was discussed, among other things, at the level of the CEO of Perimeter and the Compliance Committee), Perimeter's requests for reports and supporting documents on the intended use were left unanswered, the new management of the funds probably considers the projects closed, the documents provided earlier are sufficient and does not see the need in providing reports in accordance with the requirements of the Perimeter BIS Regulations and concluded agreements on the provision of charitable assistance, the statute of limitations for demanding the return of funds or reports on the intended use in a forced manner has passed (3 years in accordance with Article 178 of the Civil Code of the Republic of Kazakhstan), there is no information today that any risks have been realized on the projects or investigations are being conducted, incl. in the field of corruption (the maximum statute of limitations in the case of a particularly serious crime under Article 71 of the Criminal Code of the Republic of Kazakhstan is 20 years, at the same time, there were no corrupt intentions in Komek’s actions and assistance was provided according to the law within the framework of contracts). The information was sent to the Perimeter CFO for further consideration by the Perimeter BIS Commission and decision-making.</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endParaRPr lang="ru-RU" sz="700" b="0" dirty="0">
                        <a:latin typeface="+mn-lt"/>
                      </a:endParaRPr>
                    </a:p>
                  </a:txBody>
                  <a:tcPr marT="36000" marB="36000">
                    <a:noFill/>
                  </a:tcPr>
                </a:tc>
                <a:extLst>
                  <a:ext uri="{0D108BD9-81ED-4DB2-BD59-A6C34878D82A}">
                    <a16:rowId xmlns:a16="http://schemas.microsoft.com/office/drawing/2014/main" val="3273475996"/>
                  </a:ext>
                </a:extLst>
              </a:tr>
              <a:tr h="360855">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6"/>
                        <a:tabLst/>
                        <a:defRPr/>
                      </a:pPr>
                      <a:r>
                        <a:rPr lang="ru-RU" sz="700" b="0" dirty="0">
                          <a:solidFill>
                            <a:schemeClr val="tx1"/>
                          </a:solidFill>
                          <a:latin typeface="+mn-lt"/>
                        </a:rPr>
                        <a:t xml:space="preserve">Complete the tasks of the Compliance program for the protection of personal data 2025 of Perimeter Kazakhstan (slides 53-56).</a:t>
                      </a:r>
                      <a:r>
                        <a:rPr lang="ru-RU" sz="700" b="0" dirty="0" smtClean="0">
                          <a:solidFill>
                            <a:schemeClr val="tx1"/>
                          </a:solidFill>
                          <a:latin typeface="+mn-lt"/>
                        </a:rPr>
                        <a:t/>
                      </a:r>
                      <a:endParaRPr lang="ru-RU" sz="700" b="0" dirty="0">
                        <a:solidFill>
                          <a:schemeClr val="tx1"/>
                        </a:solidFill>
                        <a:latin typeface="+mn-lt"/>
                      </a:endParaRPr>
                    </a:p>
                  </a:txBody>
                  <a:tcPr marT="36000" marB="36000">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tx1"/>
                          </a:solidFill>
                          <a:latin typeface="+mn-lt"/>
                        </a:rPr>
                        <a:t xml:space="preserve">The status of implementation of the tasks of the Compliance program for the protection of personal data 2025 of the KZ Perimeter is presented on slides 53-56.</a:t>
                      </a:r>
                      <a:r>
                        <a:rPr lang="ru-RU" sz="700" b="0" baseline="0" dirty="0" smtClean="0">
                          <a:solidFill>
                            <a:schemeClr val="tx1"/>
                          </a:solidFill>
                          <a:latin typeface="+mn-lt"/>
                        </a:rPr>
                        <a:t/>
                      </a:r>
                      <a:r>
                        <a:rPr lang="ru-RU" sz="700" b="0" dirty="0" smtClean="0">
                          <a:solidFill>
                            <a:schemeClr val="tx1"/>
                          </a:solidFill>
                          <a:latin typeface="+mn-lt"/>
                        </a:rPr>
                        <a:t/>
                      </a:r>
                      <a:endParaRPr lang="ru-RU" sz="700" b="0" dirty="0">
                        <a:solidFill>
                          <a:schemeClr val="tx1"/>
                        </a:solidFill>
                        <a:latin typeface="+mn-lt"/>
                      </a:endParaRPr>
                    </a:p>
                  </a:txBody>
                  <a:tcPr marT="36000" marB="36000">
                    <a:noFill/>
                  </a:tcPr>
                </a:tc>
                <a:extLst>
                  <a:ext uri="{0D108BD9-81ED-4DB2-BD59-A6C34878D82A}">
                    <a16:rowId xmlns:a16="http://schemas.microsoft.com/office/drawing/2014/main" val="831589419"/>
                  </a:ext>
                </a:extLst>
              </a:tr>
            </a:tbl>
          </a:graphicData>
        </a:graphic>
      </p:graphicFrame>
    </p:spTree>
    <p:extLst>
      <p:ext uri="{BB962C8B-B14F-4D97-AF65-F5344CB8AC3E}">
        <p14:creationId xmlns:p14="http://schemas.microsoft.com/office/powerpoint/2010/main" val="29364160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2853"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 xml:space="preserve">Annual compliance program 2025: Perimeter Kazakhstan Implementation status</a:t>
            </a:r>
            <a:r>
              <a:rPr lang="ru-RU" dirty="0"/>
              <a:t/>
            </a:r>
            <a:r>
              <a:rPr lang="ru-RU" dirty="0" smtClean="0"/>
              <a:t/>
            </a:r>
            <a:br>
              <a:rPr lang="ru-RU" dirty="0" smtClean="0"/>
            </a:br>
            <a:r>
              <a:rPr lang="ru-RU" dirty="0" smtClean="0">
                <a:solidFill>
                  <a:schemeClr val="tx1"/>
                </a:solidFill>
              </a:rPr>
              <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2255741663"/>
              </p:ext>
            </p:extLst>
          </p:nvPr>
        </p:nvGraphicFramePr>
        <p:xfrm>
          <a:off x="317499" y="801683"/>
          <a:ext cx="11703782" cy="5791183"/>
        </p:xfrm>
        <a:graphic>
          <a:graphicData uri="http://schemas.openxmlformats.org/drawingml/2006/table">
            <a:tbl>
              <a:tblPr firstRow="1" bandRow="1">
                <a:tableStyleId>{5C22544A-7EE6-4342-B048-85BDC9FD1C3A}</a:tableStyleId>
              </a:tblPr>
              <a:tblGrid>
                <a:gridCol w="831782">
                  <a:extLst>
                    <a:ext uri="{9D8B030D-6E8A-4147-A177-3AD203B41FA5}">
                      <a16:colId xmlns:a16="http://schemas.microsoft.com/office/drawing/2014/main" val="2229066145"/>
                    </a:ext>
                  </a:extLst>
                </a:gridCol>
                <a:gridCol w="2736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364000">
                  <a:extLst>
                    <a:ext uri="{9D8B030D-6E8A-4147-A177-3AD203B41FA5}">
                      <a16:colId xmlns:a16="http://schemas.microsoft.com/office/drawing/2014/main" val="2252265905"/>
                    </a:ext>
                  </a:extLst>
                </a:gridCol>
              </a:tblGrid>
              <a:tr h="149648">
                <a:tc rowSpan="2">
                  <a:txBody>
                    <a:bodyPr/>
                    <a:lstStyle/>
                    <a:p>
                      <a:r>
                        <a:rPr lang="ru-RU" sz="700" b="0" dirty="0">
                          <a:solidFill>
                            <a:schemeClr val="accent5">
                              <a:lumMod val="75000"/>
                              <a:lumOff val="25000"/>
                            </a:schemeClr>
                          </a:solidFill>
                          <a:latin typeface="+mn-lt"/>
                        </a:rPr>
                        <a:t xml:space="preserve">Compliance Model Component</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 xml:space="preserve">Events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 xml:space="preserve">Other divisions - participants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 xml:space="preserve">Execution Status</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78693">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 xml:space="preserve">1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2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3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4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507033">
                <a:tc rowSpan="5">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solidFill>
                            <a:schemeClr val="tx1"/>
                          </a:solidFill>
                          <a:latin typeface="+mn-lt"/>
                        </a:rPr>
                        <a:t xml:space="preserve">Risk management</a:t>
                      </a:r>
                      <a:r>
                        <a:rPr lang="ru-RU" sz="700" dirty="0" smtClean="0">
                          <a:solidFill>
                            <a:schemeClr val="tx1"/>
                          </a:solidFill>
                          <a:latin typeface="+mn-lt"/>
                        </a:rPr>
                        <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1" dirty="0" smtClean="0">
                          <a:solidFill>
                            <a:schemeClr val="tx1"/>
                          </a:solidFill>
                          <a:latin typeface="+mn-lt"/>
                        </a:rPr>
                        <a:t xml:space="preserve">(continuation)</a:t>
                      </a: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7"/>
                        <a:tabLst/>
                        <a:defRPr/>
                      </a:pPr>
                      <a:r>
                        <a:rPr lang="ru-RU" sz="700" b="0" dirty="0">
                          <a:latin typeface="+mn-lt"/>
                        </a:rPr>
                        <a:t xml:space="preserve">Participate in Group Risk Review (analysis and preparation of materials regarding Perimeter’s compliance risk management).</a:t>
                      </a:r>
                      <a:r>
                        <a:rPr lang="ru-RU" sz="700" b="0" baseline="0" dirty="0">
                          <a:latin typeface="+mn-lt"/>
                        </a:rPr>
                        <a:t/>
                      </a:r>
                      <a:r>
                        <a:rPr lang="en-US" sz="700" b="0" baseline="0" dirty="0">
                          <a:latin typeface="+mn-lt"/>
                        </a:rPr>
                        <a:t/>
                      </a:r>
                      <a:r>
                        <a:rPr lang="ru-RU" sz="700" b="0" baseline="0" dirty="0">
                          <a:latin typeface="+mn-lt"/>
                        </a:rPr>
                        <a:t/>
                      </a:r>
                      <a:r>
                        <a:rPr lang="en-US" sz="700" b="0" baseline="0" dirty="0">
                          <a:latin typeface="+mn-lt"/>
                        </a:rPr>
                        <a:t/>
                      </a:r>
                      <a:r>
                        <a:rPr lang="ru-RU" sz="700" b="0" baseline="0" dirty="0">
                          <a:latin typeface="+mn-lt"/>
                        </a:rPr>
                        <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 xml:space="preserve">Risks</a:t>
                      </a:r>
                    </a:p>
                  </a:txBody>
                  <a:tcPr marT="36000" marB="36000">
                    <a:lnT w="9525" cap="flat" cmpd="sng" algn="ctr">
                      <a:solidFill>
                        <a:srgbClr val="0070C0"/>
                      </a:solidFill>
                      <a:prstDash val="solid"/>
                      <a:round/>
                      <a:headEnd type="none" w="med" len="med"/>
                      <a:tailEnd type="none" w="med" len="med"/>
                    </a:lnT>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Together with the Compliance Group, a pilot was implemented in Kazakhstan to decompose the risk of bribery and corruption with a detailed classification by key processes. In 2026, further risk decomposition is planned for key compliance risks in accordance with ISO standards and CSRD requirements, taking into account the results of the pilot project. There are also plans to develop anti-bribery and anti-fraud programs in line with the requirements, including the UK Economic Crime and Corporate Transparency Act 2023 and related guidance.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noFill/>
                  </a:tcPr>
                </a:tc>
                <a:extLst>
                  <a:ext uri="{0D108BD9-81ED-4DB2-BD59-A6C34878D82A}">
                    <a16:rowId xmlns:a16="http://schemas.microsoft.com/office/drawing/2014/main" val="233389070"/>
                  </a:ext>
                </a:extLst>
              </a:tr>
              <a:tr h="417687">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8"/>
                        <a:tabLst/>
                        <a:defRPr/>
                      </a:pPr>
                      <a:r>
                        <a:rPr lang="ru-RU" sz="700" b="0" dirty="0" smtClean="0">
                          <a:solidFill>
                            <a:schemeClr val="tx1"/>
                          </a:solidFill>
                          <a:latin typeface="+mn-lt"/>
                        </a:rPr>
                        <a:t xml:space="preserve">Support in terms of compliance risk management in the development and implementation of special projects of the Group, Perimeter according to the list of projects indicated on slides 51-52.</a:t>
                      </a:r>
                      <a:r>
                        <a:rPr lang="ru-RU" sz="700" b="0" baseline="0" dirty="0" smtClean="0">
                          <a:solidFill>
                            <a:schemeClr val="tx1"/>
                          </a:solidFill>
                          <a:latin typeface="+mn-lt"/>
                        </a:rPr>
                        <a:t/>
                      </a:r>
                      <a:r>
                        <a:rPr lang="ru-RU" sz="700" b="0" baseline="0" dirty="0">
                          <a:solidFill>
                            <a:schemeClr val="tx1"/>
                          </a:solidFill>
                          <a:latin typeface="+mn-lt"/>
                        </a:rPr>
                        <a:t/>
                      </a:r>
                      <a:r>
                        <a:rPr lang="ru-RU" sz="700" b="0" baseline="0" dirty="0" smtClean="0">
                          <a:solidFill>
                            <a:schemeClr val="tx1"/>
                          </a:solidFill>
                          <a:latin typeface="+mn-lt"/>
                        </a:rPr>
                        <a:t/>
                      </a:r>
                      <a:r>
                        <a:rPr lang="ru-RU" sz="700" b="0" dirty="0">
                          <a:solidFill>
                            <a:schemeClr val="tx1"/>
                          </a:solidFill>
                          <a:latin typeface="+mn-lt"/>
                        </a:rPr>
                        <a:t/>
                      </a:r>
                      <a:r>
                        <a:rPr lang="ru-RU" sz="700" b="0" baseline="0" dirty="0">
                          <a:solidFill>
                            <a:schemeClr val="tx1"/>
                          </a:solidFill>
                          <a:latin typeface="+mn-lt"/>
                        </a:rPr>
                        <a:t/>
                      </a:r>
                      <a:r>
                        <a:rPr lang="ru-RU" sz="700" b="0" baseline="0" dirty="0" smtClean="0">
                          <a:solidFill>
                            <a:schemeClr val="tx1"/>
                          </a:solidFill>
                          <a:latin typeface="+mn-lt"/>
                        </a:rPr>
                        <a:t/>
                      </a:r>
                      <a:endParaRPr lang="ru-RU" sz="700" b="0" dirty="0">
                        <a:solidFill>
                          <a:schemeClr val="tx1"/>
                        </a:solidFill>
                        <a:latin typeface="+mn-lt"/>
                      </a:endParaRPr>
                    </a:p>
                  </a:txBody>
                  <a:tcPr marT="36000" marB="36000">
                    <a:noFill/>
                  </a:tcPr>
                </a:tc>
                <a:tc gridSpan="4">
                  <a:txBody>
                    <a:bodyPr/>
                    <a:lstStyle/>
                    <a:p>
                      <a:pPr algn="ctr"/>
                      <a:r>
                        <a:rPr lang="ru-RU" sz="700" i="1" dirty="0">
                          <a:latin typeface="+mn-lt"/>
                        </a:rPr>
                        <a:t xml:space="preserve">according to project deadlines</a:t>
                      </a:r>
                      <a:r>
                        <a:rPr lang="ru-RU" sz="700" i="1" baseline="0" dirty="0">
                          <a:latin typeface="+mn-lt"/>
                        </a:rPr>
                        <a:t/>
                      </a:r>
                      <a:endParaRPr lang="ru-RU" sz="700" i="1" dirty="0">
                        <a:latin typeface="+mn-lt"/>
                      </a:endParaRPr>
                    </a:p>
                  </a:txBody>
                  <a:tcPr marT="36000" marB="36000">
                    <a:gradFill>
                      <a:gsLst>
                        <a:gs pos="0">
                          <a:schemeClr val="accent4">
                            <a:lumMod val="20000"/>
                            <a:lumOff val="80000"/>
                          </a:schemeClr>
                        </a:gs>
                        <a:gs pos="100000">
                          <a:schemeClr val="bg1"/>
                        </a:gs>
                      </a:gsLst>
                      <a:lin ang="5400000" scaled="1"/>
                    </a:gradFill>
                  </a:tcPr>
                </a:tc>
                <a:tc hMerge="1">
                  <a:txBody>
                    <a:bodyPr/>
                    <a:lstStyle/>
                    <a:p>
                      <a:endParaRPr lang="ru-RU"/>
                    </a:p>
                  </a:txBody>
                  <a:tcPr/>
                </a:tc>
                <a:tc hMerge="1">
                  <a:txBody>
                    <a:bodyPr/>
                    <a:lstStyle/>
                    <a:p>
                      <a:endParaRPr lang="ru-RU" sz="800" dirty="0"/>
                    </a:p>
                  </a:txBody>
                  <a:tcPr>
                    <a:gradFill>
                      <a:gsLst>
                        <a:gs pos="0">
                          <a:schemeClr val="accent4">
                            <a:lumMod val="20000"/>
                            <a:lumOff val="80000"/>
                          </a:schemeClr>
                        </a:gs>
                        <a:gs pos="100000">
                          <a:schemeClr val="bg1"/>
                        </a:gs>
                      </a:gsLst>
                      <a:lin ang="5400000" scaled="1"/>
                    </a:gradFill>
                  </a:tcPr>
                </a:tc>
                <a:tc hMerge="1">
                  <a:txBody>
                    <a:bodyPr/>
                    <a:lstStyle/>
                    <a:p>
                      <a:endParaRPr lang="ru-RU" sz="800" dirty="0"/>
                    </a:p>
                  </a:txBody>
                  <a:tcPr>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 xml:space="preserve">Compliance Groups, project participants</a:t>
                      </a:r>
                      <a:r>
                        <a:rPr lang="ru-RU" sz="700" b="0" baseline="0" dirty="0">
                          <a:latin typeface="+mn-lt"/>
                        </a:rPr>
                        <a:t/>
                      </a:r>
                      <a:r>
                        <a:rPr lang="ru-RU" sz="700" b="0" dirty="0">
                          <a:latin typeface="+mn-lt"/>
                        </a:rPr>
                        <a:t/>
                      </a:r>
                    </a:p>
                  </a:txBody>
                  <a:tcPr marT="36000" marB="36000">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tx1"/>
                          </a:solidFill>
                          <a:latin typeface="+mn-lt"/>
                        </a:rPr>
                        <a:t xml:space="preserve">The task completion status is indicated on slides 51-52.</a:t>
                      </a:r>
                      <a:endParaRPr lang="ru-RU" sz="700" b="0" dirty="0">
                        <a:solidFill>
                          <a:schemeClr val="tx1"/>
                        </a:solidFill>
                        <a:latin typeface="+mn-lt"/>
                      </a:endParaRPr>
                    </a:p>
                  </a:txBody>
                  <a:tcPr marT="36000" marB="36000">
                    <a:noFill/>
                  </a:tcPr>
                </a:tc>
                <a:extLst>
                  <a:ext uri="{0D108BD9-81ED-4DB2-BD59-A6C34878D82A}">
                    <a16:rowId xmlns:a16="http://schemas.microsoft.com/office/drawing/2014/main" val="2003995567"/>
                  </a:ext>
                </a:extLst>
              </a:tr>
              <a:tr h="417687">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9"/>
                        <a:tabLst/>
                        <a:defRPr/>
                      </a:pPr>
                      <a:r>
                        <a:rPr lang="ru-RU" sz="700" b="0" dirty="0">
                          <a:latin typeface="+mn-lt"/>
                        </a:rPr>
                        <a:t xml:space="preserve">Continue monitoring and implementation of measures based on the results of self-testing in 2024 (in the field of CPC, BiS / CSR, conflict of interest, personal data protection, etc.)</a:t>
                      </a:r>
                    </a:p>
                  </a:txBody>
                  <a:tcPr marT="36000" marB="36000">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 xml:space="preserve">Perimeter Business Units</a:t>
                      </a:r>
                    </a:p>
                  </a:txBody>
                  <a:tcPr marT="36000" marB="36000">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As of the end of 2025, 89% of the recommendations have been implemented, the rest: 2% in the process of implementation (at the stage of approval in the ESED), 9% have been postponed to 2026+ (lack of resources, need to improve IT systems).</a:t>
                      </a:r>
                    </a:p>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noFill/>
                  </a:tcPr>
                </a:tc>
                <a:extLst>
                  <a:ext uri="{0D108BD9-81ED-4DB2-BD59-A6C34878D82A}">
                    <a16:rowId xmlns:a16="http://schemas.microsoft.com/office/drawing/2014/main" val="740756258"/>
                  </a:ext>
                </a:extLst>
              </a:tr>
              <a:tr h="328340">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10"/>
                        <a:tabLst/>
                        <a:defRPr/>
                      </a:pPr>
                      <a:r>
                        <a:rPr lang="ru-RU" sz="700" b="0" dirty="0">
                          <a:latin typeface="+mn-lt"/>
                        </a:rPr>
                        <a:t xml:space="preserve">Participation in the Group’s project to develop a risk management dashboard based on the results of the CSRD Gap Assessment – ​​Compliance.</a:t>
                      </a:r>
                      <a:r>
                        <a:rPr lang="ru-RU" sz="700" b="0" baseline="0" dirty="0">
                          <a:latin typeface="+mn-lt"/>
                        </a:rPr>
                        <a:t/>
                      </a:r>
                      <a:r>
                        <a:rPr lang="en-US" sz="700" b="0" dirty="0">
                          <a:latin typeface="+mn-lt"/>
                        </a:rPr>
                        <a:t/>
                      </a:r>
                      <a:r>
                        <a:rPr lang="ru-RU" sz="700" b="0" dirty="0">
                          <a:latin typeface="+mn-lt"/>
                        </a:rPr>
                        <a:t/>
                      </a:r>
                    </a:p>
                  </a:txBody>
                  <a:tcPr marT="36000" marB="36000">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1" u="none" strike="noStrike" kern="1200" cap="none" spc="0" normalizeH="0" baseline="0" noProof="0" dirty="0">
                          <a:ln>
                            <a:noFill/>
                          </a:ln>
                          <a:solidFill>
                            <a:srgbClr val="32373C"/>
                          </a:solidFill>
                          <a:effectLst/>
                          <a:uLnTx/>
                          <a:uFillTx/>
                          <a:latin typeface="+mn-lt"/>
                          <a:ea typeface="+mn-ea"/>
                          <a:cs typeface="+mn-cs"/>
                        </a:rPr>
                        <a:t xml:space="preserve">according to the terms of the Compliance Group</a:t>
                      </a:r>
                      <a:endParaRPr lang="ru-RU" sz="700" b="0" i="1" dirty="0">
                        <a:latin typeface="+mn-lt"/>
                      </a:endParaRPr>
                    </a:p>
                  </a:txBody>
                  <a:tcPr marT="36000" marB="36000">
                    <a:gradFill>
                      <a:gsLst>
                        <a:gs pos="0">
                          <a:schemeClr val="accent4">
                            <a:lumMod val="20000"/>
                            <a:lumOff val="80000"/>
                          </a:schemeClr>
                        </a:gs>
                        <a:gs pos="100000">
                          <a:schemeClr val="bg1"/>
                        </a:gs>
                      </a:gsLst>
                      <a:lin ang="5400000" scaled="1"/>
                    </a:gradFill>
                  </a:tcPr>
                </a:tc>
                <a:tc hMerge="1">
                  <a:txBody>
                    <a:bodyPr/>
                    <a:lstStyle/>
                    <a:p>
                      <a:endParaRPr lang="ru-RU"/>
                    </a:p>
                  </a:txBody>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mn-lt"/>
                        <a:ea typeface="+mn-ea"/>
                        <a:cs typeface="+mn-cs"/>
                      </a:endParaRPr>
                    </a:p>
                  </a:txBody>
                  <a:tcPr>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gradFill>
                      <a:gsLst>
                        <a:gs pos="0">
                          <a:schemeClr val="accent4">
                            <a:lumMod val="20000"/>
                            <a:lumOff val="80000"/>
                          </a:schemeClr>
                        </a:gs>
                        <a:gs pos="100000">
                          <a:schemeClr val="bg1"/>
                        </a:gs>
                      </a:gsLst>
                      <a:lin ang="5400000" scaled="1"/>
                    </a:gradFill>
                  </a:tcPr>
                </a:tc>
                <a:tc>
                  <a:txBody>
                    <a:bodyPr/>
                    <a:lstStyle/>
                    <a:p>
                      <a:r>
                        <a:rPr lang="ru-RU" sz="700" b="0" dirty="0">
                          <a:latin typeface="+mn-lt"/>
                        </a:rPr>
                        <a:t xml:space="preserve">Group Compliance, Risks</a:t>
                      </a:r>
                    </a:p>
                  </a:txBody>
                  <a:tcPr marT="36000" marB="36000">
                    <a:noFill/>
                  </a:tcPr>
                </a:tc>
                <a:tc rowSpan="2">
                  <a:txBody>
                    <a:bodyPr/>
                    <a:lstStyle/>
                    <a:p>
                      <a:pPr marL="0" marR="0" lvl="0" indent="0" algn="l" defTabSz="583170" rtl="0" eaLnBrk="1" fontAlgn="auto" latinLnBrk="0" hangingPunct="1">
                        <a:lnSpc>
                          <a:spcPct val="100000"/>
                        </a:lnSpc>
                        <a:spcBef>
                          <a:spcPts val="0"/>
                        </a:spcBef>
                        <a:spcAft>
                          <a:spcPts val="0"/>
                        </a:spcAft>
                        <a:buClrTx/>
                        <a:buSzTx/>
                        <a:buFont typeface="Arial" panose="020B0604020202020204" pitchFamily="34" charset="0"/>
                        <a:buNone/>
                        <a:tabLst/>
                        <a:defRPr/>
                      </a:pPr>
                      <a:r>
                        <a:rPr lang="ru-RU" sz="700" b="0" kern="1200" dirty="0" smtClean="0">
                          <a:solidFill>
                            <a:schemeClr val="tx1"/>
                          </a:solidFill>
                          <a:latin typeface="+mn-lt"/>
                          <a:ea typeface="+mn-ea"/>
                          <a:cs typeface="+mn-cs"/>
                        </a:rPr>
                        <a:t xml:space="preserve">Participated in updating compliance dashboard formats. Actively participated in CSRD Readiness in 2024-2025 (participation in analysis, interviews, etc.). 04/11/2025 ESG Perimeter Committee decided to suspend the preparation of sustainability reporting in accordance with the CSRD due to the postponement of the deadline for mandatory disclosure of information for ERG to 2028. for the reporting period 2027</a:t>
                      </a:r>
                      <a:r>
                        <a:rPr lang="ru-RU" sz="700" b="0" dirty="0" smtClean="0">
                          <a:solidFill>
                            <a:schemeClr val="tx1"/>
                          </a:solidFill>
                          <a:latin typeface="+mn-lt"/>
                        </a:rPr>
                        <a:t/>
                      </a:r>
                      <a:r>
                        <a:rPr lang="ru-RU" sz="700" b="0" dirty="0" err="1" smtClean="0">
                          <a:solidFill>
                            <a:schemeClr val="tx1"/>
                          </a:solidFill>
                          <a:latin typeface="+mn-lt"/>
                        </a:rPr>
                        <a:t/>
                      </a:r>
                      <a:r>
                        <a:rPr lang="ru-RU" sz="700" b="0" dirty="0" smtClean="0">
                          <a:solidFill>
                            <a:schemeClr val="tx1"/>
                          </a:solidFill>
                          <a:latin typeface="+mn-lt"/>
                        </a:rPr>
                        <a:t/>
                      </a:r>
                      <a:endParaRPr lang="ru-RU" sz="700" b="0" dirty="0">
                        <a:solidFill>
                          <a:schemeClr val="tx1"/>
                        </a:solidFill>
                        <a:latin typeface="+mn-lt"/>
                      </a:endParaRPr>
                    </a:p>
                  </a:txBody>
                  <a:tcPr marT="36000" marB="36000" anchor="ctr">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121396705"/>
                  </a:ext>
                </a:extLst>
              </a:tr>
              <a:tr h="206819">
                <a:tc vMerge="1">
                  <a:txBody>
                    <a:bodyPr/>
                    <a:lstStyle/>
                    <a:p>
                      <a:endParaRPr lang="ru-RU" sz="800" b="0" dirty="0"/>
                    </a:p>
                  </a:txBody>
                  <a:tcPr>
                    <a:lnT w="9525" cap="flat" cmpd="sng" algn="ctr">
                      <a:solidFill>
                        <a:srgbClr val="0070C0"/>
                      </a:solidFill>
                      <a:prstDash val="solid"/>
                      <a:round/>
                      <a:headEnd type="none" w="med" len="med"/>
                      <a:tailEnd type="none" w="med" len="med"/>
                    </a:lnT>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11"/>
                        <a:tabLst/>
                        <a:defRPr/>
                      </a:pPr>
                      <a:r>
                        <a:rPr lang="ru-RU" sz="700" b="0" baseline="0" dirty="0" smtClean="0">
                          <a:solidFill>
                            <a:schemeClr val="accent5">
                              <a:lumMod val="75000"/>
                              <a:lumOff val="25000"/>
                            </a:schemeClr>
                          </a:solidFill>
                          <a:latin typeface="+mn-lt"/>
                          <a:ea typeface="Yu Gothic UI Semibold" panose="020B0700000000000000" pitchFamily="34" charset="-128"/>
                        </a:rPr>
                        <a:t xml:space="preserve">Participation in the Assurance Group project</a:t>
                      </a:r>
                      <a:r>
                        <a:rPr lang="ru-RU" sz="700" b="0" dirty="0" smtClean="0">
                          <a:solidFill>
                            <a:schemeClr val="accent5">
                              <a:lumMod val="75000"/>
                              <a:lumOff val="25000"/>
                            </a:schemeClr>
                          </a:solidFill>
                          <a:latin typeface="+mn-lt"/>
                          <a:ea typeface="Yu Gothic UI Semibold" panose="020B0700000000000000" pitchFamily="34" charset="-128"/>
                        </a:rPr>
                        <a:t/>
                      </a:r>
                      <a:r>
                        <a:rPr lang="ru-RU" sz="700" b="0" dirty="0">
                          <a:solidFill>
                            <a:schemeClr val="accent5">
                              <a:lumMod val="75000"/>
                              <a:lumOff val="25000"/>
                            </a:schemeClr>
                          </a:solidFill>
                          <a:latin typeface="+mn-lt"/>
                          <a:ea typeface="Yu Gothic UI Semibold" panose="020B0700000000000000" pitchFamily="34" charset="-128"/>
                        </a:rPr>
                        <a:t/>
                      </a:r>
                      <a:r>
                        <a:rPr lang="ru-RU" sz="700" b="0" baseline="0" dirty="0">
                          <a:solidFill>
                            <a:schemeClr val="accent5">
                              <a:lumMod val="75000"/>
                              <a:lumOff val="25000"/>
                            </a:schemeClr>
                          </a:solidFill>
                          <a:latin typeface="+mn-lt"/>
                          <a:ea typeface="Yu Gothic UI Semibold" panose="020B0700000000000000" pitchFamily="34" charset="-128"/>
                        </a:rPr>
                        <a:t/>
                      </a:r>
                      <a:endParaRPr lang="ru-RU" sz="700" b="0" dirty="0">
                        <a:solidFill>
                          <a:schemeClr val="accent5">
                            <a:lumMod val="75000"/>
                            <a:lumOff val="25000"/>
                          </a:schemeClr>
                        </a:solidFill>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a:endParaRPr lang="ru-RU" sz="700" b="0" dirty="0">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endParaRPr lang="ru-RU" dirty="0"/>
                    </a:p>
                  </a:txBody>
                  <a:tcPr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Х</a:t>
                      </a:r>
                      <a:endParaRPr lang="ru-RU" sz="700" b="0" dirty="0">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endParaRPr lang="ru-RU" sz="700" b="0" dirty="0">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noFill/>
                  </a:tcPr>
                </a:tc>
                <a:tc vMerge="1">
                  <a:txBody>
                    <a:bodyPr/>
                    <a:lstStyle/>
                    <a:p>
                      <a:endParaRPr lang="ru-RU" sz="700" b="0" dirty="0">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328753196"/>
                  </a:ext>
                </a:extLst>
              </a:tr>
              <a:tr h="328340">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solidFill>
                            <a:schemeClr val="tx1"/>
                          </a:solidFill>
                          <a:latin typeface="+mn-lt"/>
                        </a:rPr>
                        <a:t xml:space="preserve">Top tone</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a:tabLst/>
                        <a:defRPr/>
                      </a:pPr>
                      <a:r>
                        <a:rPr lang="ru-RU" sz="700" b="0" i="0" u="none" strike="noStrike" kern="1200" dirty="0">
                          <a:solidFill>
                            <a:schemeClr val="tx1"/>
                          </a:solidFill>
                          <a:effectLst/>
                          <a:latin typeface="+mn-lt"/>
                          <a:ea typeface="+mn-ea"/>
                          <a:cs typeface="+mn-cs"/>
                        </a:rPr>
                        <a:t xml:space="preserve">Organization of communications about the ethical principles of ERG on behalf of the CEO, Heads of Divisions, CEO-1, taking into account the requirements of CSRD</a:t>
                      </a:r>
                      <a:r>
                        <a:rPr lang="ru-RU" sz="700" b="0" i="0" u="none" strike="noStrike" kern="1200" baseline="0" dirty="0">
                          <a:solidFill>
                            <a:schemeClr val="tx1"/>
                          </a:solidFill>
                          <a:effectLst/>
                          <a:latin typeface="+mn-lt"/>
                          <a:ea typeface="+mn-ea"/>
                          <a:cs typeface="+mn-cs"/>
                        </a:rPr>
                        <a:t/>
                      </a:r>
                      <a:r>
                        <a:rPr lang="en-US" sz="700" b="0" i="0" u="none" strike="noStrike" kern="1200" baseline="0" dirty="0">
                          <a:solidFill>
                            <a:schemeClr val="tx1"/>
                          </a:solidFill>
                          <a:effectLst/>
                          <a:latin typeface="+mn-lt"/>
                          <a:ea typeface="+mn-ea"/>
                          <a:cs typeface="+mn-cs"/>
                        </a:rPr>
                        <a:t/>
                      </a:r>
                      <a:r>
                        <a:rPr lang="ru-RU" sz="700" b="0" i="0" u="none" strike="noStrike" kern="120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en-US" sz="700" b="0" i="0" u="none" strike="noStrike" kern="1200" baseline="0" dirty="0">
                          <a:solidFill>
                            <a:schemeClr val="tx1"/>
                          </a:solidFill>
                          <a:effectLst/>
                          <a:latin typeface="+mn-lt"/>
                          <a:ea typeface="+mn-ea"/>
                          <a:cs typeface="+mn-cs"/>
                        </a:rPr>
                        <a:t/>
                      </a:r>
                      <a:endParaRPr lang="ru-RU" sz="700" b="0" i="0" u="none" strike="noStrike" kern="1200" dirty="0">
                        <a:solidFill>
                          <a:schemeClr val="tx1"/>
                        </a:solidFill>
                        <a:effectLst/>
                        <a:latin typeface="+mn-lt"/>
                        <a:ea typeface="+mn-ea"/>
                        <a:cs typeface="+mn-cs"/>
                      </a:endParaRPr>
                    </a:p>
                  </a:txBody>
                  <a:tcPr marT="36000" marB="36000">
                    <a:lnT w="9525" cap="flat" cmpd="sng" algn="ctr">
                      <a:solidFill>
                        <a:schemeClr val="accent5">
                          <a:lumMod val="75000"/>
                          <a:lumOff val="25000"/>
                        </a:schemeClr>
                      </a:solidFill>
                      <a:prstDash val="solid"/>
                      <a:round/>
                      <a:headEnd type="none" w="med" len="med"/>
                      <a:tailEnd type="none" w="med" len="med"/>
                    </a:lnT>
                    <a:noFill/>
                  </a:tcPr>
                </a:tc>
                <a:tc gridSpan="4">
                  <a:txBody>
                    <a:bodyPr/>
                    <a:lstStyle/>
                    <a:p>
                      <a:pPr algn="ctr" fontAlgn="ctr"/>
                      <a:r>
                        <a:rPr lang="ru-RU" sz="700" b="0" i="1" u="none" strike="noStrike" dirty="0">
                          <a:solidFill>
                            <a:schemeClr val="tx1"/>
                          </a:solidFill>
                          <a:effectLst/>
                          <a:latin typeface="+mn-lt"/>
                        </a:rPr>
                        <a:t xml:space="preserve">together with DCC according to their schedule</a:t>
                      </a:r>
                      <a:endParaRPr lang="en-US" sz="700" b="0" i="1" u="none" strike="noStrike" dirty="0">
                        <a:solidFill>
                          <a:schemeClr val="tx1"/>
                        </a:solidFill>
                        <a:effectLst/>
                        <a:latin typeface="+mn-lt"/>
                      </a:endParaRPr>
                    </a:p>
                  </a:txBody>
                  <a:tcPr marT="36000" marB="36000">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hMerge="1">
                  <a:txBody>
                    <a:bodyPr/>
                    <a:lstStyle/>
                    <a:p>
                      <a:endParaRPr lang="ru-RU"/>
                    </a:p>
                  </a:txBody>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 xml:space="preserve">DCC</a:t>
                      </a:r>
                    </a:p>
                  </a:txBody>
                  <a:tcPr marT="36000" marB="36000">
                    <a:lnT w="9525" cap="flat" cmpd="sng" algn="ctr">
                      <a:solidFill>
                        <a:schemeClr val="accent5">
                          <a:lumMod val="75000"/>
                          <a:lumOff val="25000"/>
                        </a:schemeClr>
                      </a:solidFill>
                      <a:prstDash val="solid"/>
                      <a:round/>
                      <a:headEnd type="none" w="med" len="med"/>
                      <a:tailEnd type="none" w="med" len="med"/>
                    </a:lnT>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tx1"/>
                          </a:solidFill>
                          <a:latin typeface="+mn-lt"/>
                        </a:rPr>
                        <a:t xml:space="preserve">The task completion status is indicated on slide 61.</a:t>
                      </a:r>
                    </a:p>
                  </a:txBody>
                  <a:tcPr marT="36000" marB="36000">
                    <a:lnT w="9525" cap="flat" cmpd="sng" algn="ctr">
                      <a:solidFill>
                        <a:schemeClr val="accent5">
                          <a:lumMod val="75000"/>
                          <a:lumOff val="25000"/>
                        </a:schemeClr>
                      </a:solidFill>
                      <a:prstDash val="solid"/>
                      <a:round/>
                      <a:headEnd type="none" w="med" len="med"/>
                      <a:tailEnd type="none" w="med" len="med"/>
                    </a:lnT>
                    <a:noFill/>
                  </a:tcPr>
                </a:tc>
                <a:extLst>
                  <a:ext uri="{0D108BD9-81ED-4DB2-BD59-A6C34878D82A}">
                    <a16:rowId xmlns:a16="http://schemas.microsoft.com/office/drawing/2014/main" val="1991814319"/>
                  </a:ext>
                </a:extLst>
              </a:tr>
              <a:tr h="149648">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800" b="0" dirty="0"/>
                    </a:p>
                  </a:txBody>
                  <a:tcPr>
                    <a:lnT w="9525" cap="flat" cmpd="sng" algn="ctr">
                      <a:solidFill>
                        <a:srgbClr val="0070C0"/>
                      </a:solidFill>
                      <a:prstDash val="solid"/>
                      <a:round/>
                      <a:headEnd type="none" w="med" len="med"/>
                      <a:tailEnd type="none" w="med" len="med"/>
                    </a:lnT>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2"/>
                        <a:tabLst/>
                        <a:defRPr/>
                      </a:pPr>
                      <a:r>
                        <a:rPr lang="ru-RU" sz="700" b="0" kern="1200" dirty="0" smtClean="0">
                          <a:solidFill>
                            <a:schemeClr val="accent5">
                              <a:lumMod val="75000"/>
                              <a:lumOff val="25000"/>
                            </a:schemeClr>
                          </a:solidFill>
                          <a:latin typeface="+mn-lt"/>
                          <a:ea typeface="Yu Gothic UI Semibold" panose="020B0700000000000000" pitchFamily="34" charset="-128"/>
                          <a:cs typeface="+mn-cs"/>
                        </a:rPr>
                        <a:t xml:space="preserve">Participation in the Assurance Group project</a:t>
                      </a:r>
                      <a:r>
                        <a:rPr lang="ru-RU" sz="700" b="0" kern="1200" dirty="0">
                          <a:solidFill>
                            <a:schemeClr val="accent5">
                              <a:lumMod val="75000"/>
                              <a:lumOff val="25000"/>
                            </a:schemeClr>
                          </a:solidFill>
                          <a:latin typeface="+mn-lt"/>
                          <a:ea typeface="Yu Gothic UI Semibold" panose="020B0700000000000000" pitchFamily="34" charset="-128"/>
                          <a:cs typeface="+mn-cs"/>
                        </a:rPr>
                        <a:t/>
                      </a:r>
                    </a:p>
                  </a:txBody>
                  <a:tcPr marT="36000" marB="36000">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a:endParaRPr lang="ru-RU" sz="700" b="0" dirty="0">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endParaRPr lang="ru-RU" sz="700" b="0" dirty="0">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 xml:space="preserve">Contributed to the T&amp;A assurance project. The recommendations provided were accepted for implementation.</a:t>
                      </a:r>
                      <a:endParaRPr lang="ru-RU" sz="700" b="0" dirty="0">
                        <a:latin typeface="+mn-lt"/>
                      </a:endParaRPr>
                    </a:p>
                  </a:txBody>
                  <a:tcPr marT="36000" marB="36000">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926311546"/>
                  </a:ext>
                </a:extLst>
              </a:tr>
              <a:tr h="791354">
                <a:tc rowSpan="4">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solidFill>
                            <a:schemeClr val="tx1"/>
                          </a:solidFill>
                        </a:rPr>
                        <a:t xml:space="preserve">Policy management</a:t>
                      </a:r>
                      <a:r>
                        <a:rPr lang="ru-RU" sz="700" baseline="0" dirty="0" smtClean="0">
                          <a:solidFill>
                            <a:schemeClr val="tx1"/>
                          </a:solidFill>
                        </a:rPr>
                        <a:t/>
                      </a:r>
                      <a:endParaRPr lang="ru-RU" sz="700" b="0" dirty="0" smtClean="0"/>
                    </a:p>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a:tabLst/>
                        <a:defRPr/>
                      </a:pPr>
                      <a:r>
                        <a:rPr lang="ru-RU" sz="700" b="0" i="0" u="none" strike="noStrike" kern="1200" dirty="0">
                          <a:solidFill>
                            <a:schemeClr val="tx1"/>
                          </a:solidFill>
                          <a:effectLst/>
                          <a:latin typeface="+mj-lt"/>
                          <a:ea typeface="+mn-ea"/>
                          <a:cs typeface="+mn-cs"/>
                        </a:rPr>
                        <a:t xml:space="preserve">Ensure the timely implementation of compliance policies and procedures of the Group (adapted if necessary) at the Perimeter level, as well as updating and implementation of Perimeter compliance procedures, maintain 100% coverage of compliance policies and procedures of active Perimeter enterprises, the relevance of the register of Perimeter compliance policies and procedures.</a:t>
                      </a:r>
                      <a:r>
                        <a:rPr lang="ru-RU" sz="700" b="0" i="0" u="none" strike="noStrike" kern="1200" baseline="0" dirty="0">
                          <a:solidFill>
                            <a:schemeClr val="tx1"/>
                          </a:solidFill>
                          <a:effectLst/>
                          <a:latin typeface="+mj-lt"/>
                          <a:ea typeface="+mn-ea"/>
                          <a:cs typeface="+mn-cs"/>
                        </a:rPr>
                        <a:t/>
                      </a:r>
                      <a:r>
                        <a:rPr lang="ru-RU" sz="700" b="0" i="0" u="none" strike="noStrike" kern="1200" dirty="0">
                          <a:solidFill>
                            <a:schemeClr val="tx1"/>
                          </a:solidFill>
                          <a:effectLst/>
                          <a:latin typeface="+mj-lt"/>
                          <a:ea typeface="+mn-ea"/>
                          <a:cs typeface="+mn-cs"/>
                        </a:rPr>
                        <a:t/>
                      </a:r>
                      <a:r>
                        <a:rPr lang="ru-RU" sz="700" b="0" i="0" u="none" strike="noStrike" kern="1200" baseline="0" dirty="0">
                          <a:solidFill>
                            <a:schemeClr val="tx1"/>
                          </a:solidFill>
                          <a:effectLst/>
                          <a:latin typeface="+mj-lt"/>
                          <a:ea typeface="+mn-ea"/>
                          <a:cs typeface="+mn-cs"/>
                        </a:rPr>
                        <a:t/>
                      </a:r>
                      <a:r>
                        <a:rPr lang="ru-RU" sz="700" b="0" i="0" u="none" strike="noStrike" kern="1200" dirty="0">
                          <a:solidFill>
                            <a:schemeClr val="tx1"/>
                          </a:solidFill>
                          <a:effectLst/>
                          <a:latin typeface="+mj-lt"/>
                          <a:ea typeface="+mn-ea"/>
                          <a:cs typeface="+mn-cs"/>
                        </a:rPr>
                        <a:t/>
                      </a:r>
                      <a:r>
                        <a:rPr lang="ru-RU" sz="700" b="0" i="0" u="none" strike="noStrike" kern="1200" baseline="0" dirty="0">
                          <a:solidFill>
                            <a:schemeClr val="tx1"/>
                          </a:solidFill>
                          <a:effectLst/>
                          <a:latin typeface="+mj-lt"/>
                          <a:ea typeface="+mn-ea"/>
                          <a:cs typeface="+mn-cs"/>
                        </a:rPr>
                        <a:t/>
                      </a:r>
                      <a:r>
                        <a:rPr lang="ru-RU" sz="700" b="0" i="0" u="none" strike="noStrike" kern="1200" dirty="0">
                          <a:solidFill>
                            <a:schemeClr val="tx1"/>
                          </a:solidFill>
                          <a:effectLst/>
                          <a:latin typeface="+mj-lt"/>
                          <a:ea typeface="+mn-ea"/>
                          <a:cs typeface="+mn-cs"/>
                        </a:rPr>
                        <a:t/>
                      </a:r>
                    </a:p>
                  </a:txBody>
                  <a:tcP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baseline="0" dirty="0">
                          <a:latin typeface="+mj-lt"/>
                        </a:rPr>
                        <a:t xml:space="preserve">Legal block, enterprise managers</a:t>
                      </a:r>
                      <a:endParaRPr lang="ru-RU" sz="700" b="0" dirty="0">
                        <a:latin typeface="+mj-lt"/>
                      </a:endParaRPr>
                    </a:p>
                  </a:txBody>
                  <a:tcP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At the end of 2025, the coverage of current compliance policies and procedures of the Group and Perimeter of active Perimeter enterprises amounted to 98.48%, as confirmed by the corresponding register (46 enterprises out of 48), in connection with the transition to the 4th quarter. 2025 ERG Beijing from Perimeter IP to Perimeter KZ and Aitu Dala LLP 2025 from Perimeter Digital to Perimeter KZ. Policies and procedures were implemented at Aitu Dala LLP in January 2026, and at ERG Beijing - in the process of implementation.</a:t>
                      </a:r>
                      <a:r>
                        <a:rPr lang="ru-RU" sz="700" b="0" baseline="0" dirty="0" smtClean="0">
                          <a:latin typeface="+mn-lt"/>
                        </a:rPr>
                        <a:t/>
                      </a:r>
                      <a:r>
                        <a:rPr lang="ru-RU" sz="700" dirty="0" smtClean="0">
                          <a:solidFill>
                            <a:schemeClr val="tx1"/>
                          </a:solidFill>
                        </a:rPr>
                        <a:t/>
                      </a:r>
                      <a:r>
                        <a:rPr lang="ru-RU" sz="700" dirty="0" err="1" smtClean="0">
                          <a:solidFill>
                            <a:schemeClr val="tx1"/>
                          </a:solidFill>
                        </a:rPr>
                        <a:t/>
                      </a:r>
                      <a:r>
                        <a:rPr lang="ru-RU" sz="700" dirty="0" smtClean="0">
                          <a:solidFill>
                            <a:schemeClr val="tx1"/>
                          </a:solidFill>
                        </a:rPr>
                        <a:t/>
                      </a:r>
                      <a:r>
                        <a:rPr lang="en-US" sz="700" dirty="0" smtClean="0">
                          <a:solidFill>
                            <a:schemeClr val="tx1"/>
                          </a:solidFill>
                        </a:rPr>
                        <a:t/>
                      </a:r>
                      <a:r>
                        <a:rPr lang="ru-RU" sz="700" dirty="0" smtClean="0">
                          <a:solidFill>
                            <a:schemeClr val="tx1"/>
                          </a:solidFill>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baseline="0" dirty="0" smtClean="0">
                          <a:latin typeface="+mn-lt"/>
                        </a:rPr>
                        <a:t/>
                      </a:r>
                      <a:r>
                        <a:rPr lang="ru-RU" sz="700" dirty="0" smtClean="0">
                          <a:solidFill>
                            <a:schemeClr val="tx1"/>
                          </a:solidFill>
                        </a:rPr>
                        <a:t/>
                      </a:r>
                      <a:r>
                        <a:rPr lang="ru-RU" sz="700" dirty="0" err="1" smtClean="0">
                          <a:solidFill>
                            <a:schemeClr val="tx1"/>
                          </a:solidFill>
                        </a:rPr>
                        <a:t/>
                      </a:r>
                      <a:r>
                        <a:rPr lang="ru-RU" sz="700" dirty="0" smtClean="0">
                          <a:solidFill>
                            <a:schemeClr val="tx1"/>
                          </a:solidFill>
                        </a:rPr>
                        <a:t/>
                      </a:r>
                      <a:r>
                        <a:rPr lang="ru-RU" sz="700" dirty="0" err="1" smtClean="0">
                          <a:solidFill>
                            <a:schemeClr val="tx1"/>
                          </a:solidFill>
                        </a:rPr>
                        <a:t/>
                      </a:r>
                      <a:r>
                        <a:rPr lang="ru-RU" sz="700" dirty="0" smtClean="0">
                          <a:solidFill>
                            <a:schemeClr val="tx1"/>
                          </a:solidFill>
                        </a:rPr>
                        <a:t/>
                      </a:r>
                      <a:r>
                        <a:rPr lang="ru-RU" sz="700" dirty="0" err="1" smtClean="0">
                          <a:solidFill>
                            <a:schemeClr val="tx1"/>
                          </a:solidFill>
                        </a:rPr>
                        <a:t/>
                      </a:r>
                      <a:r>
                        <a:rPr lang="ru-RU" sz="700" dirty="0" smtClean="0">
                          <a:solidFill>
                            <a:schemeClr val="tx1"/>
                          </a:solidFill>
                        </a:rPr>
                        <a:t/>
                      </a:r>
                      <a:endParaRPr lang="ru-RU" sz="700" b="0" dirty="0" smtClean="0">
                        <a:latin typeface="+mn-lt"/>
                      </a:endParaRPr>
                    </a:p>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1592447790"/>
                  </a:ext>
                </a:extLst>
              </a:tr>
              <a:tr h="433968">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noFill/>
                      <a:prstDash val="solid"/>
                      <a:round/>
                      <a:headEnd type="none" w="med" len="med"/>
                      <a:tailEnd type="none" w="med" len="med"/>
                    </a:lnT>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2"/>
                        <a:tabLst/>
                        <a:defRPr/>
                      </a:pPr>
                      <a:r>
                        <a:rPr lang="ru-RU" sz="700" b="0" dirty="0">
                          <a:latin typeface="+mj-lt"/>
                        </a:rPr>
                        <a:t xml:space="preserve">After developing public versions of the Group’s compliance policies for the website, ensure timely posting of public versions of compliance policies on Perimeter websites.</a:t>
                      </a:r>
                      <a:r>
                        <a:rPr lang="ru-RU" sz="700" b="0" baseline="0" dirty="0">
                          <a:latin typeface="+mj-lt"/>
                        </a:rPr>
                        <a:t/>
                      </a:r>
                      <a:endParaRPr lang="ru-RU" sz="700" b="0" dirty="0">
                        <a:latin typeface="+mj-lt"/>
                      </a:endParaRPr>
                    </a:p>
                  </a:txBody>
                  <a:tcPr>
                    <a:lnT w="9525" cap="flat" cmpd="sng" algn="ctr">
                      <a:noFill/>
                      <a:prstDash val="solid"/>
                      <a:round/>
                      <a:headEnd type="none" w="med" len="med"/>
                      <a:tailEnd type="none" w="med" len="med"/>
                    </a:lnT>
                    <a:lnB w="12700" cmpd="sng">
                      <a:noFill/>
                    </a:lnB>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1" u="none" strike="noStrike" kern="1200" cap="none" spc="0" normalizeH="0" baseline="0" noProof="0" dirty="0">
                          <a:ln>
                            <a:noFill/>
                          </a:ln>
                          <a:solidFill>
                            <a:srgbClr val="32373C"/>
                          </a:solidFill>
                          <a:effectLst/>
                          <a:uLnTx/>
                          <a:uFillTx/>
                          <a:latin typeface="+mj-lt"/>
                          <a:ea typeface="+mn-ea"/>
                          <a:cs typeface="+mn-cs"/>
                        </a:rPr>
                        <a:t xml:space="preserve">according to the terms of the Compliance Group</a:t>
                      </a:r>
                      <a:endParaRPr lang="ru-RU" sz="700" b="0" i="1"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mn-lt"/>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j-lt"/>
                        </a:rPr>
                        <a:t xml:space="preserve">Compliance Group, DCC, IT</a:t>
                      </a:r>
                      <a:r>
                        <a:rPr lang="ru-RU" sz="700" b="0" baseline="0" dirty="0">
                          <a:latin typeface="+mj-lt"/>
                        </a:rPr>
                        <a:t/>
                      </a:r>
                      <a:endParaRPr lang="ru-RU" sz="700" b="0" dirty="0">
                        <a:latin typeface="+mj-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As of the reporting date, no new public versions of the ERG compliance policies for the website have been approved at the Group level; existing public versions of the policies were posted on the Perimeter website previously (SCoC, ABC).</a:t>
                      </a:r>
                      <a:r>
                        <a:rPr lang="ru-RU" sz="700" b="0" dirty="0" err="1" smtClean="0">
                          <a:latin typeface="+mn-lt"/>
                        </a:rPr>
                        <a:t/>
                      </a:r>
                      <a:r>
                        <a:rPr lang="ru-RU" sz="700" b="0" dirty="0" smtClean="0">
                          <a:latin typeface="+mn-lt"/>
                        </a:rPr>
                        <a:t/>
                      </a:r>
                    </a:p>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145107595"/>
                  </a:ext>
                </a:extLst>
              </a:tr>
              <a:tr h="344622">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3"/>
                        <a:tabLst/>
                        <a:defRPr/>
                      </a:pPr>
                      <a:r>
                        <a:rPr lang="ru-RU" sz="700" b="0" i="0" u="none" strike="noStrike" kern="1200" dirty="0">
                          <a:solidFill>
                            <a:schemeClr val="tx1"/>
                          </a:solidFill>
                          <a:effectLst/>
                          <a:latin typeface="+mj-lt"/>
                          <a:ea typeface="+mn-ea"/>
                          <a:cs typeface="+mn-cs"/>
                        </a:rPr>
                        <a:t xml:space="preserve">Analysis of the need to update Perimeter’s compliance procedures according to the Perimeter Register of Compliance Risks and Obligations (Mining &amp; Healthcare).</a:t>
                      </a:r>
                    </a:p>
                  </a:txBody>
                  <a:tcPr>
                    <a:lnT w="9525" cap="flat" cmpd="sng" algn="ctr">
                      <a:no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j-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Will be carried out after the finalization of the Register of Compliance Risks and Obligations of Perimeter (Mining &amp; Healthcare) in 2026.</a:t>
                      </a:r>
                      <a:r>
                        <a:rPr lang="ru-RU" sz="700" b="0" i="0" u="none" strike="noStrike" kern="1200" dirty="0" smtClean="0">
                          <a:solidFill>
                            <a:schemeClr val="tx1"/>
                          </a:solidFill>
                          <a:effectLst/>
                          <a:latin typeface="+mn-lt"/>
                          <a:ea typeface="+mn-ea"/>
                          <a:cs typeface="+mn-cs"/>
                        </a:rPr>
                        <a:t/>
                      </a:r>
                      <a:r>
                        <a:rPr lang="ru-RU" sz="700" b="0" i="0" u="none" strike="noStrike" kern="1200" dirty="0" err="1" smtClean="0">
                          <a:solidFill>
                            <a:schemeClr val="tx1"/>
                          </a:solidFill>
                          <a:effectLst/>
                          <a:latin typeface="+mn-lt"/>
                          <a:ea typeface="+mn-ea"/>
                          <a:cs typeface="+mn-cs"/>
                        </a:rPr>
                        <a:t/>
                      </a:r>
                      <a:r>
                        <a:rPr lang="ru-RU" sz="700" b="0" i="0" u="none" strike="noStrike" kern="1200" dirty="0" smtClean="0">
                          <a:solidFill>
                            <a:schemeClr val="tx1"/>
                          </a:solidFill>
                          <a:effectLst/>
                          <a:latin typeface="+mn-lt"/>
                          <a:ea typeface="+mn-ea"/>
                          <a:cs typeface="+mn-cs"/>
                        </a:rPr>
                        <a:t/>
                      </a:r>
                      <a:r>
                        <a:rPr lang="ru-RU" sz="700" b="0" i="0" u="none" strike="noStrike" kern="1200" dirty="0" err="1" smtClean="0">
                          <a:solidFill>
                            <a:schemeClr val="tx1"/>
                          </a:solidFill>
                          <a:effectLst/>
                          <a:latin typeface="+mn-lt"/>
                          <a:ea typeface="+mn-ea"/>
                          <a:cs typeface="+mn-cs"/>
                        </a:rPr>
                        <a:t/>
                      </a:r>
                      <a:r>
                        <a:rPr lang="ru-RU" sz="700" b="0" i="0" u="none" strike="noStrike" kern="1200" dirty="0" smtClean="0">
                          <a:solidFill>
                            <a:schemeClr val="tx1"/>
                          </a:solidFill>
                          <a:effectLst/>
                          <a:latin typeface="+mn-lt"/>
                          <a:ea typeface="+mn-ea"/>
                          <a:cs typeface="+mn-cs"/>
                        </a:rPr>
                        <a:t/>
                      </a: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409941393"/>
                  </a:ext>
                </a:extLst>
              </a:tr>
              <a:tr h="596380">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4"/>
                        <a:tabLst/>
                        <a:defRPr/>
                      </a:pPr>
                      <a:r>
                        <a:rPr lang="ru-RU" sz="700" b="0" i="0" u="none" strike="noStrike" kern="1200" baseline="0" dirty="0">
                          <a:solidFill>
                            <a:schemeClr val="tx1"/>
                          </a:solidFill>
                          <a:effectLst/>
                          <a:latin typeface="+mj-lt"/>
                          <a:ea typeface="+mn-ea"/>
                          <a:cs typeface="+mn-cs"/>
                        </a:rPr>
                        <a:t xml:space="preserve">Develop Instructions for managing the List of Related Parties of the Perimeter.</a:t>
                      </a:r>
                    </a:p>
                  </a:txBody>
                  <a:tcPr>
                    <a:lnT w="9525" cap="flat" cmpd="sng" algn="ctr">
                      <a:noFill/>
                      <a:prstDash val="solid"/>
                      <a:round/>
                      <a:headEnd type="none" w="med" len="med"/>
                      <a:tailEnd type="none" w="med" len="med"/>
                    </a:lnT>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j-lt"/>
                        </a:rPr>
                        <a:t xml:space="preserve">Fin. block</a:t>
                      </a:r>
                    </a:p>
                  </a:txBody>
                  <a:tcPr>
                    <a:lnT w="9525" cap="flat" cmpd="sng" algn="ctr">
                      <a:noFill/>
                      <a:prstDash val="solid"/>
                      <a:round/>
                      <a:headEnd type="none" w="med" len="med"/>
                      <a:tailEnd type="none" w="med" len="med"/>
                    </a:lnT>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The development of the draft Perimeter Instruction has been suspended - work has begun, but the finalization of the project has been postponed until 2026. Joint work is underway with the Compliance Group to update the Group Policy regarding agreements with related parties - the last detailed comments from Perimeter on the draft Policy were provided in June 2025. The Compliance Group sent the draft updated Policy for consideration to the office of the ERG Corporate Secretary in October 2025. As of the date of the report, the draft Policy has not been adopted. After approval of the updated Policy at the Group level, Perimeter will resume work on developing the Perimeter Instructions.</a:t>
                      </a:r>
                      <a:endParaRPr lang="ru-RU" sz="700" b="0" dirty="0">
                        <a:latin typeface="+mn-lt"/>
                      </a:endParaRPr>
                    </a:p>
                  </a:txBody>
                  <a:tcPr marT="36000" marB="36000">
                    <a:lnT w="9525" cap="flat" cmpd="sng" algn="ctr">
                      <a:noFill/>
                      <a:prstDash val="solid"/>
                      <a:round/>
                      <a:headEnd type="none" w="med" len="med"/>
                      <a:tailEnd type="none" w="med" len="med"/>
                    </a:lnT>
                    <a:noFill/>
                  </a:tcPr>
                </a:tc>
                <a:extLst>
                  <a:ext uri="{0D108BD9-81ED-4DB2-BD59-A6C34878D82A}">
                    <a16:rowId xmlns:a16="http://schemas.microsoft.com/office/drawing/2014/main" val="2036165692"/>
                  </a:ext>
                </a:extLst>
              </a:tr>
            </a:tbl>
          </a:graphicData>
        </a:graphic>
      </p:graphicFrame>
    </p:spTree>
    <p:extLst>
      <p:ext uri="{BB962C8B-B14F-4D97-AF65-F5344CB8AC3E}">
        <p14:creationId xmlns:p14="http://schemas.microsoft.com/office/powerpoint/2010/main" val="3883560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3858"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 xml:space="preserve">Annual compliance program 2025: Perimeter Kazakhstan Implementation status</a:t>
            </a:r>
            <a:r>
              <a:rPr lang="ru-RU" dirty="0"/>
              <a:t/>
            </a:r>
            <a:r>
              <a:rPr lang="ru-RU" dirty="0" smtClean="0"/>
              <a:t/>
            </a:r>
            <a:br>
              <a:rPr lang="ru-RU" dirty="0" smtClean="0"/>
            </a:br>
            <a:r>
              <a:rPr lang="ru-RU" dirty="0" smtClean="0">
                <a:solidFill>
                  <a:schemeClr val="tx1"/>
                </a:solidFill>
              </a:rPr>
              <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2374304480"/>
              </p:ext>
            </p:extLst>
          </p:nvPr>
        </p:nvGraphicFramePr>
        <p:xfrm>
          <a:off x="317499" y="801681"/>
          <a:ext cx="11631782" cy="5550504"/>
        </p:xfrm>
        <a:graphic>
          <a:graphicData uri="http://schemas.openxmlformats.org/drawingml/2006/table">
            <a:tbl>
              <a:tblPr firstRow="1" bandRow="1">
                <a:tableStyleId>{5C22544A-7EE6-4342-B048-85BDC9FD1C3A}</a:tableStyleId>
              </a:tblPr>
              <a:tblGrid>
                <a:gridCol w="831782">
                  <a:extLst>
                    <a:ext uri="{9D8B030D-6E8A-4147-A177-3AD203B41FA5}">
                      <a16:colId xmlns:a16="http://schemas.microsoft.com/office/drawing/2014/main" val="2229066145"/>
                    </a:ext>
                  </a:extLst>
                </a:gridCol>
                <a:gridCol w="2592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436000">
                  <a:extLst>
                    <a:ext uri="{9D8B030D-6E8A-4147-A177-3AD203B41FA5}">
                      <a16:colId xmlns:a16="http://schemas.microsoft.com/office/drawing/2014/main" val="2252265905"/>
                    </a:ext>
                  </a:extLst>
                </a:gridCol>
              </a:tblGrid>
              <a:tr h="159854">
                <a:tc rowSpan="2">
                  <a:txBody>
                    <a:bodyPr/>
                    <a:lstStyle/>
                    <a:p>
                      <a:r>
                        <a:rPr lang="ru-RU" sz="700" b="0" dirty="0">
                          <a:solidFill>
                            <a:schemeClr val="accent5">
                              <a:lumMod val="75000"/>
                              <a:lumOff val="25000"/>
                            </a:schemeClr>
                          </a:solidFill>
                          <a:latin typeface="+mn-lt"/>
                        </a:rPr>
                        <a:t xml:space="preserve">Compliance Model Component</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 xml:space="preserve">Events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 xml:space="preserve">Other divisions - participants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 xml:space="preserve">Execution Status</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90880">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 xml:space="preserve">1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2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3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4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732494">
                <a:tc rowSpan="5">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solidFill>
                            <a:schemeClr val="tx1"/>
                          </a:solidFill>
                        </a:rPr>
                        <a:t xml:space="preserve">Policy management</a:t>
                      </a:r>
                      <a:r>
                        <a:rPr lang="ru-RU" sz="700" baseline="0" dirty="0" smtClean="0">
                          <a:solidFill>
                            <a:schemeClr val="tx1"/>
                          </a:solidFill>
                        </a:rPr>
                        <a:t/>
                      </a:r>
                      <a:endParaRPr lang="ru-RU" sz="700" b="0" dirty="0" smtClean="0"/>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1" dirty="0" smtClean="0">
                          <a:latin typeface="+mn-lt"/>
                        </a:rPr>
                        <a:t xml:space="preserve">(continuation)</a:t>
                      </a: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5"/>
                        <a:tabLst/>
                        <a:defRPr/>
                      </a:pPr>
                      <a:r>
                        <a:rPr lang="ru-RU" sz="700" b="0" i="0" u="none" strike="noStrike" kern="1200" baseline="0" dirty="0">
                          <a:solidFill>
                            <a:schemeClr val="tx1"/>
                          </a:solidFill>
                          <a:effectLst/>
                          <a:latin typeface="+mj-lt"/>
                          <a:ea typeface="+mn-ea"/>
                          <a:cs typeface="+mn-cs"/>
                        </a:rPr>
                        <a:t xml:space="preserve">Update the Perimeter BIS Regulations in accordance with the operating model of Perimeter's activities together with the process owner.</a:t>
                      </a:r>
                      <a:endParaRPr lang="ru-RU" sz="700" b="0" dirty="0">
                        <a:latin typeface="+mj-lt"/>
                      </a:endParaRPr>
                    </a:p>
                  </a:txBody>
                  <a:tcPr>
                    <a:lnT w="9525" cap="flat" cmpd="sng" algn="ctr">
                      <a:solidFill>
                        <a:srgbClr val="0070C0"/>
                      </a:solid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j-lt"/>
                        </a:rPr>
                        <a:t xml:space="preserve">Members of the BiS Commission</a:t>
                      </a:r>
                    </a:p>
                  </a:txBody>
                  <a:tcPr>
                    <a:lnT w="9525" cap="flat" cmpd="sng" algn="ctr">
                      <a:solidFill>
                        <a:srgbClr val="0070C0"/>
                      </a:solid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The updated draft Perimeter Regulations were developed jointly with the process owner. Due to the fact that an update of the CSR &amp; Sponsorship Projects Policy is planned at the Group level (Q3 2026), it was discussed with the process owner (Perimeter CFO) and the Perimeter BS Commission, as well as with the Compliance Group, that it would be more correct and effective to wait for the release of the updated Group Policy, then once again check the Perimeter Regulations with it and release it. The current Perimeter Regulations are now quite relevant, reflecting compliance risk management throughout the entire CSR cycle, no significant changes were planned - that is, it may well “wait” for the Group Policy, the process itself at the Perimeter level is developed, all controls are working.</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12700" cmpd="sng">
                      <a:noFill/>
                    </a:lnB>
                    <a:noFill/>
                  </a:tcPr>
                </a:tc>
                <a:extLst>
                  <a:ext uri="{0D108BD9-81ED-4DB2-BD59-A6C34878D82A}">
                    <a16:rowId xmlns:a16="http://schemas.microsoft.com/office/drawing/2014/main" val="3783564994"/>
                  </a:ext>
                </a:extLst>
              </a:tr>
              <a:tr h="559006">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6"/>
                        <a:tabLst/>
                        <a:defRPr/>
                      </a:pPr>
                      <a:r>
                        <a:rPr lang="ru-RU" sz="700" b="0" i="0" u="none" strike="noStrike" kern="1200" baseline="0" dirty="0">
                          <a:solidFill>
                            <a:schemeClr val="dk1"/>
                          </a:solidFill>
                          <a:effectLst/>
                          <a:latin typeface="+mj-lt"/>
                          <a:ea typeface="+mn-ea"/>
                          <a:cs typeface="+mn-cs"/>
                        </a:rPr>
                        <a:t xml:space="preserve">Together with Perimeter International Compliance and the Perimeter ESG team, review the CAHRA procedure to ensure compliance with current ESG requirements.</a:t>
                      </a:r>
                      <a:r>
                        <a:rPr lang="en-US" sz="700" b="0" i="0" u="none" strike="noStrike" kern="1200" baseline="0" dirty="0">
                          <a:solidFill>
                            <a:schemeClr val="dk1"/>
                          </a:solidFill>
                          <a:effectLst/>
                          <a:latin typeface="+mj-lt"/>
                          <a:ea typeface="+mn-ea"/>
                          <a:cs typeface="+mn-cs"/>
                        </a:rPr>
                        <a:t/>
                      </a:r>
                      <a:r>
                        <a:rPr lang="ru-RU" sz="700" b="0" i="0" u="none" strike="noStrike" kern="1200" baseline="0" dirty="0">
                          <a:solidFill>
                            <a:schemeClr val="dk1"/>
                          </a:solidFill>
                          <a:effectLst/>
                          <a:latin typeface="+mj-lt"/>
                          <a:ea typeface="+mn-ea"/>
                          <a:cs typeface="+mn-cs"/>
                        </a:rPr>
                        <a:t/>
                      </a:r>
                      <a:r>
                        <a:rPr lang="ru-RU" sz="700" b="0" i="0" u="none" strike="noStrike" kern="1200" baseline="0" dirty="0">
                          <a:solidFill>
                            <a:schemeClr val="tx1"/>
                          </a:solidFill>
                          <a:effectLst/>
                          <a:latin typeface="+mj-lt"/>
                          <a:ea typeface="+mn-ea"/>
                          <a:cs typeface="+mn-cs"/>
                        </a:rPr>
                        <a:t/>
                      </a:r>
                      <a:endParaRPr lang="ru-RU" sz="700" b="0" dirty="0">
                        <a:latin typeface="+mj-lt"/>
                      </a:endParaRPr>
                    </a:p>
                  </a:txBody>
                  <a:tcPr>
                    <a:lnT w="9525" cap="flat" cmpd="sng" algn="ctr">
                      <a:noFill/>
                      <a:prstDash val="solid"/>
                      <a:round/>
                      <a:headEnd type="none" w="med" len="med"/>
                      <a:tailEnd type="none" w="med" len="med"/>
                    </a:lnT>
                    <a:lnB w="12700" cmpd="sng">
                      <a:noFill/>
                    </a:lnB>
                    <a:noFill/>
                  </a:tcPr>
                </a:tc>
                <a:tc>
                  <a:txBody>
                    <a:bodyPr/>
                    <a:lstStyle/>
                    <a:p>
                      <a:endParaRPr lang="ru-RU" sz="700"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dirty="0">
                          <a:latin typeface="+mj-lt"/>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endParaRPr lang="ru-RU" sz="700"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endParaRPr lang="ru-RU" sz="700"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j-lt"/>
                        </a:rPr>
                        <a:t xml:space="preserve">International Perimeter Compliance, ESG Team</a:t>
                      </a:r>
                      <a:r>
                        <a:rPr lang="en-US" sz="700" b="0" dirty="0">
                          <a:latin typeface="+mj-lt"/>
                        </a:rPr>
                        <a:t/>
                      </a:r>
                      <a:endParaRPr lang="ru-RU" sz="700" b="0" dirty="0">
                        <a:latin typeface="+mj-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The Compliance Directorate sent detailed comments on all versions of the procedure (in a timely manner, within a year). In January 2026, a final discussion on the draft document took place with the participation of Compliance International Perimeter and the Perimeter ESG team. The draft procedure will be submitted to the Group CLO for approval.</a:t>
                      </a:r>
                      <a:endParaRPr lang="ru-RU" sz="700" b="0" dirty="0">
                        <a:latin typeface="+mn-lt"/>
                      </a:endParaRP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895039424"/>
                  </a:ext>
                </a:extLst>
              </a:tr>
              <a:tr h="446174">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7"/>
                        <a:tabLst/>
                        <a:defRPr/>
                      </a:pPr>
                      <a:r>
                        <a:rPr lang="ru-RU" sz="700" b="0" dirty="0">
                          <a:latin typeface="+mj-lt"/>
                        </a:rPr>
                        <a:t xml:space="preserve">Develop a draft Perimeter procedure for interaction with government agencies in accordance with the principles of the Group.</a:t>
                      </a:r>
                      <a:r>
                        <a:rPr lang="ru-RU" sz="700" dirty="0">
                          <a:latin typeface="+mj-lt"/>
                        </a:rPr>
                        <a:t/>
                      </a:r>
                      <a:r>
                        <a:rPr lang="ru-RU" sz="700" baseline="0" dirty="0">
                          <a:latin typeface="+mj-lt"/>
                        </a:rPr>
                        <a:t/>
                      </a:r>
                      <a:r>
                        <a:rPr lang="ru-RU" sz="700" dirty="0">
                          <a:latin typeface="+mj-lt"/>
                        </a:rPr>
                        <a:t/>
                      </a:r>
                      <a:r>
                        <a:rPr lang="ru-RU" sz="700" baseline="0" dirty="0">
                          <a:latin typeface="+mj-lt"/>
                        </a:rPr>
                        <a:t/>
                      </a:r>
                      <a:endParaRPr lang="ru-RU" sz="700" b="0" dirty="0">
                        <a:latin typeface="+mj-lt"/>
                      </a:endParaRPr>
                    </a:p>
                  </a:txBody>
                  <a:tcPr>
                    <a:lnT w="9525" cap="flat" cmpd="sng" algn="ctr">
                      <a:noFill/>
                      <a:prstDash val="solid"/>
                      <a:round/>
                      <a:headEnd type="none" w="med" len="med"/>
                      <a:tailEnd type="none" w="med" len="med"/>
                    </a:lnT>
                    <a:lnB w="12700" cmpd="sng">
                      <a:noFill/>
                    </a:lnB>
                    <a:noFill/>
                  </a:tcPr>
                </a:tc>
                <a:tc>
                  <a:txBody>
                    <a:bodyPr/>
                    <a:lstStyle/>
                    <a:p>
                      <a:endParaRPr lang="ru-RU" sz="700"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endParaRPr lang="ru-RU" sz="700"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endParaRPr lang="ru-RU" sz="700"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dirty="0">
                          <a:latin typeface="+mj-lt"/>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j-lt"/>
                        </a:rPr>
                        <a:t xml:space="preserve">Legal block (GR), DCC</a:t>
                      </a:r>
                      <a:r>
                        <a:rPr lang="en-US" sz="700" b="0" baseline="0" dirty="0">
                          <a:latin typeface="+mj-lt"/>
                        </a:rPr>
                        <a:t/>
                      </a:r>
                      <a:r>
                        <a:rPr lang="en-US" sz="700" b="0" dirty="0">
                          <a:latin typeface="+mj-lt"/>
                        </a:rPr>
                        <a:t/>
                      </a:r>
                      <a:r>
                        <a:rPr lang="ru-RU" sz="700" b="0" dirty="0">
                          <a:latin typeface="+mj-lt"/>
                        </a:rPr>
                        <a:t/>
                      </a: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The draft Rules for interaction with government bodies were developed taking into account the principles of the Government Engagement Procedure project of the Group and the International Perimeter, the legislation of the Republic of Kazakhstan and the Perimeter GNI Management Rules, and was sent for consideration by the CLO of the Perimeter according to the agreement, because work with government bodies is included in the process area “Legal support of activities”. Feedback on the project is expected as of the report date.</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endParaRPr lang="ru-RU" sz="700" b="0" dirty="0">
                        <a:latin typeface="+mn-lt"/>
                      </a:endParaRP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923706383"/>
                  </a:ext>
                </a:extLst>
              </a:tr>
              <a:tr h="749886">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8"/>
                        <a:tabLst/>
                        <a:defRPr/>
                      </a:pPr>
                      <a:r>
                        <a:rPr lang="ru-RU" sz="700" b="0" dirty="0">
                          <a:latin typeface="+mj-lt"/>
                        </a:rPr>
                        <a:t xml:space="preserve">Participation in the Group’s project to analyze and necessary update the ERG compliance policies, create public versions of the policies for the website, develop a dashboard for managing policies and providing reporting based on the results of the CSRD Gap Assessment - Compliance.</a:t>
                      </a:r>
                      <a:r>
                        <a:rPr lang="ru-RU" sz="700" b="0" baseline="0" dirty="0">
                          <a:latin typeface="+mj-lt"/>
                        </a:rPr>
                        <a:t/>
                      </a:r>
                      <a:r>
                        <a:rPr lang="en-US" sz="700" b="0" baseline="0" dirty="0">
                          <a:latin typeface="+mj-lt"/>
                        </a:rPr>
                        <a:t/>
                      </a:r>
                      <a:r>
                        <a:rPr lang="ru-RU" sz="700" b="0" baseline="0" dirty="0">
                          <a:latin typeface="+mj-lt"/>
                        </a:rPr>
                        <a:t/>
                      </a:r>
                      <a:r>
                        <a:rPr lang="en-US" sz="700" b="0" dirty="0">
                          <a:latin typeface="+mj-lt"/>
                        </a:rPr>
                        <a:t/>
                      </a:r>
                      <a:r>
                        <a:rPr lang="ru-RU" sz="700" b="0" dirty="0">
                          <a:latin typeface="+mj-lt"/>
                        </a:rPr>
                        <a:t/>
                      </a:r>
                    </a:p>
                  </a:txBody>
                  <a:tcPr>
                    <a:lnT w="9525" cap="flat" cmpd="sng" algn="ctr">
                      <a:noFill/>
                      <a:prstDash val="solid"/>
                      <a:round/>
                      <a:headEnd type="none" w="med" len="med"/>
                      <a:tailEnd type="none" w="med" len="med"/>
                    </a:lnT>
                    <a:lnB w="12700" cmpd="sng">
                      <a:noFill/>
                    </a:lnB>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1" u="none" strike="noStrike" kern="1200" cap="none" spc="0" normalizeH="0" baseline="0" noProof="0" dirty="0">
                          <a:ln>
                            <a:noFill/>
                          </a:ln>
                          <a:solidFill>
                            <a:srgbClr val="32373C"/>
                          </a:solidFill>
                          <a:effectLst/>
                          <a:uLnTx/>
                          <a:uFillTx/>
                          <a:latin typeface="+mj-lt"/>
                          <a:ea typeface="+mn-ea"/>
                          <a:cs typeface="+mn-cs"/>
                        </a:rPr>
                        <a:t xml:space="preserve">according to the terms of the Compliance Group</a:t>
                      </a:r>
                      <a:endParaRPr lang="ru-RU" sz="700" b="0" i="1"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mn-lt"/>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r>
                        <a:rPr lang="ru-RU" sz="700" b="0" dirty="0">
                          <a:latin typeface="+mj-lt"/>
                        </a:rPr>
                        <a:t xml:space="preserve">Compliance Group, Legal. block, ESG team, DCC</a:t>
                      </a:r>
                      <a:r>
                        <a:rPr lang="en-US" sz="700" b="0" dirty="0">
                          <a:latin typeface="+mj-lt"/>
                        </a:rPr>
                        <a:t/>
                      </a:r>
                      <a:r>
                        <a:rPr lang="ru-RU" sz="700" b="0" dirty="0">
                          <a:latin typeface="+mj-lt"/>
                        </a:rPr>
                        <a:t/>
                      </a:r>
                    </a:p>
                  </a:txBody>
                  <a:tcPr>
                    <a:lnT w="9525" cap="flat" cmpd="sng" algn="ctr">
                      <a:noFill/>
                      <a:prstDash val="solid"/>
                      <a:round/>
                      <a:headEnd type="none" w="med" len="med"/>
                      <a:tailEnd type="none" w="med" len="med"/>
                    </a:lnT>
                    <a:lnB w="12700" cmpd="sng">
                      <a:noFill/>
                    </a:lnB>
                    <a:noFill/>
                  </a:tcPr>
                </a:tc>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In 2025, the Perimeter Compliance Directorate provided detailed comments on new versions of such Group Policies as Sanctions Compliance Policy (+ Prohibited Countries Guidelines), Sanctions Compliance Program, Antifraud Policy, Competition Compliance Policy, Conflict of Interest Policy, Related Party Contracts Policy, AI Policy (concept).</a:t>
                      </a:r>
                      <a:r>
                        <a:rPr lang="en-US" sz="700" b="0" dirty="0" smtClean="0">
                          <a:latin typeface="+mn-lt"/>
                        </a:rPr>
                        <a:t/>
                      </a:r>
                      <a:endParaRPr lang="ru-RU" sz="700" b="0" dirty="0">
                        <a:latin typeface="+mn-lt"/>
                      </a:endParaRPr>
                    </a:p>
                  </a:txBody>
                  <a:tcPr marT="36000" marB="36000" anchor="ct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351240396"/>
                  </a:ext>
                </a:extLst>
              </a:tr>
              <a:tr h="272686">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9"/>
                        <a:tabLst/>
                        <a:defRPr/>
                      </a:pPr>
                      <a:r>
                        <a:rPr lang="ru-RU" sz="700" b="0" dirty="0" smtClean="0">
                          <a:solidFill>
                            <a:schemeClr val="accent5">
                              <a:lumMod val="75000"/>
                              <a:lumOff val="25000"/>
                            </a:schemeClr>
                          </a:solidFill>
                          <a:latin typeface="+mj-lt"/>
                          <a:ea typeface="Yu Gothic UI Semibold" panose="020B0700000000000000" pitchFamily="34" charset="-128"/>
                        </a:rPr>
                        <a:t xml:space="preserve">Participation in the Assurance Group project</a:t>
                      </a:r>
                      <a:r>
                        <a:rPr lang="ru-RU" sz="700" b="0" dirty="0">
                          <a:solidFill>
                            <a:schemeClr val="accent5">
                              <a:lumMod val="75000"/>
                              <a:lumOff val="25000"/>
                            </a:schemeClr>
                          </a:solidFill>
                          <a:latin typeface="+mj-lt"/>
                          <a:ea typeface="Yu Gothic UI Semibold" panose="020B0700000000000000" pitchFamily="34" charset="-128"/>
                        </a:rPr>
                        <a:t/>
                      </a:r>
                      <a:r>
                        <a:rPr lang="ru-RU" sz="700" b="0" baseline="0" dirty="0">
                          <a:solidFill>
                            <a:schemeClr val="accent5">
                              <a:lumMod val="75000"/>
                              <a:lumOff val="25000"/>
                            </a:schemeClr>
                          </a:solidFill>
                          <a:latin typeface="+mj-lt"/>
                          <a:ea typeface="Yu Gothic UI Semibold" panose="020B0700000000000000" pitchFamily="34" charset="-128"/>
                        </a:rPr>
                        <a:t/>
                      </a:r>
                      <a:endParaRPr lang="ru-RU" sz="700" b="0" dirty="0">
                        <a:solidFill>
                          <a:schemeClr val="accent5">
                            <a:lumMod val="75000"/>
                            <a:lumOff val="25000"/>
                          </a:schemeClr>
                        </a:solidFill>
                        <a:latin typeface="+mj-lt"/>
                      </a:endParaRPr>
                    </a:p>
                  </a:txBody>
                  <a:tcP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rgbClr val="32373C"/>
                        </a:solidFill>
                        <a:effectLst/>
                        <a:uLnTx/>
                        <a:uFillTx/>
                        <a:latin typeface="+mj-lt"/>
                        <a:ea typeface="+mn-ea"/>
                        <a:cs typeface="+mn-cs"/>
                      </a:endParaRPr>
                    </a:p>
                  </a:txBody>
                  <a:tcP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rgbClr val="32373C"/>
                        </a:solidFill>
                        <a:effectLst/>
                        <a:uLnTx/>
                        <a:uFillTx/>
                        <a:latin typeface="+mj-lt"/>
                        <a:ea typeface="+mn-ea"/>
                        <a:cs typeface="+mn-cs"/>
                      </a:endParaRPr>
                    </a:p>
                  </a:txBody>
                  <a:tcPr>
                    <a:lnB w="9525" cap="flat" cmpd="sng" algn="ctr">
                      <a:solidFill>
                        <a:schemeClr val="accent5">
                          <a:lumMod val="75000"/>
                          <a:lumOff val="25000"/>
                        </a:schemeClr>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dirty="0">
                        <a:ln>
                          <a:noFill/>
                        </a:ln>
                        <a:solidFill>
                          <a:srgbClr val="32373C"/>
                        </a:solidFill>
                        <a:effectLst/>
                        <a:uLnTx/>
                        <a:uFillTx/>
                        <a:latin typeface="+mj-lt"/>
                        <a:ea typeface="+mn-ea"/>
                        <a:cs typeface="+mn-cs"/>
                      </a:endParaRPr>
                    </a:p>
                  </a:txBody>
                  <a:tcPr>
                    <a:lnB w="9525" cap="flat" cmpd="sng" algn="ctr">
                      <a:solidFill>
                        <a:schemeClr val="accent5">
                          <a:lumMod val="75000"/>
                          <a:lumOff val="25000"/>
                        </a:schemeClr>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dirty="0">
                          <a:ln>
                            <a:noFill/>
                          </a:ln>
                          <a:solidFill>
                            <a:srgbClr val="32373C"/>
                          </a:solidFill>
                          <a:effectLst/>
                          <a:uLnTx/>
                          <a:uFillTx/>
                          <a:latin typeface="+mj-lt"/>
                          <a:ea typeface="+mn-ea"/>
                          <a:cs typeface="+mn-cs"/>
                        </a:rPr>
                        <a:t>Х</a:t>
                      </a:r>
                    </a:p>
                  </a:txBody>
                  <a:tcPr>
                    <a:lnB w="9525" cap="flat" cmpd="sng" algn="ctr">
                      <a:solidFill>
                        <a:schemeClr val="accent5">
                          <a:lumMod val="75000"/>
                          <a:lumOff val="25000"/>
                        </a:schemeClr>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j-lt"/>
                      </a:endParaRPr>
                    </a:p>
                  </a:txBody>
                  <a:tcP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noFill/>
                      <a:prstDash val="solid"/>
                      <a:round/>
                      <a:headEnd type="none" w="med" len="med"/>
                      <a:tailEnd type="none" w="med" len="med"/>
                    </a:lnT>
                    <a:noFill/>
                  </a:tcPr>
                </a:tc>
                <a:extLst>
                  <a:ext uri="{0D108BD9-81ED-4DB2-BD59-A6C34878D82A}">
                    <a16:rowId xmlns:a16="http://schemas.microsoft.com/office/drawing/2014/main" val="1804711898"/>
                  </a:ext>
                </a:extLst>
              </a:tr>
              <a:tr h="845326">
                <a:tc rowSpan="4">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kern="1200" dirty="0" smtClean="0">
                          <a:solidFill>
                            <a:schemeClr val="tx1"/>
                          </a:solidFill>
                          <a:latin typeface="+mn-lt"/>
                          <a:ea typeface="+mn-ea"/>
                          <a:cs typeface="+mn-cs"/>
                        </a:rPr>
                        <a:t xml:space="preserve">Comprehensive verification of counterparties (CPC)</a:t>
                      </a:r>
                      <a:endParaRPr lang="ru-RU" sz="700" b="0" kern="1200" dirty="0" smtClean="0">
                        <a:solidFill>
                          <a:schemeClr val="dk1"/>
                        </a:solidFill>
                        <a:latin typeface="+mn-lt"/>
                        <a:ea typeface="+mn-ea"/>
                        <a:cs typeface="+mn-cs"/>
                      </a:endParaRPr>
                    </a:p>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a:tabLst/>
                        <a:defRPr/>
                      </a:pPr>
                      <a:r>
                        <a:rPr lang="ru-RU" sz="700" b="0" i="0" u="none" strike="noStrike" kern="1200" dirty="0">
                          <a:solidFill>
                            <a:schemeClr val="tx1"/>
                          </a:solidFill>
                          <a:effectLst/>
                          <a:latin typeface="+mj-lt"/>
                          <a:ea typeface="+mn-ea"/>
                          <a:cs typeface="+mn-cs"/>
                        </a:rPr>
                        <a:t xml:space="preserve">Continue to maintain the current effectiveness of third party risk management, incl. by achieving coverage indicators and analyzing the quality of the CCPs conducted, risk-oriented implementation of the Compliance sheet in accordance with the Guarantee Scheme (the self-testing plan is presented on slides 49-50).</a:t>
                      </a:r>
                      <a:r>
                        <a:rPr lang="ru-RU" sz="700" b="0" i="0" u="none" strike="noStrike" kern="1200" baseline="0" dirty="0">
                          <a:solidFill>
                            <a:schemeClr val="tx1"/>
                          </a:solidFill>
                          <a:effectLst/>
                          <a:latin typeface="+mj-lt"/>
                          <a:ea typeface="+mn-ea"/>
                          <a:cs typeface="+mn-cs"/>
                        </a:rPr>
                        <a:t/>
                      </a:r>
                      <a:r>
                        <a:rPr lang="ru" sz="700" dirty="0">
                          <a:solidFill>
                            <a:schemeClr val="tx1"/>
                          </a:solidFill>
                          <a:latin typeface="+mj-lt"/>
                        </a:rPr>
                        <a:t/>
                      </a:r>
                      <a:r>
                        <a:rPr lang="ru-RU" sz="700" b="0" dirty="0">
                          <a:solidFill>
                            <a:schemeClr val="tx1"/>
                          </a:solidFill>
                          <a:latin typeface="+mj-lt"/>
                        </a:rPr>
                        <a:t/>
                      </a:r>
                      <a:r>
                        <a:rPr lang="ru-RU" sz="700" b="0" i="0" u="none" strike="noStrike" kern="1200" baseline="0" dirty="0">
                          <a:solidFill>
                            <a:schemeClr val="tx1"/>
                          </a:solidFill>
                          <a:effectLst/>
                          <a:latin typeface="+mj-lt"/>
                          <a:ea typeface="+mn-ea"/>
                          <a:cs typeface="+mn-cs"/>
                        </a:rPr>
                        <a:t/>
                      </a:r>
                      <a:r>
                        <a:rPr lang="en-US" sz="700" b="0" i="0" u="none" strike="noStrike" kern="1200" baseline="0" dirty="0">
                          <a:solidFill>
                            <a:schemeClr val="tx1"/>
                          </a:solidFill>
                          <a:effectLst/>
                          <a:latin typeface="+mj-lt"/>
                          <a:ea typeface="+mn-ea"/>
                          <a:cs typeface="+mn-cs"/>
                        </a:rPr>
                        <a:t/>
                      </a:r>
                      <a:r>
                        <a:rPr lang="ru-RU" sz="700" b="0" i="0" u="none" strike="noStrike" kern="1200" dirty="0">
                          <a:solidFill>
                            <a:schemeClr val="tx1"/>
                          </a:solidFill>
                          <a:effectLst/>
                          <a:latin typeface="+mj-lt"/>
                          <a:ea typeface="+mn-ea"/>
                          <a:cs typeface="+mn-cs"/>
                        </a:rPr>
                        <a:t/>
                      </a:r>
                      <a:r>
                        <a:rPr lang="ru-RU" sz="700" b="0" i="0" u="none" strike="noStrike" kern="1200" baseline="0" dirty="0">
                          <a:solidFill>
                            <a:schemeClr val="tx1"/>
                          </a:solidFill>
                          <a:effectLst/>
                          <a:latin typeface="+mj-lt"/>
                          <a:ea typeface="+mn-ea"/>
                          <a:cs typeface="+mn-cs"/>
                        </a:rPr>
                        <a:t/>
                      </a:r>
                      <a:r>
                        <a:rPr lang="ru-RU" sz="700" b="0" i="0" u="none" strike="noStrike" kern="1200" baseline="0" dirty="0" smtClean="0">
                          <a:solidFill>
                            <a:schemeClr val="tx1"/>
                          </a:solidFill>
                          <a:effectLst/>
                          <a:latin typeface="+mj-lt"/>
                          <a:ea typeface="+mn-ea"/>
                          <a:cs typeface="+mn-cs"/>
                        </a:rPr>
                        <a:t/>
                      </a:r>
                      <a:r>
                        <a:rPr lang="ru-RU" sz="700" b="0" i="0" u="none" strike="noStrike" kern="1200" dirty="0" smtClean="0">
                          <a:solidFill>
                            <a:schemeClr val="tx1"/>
                          </a:solidFill>
                          <a:effectLst/>
                          <a:latin typeface="+mj-lt"/>
                          <a:ea typeface="+mn-ea"/>
                          <a:cs typeface="+mn-cs"/>
                        </a:rPr>
                        <a:t/>
                      </a:r>
                      <a:r>
                        <a:rPr lang="ru-RU" sz="700" b="0" i="0" u="none" strike="noStrike" kern="1200" baseline="0" dirty="0" smtClean="0">
                          <a:solidFill>
                            <a:schemeClr val="tx1"/>
                          </a:solidFill>
                          <a:effectLst/>
                          <a:latin typeface="+mj-lt"/>
                          <a:ea typeface="+mn-ea"/>
                          <a:cs typeface="+mn-cs"/>
                        </a:rPr>
                        <a:t/>
                      </a:r>
                      <a:endParaRPr lang="ru-RU" sz="700" b="0" dirty="0">
                        <a:solidFill>
                          <a:schemeClr val="tx1"/>
                        </a:solidFill>
                        <a:latin typeface="+mj-lt"/>
                      </a:endParaRPr>
                    </a:p>
                  </a:txBody>
                  <a:tcPr>
                    <a:lnT w="9525" cap="flat" cmpd="sng" algn="ctr">
                      <a:solidFill>
                        <a:schemeClr val="accent5">
                          <a:lumMod val="75000"/>
                          <a:lumOff val="25000"/>
                        </a:schemeClr>
                      </a:solid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j-lt"/>
                        </a:rPr>
                        <a:t xml:space="preserve">Purchasing, Sales, Finance and other business units.</a:t>
                      </a:r>
                      <a:r>
                        <a:rPr lang="ru-RU" sz="700" b="0" baseline="0" dirty="0">
                          <a:latin typeface="+mj-lt"/>
                        </a:rPr>
                        <a:t/>
                      </a:r>
                      <a:endParaRPr lang="ru-RU" sz="700" b="0" dirty="0">
                        <a:latin typeface="+mj-lt"/>
                      </a:endParaRPr>
                    </a:p>
                  </a:txBody>
                  <a:tcPr>
                    <a:lnT w="9525" cap="flat" cmpd="sng" algn="ctr">
                      <a:solidFill>
                        <a:schemeClr val="accent5">
                          <a:lumMod val="75000"/>
                          <a:lumOff val="25000"/>
                        </a:schemeClr>
                      </a:solid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Almost 100% (99.82% annual average) coverage of Perimeter transactions subject to the CCP procedure is provided. The results of the quarterly self-testing of the CCP are included in compliance reporting (dashboards) for the CEO of Perimeter, CEOs of the Divisions and are presented at meetings of the Compliance Committee, incl. with an explanation of the reasons for omissions and the status of mitigation measures. In general, the percentage of omission for the year does not exceed 1% (Q1 – 99.63% coverage; Q2 – 99.86% coverage; Q3 – 99.95%; Q4 – 99.82%). Recommendations were sent regarding the passes; the CCP did not identify any compliance risks after the fact. The report on the plan for the remaining self-tests is presented on slides 49-50.</a:t>
                      </a:r>
                      <a:r>
                        <a:rPr lang="ru-RU" sz="700" b="0" baseline="0" dirty="0"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smtClean="0">
                          <a:solidFill>
                            <a:schemeClr val="tx1"/>
                          </a:solidFill>
                          <a:latin typeface="+mn-lt"/>
                        </a:rPr>
                        <a:t/>
                      </a:r>
                      <a:r>
                        <a:rPr lang="ru-RU" sz="700" b="0" dirty="0" smtClean="0">
                          <a:solidFill>
                            <a:schemeClr val="tx1"/>
                          </a:solidFill>
                          <a:latin typeface="+mn-lt"/>
                        </a:rPr>
                        <a:t/>
                      </a:r>
                      <a:r>
                        <a:rPr lang="ru-RU" sz="700" b="0" dirty="0" smtClean="0">
                          <a:solidFill>
                            <a:schemeClr val="tx1"/>
                          </a:solidFill>
                          <a:latin typeface="+mn-lt"/>
                        </a:rPr>
                        <a:t/>
                      </a:r>
                      <a:endParaRPr lang="ru-RU" sz="700" b="0" dirty="0">
                        <a:solidFill>
                          <a:schemeClr val="tx1"/>
                        </a:solidFill>
                        <a:latin typeface="+mn-lt"/>
                      </a:endParaRPr>
                    </a:p>
                  </a:txBody>
                  <a:tcPr marT="36000" marB="36000">
                    <a:lnT w="9525" cap="flat" cmpd="sng" algn="ctr">
                      <a:solidFill>
                        <a:schemeClr val="accent5">
                          <a:lumMod val="75000"/>
                          <a:lumOff val="25000"/>
                        </a:schemeClr>
                      </a:solidFill>
                      <a:prstDash val="solid"/>
                      <a:round/>
                      <a:headEnd type="none" w="med" len="med"/>
                      <a:tailEnd type="none" w="med" len="med"/>
                    </a:lnT>
                    <a:lnB w="12700" cmpd="sng">
                      <a:noFill/>
                    </a:lnB>
                    <a:noFill/>
                  </a:tcPr>
                </a:tc>
                <a:extLst>
                  <a:ext uri="{0D108BD9-81ED-4DB2-BD59-A6C34878D82A}">
                    <a16:rowId xmlns:a16="http://schemas.microsoft.com/office/drawing/2014/main" val="4261831059"/>
                  </a:ext>
                </a:extLst>
              </a:tr>
              <a:tr h="463566">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2"/>
                        <a:tabLst/>
                        <a:defRPr/>
                      </a:pPr>
                      <a:r>
                        <a:rPr lang="ru-RU" sz="700" b="0" dirty="0">
                          <a:latin typeface="+mj-lt"/>
                        </a:rPr>
                        <a:t xml:space="preserve">Continue analysis of the current portfolio of MCE counterparties and manufacturers of purchased products (MCE drug formulary), incl. below the PDA limit.</a:t>
                      </a:r>
                      <a:r>
                        <a:rPr lang="ru-RU" sz="700" b="0" baseline="0" dirty="0">
                          <a:latin typeface="+mj-lt"/>
                        </a:rPr>
                        <a:t/>
                      </a:r>
                      <a:r>
                        <a:rPr lang="ru-RU" sz="700" b="0" dirty="0">
                          <a:latin typeface="+mj-lt"/>
                        </a:rPr>
                        <a:t/>
                      </a:r>
                      <a:r>
                        <a:rPr lang="ru-RU" sz="700" b="0" baseline="0" dirty="0">
                          <a:latin typeface="+mj-lt"/>
                        </a:rPr>
                        <a:t/>
                      </a:r>
                      <a:endParaRPr lang="ru-RU" sz="700" b="0" dirty="0">
                        <a:latin typeface="+mj-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j-lt"/>
                        </a:rPr>
                        <a:t xml:space="preserve">CEO MCE, Purchasing, etc.</a:t>
                      </a:r>
                      <a:r>
                        <a:rPr lang="ru-RU" sz="700" b="0" baseline="0" dirty="0">
                          <a:latin typeface="+mj-lt"/>
                        </a:rPr>
                        <a:t/>
                      </a:r>
                      <a:endParaRPr lang="ru-RU" sz="700" b="0" dirty="0">
                        <a:latin typeface="+mj-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The analysis was completed on May 19, 2025. Out of 365 verified manufacturer positions, 3 (0.82%) manufacturers were identified as having risks preventing cooperation (OFAC SDN sanctions). Businesses were sent appropriate recommendations aimed at eliminating the identified risks.</a:t>
                      </a:r>
                      <a:r>
                        <a:rPr lang="ru-RU" sz="700" b="0" dirty="0" smtClean="0">
                          <a:latin typeface="+mn-lt"/>
                        </a:rPr>
                        <a:t/>
                      </a:r>
                      <a:r>
                        <a:rPr lang="ru-RU" sz="700" b="0" dirty="0" smtClean="0">
                          <a:latin typeface="+mn-lt"/>
                        </a:rPr>
                        <a:t/>
                      </a:r>
                      <a:endParaRPr lang="ru-RU" sz="700" b="0" dirty="0">
                        <a:latin typeface="+mn-lt"/>
                      </a:endParaRP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960278467"/>
                  </a:ext>
                </a:extLst>
              </a:tr>
              <a:tr h="559006">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3"/>
                        <a:tabLst/>
                        <a:defRPr/>
                      </a:pPr>
                      <a:r>
                        <a:rPr lang="ru-RU" sz="700" b="0" dirty="0">
                          <a:latin typeface="+mj-lt"/>
                        </a:rPr>
                        <a:t xml:space="preserve">Participate in the Group’s project to develop a dashboard on third parties and provide reporting based on the results of the CSRD Gap Assessment – ​​Compliance.</a:t>
                      </a:r>
                      <a:r>
                        <a:rPr lang="ru-RU" sz="700" b="0" baseline="0" dirty="0">
                          <a:latin typeface="+mj-lt"/>
                        </a:rPr>
                        <a:t/>
                      </a:r>
                      <a:r>
                        <a:rPr lang="en-US" sz="700" b="0" dirty="0">
                          <a:latin typeface="+mj-lt"/>
                        </a:rPr>
                        <a:t/>
                      </a:r>
                      <a:r>
                        <a:rPr lang="ru-RU" sz="700" b="0" dirty="0">
                          <a:latin typeface="+mj-lt"/>
                        </a:rPr>
                        <a:t/>
                      </a:r>
                    </a:p>
                  </a:txBody>
                  <a:tcPr>
                    <a:lnT w="9525" cap="flat" cmpd="sng" algn="ctr">
                      <a:noFill/>
                      <a:prstDash val="solid"/>
                      <a:round/>
                      <a:headEnd type="none" w="med" len="med"/>
                      <a:tailEnd type="none" w="med" len="med"/>
                    </a:lnT>
                    <a:lnB w="12700" cmpd="sng">
                      <a:noFill/>
                    </a:lnB>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1" u="none" strike="noStrike" kern="1200" cap="none" spc="0" normalizeH="0" baseline="0" noProof="0" dirty="0">
                          <a:ln>
                            <a:noFill/>
                          </a:ln>
                          <a:solidFill>
                            <a:srgbClr val="32373C"/>
                          </a:solidFill>
                          <a:effectLst/>
                          <a:uLnTx/>
                          <a:uFillTx/>
                          <a:latin typeface="+mj-lt"/>
                          <a:ea typeface="+mn-ea"/>
                          <a:cs typeface="+mn-cs"/>
                        </a:rPr>
                        <a:t xml:space="preserve">according to the terms of the Compliance Group</a:t>
                      </a:r>
                      <a:endParaRPr lang="ru-RU" sz="700" b="0" i="1" dirty="0">
                        <a:latin typeface="+mj-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gradFill flip="none" rotWithShape="1">
                      <a:gsLst>
                        <a:gs pos="0">
                          <a:schemeClr val="accent4">
                            <a:lumMod val="20000"/>
                            <a:lumOff val="80000"/>
                          </a:schemeClr>
                        </a:gs>
                        <a:gs pos="100000">
                          <a:schemeClr val="bg1"/>
                        </a:gs>
                      </a:gsLst>
                      <a:lin ang="5400000" scaled="1"/>
                      <a:tileRect/>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mn-lt"/>
                        <a:ea typeface="+mn-ea"/>
                        <a:cs typeface="+mn-cs"/>
                      </a:endParaRPr>
                    </a:p>
                  </a:txBody>
                  <a:tcPr>
                    <a:gradFill flip="none" rotWithShape="1">
                      <a:gsLst>
                        <a:gs pos="0">
                          <a:schemeClr val="accent4">
                            <a:lumMod val="20000"/>
                            <a:lumOff val="80000"/>
                          </a:schemeClr>
                        </a:gs>
                        <a:gs pos="100000">
                          <a:schemeClr val="bg1"/>
                        </a:gs>
                      </a:gsLst>
                      <a:lin ang="5400000" scaled="1"/>
                      <a:tileRect/>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gradFill flip="none" rotWithShape="1">
                      <a:gsLst>
                        <a:gs pos="0">
                          <a:schemeClr val="accent4">
                            <a:lumMod val="20000"/>
                            <a:lumOff val="80000"/>
                          </a:schemeClr>
                        </a:gs>
                        <a:gs pos="100000">
                          <a:schemeClr val="bg1"/>
                        </a:gs>
                      </a:gsLst>
                      <a:lin ang="5400000" scaled="1"/>
                      <a:tileRect/>
                    </a:gradFill>
                  </a:tcPr>
                </a:tc>
                <a:tc>
                  <a:txBody>
                    <a:bodyPr/>
                    <a:lstStyle/>
                    <a:p>
                      <a:r>
                        <a:rPr lang="ru-RU" sz="700" b="0" dirty="0">
                          <a:latin typeface="+mj-lt"/>
                        </a:rPr>
                        <a:t xml:space="preserve">Compliance Group, Legal. block, HR, Finance, Purchasing, Sales, etc.</a:t>
                      </a:r>
                      <a:r>
                        <a:rPr lang="en-US" sz="700" b="0" dirty="0">
                          <a:latin typeface="+mj-lt"/>
                        </a:rPr>
                        <a:t/>
                      </a:r>
                      <a:r>
                        <a:rPr lang="ru-RU" sz="700" b="0" dirty="0">
                          <a:latin typeface="+mj-lt"/>
                        </a:rPr>
                        <a:t/>
                      </a:r>
                      <a:r>
                        <a:rPr lang="ru-RU" sz="700" b="0" baseline="0" dirty="0">
                          <a:latin typeface="+mj-lt"/>
                        </a:rPr>
                        <a:t/>
                      </a:r>
                      <a:endParaRPr lang="ru-RU" sz="700" b="0" dirty="0">
                        <a:latin typeface="+mj-lt"/>
                      </a:endParaRPr>
                    </a:p>
                  </a:txBody>
                  <a:tcPr>
                    <a:lnT w="9525" cap="flat" cmpd="sng" algn="ctr">
                      <a:noFill/>
                      <a:prstDash val="solid"/>
                      <a:round/>
                      <a:headEnd type="none" w="med" len="med"/>
                      <a:tailEnd type="none" w="med" len="med"/>
                    </a:lnT>
                    <a:lnB w="12700" cmpd="sng">
                      <a:noFill/>
                    </a:lnB>
                    <a:noFill/>
                  </a:tcPr>
                </a:tc>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tx1"/>
                          </a:solidFill>
                          <a:latin typeface="+mn-lt"/>
                          <a:ea typeface="+mn-ea"/>
                          <a:cs typeface="+mn-cs"/>
                        </a:rPr>
                        <a:t xml:space="preserve">Participated in updating compliance dashboard formats. Actively participated in CSRD Readiness in 2024-2025 (participation in analysis, interviews, etc.). 04/11/2025 ESG Perimeter Committee decided to suspend the preparation of sustainability reporting in accordance with the CSRD due to the postponement of the deadline for mandatory disclosure of information for ERG to 2028. for the reporting period 2027</a:t>
                      </a:r>
                      <a:r>
                        <a:rPr lang="ru-RU" sz="700" b="0" dirty="0" smtClean="0">
                          <a:solidFill>
                            <a:schemeClr val="tx1"/>
                          </a:solidFill>
                          <a:latin typeface="+mn-lt"/>
                        </a:rPr>
                        <a:t/>
                      </a:r>
                      <a:r>
                        <a:rPr lang="ru-RU" sz="700" b="0" dirty="0" err="1" smtClean="0">
                          <a:solidFill>
                            <a:schemeClr val="tx1"/>
                          </a:solidFill>
                          <a:latin typeface="+mn-lt"/>
                        </a:rPr>
                        <a:t/>
                      </a:r>
                      <a:r>
                        <a:rPr lang="ru-RU" sz="700" b="0" dirty="0" smtClean="0">
                          <a:solidFill>
                            <a:schemeClr val="tx1"/>
                          </a:solidFill>
                          <a:latin typeface="+mn-lt"/>
                        </a:rPr>
                        <a:t/>
                      </a:r>
                      <a:endParaRPr lang="ru-RU" sz="700" b="0" dirty="0">
                        <a:latin typeface="+mn-lt"/>
                      </a:endParaRPr>
                    </a:p>
                  </a:txBody>
                  <a:tcPr marT="36000" marB="36000" anchor="ctr">
                    <a:lnT w="9525" cap="flat" cmpd="sng" algn="ctr">
                      <a:noFill/>
                      <a:prstDash val="solid"/>
                      <a:round/>
                      <a:headEnd type="none" w="med" len="med"/>
                      <a:tailEnd type="none" w="med" len="med"/>
                    </a:lnT>
                    <a:noFill/>
                  </a:tcPr>
                </a:tc>
                <a:extLst>
                  <a:ext uri="{0D108BD9-81ED-4DB2-BD59-A6C34878D82A}">
                    <a16:rowId xmlns:a16="http://schemas.microsoft.com/office/drawing/2014/main" val="2560508804"/>
                  </a:ext>
                </a:extLst>
              </a:tr>
              <a:tr h="272686">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4"/>
                        <a:tabLst/>
                        <a:defRPr/>
                      </a:pPr>
                      <a:r>
                        <a:rPr lang="ru-RU" sz="700" b="0" dirty="0" smtClean="0">
                          <a:solidFill>
                            <a:schemeClr val="accent5">
                              <a:lumMod val="75000"/>
                              <a:lumOff val="25000"/>
                            </a:schemeClr>
                          </a:solidFill>
                          <a:latin typeface="+mj-lt"/>
                          <a:ea typeface="Yu Gothic UI Semibold" panose="020B0700000000000000" pitchFamily="34" charset="-128"/>
                        </a:rPr>
                        <a:t xml:space="preserve">Participation in the Assurance Group project</a:t>
                      </a:r>
                      <a:r>
                        <a:rPr lang="ru-RU" sz="700" b="0" dirty="0">
                          <a:solidFill>
                            <a:schemeClr val="accent5">
                              <a:lumMod val="75000"/>
                              <a:lumOff val="25000"/>
                            </a:schemeClr>
                          </a:solidFill>
                          <a:latin typeface="+mj-lt"/>
                          <a:ea typeface="Yu Gothic UI Semibold" panose="020B0700000000000000" pitchFamily="34" charset="-128"/>
                        </a:rPr>
                        <a:t/>
                      </a:r>
                      <a:r>
                        <a:rPr lang="ru-RU" sz="700" b="0" baseline="0" dirty="0">
                          <a:solidFill>
                            <a:schemeClr val="accent5">
                              <a:lumMod val="75000"/>
                              <a:lumOff val="25000"/>
                            </a:schemeClr>
                          </a:solidFill>
                          <a:latin typeface="+mj-lt"/>
                          <a:ea typeface="Yu Gothic UI Semibold" panose="020B0700000000000000" pitchFamily="34" charset="-128"/>
                        </a:rPr>
                        <a:t/>
                      </a:r>
                      <a:endParaRPr lang="ru-RU" sz="700" b="0" dirty="0">
                        <a:solidFill>
                          <a:schemeClr val="accent5">
                            <a:lumMod val="75000"/>
                            <a:lumOff val="25000"/>
                          </a:schemeClr>
                        </a:solidFill>
                        <a:latin typeface="+mj-lt"/>
                      </a:endParaRPr>
                    </a:p>
                  </a:txBody>
                  <a:tcPr>
                    <a:lnT w="9525" cap="flat" cmpd="sng" algn="ctr">
                      <a:noFill/>
                      <a:prstDash val="solid"/>
                      <a:round/>
                      <a:headEnd type="none" w="med" len="med"/>
                      <a:tailEnd type="none" w="med" len="med"/>
                    </a:lnT>
                    <a:noFill/>
                  </a:tcPr>
                </a:tc>
                <a:tc>
                  <a:txBody>
                    <a:bodyPr/>
                    <a:lstStyle/>
                    <a:p>
                      <a:pPr algn="ctr"/>
                      <a:endParaRPr lang="ru-RU" sz="700" b="0" dirty="0">
                        <a:latin typeface="+mj-lt"/>
                      </a:endParaRPr>
                    </a:p>
                  </a:txBody>
                  <a:tcPr>
                    <a:lnT w="9525" cap="flat" cmpd="sng" algn="ctr">
                      <a:no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Х</a:t>
                      </a:r>
                    </a:p>
                  </a:txBody>
                  <a:tcPr>
                    <a:gradFill flip="none" rotWithShape="1">
                      <a:gsLst>
                        <a:gs pos="0">
                          <a:schemeClr val="accent4">
                            <a:lumMod val="20000"/>
                            <a:lumOff val="80000"/>
                          </a:schemeClr>
                        </a:gs>
                        <a:gs pos="100000">
                          <a:schemeClr val="bg1"/>
                        </a:gs>
                      </a:gsLst>
                      <a:lin ang="5400000" scaled="1"/>
                      <a:tileRect/>
                    </a:gradFill>
                  </a:tcPr>
                </a:tc>
                <a:tc>
                  <a:txBody>
                    <a:bodyPr/>
                    <a:lstStyle/>
                    <a:p>
                      <a:pPr algn="ctr"/>
                      <a:endParaRPr lang="ru-RU" sz="700" b="0" dirty="0">
                        <a:latin typeface="+mj-lt"/>
                      </a:endParaRPr>
                    </a:p>
                  </a:txBody>
                  <a:tcPr>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j-lt"/>
                        <a:ea typeface="+mn-ea"/>
                        <a:cs typeface="+mn-cs"/>
                      </a:endParaRPr>
                    </a:p>
                  </a:txBody>
                  <a:tcPr>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j-lt"/>
                      </a:endParaRPr>
                    </a:p>
                  </a:txBody>
                  <a:tcPr>
                    <a:lnT w="9525" cap="flat" cmpd="sng" algn="ctr">
                      <a:noFill/>
                      <a:prstDash val="solid"/>
                      <a:round/>
                      <a:headEnd type="none" w="med" len="med"/>
                      <a:tailEnd type="none" w="med" len="med"/>
                    </a:lnT>
                    <a:noFill/>
                  </a:tcPr>
                </a:tc>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nchor="ctr">
                    <a:lnT w="9525" cap="flat" cmpd="sng" algn="ctr">
                      <a:noFill/>
                      <a:prstDash val="solid"/>
                      <a:round/>
                      <a:headEnd type="none" w="med" len="med"/>
                      <a:tailEnd type="none" w="med" len="med"/>
                    </a:lnT>
                    <a:noFill/>
                  </a:tcPr>
                </a:tc>
                <a:extLst>
                  <a:ext uri="{0D108BD9-81ED-4DB2-BD59-A6C34878D82A}">
                    <a16:rowId xmlns:a16="http://schemas.microsoft.com/office/drawing/2014/main" val="3378843780"/>
                  </a:ext>
                </a:extLst>
              </a:tr>
            </a:tbl>
          </a:graphicData>
        </a:graphic>
      </p:graphicFrame>
    </p:spTree>
    <p:extLst>
      <p:ext uri="{BB962C8B-B14F-4D97-AF65-F5344CB8AC3E}">
        <p14:creationId xmlns:p14="http://schemas.microsoft.com/office/powerpoint/2010/main" val="33821153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4871"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 xml:space="preserve">Annual compliance program 2025: Perimeter Kazakhstan Implementation status</a:t>
            </a:r>
            <a:r>
              <a:rPr lang="ru-RU" dirty="0"/>
              <a:t/>
            </a:r>
            <a:r>
              <a:rPr lang="ru-RU" dirty="0" smtClean="0"/>
              <a:t/>
            </a:r>
            <a:br>
              <a:rPr lang="ru-RU" dirty="0" smtClean="0"/>
            </a:br>
            <a:r>
              <a:rPr lang="ru-RU" dirty="0" smtClean="0">
                <a:solidFill>
                  <a:schemeClr val="tx1"/>
                </a:solidFill>
              </a:rPr>
              <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2847492677"/>
              </p:ext>
            </p:extLst>
          </p:nvPr>
        </p:nvGraphicFramePr>
        <p:xfrm>
          <a:off x="317499" y="801681"/>
          <a:ext cx="11700000" cy="5785440"/>
        </p:xfrm>
        <a:graphic>
          <a:graphicData uri="http://schemas.openxmlformats.org/drawingml/2006/table">
            <a:tbl>
              <a:tblPr firstRow="1" bandRow="1">
                <a:tableStyleId>{5C22544A-7EE6-4342-B048-85BDC9FD1C3A}</a:tableStyleId>
              </a:tblPr>
              <a:tblGrid>
                <a:gridCol w="936000">
                  <a:extLst>
                    <a:ext uri="{9D8B030D-6E8A-4147-A177-3AD203B41FA5}">
                      <a16:colId xmlns:a16="http://schemas.microsoft.com/office/drawing/2014/main" val="2229066145"/>
                    </a:ext>
                  </a:extLst>
                </a:gridCol>
                <a:gridCol w="2268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724000">
                  <a:extLst>
                    <a:ext uri="{9D8B030D-6E8A-4147-A177-3AD203B41FA5}">
                      <a16:colId xmlns:a16="http://schemas.microsoft.com/office/drawing/2014/main" val="2252265905"/>
                    </a:ext>
                  </a:extLst>
                </a:gridCol>
              </a:tblGrid>
              <a:tr h="129095">
                <a:tc rowSpan="2">
                  <a:txBody>
                    <a:bodyPr/>
                    <a:lstStyle/>
                    <a:p>
                      <a:r>
                        <a:rPr lang="ru-RU" sz="700" b="0" dirty="0">
                          <a:solidFill>
                            <a:schemeClr val="accent5">
                              <a:lumMod val="75000"/>
                              <a:lumOff val="25000"/>
                            </a:schemeClr>
                          </a:solidFill>
                          <a:latin typeface="+mn-lt"/>
                        </a:rPr>
                        <a:t xml:space="preserve">Compliance Model Component</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 xml:space="preserve">Events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 xml:space="preserve">Other divisions - participants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 xml:space="preserve">Execution Status</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54151">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 xml:space="preserve">1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2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3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4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1593529">
                <a:tc rowSpan="5">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solidFill>
                            <a:schemeClr val="tx1"/>
                          </a:solidFill>
                          <a:latin typeface="+mn-lt"/>
                        </a:rPr>
                        <a:t xml:space="preserve">Training and information</a:t>
                      </a:r>
                      <a:endParaRPr lang="ru-RU" sz="700" b="0" dirty="0" smtClean="0">
                        <a:latin typeface="+mn-lt"/>
                      </a:endParaRPr>
                    </a:p>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a:tabLst/>
                        <a:defRPr/>
                      </a:pPr>
                      <a:r>
                        <a:rPr lang="ru-RU" sz="700" b="0" i="0" u="none" strike="noStrike" kern="1200" dirty="0">
                          <a:solidFill>
                            <a:schemeClr val="tx1"/>
                          </a:solidFill>
                          <a:effectLst/>
                          <a:latin typeface="+mn-lt"/>
                          <a:ea typeface="+mn-ea"/>
                          <a:cs typeface="+mn-cs"/>
                        </a:rPr>
                        <a:t xml:space="preserve">Fulfill the objectives of the Perimeter compliance training and communications program for 2025 (slides 57-61).</a:t>
                      </a:r>
                      <a:r>
                        <a:rPr lang="ru-RU" sz="700" b="0" i="0" u="none" strike="noStrike" kern="1200" dirty="0" smtClean="0">
                          <a:solidFill>
                            <a:schemeClr val="tx1"/>
                          </a:solidFill>
                          <a:effectLst/>
                          <a:latin typeface="+mn-lt"/>
                          <a:ea typeface="+mn-ea"/>
                          <a:cs typeface="+mn-cs"/>
                        </a:rPr>
                        <a:t/>
                      </a:r>
                      <a:endParaRPr lang="ru-RU" sz="700" b="0" dirty="0">
                        <a:solidFill>
                          <a:schemeClr val="tx1"/>
                        </a:solidFill>
                        <a:latin typeface="+mn-lt"/>
                      </a:endParaRPr>
                    </a:p>
                  </a:txBody>
                  <a:tcPr>
                    <a:lnT w="9525" cap="flat" cmpd="sng" algn="ctr">
                      <a:solidFill>
                        <a:srgbClr val="0070C0"/>
                      </a:solid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en-US" sz="700" b="0" dirty="0">
                          <a:latin typeface="+mn-lt"/>
                        </a:rPr>
                        <a:t xml:space="preserve">HR, department heads</a:t>
                      </a:r>
                      <a:r>
                        <a:rPr lang="ru-RU" sz="700" b="0" dirty="0">
                          <a:latin typeface="+mn-lt"/>
                        </a:rPr>
                        <a:t/>
                      </a:r>
                      <a:r>
                        <a:rPr lang="ru-RU" sz="700" b="0" baseline="0" dirty="0">
                          <a:latin typeface="+mn-lt"/>
                        </a:rPr>
                        <a:t/>
                      </a:r>
                      <a:endParaRPr lang="ru-RU" sz="700" b="0" dirty="0">
                        <a:latin typeface="+mn-lt"/>
                      </a:endParaRPr>
                    </a:p>
                  </a:txBody>
                  <a:tcPr>
                    <a:lnT w="9525" cap="flat" cmpd="sng" algn="ctr">
                      <a:solidFill>
                        <a:srgbClr val="0070C0"/>
                      </a:solid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As of December 31, 2025, training coverage was:</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Code of Corporate Conduct - 98%;</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Respect for human rights when doing business – 98%;</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Personal data protection – 98%;</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Conflict of interest - 98%;</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Anti-bribery and corruption - 83% (the work of the Perimeter module was resumed in July 2026).</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During 2025, the following in-person compliance sessions/trainings were conducted for Perimeter employees:</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Risks of third parties - within the framework of CCP training (including Compliance Sheet, compliance with sanctions, ABC, AML, DP, HR) - 722 employees.</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Principles and rules of the Policy on projects in the field of CSR and sponsorship and the Perimeter BIS Regulations for members of the Perimeter BIS Commissions and other employees participating in the consideration and support of BIS / CSR projects - 14 employees.</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Results of self-testing of the CPC and Compliance List - 28 employees.</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Discussion of the Compliance Report (dashboard) with the CEO of Perimeter Kazakhstan, Divisions, TG, MCE - 94 employees.</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Compliance Officer Day (online quiz, offline QUIZ, offline events at the EEC JSC site: Tone from Above session, panel discussion, solution of situational cases on compliance risks at the practical session “Ethics in Action”) – 204 employees.</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At the meeting of the strategic RG on information security - Key aspects of regulation within the framework of the draft Law of the Republic of Kazakhstan "On Artificial Intelligence" - 20 employees.</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tx1"/>
                          </a:solidFill>
                          <a:latin typeface="+mn-lt"/>
                        </a:rPr>
                        <a:t xml:space="preserve">Ensured the development and release of all compliance communications planned in the T&amp;A program in accordance with the terms of the Program.</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tx1"/>
                          </a:solidFill>
                          <a:latin typeface="+mn-lt"/>
                        </a:rPr>
                        <a:t xml:space="preserve">More details can be found on slides 57-61.</a:t>
                      </a:r>
                      <a:r>
                        <a:rPr lang="ru-RU" sz="700" b="0" baseline="0" dirty="0" smtClean="0">
                          <a:solidFill>
                            <a:schemeClr val="tx1"/>
                          </a:solidFill>
                          <a:latin typeface="+mn-lt"/>
                        </a:rPr>
                        <a:t/>
                      </a:r>
                      <a:endParaRPr lang="ru-RU" sz="700" b="0" dirty="0">
                        <a:solidFill>
                          <a:schemeClr val="tx1"/>
                        </a:solidFill>
                        <a:latin typeface="+mn-lt"/>
                      </a:endParaRPr>
                    </a:p>
                  </a:txBody>
                  <a:tcPr marT="36000" marB="36000">
                    <a:lnT w="9525" cap="flat" cmpd="sng" algn="ctr">
                      <a:solidFill>
                        <a:srgbClr val="0070C0"/>
                      </a:solidFill>
                      <a:prstDash val="solid"/>
                      <a:round/>
                      <a:headEnd type="none" w="med" len="med"/>
                      <a:tailEnd type="none" w="med" len="med"/>
                    </a:lnT>
                    <a:lnB w="12700" cmpd="sng">
                      <a:noFill/>
                    </a:lnB>
                    <a:noFill/>
                  </a:tcPr>
                </a:tc>
                <a:extLst>
                  <a:ext uri="{0D108BD9-81ED-4DB2-BD59-A6C34878D82A}">
                    <a16:rowId xmlns:a16="http://schemas.microsoft.com/office/drawing/2014/main" val="3783564994"/>
                  </a:ext>
                </a:extLst>
              </a:tr>
              <a:tr h="360321">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2"/>
                        <a:tabLst/>
                        <a:defRPr/>
                      </a:pPr>
                      <a:r>
                        <a:rPr lang="ru-RU" sz="700" b="0" dirty="0">
                          <a:latin typeface="+mn-lt"/>
                        </a:rPr>
                        <a:t xml:space="preserve">Update materials for Perimeter's in-person PDA trainings taking into account a risk-based approach.</a:t>
                      </a:r>
                    </a:p>
                  </a:txBody>
                  <a:tcPr>
                    <a:lnT w="9525" cap="flat" cmpd="sng" algn="ctr">
                      <a:noFill/>
                      <a:prstDash val="solid"/>
                      <a:round/>
                      <a:headEnd type="none" w="med" len="med"/>
                      <a:tailEnd type="none" w="med" len="med"/>
                    </a:lnT>
                    <a:lnB w="12700" cmpd="sng">
                      <a:noFill/>
                    </a:lnB>
                    <a:noFill/>
                  </a:tcPr>
                </a:tc>
                <a:tc>
                  <a:txBody>
                    <a:bodyPr/>
                    <a:lstStyle/>
                    <a:p>
                      <a:pPr algn="ctr"/>
                      <a:endParaRPr lang="ru-RU" sz="700" b="0" i="1" dirty="0">
                        <a:latin typeface="+mn-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algn="ctr"/>
                      <a:r>
                        <a:rPr lang="ru-RU" sz="700" b="0" i="0" dirty="0">
                          <a:latin typeface="+mn-lt"/>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algn="ctr"/>
                      <a:endParaRPr lang="ru-RU" sz="700" b="0" i="1" dirty="0">
                        <a:latin typeface="+mn-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algn="ctr"/>
                      <a:endParaRPr lang="ru-RU" sz="700" b="0" i="1" dirty="0">
                        <a:latin typeface="+mn-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MYR agreed to extend the deadline to Q3. inclusive. The materials have been updated and were used when conducting face-to-face/VKS trainings on PDA. In particular, in accordance with the objectives of the Annual Program, a series of compliance sessions were held in 2025 on third-party risk management, the goals and principles of the CCP (including the Compliance List, compliance with sanctions, ABC, AML, DP, HR, results of self-tests of the CCP and the Compliance List); 750 Perimeter employees were trained.</a:t>
                      </a:r>
                      <a:r>
                        <a:rPr lang="ru-RU" sz="700" b="0" dirty="0" err="1" smtClean="0">
                          <a:latin typeface="+mn-lt"/>
                        </a:rPr>
                        <a:t/>
                      </a:r>
                      <a:r>
                        <a:rPr lang="ru-RU" sz="700" b="0" dirty="0" smtClean="0">
                          <a:latin typeface="+mn-lt"/>
                        </a:rPr>
                        <a:t/>
                      </a:r>
                      <a:r>
                        <a:rPr lang="ru-RU" sz="700" b="0" dirty="0" smtClean="0">
                          <a:latin typeface="+mn-lt"/>
                        </a:rPr>
                        <a:t/>
                      </a:r>
                      <a:r>
                        <a:rPr lang="ru-RU" sz="700" b="0" dirty="0" smtClean="0">
                          <a:latin typeface="+mn-lt"/>
                        </a:rPr>
                        <a:t/>
                      </a:r>
                      <a:r>
                        <a:rPr lang="ru-RU" sz="700" b="0" dirty="0" smtClean="0">
                          <a:latin typeface="+mn-lt"/>
                        </a:rPr>
                        <a:t/>
                      </a:r>
                      <a:r>
                        <a:rPr lang="ru-RU" sz="700" b="0" dirty="0" smtClean="0">
                          <a:latin typeface="+mn-lt"/>
                        </a:rPr>
                        <a:t/>
                      </a:r>
                      <a:endParaRPr lang="ru-RU" sz="700" b="0" dirty="0">
                        <a:latin typeface="+mn-lt"/>
                      </a:endParaRP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895039424"/>
                  </a:ext>
                </a:extLst>
              </a:tr>
              <a:tr h="605593">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3"/>
                        <a:tabLst/>
                        <a:defRPr/>
                      </a:pPr>
                      <a:r>
                        <a:rPr lang="ru-RU" sz="700" b="0" dirty="0">
                          <a:latin typeface="+mn-lt"/>
                        </a:rPr>
                        <a:t xml:space="preserve">Develop an online training module on PDA for Perimeter employees with the support of the Corporate University (in-depth training taking into account the specifics of Perimeter, in addition to the online module being developed on PDA of the Group).</a:t>
                      </a:r>
                      <a:r>
                        <a:rPr lang="ru-RU" sz="700" b="0" baseline="0" dirty="0">
                          <a:latin typeface="+mn-lt"/>
                        </a:rPr>
                        <a:t/>
                      </a:r>
                      <a:endParaRPr lang="ru-RU" sz="700" b="0" dirty="0">
                        <a:latin typeface="+mn-lt"/>
                      </a:endParaRPr>
                    </a:p>
                  </a:txBody>
                  <a:tcPr>
                    <a:lnT w="9525" cap="flat" cmpd="sng" algn="ctr">
                      <a:noFill/>
                      <a:prstDash val="solid"/>
                      <a:round/>
                      <a:headEnd type="none" w="med" len="med"/>
                      <a:tailEnd type="none" w="med" len="med"/>
                    </a:lnT>
                    <a:lnB w="12700" cmpd="sng">
                      <a:noFill/>
                    </a:lnB>
                    <a:noFill/>
                  </a:tcPr>
                </a:tc>
                <a:tc gridSpan="4">
                  <a:txBody>
                    <a:bodyPr/>
                    <a:lstStyle/>
                    <a:p>
                      <a:pPr algn="ctr"/>
                      <a:r>
                        <a:rPr lang="ru-RU" sz="700" b="0" i="1" dirty="0">
                          <a:latin typeface="+mn-lt"/>
                        </a:rPr>
                        <a:t xml:space="preserve">the period depends on the resources of the Corporate University, IT</a:t>
                      </a:r>
                      <a:r>
                        <a:rPr lang="ru-RU" sz="700" b="0" i="1" baseline="0" dirty="0">
                          <a:latin typeface="+mn-lt"/>
                        </a:rPr>
                        <a:t/>
                      </a:r>
                      <a:endParaRPr lang="ru-RU" sz="700" b="0" i="1" dirty="0">
                        <a:latin typeface="+mn-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mn-lt"/>
                        <a:ea typeface="+mn-ea"/>
                        <a:cs typeface="+mn-cs"/>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 xml:space="preserve">Corporate University, IT</a:t>
                      </a:r>
                      <a:r>
                        <a:rPr lang="ru-RU" sz="700" b="0" baseline="0" dirty="0">
                          <a:latin typeface="+mn-lt"/>
                        </a:rPr>
                        <a:t/>
                      </a:r>
                      <a:endParaRPr lang="ru-RU" sz="700" b="0" dirty="0">
                        <a:latin typeface="+mn-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dirty="0" smtClean="0">
                          <a:latin typeface="+mn-lt"/>
                        </a:rPr>
                        <a:t xml:space="preserve">The Perimeter course project has been developed. The course includes the rules of the CCP, the Compliance Sheet, explains the algorithms for working with the Compliance 2.2 System, the consequences of skipping the CCP, the consequences of realizing the risk of violating sanctions, etc. Currently, work is underway with the CU to write technical algorithms for the course. The course is expected to launch in 2026.</a:t>
                      </a:r>
                      <a:r>
                        <a:rPr lang="ru-RU" sz="700" b="0" i="0" u="none" strike="noStrike" kern="1200" baseline="0" dirty="0" smtClean="0">
                          <a:solidFill>
                            <a:schemeClr val="tx1"/>
                          </a:solidFill>
                          <a:effectLst/>
                          <a:latin typeface="+mn-lt"/>
                          <a:ea typeface="+mn-ea"/>
                          <a:cs typeface="+mn-cs"/>
                        </a:rPr>
                        <a:t/>
                      </a:r>
                      <a:endParaRPr lang="ru-RU" sz="700" b="0" i="0" dirty="0" smtClean="0">
                        <a:solidFill>
                          <a:schemeClr val="tx1"/>
                        </a:solidFill>
                        <a:latin typeface="+mn-lt"/>
                      </a:endParaRPr>
                    </a:p>
                  </a:txBody>
                  <a:tcPr>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923706383"/>
                  </a:ext>
                </a:extLst>
              </a:tr>
              <a:tr h="745699">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4"/>
                        <a:tabLst/>
                        <a:defRPr/>
                      </a:pPr>
                      <a:r>
                        <a:rPr lang="ru-RU" sz="700" b="0" dirty="0">
                          <a:latin typeface="+mn-lt"/>
                        </a:rPr>
                        <a:t xml:space="preserve">Develop training material (an introductory course on the ethical principles of ERG) and conduct “train the trainer” sessions for Leadership Academy employees to train new Perimeter employees on site.</a:t>
                      </a:r>
                      <a:r>
                        <a:rPr lang="ru-RU" sz="700" b="0" baseline="0" dirty="0">
                          <a:latin typeface="+mn-lt"/>
                        </a:rPr>
                        <a:t/>
                      </a:r>
                      <a:r>
                        <a:rPr lang="en-US" sz="700" b="0" baseline="0" dirty="0">
                          <a:latin typeface="+mn-lt"/>
                        </a:rPr>
                        <a:t/>
                      </a:r>
                      <a:r>
                        <a:rPr lang="ru-RU" sz="700" b="0" baseline="0" dirty="0">
                          <a:latin typeface="+mn-lt"/>
                        </a:rPr>
                        <a:t/>
                      </a:r>
                      <a:r>
                        <a:rPr lang="en-US" sz="700" b="0" baseline="0" dirty="0">
                          <a:latin typeface="+mn-lt"/>
                        </a:rPr>
                        <a:t/>
                      </a:r>
                      <a:r>
                        <a:rPr lang="ru-RU" sz="700" b="0" baseline="0" dirty="0">
                          <a:latin typeface="+mn-lt"/>
                        </a:rPr>
                        <a:t/>
                      </a:r>
                      <a:r>
                        <a:rPr lang="en-US" sz="700" b="0" baseline="0" dirty="0">
                          <a:latin typeface="+mn-lt"/>
                        </a:rPr>
                        <a:t/>
                      </a:r>
                      <a:r>
                        <a:rPr lang="ru-RU" sz="700" b="0" baseline="0" dirty="0">
                          <a:latin typeface="+mn-lt"/>
                        </a:rPr>
                        <a:t/>
                      </a:r>
                      <a:endParaRPr lang="ru-RU" sz="700" b="0" dirty="0">
                        <a:latin typeface="+mn-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 xml:space="preserve">Leadership Academy</a:t>
                      </a: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In the 1st half of 2025, the Compliance Directorate developed training materials for an introductory course on the ethical principles of ERG for new Perimeter employees. In April 2025, the Leadership Academy of the Corporate University (hereinafter referred to as CU) announced the launch of offline welcome training in the second half of 2025. In this regard, MYR agreed to postpone the task until the end of 2025. In July 2025, CU announced that due to limited resources, the development of welcome training by the end of 2025 is not included in the Mandatory Training Plan and this task is transferred to the “Stop” status. In August 2025, the Compliance Directorate decided to adjust the Compliance Training Program for 2025 based on the results of discussions with the CG, including the exclusion of the development of a course on the ethical principles of ERG and the holding of “train the trainer” sessions for Leadership Academy employees, and also taking into account the additional task of the Compliance Directorate to develop a course for employees in the “Workers” category.</a:t>
                      </a:r>
                      <a:r>
                        <a:rPr lang="ru-RU" sz="700" b="0" dirty="0" err="1" smtClean="0">
                          <a:latin typeface="+mn-lt"/>
                        </a:rPr>
                        <a:t/>
                      </a:r>
                      <a:r>
                        <a:rPr lang="ru-RU" sz="700" b="0" dirty="0" smtClean="0">
                          <a:latin typeface="+mn-lt"/>
                        </a:rPr>
                        <a:t/>
                      </a:r>
                      <a:r>
                        <a:rPr lang="ru-RU" sz="700" b="0" dirty="0"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p>
                  </a:txBody>
                  <a:tcPr marT="36000" marB="36000" anchor="ctr">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1804711898"/>
                  </a:ext>
                </a:extLst>
              </a:tr>
              <a:tr h="591548">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5"/>
                        <a:tabLst/>
                        <a:defRPr/>
                      </a:pPr>
                      <a:r>
                        <a:rPr lang="ru-RU" sz="700" b="0" dirty="0">
                          <a:latin typeface="+mn-lt"/>
                        </a:rPr>
                        <a:t xml:space="preserve">Continue to develop an approach to include compliance training for employees in the “Workers” category and other employees without an account.</a:t>
                      </a:r>
                    </a:p>
                  </a:txBody>
                  <a:tcPr>
                    <a:lnT w="9525" cap="flat" cmpd="sng" algn="ctr">
                      <a:no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en-US" sz="700" b="0" dirty="0">
                          <a:latin typeface="+mn-lt"/>
                        </a:rPr>
                        <a:t xml:space="preserve">HR, Corporate University, IT</a:t>
                      </a:r>
                      <a:r>
                        <a:rPr lang="ru-RU" sz="700" b="0" dirty="0">
                          <a:latin typeface="+mn-lt"/>
                        </a:rPr>
                        <a:t/>
                      </a: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In August 2025, a special approach to compliance training for workers in the “Workers” category and workers without access to corporate devices was formed, with the opportunity to undergo training with the organizational support of CG, IT and HR in the Qollab mobile application and web version. A significant amount of preparatory work has been completed (about 80% of the course materials have been developed, technical requirements and terms of reference for digitalization of the course have been generated and agreed with IT). The course format provides the opportunity to complete training both in the qollab mobile application (on devices with different OS - iOS or Android) and in the web version of the course. KU included this course in the Mandatory Training Plan for 2026 for development. We are currently working with KU to launch training in the 1st quarter. 2026</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baseline="0" dirty="0" smtClean="0">
                          <a:latin typeface="+mn-lt"/>
                        </a:rPr>
                        <a:t/>
                      </a:r>
                      <a:r>
                        <a:rPr lang="ru-RU" sz="700" b="0" dirty="0" smtClean="0">
                          <a:latin typeface="+mn-lt"/>
                        </a:rPr>
                        <a:t/>
                      </a: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4268760730"/>
                  </a:ext>
                </a:extLst>
              </a:tr>
            </a:tbl>
          </a:graphicData>
        </a:graphic>
      </p:graphicFrame>
    </p:spTree>
    <p:extLst>
      <p:ext uri="{BB962C8B-B14F-4D97-AF65-F5344CB8AC3E}">
        <p14:creationId xmlns:p14="http://schemas.microsoft.com/office/powerpoint/2010/main" val="21871263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5884"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 xml:space="preserve">Annual compliance program 2025: Perimeter Kazakhstan Implementation status</a:t>
            </a:r>
            <a:r>
              <a:rPr lang="ru-RU" dirty="0"/>
              <a:t/>
            </a:r>
            <a:r>
              <a:rPr lang="ru-RU" dirty="0" smtClean="0"/>
              <a:t/>
            </a:r>
            <a:br>
              <a:rPr lang="ru-RU" dirty="0" smtClean="0"/>
            </a:br>
            <a:r>
              <a:rPr lang="ru-RU" dirty="0" smtClean="0">
                <a:solidFill>
                  <a:schemeClr val="tx1"/>
                </a:solidFill>
              </a:rPr>
              <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390698345"/>
              </p:ext>
            </p:extLst>
          </p:nvPr>
        </p:nvGraphicFramePr>
        <p:xfrm>
          <a:off x="317499" y="801681"/>
          <a:ext cx="11700000" cy="5580480"/>
        </p:xfrm>
        <a:graphic>
          <a:graphicData uri="http://schemas.openxmlformats.org/drawingml/2006/table">
            <a:tbl>
              <a:tblPr firstRow="1" bandRow="1">
                <a:tableStyleId>{5C22544A-7EE6-4342-B048-85BDC9FD1C3A}</a:tableStyleId>
              </a:tblPr>
              <a:tblGrid>
                <a:gridCol w="936000">
                  <a:extLst>
                    <a:ext uri="{9D8B030D-6E8A-4147-A177-3AD203B41FA5}">
                      <a16:colId xmlns:a16="http://schemas.microsoft.com/office/drawing/2014/main" val="2229066145"/>
                    </a:ext>
                  </a:extLst>
                </a:gridCol>
                <a:gridCol w="2268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724000">
                  <a:extLst>
                    <a:ext uri="{9D8B030D-6E8A-4147-A177-3AD203B41FA5}">
                      <a16:colId xmlns:a16="http://schemas.microsoft.com/office/drawing/2014/main" val="2252265905"/>
                    </a:ext>
                  </a:extLst>
                </a:gridCol>
              </a:tblGrid>
              <a:tr h="147125">
                <a:tc rowSpan="2">
                  <a:txBody>
                    <a:bodyPr/>
                    <a:lstStyle/>
                    <a:p>
                      <a:r>
                        <a:rPr lang="ru-RU" sz="700" b="0" dirty="0">
                          <a:solidFill>
                            <a:schemeClr val="accent5">
                              <a:lumMod val="75000"/>
                              <a:lumOff val="25000"/>
                            </a:schemeClr>
                          </a:solidFill>
                          <a:latin typeface="+mn-lt"/>
                        </a:rPr>
                        <a:t xml:space="preserve">Compliance Model Component</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 xml:space="preserve">Events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 xml:space="preserve">Other divisions - participants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 xml:space="preserve">Execution Status</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75680">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 xml:space="preserve">1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2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3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4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849844">
                <a:tc rowSpan="4">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solidFill>
                            <a:schemeClr val="tx1"/>
                          </a:solidFill>
                          <a:latin typeface="+mn-lt"/>
                        </a:rPr>
                        <a:t xml:space="preserve">Training and information</a:t>
                      </a:r>
                      <a:endParaRPr lang="ru-RU" sz="700" b="0" dirty="0" smtClean="0">
                        <a:latin typeface="+mn-lt"/>
                      </a:endParaRP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1" dirty="0" smtClean="0">
                          <a:latin typeface="+mn-lt"/>
                        </a:rPr>
                        <a:t xml:space="preserve">(continuation)</a:t>
                      </a: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6"/>
                        <a:tabLst/>
                        <a:defRPr/>
                      </a:pPr>
                      <a:r>
                        <a:rPr lang="ru-RU" sz="700" b="0" dirty="0">
                          <a:latin typeface="+mn-lt"/>
                        </a:rPr>
                        <a:t xml:space="preserve">Continue promoting compliance culture among Perimeter employees by holding an annual Ethics and Compliance Day.</a:t>
                      </a:r>
                      <a:r>
                        <a:rPr lang="ru-RU" sz="700" b="0" i="0" u="none" strike="noStrike" dirty="0">
                          <a:solidFill>
                            <a:schemeClr val="tx1"/>
                          </a:solidFill>
                          <a:effectLst/>
                          <a:latin typeface="+mn-lt"/>
                        </a:rPr>
                        <a:t/>
                      </a:r>
                      <a:r>
                        <a:rPr lang="ru-RU" sz="700" b="0" i="0" u="none" strike="noStrike" baseline="0" dirty="0">
                          <a:solidFill>
                            <a:schemeClr val="tx1"/>
                          </a:solidFill>
                          <a:effectLst/>
                          <a:latin typeface="+mn-lt"/>
                        </a:rPr>
                        <a:t/>
                      </a:r>
                      <a:endParaRPr lang="ru-RU" sz="700" b="0" dirty="0">
                        <a:latin typeface="+mn-lt"/>
                      </a:endParaRPr>
                    </a:p>
                  </a:txBody>
                  <a:tcPr>
                    <a:lnT w="9525" cap="flat" cmpd="sng" algn="ctr">
                      <a:solidFill>
                        <a:srgbClr val="0070C0"/>
                      </a:solid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9525" cap="flat" cmpd="sng" algn="ctr">
                      <a:solidFill>
                        <a:srgbClr val="0070C0"/>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rgbClr val="0070C0"/>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9525" cap="flat" cmpd="sng" algn="ctr">
                      <a:solidFill>
                        <a:srgbClr val="0070C0"/>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 xml:space="preserve">CEO of Perimeter, HR, DCC</a:t>
                      </a:r>
                      <a:r>
                        <a:rPr lang="en-US" sz="700" b="0" dirty="0">
                          <a:latin typeface="+mn-lt"/>
                        </a:rPr>
                        <a:t/>
                      </a:r>
                      <a:r>
                        <a:rPr lang="ru-RU" sz="700" b="0" dirty="0">
                          <a:latin typeface="+mn-lt"/>
                        </a:rPr>
                        <a:t/>
                      </a:r>
                    </a:p>
                  </a:txBody>
                  <a:tcPr>
                    <a:lnT w="9525" cap="flat" cmpd="sng" algn="ctr">
                      <a:solidFill>
                        <a:srgbClr val="0070C0"/>
                      </a:solid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In September 2025, in order to strengthen the culture of compliance, Perimeter KZ held an annual Ethics and Compliance Day, uniting thousands of Perimeter employees around the Group’s Values ​​and commitment to high standards of business ethics and professionalism. The event included:</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a number of communications of various formats from the CEO of Perimeter, Heads of Divisions, CEO-1</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quick survey with Perimeter employees</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online quiz, quiz, themed design (photo zone, toppers, stickers, prizes)</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compliance session at the site of EEC JSC with the participation of managers and employees of Perimeter, incl. Chairman of the Compliance Committee</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and other events</a:t>
                      </a:r>
                    </a:p>
                  </a:txBody>
                  <a:tcPr marT="36000" marB="36000">
                    <a:lnT w="9525" cap="flat" cmpd="sng" algn="ctr">
                      <a:solidFill>
                        <a:srgbClr val="0070C0"/>
                      </a:solidFill>
                      <a:prstDash val="solid"/>
                      <a:round/>
                      <a:headEnd type="none" w="med" len="med"/>
                      <a:tailEnd type="none" w="med" len="med"/>
                    </a:lnT>
                    <a:lnB w="12700" cmpd="sng">
                      <a:noFill/>
                    </a:lnB>
                    <a:noFill/>
                  </a:tcPr>
                </a:tc>
                <a:extLst>
                  <a:ext uri="{0D108BD9-81ED-4DB2-BD59-A6C34878D82A}">
                    <a16:rowId xmlns:a16="http://schemas.microsoft.com/office/drawing/2014/main" val="662039506"/>
                  </a:ext>
                </a:extLst>
              </a:tr>
              <a:tr h="163131">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7"/>
                        <a:tabLst/>
                        <a:defRPr/>
                      </a:pPr>
                      <a:r>
                        <a:rPr lang="ru-RU" sz="700" b="0" dirty="0">
                          <a:latin typeface="+mn-lt"/>
                        </a:rPr>
                        <a:t xml:space="preserve">Continue to promote compliance culture in the regions where the Company operates and exchange experience in the field of compliance management system, incl. through participation in external forums and conferences of the Republic of Kazakhstan.</a:t>
                      </a:r>
                      <a:r>
                        <a:rPr lang="ru-RU" sz="700" b="0" i="0" u="none" strike="noStrike" dirty="0">
                          <a:solidFill>
                            <a:schemeClr val="tx1"/>
                          </a:solidFill>
                          <a:effectLst/>
                          <a:latin typeface="+mn-lt"/>
                        </a:rPr>
                        <a:t/>
                      </a:r>
                      <a:r>
                        <a:rPr lang="ru-RU" sz="700" b="0" i="0" u="none" strike="noStrike" baseline="0" dirty="0">
                          <a:solidFill>
                            <a:schemeClr val="tx1"/>
                          </a:solidFill>
                          <a:effectLst/>
                          <a:latin typeface="+mn-lt"/>
                        </a:rPr>
                        <a:t/>
                      </a:r>
                      <a:endParaRPr lang="ru-RU" sz="700" b="0" dirty="0">
                        <a:latin typeface="+mn-lt"/>
                      </a:endParaRPr>
                    </a:p>
                  </a:txBody>
                  <a:tcPr>
                    <a:lnT w="9525" cap="flat" cmpd="sng" algn="ctr">
                      <a:noFill/>
                      <a:prstDash val="solid"/>
                      <a:round/>
                      <a:headEnd type="none" w="med" len="med"/>
                      <a:tailEnd type="none" w="med" len="med"/>
                    </a:lnT>
                    <a:lnB w="12700" cmpd="sng">
                      <a:noFill/>
                    </a:lnB>
                    <a:noFill/>
                  </a:tcPr>
                </a:tc>
                <a:tc gridSpan="4">
                  <a:txBody>
                    <a:bodyPr/>
                    <a:lstStyle/>
                    <a:p>
                      <a:pPr algn="ctr"/>
                      <a:r>
                        <a:rPr kumimoji="0" lang="en-US" sz="700" b="0" i="1" u="none" strike="noStrike" kern="1200" cap="none" spc="0" normalizeH="0" baseline="0" noProof="0" dirty="0">
                          <a:ln>
                            <a:noFill/>
                          </a:ln>
                          <a:solidFill>
                            <a:srgbClr val="32373C"/>
                          </a:solidFill>
                          <a:effectLst/>
                          <a:uLnTx/>
                          <a:uFillTx/>
                          <a:latin typeface="+mn-lt"/>
                          <a:ea typeface="+mn-ea"/>
                          <a:cs typeface="+mn-cs"/>
                        </a:rPr>
                        <a:t xml:space="preserve">ad hoc</a:t>
                      </a:r>
                      <a:endParaRPr lang="ru-RU" sz="700" b="0" i="1" dirty="0">
                        <a:latin typeface="+mn-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hMerge="1">
                  <a:txBody>
                    <a:bodyPr/>
                    <a:lstStyle/>
                    <a:p>
                      <a:pPr algn="ctr"/>
                      <a:endParaRPr lang="ru-RU" sz="800" b="0" dirty="0"/>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hMerge="1">
                  <a:txBody>
                    <a:bodyPr/>
                    <a:lstStyle/>
                    <a:p>
                      <a:pPr algn="ctr"/>
                      <a:endParaRPr lang="ru-RU" sz="800" b="0" dirty="0"/>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chemeClr val="dk1"/>
                          </a:solidFill>
                          <a:latin typeface="+mn-lt"/>
                          <a:ea typeface="+mn-ea"/>
                          <a:cs typeface="+mn-cs"/>
                        </a:rPr>
                        <a:t xml:space="preserve">External compliance associations, DCC</a:t>
                      </a:r>
                      <a:r>
                        <a:rPr lang="ru-RU" sz="700" b="0" kern="1200" baseline="0" dirty="0">
                          <a:solidFill>
                            <a:schemeClr val="dk1"/>
                          </a:solidFill>
                          <a:latin typeface="+mn-lt"/>
                          <a:ea typeface="+mn-ea"/>
                          <a:cs typeface="+mn-cs"/>
                        </a:rPr>
                        <a:t/>
                      </a:r>
                      <a:r>
                        <a:rPr lang="en-US" sz="700" b="0" kern="1200" baseline="0" dirty="0">
                          <a:solidFill>
                            <a:schemeClr val="dk1"/>
                          </a:solidFill>
                          <a:latin typeface="+mn-lt"/>
                          <a:ea typeface="+mn-ea"/>
                          <a:cs typeface="+mn-cs"/>
                        </a:rPr>
                        <a:t/>
                      </a:r>
                      <a:r>
                        <a:rPr lang="ru-RU" sz="700" b="0" kern="1200" baseline="0" dirty="0">
                          <a:solidFill>
                            <a:schemeClr val="dk1"/>
                          </a:solidFill>
                          <a:latin typeface="+mn-lt"/>
                          <a:ea typeface="+mn-ea"/>
                          <a:cs typeface="+mn-cs"/>
                        </a:rPr>
                        <a:t/>
                      </a:r>
                      <a:endParaRPr lang="ru-RU" sz="700" b="0" dirty="0">
                        <a:latin typeface="+mn-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Compliance sessions were held for third parties (external sites):</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Speech among experts on the issue of “Sanction Risk Management” at the webinar “Sanctions Compliance: Updates and Key Expectations in 2025”, conducted by the Association of Compliance and Business Ethics of the Republic of Kazakhstan - 200 participants.</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Speech at Compliance Forum 2025 “AI, ESG, AML, Data Protection, Crypto: time to act responsibly” with a report on the topics: 1) “Supplier Code of Conduct as a mechanism for managing an ethical supply chain”, 2) “Artificial intelligence under control: key regulatory aspects” - 420 participants. It should be noted that at this event, the Compliance Directorate was recognized as the winner in the “Compliance Team of the Year” category at the annual Compliance 2025 award.</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endParaRPr lang="ru-RU" sz="700" b="0" dirty="0" smtClean="0">
                        <a:latin typeface="+mn-lt"/>
                      </a:endParaRP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190509513"/>
                  </a:ext>
                </a:extLst>
              </a:tr>
              <a:tr h="163131">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8"/>
                        <a:tabLst/>
                        <a:defRPr/>
                      </a:pPr>
                      <a:r>
                        <a:rPr lang="ru-RU" sz="700" b="0" dirty="0">
                          <a:latin typeface="+mn-lt"/>
                        </a:rPr>
                        <a:t xml:space="preserve">Participate in the Group’s project to model a compliance training program and create a dashboard for training and information, reporting compliance training taking into account the results of the CSRD Gap Assessment - Compliance, as well as in the exchange of experience between employees of the Group’s compliance services and the International Perimeter.</a:t>
                      </a:r>
                      <a:r>
                        <a:rPr lang="ru-RU" sz="700" b="0" baseline="0" dirty="0">
                          <a:latin typeface="+mn-lt"/>
                        </a:rPr>
                        <a:t/>
                      </a:r>
                      <a:r>
                        <a:rPr lang="en-US" sz="700" b="0" dirty="0">
                          <a:latin typeface="+mn-lt"/>
                        </a:rPr>
                        <a:t/>
                      </a:r>
                      <a:r>
                        <a:rPr lang="ru-RU" sz="700" b="0" dirty="0">
                          <a:latin typeface="+mn-lt"/>
                        </a:rPr>
                        <a:t/>
                      </a:r>
                    </a:p>
                  </a:txBody>
                  <a:tcPr>
                    <a:lnT w="9525" cap="flat" cmpd="sng" algn="ctr">
                      <a:noFill/>
                      <a:prstDash val="solid"/>
                      <a:round/>
                      <a:headEnd type="none" w="med" len="med"/>
                      <a:tailEnd type="none" w="med" len="med"/>
                    </a:lnT>
                    <a:lnB w="12700" cmpd="sng">
                      <a:noFill/>
                    </a:lnB>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1" u="none" strike="noStrike" kern="1200" cap="none" spc="0" normalizeH="0" baseline="0" noProof="0" dirty="0">
                          <a:ln>
                            <a:noFill/>
                          </a:ln>
                          <a:solidFill>
                            <a:srgbClr val="32373C"/>
                          </a:solidFill>
                          <a:effectLst/>
                          <a:uLnTx/>
                          <a:uFillTx/>
                          <a:latin typeface="+mn-lt"/>
                          <a:ea typeface="+mn-ea"/>
                          <a:cs typeface="+mn-cs"/>
                        </a:rPr>
                        <a:t xml:space="preserve">according to the terms of the Compliance Group</a:t>
                      </a:r>
                      <a:endParaRPr lang="ru-RU" sz="700" b="0" i="1" dirty="0">
                        <a:latin typeface="+mn-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mn-lt"/>
                        <a:ea typeface="+mn-ea"/>
                        <a:cs typeface="+mn-cs"/>
                      </a:endParaRP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r>
                        <a:rPr lang="ru-RU" sz="700" b="0" dirty="0">
                          <a:latin typeface="+mn-lt"/>
                        </a:rPr>
                        <a:t xml:space="preserve">Compliance Group, Compliance of the International Perimeter, HR, DCC, Corporate University</a:t>
                      </a:r>
                      <a:r>
                        <a:rPr lang="ru-RU" sz="700" b="0" baseline="0" dirty="0">
                          <a:latin typeface="+mn-lt"/>
                        </a:rPr>
                        <a:t/>
                      </a:r>
                      <a:r>
                        <a:rPr lang="en-US" sz="700" b="0" dirty="0">
                          <a:latin typeface="+mn-lt"/>
                        </a:rPr>
                        <a:t/>
                      </a:r>
                      <a:r>
                        <a:rPr lang="ru-RU" sz="700" b="0" dirty="0">
                          <a:latin typeface="+mn-lt"/>
                        </a:rPr>
                        <a:t/>
                      </a:r>
                      <a:r>
                        <a:rPr lang="en-US" sz="700" b="0" dirty="0">
                          <a:latin typeface="+mn-lt"/>
                        </a:rPr>
                        <a:t/>
                      </a:r>
                      <a:r>
                        <a:rPr lang="ru-RU" sz="700" b="0" dirty="0">
                          <a:latin typeface="+mn-lt"/>
                        </a:rPr>
                        <a:t/>
                      </a:r>
                    </a:p>
                  </a:txBody>
                  <a:tcPr>
                    <a:lnT w="9525" cap="flat" cmpd="sng" algn="ctr">
                      <a:noFill/>
                      <a:prstDash val="solid"/>
                      <a:round/>
                      <a:headEnd type="none" w="med" len="med"/>
                      <a:tailEnd type="none" w="med" len="med"/>
                    </a:lnT>
                    <a:lnB w="12700" cmpd="sng">
                      <a:noFill/>
                    </a:lnB>
                    <a:noFill/>
                  </a:tcPr>
                </a:tc>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 xml:space="preserve">Contributed to the T&amp;A assurance project. The recommendations provided were accepted for implementation.</a:t>
                      </a:r>
                      <a:endParaRPr lang="ru-RU" sz="700" b="0" dirty="0" smtClean="0">
                        <a:latin typeface="+mn-lt"/>
                      </a:endParaRPr>
                    </a:p>
                  </a:txBody>
                  <a:tcPr marT="36000" marB="36000" anchor="ct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260754378"/>
                  </a:ext>
                </a:extLst>
              </a:tr>
              <a:tr h="163131">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9"/>
                        <a:tabLst/>
                        <a:defRPr/>
                      </a:pPr>
                      <a:r>
                        <a:rPr lang="ru-RU" sz="700" b="0" dirty="0" smtClean="0">
                          <a:solidFill>
                            <a:schemeClr val="accent5">
                              <a:lumMod val="75000"/>
                              <a:lumOff val="25000"/>
                            </a:schemeClr>
                          </a:solidFill>
                          <a:latin typeface="+mn-lt"/>
                          <a:ea typeface="Yu Gothic UI Semibold" panose="020B0700000000000000" pitchFamily="34" charset="-128"/>
                        </a:rPr>
                        <a:t xml:space="preserve">Participation in the Assurance Group project</a:t>
                      </a:r>
                      <a:r>
                        <a:rPr lang="ru-RU" sz="700" b="0" dirty="0">
                          <a:solidFill>
                            <a:schemeClr val="accent5">
                              <a:lumMod val="75000"/>
                              <a:lumOff val="25000"/>
                            </a:schemeClr>
                          </a:solidFill>
                          <a:latin typeface="+mn-lt"/>
                          <a:ea typeface="Yu Gothic UI Semibold" panose="020B0700000000000000" pitchFamily="34" charset="-128"/>
                        </a:rPr>
                        <a:t/>
                      </a:r>
                      <a:r>
                        <a:rPr lang="ru-RU" sz="700" b="0" baseline="0" dirty="0">
                          <a:solidFill>
                            <a:schemeClr val="accent5">
                              <a:lumMod val="75000"/>
                              <a:lumOff val="25000"/>
                            </a:schemeClr>
                          </a:solidFill>
                          <a:latin typeface="+mn-lt"/>
                          <a:ea typeface="Yu Gothic UI Semibold" panose="020B0700000000000000" pitchFamily="34" charset="-128"/>
                        </a:rPr>
                        <a:t/>
                      </a:r>
                      <a:endParaRPr lang="ru-RU" sz="1100" b="0" dirty="0">
                        <a:solidFill>
                          <a:schemeClr val="accent5">
                            <a:lumMod val="75000"/>
                            <a:lumOff val="25000"/>
                          </a:schemeClr>
                        </a:solidFill>
                        <a:latin typeface="+mn-lt"/>
                      </a:endParaRPr>
                    </a:p>
                  </a:txBody>
                  <a:tcP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a:endParaRPr lang="ru-RU" sz="700" b="0" dirty="0">
                        <a:latin typeface="+mn-lt"/>
                      </a:endParaRPr>
                    </a:p>
                  </a:txBody>
                  <a:tcP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12700" cmpd="sng">
                      <a:noFill/>
                    </a:lnT>
                    <a:lnB w="9525" cap="flat" cmpd="sng" algn="ctr">
                      <a:solidFill>
                        <a:schemeClr val="accent5">
                          <a:lumMod val="75000"/>
                          <a:lumOff val="25000"/>
                        </a:schemeClr>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algn="ctr"/>
                      <a:endParaRPr lang="ru-RU" sz="700" b="0" dirty="0">
                        <a:latin typeface="+mn-lt"/>
                      </a:endParaRPr>
                    </a:p>
                  </a:txBody>
                  <a:tcPr>
                    <a:lnT w="12700" cmpd="sng">
                      <a:noFill/>
                    </a:lnT>
                    <a:lnB w="9525" cap="flat" cmpd="sng" algn="ctr">
                      <a:solidFill>
                        <a:schemeClr val="accent5">
                          <a:lumMod val="75000"/>
                          <a:lumOff val="25000"/>
                        </a:schemeClr>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12700" cmpd="sng">
                      <a:noFill/>
                    </a:lnT>
                    <a:lnB w="9525" cap="flat" cmpd="sng" algn="ctr">
                      <a:solidFill>
                        <a:schemeClr val="accent5">
                          <a:lumMod val="75000"/>
                          <a:lumOff val="25000"/>
                        </a:schemeClr>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n-lt"/>
                      </a:endParaRPr>
                    </a:p>
                  </a:txBody>
                  <a:tcP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smtClean="0">
                        <a:latin typeface="+mn-lt"/>
                      </a:endParaRPr>
                    </a:p>
                  </a:txBody>
                  <a:tcPr marT="36000" marB="36000" anchor="ctr">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889341683"/>
                  </a:ext>
                </a:extLst>
              </a:tr>
              <a:tr h="163131">
                <a:tc rowSpan="3">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solidFill>
                            <a:schemeClr val="tx1"/>
                          </a:solidFill>
                          <a:latin typeface="+mn-lt"/>
                        </a:rPr>
                        <a:t xml:space="preserve">Monitoring, analysis</a:t>
                      </a:r>
                      <a:endParaRPr lang="ru-RU" sz="700" b="0" dirty="0" smtClean="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a:tabLst/>
                        <a:defRPr/>
                      </a:pPr>
                      <a:r>
                        <a:rPr lang="ru-RU" sz="700" b="0" i="0" u="none" strike="noStrike" kern="1200" dirty="0">
                          <a:solidFill>
                            <a:schemeClr val="tx1"/>
                          </a:solidFill>
                          <a:effectLst/>
                          <a:latin typeface="+mn-lt"/>
                          <a:ea typeface="+mn-ea"/>
                          <a:cs typeface="+mn-cs"/>
                        </a:rPr>
                        <a:t xml:space="preserve">Monitor the implementation of compliance recommendations within business processes, control the implementation of Perimeter’s Annual Compliance Program for 2025, ensure timely implementation of resolutions of the Compliance Committee in relation to Perimeter.</a:t>
                      </a:r>
                      <a:r>
                        <a:rPr lang="ru-RU" sz="700" b="0" i="0" u="none" strike="noStrike" kern="1200" baseline="0" dirty="0">
                          <a:solidFill>
                            <a:schemeClr val="tx1"/>
                          </a:solidFill>
                          <a:effectLst/>
                          <a:latin typeface="+mn-lt"/>
                          <a:ea typeface="+mn-ea"/>
                          <a:cs typeface="+mn-cs"/>
                        </a:rPr>
                        <a:t/>
                      </a:r>
                      <a:r>
                        <a:rPr lang="ru-RU" sz="700" b="0" i="0" u="none" strike="noStrike" kern="1200" dirty="0">
                          <a:solidFill>
                            <a:schemeClr val="tx1"/>
                          </a:solidFill>
                          <a:effectLst/>
                          <a:latin typeface="+mn-lt"/>
                          <a:ea typeface="+mn-ea"/>
                          <a:cs typeface="+mn-cs"/>
                        </a:rPr>
                        <a:t/>
                      </a:r>
                      <a:endParaRPr lang="ru-RU" sz="700" b="0" dirty="0">
                        <a:latin typeface="+mn-lt"/>
                      </a:endParaRPr>
                    </a:p>
                  </a:txBody>
                  <a:tcPr>
                    <a:lnT w="9525" cap="flat" cmpd="sng" algn="ctr">
                      <a:solidFill>
                        <a:schemeClr val="accent5">
                          <a:lumMod val="75000"/>
                          <a:lumOff val="25000"/>
                        </a:schemeClr>
                      </a:solid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solidFill>
                        <a:schemeClr val="accent5">
                          <a:lumMod val="75000"/>
                          <a:lumOff val="25000"/>
                        </a:schemeClr>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n-lt"/>
                      </a:endParaRPr>
                    </a:p>
                  </a:txBody>
                  <a:tcPr>
                    <a:lnT w="9525" cap="flat" cmpd="sng" algn="ctr">
                      <a:solidFill>
                        <a:schemeClr val="accent5">
                          <a:lumMod val="75000"/>
                          <a:lumOff val="25000"/>
                        </a:schemeClr>
                      </a:solid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Performed on an ongoing basis. The Boardmaps analysis did not reveal any unfulfilled/untimely implemented resolutions of the Compliance Committee received in 2025 by the Compliance Director of Perimeter KZ as the responsible person for the task.</a:t>
                      </a:r>
                      <a:r>
                        <a:rPr lang="en-US" sz="700" b="0" dirty="0" smtClean="0">
                          <a:latin typeface="+mn-lt"/>
                        </a:rPr>
                        <a:t/>
                      </a:r>
                      <a:r>
                        <a:rPr lang="ru-RU" sz="700" b="0" dirty="0" smtClean="0">
                          <a:latin typeface="+mn-lt"/>
                        </a:rPr>
                        <a:t/>
                      </a:r>
                      <a:r>
                        <a:rPr lang="ru-RU" sz="700" b="0" baseline="0" dirty="0" smtClean="0">
                          <a:latin typeface="+mn-lt"/>
                        </a:rPr>
                        <a:t/>
                      </a:r>
                      <a:endParaRPr lang="ru-RU" sz="700" b="0" dirty="0" smtClean="0">
                        <a:latin typeface="+mn-lt"/>
                      </a:endParaRPr>
                    </a:p>
                  </a:txBody>
                  <a:tcPr marT="36000" marB="36000">
                    <a:lnT w="9525" cap="flat" cmpd="sng" algn="ctr">
                      <a:solidFill>
                        <a:schemeClr val="accent5">
                          <a:lumMod val="75000"/>
                          <a:lumOff val="25000"/>
                        </a:schemeClr>
                      </a:solidFill>
                      <a:prstDash val="solid"/>
                      <a:round/>
                      <a:headEnd type="none" w="med" len="med"/>
                      <a:tailEnd type="none" w="med" len="med"/>
                    </a:lnT>
                    <a:lnB w="12700" cmpd="sng">
                      <a:noFill/>
                    </a:lnB>
                    <a:noFill/>
                  </a:tcPr>
                </a:tc>
                <a:extLst>
                  <a:ext uri="{0D108BD9-81ED-4DB2-BD59-A6C34878D82A}">
                    <a16:rowId xmlns:a16="http://schemas.microsoft.com/office/drawing/2014/main" val="1064520286"/>
                  </a:ext>
                </a:extLst>
              </a:tr>
              <a:tr h="163131">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2"/>
                        <a:tabLst/>
                        <a:defRPr/>
                      </a:pPr>
                      <a:r>
                        <a:rPr lang="ru-RU" sz="700" b="0" dirty="0">
                          <a:latin typeface="+mn-lt"/>
                        </a:rPr>
                        <a:t xml:space="preserve">Monitor changes in applicable and regulatory requirements, sanctions regimes, analyze such changes and implement the necessary measures, update the Register of Compliance Risks and Obligations and the IRR of the Compliance Perimeter, where required.</a:t>
                      </a:r>
                      <a:r>
                        <a:rPr lang="ru-RU" sz="700" b="0" baseline="0" dirty="0">
                          <a:latin typeface="+mn-lt"/>
                        </a:rPr>
                        <a:t/>
                      </a:r>
                      <a:endParaRPr lang="ru-RU" sz="700" b="0" dirty="0">
                        <a:latin typeface="+mn-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12700" cmpd="sng">
                      <a:noFill/>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n-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Performed on an ongoing basis.</a:t>
                      </a: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519603637"/>
                  </a:ext>
                </a:extLst>
              </a:tr>
              <a:tr h="163131">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3"/>
                        <a:tabLst/>
                        <a:defRPr/>
                      </a:pPr>
                      <a:r>
                        <a:rPr lang="ru-RU" sz="700" b="0" dirty="0" smtClean="0">
                          <a:solidFill>
                            <a:schemeClr val="accent5">
                              <a:lumMod val="75000"/>
                              <a:lumOff val="25000"/>
                            </a:schemeClr>
                          </a:solidFill>
                          <a:latin typeface="+mn-lt"/>
                          <a:ea typeface="Yu Gothic UI Semibold" panose="020B0700000000000000" pitchFamily="34" charset="-128"/>
                        </a:rPr>
                        <a:t xml:space="preserve">Participation in the Assurance Group project</a:t>
                      </a:r>
                      <a:r>
                        <a:rPr lang="ru-RU" sz="700" b="0" dirty="0">
                          <a:solidFill>
                            <a:schemeClr val="accent5">
                              <a:lumMod val="75000"/>
                              <a:lumOff val="25000"/>
                            </a:schemeClr>
                          </a:solidFill>
                          <a:latin typeface="+mn-lt"/>
                          <a:ea typeface="Yu Gothic UI Semibold" panose="020B0700000000000000" pitchFamily="34" charset="-128"/>
                        </a:rPr>
                        <a:t/>
                      </a:r>
                      <a:r>
                        <a:rPr lang="ru-RU" sz="700" b="0" baseline="0" dirty="0">
                          <a:solidFill>
                            <a:schemeClr val="accent5">
                              <a:lumMod val="75000"/>
                              <a:lumOff val="25000"/>
                            </a:schemeClr>
                          </a:solidFill>
                          <a:latin typeface="+mn-lt"/>
                          <a:ea typeface="Yu Gothic UI Semibold" panose="020B0700000000000000" pitchFamily="34" charset="-128"/>
                        </a:rPr>
                        <a:t/>
                      </a:r>
                      <a:endParaRPr lang="ru-RU" sz="1100" b="0" dirty="0">
                        <a:solidFill>
                          <a:schemeClr val="accent5">
                            <a:lumMod val="75000"/>
                            <a:lumOff val="25000"/>
                          </a:schemeClr>
                        </a:solidFill>
                        <a:latin typeface="+mn-lt"/>
                      </a:endParaRPr>
                    </a:p>
                  </a:txBody>
                  <a:tcPr>
                    <a:lnT w="9525" cap="flat" cmpd="sng" algn="ctr">
                      <a:noFill/>
                      <a:prstDash val="solid"/>
                      <a:round/>
                      <a:headEnd type="none" w="med" len="med"/>
                      <a:tailEnd type="none" w="med" len="med"/>
                    </a:lnT>
                    <a:lnB w="12700" cmpd="sng">
                      <a:noFill/>
                    </a:lnB>
                    <a:noFill/>
                  </a:tcPr>
                </a:tc>
                <a:tc>
                  <a:txBody>
                    <a:bodyPr/>
                    <a:lstStyle/>
                    <a:p>
                      <a:pPr algn="ctr"/>
                      <a:endParaRPr lang="ru-RU" sz="700" b="0" dirty="0">
                        <a:latin typeface="+mn-lt"/>
                      </a:endParaRPr>
                    </a:p>
                  </a:txBody>
                  <a:tcPr>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a:lnT w="12700" cmpd="sng">
                      <a:noFill/>
                    </a:lnT>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a:lnT w="12700" cmpd="sng">
                      <a:noFill/>
                    </a:lnT>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a:lnT w="12700" cmpd="sng">
                      <a:noFill/>
                    </a:lnT>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n-lt"/>
                      </a:endParaRPr>
                    </a:p>
                  </a:txBody>
                  <a:tcPr>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The KZ Compliance Directorate took an active part in all the Compliance Group's assurance projects.</a:t>
                      </a:r>
                    </a:p>
                  </a:txBody>
                  <a:tcPr marT="36000" marB="36000" anchor="ctr">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3763642568"/>
                  </a:ext>
                </a:extLst>
              </a:tr>
            </a:tbl>
          </a:graphicData>
        </a:graphic>
      </p:graphicFrame>
    </p:spTree>
    <p:extLst>
      <p:ext uri="{BB962C8B-B14F-4D97-AF65-F5344CB8AC3E}">
        <p14:creationId xmlns:p14="http://schemas.microsoft.com/office/powerpoint/2010/main" val="31448298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6898"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 xml:space="preserve">Annual compliance program 2025: Perimeter Kazakhstan Implementation status</a:t>
            </a:r>
            <a:r>
              <a:rPr lang="ru-RU" dirty="0"/>
              <a:t/>
            </a:r>
            <a:r>
              <a:rPr lang="ru-RU" dirty="0" smtClean="0"/>
              <a:t/>
            </a:r>
            <a:br>
              <a:rPr lang="ru-RU" dirty="0" smtClean="0"/>
            </a:br>
            <a:r>
              <a:rPr lang="ru-RU" dirty="0" smtClean="0">
                <a:solidFill>
                  <a:schemeClr val="tx1"/>
                </a:solidFill>
              </a:rPr>
              <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1729414070"/>
              </p:ext>
            </p:extLst>
          </p:nvPr>
        </p:nvGraphicFramePr>
        <p:xfrm>
          <a:off x="317499" y="801680"/>
          <a:ext cx="11556000" cy="4680581"/>
        </p:xfrm>
        <a:graphic>
          <a:graphicData uri="http://schemas.openxmlformats.org/drawingml/2006/table">
            <a:tbl>
              <a:tblPr firstRow="1" bandRow="1">
                <a:tableStyleId>{5C22544A-7EE6-4342-B048-85BDC9FD1C3A}</a:tableStyleId>
              </a:tblPr>
              <a:tblGrid>
                <a:gridCol w="1044000">
                  <a:extLst>
                    <a:ext uri="{9D8B030D-6E8A-4147-A177-3AD203B41FA5}">
                      <a16:colId xmlns:a16="http://schemas.microsoft.com/office/drawing/2014/main" val="2229066145"/>
                    </a:ext>
                  </a:extLst>
                </a:gridCol>
                <a:gridCol w="2376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364000">
                  <a:extLst>
                    <a:ext uri="{9D8B030D-6E8A-4147-A177-3AD203B41FA5}">
                      <a16:colId xmlns:a16="http://schemas.microsoft.com/office/drawing/2014/main" val="2252265905"/>
                    </a:ext>
                  </a:extLst>
                </a:gridCol>
              </a:tblGrid>
              <a:tr h="192523">
                <a:tc rowSpan="2">
                  <a:txBody>
                    <a:bodyPr/>
                    <a:lstStyle/>
                    <a:p>
                      <a:r>
                        <a:rPr lang="ru-RU" sz="700" b="0" dirty="0">
                          <a:solidFill>
                            <a:schemeClr val="accent5">
                              <a:lumMod val="75000"/>
                              <a:lumOff val="25000"/>
                            </a:schemeClr>
                          </a:solidFill>
                          <a:latin typeface="+mn-lt"/>
                        </a:rPr>
                        <a:t xml:space="preserve">Compliance Model Component</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 xml:space="preserve">Events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 xml:space="preserve">Other divisions - participants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 xml:space="preserve">Execution Status</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92523">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 xml:space="preserve">1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2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3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4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767249">
                <a:tc rowSpan="4">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solidFill>
                            <a:schemeClr val="tx1"/>
                          </a:solidFill>
                          <a:latin typeface="+mn-lt"/>
                        </a:rPr>
                        <a:t xml:space="preserve">Violation reporting system, disciplinary measures</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a:tabLst/>
                        <a:defRPr/>
                      </a:pPr>
                      <a:r>
                        <a:rPr lang="ru-RU" sz="700" b="0" i="0" u="none" strike="noStrike" kern="1200" dirty="0">
                          <a:solidFill>
                            <a:schemeClr val="tx1"/>
                          </a:solidFill>
                          <a:effectLst/>
                          <a:latin typeface="+mn-lt"/>
                          <a:ea typeface="+mn-ea"/>
                          <a:cs typeface="+mn-cs"/>
                        </a:rPr>
                        <a:t xml:space="preserve">Conduct a regular six-month analysis of the typology of requests received through the ERG Hotline channels, identified violations and the effectiveness of measures taken to eliminate them, development of additional mitigation measures taking into account best practices.</a:t>
                      </a:r>
                      <a:r>
                        <a:rPr lang="en-US" sz="700" b="0" i="0" u="none" strike="noStrike" kern="1200" dirty="0">
                          <a:solidFill>
                            <a:schemeClr val="tx1"/>
                          </a:solidFill>
                          <a:effectLst/>
                          <a:latin typeface="+mn-lt"/>
                          <a:ea typeface="+mn-ea"/>
                          <a:cs typeface="+mn-cs"/>
                        </a:rPr>
                        <a:t/>
                      </a:r>
                      <a:r>
                        <a:rPr lang="ru-RU" sz="700" b="0" i="0" u="none" strike="noStrike" kern="1200" dirty="0">
                          <a:solidFill>
                            <a:schemeClr val="tx1"/>
                          </a:solidFill>
                          <a:effectLst/>
                          <a:latin typeface="+mn-lt"/>
                          <a:ea typeface="+mn-ea"/>
                          <a:cs typeface="+mn-cs"/>
                        </a:rPr>
                        <a:t/>
                      </a:r>
                      <a:endParaRPr lang="ru-RU" sz="700" b="0" dirty="0">
                        <a:latin typeface="+mn-lt"/>
                      </a:endParaRPr>
                    </a:p>
                  </a:txBody>
                  <a:tcPr marL="72000" marR="72000" marT="36000" marB="36000">
                    <a:lnT w="9525" cap="flat" cmpd="sng" algn="ctr">
                      <a:solidFill>
                        <a:srgbClr val="0070C0"/>
                      </a:solidFill>
                      <a:prstDash val="solid"/>
                      <a:round/>
                      <a:headEnd type="none" w="med" len="med"/>
                      <a:tailEnd type="none" w="med" len="med"/>
                    </a:lnT>
                    <a:lnB w="12700" cmpd="sng">
                      <a:noFill/>
                    </a:lnB>
                    <a:noFill/>
                  </a:tcPr>
                </a:tc>
                <a:tc>
                  <a:txBody>
                    <a:bodyPr/>
                    <a:lstStyle/>
                    <a:p>
                      <a:pPr algn="ctr"/>
                      <a:endParaRPr lang="ru-RU" sz="700" b="0" dirty="0">
                        <a:latin typeface="+mn-lt"/>
                      </a:endParaRPr>
                    </a:p>
                  </a:txBody>
                  <a:tcPr marL="72000" marR="72000" marT="36000" marB="36000">
                    <a:lnT w="9525" cap="flat" cmpd="sng" algn="ctr">
                      <a:solidFill>
                        <a:srgbClr val="0070C0"/>
                      </a:solid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solidFill>
                        <a:srgbClr val="0070C0"/>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marL="72000" marR="72000" marT="36000" marB="36000">
                    <a:lnT w="9525" cap="flat" cmpd="sng" algn="ctr">
                      <a:solidFill>
                        <a:srgbClr val="0070C0"/>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solidFill>
                        <a:srgbClr val="0070C0"/>
                      </a:solid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r>
                        <a:rPr lang="ru-RU" sz="700" b="0" dirty="0">
                          <a:latin typeface="+mn-lt"/>
                        </a:rPr>
                        <a:t xml:space="preserve">CEO of Perimeter, DVAiKR</a:t>
                      </a:r>
                    </a:p>
                  </a:txBody>
                  <a:tcPr marL="72000" marR="72000" marT="36000" marB="36000">
                    <a:lnT w="9525" cap="flat" cmpd="sng" algn="ctr">
                      <a:solidFill>
                        <a:srgbClr val="0070C0"/>
                      </a:solidFill>
                      <a:prstDash val="solid"/>
                      <a:round/>
                      <a:headEnd type="none" w="med" len="med"/>
                      <a:tailEnd type="none" w="med" len="med"/>
                    </a:lnT>
                    <a:lnB w="12700" cmpd="sng">
                      <a:noFill/>
                    </a:lnB>
                    <a:noFill/>
                  </a:tcPr>
                </a:tc>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 xml:space="preserve">The analysis was carried out for two half-years of 2025 - reports were sent as part of the reporting of the CEO of Perimeter, and also provided to DVAiKR for reporting to the Audit Committee of the Group and attached to the corresponding dashboards of Perimeter KZ for the Compliance Committee.</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baseline="0" dirty="0" smtClean="0">
                          <a:solidFill>
                            <a:schemeClr val="dk1"/>
                          </a:solidFill>
                          <a:latin typeface="+mn-lt"/>
                          <a:ea typeface="+mn-ea"/>
                          <a:cs typeface="+mn-cs"/>
                        </a:rPr>
                        <a:t/>
                      </a:r>
                      <a:r>
                        <a:rPr lang="ru-RU" sz="700" b="0" kern="1200" dirty="0" smtClean="0">
                          <a:solidFill>
                            <a:schemeClr val="dk1"/>
                          </a:solidFill>
                          <a:latin typeface="+mn-lt"/>
                          <a:ea typeface="+mn-ea"/>
                          <a:cs typeface="+mn-cs"/>
                        </a:rPr>
                        <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 xml:space="preserve">An analysis of the typology of risks identified based on requests for GL for 12 months of 2025 showed an improvement in the number of requests per 100 employees, in comparison with the international Navex benchmark, to 0.48. Also, the share of anonymous requests is in the range of 23-25% during 2023-2025, which is significantly lower than the Navex benchmark (54%) by 2 times and also demonstrates a high level of trust. There is a slight increase in the number of requests in the “Question” category (mainly questions related to the Purchasing / Sales portals). In 2025, there was a significant increase in cases in the “Fraud / Theft” category by 56% due to the implementation of a set of activities by the Department of Internal Affairs and Control, including the implementation of targeted verification activities in relation to employees of the Procurement function. In general, the results of the analysis confirmed the compliance of the GL operation with the Navex benchmark indicators and demonstrated a high level of process maturity.</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p>
                  </a:txBody>
                  <a:tcPr marT="36000" marB="36000" anchor="ctr">
                    <a:lnT w="9525" cap="flat" cmpd="sng" algn="ctr">
                      <a:solidFill>
                        <a:srgbClr val="0070C0"/>
                      </a:solidFill>
                      <a:prstDash val="solid"/>
                      <a:round/>
                      <a:headEnd type="none" w="med" len="med"/>
                      <a:tailEnd type="none" w="med" len="med"/>
                    </a:lnT>
                    <a:lnB w="12700" cmpd="sng">
                      <a:noFill/>
                    </a:lnB>
                    <a:noFill/>
                  </a:tcPr>
                </a:tc>
                <a:extLst>
                  <a:ext uri="{0D108BD9-81ED-4DB2-BD59-A6C34878D82A}">
                    <a16:rowId xmlns:a16="http://schemas.microsoft.com/office/drawing/2014/main" val="662039506"/>
                  </a:ext>
                </a:extLst>
              </a:tr>
              <a:tr h="1117233">
                <a:tc vMerge="1">
                  <a:txBody>
                    <a:bodyPr/>
                    <a:lstStyle/>
                    <a:p>
                      <a:endParaRPr lang="ru-RU"/>
                    </a:p>
                  </a:txBody>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2"/>
                        <a:tabLst/>
                        <a:defRPr/>
                      </a:pPr>
                      <a:r>
                        <a:rPr lang="ru-RU" sz="700" b="0" i="0" u="none" strike="noStrike" kern="1200" dirty="0">
                          <a:solidFill>
                            <a:schemeClr val="tx1"/>
                          </a:solidFill>
                          <a:effectLst/>
                          <a:latin typeface="+mn-lt"/>
                          <a:ea typeface="+mn-ea"/>
                          <a:cs typeface="+mn-cs"/>
                        </a:rPr>
                        <a:t xml:space="preserve">Continue monitoring the timely implementation of risk reduction measures and discuss with business, HR, Legal. a block of appropriate disciplinary measures for violations of the ERG Code of Corporate Conduct and compliance with ERG policies and procedures, where necessary.</a:t>
                      </a:r>
                      <a:endParaRPr lang="ru-RU" sz="700" b="0" dirty="0">
                        <a:latin typeface="+mn-lt"/>
                      </a:endParaRPr>
                    </a:p>
                  </a:txBody>
                  <a:tcPr marL="72000" marR="72000" marT="36000" marB="36000">
                    <a:lnT w="9525" cap="flat" cmpd="sng" algn="ctr">
                      <a:no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r>
                        <a:rPr lang="en-US" sz="700" b="0" dirty="0">
                          <a:latin typeface="+mn-lt"/>
                        </a:rPr>
                        <a:t xml:space="preserve">HR, Legal block, heads of business divisions</a:t>
                      </a:r>
                      <a:r>
                        <a:rPr lang="ru-RU" sz="700" b="0" dirty="0">
                          <a:latin typeface="+mn-lt"/>
                        </a:rPr>
                        <a:t/>
                      </a:r>
                    </a:p>
                  </a:txBody>
                  <a:tcPr marL="72000" marR="72000" marT="36000" marB="36000">
                    <a:lnT w="9525" cap="flat" cmpd="sng" algn="ctr">
                      <a:noFill/>
                      <a:prstDash val="solid"/>
                      <a:round/>
                      <a:headEnd type="none" w="med" len="med"/>
                      <a:tailEnd type="none" w="med" len="med"/>
                    </a:lnT>
                    <a:lnB w="12700" cmpd="sng">
                      <a:noFill/>
                    </a:lnB>
                    <a:noFill/>
                  </a:tcPr>
                </a:tc>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kern="1200" dirty="0" smtClean="0">
                        <a:solidFill>
                          <a:schemeClr val="dk1"/>
                        </a:solidFill>
                        <a:latin typeface="+mn-lt"/>
                        <a:ea typeface="+mn-ea"/>
                        <a:cs typeface="+mn-cs"/>
                      </a:endParaRP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2265874333"/>
                  </a:ext>
                </a:extLst>
              </a:tr>
              <a:tr h="1643804">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3"/>
                        <a:tabLst/>
                        <a:defRPr/>
                      </a:pPr>
                      <a:r>
                        <a:rPr lang="ru-RU" sz="700" b="0" i="0" u="none" strike="noStrike" kern="1200" dirty="0">
                          <a:solidFill>
                            <a:schemeClr val="tx1"/>
                          </a:solidFill>
                          <a:effectLst/>
                          <a:latin typeface="+mn-lt"/>
                          <a:ea typeface="+mn-ea"/>
                          <a:cs typeface="+mn-cs"/>
                        </a:rPr>
                        <a:t xml:space="preserve">Ensure availability of information about ERG Hotline channels for staff and third parties (posters, communications, publications).</a:t>
                      </a:r>
                      <a:r>
                        <a:rPr lang="en-US" sz="700" b="0" i="0" u="none" strike="noStrike" kern="1200" dirty="0">
                          <a:solidFill>
                            <a:schemeClr val="tx1"/>
                          </a:solidFill>
                          <a:effectLst/>
                          <a:latin typeface="+mn-lt"/>
                          <a:ea typeface="+mn-ea"/>
                          <a:cs typeface="+mn-cs"/>
                        </a:rPr>
                        <a:t/>
                      </a:r>
                      <a:r>
                        <a:rPr lang="ru-RU" sz="700" b="0" i="0" u="none" strike="noStrike" kern="1200" dirty="0">
                          <a:solidFill>
                            <a:schemeClr val="tx1"/>
                          </a:solidFill>
                          <a:effectLst/>
                          <a:latin typeface="+mn-lt"/>
                          <a:ea typeface="+mn-ea"/>
                          <a:cs typeface="+mn-cs"/>
                        </a:rPr>
                        <a:t/>
                      </a:r>
                      <a:endParaRPr lang="ru-RU" sz="700" b="0" dirty="0">
                        <a:latin typeface="+mn-lt"/>
                      </a:endParaRPr>
                    </a:p>
                  </a:txBody>
                  <a:tcPr marL="72000" marR="72000" marT="36000" marB="36000">
                    <a:lnT w="9525" cap="flat" cmpd="sng" algn="ctr">
                      <a:noFill/>
                      <a:prstDash val="solid"/>
                      <a:round/>
                      <a:headEnd type="none" w="med" len="med"/>
                      <a:tailEnd type="none" w="med" len="med"/>
                    </a:lnT>
                    <a:lnB w="12700" cmpd="sng">
                      <a:noFill/>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r>
                        <a:rPr lang="en-US" sz="700" b="0" dirty="0">
                          <a:latin typeface="+mn-lt"/>
                        </a:rPr>
                        <a:t xml:space="preserve">HR, DCC, company managers, third parties</a:t>
                      </a:r>
                      <a:r>
                        <a:rPr lang="ru-RU" sz="700" b="0" dirty="0">
                          <a:latin typeface="+mn-lt"/>
                        </a:rPr>
                        <a:t/>
                      </a:r>
                    </a:p>
                  </a:txBody>
                  <a:tcPr marL="72000" marR="72000" marT="36000" marB="36000">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 xml:space="preserve">In 2025, communications about GL were released according to the terms of the T&amp;A Program, data about GL was included in face-to-face trainings, availability of GL channels was maintained on the website, procurement/sales portal, Qollab. The annual survey on GL channels showed that 77% are aware of GL as a confidential communication channel, 62% are aware of GL contacts, and more than 75% rate the availability of GL channels and information as sufficient or high.</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 xml:space="preserve">To raise awareness in 2025 It was also planned to update GL posters and HSE brochures at key Perimeter enterprises, incl. for third parties - visitors to our enterprises, taking into account planned changes in relation to the EQS platform (with a change in the ITFS number). Draft GL posters and HSE brochures have been developed (the Perimeter HSE Directorate is awaiting updates from the Compliance Directorate) and are awaiting a resolution of the issue at the Group level regarding the problem of activating the dedicated EQS number (technical performance testing is currently underway by the contractor, the Compliance Group and the Compliance Directorate, a solution is expected).</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 xml:space="preserve">Additional activities are planned for 2026 aimed at increasing the level of awareness of employees and third parties about GL channels.</a:t>
                      </a:r>
                    </a:p>
                  </a:txBody>
                  <a:tcPr marL="72000" marR="72000"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1580117205"/>
                  </a:ext>
                </a:extLst>
              </a:tr>
              <a:tr h="767249">
                <a:tc vMerge="1">
                  <a:txBody>
                    <a:bodyPr/>
                    <a:lstStyle/>
                    <a:p>
                      <a:endParaRPr lang="ru-RU"/>
                    </a:p>
                  </a:txBody>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4"/>
                        <a:tabLst/>
                        <a:defRPr/>
                      </a:pPr>
                      <a:r>
                        <a:rPr lang="ru-RU" sz="700" b="0" i="0" u="none" strike="noStrike" kern="1200" dirty="0">
                          <a:solidFill>
                            <a:schemeClr val="tx1"/>
                          </a:solidFill>
                          <a:effectLst/>
                          <a:latin typeface="+mn-lt"/>
                          <a:ea typeface="+mn-ea"/>
                          <a:cs typeface="+mn-cs"/>
                        </a:rPr>
                        <a:t xml:space="preserve">Conduct an annual survey about the ERG Hotline channels, analyze the results, incl. compared to 2024 survey results</a:t>
                      </a:r>
                      <a:r>
                        <a:rPr lang="en-US" sz="700" b="0" i="0" u="none" strike="noStrike" kern="1200" dirty="0">
                          <a:solidFill>
                            <a:schemeClr val="tx1"/>
                          </a:solidFill>
                          <a:effectLst/>
                          <a:latin typeface="+mn-lt"/>
                          <a:ea typeface="+mn-ea"/>
                          <a:cs typeface="+mn-cs"/>
                        </a:rPr>
                        <a:t/>
                      </a:r>
                      <a:r>
                        <a:rPr lang="ru-RU" sz="700" b="0" i="0" u="none" strike="noStrike" kern="120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endParaRPr lang="ru-RU" sz="700" b="0" i="0" u="none" strike="noStrike" kern="1200" dirty="0">
                        <a:solidFill>
                          <a:schemeClr val="tx1"/>
                        </a:solidFill>
                        <a:effectLst/>
                        <a:latin typeface="+mn-lt"/>
                        <a:ea typeface="+mn-ea"/>
                        <a:cs typeface="+mn-cs"/>
                      </a:endParaRPr>
                    </a:p>
                  </a:txBody>
                  <a:tcPr marL="72000" marR="72000" marT="36000" marB="36000">
                    <a:lnT w="9525" cap="flat" cmpd="sng" algn="ctr">
                      <a:noFill/>
                      <a:prstDash val="solid"/>
                      <a:round/>
                      <a:headEnd type="none" w="med" len="med"/>
                      <a:tailEnd type="none" w="med" len="med"/>
                    </a:lnT>
                    <a:lnB w="12700" cmpd="sng">
                      <a:noFill/>
                    </a:lnB>
                    <a:noFill/>
                  </a:tcPr>
                </a:tc>
                <a:tc gridSpan="4">
                  <a:txBody>
                    <a:bodyPr/>
                    <a:lstStyle/>
                    <a:p>
                      <a:pPr algn="ctr"/>
                      <a:r>
                        <a:rPr kumimoji="0" lang="ru-RU" sz="700" b="0" i="1" u="none" strike="noStrike" kern="1200" cap="none" spc="0" normalizeH="0" baseline="0" noProof="0" dirty="0">
                          <a:ln>
                            <a:noFill/>
                          </a:ln>
                          <a:solidFill>
                            <a:srgbClr val="32373C"/>
                          </a:solidFill>
                          <a:effectLst/>
                          <a:uLnTx/>
                          <a:uFillTx/>
                          <a:latin typeface="+mn-lt"/>
                          <a:ea typeface="+mn-ea"/>
                          <a:cs typeface="+mn-cs"/>
                        </a:rPr>
                        <a:t xml:space="preserve">according to the timing of the HR survey</a:t>
                      </a:r>
                      <a:r>
                        <a:rPr kumimoji="0" lang="en-US" sz="700" b="0" i="1" u="none" strike="noStrike" kern="1200" cap="none" spc="0" normalizeH="0" baseline="0" noProof="0" dirty="0">
                          <a:ln>
                            <a:noFill/>
                          </a:ln>
                          <a:solidFill>
                            <a:srgbClr val="32373C"/>
                          </a:solidFill>
                          <a:effectLst/>
                          <a:uLnTx/>
                          <a:uFillTx/>
                          <a:latin typeface="+mn-lt"/>
                          <a:ea typeface="+mn-ea"/>
                          <a:cs typeface="+mn-cs"/>
                        </a:rPr>
                        <a:t/>
                      </a:r>
                      <a:endParaRPr lang="ru-RU" sz="700" b="0" i="1" dirty="0">
                        <a:latin typeface="+mn-lt"/>
                      </a:endParaRPr>
                    </a:p>
                  </a:txBody>
                  <a:tcPr marL="72000" marR="72000" marT="36000" marB="36000">
                    <a:lnT w="9525" cap="flat" cmpd="sng" algn="ctr">
                      <a:noFill/>
                      <a:prstDash val="solid"/>
                      <a:round/>
                      <a:headEnd type="none" w="med" len="med"/>
                      <a:tailEnd type="none" w="med" len="med"/>
                    </a:lnT>
                    <a:lnB w="12700" cmpd="sng">
                      <a:noFill/>
                    </a:lnB>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hMerge="1">
                  <a:txBody>
                    <a:bodyPr/>
                    <a:lstStyle/>
                    <a:p>
                      <a:pPr algn="ctr"/>
                      <a:endParaRPr lang="ru-RU" sz="800" b="0" dirty="0"/>
                    </a:p>
                  </a:txBody>
                  <a:tcPr>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hMerge="1">
                  <a:txBody>
                    <a:bodyPr/>
                    <a:lstStyle/>
                    <a:p>
                      <a:pPr algn="ctr"/>
                      <a:endParaRPr lang="ru-RU" sz="800" b="0" dirty="0"/>
                    </a:p>
                  </a:txBody>
                  <a:tcPr>
                    <a:lnT w="9525" cap="flat" cmpd="sng" algn="ctr">
                      <a:noFill/>
                      <a:prstDash val="solid"/>
                      <a:round/>
                      <a:headEnd type="none" w="med" len="med"/>
                      <a:tailEnd type="none" w="med" len="med"/>
                    </a:lnT>
                    <a:lnB w="12700" cmpd="sng">
                      <a:noFill/>
                    </a:lnB>
                    <a:gradFill flip="none" rotWithShape="1">
                      <a:gsLst>
                        <a:gs pos="0">
                          <a:schemeClr val="accent4">
                            <a:lumMod val="20000"/>
                            <a:lumOff val="80000"/>
                          </a:schemeClr>
                        </a:gs>
                        <a:gs pos="100000">
                          <a:schemeClr val="bg1"/>
                        </a:gs>
                      </a:gsLst>
                      <a:lin ang="5400000" scaled="1"/>
                      <a:tileRect/>
                    </a:gradFill>
                  </a:tcPr>
                </a:tc>
                <a:tc>
                  <a:txBody>
                    <a:bodyPr/>
                    <a:lstStyle/>
                    <a:p>
                      <a:r>
                        <a:rPr lang="en-US" sz="700" b="0" dirty="0">
                          <a:latin typeface="+mn-lt"/>
                        </a:rPr>
                        <a:t xml:space="preserve">HR, Perimeter employees</a:t>
                      </a:r>
                      <a:r>
                        <a:rPr lang="en-US" sz="700" b="0" baseline="0" dirty="0">
                          <a:latin typeface="+mn-lt"/>
                        </a:rPr>
                        <a:t/>
                      </a:r>
                      <a:r>
                        <a:rPr lang="ru-RU" sz="700" b="0" baseline="0" dirty="0">
                          <a:latin typeface="+mn-lt"/>
                        </a:rPr>
                        <a:t/>
                      </a:r>
                      <a:r>
                        <a:rPr lang="ru-RU" sz="700" b="0" dirty="0">
                          <a:latin typeface="+mn-lt"/>
                        </a:rPr>
                        <a:t/>
                      </a:r>
                    </a:p>
                  </a:txBody>
                  <a:tcPr marL="72000" marR="72000" marT="36000" marB="36000">
                    <a:lnT w="9525" cap="flat" cmpd="sng" algn="ctr">
                      <a:noFill/>
                      <a:prstDash val="solid"/>
                      <a:round/>
                      <a:headEnd type="none" w="med" len="med"/>
                      <a:tailEnd type="none" w="med" len="med"/>
                    </a:lnT>
                    <a:lnB w="12700" cmpd="sng">
                      <a:noFill/>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 xml:space="preserve">The annual survey covered 10,513 employees or 18% of Perimeter Kazakhstan's workforce. According to the survey results, the indicators are at a similarly high level, despite a significant increase in the number of respondents – by more than 62% compared to last year. At the same time, 77% are aware of GL as a confidential communication channel, 62% are aware of GL contacts, and more than 75% rate the availability of channels and information about GL as sufficient or high. Additional activities are planned for 2026 aimed at increasing the level of awareness of employees and third parties about GL channels.</a:t>
                      </a:r>
                    </a:p>
                  </a:txBody>
                  <a:tcPr marT="36000" marB="36000">
                    <a:lnT w="9525" cap="flat" cmpd="sng" algn="ctr">
                      <a:noFill/>
                      <a:prstDash val="solid"/>
                      <a:round/>
                      <a:headEnd type="none" w="med" len="med"/>
                      <a:tailEnd type="none" w="med" len="med"/>
                    </a:lnT>
                    <a:lnB w="12700" cmpd="sng">
                      <a:noFill/>
                    </a:lnB>
                    <a:noFill/>
                  </a:tcPr>
                </a:tc>
                <a:extLst>
                  <a:ext uri="{0D108BD9-81ED-4DB2-BD59-A6C34878D82A}">
                    <a16:rowId xmlns:a16="http://schemas.microsoft.com/office/drawing/2014/main" val="2687775998"/>
                  </a:ext>
                </a:extLst>
              </a:tr>
            </a:tbl>
          </a:graphicData>
        </a:graphic>
      </p:graphicFrame>
    </p:spTree>
    <p:extLst>
      <p:ext uri="{BB962C8B-B14F-4D97-AF65-F5344CB8AC3E}">
        <p14:creationId xmlns:p14="http://schemas.microsoft.com/office/powerpoint/2010/main" val="35837899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7912"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 xml:space="preserve">Annual compliance program 2025: Perimeter Kazakhstan Implementation status</a:t>
            </a:r>
            <a:r>
              <a:rPr lang="ru-RU" dirty="0"/>
              <a:t/>
            </a:r>
            <a:r>
              <a:rPr lang="ru-RU" dirty="0" smtClean="0"/>
              <a:t/>
            </a:r>
            <a:br>
              <a:rPr lang="ru-RU" dirty="0" smtClean="0"/>
            </a:br>
            <a:r>
              <a:rPr lang="ru-RU" dirty="0" smtClean="0">
                <a:solidFill>
                  <a:schemeClr val="tx1"/>
                </a:solidFill>
              </a:rPr>
              <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2276213629"/>
              </p:ext>
            </p:extLst>
          </p:nvPr>
        </p:nvGraphicFramePr>
        <p:xfrm>
          <a:off x="317499" y="801681"/>
          <a:ext cx="11484000" cy="5463909"/>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229066145"/>
                    </a:ext>
                  </a:extLst>
                </a:gridCol>
                <a:gridCol w="1836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796000">
                  <a:extLst>
                    <a:ext uri="{9D8B030D-6E8A-4147-A177-3AD203B41FA5}">
                      <a16:colId xmlns:a16="http://schemas.microsoft.com/office/drawing/2014/main" val="2252265905"/>
                    </a:ext>
                  </a:extLst>
                </a:gridCol>
              </a:tblGrid>
              <a:tr h="147125">
                <a:tc rowSpan="2">
                  <a:txBody>
                    <a:bodyPr/>
                    <a:lstStyle/>
                    <a:p>
                      <a:r>
                        <a:rPr lang="ru-RU" sz="700" b="0" dirty="0">
                          <a:solidFill>
                            <a:schemeClr val="accent5">
                              <a:lumMod val="75000"/>
                              <a:lumOff val="25000"/>
                            </a:schemeClr>
                          </a:solidFill>
                          <a:latin typeface="+mn-lt"/>
                        </a:rPr>
                        <a:t xml:space="preserve">Compliance Model Component</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 xml:space="preserve">Events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 xml:space="preserve">Other divisions - participants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 xml:space="preserve">Execution Status</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75680">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 xml:space="preserve">1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2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3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4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481989">
                <a:tc rowSpan="3">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solidFill>
                            <a:schemeClr val="tx1"/>
                          </a:solidFill>
                          <a:latin typeface="+mn-lt"/>
                        </a:rPr>
                        <a:t xml:space="preserve">Violation reporting system, disciplinary measures</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1" dirty="0" smtClean="0">
                          <a:solidFill>
                            <a:schemeClr val="tx1"/>
                          </a:solidFill>
                          <a:latin typeface="+mn-lt"/>
                        </a:rPr>
                        <a:t xml:space="preserve">(continuation)</a:t>
                      </a: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5"/>
                        <a:tabLst/>
                        <a:defRPr/>
                      </a:pPr>
                      <a:r>
                        <a:rPr lang="ru-RU" sz="700" dirty="0">
                          <a:solidFill>
                            <a:schemeClr val="tx1"/>
                          </a:solidFill>
                          <a:latin typeface="+mn-lt"/>
                        </a:rPr>
                        <a:t xml:space="preserve">Develop additional measures to strengthen compliance culture and controls, incl. based on the results of the analysis of the typology of WBS requests, in order to prevent the risk of fraud, including the risks of commercial bribery, together with DVAiKR.</a:t>
                      </a:r>
                      <a:r>
                        <a:rPr lang="ru-RU" sz="700" baseline="0" dirty="0">
                          <a:solidFill>
                            <a:schemeClr val="tx1"/>
                          </a:solidFill>
                          <a:latin typeface="+mn-lt"/>
                        </a:rPr>
                        <a:t/>
                      </a:r>
                      <a:r>
                        <a:rPr lang="en-US" sz="700" baseline="0" dirty="0">
                          <a:solidFill>
                            <a:schemeClr val="tx1"/>
                          </a:solidFill>
                          <a:latin typeface="+mn-lt"/>
                        </a:rPr>
                        <a:t/>
                      </a:r>
                      <a:r>
                        <a:rPr lang="ru-RU" sz="700" baseline="0" dirty="0">
                          <a:solidFill>
                            <a:schemeClr val="tx1"/>
                          </a:solidFill>
                          <a:latin typeface="+mn-lt"/>
                        </a:rPr>
                        <a:t/>
                      </a:r>
                      <a:r>
                        <a:rPr lang="ru-RU" sz="700" dirty="0">
                          <a:solidFill>
                            <a:schemeClr val="tx1"/>
                          </a:solidFill>
                          <a:latin typeface="+mn-lt"/>
                        </a:rPr>
                        <a:t/>
                      </a:r>
                      <a:r>
                        <a:rPr lang="ru-RU" sz="700" baseline="0" dirty="0">
                          <a:solidFill>
                            <a:schemeClr val="tx1"/>
                          </a:solidFill>
                          <a:latin typeface="+mn-lt"/>
                        </a:rPr>
                        <a:t/>
                      </a:r>
                      <a:r>
                        <a:rPr lang="ru-RU" sz="700" dirty="0">
                          <a:solidFill>
                            <a:schemeClr val="tx1"/>
                          </a:solidFill>
                          <a:latin typeface="+mn-lt"/>
                        </a:rPr>
                        <a:t/>
                      </a:r>
                      <a:endParaRPr lang="ru-RU" sz="700" b="0" i="0" u="none" strike="noStrike" kern="1200" dirty="0">
                        <a:solidFill>
                          <a:schemeClr val="tx1"/>
                        </a:solidFill>
                        <a:effectLst/>
                        <a:latin typeface="+mn-lt"/>
                        <a:ea typeface="+mn-ea"/>
                        <a:cs typeface="+mn-cs"/>
                      </a:endParaRP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endParaRPr lang="ru-RU" sz="700" b="0" i="1" dirty="0">
                        <a:latin typeface="+mn-lt"/>
                      </a:endParaRP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r>
                        <a:rPr lang="ru-RU" sz="700" b="0" i="0" dirty="0">
                          <a:latin typeface="+mn-lt"/>
                        </a:rPr>
                        <a:t>Х</a:t>
                      </a: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algn="ctr"/>
                      <a:endParaRPr lang="ru-RU" sz="700" b="0" i="1" dirty="0">
                        <a:latin typeface="+mn-lt"/>
                      </a:endParaRP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algn="ctr"/>
                      <a:endParaRPr lang="ru-RU" sz="700" b="0" i="1" dirty="0">
                        <a:latin typeface="+mn-lt"/>
                      </a:endParaRP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 xml:space="preserve">DVAiKR, Legal. Block, HR</a:t>
                      </a:r>
                      <a:r>
                        <a:rPr lang="en-US" sz="700" b="0" dirty="0">
                          <a:latin typeface="+mn-lt"/>
                        </a:rPr>
                        <a:t/>
                      </a:r>
                      <a:endParaRPr lang="ru-RU" sz="700" b="0" dirty="0">
                        <a:latin typeface="+mn-lt"/>
                      </a:endParaRP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r>
                        <a:rPr lang="ru-RU" sz="700" kern="1200" dirty="0" smtClean="0">
                          <a:solidFill>
                            <a:schemeClr val="dk1"/>
                          </a:solidFill>
                          <a:effectLst/>
                          <a:latin typeface="+mn-lt"/>
                          <a:ea typeface="+mn-ea"/>
                          <a:cs typeface="+mn-cs"/>
                        </a:rPr>
                        <a:t xml:space="preserve">Activities were developed and discussed with DVAiKR.</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p>
                    <a:p>
                      <a:r>
                        <a:rPr lang="ru-RU" sz="700" kern="1200" dirty="0" smtClean="0">
                          <a:solidFill>
                            <a:schemeClr val="dk1"/>
                          </a:solidFill>
                          <a:effectLst/>
                          <a:latin typeface="+mn-lt"/>
                          <a:ea typeface="+mn-ea"/>
                          <a:cs typeface="+mn-cs"/>
                        </a:rPr>
                        <a:t xml:space="preserve">Ensured the release of communications on the topic of open communication culture and conflicts of interest, including fraud risks, in accordance with the T&amp;A Program deadlines.</a:t>
                      </a:r>
                      <a:r>
                        <a:rPr lang="en-US" sz="700" kern="1200" dirty="0"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p>
                    <a:p>
                      <a:r>
                        <a:rPr lang="ru-RU" sz="700" kern="1200" dirty="0" smtClean="0">
                          <a:solidFill>
                            <a:schemeClr val="dk1"/>
                          </a:solidFill>
                          <a:effectLst/>
                          <a:latin typeface="+mn-lt"/>
                          <a:ea typeface="+mn-ea"/>
                          <a:cs typeface="+mn-cs"/>
                        </a:rPr>
                        <a:t xml:space="preserve">Conducting planned additional face-to-face training for employees of the Perimeter Procurement function on the topic - ERG ethical principles, fraud risks, incl. commercial bribery (joint session with DVAiKR), postponed to 2026. taking into account:</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the launch from 07/17/2025 of the mandatory course “Anti-bribery and corruption” (including for the Procurement function), which covers the risks of fraud - as of 12/31/2025, 82.94% of Perimeter employees had completed the training, incl. 81.07% of CC employees (the course resumed in July 2026);</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the ERG Group's plans to update its Anti-Fraud Policy with the development of a fraud prevention framework and program in 2026;</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limited resources of the Directorate for Compliance and DVAiKR.</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p>
                    <a:p>
                      <a:r>
                        <a:rPr lang="ru-RU" sz="700" kern="1200" dirty="0" smtClean="0">
                          <a:solidFill>
                            <a:schemeClr val="dk1"/>
                          </a:solidFill>
                          <a:effectLst/>
                          <a:latin typeface="+mn-lt"/>
                          <a:ea typeface="+mn-ea"/>
                          <a:cs typeface="+mn-cs"/>
                        </a:rPr>
                        <a:t xml:space="preserve">Together with DVAiKR, an analysis was carried out of identified violations by employees of the provisions of the ERG Code of Corporate Conduct and internal Company Policies, including incidents related to signs/facts of commercial bribery, abuse of official position and other violations of the principles of business ethics, as well as the profile of the “violator”. A report on the results was sent to the CEO of Perimeter. Based on the results of the analysis, a number of measures were developed, incl. aimed at strengthening controls over procurement procedures (including making the necessary changes to Perimeter’s IRR) and raising awareness among Perimeter employees regarding the prevention of situations of commercial bribery, receipt of inappropriate and unacceptable gifts and remuneration from business partners for Group employees. Relevant recommendations have been sent to the responsible units of the Perimeter. Some of the activities are included in the Perimeter Annual Compliance Program for 2026.</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p>
                    <a:p>
                      <a:r>
                        <a:rPr lang="ru-RU" sz="700" kern="1200" dirty="0" smtClean="0">
                          <a:solidFill>
                            <a:schemeClr val="dk1"/>
                          </a:solidFill>
                          <a:effectLst/>
                          <a:latin typeface="+mn-lt"/>
                          <a:ea typeface="+mn-ea"/>
                          <a:cs typeface="+mn-cs"/>
                        </a:rPr>
                        <a:t xml:space="preserve">In addition to measures to strengthen compliance culture, incl. speak-up culture, the goal was set to achieve the median number of calls to the Hotline per 100 employees in accordance with best practice. The target has been achieved. According to Navex analytics, on average, there are between 0.3 (minimum) and 12.6 (maximum) calls per 100 employees worldwide. At ERG, this figure at the end of 2025 was 0.49 calls per 100 employees, which is above the lower end of the median range by international standards.</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en-US" sz="700" kern="1200" dirty="0"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en-US" sz="700" kern="1200" dirty="0"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endParaRPr lang="ru-RU" sz="700" b="0" kern="1200" dirty="0" smtClean="0">
                        <a:solidFill>
                          <a:schemeClr val="dk1"/>
                        </a:solidFill>
                        <a:latin typeface="+mn-lt"/>
                        <a:ea typeface="+mn-ea"/>
                        <a:cs typeface="+mn-cs"/>
                      </a:endParaRPr>
                    </a:p>
                  </a:txBody>
                  <a:tcPr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207457086"/>
                  </a:ext>
                </a:extLst>
              </a:tr>
              <a:tr h="481989">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6"/>
                        <a:tabLst/>
                        <a:defRPr/>
                      </a:pPr>
                      <a:r>
                        <a:rPr lang="ru-RU" sz="700" b="0" dirty="0">
                          <a:latin typeface="+mn-lt"/>
                        </a:rPr>
                        <a:t xml:space="preserve">Together with the Compliance Group, Compliance of the International Perimeter, participate in the analysis of WBS reporting taking into account the results of the CSRD Gap Assessment - Compliance, the implementation of an optimal approach to integrating the requirements of ERG compliance policies into ERG activities (employment contract template, performance management process), comparative analysis of KPIs in the field of ethics and compliance for business, development of reasonable KPIs in the field of ethics and compliance for business, which will be discussed with management, HR and the Compliance Committee compliance</a:t>
                      </a:r>
                      <a:r>
                        <a:rPr lang="en-US" sz="700" b="0" dirty="0">
                          <a:latin typeface="+mn-lt"/>
                        </a:rPr>
                        <a:t/>
                      </a:r>
                      <a:r>
                        <a:rPr lang="ru-RU" sz="700" b="0" dirty="0">
                          <a:latin typeface="+mn-lt"/>
                        </a:rPr>
                        <a:t/>
                      </a:r>
                      <a:r>
                        <a:rPr lang="ru-RU" sz="700" b="0" baseline="0" dirty="0">
                          <a:latin typeface="+mn-lt"/>
                        </a:rPr>
                        <a:t/>
                      </a:r>
                      <a:r>
                        <a:rPr lang="en-US" sz="700" b="0" dirty="0">
                          <a:latin typeface="+mn-lt"/>
                        </a:rPr>
                        <a:t/>
                      </a:r>
                      <a:r>
                        <a:rPr lang="ru-RU" sz="700" b="0" dirty="0">
                          <a:latin typeface="+mn-lt"/>
                        </a:rPr>
                        <a:t/>
                      </a:r>
                      <a:r>
                        <a:rPr lang="ru-RU" sz="700" b="0" baseline="0" dirty="0">
                          <a:latin typeface="+mn-lt"/>
                        </a:rPr>
                        <a:t/>
                      </a:r>
                      <a:r>
                        <a:rPr lang="ru-RU" sz="700" b="0" dirty="0">
                          <a:latin typeface="+mn-lt"/>
                        </a:rPr>
                        <a:t/>
                      </a: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1" u="none" strike="noStrike" kern="1200" cap="none" spc="0" normalizeH="0" baseline="0" noProof="0" dirty="0">
                          <a:ln>
                            <a:noFill/>
                          </a:ln>
                          <a:solidFill>
                            <a:srgbClr val="32373C"/>
                          </a:solidFill>
                          <a:effectLst/>
                          <a:uLnTx/>
                          <a:uFillTx/>
                          <a:latin typeface="+mn-lt"/>
                          <a:ea typeface="+mn-ea"/>
                          <a:cs typeface="+mn-cs"/>
                        </a:rPr>
                        <a:t xml:space="preserve">according to the terms of the Compliance Group</a:t>
                      </a:r>
                      <a:endParaRPr lang="ru-RU" sz="700" b="0" i="1"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hMerge="1">
                  <a:txBody>
                    <a:bodyPr/>
                    <a:lstStyle/>
                    <a:p>
                      <a:pPr algn="ctr"/>
                      <a:endParaRPr lang="ru-RU" sz="800" b="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hMerge="1">
                  <a:txBody>
                    <a:bodyPr/>
                    <a:lstStyle/>
                    <a:p>
                      <a:pPr algn="ctr"/>
                      <a:endParaRPr lang="ru-RU" sz="800" b="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r>
                        <a:rPr lang="ru-RU" sz="700" b="0" dirty="0">
                          <a:latin typeface="+mn-lt"/>
                        </a:rPr>
                        <a:t xml:space="preserve">Compliance Group, Compliance of the International Perimeter, HR, Legal. block, independent WBS operator, etc.</a:t>
                      </a:r>
                      <a:r>
                        <a:rPr lang="ru-RU" sz="700" b="0" baseline="0" dirty="0">
                          <a:latin typeface="+mn-lt"/>
                        </a:rPr>
                        <a:t/>
                      </a:r>
                      <a:r>
                        <a:rPr lang="en-US" sz="700" b="0" dirty="0">
                          <a:latin typeface="+mn-lt"/>
                        </a:rPr>
                        <a:t/>
                      </a:r>
                      <a:r>
                        <a:rPr lang="ru-RU" sz="700" b="0" dirty="0">
                          <a:latin typeface="+mn-lt"/>
                        </a:rPr>
                        <a:t/>
                      </a:r>
                      <a:r>
                        <a:rPr lang="en-US" sz="700" b="0" dirty="0">
                          <a:latin typeface="+mn-lt"/>
                        </a:rPr>
                        <a:t/>
                      </a:r>
                      <a:r>
                        <a:rPr lang="ru-RU" sz="700" b="0" dirty="0">
                          <a:latin typeface="+mn-lt"/>
                        </a:rPr>
                        <a:t/>
                      </a: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rowSpan="2">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kern="1200" dirty="0" smtClean="0">
                          <a:solidFill>
                            <a:schemeClr val="dk1"/>
                          </a:solidFill>
                          <a:latin typeface="+mn-lt"/>
                          <a:ea typeface="+mn-ea"/>
                          <a:cs typeface="+mn-cs"/>
                        </a:rPr>
                        <a:t xml:space="preserve">Contributed to the WBS assurance project. The recommendations provided were accepted for implementation.</a:t>
                      </a:r>
                      <a:r>
                        <a:rPr lang="en-US" sz="700" b="0" kern="1200" dirty="0" smtClean="0">
                          <a:solidFill>
                            <a:schemeClr val="dk1"/>
                          </a:solidFill>
                          <a:latin typeface="+mn-lt"/>
                          <a:ea typeface="+mn-ea"/>
                          <a:cs typeface="+mn-cs"/>
                        </a:rPr>
                        <a:t/>
                      </a:r>
                      <a:r>
                        <a:rPr lang="ru-RU" sz="700" b="0" kern="1200" dirty="0" smtClean="0">
                          <a:solidFill>
                            <a:schemeClr val="dk1"/>
                          </a:solidFill>
                          <a:latin typeface="+mn-lt"/>
                          <a:ea typeface="+mn-ea"/>
                          <a:cs typeface="+mn-cs"/>
                        </a:rPr>
                        <a:t/>
                      </a:r>
                      <a:endParaRPr lang="ru-RU" sz="700" b="0" dirty="0">
                        <a:latin typeface="+mn-lt"/>
                      </a:endParaRPr>
                    </a:p>
                  </a:txBody>
                  <a:tcPr marL="72000" marR="72000" marT="36000" marB="36000" anchor="ctr">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2746588735"/>
                  </a:ext>
                </a:extLst>
              </a:tr>
              <a:tr h="481989">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7"/>
                        <a:tabLst/>
                        <a:defRPr/>
                      </a:pPr>
                      <a:r>
                        <a:rPr lang="ru-RU" sz="700" b="0" dirty="0" smtClean="0">
                          <a:solidFill>
                            <a:schemeClr val="accent5">
                              <a:lumMod val="75000"/>
                              <a:lumOff val="25000"/>
                            </a:schemeClr>
                          </a:solidFill>
                          <a:latin typeface="+mn-lt"/>
                          <a:ea typeface="Yu Gothic UI Semibold" panose="020B0700000000000000" pitchFamily="34" charset="-128"/>
                        </a:rPr>
                        <a:t xml:space="preserve">Participation in the Assurance Group project</a:t>
                      </a:r>
                      <a:r>
                        <a:rPr lang="ru-RU" sz="700" b="0" dirty="0">
                          <a:solidFill>
                            <a:schemeClr val="accent5">
                              <a:lumMod val="75000"/>
                              <a:lumOff val="25000"/>
                            </a:schemeClr>
                          </a:solidFill>
                          <a:latin typeface="+mn-lt"/>
                          <a:ea typeface="Yu Gothic UI Semibold" panose="020B0700000000000000" pitchFamily="34" charset="-128"/>
                        </a:rPr>
                        <a:t/>
                      </a:r>
                      <a:r>
                        <a:rPr lang="ru-RU" sz="700" b="0" baseline="0" dirty="0">
                          <a:solidFill>
                            <a:schemeClr val="accent5">
                              <a:lumMod val="75000"/>
                              <a:lumOff val="25000"/>
                            </a:schemeClr>
                          </a:solidFill>
                          <a:latin typeface="+mn-lt"/>
                          <a:ea typeface="Yu Gothic UI Semibold" panose="020B0700000000000000" pitchFamily="34" charset="-128"/>
                        </a:rPr>
                        <a:t/>
                      </a:r>
                      <a:endParaRPr lang="ru-RU" sz="700" b="0" dirty="0">
                        <a:solidFill>
                          <a:schemeClr val="accent5">
                            <a:lumMod val="75000"/>
                            <a:lumOff val="25000"/>
                          </a:schemeClr>
                        </a:solidFill>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algn="ct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sz="700" b="0" kern="1200" dirty="0" smtClean="0">
                        <a:solidFill>
                          <a:schemeClr val="dk1"/>
                        </a:solidFill>
                        <a:latin typeface="+mn-lt"/>
                        <a:ea typeface="+mn-ea"/>
                        <a:cs typeface="+mn-cs"/>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1546613227"/>
                  </a:ext>
                </a:extLst>
              </a:tr>
            </a:tbl>
          </a:graphicData>
        </a:graphic>
      </p:graphicFrame>
    </p:spTree>
    <p:extLst>
      <p:ext uri="{BB962C8B-B14F-4D97-AF65-F5344CB8AC3E}">
        <p14:creationId xmlns:p14="http://schemas.microsoft.com/office/powerpoint/2010/main" val="11449481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8932"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smtClean="0"/>
              <a:t xml:space="preserve">Annual compliance program 2025: Perimeter Kazakhstan Implementation status</a:t>
            </a:r>
            <a:r>
              <a:rPr lang="ru-RU" dirty="0"/>
              <a:t/>
            </a:r>
            <a:r>
              <a:rPr lang="ru-RU" dirty="0" smtClean="0"/>
              <a:t/>
            </a:r>
            <a:br>
              <a:rPr lang="ru-RU" dirty="0" smtClean="0"/>
            </a:br>
            <a:r>
              <a:rPr lang="ru-RU" dirty="0" smtClean="0">
                <a:solidFill>
                  <a:schemeClr val="tx1"/>
                </a:solidFill>
              </a:rPr>
              <a:t/>
            </a:r>
            <a:endParaRPr lang="ru-RU" dirty="0"/>
          </a:p>
        </p:txBody>
      </p:sp>
      <p:graphicFrame>
        <p:nvGraphicFramePr>
          <p:cNvPr id="36" name="Таблица 35"/>
          <p:cNvGraphicFramePr>
            <a:graphicFrameLocks noGrp="1"/>
          </p:cNvGraphicFramePr>
          <p:nvPr>
            <p:extLst>
              <p:ext uri="{D42A27DB-BD31-4B8C-83A1-F6EECF244321}">
                <p14:modId xmlns:p14="http://schemas.microsoft.com/office/powerpoint/2010/main" val="375507772"/>
              </p:ext>
            </p:extLst>
          </p:nvPr>
        </p:nvGraphicFramePr>
        <p:xfrm>
          <a:off x="317499" y="801681"/>
          <a:ext cx="11628000" cy="4349556"/>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229066145"/>
                    </a:ext>
                  </a:extLst>
                </a:gridCol>
                <a:gridCol w="2448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679791282"/>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328000">
                  <a:extLst>
                    <a:ext uri="{9D8B030D-6E8A-4147-A177-3AD203B41FA5}">
                      <a16:colId xmlns:a16="http://schemas.microsoft.com/office/drawing/2014/main" val="2252265905"/>
                    </a:ext>
                  </a:extLst>
                </a:gridCol>
              </a:tblGrid>
              <a:tr h="147125">
                <a:tc rowSpan="2">
                  <a:txBody>
                    <a:bodyPr/>
                    <a:lstStyle/>
                    <a:p>
                      <a:r>
                        <a:rPr lang="ru-RU" sz="700" b="0" dirty="0">
                          <a:solidFill>
                            <a:schemeClr val="accent5">
                              <a:lumMod val="75000"/>
                              <a:lumOff val="25000"/>
                            </a:schemeClr>
                          </a:solidFill>
                          <a:latin typeface="+mn-lt"/>
                        </a:rPr>
                        <a:t xml:space="preserve">Compliance Model Component</a:t>
                      </a: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a:solidFill>
                            <a:schemeClr val="accent5">
                              <a:lumMod val="75000"/>
                              <a:lumOff val="25000"/>
                            </a:schemeClr>
                          </a:solidFill>
                          <a:latin typeface="+mn-lt"/>
                        </a:rPr>
                        <a:t xml:space="preserve">Events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latin typeface="+mn-lt"/>
                        </a:rPr>
                        <a:t>2025</a:t>
                      </a:r>
                    </a:p>
                  </a:txBody>
                  <a:tcPr marT="36000" marB="36000">
                    <a:lnB w="9525" cap="flat" cmpd="sng" algn="ctr">
                      <a:solidFill>
                        <a:srgbClr val="0070C0"/>
                      </a:solidFill>
                      <a:prstDash val="solid"/>
                      <a:round/>
                      <a:headEnd type="none" w="med" len="med"/>
                      <a:tailEnd type="none" w="med" len="med"/>
                    </a:lnB>
                    <a:noFill/>
                  </a:tcPr>
                </a:tc>
                <a:tc hMerge="1">
                  <a:txBody>
                    <a:bodyPr/>
                    <a:lstStyle/>
                    <a:p>
                      <a:endParaRPr lang="ru-RU"/>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latin typeface="+mn-lt"/>
                        </a:rPr>
                        <a:t xml:space="preserve">Other divisions - participants</a:t>
                      </a:r>
                      <a:r>
                        <a:rPr lang="ru-RU" sz="700" b="0" baseline="0" dirty="0">
                          <a:solidFill>
                            <a:schemeClr val="accent5">
                              <a:lumMod val="75000"/>
                              <a:lumOff val="25000"/>
                            </a:schemeClr>
                          </a:solidFill>
                          <a:latin typeface="+mn-lt"/>
                        </a:rPr>
                        <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tc rowSpan="2">
                  <a:txBody>
                    <a:bodyPr/>
                    <a:lstStyle/>
                    <a:p>
                      <a:r>
                        <a:rPr lang="ru-RU" sz="700" b="0" dirty="0" smtClean="0">
                          <a:solidFill>
                            <a:schemeClr val="accent5">
                              <a:lumMod val="75000"/>
                              <a:lumOff val="25000"/>
                            </a:schemeClr>
                          </a:solidFill>
                          <a:latin typeface="+mn-lt"/>
                        </a:rPr>
                        <a:t xml:space="preserve">Execution Status</a:t>
                      </a:r>
                      <a:endParaRPr lang="ru-RU" sz="700" b="0" dirty="0">
                        <a:solidFill>
                          <a:schemeClr val="accent5">
                            <a:lumMod val="75000"/>
                            <a:lumOff val="25000"/>
                          </a:schemeClr>
                        </a:solidFill>
                        <a:latin typeface="+mn-lt"/>
                      </a:endParaRPr>
                    </a:p>
                  </a:txBody>
                  <a:tcPr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75680">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latin typeface="+mn-lt"/>
                        </a:rPr>
                        <a:t xml:space="preserve">1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2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3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latin typeface="+mn-lt"/>
                        </a:rPr>
                        <a:t xml:space="preserve">4 sq.</a:t>
                      </a: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481989">
                <a:tc rowSpan="6">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700" dirty="0" smtClean="0">
                          <a:solidFill>
                            <a:schemeClr val="tx1"/>
                          </a:solidFill>
                          <a:latin typeface="+mn-lt"/>
                        </a:rPr>
                        <a:t xml:space="preserve">Compliance system self-assessment, compliance reporting system</a:t>
                      </a: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0"/>
                        </a:spcAft>
                        <a:buClr>
                          <a:schemeClr val="accent5">
                            <a:lumMod val="75000"/>
                            <a:lumOff val="25000"/>
                          </a:schemeClr>
                        </a:buClr>
                        <a:buSzTx/>
                        <a:buFont typeface="+mj-lt"/>
                        <a:buAutoNum type="arabicPeriod"/>
                        <a:tabLst/>
                        <a:defRPr/>
                      </a:pPr>
                      <a:r>
                        <a:rPr lang="ru-RU" sz="700" b="0" i="0" u="none" strike="noStrike" kern="1200" dirty="0">
                          <a:solidFill>
                            <a:schemeClr val="tx1"/>
                          </a:solidFill>
                          <a:effectLst/>
                          <a:latin typeface="+mn-lt"/>
                          <a:ea typeface="+mn-ea"/>
                          <a:cs typeface="+mn-cs"/>
                        </a:rPr>
                        <a:t xml:space="preserve">Timely provide a Compliance report (dashboard) of Perimeter, including trends in the development of compliance risks, results of the CPC, Compliance List, analysis of compliance risks in the field of BS / CSR projects, conflicts of interest, business gifts and cultural and entertainment events, personal data protection, results of compliance training, checks of requests received through the channels of the ERG Hotline, and the results of self-testing on compliance processes (the self-testing plan is presented on slides 49-50) for the CEO of Perimeter, Heads of Divisions, CEO of Transcom, CEO of MCE, ERG Compliance Committee.</a:t>
                      </a:r>
                      <a:r>
                        <a:rPr lang="ru-RU" sz="700" b="0" i="0" u="none" strike="noStrike" kern="1200" baseline="0" dirty="0">
                          <a:solidFill>
                            <a:schemeClr val="tx1"/>
                          </a:solidFill>
                          <a:effectLst/>
                          <a:latin typeface="+mn-lt"/>
                          <a:ea typeface="+mn-ea"/>
                          <a:cs typeface="+mn-cs"/>
                        </a:rPr>
                        <a:t/>
                      </a:r>
                      <a:r>
                        <a:rPr lang="ru-RU" sz="700" b="0" i="0" u="none" strike="noStrike" kern="120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en-US" sz="700" b="0" i="0" u="none" strike="noStrike" kern="1200" baseline="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en-US" sz="700" b="0" i="0" u="none" strike="noStrike" kern="1200" baseline="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ru-RU" sz="700" b="0" i="0" u="none" strike="noStrike" kern="120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ru-RU" sz="700" b="0" i="0" u="none" strike="noStrike" kern="1200" baseline="0" dirty="0" smtClean="0">
                          <a:solidFill>
                            <a:schemeClr val="tx1"/>
                          </a:solidFill>
                          <a:effectLst/>
                          <a:latin typeface="+mn-lt"/>
                          <a:ea typeface="+mn-ea"/>
                          <a:cs typeface="+mn-cs"/>
                        </a:rPr>
                        <a:t/>
                      </a:r>
                      <a:r>
                        <a:rPr lang="ru-RU" sz="700" b="0" i="0" u="none" strike="noStrike" kern="1200" dirty="0" smtClean="0">
                          <a:solidFill>
                            <a:schemeClr val="tx1"/>
                          </a:solidFill>
                          <a:effectLst/>
                          <a:latin typeface="+mn-lt"/>
                          <a:ea typeface="+mn-ea"/>
                          <a:cs typeface="+mn-cs"/>
                        </a:rPr>
                        <a:t/>
                      </a:r>
                      <a:r>
                        <a:rPr lang="ru-RU" sz="700" b="0" i="0" u="none" strike="noStrike" kern="1200" baseline="0" dirty="0" smtClean="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en-US" sz="700" b="0" i="0" u="none" strike="noStrike" kern="1200" baseline="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en-US" sz="700" b="0" i="0" u="none" strike="noStrike" kern="1200" baseline="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en-US" sz="700" b="0" i="0" u="none" strike="noStrike" kern="1200" baseline="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en-US" sz="700" b="0" i="0" u="none" strike="noStrike" kern="1200" baseline="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en-US" sz="700" b="0" i="0" u="none" strike="noStrike" kern="1200" baseline="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endParaRPr lang="ru-RU" sz="700" b="0" dirty="0">
                        <a:solidFill>
                          <a:schemeClr val="tx1"/>
                        </a:solidFill>
                        <a:latin typeface="+mn-lt"/>
                      </a:endParaRP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r>
                        <a:rPr lang="ru-RU" sz="700" b="0" dirty="0">
                          <a:latin typeface="+mn-lt"/>
                        </a:rPr>
                        <a:t>Х</a:t>
                      </a: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r>
                        <a:rPr lang="ru-RU" sz="700" b="0" dirty="0">
                          <a:latin typeface="+mn-lt"/>
                        </a:rPr>
                        <a:t xml:space="preserve">CEO of Perimeter, Heads of Divisions, CEO of TC, CEO of MCE, heads of key functions of enterprises taking part in the discussion, Compliance Committee</a:t>
                      </a:r>
                    </a:p>
                  </a:txBody>
                  <a:tcPr marL="72000" marR="72000"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r>
                        <a:rPr lang="ru-RU" sz="700" b="0" kern="1200" dirty="0" smtClean="0">
                          <a:solidFill>
                            <a:schemeClr val="dk1"/>
                          </a:solidFill>
                          <a:latin typeface="+mn-lt"/>
                          <a:ea typeface="+mn-ea"/>
                          <a:cs typeface="+mn-cs"/>
                        </a:rPr>
                        <a:t xml:space="preserve">Perimeter's compliance reporting is provided regularly with the completeness specified in the task to the CEO of Perimeter, CEOs of 5 Divisions, CEO of the Transport Group, CEO of MCE and the Compliance Committee - quarterly.</a:t>
                      </a:r>
                      <a:r>
                        <a:rPr lang="ru-RU" sz="700" b="0" kern="1200" dirty="0"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p>
                  </a:txBody>
                  <a:tcPr marT="36000" marB="36000">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207457086"/>
                  </a:ext>
                </a:extLst>
              </a:tr>
              <a:tr h="481989">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i="1"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6213" marR="0" lvl="0" indent="-176213"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2"/>
                        <a:tabLst/>
                        <a:defRPr/>
                      </a:pPr>
                      <a:r>
                        <a:rPr lang="ru-RU" sz="700" b="0" dirty="0">
                          <a:solidFill>
                            <a:schemeClr val="tx1"/>
                          </a:solidFill>
                          <a:latin typeface="+mn-lt"/>
                        </a:rPr>
                        <a:t xml:space="preserve">Provide reporting on transactions as part of the Related Party List management process for the Compliance Group.</a:t>
                      </a:r>
                      <a:r>
                        <a:rPr lang="ru-RU" sz="700" b="0" baseline="0" dirty="0">
                          <a:solidFill>
                            <a:schemeClr val="tx1"/>
                          </a:solidFill>
                          <a:latin typeface="+mn-lt"/>
                        </a:rPr>
                        <a:t/>
                      </a:r>
                      <a:endParaRPr lang="ru-RU" sz="700" b="0" dirty="0">
                        <a:solidFill>
                          <a:schemeClr val="tx1"/>
                        </a:solidFill>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dirty="0" smtClean="0">
                          <a:latin typeface="+mn-lt"/>
                        </a:rPr>
                        <a:t xml:space="preserve">Reporting is provided within the established time frame.</a:t>
                      </a: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1546613227"/>
                  </a:ext>
                </a:extLst>
              </a:tr>
              <a:tr h="481989">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3"/>
                        <a:tabLst/>
                        <a:defRPr/>
                      </a:pPr>
                      <a:r>
                        <a:rPr lang="ru-RU" sz="700" b="0" i="0" u="none" strike="noStrike" kern="1200" dirty="0">
                          <a:solidFill>
                            <a:schemeClr val="tx1"/>
                          </a:solidFill>
                          <a:effectLst/>
                          <a:latin typeface="+mn-lt"/>
                          <a:ea typeface="+mn-ea"/>
                          <a:cs typeface="+mn-cs"/>
                        </a:rPr>
                        <a:t xml:space="preserve">Provide additional reporting to Perimeter as requested by management/Compliance Committee/external auditors.</a:t>
                      </a: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gridSpan="4">
                  <a:txBody>
                    <a:bodyPr/>
                    <a:lstStyle/>
                    <a:p>
                      <a:pPr algn="ctr"/>
                      <a:r>
                        <a:rPr kumimoji="0" lang="en-US" sz="700" b="0" i="1" u="none" strike="noStrike" kern="1200" cap="none" spc="0" normalizeH="0" baseline="0" noProof="0" dirty="0">
                          <a:ln>
                            <a:noFill/>
                          </a:ln>
                          <a:solidFill>
                            <a:srgbClr val="32373C"/>
                          </a:solidFill>
                          <a:effectLst/>
                          <a:uLnTx/>
                          <a:uFillTx/>
                          <a:latin typeface="+mn-lt"/>
                          <a:ea typeface="+mn-ea"/>
                          <a:cs typeface="+mn-cs"/>
                        </a:rPr>
                        <a:t xml:space="preserve">ad hoc</a:t>
                      </a:r>
                      <a:endParaRPr lang="ru-RU" sz="700" b="0" i="1"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hMerge="1">
                  <a:txBody>
                    <a:bodyPr/>
                    <a:lstStyle/>
                    <a:p>
                      <a:pPr algn="ctr"/>
                      <a:endParaRPr lang="ru-RU" sz="800" b="0" i="1" dirty="0"/>
                    </a:p>
                  </a:txBody>
                  <a:tcPr>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hMerge="1">
                  <a:txBody>
                    <a:bodyPr/>
                    <a:lstStyle/>
                    <a:p>
                      <a:pPr algn="ctr"/>
                      <a:endParaRPr lang="ru-RU" sz="800" b="0" i="1" dirty="0"/>
                    </a:p>
                  </a:txBody>
                  <a:tcPr>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hMerge="1">
                  <a:txBody>
                    <a:bodyPr/>
                    <a:lstStyle/>
                    <a:p>
                      <a:pPr algn="ctr"/>
                      <a:endParaRPr lang="ru-RU" sz="800" b="0" i="1" dirty="0"/>
                    </a:p>
                  </a:txBody>
                  <a:tcPr>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r>
                        <a:rPr lang="ru-RU" sz="700" b="0" dirty="0">
                          <a:latin typeface="+mn-lt"/>
                        </a:rPr>
                        <a:t xml:space="preserve">Depends on request</a:t>
                      </a:r>
                      <a:r>
                        <a:rPr lang="ru-RU" sz="700" b="0" baseline="0" dirty="0">
                          <a:latin typeface="+mn-lt"/>
                        </a:rPr>
                        <a:t/>
                      </a: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dirty="0" smtClean="0">
                          <a:latin typeface="+mn-lt"/>
                        </a:rPr>
                        <a:t xml:space="preserve">Reporting to the Compliance Committee is provided on a regular basis. Reporting is also provided at the request of external auditors (as part of the audit of financial statements, ESG ratings) and reporting for reports on the Group’s RM and annual reports of individual Perimeter enterprises (KH, KEZ, AK).</a:t>
                      </a:r>
                      <a:r>
                        <a:rPr lang="ru-RU" sz="700" b="0" kern="1200" dirty="0" smtClean="0">
                          <a:solidFill>
                            <a:schemeClr val="dk1"/>
                          </a:solidFill>
                          <a:latin typeface="+mn-lt"/>
                          <a:ea typeface="+mn-ea"/>
                          <a:cs typeface="+mn-cs"/>
                        </a:rPr>
                        <a:t/>
                      </a: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984924944"/>
                  </a:ext>
                </a:extLst>
              </a:tr>
              <a:tr h="481989">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80975" marR="0" lvl="0" indent="-180975"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4"/>
                        <a:tabLst/>
                        <a:defRPr/>
                      </a:pPr>
                      <a:r>
                        <a:rPr lang="ru-RU" sz="700" b="0" kern="1200" dirty="0">
                          <a:solidFill>
                            <a:schemeClr val="dk1"/>
                          </a:solidFill>
                          <a:latin typeface="+mn-lt"/>
                          <a:ea typeface="+mn-ea"/>
                          <a:cs typeface="+mn-cs"/>
                        </a:rPr>
                        <a:t xml:space="preserve">Develop a project for an updated Perimeter dashboard for BS/CSR projects, taking into account the controls of the Policy for CSR projects and sponsorship support.</a:t>
                      </a:r>
                      <a:r>
                        <a:rPr lang="ru-RU" sz="700" b="0" kern="1200" baseline="0" dirty="0">
                          <a:solidFill>
                            <a:schemeClr val="dk1"/>
                          </a:solidFill>
                          <a:latin typeface="+mn-lt"/>
                          <a:ea typeface="+mn-ea"/>
                          <a:cs typeface="+mn-cs"/>
                        </a:rPr>
                        <a:t/>
                      </a:r>
                      <a:endParaRPr lang="ru-RU" sz="700" b="0" kern="1200" baseline="0" dirty="0" smtClean="0">
                        <a:solidFill>
                          <a:schemeClr val="dk1"/>
                        </a:solidFill>
                        <a:latin typeface="+mn-lt"/>
                        <a:ea typeface="+mn-ea"/>
                        <a:cs typeface="+mn-cs"/>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FF0000"/>
                        </a:solidFill>
                        <a:effectLst/>
                        <a:uLnTx/>
                        <a:uFillTx/>
                        <a:latin typeface="+mn-lt"/>
                        <a:ea typeface="+mn-ea"/>
                        <a:cs typeface="+mn-cs"/>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FF0000"/>
                        </a:solidFill>
                        <a:effectLst/>
                        <a:uLnTx/>
                        <a:uFillTx/>
                        <a:latin typeface="+mn-lt"/>
                        <a:ea typeface="+mn-ea"/>
                        <a:cs typeface="+mn-cs"/>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chemeClr val="tx1"/>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FF0000"/>
                        </a:solidFill>
                        <a:effectLst/>
                        <a:uLnTx/>
                        <a:uFillTx/>
                        <a:latin typeface="+mn-lt"/>
                        <a:ea typeface="+mn-ea"/>
                        <a:cs typeface="+mn-cs"/>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 xml:space="preserve">Perimeter BiS Commission</a:t>
                      </a: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dirty="0" smtClean="0">
                          <a:latin typeface="+mn-lt"/>
                        </a:rPr>
                        <a:t xml:space="preserve">A project for an updated dashboard for internal reporting of Perimeter has been developed, incl. taking into account the format of the BIS slides as part of reporting to the Compliance Committee and comments from the process owner (CFO of Perimeter). We also took an active part in updating the compliance dashboard for the Compliance Committee, incl. on BiS / CSR.</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2030675270"/>
                  </a:ext>
                </a:extLst>
              </a:tr>
              <a:tr h="481989">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5"/>
                        <a:tabLst/>
                        <a:defRPr/>
                      </a:pPr>
                      <a:r>
                        <a:rPr lang="ru-RU" sz="700" b="0" i="0" u="none" strike="noStrike" kern="1200" baseline="0" dirty="0" smtClean="0">
                          <a:solidFill>
                            <a:schemeClr val="tx1"/>
                          </a:solidFill>
                          <a:effectLst/>
                          <a:latin typeface="+mn-lt"/>
                          <a:ea typeface="+mn-ea"/>
                          <a:cs typeface="+mn-cs"/>
                        </a:rPr>
                        <a:t xml:space="preserve">Participate in the preparation of a compliance report within the framework of CSRD requirements.</a:t>
                      </a:r>
                      <a:r>
                        <a:rPr lang="en-US" sz="700" b="0" i="0" u="none" strike="noStrike" kern="1200" baseline="0" dirty="0" smtClean="0">
                          <a:solidFill>
                            <a:schemeClr val="tx1"/>
                          </a:solidFill>
                          <a:effectLst/>
                          <a:latin typeface="+mn-lt"/>
                          <a:ea typeface="+mn-ea"/>
                          <a:cs typeface="+mn-cs"/>
                        </a:rPr>
                        <a:t/>
                      </a:r>
                      <a:r>
                        <a:rPr lang="ru-RU" sz="700" b="0" i="0" u="none" strike="noStrike" kern="1200" baseline="0" dirty="0" smtClean="0">
                          <a:solidFill>
                            <a:schemeClr val="tx1"/>
                          </a:solidFill>
                          <a:effectLst/>
                          <a:latin typeface="+mn-lt"/>
                          <a:ea typeface="+mn-ea"/>
                          <a:cs typeface="+mn-cs"/>
                        </a:rPr>
                        <a:t/>
                      </a:r>
                      <a:endParaRPr lang="ru-RU" sz="700" b="0" kern="1200" dirty="0">
                        <a:solidFill>
                          <a:schemeClr val="tx1"/>
                        </a:solidFill>
                        <a:latin typeface="+mn-lt"/>
                        <a:ea typeface="+mn-ea"/>
                        <a:cs typeface="+mn-cs"/>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smtClean="0">
                          <a:ln>
                            <a:noFill/>
                          </a:ln>
                          <a:solidFill>
                            <a:srgbClr val="32373C"/>
                          </a:solidFill>
                          <a:effectLst/>
                          <a:uLnTx/>
                          <a:uFillTx/>
                          <a:latin typeface="+mn-lt"/>
                          <a:ea typeface="+mn-ea"/>
                          <a:cs typeface="+mn-cs"/>
                        </a:rPr>
                        <a:t xml:space="preserve">ad hoc</a:t>
                      </a:r>
                      <a:endParaRPr lang="ru-RU" sz="700" b="0" i="1" dirty="0" smtClean="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FF0000"/>
                        </a:solidFill>
                        <a:effectLst/>
                        <a:uLnTx/>
                        <a:uFillTx/>
                        <a:latin typeface="+mn-lt"/>
                        <a:ea typeface="+mn-ea"/>
                        <a:cs typeface="+mn-cs"/>
                      </a:endParaRPr>
                    </a:p>
                  </a:txBody>
                  <a:tcPr>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chemeClr val="tx1"/>
                        </a:solidFill>
                        <a:effectLst/>
                        <a:uLnTx/>
                        <a:uFillTx/>
                        <a:latin typeface="+mn-lt"/>
                        <a:ea typeface="+mn-ea"/>
                        <a:cs typeface="+mn-cs"/>
                      </a:endParaRPr>
                    </a:p>
                  </a:txBody>
                  <a:tcPr>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FF0000"/>
                        </a:solidFill>
                        <a:effectLst/>
                        <a:uLnTx/>
                        <a:uFillTx/>
                        <a:latin typeface="+mn-lt"/>
                        <a:ea typeface="+mn-ea"/>
                        <a:cs typeface="+mn-cs"/>
                      </a:endParaRPr>
                    </a:p>
                  </a:txBody>
                  <a:tcPr>
                    <a:lnT w="9525" cap="flat" cmpd="sng" algn="ctr">
                      <a:noFill/>
                      <a:prstDash val="solid"/>
                      <a:round/>
                      <a:headEnd type="none" w="med" len="med"/>
                      <a:tailEnd type="none" w="med" len="med"/>
                    </a:lnT>
                    <a:lnB w="9525" cap="flat" cmpd="sng" algn="ctr">
                      <a:no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en-US" sz="700" b="0" dirty="0" smtClean="0">
                          <a:latin typeface="+mn-lt"/>
                        </a:rPr>
                        <a:t xml:space="preserve">Sustainability Reporting</a:t>
                      </a:r>
                      <a:endParaRPr lang="ru-RU" sz="700" b="0" dirty="0" smtClean="0">
                        <a:latin typeface="+mn-lt"/>
                      </a:endParaRPr>
                    </a:p>
                  </a:txBody>
                  <a:tcPr marL="72000" marR="72000" marT="36000" marB="36000">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rowSpan="2">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dirty="0" smtClean="0">
                          <a:latin typeface="+mn-lt"/>
                        </a:rPr>
                        <a:t xml:space="preserve">Actively participated in CSRD Readiness in 2024-2025 (participation in analysis, interviews, etc.). 04/11/2025 ESG Perimeter Committee decided to suspend the preparation of sustainability reporting in accordance with the CSRD due to the postponement of the deadline for mandatory disclosure of information for ERG to 2028. for the reporting period 2027</a:t>
                      </a:r>
                      <a:r>
                        <a:rPr lang="ru-RU" sz="700" b="0" dirty="0" err="1" smtClean="0">
                          <a:latin typeface="+mn-lt"/>
                        </a:rPr>
                        <a:t/>
                      </a:r>
                      <a:r>
                        <a:rPr lang="ru-RU" sz="700" b="0" dirty="0" smtClean="0">
                          <a:latin typeface="+mn-lt"/>
                        </a:rPr>
                        <a:t/>
                      </a:r>
                      <a:endParaRPr lang="ru-RU" sz="700" b="0" dirty="0">
                        <a:latin typeface="+mn-lt"/>
                      </a:endParaRPr>
                    </a:p>
                  </a:txBody>
                  <a:tcPr marL="72000" marR="72000" marT="36000" marB="36000" anchor="ctr">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99194410"/>
                  </a:ext>
                </a:extLst>
              </a:tr>
              <a:tr h="481989">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latin typeface="+mn-lt"/>
                      </a:endParaRPr>
                    </a:p>
                  </a:txBody>
                  <a:tcPr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177800" marR="0" lvl="0" indent="-17780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AutoNum type="arabicPeriod" startAt="6"/>
                        <a:tabLst/>
                        <a:defRPr/>
                      </a:pPr>
                      <a:r>
                        <a:rPr lang="ru-RU" sz="700" b="0" dirty="0" smtClean="0">
                          <a:solidFill>
                            <a:schemeClr val="accent5">
                              <a:lumMod val="75000"/>
                              <a:lumOff val="25000"/>
                            </a:schemeClr>
                          </a:solidFill>
                          <a:latin typeface="+mn-lt"/>
                          <a:ea typeface="Yu Gothic UI Semibold" panose="020B0700000000000000" pitchFamily="34" charset="-128"/>
                        </a:rPr>
                        <a:t xml:space="preserve">Participation in the Assurance Group project</a:t>
                      </a:r>
                      <a:r>
                        <a:rPr lang="ru-RU" sz="700" b="0" dirty="0">
                          <a:solidFill>
                            <a:schemeClr val="accent5">
                              <a:lumMod val="75000"/>
                              <a:lumOff val="25000"/>
                            </a:schemeClr>
                          </a:solidFill>
                          <a:latin typeface="+mn-lt"/>
                          <a:ea typeface="Yu Gothic UI Semibold" panose="020B0700000000000000" pitchFamily="34" charset="-128"/>
                        </a:rPr>
                        <a:t/>
                      </a:r>
                      <a:r>
                        <a:rPr lang="ru-RU" sz="700" b="0" baseline="0" dirty="0">
                          <a:solidFill>
                            <a:schemeClr val="accent5">
                              <a:lumMod val="75000"/>
                              <a:lumOff val="25000"/>
                            </a:schemeClr>
                          </a:solidFill>
                          <a:latin typeface="+mn-lt"/>
                          <a:ea typeface="Yu Gothic UI Semibold" panose="020B0700000000000000" pitchFamily="34" charset="-128"/>
                        </a:rPr>
                        <a:t/>
                      </a:r>
                      <a:endParaRPr lang="ru-RU" sz="700" b="0" dirty="0">
                        <a:solidFill>
                          <a:schemeClr val="accent5">
                            <a:lumMod val="75000"/>
                            <a:lumOff val="25000"/>
                          </a:schemeClr>
                        </a:solidFill>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algn="ct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gradFill flip="none" rotWithShape="1">
                      <a:gsLst>
                        <a:gs pos="0">
                          <a:schemeClr val="accent4">
                            <a:lumMod val="20000"/>
                            <a:lumOff val="80000"/>
                          </a:schemeClr>
                        </a:gs>
                        <a:gs pos="100000">
                          <a:schemeClr val="bg1"/>
                        </a:gs>
                      </a:gsLst>
                      <a:lin ang="5400000" scaled="1"/>
                      <a:tileRect/>
                    </a:gradFill>
                  </a:tcPr>
                </a:tc>
                <a:tc>
                  <a:txBody>
                    <a:bodyPr/>
                    <a:lstStyle/>
                    <a:p>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endParaRPr lang="ru-RU" sz="700" b="0" dirty="0">
                        <a:latin typeface="+mn-lt"/>
                      </a:endParaRPr>
                    </a:p>
                  </a:txBody>
                  <a:tcPr marL="72000" marR="72000" marT="36000" marB="36000">
                    <a:lnT w="9525" cap="flat" cmpd="sng" algn="ctr">
                      <a:no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254074520"/>
                  </a:ext>
                </a:extLst>
              </a:tr>
            </a:tbl>
          </a:graphicData>
        </a:graphic>
      </p:graphicFrame>
    </p:spTree>
    <p:extLst>
      <p:ext uri="{BB962C8B-B14F-4D97-AF65-F5344CB8AC3E}">
        <p14:creationId xmlns:p14="http://schemas.microsoft.com/office/powerpoint/2010/main" val="21411114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6719"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pPr lvl="0" fontAlgn="ctr">
              <a:spcBef>
                <a:spcPts val="0"/>
              </a:spcBef>
              <a:spcAft>
                <a:spcPts val="300"/>
              </a:spcAft>
              <a:buClr>
                <a:schemeClr val="accent5">
                  <a:lumMod val="75000"/>
                  <a:lumOff val="25000"/>
                </a:schemeClr>
              </a:buClr>
              <a:defRPr/>
            </a:pPr>
            <a:r>
              <a:rPr lang="ru-RU" dirty="0"/>
              <a:t xml:space="preserve">Annual compliance program 2025: Perimeter Kazakhstan Implementation status - Control self-testing plan for 2025</a:t>
            </a:r>
            <a:br>
              <a:rPr lang="ru-RU" dirty="0"/>
            </a:br>
            <a:r>
              <a:rPr lang="ru-RU" dirty="0">
                <a:solidFill>
                  <a:schemeClr val="tx1"/>
                </a:solidFill>
              </a:rPr>
              <a:t/>
            </a:r>
            <a:r>
              <a:rPr lang="ru-RU" dirty="0" smtClean="0">
                <a:solidFill>
                  <a:schemeClr val="tx1"/>
                </a:solidFill>
              </a:rPr>
              <a:t/>
            </a:r>
            <a:r>
              <a:rPr lang="ru-RU" dirty="0">
                <a:solidFill>
                  <a:schemeClr val="tx1"/>
                </a:solidFill>
              </a:rPr>
              <a:t/>
            </a:r>
          </a:p>
        </p:txBody>
      </p:sp>
      <p:graphicFrame>
        <p:nvGraphicFramePr>
          <p:cNvPr id="36" name="Таблица 35"/>
          <p:cNvGraphicFramePr>
            <a:graphicFrameLocks noGrp="1"/>
          </p:cNvGraphicFramePr>
          <p:nvPr>
            <p:extLst>
              <p:ext uri="{D42A27DB-BD31-4B8C-83A1-F6EECF244321}">
                <p14:modId xmlns:p14="http://schemas.microsoft.com/office/powerpoint/2010/main" val="3893012811"/>
              </p:ext>
            </p:extLst>
          </p:nvPr>
        </p:nvGraphicFramePr>
        <p:xfrm>
          <a:off x="317499" y="883684"/>
          <a:ext cx="11592000" cy="5135880"/>
        </p:xfrm>
        <a:graphic>
          <a:graphicData uri="http://schemas.openxmlformats.org/drawingml/2006/table">
            <a:tbl>
              <a:tblPr firstRow="1" bandRow="1">
                <a:tableStyleId>{5C22544A-7EE6-4342-B048-85BDC9FD1C3A}</a:tableStyleId>
              </a:tblPr>
              <a:tblGrid>
                <a:gridCol w="828000">
                  <a:extLst>
                    <a:ext uri="{9D8B030D-6E8A-4147-A177-3AD203B41FA5}">
                      <a16:colId xmlns:a16="http://schemas.microsoft.com/office/drawing/2014/main" val="2229066145"/>
                    </a:ext>
                  </a:extLst>
                </a:gridCol>
                <a:gridCol w="2232000">
                  <a:extLst>
                    <a:ext uri="{9D8B030D-6E8A-4147-A177-3AD203B41FA5}">
                      <a16:colId xmlns:a16="http://schemas.microsoft.com/office/drawing/2014/main" val="3284813069"/>
                    </a:ext>
                  </a:extLst>
                </a:gridCol>
                <a:gridCol w="396000">
                  <a:extLst>
                    <a:ext uri="{9D8B030D-6E8A-4147-A177-3AD203B41FA5}">
                      <a16:colId xmlns:a16="http://schemas.microsoft.com/office/drawing/2014/main" val="1583531516"/>
                    </a:ext>
                  </a:extLst>
                </a:gridCol>
                <a:gridCol w="396000">
                  <a:extLst>
                    <a:ext uri="{9D8B030D-6E8A-4147-A177-3AD203B41FA5}">
                      <a16:colId xmlns:a16="http://schemas.microsoft.com/office/drawing/2014/main" val="1973847873"/>
                    </a:ext>
                  </a:extLst>
                </a:gridCol>
                <a:gridCol w="396000">
                  <a:extLst>
                    <a:ext uri="{9D8B030D-6E8A-4147-A177-3AD203B41FA5}">
                      <a16:colId xmlns:a16="http://schemas.microsoft.com/office/drawing/2014/main" val="2197370271"/>
                    </a:ext>
                  </a:extLst>
                </a:gridCol>
                <a:gridCol w="396000">
                  <a:extLst>
                    <a:ext uri="{9D8B030D-6E8A-4147-A177-3AD203B41FA5}">
                      <a16:colId xmlns:a16="http://schemas.microsoft.com/office/drawing/2014/main" val="3977385102"/>
                    </a:ext>
                  </a:extLst>
                </a:gridCol>
                <a:gridCol w="1188000">
                  <a:extLst>
                    <a:ext uri="{9D8B030D-6E8A-4147-A177-3AD203B41FA5}">
                      <a16:colId xmlns:a16="http://schemas.microsoft.com/office/drawing/2014/main" val="953094926"/>
                    </a:ext>
                  </a:extLst>
                </a:gridCol>
                <a:gridCol w="5760000">
                  <a:extLst>
                    <a:ext uri="{9D8B030D-6E8A-4147-A177-3AD203B41FA5}">
                      <a16:colId xmlns:a16="http://schemas.microsoft.com/office/drawing/2014/main" val="3610874450"/>
                    </a:ext>
                  </a:extLst>
                </a:gridCol>
              </a:tblGrid>
              <a:tr h="159915">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chemeClr val="accent5">
                              <a:lumMod val="75000"/>
                              <a:lumOff val="25000"/>
                            </a:schemeClr>
                          </a:solidFill>
                          <a:latin typeface="+mn-lt"/>
                          <a:ea typeface="+mn-ea"/>
                          <a:cs typeface="+mn-cs"/>
                        </a:rPr>
                        <a:t xml:space="preserve">Process</a:t>
                      </a:r>
                    </a:p>
                  </a:txBody>
                  <a:tcPr>
                    <a:lnB w="9525" cap="flat" cmpd="sng" algn="ctr">
                      <a:solidFill>
                        <a:srgbClr val="0070C0"/>
                      </a:solidFill>
                      <a:prstDash val="solid"/>
                      <a:round/>
                      <a:headEnd type="none" w="med" len="med"/>
                      <a:tailEnd type="none" w="med" len="med"/>
                    </a:lnB>
                    <a:noFill/>
                  </a:tcPr>
                </a:tc>
                <a:tc rowSpan="2">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kern="1200" dirty="0">
                          <a:solidFill>
                            <a:schemeClr val="accent5">
                              <a:lumMod val="75000"/>
                              <a:lumOff val="25000"/>
                            </a:schemeClr>
                          </a:solidFill>
                          <a:latin typeface="+mn-lt"/>
                          <a:ea typeface="+mn-ea"/>
                          <a:cs typeface="+mn-cs"/>
                        </a:rPr>
                        <a:t xml:space="preserve">Self-test subject</a:t>
                      </a:r>
                    </a:p>
                  </a:txBody>
                  <a:tcPr>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rPr>
                        <a:t>2025</a:t>
                      </a:r>
                    </a:p>
                  </a:txBody>
                  <a:tcPr>
                    <a:lnB w="9525" cap="flat" cmpd="sng" algn="ctr">
                      <a:solidFill>
                        <a:srgbClr val="0070C0"/>
                      </a:solidFill>
                      <a:prstDash val="solid"/>
                      <a:round/>
                      <a:headEnd type="none" w="med" len="med"/>
                      <a:tailEnd type="none" w="med" len="med"/>
                    </a:lnB>
                    <a:noFill/>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rPr>
                        <a:t xml:space="preserve">Other divisions - participants</a:t>
                      </a:r>
                      <a:r>
                        <a:rPr lang="ru-RU" sz="700" b="0" baseline="0" dirty="0">
                          <a:solidFill>
                            <a:schemeClr val="accent5">
                              <a:lumMod val="75000"/>
                              <a:lumOff val="25000"/>
                            </a:schemeClr>
                          </a:solidFill>
                        </a:rPr>
                        <a:t/>
                      </a:r>
                      <a:endParaRPr lang="ru-RU" sz="700" b="0" dirty="0">
                        <a:solidFill>
                          <a:schemeClr val="accent5">
                            <a:lumMod val="75000"/>
                            <a:lumOff val="25000"/>
                          </a:schemeClr>
                        </a:solidFill>
                      </a:endParaRPr>
                    </a:p>
                  </a:txBody>
                  <a:tcPr>
                    <a:lnB w="9525" cap="flat" cmpd="sng" algn="ctr">
                      <a:solidFill>
                        <a:srgbClr val="0070C0"/>
                      </a:solidFill>
                      <a:prstDash val="solid"/>
                      <a:round/>
                      <a:headEnd type="none" w="med" len="med"/>
                      <a:tailEnd type="none" w="med" len="med"/>
                    </a:lnB>
                    <a:noFill/>
                  </a:tcPr>
                </a:tc>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 xml:space="preserve">Execution Status</a:t>
                      </a:r>
                    </a:p>
                  </a:txBody>
                  <a:tcPr>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59915">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rPr>
                        <a:t xml:space="preserve">1 sq.</a:t>
                      </a:r>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rPr>
                        <a:t xml:space="preserve">2 sq.</a:t>
                      </a:r>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rPr>
                        <a:t xml:space="preserve">3 sq.</a:t>
                      </a:r>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rPr>
                        <a:t xml:space="preserve">4 sq.</a:t>
                      </a:r>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335280">
                <a:tc gridSpan="7">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rgbClr val="7030A0"/>
                          </a:solidFill>
                          <a:latin typeface="+mn-lt"/>
                          <a:ea typeface="+mn-ea"/>
                          <a:cs typeface="+mn-cs"/>
                        </a:rPr>
                        <a:t xml:space="preserve">REGULAR SELF-TESTS</a:t>
                      </a:r>
                    </a:p>
                  </a:txBody>
                  <a:tcPr anchor="ctr">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tc hMerge="1">
                  <a:txBody>
                    <a:bodyPr/>
                    <a:lstStyle/>
                    <a:p>
                      <a:endParaRPr lang="ru-RU" sz="800" dirty="0"/>
                    </a:p>
                  </a:txBody>
                  <a:tcPr>
                    <a:noFill/>
                  </a:tcPr>
                </a:tc>
                <a:tc hMerge="1">
                  <a:txBody>
                    <a:bodyPr/>
                    <a:lstStyle/>
                    <a:p>
                      <a:endParaRPr lang="ru-RU" sz="800" dirty="0"/>
                    </a:p>
                  </a:txBody>
                  <a:tcPr>
                    <a:gradFill>
                      <a:gsLst>
                        <a:gs pos="0">
                          <a:schemeClr val="accent4">
                            <a:lumMod val="20000"/>
                            <a:lumOff val="80000"/>
                          </a:schemeClr>
                        </a:gs>
                        <a:gs pos="100000">
                          <a:schemeClr val="bg1"/>
                        </a:gs>
                      </a:gsLst>
                      <a:lin ang="5400000" scaled="1"/>
                    </a:gradFill>
                  </a:tcPr>
                </a:tc>
                <a:tc hMerge="1">
                  <a:txBody>
                    <a:bodyPr/>
                    <a:lstStyle/>
                    <a:p>
                      <a:endParaRPr lang="ru-RU" sz="800" dirty="0"/>
                    </a:p>
                  </a:txBody>
                  <a:tcPr>
                    <a:gradFill>
                      <a:gsLst>
                        <a:gs pos="0">
                          <a:schemeClr val="accent4">
                            <a:lumMod val="20000"/>
                            <a:lumOff val="80000"/>
                          </a:schemeClr>
                        </a:gs>
                        <a:gs pos="100000">
                          <a:schemeClr val="bg1"/>
                        </a:gs>
                      </a:gsLst>
                      <a:lin ang="5400000" scaled="1"/>
                    </a:gradFill>
                  </a:tcPr>
                </a:tc>
                <a:tc hMerge="1">
                  <a:txBody>
                    <a:bodyPr/>
                    <a:lstStyle/>
                    <a:p>
                      <a:endParaRPr lang="ru-RU" sz="800" dirty="0"/>
                    </a:p>
                  </a:txBody>
                  <a:tcPr>
                    <a:gradFill>
                      <a:gsLst>
                        <a:gs pos="0">
                          <a:schemeClr val="accent4">
                            <a:lumMod val="20000"/>
                            <a:lumOff val="80000"/>
                          </a:schemeClr>
                        </a:gs>
                        <a:gs pos="100000">
                          <a:schemeClr val="bg1"/>
                        </a:gs>
                      </a:gsLst>
                      <a:lin ang="5400000" scaled="1"/>
                    </a:gradFill>
                  </a:tcPr>
                </a:tc>
                <a:tc hMerge="1">
                  <a:txBody>
                    <a:bodyPr/>
                    <a:lstStyle/>
                    <a:p>
                      <a:endParaRPr lang="ru-RU" sz="800" dirty="0"/>
                    </a:p>
                  </a:txBody>
                  <a:tcPr>
                    <a:gradFill>
                      <a:gsLst>
                        <a:gs pos="0">
                          <a:schemeClr val="accent4">
                            <a:lumMod val="20000"/>
                            <a:lumOff val="80000"/>
                          </a:schemeClr>
                        </a:gs>
                        <a:gs pos="100000">
                          <a:schemeClr val="bg1"/>
                        </a:gs>
                      </a:gsLst>
                      <a:lin ang="5400000" scaled="1"/>
                    </a:gradFill>
                  </a:tcPr>
                </a:tc>
                <a:tc hMerge="1">
                  <a:txBody>
                    <a:bodyPr/>
                    <a:lstStyle/>
                    <a:p>
                      <a:endParaRPr lang="ru-RU" sz="800" dirty="0"/>
                    </a:p>
                  </a:txBody>
                  <a:tcP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kern="1200" dirty="0">
                        <a:solidFill>
                          <a:srgbClr val="7030A0"/>
                        </a:solidFill>
                        <a:latin typeface="+mn-lt"/>
                        <a:ea typeface="+mn-ea"/>
                        <a:cs typeface="+mn-cs"/>
                      </a:endParaRPr>
                    </a:p>
                  </a:txBody>
                  <a:tcPr anchor="ctr">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348344340"/>
                  </a:ext>
                </a:extLst>
              </a:tr>
              <a:tr h="335280">
                <a:tc rowSpan="3">
                  <a:txBody>
                    <a:bodyPr/>
                    <a:lstStyle/>
                    <a:p>
                      <a:r>
                        <a:rPr lang="ru-RU" sz="700" dirty="0"/>
                        <a:t xml:space="preserve">PDA</a:t>
                      </a:r>
                    </a:p>
                  </a:txBody>
                  <a:tcP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gradFill>
                      <a:gsLst>
                        <a:gs pos="0">
                          <a:srgbClr val="CCCCFF">
                            <a:alpha val="50000"/>
                          </a:srgbClr>
                        </a:gs>
                        <a:gs pos="100000">
                          <a:schemeClr val="bg1"/>
                        </a:gs>
                      </a:gsLst>
                      <a:lin ang="5400000" scaled="1"/>
                    </a:gradFill>
                  </a:tcPr>
                </a:tc>
                <a:tc>
                  <a:txBody>
                    <a:bodyPr/>
                    <a:lstStyle/>
                    <a:p>
                      <a:r>
                        <a:rPr lang="ru-RU" sz="700" dirty="0"/>
                        <a:t xml:space="preserve">Gaps in initiating PDA</a:t>
                      </a:r>
                    </a:p>
                  </a:txBody>
                  <a:tcPr>
                    <a:lnT w="9525" cap="flat" cmpd="sng" algn="ctr">
                      <a:solidFill>
                        <a:schemeClr val="accent5">
                          <a:lumMod val="75000"/>
                          <a:lumOff val="25000"/>
                        </a:schemeClr>
                      </a:solidFill>
                      <a:prstDash val="solid"/>
                      <a:round/>
                      <a:headEnd type="none" w="med" len="med"/>
                      <a:tailEnd type="none" w="med" len="med"/>
                    </a:lnT>
                    <a:noFill/>
                  </a:tcPr>
                </a:tc>
                <a:tc>
                  <a:txBody>
                    <a:bodyPr/>
                    <a:lstStyle/>
                    <a:p>
                      <a:pPr algn="ctr"/>
                      <a:r>
                        <a:rPr lang="ru-RU" sz="700" dirty="0"/>
                        <a:t>Х</a:t>
                      </a:r>
                    </a:p>
                  </a:txBody>
                  <a:tcPr>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endParaRPr lang="ru-RU" sz="700" dirty="0"/>
                    </a:p>
                  </a:txBody>
                  <a:tcPr>
                    <a:lnT w="9525" cap="flat" cmpd="sng" algn="ctr">
                      <a:solidFill>
                        <a:schemeClr val="accent5">
                          <a:lumMod val="75000"/>
                          <a:lumOff val="25000"/>
                        </a:schemeClr>
                      </a:solidFill>
                      <a:prstDash val="solid"/>
                      <a:round/>
                      <a:headEnd type="none" w="med" len="med"/>
                      <a:tailEnd type="none" w="med" len="med"/>
                    </a:lnT>
                    <a:noFill/>
                  </a:tcPr>
                </a:tc>
                <a:tc>
                  <a:txBody>
                    <a:bodyPr/>
                    <a:lstStyle/>
                    <a:p>
                      <a:r>
                        <a:rPr lang="ru-RU" sz="700" dirty="0" smtClean="0"/>
                        <a:t xml:space="preserve">Self-testing of controls regarding the initiation of CCP is carried out quarterly. The results are included in compliance reporting (dashboards) for the Perimeter CEO, Divisional CEOs and are presented at meetings of the Compliance Committee. In general, the percentage of omission for the year does not exceed 1% (Q1 – 99.63% coverage; Q2 – 99.86% coverage; Q3 – 99.95%; Q4 – 99.82%). Recommendations were sent regarding the passes; the CCP did not identify any compliance risks after the fact.</a:t>
                      </a:r>
                      <a:r>
                        <a:rPr lang="ru-RU" sz="700" dirty="0" err="1" smtClean="0"/>
                        <a:t/>
                      </a:r>
                      <a:r>
                        <a:rPr lang="ru-RU" sz="700" dirty="0" smtClean="0"/>
                        <a:t/>
                      </a:r>
                      <a:endParaRPr lang="en-US" sz="700" dirty="0" smtClean="0"/>
                    </a:p>
                    <a:p>
                      <a:r>
                        <a:rPr lang="ru-RU" sz="700" dirty="0" smtClean="0"/>
                        <a:t xml:space="preserve">Additionally, self-testing of framework agreements was carried out to ensure compliance with compliance requirements for them, including verification of additional requirements. agreements subject to compliance verification. Based on the results of self-testing of framework agreements and analysis of specifications and additional agreements selected by sampling, no violations / inconsistencies with the requirements of the CCP were identified, compliance requirements were met.</a:t>
                      </a:r>
                      <a:r>
                        <a:rPr lang="ru-RU" sz="700" dirty="0" smtClean="0"/>
                        <a:t/>
                      </a:r>
                      <a:endParaRPr lang="ru-RU" sz="700" dirty="0"/>
                    </a:p>
                  </a:txBody>
                  <a:tcPr>
                    <a:lnT w="9525" cap="flat" cmpd="sng" algn="ctr">
                      <a:solidFill>
                        <a:schemeClr val="accent5">
                          <a:lumMod val="75000"/>
                          <a:lumOff val="25000"/>
                        </a:schemeClr>
                      </a:solidFill>
                      <a:prstDash val="solid"/>
                      <a:round/>
                      <a:headEnd type="none" w="med" len="med"/>
                      <a:tailEnd type="none" w="med" len="med"/>
                    </a:lnT>
                    <a:noFill/>
                  </a:tcPr>
                </a:tc>
                <a:extLst>
                  <a:ext uri="{0D108BD9-81ED-4DB2-BD59-A6C34878D82A}">
                    <a16:rowId xmlns:a16="http://schemas.microsoft.com/office/drawing/2014/main" val="1827605593"/>
                  </a:ext>
                </a:extLst>
              </a:tr>
              <a:tr h="335280">
                <a:tc vMerge="1">
                  <a:txBody>
                    <a:bodyPr/>
                    <a:lstStyle/>
                    <a:p>
                      <a:endParaRPr lang="ru-RU" sz="80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r>
                        <a:rPr lang="ru-RU" sz="700" dirty="0"/>
                        <a:t xml:space="preserve">Failure to comply with the criteria of the Compliance List (CL)</a:t>
                      </a:r>
                      <a:r>
                        <a:rPr lang="ru-RU" sz="700" dirty="0" smtClean="0"/>
                        <a:t/>
                      </a:r>
                      <a:endParaRPr lang="ru-RU" sz="700" dirty="0"/>
                    </a:p>
                  </a:txBody>
                  <a:tcPr>
                    <a:noFill/>
                  </a:tcPr>
                </a:tc>
                <a:tc>
                  <a:txBody>
                    <a:bodyPr/>
                    <a:lstStyle/>
                    <a:p>
                      <a:pPr algn="ctr"/>
                      <a:r>
                        <a:rPr lang="ru-RU" sz="700" dirty="0"/>
                        <a:t>Х</a:t>
                      </a:r>
                    </a:p>
                  </a:txBody>
                  <a:tcPr>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gradFill>
                      <a:gsLst>
                        <a:gs pos="0">
                          <a:schemeClr val="accent4">
                            <a:lumMod val="20000"/>
                            <a:lumOff val="80000"/>
                          </a:schemeClr>
                        </a:gs>
                        <a:gs pos="100000">
                          <a:schemeClr val="bg1"/>
                        </a:gs>
                      </a:gsLst>
                      <a:lin ang="5400000" scaled="1"/>
                    </a:gradFill>
                  </a:tcPr>
                </a:tc>
                <a:tc>
                  <a:txBody>
                    <a:bodyPr/>
                    <a:lstStyle/>
                    <a:p>
                      <a:endParaRPr lang="ru-RU" sz="700" dirty="0"/>
                    </a:p>
                  </a:txBody>
                  <a:tcPr>
                    <a:noFill/>
                  </a:tcPr>
                </a:tc>
                <a:tc>
                  <a:txBody>
                    <a:bodyPr/>
                    <a:lstStyle/>
                    <a:p>
                      <a:r>
                        <a:rPr lang="ru-RU" sz="700" dirty="0" smtClean="0"/>
                        <a:t xml:space="preserve">Self-testing of compliance with CL criteria is carried out quarterly. The results are included in compliance reporting (dashboards) for the Perimeter CEO, Divisional CEOs and are presented at meetings of the Compliance Committee. In general, the % of deviations for the year decreased and amounted to: Q1 - 9%; Q2 – 7.22%; Q3 – 1%; Q4 – 0.66%); Recommendations were sent based on identified deviations.</a:t>
                      </a:r>
                      <a:r>
                        <a:rPr lang="ru-RU" sz="700" dirty="0" err="1" smtClean="0"/>
                        <a:t/>
                      </a:r>
                      <a:r>
                        <a:rPr lang="ru-RU" sz="700" dirty="0" smtClean="0"/>
                        <a:t/>
                      </a:r>
                    </a:p>
                  </a:txBody>
                  <a:tcPr>
                    <a:noFill/>
                  </a:tcPr>
                </a:tc>
                <a:extLst>
                  <a:ext uri="{0D108BD9-81ED-4DB2-BD59-A6C34878D82A}">
                    <a16:rowId xmlns:a16="http://schemas.microsoft.com/office/drawing/2014/main" val="1055928524"/>
                  </a:ext>
                </a:extLst>
              </a:tr>
              <a:tr h="335280">
                <a:tc vMerge="1">
                  <a:txBody>
                    <a:bodyPr/>
                    <a:lstStyle/>
                    <a:p>
                      <a:endParaRPr lang="ru-RU" sz="80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r>
                        <a:rPr lang="ru-RU" sz="700" dirty="0"/>
                        <a:t xml:space="preserve">Guarantee scheme Compliance List (CL)</a:t>
                      </a:r>
                      <a:r>
                        <a:rPr lang="ru-RU" sz="700" dirty="0" smtClean="0"/>
                        <a:t/>
                      </a:r>
                      <a:endParaRPr lang="ru-RU" sz="700" dirty="0"/>
                    </a:p>
                  </a:txBody>
                  <a:tcPr>
                    <a:noFill/>
                  </a:tcPr>
                </a:tc>
                <a:tc>
                  <a:txBody>
                    <a:bodyPr/>
                    <a:lstStyle/>
                    <a:p>
                      <a:pPr algn="ctr"/>
                      <a:endParaRPr lang="ru-RU" sz="700" dirty="0"/>
                    </a:p>
                  </a:txBody>
                  <a:tcPr>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gradFill>
                      <a:gsLst>
                        <a:gs pos="0">
                          <a:schemeClr val="accent4">
                            <a:lumMod val="20000"/>
                            <a:lumOff val="80000"/>
                          </a:schemeClr>
                        </a:gs>
                        <a:gs pos="100000">
                          <a:schemeClr val="bg1"/>
                        </a:gs>
                      </a:gsLst>
                      <a:lin ang="5400000" scaled="1"/>
                    </a:gradFill>
                  </a:tcPr>
                </a:tc>
                <a:tc>
                  <a:txBody>
                    <a:bodyPr/>
                    <a:lstStyle/>
                    <a:p>
                      <a:endParaRPr lang="ru-RU" sz="700" dirty="0"/>
                    </a:p>
                  </a:txBody>
                  <a:tcP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t xml:space="preserve">Self-testing under the CL guarantee scheme was carried out based on the results of 2025. No violation of CL guarantees was found. Small deviations were identified (in 5 contract templates (12%), compliance clauses require updating - in January 2026, contract templates were brought into compliance with the CPC Instructions; business does not always inform counterparties from the CL about changes in the UBO, but Compliance independently closes this control during the quarterly self-testing of the CL). Planned improvements to Compliance 2.2 IT controls are ongoing (where resources are available).</a:t>
                      </a:r>
                      <a:r>
                        <a:rPr lang="ru-RU" sz="700" dirty="0" smtClean="0"/>
                        <a:t/>
                      </a:r>
                      <a:r>
                        <a:rPr lang="ru-RU" sz="700" dirty="0" smtClean="0"/>
                        <a:t/>
                      </a:r>
                      <a:endParaRPr lang="ru-RU" sz="700" dirty="0"/>
                    </a:p>
                  </a:txBody>
                  <a:tcPr>
                    <a:noFill/>
                  </a:tcPr>
                </a:tc>
                <a:extLst>
                  <a:ext uri="{0D108BD9-81ED-4DB2-BD59-A6C34878D82A}">
                    <a16:rowId xmlns:a16="http://schemas.microsoft.com/office/drawing/2014/main" val="3845772107"/>
                  </a:ext>
                </a:extLst>
              </a:tr>
              <a:tr h="335280">
                <a:tc>
                  <a:txBody>
                    <a:bodyPr/>
                    <a:lstStyle/>
                    <a:p>
                      <a:r>
                        <a:rPr lang="ru-RU" sz="700" dirty="0"/>
                        <a:t xml:space="preserve">BiS / CSR</a:t>
                      </a:r>
                      <a:r>
                        <a:rPr lang="ru-RU" sz="700" baseline="0" dirty="0"/>
                        <a:t/>
                      </a:r>
                      <a:endParaRPr lang="ru-RU" sz="700" dirty="0"/>
                    </a:p>
                  </a:txBody>
                  <a:tcPr>
                    <a:lnT w="9525" cap="flat" cmpd="sng" algn="ctr">
                      <a:noFill/>
                      <a:prstDash val="solid"/>
                      <a:round/>
                      <a:headEnd type="none" w="med" len="med"/>
                      <a:tailEnd type="none" w="med" len="med"/>
                    </a:lnT>
                    <a:lnB w="9525" cap="flat" cmpd="sng" algn="ctr">
                      <a:noFill/>
                      <a:prstDash val="solid"/>
                      <a:round/>
                      <a:headEnd type="none" w="med" len="med"/>
                      <a:tailEnd type="none" w="med" len="med"/>
                    </a:lnB>
                    <a:gradFill>
                      <a:gsLst>
                        <a:gs pos="0">
                          <a:srgbClr val="CCCCFF">
                            <a:alpha val="50000"/>
                          </a:srgbClr>
                        </a:gs>
                        <a:gs pos="100000">
                          <a:schemeClr val="bg1"/>
                        </a:gs>
                      </a:gsLst>
                      <a:lin ang="5400000" scaled="1"/>
                    </a:gradFill>
                  </a:tcPr>
                </a:tc>
                <a:tc>
                  <a:txBody>
                    <a:bodyPr/>
                    <a:lstStyle/>
                    <a:p>
                      <a:r>
                        <a:rPr lang="ru-RU" sz="700" dirty="0"/>
                        <a:t xml:space="preserve">Availability of a proper report on the intended use of funds, verification of primary financial documents, physical (on-site) audit of significant projects</a:t>
                      </a:r>
                      <a:r>
                        <a:rPr lang="ru-RU" sz="700" baseline="0" dirty="0"/>
                        <a:t/>
                      </a:r>
                      <a:r>
                        <a:rPr lang="ru-RU" sz="700" dirty="0"/>
                        <a:t/>
                      </a:r>
                      <a:r>
                        <a:rPr lang="ru-RU" sz="700" baseline="0" dirty="0"/>
                        <a:t/>
                      </a:r>
                      <a:r>
                        <a:rPr lang="ru-RU" sz="700" dirty="0"/>
                        <a:t/>
                      </a:r>
                    </a:p>
                  </a:txBody>
                  <a:tcPr>
                    <a:noFill/>
                  </a:tcPr>
                </a:tc>
                <a:tc>
                  <a:txBody>
                    <a:bodyPr/>
                    <a:lstStyle/>
                    <a:p>
                      <a:pPr algn="ctr"/>
                      <a:endParaRPr lang="ru-RU" sz="700" dirty="0"/>
                    </a:p>
                  </a:txBody>
                  <a:tcPr>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a:gradFill>
                      <a:gsLst>
                        <a:gs pos="0">
                          <a:schemeClr val="accent4">
                            <a:lumMod val="20000"/>
                            <a:lumOff val="80000"/>
                          </a:schemeClr>
                        </a:gs>
                        <a:gs pos="100000">
                          <a:schemeClr val="bg1"/>
                        </a:gs>
                      </a:gsLst>
                      <a:lin ang="5400000" scaled="1"/>
                    </a:gradFill>
                  </a:tcPr>
                </a:tc>
                <a:tc>
                  <a:txBody>
                    <a:bodyPr/>
                    <a:lstStyle/>
                    <a:p>
                      <a:r>
                        <a:rPr lang="ru-RU" sz="700" dirty="0"/>
                        <a:t xml:space="preserve">BiS Commission, Komek, enterprises</a:t>
                      </a:r>
                    </a:p>
                  </a:txBody>
                  <a:tcPr>
                    <a:noFill/>
                  </a:tcPr>
                </a:tc>
                <a:tc>
                  <a:txBody>
                    <a:bodyPr/>
                    <a:lstStyle/>
                    <a:p>
                      <a:r>
                        <a:rPr lang="ru-RU" sz="700" dirty="0" smtClean="0"/>
                        <a:t xml:space="preserve">Self-testing of compliance controls of the CSR/H&amp;S process was carried out in Q3. according to the terms of the Annual Program. The sample covered 11 projects in 2024, incl. A physical (on-site) audit was conducted for 1 project. In relation to 3 projects, comments (of varying significance) were identified, and the BIS Commission was provided with recommendations on how to eliminate them.</a:t>
                      </a:r>
                      <a:r>
                        <a:rPr lang="ru-RU" sz="700" dirty="0" err="1" smtClean="0"/>
                        <a:t/>
                      </a:r>
                      <a:r>
                        <a:rPr lang="ru-RU" sz="700" dirty="0" smtClean="0"/>
                        <a:t/>
                      </a:r>
                      <a:r>
                        <a:rPr lang="ru-RU" sz="700" dirty="0" err="1" smtClean="0"/>
                        <a:t/>
                      </a:r>
                      <a:r>
                        <a:rPr lang="ru-RU" sz="700" dirty="0" smtClean="0"/>
                        <a:t/>
                      </a:r>
                      <a:r>
                        <a:rPr lang="ru-RU" sz="700" dirty="0" err="1" smtClean="0"/>
                        <a:t/>
                      </a:r>
                      <a:r>
                        <a:rPr lang="ru-RU" sz="700" dirty="0" smtClean="0"/>
                        <a:t/>
                      </a:r>
                      <a:endParaRPr lang="ru-RU" sz="700" dirty="0"/>
                    </a:p>
                  </a:txBody>
                  <a:tcPr>
                    <a:noFill/>
                  </a:tcPr>
                </a:tc>
                <a:extLst>
                  <a:ext uri="{0D108BD9-81ED-4DB2-BD59-A6C34878D82A}">
                    <a16:rowId xmlns:a16="http://schemas.microsoft.com/office/drawing/2014/main" val="505139523"/>
                  </a:ext>
                </a:extLst>
              </a:tr>
              <a:tr h="335280">
                <a:tc>
                  <a:txBody>
                    <a:bodyPr/>
                    <a:lstStyle/>
                    <a:p>
                      <a:r>
                        <a:rPr lang="ru-RU" sz="700" dirty="0"/>
                        <a:t xml:space="preserve">Conflict of interest (CI)</a:t>
                      </a:r>
                      <a:r>
                        <a:rPr lang="ru-RU" sz="700" dirty="0" smtClean="0"/>
                        <a:t/>
                      </a:r>
                      <a:endParaRPr lang="ru-RU" sz="700" dirty="0"/>
                    </a:p>
                  </a:txBody>
                  <a:tcP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gradFill>
                      <a:gsLst>
                        <a:gs pos="0">
                          <a:srgbClr val="CCCCFF">
                            <a:alpha val="50000"/>
                          </a:srgbClr>
                        </a:gs>
                        <a:gs pos="100000">
                          <a:schemeClr val="bg1"/>
                        </a:gs>
                      </a:gsLst>
                      <a:lin ang="5400000" scaled="1"/>
                    </a:gradFill>
                  </a:tcPr>
                </a:tc>
                <a:tc>
                  <a:txBody>
                    <a:bodyPr/>
                    <a:lstStyle/>
                    <a:p>
                      <a:r>
                        <a:rPr lang="ru-RU" sz="700" dirty="0"/>
                        <a:t xml:space="preserve">Gaps in submitting declarations</a:t>
                      </a:r>
                    </a:p>
                  </a:txBody>
                  <a:tcP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a:endParaRPr lang="ru-RU" sz="700" dirty="0"/>
                    </a:p>
                  </a:txBody>
                  <a:tcPr>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endParaRPr lang="ru-RU" sz="700" dirty="0"/>
                    </a:p>
                  </a:txBody>
                  <a:tcPr>
                    <a:lnB w="9525" cap="flat" cmpd="sng" algn="ctr">
                      <a:solidFill>
                        <a:schemeClr val="accent5">
                          <a:lumMod val="75000"/>
                          <a:lumOff val="25000"/>
                        </a:schemeClr>
                      </a:solidFill>
                      <a:prstDash val="solid"/>
                      <a:round/>
                      <a:headEnd type="none" w="med" len="med"/>
                      <a:tailEnd type="none" w="med" len="med"/>
                    </a:lnB>
                    <a:noFill/>
                  </a:tcPr>
                </a:tc>
                <a:tc>
                  <a:txBody>
                    <a:bodyPr/>
                    <a:lstStyle/>
                    <a:p>
                      <a:r>
                        <a:rPr lang="ru-RU" sz="700" dirty="0" smtClean="0"/>
                        <a:t xml:space="preserve">Self-testing of the CI process was completed, including reconciliation between the number of declarations provided and the number of employees who were required to submit declarations (complete sample):</a:t>
                      </a:r>
                    </a:p>
                    <a:p>
                      <a:pPr marL="87313" indent="-87313">
                        <a:buFont typeface="Arial" panose="020B0604020202020204" pitchFamily="34" charset="0"/>
                        <a:buChar char="•"/>
                      </a:pPr>
                      <a:r>
                        <a:rPr lang="ru-RU" sz="700" dirty="0" smtClean="0"/>
                        <a:t xml:space="preserve">2 sq. 2025 – Based on the results of self-testing for the 1st half of 2025, it was revealed that declarations were not provided for 615 employees (4.16%) out of 14,752 employees (100%) subject to declaration. Until the end of 2025 100% of CI declarations have been provided and analysis has been completed on them. Monitoring of the implementation of recommendations sent to responsible departments within the framework of identified inconsistencies continues.</a:t>
                      </a:r>
                    </a:p>
                    <a:p>
                      <a:pPr marL="87313" indent="-87313">
                        <a:buFont typeface="Arial" panose="020B0604020202020204" pitchFamily="34" charset="0"/>
                        <a:buChar char="•"/>
                      </a:pPr>
                      <a:r>
                        <a:rPr lang="ru-RU" sz="700" dirty="0" smtClean="0"/>
                        <a:t xml:space="preserve">4 sq. 2025 - Based on the results of self-testing, it was revealed that declarations were not provided for 336 employees (2%) out of 14,695 employees (100%) subject to declaration. Identified inconsistencies are eliminated. Thus, in general, thanks to the measures being implemented, there is a positive trend in reducing the number of unsubmitted declarations: 2023 – 57%, 2024 – 8%, 2025 – 2%.</a:t>
                      </a:r>
                    </a:p>
                    <a:p>
                      <a:r>
                        <a:rPr lang="ru-RU" sz="700" dirty="0" smtClean="0"/>
                        <a:t xml:space="preserve">Additionally, in October 2025, a selective reconciliation of data from the ERG Access system (All-terrain vehicle) was carried out with the list of employees of Perimeter companies for the period January-October 2025. Based on the results of the analysis, it was revealed that out of 544 accesses provided for the period from January to October 2025. 42 (7.7%) access to the territory of Perimeter companies was given to Group employees who were also representatives of contractors (included in active requests from contractors in the ERG Access system). Risks of violations of legal requirements and Company policies have been identified. Recommendations were developed and sent to eliminate identified inconsistencies and risks.</a:t>
                      </a:r>
                      <a:r>
                        <a:rPr lang="ru-RU" sz="700" dirty="0" err="1" smtClean="0"/>
                        <a:t/>
                      </a:r>
                      <a:r>
                        <a:rPr lang="ru-RU" sz="700" dirty="0" smtClean="0"/>
                        <a:t/>
                      </a:r>
                      <a:r>
                        <a:rPr lang="ru-RU" sz="700" dirty="0" err="1" smtClean="0"/>
                        <a:t/>
                      </a:r>
                      <a:r>
                        <a:rPr lang="ru-RU" sz="700" dirty="0" smtClean="0"/>
                        <a:t/>
                      </a:r>
                      <a:endParaRPr lang="ru-RU" sz="700" dirty="0"/>
                    </a:p>
                  </a:txBody>
                  <a:tcPr>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06518819"/>
                  </a:ext>
                </a:extLst>
              </a:tr>
            </a:tbl>
          </a:graphicData>
        </a:graphic>
      </p:graphicFrame>
    </p:spTree>
    <p:extLst>
      <p:ext uri="{BB962C8B-B14F-4D97-AF65-F5344CB8AC3E}">
        <p14:creationId xmlns:p14="http://schemas.microsoft.com/office/powerpoint/2010/main" val="6723071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9944"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pPr lvl="0" fontAlgn="ctr">
              <a:spcBef>
                <a:spcPts val="0"/>
              </a:spcBef>
              <a:spcAft>
                <a:spcPts val="300"/>
              </a:spcAft>
              <a:buClr>
                <a:schemeClr val="accent5">
                  <a:lumMod val="75000"/>
                  <a:lumOff val="25000"/>
                </a:schemeClr>
              </a:buClr>
              <a:defRPr/>
            </a:pPr>
            <a:r>
              <a:rPr lang="ru-RU" dirty="0"/>
              <a:t xml:space="preserve">Annual compliance program 2025: Perimeter Kazakhstan Implementation status - Control self-testing plan for 2025</a:t>
            </a:r>
            <a:br>
              <a:rPr lang="ru-RU" dirty="0"/>
            </a:br>
            <a:r>
              <a:rPr lang="ru-RU" dirty="0">
                <a:solidFill>
                  <a:schemeClr val="tx1"/>
                </a:solidFill>
              </a:rPr>
              <a:t/>
            </a:r>
            <a:r>
              <a:rPr lang="ru-RU" dirty="0" smtClean="0">
                <a:solidFill>
                  <a:schemeClr val="tx1"/>
                </a:solidFill>
              </a:rPr>
              <a:t/>
            </a:r>
            <a:r>
              <a:rPr lang="ru-RU" dirty="0">
                <a:solidFill>
                  <a:schemeClr val="tx1"/>
                </a:solidFill>
              </a:rPr>
              <a:t/>
            </a:r>
          </a:p>
        </p:txBody>
      </p:sp>
      <p:graphicFrame>
        <p:nvGraphicFramePr>
          <p:cNvPr id="36" name="Таблица 35"/>
          <p:cNvGraphicFramePr>
            <a:graphicFrameLocks noGrp="1"/>
          </p:cNvGraphicFramePr>
          <p:nvPr>
            <p:extLst>
              <p:ext uri="{D42A27DB-BD31-4B8C-83A1-F6EECF244321}">
                <p14:modId xmlns:p14="http://schemas.microsoft.com/office/powerpoint/2010/main" val="2159850849"/>
              </p:ext>
            </p:extLst>
          </p:nvPr>
        </p:nvGraphicFramePr>
        <p:xfrm>
          <a:off x="317499" y="883684"/>
          <a:ext cx="11628000" cy="5570998"/>
        </p:xfrm>
        <a:graphic>
          <a:graphicData uri="http://schemas.openxmlformats.org/drawingml/2006/table">
            <a:tbl>
              <a:tblPr firstRow="1" bandRow="1">
                <a:tableStyleId>{5C22544A-7EE6-4342-B048-85BDC9FD1C3A}</a:tableStyleId>
              </a:tblPr>
              <a:tblGrid>
                <a:gridCol w="828000">
                  <a:extLst>
                    <a:ext uri="{9D8B030D-6E8A-4147-A177-3AD203B41FA5}">
                      <a16:colId xmlns:a16="http://schemas.microsoft.com/office/drawing/2014/main" val="2229066145"/>
                    </a:ext>
                  </a:extLst>
                </a:gridCol>
                <a:gridCol w="2088000">
                  <a:extLst>
                    <a:ext uri="{9D8B030D-6E8A-4147-A177-3AD203B41FA5}">
                      <a16:colId xmlns:a16="http://schemas.microsoft.com/office/drawing/2014/main" val="3284813069"/>
                    </a:ext>
                  </a:extLst>
                </a:gridCol>
                <a:gridCol w="288000">
                  <a:extLst>
                    <a:ext uri="{9D8B030D-6E8A-4147-A177-3AD203B41FA5}">
                      <a16:colId xmlns:a16="http://schemas.microsoft.com/office/drawing/2014/main" val="1583531516"/>
                    </a:ext>
                  </a:extLst>
                </a:gridCol>
                <a:gridCol w="288000">
                  <a:extLst>
                    <a:ext uri="{9D8B030D-6E8A-4147-A177-3AD203B41FA5}">
                      <a16:colId xmlns:a16="http://schemas.microsoft.com/office/drawing/2014/main" val="1973847873"/>
                    </a:ext>
                  </a:extLst>
                </a:gridCol>
                <a:gridCol w="288000">
                  <a:extLst>
                    <a:ext uri="{9D8B030D-6E8A-4147-A177-3AD203B41FA5}">
                      <a16:colId xmlns:a16="http://schemas.microsoft.com/office/drawing/2014/main" val="2197370271"/>
                    </a:ext>
                  </a:extLst>
                </a:gridCol>
                <a:gridCol w="288000">
                  <a:extLst>
                    <a:ext uri="{9D8B030D-6E8A-4147-A177-3AD203B41FA5}">
                      <a16:colId xmlns:a16="http://schemas.microsoft.com/office/drawing/2014/main" val="3977385102"/>
                    </a:ext>
                  </a:extLst>
                </a:gridCol>
                <a:gridCol w="1080000">
                  <a:extLst>
                    <a:ext uri="{9D8B030D-6E8A-4147-A177-3AD203B41FA5}">
                      <a16:colId xmlns:a16="http://schemas.microsoft.com/office/drawing/2014/main" val="953094926"/>
                    </a:ext>
                  </a:extLst>
                </a:gridCol>
                <a:gridCol w="6480000">
                  <a:extLst>
                    <a:ext uri="{9D8B030D-6E8A-4147-A177-3AD203B41FA5}">
                      <a16:colId xmlns:a16="http://schemas.microsoft.com/office/drawing/2014/main" val="3610874450"/>
                    </a:ext>
                  </a:extLst>
                </a:gridCol>
              </a:tblGrid>
              <a:tr h="130931">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chemeClr val="accent5">
                              <a:lumMod val="75000"/>
                              <a:lumOff val="25000"/>
                            </a:schemeClr>
                          </a:solidFill>
                          <a:latin typeface="+mn-lt"/>
                          <a:ea typeface="+mn-ea"/>
                          <a:cs typeface="+mn-cs"/>
                        </a:rPr>
                        <a:t xml:space="preserve">Process</a:t>
                      </a:r>
                    </a:p>
                  </a:txBody>
                  <a:tcPr marL="36000" marR="36000" marT="36000" marB="36000">
                    <a:lnB w="9525" cap="flat" cmpd="sng" algn="ctr">
                      <a:solidFill>
                        <a:srgbClr val="0070C0"/>
                      </a:solidFill>
                      <a:prstDash val="solid"/>
                      <a:round/>
                      <a:headEnd type="none" w="med" len="med"/>
                      <a:tailEnd type="none" w="med" len="med"/>
                    </a:lnB>
                    <a:noFill/>
                  </a:tcPr>
                </a:tc>
                <a:tc rowSpan="2">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kern="1200" dirty="0">
                          <a:solidFill>
                            <a:schemeClr val="accent5">
                              <a:lumMod val="75000"/>
                              <a:lumOff val="25000"/>
                            </a:schemeClr>
                          </a:solidFill>
                          <a:latin typeface="+mn-lt"/>
                          <a:ea typeface="+mn-ea"/>
                          <a:cs typeface="+mn-cs"/>
                        </a:rPr>
                        <a:t xml:space="preserve">Self-test subject</a:t>
                      </a:r>
                    </a:p>
                  </a:txBody>
                  <a:tcPr marL="36000" marR="36000" marT="36000" marB="36000">
                    <a:lnB w="9525" cap="flat" cmpd="sng" algn="ctr">
                      <a:solidFill>
                        <a:srgbClr val="0070C0"/>
                      </a:solidFill>
                      <a:prstDash val="solid"/>
                      <a:round/>
                      <a:headEnd type="none" w="med" len="med"/>
                      <a:tailEnd type="none" w="med" len="med"/>
                    </a:lnB>
                    <a:noFill/>
                  </a:tcPr>
                </a:tc>
                <a:tc gridSpan="4">
                  <a:txBody>
                    <a:bodyPr/>
                    <a:lstStyle/>
                    <a:p>
                      <a:pPr algn="ctr"/>
                      <a:r>
                        <a:rPr lang="ru-RU" sz="700" b="0" dirty="0">
                          <a:solidFill>
                            <a:schemeClr val="accent5">
                              <a:lumMod val="75000"/>
                              <a:lumOff val="25000"/>
                            </a:schemeClr>
                          </a:solidFill>
                        </a:rPr>
                        <a:t>2025</a:t>
                      </a:r>
                    </a:p>
                  </a:txBody>
                  <a:tcPr marL="36000" marR="36000" marT="36000" marB="36000">
                    <a:lnB w="9525" cap="flat" cmpd="sng" algn="ctr">
                      <a:solidFill>
                        <a:srgbClr val="0070C0"/>
                      </a:solidFill>
                      <a:prstDash val="solid"/>
                      <a:round/>
                      <a:headEnd type="none" w="med" len="med"/>
                      <a:tailEnd type="none" w="med" len="med"/>
                    </a:lnB>
                    <a:noFill/>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tc rowSpan="2">
                  <a:txBody>
                    <a:bodyPr/>
                    <a:lstStyle/>
                    <a:p>
                      <a:r>
                        <a:rPr lang="ru-RU" sz="700" b="0" dirty="0">
                          <a:solidFill>
                            <a:schemeClr val="accent5">
                              <a:lumMod val="75000"/>
                              <a:lumOff val="25000"/>
                            </a:schemeClr>
                          </a:solidFill>
                        </a:rPr>
                        <a:t xml:space="preserve">Other divisions - participants</a:t>
                      </a:r>
                      <a:r>
                        <a:rPr lang="ru-RU" sz="700" b="0" baseline="0" dirty="0">
                          <a:solidFill>
                            <a:schemeClr val="accent5">
                              <a:lumMod val="75000"/>
                              <a:lumOff val="25000"/>
                            </a:schemeClr>
                          </a:solidFill>
                        </a:rPr>
                        <a:t/>
                      </a:r>
                      <a:endParaRPr lang="ru-RU" sz="700" b="0" dirty="0">
                        <a:solidFill>
                          <a:schemeClr val="accent5">
                            <a:lumMod val="75000"/>
                            <a:lumOff val="25000"/>
                          </a:schemeClr>
                        </a:solidFill>
                      </a:endParaRPr>
                    </a:p>
                  </a:txBody>
                  <a:tcPr marL="36000" marR="36000" marT="36000" marB="36000">
                    <a:lnB w="9525" cap="flat" cmpd="sng" algn="ctr">
                      <a:solidFill>
                        <a:srgbClr val="0070C0"/>
                      </a:solidFill>
                      <a:prstDash val="solid"/>
                      <a:round/>
                      <a:headEnd type="none" w="med" len="med"/>
                      <a:tailEnd type="none" w="med" len="med"/>
                    </a:lnB>
                    <a:noFill/>
                  </a:tcPr>
                </a:tc>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 xml:space="preserve">Execution Status</a:t>
                      </a:r>
                    </a:p>
                  </a:txBody>
                  <a:tcPr marL="36000" marR="36000"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30931">
                <a:tc vMerge="1">
                  <a:txBody>
                    <a:bodyPr/>
                    <a:lstStyle/>
                    <a:p>
                      <a:endParaRPr lang="ru-RU" dirty="0"/>
                    </a:p>
                  </a:txBody>
                  <a:tcPr/>
                </a:tc>
                <a:tc vMerge="1">
                  <a:txBody>
                    <a:bodyPr/>
                    <a:lstStyle/>
                    <a:p>
                      <a:endParaRPr lang="ru-RU" dirty="0"/>
                    </a:p>
                  </a:txBody>
                  <a:tcPr/>
                </a:tc>
                <a:tc>
                  <a:txBody>
                    <a:bodyPr/>
                    <a:lstStyle/>
                    <a:p>
                      <a:pPr algn="ctr"/>
                      <a:r>
                        <a:rPr lang="ru-RU" sz="700" b="0" dirty="0">
                          <a:solidFill>
                            <a:schemeClr val="accent5">
                              <a:lumMod val="75000"/>
                              <a:lumOff val="25000"/>
                            </a:schemeClr>
                          </a:solidFill>
                        </a:rPr>
                        <a:t xml:space="preserve">1 sq.</a:t>
                      </a:r>
                    </a:p>
                  </a:txBody>
                  <a:tcPr marL="36000" marR="36000"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rPr>
                        <a:t xml:space="preserve">2 sq.</a:t>
                      </a:r>
                    </a:p>
                  </a:txBody>
                  <a:tcPr marL="36000" marR="36000"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rPr>
                        <a:t xml:space="preserve">3 sq.</a:t>
                      </a:r>
                    </a:p>
                  </a:txBody>
                  <a:tcPr marL="36000" marR="36000"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rPr>
                        <a:t xml:space="preserve">4 sq.</a:t>
                      </a:r>
                    </a:p>
                  </a:txBody>
                  <a:tcPr marL="36000" marR="36000"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dirty="0"/>
                    </a:p>
                  </a:txBody>
                  <a:tcPr/>
                </a:tc>
                <a:tc vMerge="1">
                  <a:txBody>
                    <a:bodyPr/>
                    <a:lstStyle/>
                    <a:p>
                      <a:endParaRPr lang="ru-RU"/>
                    </a:p>
                  </a:txBody>
                  <a:tcPr/>
                </a:tc>
                <a:extLst>
                  <a:ext uri="{0D108BD9-81ED-4DB2-BD59-A6C34878D82A}">
                    <a16:rowId xmlns:a16="http://schemas.microsoft.com/office/drawing/2014/main" val="3738029753"/>
                  </a:ext>
                </a:extLst>
              </a:tr>
              <a:tr h="130931">
                <a:tc gridSpan="7">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a:solidFill>
                            <a:srgbClr val="7030A0"/>
                          </a:solidFill>
                          <a:latin typeface="+mn-lt"/>
                          <a:ea typeface="+mn-ea"/>
                          <a:cs typeface="+mn-cs"/>
                        </a:rPr>
                        <a:t xml:space="preserve">ADDITIONAL SELF-TESTS</a:t>
                      </a:r>
                    </a:p>
                  </a:txBody>
                  <a:tcPr marL="36000" marR="36000" marT="36000" marB="36000" anchor="ctr">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tc hMerge="1">
                  <a:txBody>
                    <a:bodyPr/>
                    <a:lstStyle/>
                    <a:p>
                      <a:endParaRPr lang="ru-RU" sz="800" dirty="0"/>
                    </a:p>
                  </a:txBody>
                  <a:tcPr>
                    <a:noFill/>
                  </a:tcPr>
                </a:tc>
                <a:tc hMerge="1">
                  <a:txBody>
                    <a:bodyPr/>
                    <a:lstStyle/>
                    <a:p>
                      <a:pPr algn="ctr"/>
                      <a:endParaRPr lang="ru-RU" sz="80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dirty="0"/>
                    </a:p>
                  </a:txBody>
                  <a:tcPr>
                    <a:gradFill>
                      <a:gsLst>
                        <a:gs pos="0">
                          <a:schemeClr val="accent4">
                            <a:lumMod val="20000"/>
                            <a:lumOff val="80000"/>
                          </a:schemeClr>
                        </a:gs>
                        <a:gs pos="100000">
                          <a:schemeClr val="bg1"/>
                        </a:gs>
                      </a:gsLst>
                      <a:lin ang="5400000" scaled="1"/>
                    </a:gradFill>
                  </a:tcPr>
                </a:tc>
                <a:tc hMerge="1">
                  <a:txBody>
                    <a:bodyPr/>
                    <a:lstStyle/>
                    <a:p>
                      <a:endParaRPr lang="ru-RU" sz="800" dirty="0"/>
                    </a:p>
                  </a:txBody>
                  <a:tcP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kern="1200" dirty="0">
                        <a:solidFill>
                          <a:srgbClr val="7030A0"/>
                        </a:solidFill>
                        <a:latin typeface="+mn-lt"/>
                        <a:ea typeface="+mn-ea"/>
                        <a:cs typeface="+mn-cs"/>
                      </a:endParaRPr>
                    </a:p>
                  </a:txBody>
                  <a:tcPr marL="36000" marR="36000" marT="36000" marB="36000" anchor="ctr">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292020281"/>
                  </a:ext>
                </a:extLst>
              </a:tr>
              <a:tr h="443619">
                <a:tc rowSpan="3">
                  <a:txBody>
                    <a:bodyPr/>
                    <a:lstStyle/>
                    <a:p>
                      <a:r>
                        <a:rPr lang="ru-RU" sz="700" dirty="0"/>
                        <a:t xml:space="preserve">PDA</a:t>
                      </a:r>
                    </a:p>
                  </a:txBody>
                  <a:tcPr marL="36000" marR="36000" marT="36000" marB="36000">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gradFill>
                      <a:gsLst>
                        <a:gs pos="0">
                          <a:srgbClr val="CCCCFF">
                            <a:alpha val="50000"/>
                          </a:srgbClr>
                        </a:gs>
                        <a:gs pos="100000">
                          <a:schemeClr val="bg1"/>
                        </a:gs>
                      </a:gsLst>
                      <a:lin ang="5400000" scaled="1"/>
                    </a:gradFill>
                  </a:tcPr>
                </a:tc>
                <a:tc>
                  <a:txBody>
                    <a:bodyPr/>
                    <a:lstStyle/>
                    <a:p>
                      <a:pPr marL="0" lvl="1" algn="l" defTabSz="583170" rtl="0" eaLnBrk="1" latinLnBrk="0" hangingPunct="1"/>
                      <a:r>
                        <a:rPr lang="ru-RU" sz="700" kern="1200" dirty="0">
                          <a:solidFill>
                            <a:schemeClr val="dk1"/>
                          </a:solidFill>
                          <a:latin typeface="+mn-lt"/>
                          <a:ea typeface="+mn-ea"/>
                          <a:cs typeface="+mn-cs"/>
                        </a:rPr>
                        <a:t xml:space="preserve">Availability of approvals from the Director of the House of Culture / acting. Director of the DC, Head of CPC and CSR for transactions that fall under the criteria for their approval in accordance with the Perimeter CPC Instructions and CPDD Internal DoA</a:t>
                      </a:r>
                      <a:r>
                        <a:rPr lang="en-US" sz="700" kern="1200" dirty="0">
                          <a:solidFill>
                            <a:schemeClr val="dk1"/>
                          </a:solidFill>
                          <a:latin typeface="+mn-lt"/>
                          <a:ea typeface="+mn-ea"/>
                          <a:cs typeface="+mn-cs"/>
                        </a:rPr>
                        <a:t/>
                      </a:r>
                      <a:endParaRPr lang="ru-RU" sz="700" kern="1200" dirty="0">
                        <a:solidFill>
                          <a:schemeClr val="dk1"/>
                        </a:solidFill>
                        <a:latin typeface="+mn-lt"/>
                        <a:ea typeface="+mn-ea"/>
                        <a:cs typeface="+mn-cs"/>
                      </a:endParaRPr>
                    </a:p>
                  </a:txBody>
                  <a:tcPr marL="36000" marR="36000" marT="36000" marB="36000">
                    <a:lnT w="9525" cap="flat" cmpd="sng" algn="ctr">
                      <a:solidFill>
                        <a:schemeClr val="accent5">
                          <a:lumMod val="75000"/>
                          <a:lumOff val="25000"/>
                        </a:schemeClr>
                      </a:solidFill>
                      <a:prstDash val="solid"/>
                      <a:round/>
                      <a:headEnd type="none" w="med" len="med"/>
                      <a:tailEnd type="none" w="med" len="med"/>
                    </a:lnT>
                    <a:noFill/>
                  </a:tcPr>
                </a:tc>
                <a:tc>
                  <a:txBody>
                    <a:bodyPr/>
                    <a:lstStyle/>
                    <a:p>
                      <a:pPr algn="ctr"/>
                      <a:endParaRPr lang="ru-RU" sz="700" dirty="0"/>
                    </a:p>
                  </a:txBody>
                  <a:tcPr marL="36000" marR="36000" marT="36000" marB="36000">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marL="36000" marR="36000" marT="36000" marB="36000">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endParaRPr lang="ru-RU" sz="700" dirty="0"/>
                    </a:p>
                  </a:txBody>
                  <a:tcPr marL="36000" marR="36000" marT="36000" marB="36000">
                    <a:lnT w="9525" cap="flat" cmpd="sng" algn="ctr">
                      <a:solidFill>
                        <a:schemeClr val="accent5">
                          <a:lumMod val="75000"/>
                          <a:lumOff val="25000"/>
                        </a:schemeClr>
                      </a:solidFill>
                      <a:prstDash val="solid"/>
                      <a:round/>
                      <a:headEnd type="none" w="med" len="med"/>
                      <a:tailEnd type="none" w="med" len="med"/>
                    </a:lnT>
                    <a:noFill/>
                  </a:tcPr>
                </a:tc>
                <a:tc>
                  <a:txBody>
                    <a:bodyPr/>
                    <a:lstStyle/>
                    <a:p>
                      <a:r>
                        <a:rPr lang="ru-RU" sz="700" kern="1200" dirty="0" smtClean="0">
                          <a:solidFill>
                            <a:schemeClr val="dk1"/>
                          </a:solidFill>
                          <a:effectLst/>
                          <a:latin typeface="+mn-lt"/>
                          <a:ea typeface="+mn-ea"/>
                          <a:cs typeface="+mn-cs"/>
                        </a:rPr>
                        <a:t xml:space="preserve">At MYR it was agreed that the deadline for the task would be postponed from Q2. for 3 sq. 2025 In Q3 Self-test completed. No deviations were found. The results were presented at a meeting of the Compliance Committee as part of the Q3 report. 2025</a:t>
                      </a:r>
                      <a:endParaRPr lang="ru-RU" sz="700" dirty="0"/>
                    </a:p>
                  </a:txBody>
                  <a:tcPr marL="36000" marR="36000" marT="36000" marB="36000">
                    <a:lnT w="9525" cap="flat" cmpd="sng" algn="ctr">
                      <a:solidFill>
                        <a:schemeClr val="accent5">
                          <a:lumMod val="75000"/>
                          <a:lumOff val="25000"/>
                        </a:schemeClr>
                      </a:solidFill>
                      <a:prstDash val="solid"/>
                      <a:round/>
                      <a:headEnd type="none" w="med" len="med"/>
                      <a:tailEnd type="none" w="med" len="med"/>
                    </a:lnT>
                    <a:noFill/>
                  </a:tcPr>
                </a:tc>
                <a:extLst>
                  <a:ext uri="{0D108BD9-81ED-4DB2-BD59-A6C34878D82A}">
                    <a16:rowId xmlns:a16="http://schemas.microsoft.com/office/drawing/2014/main" val="1437124523"/>
                  </a:ext>
                </a:extLst>
              </a:tr>
              <a:tr h="209103">
                <a:tc vMerge="1">
                  <a:txBody>
                    <a:bodyPr/>
                    <a:lstStyle/>
                    <a:p>
                      <a:endParaRPr lang="ru-RU" sz="80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kern="1200" dirty="0">
                          <a:solidFill>
                            <a:schemeClr val="dk1"/>
                          </a:solidFill>
                          <a:latin typeface="+mn-lt"/>
                          <a:ea typeface="+mn-ea"/>
                          <a:cs typeface="+mn-cs"/>
                        </a:rPr>
                        <a:t xml:space="preserve">Quality/depth of CCP reports on transactions up to the level of approval of the DC Director</a:t>
                      </a:r>
                      <a:r>
                        <a:rPr lang="ru-RU" sz="700" kern="1200" baseline="0" dirty="0">
                          <a:solidFill>
                            <a:schemeClr val="dk1"/>
                          </a:solidFill>
                          <a:latin typeface="+mn-lt"/>
                          <a:ea typeface="+mn-ea"/>
                          <a:cs typeface="+mn-cs"/>
                        </a:rPr>
                        <a:t/>
                      </a:r>
                      <a:r>
                        <a:rPr lang="ru-RU" sz="700" kern="1200" dirty="0">
                          <a:solidFill>
                            <a:schemeClr val="dk1"/>
                          </a:solidFill>
                          <a:latin typeface="+mn-lt"/>
                          <a:ea typeface="+mn-ea"/>
                          <a:cs typeface="+mn-cs"/>
                        </a:rPr>
                        <a:t/>
                      </a:r>
                      <a:endParaRPr lang="ru-RU" sz="700" dirty="0"/>
                    </a:p>
                  </a:txBody>
                  <a:tcPr marL="36000" marR="36000" marT="36000" marB="36000">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dirty="0"/>
                        <a:t>Х</a:t>
                      </a:r>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endParaRPr lang="ru-RU" sz="700" dirty="0"/>
                    </a:p>
                  </a:txBody>
                  <a:tcPr marL="36000" marR="36000" marT="36000" marB="36000">
                    <a:noFill/>
                  </a:tcPr>
                </a:tc>
                <a:tc>
                  <a:txBody>
                    <a:bodyPr/>
                    <a:lstStyle/>
                    <a:p>
                      <a:r>
                        <a:rPr lang="ru-RU" sz="700" kern="1200" dirty="0" smtClean="0">
                          <a:solidFill>
                            <a:schemeClr val="dk1"/>
                          </a:solidFill>
                          <a:effectLst/>
                          <a:latin typeface="+mn-lt"/>
                          <a:ea typeface="+mn-ea"/>
                          <a:cs typeface="+mn-cs"/>
                        </a:rPr>
                        <a:t xml:space="preserve">At MYR it was agreed that the deadline for the task would be postponed from Q2. for 3 sq. 2025 In Q3 Self-test completed. No deviations were found. The results were presented at a meeting of the Compliance Committee as part of the Q3 report. 2025</a:t>
                      </a:r>
                      <a:endParaRPr lang="ru-RU" sz="700" dirty="0"/>
                    </a:p>
                  </a:txBody>
                  <a:tcPr marL="36000" marR="36000" marT="36000" marB="36000">
                    <a:noFill/>
                  </a:tcPr>
                </a:tc>
                <a:extLst>
                  <a:ext uri="{0D108BD9-81ED-4DB2-BD59-A6C34878D82A}">
                    <a16:rowId xmlns:a16="http://schemas.microsoft.com/office/drawing/2014/main" val="3262559451"/>
                  </a:ext>
                </a:extLst>
              </a:tr>
              <a:tr h="209103">
                <a:tc vMerge="1">
                  <a:txBody>
                    <a:bodyPr/>
                    <a:lstStyle/>
                    <a:p>
                      <a:endParaRPr lang="ru-RU" sz="80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50000">
                          <a:srgbClr val="EAF8FF"/>
                        </a:gs>
                        <a:gs pos="0">
                          <a:schemeClr val="accent5">
                            <a:lumMod val="10000"/>
                            <a:lumOff val="90000"/>
                          </a:schemeClr>
                        </a:gs>
                        <a:gs pos="100000">
                          <a:schemeClr val="bg1"/>
                        </a:gs>
                      </a:gsLst>
                      <a:lin ang="5400000" scaled="1"/>
                    </a:gradFill>
                  </a:tcPr>
                </a:tc>
                <a:tc>
                  <a:txBody>
                    <a:bodyPr/>
                    <a:lstStyle/>
                    <a:p>
                      <a:r>
                        <a:rPr lang="ru-RU" sz="700" dirty="0"/>
                        <a:t xml:space="preserve">Monitoring the implementation of compliance recommendations in the CPC conclusions by business units</a:t>
                      </a:r>
                    </a:p>
                  </a:txBody>
                  <a:tcPr marL="36000" marR="36000" marT="36000" marB="36000">
                    <a:no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endParaRPr lang="ru-RU" sz="700" dirty="0"/>
                    </a:p>
                  </a:txBody>
                  <a:tcPr marL="36000" marR="36000" marT="36000" marB="36000">
                    <a:noFill/>
                  </a:tcPr>
                </a:tc>
                <a:tc>
                  <a:txBody>
                    <a:bodyPr/>
                    <a:lstStyle/>
                    <a:p>
                      <a:r>
                        <a:rPr lang="ru-RU" sz="700" kern="1200" dirty="0" smtClean="0">
                          <a:solidFill>
                            <a:schemeClr val="dk1"/>
                          </a:solidFill>
                          <a:effectLst/>
                          <a:latin typeface="+mn-lt"/>
                          <a:ea typeface="+mn-ea"/>
                          <a:cs typeface="+mn-cs"/>
                        </a:rPr>
                        <a:t xml:space="preserve">Self-testing was completed according to the terms of the Program. The sample covered 208 contracts. No unfulfilled recommendations were identified. The results were presented at a meeting of the Compliance Committee as part of the Perimeter report for the 4th quarter. 2025</a:t>
                      </a:r>
                      <a:endParaRPr lang="ru-RU" sz="700" dirty="0"/>
                    </a:p>
                  </a:txBody>
                  <a:tcPr marL="36000" marR="36000" marT="36000" marB="36000">
                    <a:noFill/>
                  </a:tcPr>
                </a:tc>
                <a:extLst>
                  <a:ext uri="{0D108BD9-81ED-4DB2-BD59-A6C34878D82A}">
                    <a16:rowId xmlns:a16="http://schemas.microsoft.com/office/drawing/2014/main" val="522114166"/>
                  </a:ext>
                </a:extLst>
              </a:tr>
              <a:tr h="1538024">
                <a:tc>
                  <a:txBody>
                    <a:bodyPr/>
                    <a:lstStyle/>
                    <a:p>
                      <a:r>
                        <a:rPr lang="ru-RU" sz="700" dirty="0">
                          <a:solidFill>
                            <a:schemeClr val="tx1"/>
                          </a:solidFill>
                        </a:rPr>
                        <a:t xml:space="preserve">Gifts and cultural and entertainment events (KRM)</a:t>
                      </a:r>
                      <a:r>
                        <a:rPr lang="ru-RU" sz="700" dirty="0" smtClean="0">
                          <a:solidFill>
                            <a:schemeClr val="tx1"/>
                          </a:solidFill>
                        </a:rPr>
                        <a:t/>
                      </a:r>
                      <a:r>
                        <a:rPr lang="ru-RU" sz="700" baseline="0" dirty="0" smtClean="0">
                          <a:solidFill>
                            <a:schemeClr val="tx1"/>
                          </a:solidFill>
                        </a:rPr>
                        <a:t/>
                      </a:r>
                      <a:endParaRPr lang="ru-RU" sz="700" dirty="0">
                        <a:solidFill>
                          <a:schemeClr val="tx1"/>
                        </a:solidFill>
                      </a:endParaRPr>
                    </a:p>
                  </a:txBody>
                  <a:tcPr marL="36000" marR="36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gradFill>
                      <a:gsLst>
                        <a:gs pos="0">
                          <a:srgbClr val="CCCCFF">
                            <a:alpha val="50000"/>
                          </a:srgbClr>
                        </a:gs>
                        <a:gs pos="100000">
                          <a:schemeClr val="bg1"/>
                        </a:gs>
                      </a:gsLst>
                      <a:lin ang="5400000" scaled="1"/>
                    </a:gradFill>
                  </a:tcPr>
                </a:tc>
                <a:tc>
                  <a:txBody>
                    <a:bodyPr/>
                    <a:lstStyle/>
                    <a:p>
                      <a:r>
                        <a:rPr lang="ru-RU" sz="700" dirty="0">
                          <a:solidFill>
                            <a:schemeClr val="tx1"/>
                          </a:solidFill>
                        </a:rPr>
                        <a:t xml:space="preserve">Controls regarding gifts and entertainment provided</a:t>
                      </a:r>
                      <a:r>
                        <a:rPr lang="ru-RU" sz="700" dirty="0" smtClean="0">
                          <a:solidFill>
                            <a:schemeClr val="tx1"/>
                          </a:solidFill>
                        </a:rPr>
                        <a:t/>
                      </a:r>
                      <a:r>
                        <a:rPr lang="ru-RU" sz="700" baseline="0" dirty="0" smtClean="0">
                          <a:solidFill>
                            <a:schemeClr val="tx1"/>
                          </a:solidFill>
                        </a:rPr>
                        <a:t/>
                      </a:r>
                      <a:endParaRPr lang="ru-RU" sz="700" dirty="0">
                        <a:solidFill>
                          <a:schemeClr val="tx1"/>
                        </a:solidFill>
                      </a:endParaRPr>
                    </a:p>
                  </a:txBody>
                  <a:tcPr marL="36000" marR="36000" marT="36000" marB="36000">
                    <a:lnL w="12700" cmpd="sng">
                      <a:noFill/>
                    </a:lnL>
                    <a:no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r>
                        <a:rPr lang="ru-RU" sz="700" dirty="0"/>
                        <a:t xml:space="preserve">Fin. block, DCC</a:t>
                      </a:r>
                      <a:r>
                        <a:rPr lang="ru-RU" sz="700" baseline="0" dirty="0"/>
                        <a:t/>
                      </a:r>
                      <a:endParaRPr lang="ru-RU" sz="700" dirty="0"/>
                    </a:p>
                  </a:txBody>
                  <a:tcPr marL="36000" marR="36000" marT="36000" marB="36000">
                    <a:noFill/>
                  </a:tcPr>
                </a:tc>
                <a:tc>
                  <a:txBody>
                    <a:bodyPr/>
                    <a:lstStyle/>
                    <a:p>
                      <a:r>
                        <a:rPr lang="ru-RU" sz="700" dirty="0" smtClean="0"/>
                        <a:t xml:space="preserve">Based on the results of the analysis and assessment of the effectiveness of existing control mechanisms in relation to gifts provided and KRM in 5 Divisions of the Perimeter, omissions and inconsistencies were identified in the following issues:</a:t>
                      </a:r>
                    </a:p>
                    <a:p>
                      <a:pPr marL="87313" indent="-87313">
                        <a:buFont typeface="Arial" panose="020B0604020202020204" pitchFamily="34" charset="0"/>
                        <a:buChar char="•"/>
                      </a:pPr>
                      <a:r>
                        <a:rPr lang="ru-RU" sz="700" dirty="0" smtClean="0"/>
                        <a:t xml:space="preserve">sending applications from Divisions to the DC with information about actual gifts provided to 3 persons (2 cases - Divisions Coal, Chrome).</a:t>
                      </a:r>
                    </a:p>
                    <a:p>
                      <a:pPr marL="87313" indent="-87313">
                        <a:buFont typeface="Arial" panose="020B0604020202020204" pitchFamily="34" charset="0"/>
                        <a:buChar char="•"/>
                      </a:pPr>
                      <a:r>
                        <a:rPr lang="ru-RU" sz="700" dirty="0" smtClean="0"/>
                        <a:t xml:space="preserve">obtaining preliminary approval from DC and DCC, within the framework of the current requirements of the Policy and GNI of the Group, when providing branded products (up to $35) for third parties (2 situations - Aluminum / Iron Divisions).</a:t>
                      </a:r>
                    </a:p>
                    <a:p>
                      <a:pPr marL="87313" indent="-87313">
                        <a:buFont typeface="Arial" panose="020B0604020202020204" pitchFamily="34" charset="0"/>
                        <a:buChar char="•"/>
                      </a:pPr>
                      <a:r>
                        <a:rPr lang="ru-RU" sz="700" dirty="0" smtClean="0"/>
                        <a:t xml:space="preserve">control in terms of documentation and accounting of gifts provided, KRM/RMM to third parties (Iron/Coal/Chrome Divisions).</a:t>
                      </a:r>
                    </a:p>
                    <a:p>
                      <a:pPr marL="87313" indent="-87313">
                        <a:buFont typeface="Arial" panose="020B0604020202020204" pitchFamily="34" charset="0"/>
                        <a:buChar char="•"/>
                      </a:pPr>
                      <a:r>
                        <a:rPr lang="ru-RU" sz="700" dirty="0" smtClean="0"/>
                        <a:t xml:space="preserve">mechanism for quantitative accounting of souvenir image products (all 5 Divisions).</a:t>
                      </a:r>
                    </a:p>
                    <a:p>
                      <a:r>
                        <a:rPr lang="ru-RU" sz="700" dirty="0" smtClean="0"/>
                        <a:t xml:space="preserve">At the same time, control in terms of documentation and accounting was not tested in practice in the Energy and Aluminum Divisions due to the lack of transactions in the reporting period. The above omissions and inconsistencies may lead to the realization of risks of undue influence on business decisions, conflicts of interest, violation of anti-corruption and other applicable laws, as well as ERG GND requirements, which may lead to regulatory claims, administrative or other liability, financial sanctions and significant reputational damage. Additionally, as part of the study of the IRR in relation to entertainment expenses at the enterprises of the Divisions, it was revealed that there are no rules on the need to obtain approvals from the Compliance Director in relation to the expenses provided that meet the requirements of the ERG Policy on Gifts and Compliance Management. Based on the results of assessing the effectiveness of existing control mechanisms, as well as identified gaps and inconsistencies, a number of recommendations were developed aimed at improving the internal control system, reducing (mitigating) risks and eliminating identified deficiencies. In addition, changes to existing procedures are proposed in order to strengthen control functions and ensure compliance with legal requirements, incl. regarding tax requirements and internal policies of the Company. The results were presented at a meeting of the Compliance Committee as part of the Perimeter report for the 4th quarter. 2025</a:t>
                      </a:r>
                      <a:r>
                        <a:rPr lang="ru-RU" sz="700" dirty="0" err="1" smtClean="0"/>
                        <a:t/>
                      </a:r>
                      <a:r>
                        <a:rPr lang="ru-RU" sz="700" dirty="0" smtClean="0"/>
                        <a:t/>
                      </a:r>
                      <a:endParaRPr lang="ru-RU" sz="700" dirty="0"/>
                    </a:p>
                  </a:txBody>
                  <a:tcPr marL="36000" marR="36000" marT="36000" marB="36000">
                    <a:noFill/>
                  </a:tcPr>
                </a:tc>
                <a:extLst>
                  <a:ext uri="{0D108BD9-81ED-4DB2-BD59-A6C34878D82A}">
                    <a16:rowId xmlns:a16="http://schemas.microsoft.com/office/drawing/2014/main" val="4009799197"/>
                  </a:ext>
                </a:extLst>
              </a:tr>
              <a:tr h="637650">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t xml:space="preserve">Protection of personal data (PD)</a:t>
                      </a:r>
                    </a:p>
                  </a:txBody>
                  <a:tcPr marL="36000" marR="36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gradFill>
                      <a:gsLst>
                        <a:gs pos="0">
                          <a:srgbClr val="CCCCFF">
                            <a:alpha val="50000"/>
                          </a:srgb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kern="1200" dirty="0">
                          <a:solidFill>
                            <a:schemeClr val="dk1"/>
                          </a:solidFill>
                          <a:latin typeface="+mn-lt"/>
                          <a:ea typeface="+mn-ea"/>
                          <a:cs typeface="+mn-cs"/>
                        </a:rPr>
                        <a:t xml:space="preserve">Availability of signed, up-to-date consents for the collection and processing of personal data of Perimeter employees</a:t>
                      </a:r>
                    </a:p>
                    <a:p>
                      <a:endParaRPr lang="ru-RU" sz="700" dirty="0"/>
                    </a:p>
                  </a:txBody>
                  <a:tcPr marL="36000" marR="36000" marT="36000" marB="36000">
                    <a:lnL w="12700" cmpd="sng">
                      <a:noFill/>
                    </a:lnL>
                    <a:no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endParaRPr lang="ru-RU" sz="700" dirty="0"/>
                    </a:p>
                  </a:txBody>
                  <a:tcPr marL="36000" marR="36000" marT="36000" marB="36000">
                    <a:noFill/>
                  </a:tcPr>
                </a:tc>
                <a:tc>
                  <a:txBody>
                    <a:bodyPr/>
                    <a:lstStyle/>
                    <a:p>
                      <a:r>
                        <a:rPr lang="ru-RU" sz="700" dirty="0" smtClean="0"/>
                        <a:t xml:space="preserve">Based on the results of self-testing (sampling method - 500 workers from different jurisdictions), the following was revealed:</a:t>
                      </a:r>
                    </a:p>
                    <a:p>
                      <a:pPr marL="87313" indent="-87313" algn="l" defTabSz="583170" rtl="0" eaLnBrk="1" latinLnBrk="0" hangingPunct="1">
                        <a:buFont typeface="Arial" panose="020B0604020202020204" pitchFamily="34" charset="0"/>
                        <a:buChar char="•"/>
                      </a:pPr>
                      <a:r>
                        <a:rPr lang="ru-RU" sz="700" kern="1200" dirty="0" smtClean="0">
                          <a:solidFill>
                            <a:schemeClr val="dk1"/>
                          </a:solidFill>
                          <a:latin typeface="+mn-lt"/>
                          <a:ea typeface="+mn-ea"/>
                          <a:cs typeface="+mn-cs"/>
                        </a:rPr>
                        <a:t xml:space="preserve">211 employees (42%) signed the current consent form, which is valid from 2022.</a:t>
                      </a:r>
                    </a:p>
                    <a:p>
                      <a:pPr marL="87313" indent="-87313" algn="l" defTabSz="583170" rtl="0" eaLnBrk="1" latinLnBrk="0" hangingPunct="1">
                        <a:buFont typeface="Arial" panose="020B0604020202020204" pitchFamily="34" charset="0"/>
                        <a:buChar char="•"/>
                      </a:pPr>
                      <a:r>
                        <a:rPr lang="ru-RU" sz="700" kern="1200" dirty="0" smtClean="0">
                          <a:solidFill>
                            <a:schemeClr val="dk1"/>
                          </a:solidFill>
                          <a:latin typeface="+mn-lt"/>
                          <a:ea typeface="+mn-ea"/>
                          <a:cs typeface="+mn-cs"/>
                        </a:rPr>
                        <a:t xml:space="preserve">268 employees (54%) signed the 2021 consent form, 85% of whom signed the 2021 consent form after the current consent form was introduced. At the same time, in 2022, minor changes were made to the consent form (a BIN was added, one wording was adjusted). – re-signing the form is not required.</a:t>
                      </a:r>
                      <a:r>
                        <a:rPr lang="ru-RU" sz="700" kern="1200" dirty="0" err="1" smtClean="0">
                          <a:solidFill>
                            <a:schemeClr val="dk1"/>
                          </a:solidFill>
                          <a:latin typeface="+mn-lt"/>
                          <a:ea typeface="+mn-ea"/>
                          <a:cs typeface="+mn-cs"/>
                        </a:rPr>
                        <a:t/>
                      </a:r>
                      <a:r>
                        <a:rPr lang="ru-RU" sz="700" kern="1200" dirty="0" smtClean="0">
                          <a:solidFill>
                            <a:schemeClr val="dk1"/>
                          </a:solidFill>
                          <a:latin typeface="+mn-lt"/>
                          <a:ea typeface="+mn-ea"/>
                          <a:cs typeface="+mn-cs"/>
                        </a:rPr>
                        <a:t/>
                      </a:r>
                    </a:p>
                    <a:p>
                      <a:pPr marL="87313" indent="-87313" algn="l" defTabSz="583170" rtl="0" eaLnBrk="1" latinLnBrk="0" hangingPunct="1">
                        <a:buFont typeface="Arial" panose="020B0604020202020204" pitchFamily="34" charset="0"/>
                        <a:buChar char="•"/>
                      </a:pPr>
                      <a:r>
                        <a:rPr lang="ru-RU" sz="700" kern="1200" dirty="0" smtClean="0">
                          <a:solidFill>
                            <a:schemeClr val="dk1"/>
                          </a:solidFill>
                          <a:latin typeface="+mn-lt"/>
                          <a:ea typeface="+mn-ea"/>
                          <a:cs typeface="+mn-cs"/>
                        </a:rPr>
                        <a:t xml:space="preserve">4 employees (1%) signed an outdated 2017 consent form - re-signing required.</a:t>
                      </a:r>
                      <a:r>
                        <a:rPr lang="ru-RU" sz="700" kern="1200" dirty="0" err="1" smtClean="0">
                          <a:solidFill>
                            <a:schemeClr val="dk1"/>
                          </a:solidFill>
                          <a:latin typeface="+mn-lt"/>
                          <a:ea typeface="+mn-ea"/>
                          <a:cs typeface="+mn-cs"/>
                        </a:rPr>
                        <a:t/>
                      </a:r>
                      <a:r>
                        <a:rPr lang="ru-RU" sz="700" kern="1200" dirty="0" smtClean="0">
                          <a:solidFill>
                            <a:schemeClr val="dk1"/>
                          </a:solidFill>
                          <a:latin typeface="+mn-lt"/>
                          <a:ea typeface="+mn-ea"/>
                          <a:cs typeface="+mn-cs"/>
                        </a:rPr>
                        <a:t/>
                      </a:r>
                    </a:p>
                    <a:p>
                      <a:pPr marL="87313" indent="-87313" algn="l" defTabSz="583170" rtl="0" eaLnBrk="1" latinLnBrk="0" hangingPunct="1">
                        <a:buFont typeface="Arial" panose="020B0604020202020204" pitchFamily="34" charset="0"/>
                        <a:buChar char="•"/>
                      </a:pPr>
                      <a:r>
                        <a:rPr lang="ru-RU" sz="700" kern="1200" dirty="0" smtClean="0">
                          <a:solidFill>
                            <a:schemeClr val="dk1"/>
                          </a:solidFill>
                          <a:latin typeface="+mn-lt"/>
                          <a:ea typeface="+mn-ea"/>
                          <a:cs typeface="+mn-cs"/>
                        </a:rPr>
                        <a:t xml:space="preserve">17 employees (3%) were not sent consent forms for various reasons (work leave, refusal to sign, no signed consents).</a:t>
                      </a:r>
                    </a:p>
                    <a:p>
                      <a:r>
                        <a:rPr lang="ru-RU" sz="700" dirty="0" smtClean="0"/>
                        <a:t xml:space="preserve">Relevant recommendations were sent to HR to eliminate the identified deviations.</a:t>
                      </a:r>
                      <a:endParaRPr lang="ru-RU" sz="700" dirty="0"/>
                    </a:p>
                  </a:txBody>
                  <a:tcPr marL="36000" marR="36000" marT="36000" marB="36000">
                    <a:noFill/>
                  </a:tcPr>
                </a:tc>
                <a:extLst>
                  <a:ext uri="{0D108BD9-81ED-4DB2-BD59-A6C34878D82A}">
                    <a16:rowId xmlns:a16="http://schemas.microsoft.com/office/drawing/2014/main" val="3210704785"/>
                  </a:ext>
                </a:extLst>
              </a:tr>
              <a:tr h="834478">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t xml:space="preserve">Third party risks, PD</a:t>
                      </a:r>
                    </a:p>
                  </a:txBody>
                  <a:tcPr marL="36000" marR="36000" marT="36000" marB="36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gradFill>
                      <a:gsLst>
                        <a:gs pos="0">
                          <a:srgbClr val="CCCCFF">
                            <a:alpha val="50000"/>
                          </a:srgb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kern="1200" dirty="0">
                          <a:solidFill>
                            <a:schemeClr val="dk1"/>
                          </a:solidFill>
                          <a:latin typeface="+mn-lt"/>
                          <a:ea typeface="+mn-ea"/>
                          <a:cs typeface="+mn-cs"/>
                        </a:rPr>
                        <a:t xml:space="preserve">Availability of current compliance provisions in existing Perimeter agreements, incl. reservations in the field of personal data protection</a:t>
                      </a:r>
                      <a:r>
                        <a:rPr lang="ru-RU" sz="700" kern="1200" baseline="0" dirty="0">
                          <a:solidFill>
                            <a:schemeClr val="dk1"/>
                          </a:solidFill>
                          <a:latin typeface="+mn-lt"/>
                          <a:ea typeface="+mn-ea"/>
                          <a:cs typeface="+mn-cs"/>
                        </a:rPr>
                        <a:t/>
                      </a:r>
                      <a:r>
                        <a:rPr lang="ru-RU" sz="700" kern="1200" dirty="0">
                          <a:solidFill>
                            <a:schemeClr val="dk1"/>
                          </a:solidFill>
                          <a:latin typeface="+mn-lt"/>
                          <a:ea typeface="+mn-ea"/>
                          <a:cs typeface="+mn-cs"/>
                        </a:rPr>
                        <a:t/>
                      </a:r>
                      <a:endParaRPr lang="ru-RU" sz="700" dirty="0"/>
                    </a:p>
                  </a:txBody>
                  <a:tcPr marL="36000" marR="36000" marT="36000" marB="36000">
                    <a:lnL w="12700" cmpd="sng">
                      <a:noFill/>
                    </a:lnL>
                    <a:no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dirty="0"/>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r>
                        <a:rPr lang="ru-RU" sz="700" dirty="0"/>
                        <a:t>Х</a:t>
                      </a:r>
                    </a:p>
                  </a:txBody>
                  <a:tcPr marL="36000" marR="36000" marT="36000" marB="36000">
                    <a:gradFill>
                      <a:gsLst>
                        <a:gs pos="0">
                          <a:schemeClr val="accent4">
                            <a:lumMod val="20000"/>
                            <a:lumOff val="80000"/>
                          </a:schemeClr>
                        </a:gs>
                        <a:gs pos="100000">
                          <a:schemeClr val="bg1"/>
                        </a:gs>
                      </a:gsLst>
                      <a:lin ang="5400000" scaled="1"/>
                    </a:gradFill>
                  </a:tcPr>
                </a:tc>
                <a:tc>
                  <a:txBody>
                    <a:bodyPr/>
                    <a:lstStyle/>
                    <a:p>
                      <a:endParaRPr lang="ru-RU" sz="700" dirty="0"/>
                    </a:p>
                  </a:txBody>
                  <a:tcPr marL="36000" marR="36000" marT="36000" marB="36000">
                    <a:noFill/>
                  </a:tcPr>
                </a:tc>
                <a:tc>
                  <a:txBody>
                    <a:bodyPr/>
                    <a:lstStyle/>
                    <a:p>
                      <a:r>
                        <a:rPr lang="ru-RU" sz="700" dirty="0" smtClean="0"/>
                        <a:t xml:space="preserve">Self-testing was completed according to the terms of the Program. In 1 contract out of 208 (deviation - 0.5%), selected for self-testing using the sampling method, irrelevant clauses were identified (in the previous edition, i.e. the deviation is not critical), recommendations were sent to the initiator. Based on the results of self-testing of clauses in the field of personal data, out of 100 contracts selected by random sampling, taking into account the risk-based approach (contracts that are most at risk of non-compliance with requirements for personal data protection are included), 59% - include current compliance provisions, 31% - include irrelevant compliance provisions, 10% - do not contain compliance provisions (template counterparty agreement as agreed Compliance, non-standard agreements (payment of compensation under labor laws)). Relevant recommendations have been sent to Yurblock. The results were presented at a meeting of the Compliance Committee as part of the Perimeter report for the 4th quarter. 2025</a:t>
                      </a:r>
                      <a:r>
                        <a:rPr lang="ru-RU" sz="700" dirty="0" err="1" smtClean="0"/>
                        <a:t/>
                      </a:r>
                      <a:r>
                        <a:rPr lang="ru-RU" sz="700" dirty="0" smtClean="0"/>
                        <a:t/>
                      </a:r>
                      <a:endParaRPr lang="ru-RU" sz="700" dirty="0"/>
                    </a:p>
                  </a:txBody>
                  <a:tcPr marL="36000" marR="36000" marT="36000" marB="36000">
                    <a:noFill/>
                  </a:tcPr>
                </a:tc>
                <a:extLst>
                  <a:ext uri="{0D108BD9-81ED-4DB2-BD59-A6C34878D82A}">
                    <a16:rowId xmlns:a16="http://schemas.microsoft.com/office/drawing/2014/main" val="1185111126"/>
                  </a:ext>
                </a:extLst>
              </a:tr>
            </a:tbl>
          </a:graphicData>
        </a:graphic>
      </p:graphicFrame>
    </p:spTree>
    <p:extLst>
      <p:ext uri="{BB962C8B-B14F-4D97-AF65-F5344CB8AC3E}">
        <p14:creationId xmlns:p14="http://schemas.microsoft.com/office/powerpoint/2010/main" val="9899658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7743"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a:t xml:space="preserve">Annual compliance program 2025: Perimeter Kazakhstan Implementation status - Special projects</a:t>
            </a:r>
            <a:br>
              <a:rPr lang="ru-RU" dirty="0"/>
            </a:br>
            <a:r>
              <a:rPr lang="ru-RU" dirty="0">
                <a:solidFill>
                  <a:schemeClr val="tx1"/>
                </a:solidFill>
              </a:rPr>
              <a:t/>
            </a:r>
            <a:r>
              <a:rPr lang="ru-RU" dirty="0" smtClean="0">
                <a:solidFill>
                  <a:schemeClr val="tx1"/>
                </a:solidFill>
              </a:rPr>
              <a:t/>
            </a:r>
            <a:r>
              <a:rPr lang="ru-RU" dirty="0">
                <a:solidFill>
                  <a:schemeClr val="tx1"/>
                </a:solidFill>
              </a:rPr>
              <a:t/>
            </a:r>
          </a:p>
        </p:txBody>
      </p:sp>
      <p:graphicFrame>
        <p:nvGraphicFramePr>
          <p:cNvPr id="36" name="Таблица 35"/>
          <p:cNvGraphicFramePr>
            <a:graphicFrameLocks noGrp="1"/>
          </p:cNvGraphicFramePr>
          <p:nvPr>
            <p:extLst>
              <p:ext uri="{D42A27DB-BD31-4B8C-83A1-F6EECF244321}">
                <p14:modId xmlns:p14="http://schemas.microsoft.com/office/powerpoint/2010/main" val="2311829947"/>
              </p:ext>
            </p:extLst>
          </p:nvPr>
        </p:nvGraphicFramePr>
        <p:xfrm>
          <a:off x="317499" y="883684"/>
          <a:ext cx="11448000" cy="4334642"/>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229066145"/>
                    </a:ext>
                  </a:extLst>
                </a:gridCol>
                <a:gridCol w="4968000">
                  <a:extLst>
                    <a:ext uri="{9D8B030D-6E8A-4147-A177-3AD203B41FA5}">
                      <a16:colId xmlns:a16="http://schemas.microsoft.com/office/drawing/2014/main" val="3284813069"/>
                    </a:ext>
                  </a:extLst>
                </a:gridCol>
                <a:gridCol w="288000">
                  <a:extLst>
                    <a:ext uri="{9D8B030D-6E8A-4147-A177-3AD203B41FA5}">
                      <a16:colId xmlns:a16="http://schemas.microsoft.com/office/drawing/2014/main" val="1583531516"/>
                    </a:ext>
                  </a:extLst>
                </a:gridCol>
                <a:gridCol w="288000">
                  <a:extLst>
                    <a:ext uri="{9D8B030D-6E8A-4147-A177-3AD203B41FA5}">
                      <a16:colId xmlns:a16="http://schemas.microsoft.com/office/drawing/2014/main" val="1973847873"/>
                    </a:ext>
                  </a:extLst>
                </a:gridCol>
                <a:gridCol w="288000">
                  <a:extLst>
                    <a:ext uri="{9D8B030D-6E8A-4147-A177-3AD203B41FA5}">
                      <a16:colId xmlns:a16="http://schemas.microsoft.com/office/drawing/2014/main" val="2197370271"/>
                    </a:ext>
                  </a:extLst>
                </a:gridCol>
                <a:gridCol w="288000">
                  <a:extLst>
                    <a:ext uri="{9D8B030D-6E8A-4147-A177-3AD203B41FA5}">
                      <a16:colId xmlns:a16="http://schemas.microsoft.com/office/drawing/2014/main" val="3977385102"/>
                    </a:ext>
                  </a:extLst>
                </a:gridCol>
                <a:gridCol w="1080000">
                  <a:extLst>
                    <a:ext uri="{9D8B030D-6E8A-4147-A177-3AD203B41FA5}">
                      <a16:colId xmlns:a16="http://schemas.microsoft.com/office/drawing/2014/main" val="953094926"/>
                    </a:ext>
                  </a:extLst>
                </a:gridCol>
                <a:gridCol w="3168000">
                  <a:extLst>
                    <a:ext uri="{9D8B030D-6E8A-4147-A177-3AD203B41FA5}">
                      <a16:colId xmlns:a16="http://schemas.microsoft.com/office/drawing/2014/main" val="995182650"/>
                    </a:ext>
                  </a:extLst>
                </a:gridCol>
              </a:tblGrid>
              <a:tr h="381170">
                <a:tc>
                  <a:txBody>
                    <a:bodyPr/>
                    <a:lstStyle/>
                    <a:p>
                      <a:r>
                        <a:rPr lang="ru-RU" sz="700" b="0" dirty="0">
                          <a:solidFill>
                            <a:schemeClr val="accent5">
                              <a:lumMod val="75000"/>
                              <a:lumOff val="25000"/>
                            </a:schemeClr>
                          </a:solidFill>
                        </a:rPr>
                        <a:t xml:space="preserve">Compliance Model Component</a:t>
                      </a:r>
                    </a:p>
                  </a:txBody>
                  <a:tcPr marL="36000" marR="36000" marT="36000" marB="36000">
                    <a:lnB w="9525" cap="flat" cmpd="sng" algn="ctr">
                      <a:solidFill>
                        <a:srgbClr val="0070C0"/>
                      </a:solidFill>
                      <a:prstDash val="solid"/>
                      <a:round/>
                      <a:headEnd type="none" w="med" len="med"/>
                      <a:tailEnd type="none" w="med" len="med"/>
                    </a:lnB>
                    <a:noFill/>
                  </a:tcPr>
                </a:tc>
                <a:tc>
                  <a:txBody>
                    <a:bodyPr/>
                    <a:lstStyle/>
                    <a:p>
                      <a:r>
                        <a:rPr lang="ru-RU" sz="700" b="0" dirty="0">
                          <a:solidFill>
                            <a:schemeClr val="accent5">
                              <a:lumMod val="75000"/>
                              <a:lumOff val="25000"/>
                            </a:schemeClr>
                          </a:solidFill>
                        </a:rPr>
                        <a:t xml:space="preserve">Events</a:t>
                      </a:r>
                      <a:r>
                        <a:rPr lang="ru-RU" sz="700" b="0" baseline="0" dirty="0">
                          <a:solidFill>
                            <a:schemeClr val="accent5">
                              <a:lumMod val="75000"/>
                              <a:lumOff val="25000"/>
                            </a:schemeClr>
                          </a:solidFill>
                        </a:rPr>
                        <a:t/>
                      </a:r>
                      <a:endParaRPr lang="ru-RU" sz="700" b="0" dirty="0">
                        <a:solidFill>
                          <a:schemeClr val="accent5">
                            <a:lumMod val="75000"/>
                            <a:lumOff val="25000"/>
                          </a:schemeClr>
                        </a:solidFill>
                      </a:endParaRPr>
                    </a:p>
                  </a:txBody>
                  <a:tcPr marL="36000" marR="36000" marT="36000" marB="36000">
                    <a:lnB w="9525" cap="flat" cmpd="sng" algn="ctr">
                      <a:solidFill>
                        <a:srgbClr val="0070C0"/>
                      </a:solidFill>
                      <a:prstDash val="solid"/>
                      <a:round/>
                      <a:headEnd type="none" w="med" len="med"/>
                      <a:tailEnd type="none" w="med" len="med"/>
                    </a:lnB>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b="0" dirty="0">
                          <a:solidFill>
                            <a:schemeClr val="accent5">
                              <a:lumMod val="75000"/>
                              <a:lumOff val="25000"/>
                            </a:schemeClr>
                          </a:solidFill>
                        </a:rPr>
                        <a:t>2025</a:t>
                      </a:r>
                      <a:endParaRPr lang="ru-RU" sz="700" dirty="0"/>
                    </a:p>
                  </a:txBody>
                  <a:tcPr marL="36000" marR="36000" marT="36000" marB="36000">
                    <a:lnB w="9525" cap="flat" cmpd="sng" algn="ctr">
                      <a:solidFill>
                        <a:srgbClr val="0070C0"/>
                      </a:solidFill>
                      <a:prstDash val="solid"/>
                      <a:round/>
                      <a:headEnd type="none" w="med" len="med"/>
                      <a:tailEnd type="none" w="med" len="med"/>
                    </a:lnB>
                    <a:noFill/>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solidFill>
                            <a:schemeClr val="accent5">
                              <a:lumMod val="75000"/>
                              <a:lumOff val="25000"/>
                            </a:schemeClr>
                          </a:solidFill>
                        </a:rPr>
                        <a:t xml:space="preserve">Other divisions - participants</a:t>
                      </a:r>
                      <a:r>
                        <a:rPr lang="ru-RU" sz="700" b="0" baseline="0" dirty="0">
                          <a:solidFill>
                            <a:schemeClr val="accent5">
                              <a:lumMod val="75000"/>
                              <a:lumOff val="25000"/>
                            </a:schemeClr>
                          </a:solidFill>
                        </a:rPr>
                        <a:t/>
                      </a:r>
                      <a:endParaRPr lang="ru-RU" sz="700" b="0" dirty="0">
                        <a:solidFill>
                          <a:schemeClr val="accent5">
                            <a:lumMod val="75000"/>
                            <a:lumOff val="25000"/>
                          </a:schemeClr>
                        </a:solidFill>
                      </a:endParaRPr>
                    </a:p>
                    <a:p>
                      <a:endParaRPr lang="ru-RU" sz="700" b="0" dirty="0"/>
                    </a:p>
                  </a:txBody>
                  <a:tcPr marL="36000" marR="36000" marT="36000" marB="36000">
                    <a:lnB w="9525" cap="flat" cmpd="sng" algn="ctr">
                      <a:solidFill>
                        <a:srgbClr val="0070C0"/>
                      </a:solidFill>
                      <a:prstDash val="solid"/>
                      <a:round/>
                      <a:headEnd type="none" w="med" len="med"/>
                      <a:tailEnd type="none" w="med" len="med"/>
                    </a:lnB>
                    <a:noFill/>
                  </a:tcPr>
                </a:tc>
                <a:tc row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 xml:space="preserve">Execution Status</a:t>
                      </a:r>
                    </a:p>
                  </a:txBody>
                  <a:tcPr marL="36000" marR="36000" marT="36000" marB="36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238672">
                <a:tc gridSpan="2">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solidFill>
                            <a:srgbClr val="7030A0"/>
                          </a:solidFill>
                        </a:rPr>
                        <a:t xml:space="preserve">SPECIAL PROJECTS OF THE GROUP</a:t>
                      </a:r>
                    </a:p>
                  </a:txBody>
                  <a:tcPr marL="36000" marR="36000" marT="36000" marB="36000" anchor="ct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hMerge="1">
                  <a:txBody>
                    <a:bodyPr/>
                    <a:lstStyle/>
                    <a:p>
                      <a:pPr rtl="0">
                        <a:spcAft>
                          <a:spcPts val="300"/>
                        </a:spcAft>
                      </a:pPr>
                      <a:endParaRPr lang="ru-RU" sz="800" b="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a:txBody>
                    <a:bodyPr/>
                    <a:lstStyle/>
                    <a:p>
                      <a:pPr algn="ctr"/>
                      <a:r>
                        <a:rPr lang="ru-RU" sz="700" b="0" dirty="0">
                          <a:solidFill>
                            <a:schemeClr val="accent5">
                              <a:lumMod val="75000"/>
                              <a:lumOff val="25000"/>
                            </a:schemeClr>
                          </a:solidFill>
                        </a:rPr>
                        <a:t xml:space="preserve">1 sq.</a:t>
                      </a:r>
                    </a:p>
                  </a:txBody>
                  <a:tcPr marL="36000" marR="36000"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r>
                        <a:rPr lang="ru-RU" sz="700" b="0" dirty="0">
                          <a:solidFill>
                            <a:schemeClr val="accent5">
                              <a:lumMod val="75000"/>
                              <a:lumOff val="25000"/>
                            </a:schemeClr>
                          </a:solidFill>
                        </a:rPr>
                        <a:t xml:space="preserve">2 sq.</a:t>
                      </a:r>
                    </a:p>
                  </a:txBody>
                  <a:tcPr marL="36000" marR="36000"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r>
                        <a:rPr lang="ru-RU" sz="700" b="0" dirty="0">
                          <a:solidFill>
                            <a:schemeClr val="accent5">
                              <a:lumMod val="75000"/>
                              <a:lumOff val="25000"/>
                            </a:schemeClr>
                          </a:solidFill>
                        </a:rPr>
                        <a:t xml:space="preserve">3 sq.</a:t>
                      </a:r>
                    </a:p>
                  </a:txBody>
                  <a:tcPr marL="36000" marR="36000"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r>
                        <a:rPr lang="ru-RU" sz="700" b="0" dirty="0">
                          <a:solidFill>
                            <a:schemeClr val="accent5">
                              <a:lumMod val="75000"/>
                              <a:lumOff val="25000"/>
                            </a:schemeClr>
                          </a:solidFill>
                        </a:rPr>
                        <a:t xml:space="preserve">4 sq.</a:t>
                      </a:r>
                    </a:p>
                  </a:txBody>
                  <a:tcPr marL="36000" marR="36000" marT="36000" marB="36000">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vMerge="1">
                  <a:txBody>
                    <a:bodyPr/>
                    <a:lstStyle/>
                    <a:p>
                      <a:endParaRPr lang="ru-RU" sz="800" b="0" dirty="0"/>
                    </a:p>
                  </a:txBody>
                  <a:tcP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noFill/>
                  </a:tcPr>
                </a:tc>
                <a:tc vMerge="1">
                  <a:txBody>
                    <a:bodyPr/>
                    <a:lstStyle/>
                    <a:p>
                      <a:endParaRPr lang="ru-RU"/>
                    </a:p>
                  </a:txBody>
                  <a:tcPr/>
                </a:tc>
                <a:extLst>
                  <a:ext uri="{0D108BD9-81ED-4DB2-BD59-A6C34878D82A}">
                    <a16:rowId xmlns:a16="http://schemas.microsoft.com/office/drawing/2014/main" val="1064224605"/>
                  </a:ext>
                </a:extLst>
              </a:tr>
              <a:tr h="1669980">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700" dirty="0">
                          <a:solidFill>
                            <a:schemeClr val="tx1"/>
                          </a:solidFill>
                          <a:latin typeface="+mn-lt"/>
                        </a:rPr>
                        <a:t xml:space="preserve">Corporate Sustainability Due Diligence Directives (CS3D)</a:t>
                      </a:r>
                      <a:r>
                        <a:rPr lang="ru" sz="700" dirty="0" smtClean="0">
                          <a:solidFill>
                            <a:schemeClr val="tx1"/>
                          </a:solidFill>
                          <a:latin typeface="+mn-lt"/>
                        </a:rPr>
                        <a:t/>
                      </a:r>
                      <a:r>
                        <a:rPr lang="ru" sz="700" dirty="0">
                          <a:solidFill>
                            <a:schemeClr val="tx1"/>
                          </a:solidFill>
                          <a:latin typeface="+mn-lt"/>
                        </a:rPr>
                        <a:t/>
                      </a:r>
                      <a:endParaRPr lang="ru-RU" sz="700" b="0" dirty="0">
                        <a:latin typeface="+mn-lt"/>
                      </a:endParaRPr>
                    </a:p>
                  </a:txBody>
                  <a:tcPr marL="36000" marR="36000" marT="36000" marB="36000">
                    <a:lnT w="9525" cap="flat" cmpd="sng" algn="ctr">
                      <a:solidFill>
                        <a:srgbClr val="0070C0"/>
                      </a:solidFill>
                      <a:prstDash val="solid"/>
                      <a:round/>
                      <a:headEnd type="none" w="med" len="med"/>
                      <a:tailEnd type="none" w="med" len="med"/>
                    </a:lnT>
                    <a:gradFill flip="none" rotWithShape="1">
                      <a:gsLst>
                        <a:gs pos="0">
                          <a:srgbClr val="CCCCFF">
                            <a:alpha val="50000"/>
                          </a:srgbClr>
                        </a:gs>
                        <a:gs pos="100000">
                          <a:schemeClr val="bg1"/>
                        </a:gs>
                      </a:gsLst>
                      <a:lin ang="5400000" scaled="1"/>
                      <a:tileRect/>
                    </a:gradFill>
                  </a:tcPr>
                </a:tc>
                <a:tc>
                  <a:txBody>
                    <a:bodyPr/>
                    <a:lstStyle/>
                    <a:p>
                      <a:pPr rtl="0">
                        <a:spcAft>
                          <a:spcPts val="300"/>
                        </a:spcAft>
                      </a:pPr>
                      <a:r>
                        <a:rPr lang="ru-RU" sz="700" b="0" dirty="0">
                          <a:solidFill>
                            <a:schemeClr val="tx1"/>
                          </a:solidFill>
                          <a:latin typeface="+mn-lt"/>
                        </a:rPr>
                        <a:t xml:space="preserve">Participate in a cross-functional project aimed at improving existing compliance policies and procedures, including the CCP Procedure, and bringing them into compliance with CS3D requirements (Compliance will be responsible for assessing those compliance risks for which the Compliance Function is required to report under ESRS G1 and S1 standards and for which the Compliance function has the appropriate professional competencies), assessing other risks (e.g. environmental, social) during due diligence with to ensure that ERG's approach to supplier risk management is fully compliant with the requirements of the Directive.</a:t>
                      </a:r>
                      <a:r>
                        <a:rPr lang="ru" sz="700" b="0" dirty="0">
                          <a:solidFill>
                            <a:schemeClr val="tx1"/>
                          </a:solidFill>
                          <a:latin typeface="+mn-lt"/>
                        </a:rPr>
                        <a:t/>
                      </a:r>
                      <a:r>
                        <a:rPr lang="ru" sz="700" b="0" baseline="0" dirty="0">
                          <a:solidFill>
                            <a:schemeClr val="tx1"/>
                          </a:solidFill>
                          <a:latin typeface="+mn-lt"/>
                        </a:rPr>
                        <a:t/>
                      </a:r>
                      <a:r>
                        <a:rPr lang="ru" sz="700" b="0" dirty="0">
                          <a:solidFill>
                            <a:schemeClr val="tx1"/>
                          </a:solidFill>
                          <a:latin typeface="+mn-lt"/>
                        </a:rPr>
                        <a:t/>
                      </a:r>
                      <a:r>
                        <a:rPr lang="ru" sz="700" dirty="0">
                          <a:solidFill>
                            <a:schemeClr val="tx1"/>
                          </a:solidFill>
                          <a:latin typeface="+mn-lt"/>
                        </a:rPr>
                        <a:t/>
                      </a:r>
                      <a:r>
                        <a:rPr lang="en-US" sz="700" dirty="0">
                          <a:solidFill>
                            <a:schemeClr val="tx1"/>
                          </a:solidFill>
                          <a:latin typeface="+mn-lt"/>
                        </a:rPr>
                        <a:t/>
                      </a:r>
                      <a:r>
                        <a:rPr lang="ru" sz="700" dirty="0">
                          <a:solidFill>
                            <a:schemeClr val="tx1"/>
                          </a:solidFill>
                          <a:latin typeface="+mn-lt"/>
                        </a:rPr>
                        <a:t/>
                      </a:r>
                      <a:r>
                        <a:rPr lang="en-US" sz="700" dirty="0">
                          <a:solidFill>
                            <a:schemeClr val="tx1"/>
                          </a:solidFill>
                          <a:latin typeface="+mn-lt"/>
                        </a:rPr>
                        <a:t/>
                      </a:r>
                      <a:r>
                        <a:rPr lang="ru-RU" sz="700" dirty="0">
                          <a:solidFill>
                            <a:schemeClr val="tx1"/>
                          </a:solidFill>
                          <a:latin typeface="+mn-lt"/>
                        </a:rPr>
                        <a:t/>
                      </a:r>
                      <a:r>
                        <a:rPr lang="ru-RU" sz="700" baseline="0" dirty="0">
                          <a:solidFill>
                            <a:schemeClr val="tx1"/>
                          </a:solidFill>
                          <a:latin typeface="+mn-lt"/>
                        </a:rPr>
                        <a:t/>
                      </a:r>
                      <a:r>
                        <a:rPr lang="ru" sz="700" dirty="0">
                          <a:solidFill>
                            <a:schemeClr val="tx1"/>
                          </a:solidFill>
                          <a:latin typeface="+mn-lt"/>
                        </a:rPr>
                        <a:t/>
                      </a:r>
                      <a:endParaRPr lang="ru-RU" sz="700" b="0" dirty="0">
                        <a:latin typeface="+mn-lt"/>
                      </a:endParaRPr>
                    </a:p>
                  </a:txBody>
                  <a:tcPr marL="36000" marR="36000" marT="36000" marB="36000">
                    <a:lnT w="9525" cap="flat" cmpd="sng" algn="ctr">
                      <a:solidFill>
                        <a:srgbClr val="0070C0"/>
                      </a:solidFill>
                      <a:prstDash val="solid"/>
                      <a:round/>
                      <a:headEnd type="none" w="med" len="med"/>
                      <a:tailEnd type="none" w="med" len="med"/>
                    </a:lnT>
                    <a:noFill/>
                  </a:tcPr>
                </a:tc>
                <a:tc>
                  <a:txBody>
                    <a:bodyPr/>
                    <a:lstStyle/>
                    <a:p>
                      <a:pPr algn="ctr"/>
                      <a:endParaRPr lang="ru-RU" sz="700" b="0" dirty="0">
                        <a:latin typeface="+mn-lt"/>
                      </a:endParaRPr>
                    </a:p>
                  </a:txBody>
                  <a:tcPr marL="36000" marR="36000"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ru-RU"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36000" marR="36000" marT="36000" marB="36000">
                    <a:lnT w="9525" cap="flat" cmpd="sng" algn="ctr">
                      <a:solidFill>
                        <a:srgbClr val="0070C0"/>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a:txBody>
                    <a:bodyPr/>
                    <a:lstStyle/>
                    <a:p>
                      <a:r>
                        <a:rPr lang="ru-RU" sz="700" b="0" dirty="0">
                          <a:latin typeface="+mn-lt"/>
                        </a:rPr>
                        <a:t xml:space="preserve">Compliance Group, all functions involved, external consultant</a:t>
                      </a:r>
                    </a:p>
                  </a:txBody>
                  <a:tcPr marL="36000" marR="36000" marT="36000" marB="36000">
                    <a:lnT w="9525" cap="flat" cmpd="sng" algn="ctr">
                      <a:solidFill>
                        <a:srgbClr val="0070C0"/>
                      </a:solidFill>
                      <a:prstDash val="solid"/>
                      <a:round/>
                      <a:headEnd type="none" w="med" len="med"/>
                      <a:tailEnd type="none" w="med" len="med"/>
                    </a:lnT>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kern="1200" dirty="0" smtClean="0">
                          <a:solidFill>
                            <a:schemeClr val="dk1"/>
                          </a:solidFill>
                          <a:effectLst/>
                          <a:latin typeface="+mn-lt"/>
                          <a:ea typeface="+mn-ea"/>
                          <a:cs typeface="+mn-cs"/>
                        </a:rPr>
                        <a:t xml:space="preserve">Perimeter Compliance always actively participates in all projects of the Group, in the development of new / updating existing ERG policies (in particular, comments are provided regarding the update of Sanctions Compliance Policy (+ Prohibited Countries Guidelines), Sanctions Compliance Program, Antifraud Policy, Competition Compliance Policy, Conflict of Interest Policy, Related Party Contracts Policy, AI Policy (concept), updating dashboard formats (detailed comments are provided), etc. Accepted active participation in CSRD Readiness in 2024-2025 (participation in analysis, interviews, etc.). On April 11, 2025, the ESG Perimeter Committee decided to suspend the preparation of sustainability reporting in accordance with the CSRD due to the postponement of the deadline for mandatory disclosure of information for ERG to 2028 for the reporting period of 2027.</a:t>
                      </a:r>
                      <a:r>
                        <a:rPr lang="en-US" sz="700" b="0" dirty="0" smtClean="0">
                          <a:latin typeface="+mn-lt"/>
                        </a:rPr>
                        <a:t/>
                      </a:r>
                      <a:r>
                        <a:rPr lang="ru-RU" sz="700" b="0" dirty="0" smtClean="0">
                          <a:latin typeface="+mn-lt"/>
                        </a:rPr>
                        <a:t/>
                      </a:r>
                      <a:r>
                        <a:rPr lang="ru-RU" sz="700" kern="1200" dirty="0" smtClean="0">
                          <a:solidFill>
                            <a:schemeClr val="dk1"/>
                          </a:solidFill>
                          <a:effectLst/>
                          <a:latin typeface="+mn-lt"/>
                          <a:ea typeface="+mn-ea"/>
                          <a:cs typeface="+mn-cs"/>
                        </a:rPr>
                        <a:t/>
                      </a:r>
                      <a:r>
                        <a:rPr lang="ru-RU" sz="700" b="0" dirty="0" smtClean="0">
                          <a:latin typeface="+mn-lt"/>
                        </a:rPr>
                        <a:t/>
                      </a:r>
                      <a:r>
                        <a:rPr lang="ru-RU" sz="700" b="0" dirty="0" err="1" smtClean="0">
                          <a:latin typeface="+mn-lt"/>
                        </a:rPr>
                        <a:t/>
                      </a:r>
                      <a:r>
                        <a:rPr lang="ru-RU" sz="700" b="0" dirty="0" smtClean="0">
                          <a:latin typeface="+mn-lt"/>
                        </a:rPr>
                        <a:t/>
                      </a:r>
                    </a:p>
                  </a:txBody>
                  <a:tcPr marL="36000" marR="36000" marT="36000" marB="36000">
                    <a:lnT w="9525" cap="flat" cmpd="sng" algn="ctr">
                      <a:solidFill>
                        <a:srgbClr val="0070C0"/>
                      </a:solidFill>
                      <a:prstDash val="solid"/>
                      <a:round/>
                      <a:headEnd type="none" w="med" len="med"/>
                      <a:tailEnd type="none" w="med" len="med"/>
                    </a:lnT>
                    <a:noFill/>
                  </a:tcPr>
                </a:tc>
                <a:extLst>
                  <a:ext uri="{0D108BD9-81ED-4DB2-BD59-A6C34878D82A}">
                    <a16:rowId xmlns:a16="http://schemas.microsoft.com/office/drawing/2014/main" val="425885450"/>
                  </a:ext>
                </a:extLst>
              </a:tr>
              <a:tr h="808663">
                <a:tc>
                  <a:txBody>
                    <a:bodyPr/>
                    <a:lstStyle/>
                    <a:p>
                      <a:r>
                        <a:rPr lang="ru-RU" sz="700" b="0" dirty="0">
                          <a:latin typeface="+mn-lt"/>
                        </a:rPr>
                        <a:t xml:space="preserve">IT solution for Compliance</a:t>
                      </a:r>
                    </a:p>
                  </a:txBody>
                  <a:tcPr marL="36000" marR="36000" marT="36000" marB="36000">
                    <a:gradFill flip="none" rotWithShape="1">
                      <a:gsLst>
                        <a:gs pos="0">
                          <a:srgbClr val="CCCCFF">
                            <a:alpha val="50000"/>
                          </a:srgbClr>
                        </a:gs>
                        <a:gs pos="100000">
                          <a:schemeClr val="bg1"/>
                        </a:gs>
                      </a:gsLst>
                      <a:lin ang="5400000" scaled="1"/>
                      <a:tileRect/>
                    </a:grad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dirty="0">
                          <a:solidFill>
                            <a:schemeClr val="tx1"/>
                          </a:solidFill>
                          <a:latin typeface="+mn-lt"/>
                        </a:rPr>
                        <a:t xml:space="preserve">Participate in a 2-year cross-functional project aimed at identifying project stakeholders and their expectations for an IT solution, conducting market research to find a sound IT solution that will serve the interests of all stakeholders and provide the ability to load and aggregate data required to comply with CSRD requirements, comply with CS3D requirements, present the results to management and the Compliance Committee to obtain support and allocate budget.</a:t>
                      </a:r>
                      <a:r>
                        <a:rPr lang="ru" sz="700" b="0" dirty="0">
                          <a:solidFill>
                            <a:schemeClr val="tx1"/>
                          </a:solidFill>
                          <a:latin typeface="+mn-lt"/>
                        </a:rPr>
                        <a:t/>
                      </a:r>
                      <a:r>
                        <a:rPr lang="ru-RU" sz="700" b="0" i="0" u="none" strike="noStrike" kern="1200" dirty="0">
                          <a:solidFill>
                            <a:schemeClr val="tx1"/>
                          </a:solidFill>
                          <a:effectLst/>
                          <a:latin typeface="+mn-lt"/>
                          <a:ea typeface="+mn-ea"/>
                          <a:cs typeface="+mn-cs"/>
                        </a:rPr>
                        <a:t/>
                      </a:r>
                      <a:endParaRPr lang="ru-RU" sz="700" b="0" dirty="0">
                        <a:latin typeface="+mn-lt"/>
                      </a:endParaRPr>
                    </a:p>
                  </a:txBody>
                  <a:tcPr marL="36000" marR="36000" marT="36000" marB="36000">
                    <a:noFill/>
                  </a:tcPr>
                </a:tc>
                <a:tc>
                  <a:txBody>
                    <a:bodyPr/>
                    <a:lstStyle/>
                    <a:p>
                      <a:pPr algn="ctr"/>
                      <a:endParaRPr lang="ru-RU" sz="700" b="0" dirty="0">
                        <a:latin typeface="+mn-lt"/>
                      </a:endParaRPr>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L="36000" marR="36000" marT="36000" marB="36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p>
                      <a:pPr algn="ctr"/>
                      <a:endParaRPr lang="ru-RU" sz="700" b="0" dirty="0">
                        <a:latin typeface="+mn-lt"/>
                      </a:endParaRPr>
                    </a:p>
                  </a:txBody>
                  <a:tcPr marL="36000" marR="36000" marT="36000" marB="36000">
                    <a:gradFill>
                      <a:gsLst>
                        <a:gs pos="0">
                          <a:schemeClr val="accent4">
                            <a:lumMod val="20000"/>
                            <a:lumOff val="80000"/>
                          </a:schemeClr>
                        </a:gs>
                        <a:gs pos="100000">
                          <a:schemeClr val="bg1"/>
                        </a:gs>
                      </a:gsLst>
                      <a:lin ang="5400000" scaled="1"/>
                    </a:gradFill>
                  </a:tcPr>
                </a:tc>
                <a:tc>
                  <a:txBody>
                    <a:bodyPr/>
                    <a:lstStyle/>
                    <a:p>
                      <a:r>
                        <a:rPr lang="ru-RU" sz="700" b="0" dirty="0">
                          <a:latin typeface="+mn-lt"/>
                        </a:rPr>
                        <a:t xml:space="preserve">Compliance Group, HR, external consultant</a:t>
                      </a:r>
                      <a:r>
                        <a:rPr lang="en-US" sz="700" b="0" dirty="0">
                          <a:latin typeface="+mn-lt"/>
                        </a:rPr>
                        <a:t/>
                      </a:r>
                      <a:r>
                        <a:rPr lang="ru-RU" sz="700" b="0" dirty="0">
                          <a:latin typeface="+mn-lt"/>
                        </a:rPr>
                        <a:t/>
                      </a:r>
                    </a:p>
                  </a:txBody>
                  <a:tcPr marL="36000" marR="36000" marT="36000" marB="36000">
                    <a:noFill/>
                  </a:tcPr>
                </a:tc>
                <a:tc>
                  <a:txBody>
                    <a:bodyPr/>
                    <a:lstStyle/>
                    <a:p>
                      <a:r>
                        <a:rPr lang="ru-RU" sz="700" b="0" dirty="0" smtClean="0">
                          <a:latin typeface="+mn-lt"/>
                        </a:rPr>
                        <a:t xml:space="preserve">Participated in, collected, analyzed and sent to the Compliance Group the necessary information on the Perimeter for the project.</a:t>
                      </a:r>
                      <a:r>
                        <a:rPr lang="ru-RU" sz="700" b="0" baseline="0" dirty="0" smtClean="0">
                          <a:latin typeface="+mn-lt"/>
                        </a:rPr>
                        <a:t/>
                      </a:r>
                      <a:endParaRPr lang="ru-RU" sz="700" b="0" dirty="0">
                        <a:latin typeface="+mn-lt"/>
                      </a:endParaRPr>
                    </a:p>
                  </a:txBody>
                  <a:tcPr marL="36000" marR="36000" marT="36000" marB="36000">
                    <a:noFill/>
                  </a:tcPr>
                </a:tc>
                <a:extLst>
                  <a:ext uri="{0D108BD9-81ED-4DB2-BD59-A6C34878D82A}">
                    <a16:rowId xmlns:a16="http://schemas.microsoft.com/office/drawing/2014/main" val="566522185"/>
                  </a:ext>
                </a:extLst>
              </a:tr>
              <a:tr h="1236157">
                <a:tc>
                  <a:txBody>
                    <a:bodyPr/>
                    <a:lstStyle/>
                    <a:p>
                      <a:r>
                        <a:rPr lang="ru-RU" sz="700" b="0" dirty="0">
                          <a:latin typeface="+mn-lt"/>
                        </a:rPr>
                        <a:t xml:space="preserve">Competency model ERG Compliance</a:t>
                      </a:r>
                      <a:r>
                        <a:rPr lang="en-US" sz="700" b="0" dirty="0">
                          <a:latin typeface="+mn-lt"/>
                        </a:rPr>
                        <a:t/>
                      </a:r>
                      <a:endParaRPr lang="ru-RU" sz="700" b="0" dirty="0">
                        <a:latin typeface="+mn-lt"/>
                      </a:endParaRPr>
                    </a:p>
                  </a:txBody>
                  <a:tcPr marL="36000" marR="36000" marT="36000" marB="36000">
                    <a:lnB w="9525" cap="flat" cmpd="sng" algn="ctr">
                      <a:solidFill>
                        <a:schemeClr val="accent5">
                          <a:lumMod val="75000"/>
                          <a:lumOff val="25000"/>
                        </a:schemeClr>
                      </a:solidFill>
                      <a:prstDash val="solid"/>
                      <a:round/>
                      <a:headEnd type="none" w="med" len="med"/>
                      <a:tailEnd type="none" w="med" len="med"/>
                    </a:lnB>
                    <a:gradFill flip="none" rotWithShape="1">
                      <a:gsLst>
                        <a:gs pos="0">
                          <a:srgbClr val="CCCCFF">
                            <a:alpha val="50000"/>
                          </a:srgbClr>
                        </a:gs>
                        <a:gs pos="100000">
                          <a:schemeClr val="bg1"/>
                        </a:gs>
                      </a:gsLst>
                      <a:lin ang="5400000" scaled="1"/>
                      <a:tileRect/>
                    </a:grad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dirty="0">
                          <a:solidFill>
                            <a:schemeClr val="tx1"/>
                          </a:solidFill>
                          <a:latin typeface="+mn-lt"/>
                        </a:rPr>
                        <a:t xml:space="preserve">Participate in a 2-year cross-functional project aimed at assessing the scope of competencies and skills required to create a flexible and change-ready Compliance Risk Management Model that can quickly respond to current challenges (geopolitical, related to sustainable development, AI and other issues), “customizing” positions within the ERG compliance service so that they correspond to the level of complexity of the tasks being solved and the expectations of stakeholders (approach taking into account the positions and responsibilities) and ensured the transition from compliance to ensuring sustainable development, training, development and attraction of proactive compliance specialists, significant contribution to the improvement of KPIs and motivation systems, development of a roadmap for the competency model.</a:t>
                      </a:r>
                      <a:r>
                        <a:rPr lang="ru" sz="700" b="0" dirty="0">
                          <a:solidFill>
                            <a:schemeClr val="tx1"/>
                          </a:solidFill>
                          <a:latin typeface="+mn-lt"/>
                        </a:rPr>
                        <a:t/>
                      </a:r>
                      <a:r>
                        <a:rPr lang="ru-RU" sz="700" b="0" i="0" u="none" strike="noStrike" kern="1200" baseline="0" dirty="0">
                          <a:solidFill>
                            <a:schemeClr val="tx1"/>
                          </a:solidFill>
                          <a:effectLst/>
                          <a:latin typeface="+mn-lt"/>
                          <a:ea typeface="+mn-ea"/>
                          <a:cs typeface="+mn-cs"/>
                        </a:rPr>
                        <a:t/>
                      </a:r>
                      <a:r>
                        <a:rPr lang="ru-RU" sz="700" b="0" i="0" u="none" strike="noStrike" kern="120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ru-RU" sz="700" b="0" i="0" u="none" strike="noStrike" kern="1200" dirty="0">
                          <a:solidFill>
                            <a:schemeClr val="tx1"/>
                          </a:solidFill>
                          <a:effectLst/>
                          <a:latin typeface="+mn-lt"/>
                          <a:ea typeface="+mn-ea"/>
                          <a:cs typeface="+mn-cs"/>
                        </a:rPr>
                        <a:t/>
                      </a:r>
                    </a:p>
                  </a:txBody>
                  <a:tcPr marL="36000" marR="36000" marT="36000" marB="36000">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a:endParaRPr lang="ru-RU" sz="700" b="0" dirty="0">
                        <a:latin typeface="+mn-lt"/>
                      </a:endParaRPr>
                    </a:p>
                  </a:txBody>
                  <a:tcPr marL="36000" marR="36000"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L="36000" marR="36000"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L="36000" marR="36000"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pPr algn="ctr"/>
                      <a:r>
                        <a:rPr lang="ru-RU" sz="700" b="0" dirty="0">
                          <a:latin typeface="+mn-lt"/>
                        </a:rPr>
                        <a:t>Х</a:t>
                      </a:r>
                    </a:p>
                  </a:txBody>
                  <a:tcPr marL="36000" marR="36000" marT="36000" marB="36000">
                    <a:lnB w="9525" cap="flat" cmpd="sng" algn="ctr">
                      <a:solidFill>
                        <a:schemeClr val="accent5">
                          <a:lumMod val="75000"/>
                          <a:lumOff val="25000"/>
                        </a:schemeClr>
                      </a:solidFill>
                      <a:prstDash val="solid"/>
                      <a:round/>
                      <a:headEnd type="none" w="med" len="med"/>
                      <a:tailEnd type="none" w="med" len="med"/>
                    </a:lnB>
                    <a:gradFill>
                      <a:gsLst>
                        <a:gs pos="0">
                          <a:schemeClr val="accent4">
                            <a:lumMod val="20000"/>
                            <a:lumOff val="80000"/>
                          </a:schemeClr>
                        </a:gs>
                        <a:gs pos="100000">
                          <a:schemeClr val="bg1"/>
                        </a:gs>
                      </a:gsLst>
                      <a:lin ang="5400000" scaled="1"/>
                    </a:gradFill>
                  </a:tcPr>
                </a:tc>
                <a:tc>
                  <a:txBody>
                    <a:bodyPr/>
                    <a:lstStyle/>
                    <a:p>
                      <a:r>
                        <a:rPr lang="ru-RU" sz="700" b="0" dirty="0">
                          <a:latin typeface="+mn-lt"/>
                        </a:rPr>
                        <a:t xml:space="preserve">Compliance Group, HR, Finance. unit, external consultant</a:t>
                      </a:r>
                      <a:r>
                        <a:rPr lang="en-US" sz="700" b="0" dirty="0">
                          <a:latin typeface="+mn-lt"/>
                        </a:rPr>
                        <a:t/>
                      </a:r>
                      <a:r>
                        <a:rPr lang="ru-RU" sz="700" b="0" dirty="0">
                          <a:latin typeface="+mn-lt"/>
                        </a:rPr>
                        <a:t/>
                      </a:r>
                    </a:p>
                  </a:txBody>
                  <a:tcPr marL="36000" marR="36000" marT="36000" marB="36000">
                    <a:lnB w="9525" cap="flat" cmpd="sng" algn="ctr">
                      <a:solidFill>
                        <a:schemeClr val="accent5">
                          <a:lumMod val="75000"/>
                          <a:lumOff val="25000"/>
                        </a:schemeClr>
                      </a:solidFill>
                      <a:prstDash val="solid"/>
                      <a:round/>
                      <a:headEnd type="none" w="med" len="med"/>
                      <a:tailEnd type="none" w="med" len="med"/>
                    </a:lnB>
                    <a:noFill/>
                  </a:tcPr>
                </a:tc>
                <a:tc>
                  <a:txBody>
                    <a:bodyPr/>
                    <a:lstStyle/>
                    <a:p>
                      <a:r>
                        <a:rPr lang="ru-RU" sz="700" b="0" dirty="0" smtClean="0">
                          <a:latin typeface="+mn-lt"/>
                        </a:rPr>
                        <a:t xml:space="preserve">There were no requests for the project in 2025.</a:t>
                      </a:r>
                      <a:r>
                        <a:rPr lang="ru-RU" sz="700" b="0" baseline="0" dirty="0" smtClean="0">
                          <a:latin typeface="+mn-lt"/>
                        </a:rPr>
                        <a:t/>
                      </a:r>
                      <a:endParaRPr lang="ru-RU" sz="700" b="0" dirty="0">
                        <a:latin typeface="+mn-lt"/>
                      </a:endParaRPr>
                    </a:p>
                  </a:txBody>
                  <a:tcPr marL="36000" marR="36000" marT="36000" marB="36000">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948989414"/>
                  </a:ext>
                </a:extLst>
              </a:tr>
            </a:tbl>
          </a:graphicData>
        </a:graphic>
      </p:graphicFrame>
    </p:spTree>
    <p:extLst>
      <p:ext uri="{BB962C8B-B14F-4D97-AF65-F5344CB8AC3E}">
        <p14:creationId xmlns:p14="http://schemas.microsoft.com/office/powerpoint/2010/main" val="3424963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Таблица 35"/>
          <p:cNvGraphicFramePr>
            <a:graphicFrameLocks noGrp="1"/>
          </p:cNvGraphicFramePr>
          <p:nvPr>
            <p:extLst>
              <p:ext uri="{D42A27DB-BD31-4B8C-83A1-F6EECF244321}">
                <p14:modId xmlns:p14="http://schemas.microsoft.com/office/powerpoint/2010/main" val="3292842839"/>
              </p:ext>
            </p:extLst>
          </p:nvPr>
        </p:nvGraphicFramePr>
        <p:xfrm>
          <a:off x="317499" y="800926"/>
          <a:ext cx="11736000" cy="5863078"/>
        </p:xfrm>
        <a:graphic>
          <a:graphicData uri="http://schemas.openxmlformats.org/drawingml/2006/table">
            <a:tbl>
              <a:tblPr firstRow="1" bandRow="1">
                <a:tableStyleId>{5C22544A-7EE6-4342-B048-85BDC9FD1C3A}</a:tableStyleId>
              </a:tblPr>
              <a:tblGrid>
                <a:gridCol w="828000">
                  <a:extLst>
                    <a:ext uri="{9D8B030D-6E8A-4147-A177-3AD203B41FA5}">
                      <a16:colId xmlns:a16="http://schemas.microsoft.com/office/drawing/2014/main" val="2229066145"/>
                    </a:ext>
                  </a:extLst>
                </a:gridCol>
                <a:gridCol w="2880000">
                  <a:extLst>
                    <a:ext uri="{9D8B030D-6E8A-4147-A177-3AD203B41FA5}">
                      <a16:colId xmlns:a16="http://schemas.microsoft.com/office/drawing/2014/main" val="3284813069"/>
                    </a:ext>
                  </a:extLst>
                </a:gridCol>
                <a:gridCol w="180000">
                  <a:extLst>
                    <a:ext uri="{9D8B030D-6E8A-4147-A177-3AD203B41FA5}">
                      <a16:colId xmlns:a16="http://schemas.microsoft.com/office/drawing/2014/main" val="1583531516"/>
                    </a:ext>
                  </a:extLst>
                </a:gridCol>
                <a:gridCol w="180000">
                  <a:extLst>
                    <a:ext uri="{9D8B030D-6E8A-4147-A177-3AD203B41FA5}">
                      <a16:colId xmlns:a16="http://schemas.microsoft.com/office/drawing/2014/main" val="1973847873"/>
                    </a:ext>
                  </a:extLst>
                </a:gridCol>
                <a:gridCol w="180000">
                  <a:extLst>
                    <a:ext uri="{9D8B030D-6E8A-4147-A177-3AD203B41FA5}">
                      <a16:colId xmlns:a16="http://schemas.microsoft.com/office/drawing/2014/main" val="2197370271"/>
                    </a:ext>
                  </a:extLst>
                </a:gridCol>
                <a:gridCol w="180000">
                  <a:extLst>
                    <a:ext uri="{9D8B030D-6E8A-4147-A177-3AD203B41FA5}">
                      <a16:colId xmlns:a16="http://schemas.microsoft.com/office/drawing/2014/main" val="3977385102"/>
                    </a:ext>
                  </a:extLst>
                </a:gridCol>
                <a:gridCol w="1044000">
                  <a:extLst>
                    <a:ext uri="{9D8B030D-6E8A-4147-A177-3AD203B41FA5}">
                      <a16:colId xmlns:a16="http://schemas.microsoft.com/office/drawing/2014/main" val="953094926"/>
                    </a:ext>
                  </a:extLst>
                </a:gridCol>
                <a:gridCol w="6264000">
                  <a:extLst>
                    <a:ext uri="{9D8B030D-6E8A-4147-A177-3AD203B41FA5}">
                      <a16:colId xmlns:a16="http://schemas.microsoft.com/office/drawing/2014/main" val="995182650"/>
                    </a:ext>
                  </a:extLst>
                </a:gridCol>
              </a:tblGrid>
              <a:tr h="194058">
                <a:tc>
                  <a:txBody>
                    <a:bodyPr/>
                    <a:lstStyle/>
                    <a:p>
                      <a:r>
                        <a:rPr lang="ru-RU" sz="700" b="0" dirty="0">
                          <a:solidFill>
                            <a:schemeClr val="accent5">
                              <a:lumMod val="75000"/>
                              <a:lumOff val="25000"/>
                            </a:schemeClr>
                          </a:solidFill>
                        </a:rPr>
                        <a:t xml:space="preserve">Compliance Model Component</a:t>
                      </a:r>
                    </a:p>
                  </a:txBody>
                  <a:tcPr marL="18000" marR="18000" marT="18000" marB="18000">
                    <a:lnB w="9525" cap="flat" cmpd="sng" algn="ctr">
                      <a:solidFill>
                        <a:srgbClr val="0070C0"/>
                      </a:solidFill>
                      <a:prstDash val="solid"/>
                      <a:round/>
                      <a:headEnd type="none" w="med" len="med"/>
                      <a:tailEnd type="none" w="med" len="med"/>
                    </a:lnB>
                    <a:noFill/>
                  </a:tcPr>
                </a:tc>
                <a:tc>
                  <a:txBody>
                    <a:bodyPr/>
                    <a:lstStyle/>
                    <a:p>
                      <a:r>
                        <a:rPr lang="ru-RU" sz="700" b="0" dirty="0">
                          <a:solidFill>
                            <a:schemeClr val="accent5">
                              <a:lumMod val="75000"/>
                              <a:lumOff val="25000"/>
                            </a:schemeClr>
                          </a:solidFill>
                        </a:rPr>
                        <a:t xml:space="preserve">Events</a:t>
                      </a:r>
                      <a:r>
                        <a:rPr lang="ru-RU" sz="700" b="0" baseline="0" dirty="0">
                          <a:solidFill>
                            <a:schemeClr val="accent5">
                              <a:lumMod val="75000"/>
                              <a:lumOff val="25000"/>
                            </a:schemeClr>
                          </a:solidFill>
                        </a:rPr>
                        <a:t/>
                      </a:r>
                      <a:endParaRPr lang="ru-RU" sz="700" b="0" dirty="0">
                        <a:solidFill>
                          <a:schemeClr val="accent5">
                            <a:lumMod val="75000"/>
                            <a:lumOff val="25000"/>
                          </a:schemeClr>
                        </a:solidFill>
                      </a:endParaRPr>
                    </a:p>
                  </a:txBody>
                  <a:tcPr marL="18000" marR="18000" marT="18000" marB="18000">
                    <a:lnB w="9525" cap="flat" cmpd="sng" algn="ctr">
                      <a:solidFill>
                        <a:srgbClr val="0070C0"/>
                      </a:solidFill>
                      <a:prstDash val="solid"/>
                      <a:round/>
                      <a:headEnd type="none" w="med" len="med"/>
                      <a:tailEnd type="none" w="med" len="med"/>
                    </a:lnB>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b="0" dirty="0">
                          <a:solidFill>
                            <a:schemeClr val="accent5">
                              <a:lumMod val="75000"/>
                              <a:lumOff val="25000"/>
                            </a:schemeClr>
                          </a:solidFill>
                        </a:rPr>
                        <a:t>2025</a:t>
                      </a:r>
                      <a:endParaRPr lang="ru-RU" sz="700" dirty="0"/>
                    </a:p>
                  </a:txBody>
                  <a:tcPr marL="18000" marR="18000" marT="18000" marB="18000">
                    <a:lnB w="9525" cap="flat" cmpd="sng" algn="ctr">
                      <a:solidFill>
                        <a:srgbClr val="0070C0"/>
                      </a:solidFill>
                      <a:prstDash val="solid"/>
                      <a:round/>
                      <a:headEnd type="none" w="med" len="med"/>
                      <a:tailEnd type="none" w="med" len="med"/>
                    </a:lnB>
                    <a:noFill/>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solidFill>
                            <a:schemeClr val="accent5">
                              <a:lumMod val="75000"/>
                              <a:lumOff val="25000"/>
                            </a:schemeClr>
                          </a:solidFill>
                        </a:rPr>
                        <a:t xml:space="preserve">Other divisions - participants</a:t>
                      </a:r>
                      <a:r>
                        <a:rPr lang="ru-RU" sz="700" b="0" baseline="0" dirty="0">
                          <a:solidFill>
                            <a:schemeClr val="accent5">
                              <a:lumMod val="75000"/>
                              <a:lumOff val="25000"/>
                            </a:schemeClr>
                          </a:solidFill>
                        </a:rPr>
                        <a:t/>
                      </a:r>
                      <a:r>
                        <a:rPr lang="ru-RU" sz="700" b="0" baseline="0" dirty="0" smtClean="0">
                          <a:solidFill>
                            <a:schemeClr val="accent5">
                              <a:lumMod val="75000"/>
                              <a:lumOff val="25000"/>
                            </a:schemeClr>
                          </a:solidFill>
                        </a:rPr>
                        <a:t/>
                      </a:r>
                      <a:endParaRPr lang="ru-RU" sz="700" b="0" dirty="0"/>
                    </a:p>
                  </a:txBody>
                  <a:tcPr marL="18000" marR="18000" marT="18000" marB="18000">
                    <a:lnB w="9525" cap="flat" cmpd="sng" algn="ctr">
                      <a:solidFill>
                        <a:srgbClr val="0070C0"/>
                      </a:solidFill>
                      <a:prstDash val="solid"/>
                      <a:round/>
                      <a:headEnd type="none" w="med" len="med"/>
                      <a:tailEnd type="none" w="med" len="med"/>
                    </a:lnB>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 xml:space="preserve">Execution Status</a:t>
                      </a:r>
                    </a:p>
                  </a:txBody>
                  <a:tcPr marL="18000" marR="18000" marT="18000" marB="18000">
                    <a:lnB w="9525"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472596878"/>
                  </a:ext>
                </a:extLst>
              </a:tr>
              <a:tr h="111037">
                <a:tc gridSpan="7">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solidFill>
                            <a:srgbClr val="7030A0"/>
                          </a:solidFill>
                        </a:rPr>
                        <a:t xml:space="preserve">SPECIAL PERIMETER PROJECTS</a:t>
                      </a:r>
                    </a:p>
                  </a:txBody>
                  <a:tcPr marL="18000" marR="18000" marT="18000" marB="18000" anchor="ctr">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endParaRPr lang="ru-RU" sz="800" b="0" dirty="0">
                        <a:solidFill>
                          <a:srgbClr val="FF0000"/>
                        </a:solidFill>
                        <a:latin typeface="+mn-lt"/>
                      </a:endParaRPr>
                    </a:p>
                  </a:txBody>
                  <a:tcPr>
                    <a:noFill/>
                  </a:tcPr>
                </a:tc>
                <a:tc hMerge="1">
                  <a:txBody>
                    <a:bodyPr/>
                    <a:lstStyle/>
                    <a:p>
                      <a:pPr algn="ctr"/>
                      <a:endParaRPr lang="ru-RU" sz="800" b="0" dirty="0">
                        <a:latin typeface="+mn-lt"/>
                      </a:endParaRPr>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latin typeface="+mn-lt"/>
                      </a:endParaRPr>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latin typeface="+mn-lt"/>
                      </a:endParaRPr>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latin typeface="+mn-lt"/>
                      </a:endParaRPr>
                    </a:p>
                  </a:txBody>
                  <a:tcPr>
                    <a:gradFill>
                      <a:gsLst>
                        <a:gs pos="0">
                          <a:schemeClr val="accent4">
                            <a:lumMod val="20000"/>
                            <a:lumOff val="80000"/>
                          </a:schemeClr>
                        </a:gs>
                        <a:gs pos="100000">
                          <a:schemeClr val="bg1"/>
                        </a:gs>
                      </a:gsLst>
                      <a:lin ang="5400000" scaled="1"/>
                    </a:gradFill>
                  </a:tcPr>
                </a:tc>
                <a:tc hMerge="1">
                  <a:txBody>
                    <a:bodyPr/>
                    <a:lstStyle/>
                    <a:p>
                      <a:endParaRPr lang="ru-RU" sz="800" b="0" dirty="0">
                        <a:latin typeface="+mn-lt"/>
                      </a:endParaRPr>
                    </a:p>
                  </a:txBody>
                  <a:tcP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ru-RU" sz="700" b="0" dirty="0">
                        <a:solidFill>
                          <a:srgbClr val="7030A0"/>
                        </a:solidFill>
                      </a:endParaRPr>
                    </a:p>
                  </a:txBody>
                  <a:tcPr marL="18000" marR="18000" marT="18000" marB="18000" anchor="ctr">
                    <a:lnT w="9525" cap="flat" cmpd="sng" algn="ctr">
                      <a:solidFill>
                        <a:srgbClr val="0070C0"/>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183184705"/>
                  </a:ext>
                </a:extLst>
              </a:tr>
              <a:tr h="609161">
                <a:tc rowSpan="3">
                  <a:txBody>
                    <a:bodyPr/>
                    <a:lstStyle/>
                    <a:p>
                      <a:r>
                        <a:rPr lang="ru-RU" sz="700" b="0" dirty="0">
                          <a:latin typeface="+mn-lt"/>
                        </a:rPr>
                        <a:t xml:space="preserve">Sustainable development</a:t>
                      </a:r>
                    </a:p>
                  </a:txBody>
                  <a:tcPr marL="18000" marR="18000" marT="18000" marB="18000">
                    <a:lnT w="9525" cap="flat" cmpd="sng" algn="ctr">
                      <a:solidFill>
                        <a:schemeClr val="accent5">
                          <a:lumMod val="75000"/>
                          <a:lumOff val="25000"/>
                        </a:schemeClr>
                      </a:solidFill>
                      <a:prstDash val="solid"/>
                      <a:round/>
                      <a:headEnd type="none" w="med" len="med"/>
                      <a:tailEnd type="none" w="med" len="med"/>
                    </a:lnT>
                    <a:gradFill flip="none" rotWithShape="1">
                      <a:gsLst>
                        <a:gs pos="0">
                          <a:srgbClr val="CCCCFF">
                            <a:alpha val="50000"/>
                          </a:srgbClr>
                        </a:gs>
                        <a:gs pos="100000">
                          <a:schemeClr val="bg1"/>
                        </a:gs>
                      </a:gsLst>
                      <a:lin ang="5400000" scaled="1"/>
                      <a:tileRect/>
                    </a:grad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kern="1200" dirty="0">
                          <a:solidFill>
                            <a:schemeClr val="dk1"/>
                          </a:solidFill>
                          <a:effectLst/>
                          <a:latin typeface="+mn-lt"/>
                          <a:ea typeface="+mn-ea"/>
                          <a:cs typeface="+mn-cs"/>
                        </a:rPr>
                        <a:t xml:space="preserve">Participate with the Perimeter ESG team in ESG assessments as part of obtaining ESG ratings (when such goals are set for Perimeter) or for other external assessments.</a:t>
                      </a:r>
                      <a:r>
                        <a:rPr lang="en-US" sz="700" kern="1200" dirty="0">
                          <a:solidFill>
                            <a:schemeClr val="dk1"/>
                          </a:solidFill>
                          <a:effectLst/>
                          <a:latin typeface="+mn-lt"/>
                          <a:ea typeface="+mn-ea"/>
                          <a:cs typeface="+mn-cs"/>
                        </a:rPr>
                        <a:t/>
                      </a:r>
                      <a:r>
                        <a:rPr lang="ru-RU" sz="700" kern="1200" dirty="0">
                          <a:solidFill>
                            <a:schemeClr val="dk1"/>
                          </a:solidFill>
                          <a:effectLst/>
                          <a:latin typeface="+mn-lt"/>
                          <a:ea typeface="+mn-ea"/>
                          <a:cs typeface="+mn-cs"/>
                        </a:rPr>
                        <a:t/>
                      </a:r>
                      <a:r>
                        <a:rPr lang="ru-RU" sz="700" kern="1200" baseline="0" dirty="0">
                          <a:solidFill>
                            <a:schemeClr val="dk1"/>
                          </a:solidFill>
                          <a:effectLst/>
                          <a:latin typeface="+mn-lt"/>
                          <a:ea typeface="+mn-ea"/>
                          <a:cs typeface="+mn-cs"/>
                        </a:rPr>
                        <a:t/>
                      </a:r>
                      <a:endParaRPr lang="ru-RU" sz="700" b="0" dirty="0">
                        <a:solidFill>
                          <a:schemeClr val="accent5">
                            <a:lumMod val="75000"/>
                            <a:lumOff val="25000"/>
                          </a:schemeClr>
                        </a:solidFill>
                        <a:latin typeface="+mn-lt"/>
                      </a:endParaRPr>
                    </a:p>
                  </a:txBody>
                  <a:tcPr marL="18000" marR="18000" marT="18000" marB="18000">
                    <a:lnT w="9525" cap="flat" cmpd="sng" algn="ctr">
                      <a:solidFill>
                        <a:schemeClr val="accent5">
                          <a:lumMod val="75000"/>
                          <a:lumOff val="25000"/>
                        </a:schemeClr>
                      </a:solidFill>
                      <a:prstDash val="solid"/>
                      <a:round/>
                      <a:headEnd type="none" w="med" len="med"/>
                      <a:tailEnd type="none" w="med" len="med"/>
                    </a:lnT>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32373C"/>
                          </a:solidFill>
                          <a:effectLst/>
                          <a:uLnTx/>
                          <a:uFillTx/>
                          <a:latin typeface="+mn-lt"/>
                          <a:ea typeface="+mn-ea"/>
                          <a:cs typeface="+mn-cs"/>
                        </a:rPr>
                        <a:t xml:space="preserve">ad hoc</a:t>
                      </a:r>
                      <a:endParaRPr lang="ru-RU" sz="700" b="0" i="1" dirty="0"/>
                    </a:p>
                  </a:txBody>
                  <a:tcPr marL="18000" marR="18000" marT="18000" marB="18000">
                    <a:lnT w="9525" cap="flat" cmpd="sng" algn="ctr">
                      <a:solidFill>
                        <a:schemeClr val="accent5">
                          <a:lumMod val="75000"/>
                          <a:lumOff val="25000"/>
                        </a:schemeClr>
                      </a:solidFill>
                      <a:prstDash val="solid"/>
                      <a:round/>
                      <a:headEnd type="none" w="med" len="med"/>
                      <a:tailEnd type="none" w="med" len="med"/>
                    </a:lnT>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a:txBody>
                    <a:bodyPr/>
                    <a:lstStyle/>
                    <a:p>
                      <a:r>
                        <a:rPr lang="ru-RU" sz="700" b="0" dirty="0">
                          <a:latin typeface="+mn-lt"/>
                        </a:rPr>
                        <a:t xml:space="preserve">ESG Team</a:t>
                      </a:r>
                      <a:r>
                        <a:rPr lang="en-US" sz="700" b="0" dirty="0">
                          <a:latin typeface="+mn-lt"/>
                        </a:rPr>
                        <a:t/>
                      </a:r>
                      <a:endParaRPr lang="ru-RU" sz="700" b="0" dirty="0">
                        <a:latin typeface="+mn-lt"/>
                      </a:endParaRPr>
                    </a:p>
                  </a:txBody>
                  <a:tcPr marL="18000" marR="18000" marT="18000" marB="18000">
                    <a:lnT w="9525" cap="flat" cmpd="sng" algn="ctr">
                      <a:solidFill>
                        <a:schemeClr val="accent5">
                          <a:lumMod val="75000"/>
                          <a:lumOff val="25000"/>
                        </a:schemeClr>
                      </a:solidFill>
                      <a:prstDash val="solid"/>
                      <a:round/>
                      <a:headEnd type="none" w="med" len="med"/>
                      <a:tailEnd type="none" w="med" len="med"/>
                    </a:lnT>
                    <a:noFill/>
                  </a:tcPr>
                </a:tc>
                <a:tc>
                  <a:txBody>
                    <a:bodyPr/>
                    <a:lstStyle/>
                    <a:p>
                      <a:r>
                        <a:rPr lang="ru-RU" sz="700" b="0" dirty="0" smtClean="0">
                          <a:latin typeface="+mn-lt"/>
                        </a:rPr>
                        <a:t xml:space="preserve">Support was provided (actively participated in the assessment - filling out questionnaires, participating in analysis and interviews, etc.) for such projects and external assessments of Perimeter as</a:t>
                      </a:r>
                    </a:p>
                    <a:p>
                      <a:pPr marL="87313" indent="-87313">
                        <a:buFont typeface="Arial" panose="020B0604020202020204" pitchFamily="34" charset="0"/>
                        <a:buChar char="•"/>
                      </a:pPr>
                      <a:r>
                        <a:rPr lang="ru-RU" sz="700" b="0" dirty="0" smtClean="0">
                          <a:latin typeface="+mn-lt"/>
                        </a:rPr>
                        <a:t xml:space="preserve">LME under the new Track C approach</a:t>
                      </a:r>
                      <a:r>
                        <a:rPr lang="ru-RU" sz="700" b="0" dirty="0" err="1" smtClean="0">
                          <a:latin typeface="+mn-lt"/>
                        </a:rPr>
                        <a:t/>
                      </a:r>
                      <a:r>
                        <a:rPr lang="ru-RU" sz="700" b="0" dirty="0" smtClean="0">
                          <a:latin typeface="+mn-lt"/>
                        </a:rPr>
                        <a:t/>
                      </a:r>
                    </a:p>
                    <a:p>
                      <a:pPr marL="87313" indent="-87313">
                        <a:buFont typeface="Arial" panose="020B0604020202020204" pitchFamily="34" charset="0"/>
                        <a:buChar char="•"/>
                      </a:pPr>
                      <a:r>
                        <a:rPr lang="ru-RU" sz="700" b="0" dirty="0" err="1" smtClean="0">
                          <a:latin typeface="+mn-lt"/>
                        </a:rPr>
                        <a:t xml:space="preserve">EcoVadis - the process owner noted the contribution Compliance</a:t>
                      </a:r>
                      <a:r>
                        <a:rPr lang="ru-RU" sz="700" b="0" dirty="0" smtClean="0">
                          <a:latin typeface="+mn-lt"/>
                        </a:rPr>
                        <a:t/>
                      </a:r>
                    </a:p>
                    <a:p>
                      <a:pPr marL="87313" indent="-87313">
                        <a:buFont typeface="Arial" panose="020B0604020202020204" pitchFamily="34" charset="0"/>
                        <a:buChar char="•"/>
                      </a:pPr>
                      <a:r>
                        <a:rPr lang="ru-RU" sz="700" b="0" dirty="0" err="1" smtClean="0">
                          <a:latin typeface="+mn-lt"/>
                        </a:rPr>
                        <a:t xml:space="preserve">Bettercoal – external auditor noted contribution Compliance</a:t>
                      </a:r>
                      <a:r>
                        <a:rPr lang="ru-RU" sz="700" b="0" dirty="0" smtClean="0">
                          <a:latin typeface="+mn-lt"/>
                        </a:rPr>
                        <a:t/>
                      </a:r>
                    </a:p>
                    <a:p>
                      <a:pPr marL="87313" indent="-87313">
                        <a:buFont typeface="Arial" panose="020B0604020202020204" pitchFamily="34" charset="0"/>
                        <a:buChar char="•"/>
                      </a:pPr>
                      <a:r>
                        <a:rPr lang="ru-RU" sz="700" b="0" dirty="0" smtClean="0">
                          <a:latin typeface="+mn-lt"/>
                        </a:rPr>
                        <a:t xml:space="preserve">Deep KYC of our partners (Halo project, Gallium - the owner of the process noted the contribution of Compliance and other involved functions, KASE (KZ), etc.).</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endParaRPr lang="ru-RU" sz="700" b="0" dirty="0">
                        <a:latin typeface="+mn-lt"/>
                      </a:endParaRPr>
                    </a:p>
                  </a:txBody>
                  <a:tcPr marL="18000" marR="18000" marT="18000" marB="18000">
                    <a:lnT w="9525" cap="flat" cmpd="sng" algn="ctr">
                      <a:solidFill>
                        <a:schemeClr val="accent5">
                          <a:lumMod val="75000"/>
                          <a:lumOff val="25000"/>
                        </a:schemeClr>
                      </a:solidFill>
                      <a:prstDash val="solid"/>
                      <a:round/>
                      <a:headEnd type="none" w="med" len="med"/>
                      <a:tailEnd type="none" w="med" len="med"/>
                    </a:lnT>
                    <a:noFill/>
                  </a:tcPr>
                </a:tc>
                <a:extLst>
                  <a:ext uri="{0D108BD9-81ED-4DB2-BD59-A6C34878D82A}">
                    <a16:rowId xmlns:a16="http://schemas.microsoft.com/office/drawing/2014/main" val="578468836"/>
                  </a:ext>
                </a:extLst>
              </a:tr>
              <a:tr h="1356348">
                <a:tc vMerge="1">
                  <a:txBody>
                    <a:bodyPr/>
                    <a:lstStyle/>
                    <a:p>
                      <a:endParaRPr lang="ru-RU" sz="800" b="0" dirty="0">
                        <a:latin typeface="+mn-lt"/>
                      </a:endParaRPr>
                    </a:p>
                  </a:txBody>
                  <a:tcPr>
                    <a:gradFill flip="none" rotWithShape="1">
                      <a:gsLst>
                        <a:gs pos="0">
                          <a:srgbClr val="CCCCFF">
                            <a:alpha val="50000"/>
                          </a:srgbClr>
                        </a:gs>
                        <a:gs pos="100000">
                          <a:schemeClr val="bg1"/>
                        </a:gs>
                      </a:gsLst>
                      <a:lin ang="5400000" scaled="1"/>
                      <a:tileRect/>
                    </a:grad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kern="1200" dirty="0">
                          <a:solidFill>
                            <a:schemeClr val="dk1"/>
                          </a:solidFill>
                          <a:effectLst/>
                          <a:latin typeface="+mn-lt"/>
                          <a:ea typeface="+mn-ea"/>
                          <a:cs typeface="+mn-cs"/>
                        </a:rPr>
                        <a:t xml:space="preserve">Continue participation in the Perimeter project to analyze sustainable supply chain management procedures to ensure compliance with best practices and ESG requirements within the framework of 3rd party risk management, including determining the level of ESG maturity of suppliers (questionnaire), add. criteria for the supplier certification process, Perimeter's 2024 Sustainable Procurement Report, updating ESG information on Perimeter's websites, etc., in collaboration with the ESG and CC teams.</a:t>
                      </a:r>
                      <a:r>
                        <a:rPr lang="ru-RU" sz="700" kern="1200" dirty="0" smtClean="0">
                          <a:solidFill>
                            <a:schemeClr val="dk1"/>
                          </a:solidFill>
                          <a:effectLst/>
                          <a:latin typeface="+mn-lt"/>
                          <a:ea typeface="+mn-ea"/>
                          <a:cs typeface="+mn-cs"/>
                        </a:rPr>
                        <a:t/>
                      </a:r>
                      <a:r>
                        <a:rPr lang="ru-RU" sz="700" kern="1200" dirty="0">
                          <a:solidFill>
                            <a:schemeClr val="dk1"/>
                          </a:solidFill>
                          <a:effectLst/>
                          <a:latin typeface="+mn-lt"/>
                          <a:ea typeface="+mn-ea"/>
                          <a:cs typeface="+mn-cs"/>
                        </a:rPr>
                        <a:t/>
                      </a:r>
                      <a:r>
                        <a:rPr lang="ru-RU" sz="700" kern="1200" baseline="0" dirty="0">
                          <a:solidFill>
                            <a:schemeClr val="dk1"/>
                          </a:solidFill>
                          <a:effectLst/>
                          <a:latin typeface="+mn-lt"/>
                          <a:ea typeface="+mn-ea"/>
                          <a:cs typeface="+mn-cs"/>
                        </a:rPr>
                        <a:t/>
                      </a:r>
                      <a:r>
                        <a:rPr lang="ru-RU" sz="700" kern="1200" dirty="0">
                          <a:solidFill>
                            <a:schemeClr val="dk1"/>
                          </a:solidFill>
                          <a:effectLst/>
                          <a:latin typeface="+mn-lt"/>
                          <a:ea typeface="+mn-ea"/>
                          <a:cs typeface="+mn-cs"/>
                        </a:rPr>
                        <a:t/>
                      </a:r>
                      <a:r>
                        <a:rPr lang="en-US" sz="700" kern="1200" dirty="0">
                          <a:solidFill>
                            <a:schemeClr val="dk1"/>
                          </a:solidFill>
                          <a:effectLst/>
                          <a:latin typeface="+mn-lt"/>
                          <a:ea typeface="+mn-ea"/>
                          <a:cs typeface="+mn-cs"/>
                        </a:rPr>
                        <a:t/>
                      </a:r>
                      <a:r>
                        <a:rPr lang="ru-RU" sz="700" kern="1200" dirty="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a:solidFill>
                            <a:schemeClr val="dk1"/>
                          </a:solidFill>
                          <a:effectLst/>
                          <a:latin typeface="+mn-lt"/>
                          <a:ea typeface="+mn-ea"/>
                          <a:cs typeface="+mn-cs"/>
                        </a:rPr>
                        <a:t/>
                      </a:r>
                      <a:r>
                        <a:rPr lang="ru-RU" sz="700" kern="1200" baseline="0" dirty="0">
                          <a:solidFill>
                            <a:schemeClr val="dk1"/>
                          </a:solidFill>
                          <a:effectLst/>
                          <a:latin typeface="+mn-lt"/>
                          <a:ea typeface="+mn-ea"/>
                          <a:cs typeface="+mn-cs"/>
                        </a:rPr>
                        <a:t/>
                      </a:r>
                      <a:r>
                        <a:rPr lang="en-US" sz="700" kern="1200" baseline="0" dirty="0">
                          <a:solidFill>
                            <a:schemeClr val="dk1"/>
                          </a:solidFill>
                          <a:effectLst/>
                          <a:latin typeface="+mn-lt"/>
                          <a:ea typeface="+mn-ea"/>
                          <a:cs typeface="+mn-cs"/>
                        </a:rPr>
                        <a:t/>
                      </a:r>
                      <a:r>
                        <a:rPr lang="ru-RU" sz="700" kern="1200" baseline="0" dirty="0">
                          <a:solidFill>
                            <a:schemeClr val="dk1"/>
                          </a:solidFill>
                          <a:effectLst/>
                          <a:latin typeface="+mn-lt"/>
                          <a:ea typeface="+mn-ea"/>
                          <a:cs typeface="+mn-cs"/>
                        </a:rPr>
                        <a:t/>
                      </a:r>
                      <a:r>
                        <a:rPr lang="ru-RU" sz="700" kern="1200" dirty="0">
                          <a:solidFill>
                            <a:schemeClr val="dk1"/>
                          </a:solidFill>
                          <a:effectLst/>
                          <a:latin typeface="+mn-lt"/>
                          <a:ea typeface="+mn-ea"/>
                          <a:cs typeface="+mn-cs"/>
                        </a:rPr>
                        <a:t/>
                      </a:r>
                      <a:endParaRPr lang="ru-RU" sz="700" b="0" dirty="0">
                        <a:solidFill>
                          <a:schemeClr val="accent5">
                            <a:lumMod val="75000"/>
                            <a:lumOff val="25000"/>
                          </a:schemeClr>
                        </a:solidFill>
                        <a:latin typeface="+mn-lt"/>
                      </a:endParaRPr>
                    </a:p>
                  </a:txBody>
                  <a:tcPr marL="18000" marR="18000" marT="18000" marB="18000">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32373C"/>
                          </a:solidFill>
                          <a:effectLst/>
                          <a:uLnTx/>
                          <a:uFillTx/>
                          <a:latin typeface="+mn-lt"/>
                          <a:ea typeface="+mn-ea"/>
                          <a:cs typeface="+mn-cs"/>
                        </a:rPr>
                        <a:t xml:space="preserve">ad hoc</a:t>
                      </a:r>
                      <a:endParaRPr lang="ru-RU" sz="700" b="0" i="1" dirty="0"/>
                    </a:p>
                  </a:txBody>
                  <a:tcPr marL="18000" marR="18000" marT="18000" marB="18000">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a:latin typeface="+mn-lt"/>
                        </a:rPr>
                        <a:t xml:space="preserve">ESG Team, Commercial Center</a:t>
                      </a:r>
                      <a:r>
                        <a:rPr lang="en-US" sz="700" b="0" dirty="0">
                          <a:latin typeface="+mn-lt"/>
                        </a:rPr>
                        <a:t/>
                      </a:r>
                      <a:r>
                        <a:rPr lang="ru-RU" sz="700" b="0" dirty="0">
                          <a:latin typeface="+mn-lt"/>
                        </a:rPr>
                        <a:t/>
                      </a:r>
                      <a:r>
                        <a:rPr lang="ru-RU" sz="700" b="0" baseline="0" dirty="0">
                          <a:latin typeface="+mn-lt"/>
                        </a:rPr>
                        <a:t/>
                      </a:r>
                      <a:endParaRPr lang="ru-RU" sz="700" b="0" dirty="0">
                        <a:latin typeface="+mn-lt"/>
                      </a:endParaRPr>
                    </a:p>
                    <a:p>
                      <a:endParaRPr lang="ru-RU" sz="700" b="0" dirty="0">
                        <a:latin typeface="+mn-lt"/>
                      </a:endParaRPr>
                    </a:p>
                  </a:txBody>
                  <a:tcPr marL="18000" marR="18000" marT="18000" marB="18000">
                    <a:noFill/>
                  </a:tcPr>
                </a:tc>
                <a:tc>
                  <a:txBody>
                    <a:bodyPr/>
                    <a:lstStyle/>
                    <a:p>
                      <a:r>
                        <a:rPr lang="ru-RU" sz="700" b="0" dirty="0" smtClean="0">
                          <a:latin typeface="+mn-lt"/>
                        </a:rPr>
                        <a:t xml:space="preserve">CC was provided with detailed proposals (which were accepted and implemented) for the ESG Questionnaire for the accreditation of suppliers on the portal, for the “Supplier Management and Screening” Methodology, for the Sustainable Procurement Report for 2024, and an updated text of the ERG Ethical Principles for the Procurement Portal with a verified review algorithm was developed. The possibility of introducing an obligatory algorithm was considered. suppliers undergoing online training in the ERG Supplier Code of Conduct (SCoC) during the certification procedure (this algorithm was provided based on the expectation of the resumption of the online SCoC course). Based on the results of testing the current SCORM course package hosted on the LMS, a number of technical issues were identified. errors, out-of-date hyperlinks to documents and the Hotline (HL), inability to complete the SCoC course on mobile. devices, etc. For these reasons, in January 2026, the Compliance Directorate discussed with the CU the possibility of developing and launching its own SCoC course with such mandatory criteria as the ability to choose the language of the course (RU or KZ), the need for integration and operation of the course (in the web version on laptops and computers, as well as for mobile formats, for mobile and tablet versions, to ensure the possibility of taking the course in the qollab mobile application), relevant hyperlinks to documents and GL, etc. technical improvements for completing training. Developing our own SCoC course together with KU will also provide future flexibility when it comes to updating course materials. After the successful implementation of this initiative, work on implementing the algorithm is required. Online training for suppliers on the SCoC course as part of the certification will continue.</a:t>
                      </a:r>
                      <a:r>
                        <a:rPr lang="ru-RU" sz="700" kern="1200" dirty="0" smtClean="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baseline="0" dirty="0"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endParaRPr lang="ru-RU" sz="700" b="0" dirty="0">
                        <a:latin typeface="+mn-lt"/>
                      </a:endParaRPr>
                    </a:p>
                  </a:txBody>
                  <a:tcPr marL="18000" marR="18000" marT="18000" marB="18000">
                    <a:noFill/>
                  </a:tcPr>
                </a:tc>
                <a:extLst>
                  <a:ext uri="{0D108BD9-81ED-4DB2-BD59-A6C34878D82A}">
                    <a16:rowId xmlns:a16="http://schemas.microsoft.com/office/drawing/2014/main" val="1855884627"/>
                  </a:ext>
                </a:extLst>
              </a:tr>
              <a:tr h="277078">
                <a:tc vMerge="1">
                  <a:txBody>
                    <a:bodyPr/>
                    <a:lstStyle/>
                    <a:p>
                      <a:endParaRPr lang="ru-RU" sz="800" b="0" dirty="0">
                        <a:latin typeface="+mn-lt"/>
                      </a:endParaRPr>
                    </a:p>
                  </a:txBody>
                  <a:tcPr>
                    <a:gradFill flip="none" rotWithShape="1">
                      <a:gsLst>
                        <a:gs pos="0">
                          <a:srgbClr val="CCCCFF">
                            <a:alpha val="50000"/>
                          </a:srgbClr>
                        </a:gs>
                        <a:gs pos="100000">
                          <a:schemeClr val="bg1"/>
                        </a:gs>
                      </a:gsLst>
                      <a:lin ang="5400000" scaled="1"/>
                      <a:tileRect/>
                    </a:grad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b="0" i="0" u="none" strike="noStrike" kern="1200" dirty="0">
                          <a:solidFill>
                            <a:schemeClr val="tx1"/>
                          </a:solidFill>
                          <a:effectLst/>
                          <a:latin typeface="+mn-lt"/>
                          <a:ea typeface="+mn-ea"/>
                          <a:cs typeface="+mn-cs"/>
                        </a:rPr>
                        <a:t xml:space="preserve">Participate in the preparation of the Sustainable Development Report in terms of Perimeter data compliance, a report within the framework of the CSRD requirements.</a:t>
                      </a:r>
                      <a:r>
                        <a:rPr lang="en-US" sz="700" b="0" i="0" u="none" strike="noStrike" kern="1200" dirty="0">
                          <a:solidFill>
                            <a:schemeClr val="tx1"/>
                          </a:solidFill>
                          <a:effectLst/>
                          <a:latin typeface="+mn-lt"/>
                          <a:ea typeface="+mn-ea"/>
                          <a:cs typeface="+mn-cs"/>
                        </a:rPr>
                        <a:t/>
                      </a:r>
                      <a:r>
                        <a:rPr lang="en-US" sz="700" b="0" i="0" u="none" strike="noStrike" kern="1200" baseline="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r>
                        <a:rPr lang="en-US" sz="700" b="0" i="0" u="none" strike="noStrike" kern="1200" baseline="0" dirty="0">
                          <a:solidFill>
                            <a:schemeClr val="tx1"/>
                          </a:solidFill>
                          <a:effectLst/>
                          <a:latin typeface="+mn-lt"/>
                          <a:ea typeface="+mn-ea"/>
                          <a:cs typeface="+mn-cs"/>
                        </a:rPr>
                        <a:t/>
                      </a:r>
                      <a:r>
                        <a:rPr lang="ru-RU" sz="700" b="0" i="0" u="none" strike="noStrike" kern="1200" baseline="0" dirty="0">
                          <a:solidFill>
                            <a:schemeClr val="tx1"/>
                          </a:solidFill>
                          <a:effectLst/>
                          <a:latin typeface="+mn-lt"/>
                          <a:ea typeface="+mn-ea"/>
                          <a:cs typeface="+mn-cs"/>
                        </a:rPr>
                        <a:t/>
                      </a:r>
                      <a:endParaRPr lang="ru-RU" sz="700" b="0" dirty="0"/>
                    </a:p>
                  </a:txBody>
                  <a:tcPr marL="18000" marR="18000" marT="18000" marB="18000">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32373C"/>
                          </a:solidFill>
                          <a:effectLst/>
                          <a:uLnTx/>
                          <a:uFillTx/>
                          <a:latin typeface="+mn-lt"/>
                          <a:ea typeface="+mn-ea"/>
                          <a:cs typeface="+mn-cs"/>
                        </a:rPr>
                        <a:t xml:space="preserve">ad hoc</a:t>
                      </a:r>
                      <a:endParaRPr lang="ru-RU" sz="700" b="0" i="1" dirty="0"/>
                    </a:p>
                  </a:txBody>
                  <a:tcPr marL="18000" marR="18000" marT="18000" marB="18000">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a:txBody>
                    <a:bodyPr/>
                    <a:lstStyle/>
                    <a:p>
                      <a:r>
                        <a:rPr lang="en-US" sz="700" b="0" dirty="0"/>
                        <a:t xml:space="preserve">Sustainability Reporting</a:t>
                      </a:r>
                      <a:endParaRPr lang="ru-RU" sz="700" b="0" dirty="0"/>
                    </a:p>
                  </a:txBody>
                  <a:tcPr marL="18000" marR="18000" marT="18000" marB="18000">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t xml:space="preserve">Collected, analyzed and provided the necessary compliance information for the SDR Group and annual reports of individual Perimeter enterprises (KH, KEZ, AK).</a:t>
                      </a:r>
                      <a:r>
                        <a:rPr lang="ru-RU" sz="700" b="0" baseline="0" dirty="0" smtClean="0"/>
                        <a:t/>
                      </a:r>
                      <a:r>
                        <a:rPr lang="en-US" sz="700" b="0" baseline="0" dirty="0" smtClean="0"/>
                        <a:t/>
                      </a:r>
                      <a:r>
                        <a:rPr lang="ru-RU" sz="700" b="0" baseline="0" dirty="0" smtClean="0"/>
                        <a:t/>
                      </a:r>
                      <a:r>
                        <a:rPr lang="ru-RU" sz="700" b="0" kern="1200" dirty="0" smtClean="0">
                          <a:solidFill>
                            <a:schemeClr val="dk1"/>
                          </a:solidFill>
                          <a:latin typeface="+mn-lt"/>
                          <a:ea typeface="+mn-ea"/>
                          <a:cs typeface="+mn-cs"/>
                        </a:rPr>
                        <a:t/>
                      </a:r>
                      <a:endParaRPr lang="ru-RU" sz="700" b="0" dirty="0"/>
                    </a:p>
                  </a:txBody>
                  <a:tcPr marL="18000" marR="18000" marT="18000" marB="18000">
                    <a:noFill/>
                  </a:tcPr>
                </a:tc>
                <a:extLst>
                  <a:ext uri="{0D108BD9-81ED-4DB2-BD59-A6C34878D82A}">
                    <a16:rowId xmlns:a16="http://schemas.microsoft.com/office/drawing/2014/main" val="2491002247"/>
                  </a:ext>
                </a:extLst>
              </a:tr>
              <a:tr h="1273328">
                <a:tc>
                  <a:txBody>
                    <a:bodyPr/>
                    <a:lstStyle/>
                    <a:p>
                      <a:r>
                        <a:rPr lang="ru-RU" sz="700" b="0" dirty="0">
                          <a:latin typeface="+mn-lt"/>
                        </a:rPr>
                        <a:t xml:space="preserve">Development of a matrix for assessing the applicable risk of human rights violations</a:t>
                      </a:r>
                      <a:r>
                        <a:rPr lang="ru-RU" sz="700" kern="1200" dirty="0">
                          <a:solidFill>
                            <a:schemeClr val="dk1"/>
                          </a:solidFill>
                          <a:effectLst/>
                          <a:latin typeface="+mn-lt"/>
                          <a:ea typeface="+mn-ea"/>
                          <a:cs typeface="+mn-cs"/>
                        </a:rPr>
                        <a:t/>
                      </a:r>
                      <a:r>
                        <a:rPr lang="ru" sz="700" kern="1200" dirty="0">
                          <a:solidFill>
                            <a:schemeClr val="dk1"/>
                          </a:solidFill>
                          <a:effectLst/>
                          <a:latin typeface="+mn-lt"/>
                          <a:ea typeface="+mn-ea"/>
                          <a:cs typeface="+mn-cs"/>
                        </a:rPr>
                        <a:t/>
                      </a:r>
                      <a:endParaRPr lang="ru-RU" sz="700" b="0" dirty="0">
                        <a:latin typeface="+mn-lt"/>
                      </a:endParaRPr>
                    </a:p>
                  </a:txBody>
                  <a:tcPr marL="18000" marR="18000" marT="18000" marB="18000">
                    <a:gradFill flip="none" rotWithShape="1">
                      <a:gsLst>
                        <a:gs pos="0">
                          <a:srgbClr val="CCCCFF">
                            <a:alpha val="50000"/>
                          </a:srgbClr>
                        </a:gs>
                        <a:gs pos="100000">
                          <a:schemeClr val="bg1"/>
                        </a:gs>
                      </a:gsLst>
                      <a:lin ang="5400000" scaled="1"/>
                      <a:tileRect/>
                    </a:grad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kern="1200" dirty="0">
                          <a:solidFill>
                            <a:schemeClr val="dk1"/>
                          </a:solidFill>
                          <a:effectLst/>
                          <a:latin typeface="+mn-lt"/>
                          <a:ea typeface="+mn-ea"/>
                          <a:cs typeface="+mn-cs"/>
                        </a:rPr>
                        <a:t xml:space="preserve">Develop and propose for discussion to the Compliance Group, Compliance International Perimeter, and the Chairman of the Compliance Committee a draft matrix to assess the applicable risk of human rights violations associated with ERG’s own activities and/or relations with third parties, taking into account best practices and CSRD requirements.</a:t>
                      </a:r>
                      <a:r>
                        <a:rPr lang="ru" sz="700" kern="1200" dirty="0">
                          <a:solidFill>
                            <a:schemeClr val="dk1"/>
                          </a:solidFill>
                          <a:effectLst/>
                          <a:latin typeface="+mn-lt"/>
                          <a:ea typeface="+mn-ea"/>
                          <a:cs typeface="+mn-cs"/>
                        </a:rPr>
                        <a:t/>
                      </a:r>
                      <a:r>
                        <a:rPr lang="en-US" sz="700" kern="1200" dirty="0">
                          <a:solidFill>
                            <a:schemeClr val="dk1"/>
                          </a:solidFill>
                          <a:effectLst/>
                          <a:latin typeface="+mn-lt"/>
                          <a:ea typeface="+mn-ea"/>
                          <a:cs typeface="+mn-cs"/>
                        </a:rPr>
                        <a:t/>
                      </a:r>
                      <a:r>
                        <a:rPr lang="ru" sz="700" kern="1200" dirty="0">
                          <a:solidFill>
                            <a:schemeClr val="dk1"/>
                          </a:solidFill>
                          <a:effectLst/>
                          <a:latin typeface="+mn-lt"/>
                          <a:ea typeface="+mn-ea"/>
                          <a:cs typeface="+mn-cs"/>
                        </a:rPr>
                        <a:t/>
                      </a:r>
                      <a:r>
                        <a:rPr lang="en-US" sz="700" kern="1200" dirty="0">
                          <a:solidFill>
                            <a:schemeClr val="dk1"/>
                          </a:solidFill>
                          <a:effectLst/>
                          <a:latin typeface="+mn-lt"/>
                          <a:ea typeface="+mn-ea"/>
                          <a:cs typeface="+mn-cs"/>
                        </a:rPr>
                        <a:t/>
                      </a:r>
                      <a:r>
                        <a:rPr lang="ru-RU" sz="700" kern="1200" dirty="0">
                          <a:solidFill>
                            <a:schemeClr val="dk1"/>
                          </a:solidFill>
                          <a:effectLst/>
                          <a:latin typeface="+mn-lt"/>
                          <a:ea typeface="+mn-ea"/>
                          <a:cs typeface="+mn-cs"/>
                        </a:rPr>
                        <a:t/>
                      </a:r>
                      <a:endParaRPr lang="ru-RU" sz="700" b="0" dirty="0">
                        <a:solidFill>
                          <a:schemeClr val="accent5">
                            <a:lumMod val="75000"/>
                            <a:lumOff val="25000"/>
                          </a:schemeClr>
                        </a:solidFill>
                        <a:latin typeface="+mn-lt"/>
                      </a:endParaRPr>
                    </a:p>
                  </a:txBody>
                  <a:tcPr marL="18000" marR="18000" marT="18000" marB="18000">
                    <a:noFill/>
                  </a:tcPr>
                </a:tc>
                <a:tc>
                  <a:txBody>
                    <a:bodyPr/>
                    <a:lstStyle/>
                    <a:p>
                      <a:pPr algn="ctr"/>
                      <a:endParaRPr lang="ru-RU" sz="700" b="0" dirty="0">
                        <a:latin typeface="+mn-lt"/>
                      </a:endParaRPr>
                    </a:p>
                  </a:txBody>
                  <a:tcPr marL="18000" marR="18000" marT="18000" marB="18000">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L="18000" marR="18000" marT="18000" marB="18000">
                    <a:gradFill>
                      <a:gsLst>
                        <a:gs pos="0">
                          <a:schemeClr val="accent4">
                            <a:lumMod val="20000"/>
                            <a:lumOff val="80000"/>
                          </a:schemeClr>
                        </a:gs>
                        <a:gs pos="100000">
                          <a:schemeClr val="bg1"/>
                        </a:gs>
                      </a:gsLst>
                      <a:lin ang="5400000" scaled="1"/>
                    </a:gradFill>
                  </a:tcPr>
                </a:tc>
                <a:tc>
                  <a:txBody>
                    <a:bodyPr/>
                    <a:lstStyle/>
                    <a:p>
                      <a:pPr algn="ctr"/>
                      <a:endParaRPr lang="ru-RU" sz="700" b="0" dirty="0">
                        <a:latin typeface="+mn-lt"/>
                      </a:endParaRPr>
                    </a:p>
                  </a:txBody>
                  <a:tcPr marL="18000" marR="18000" marT="18000" marB="18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Х</a:t>
                      </a:r>
                    </a:p>
                  </a:txBody>
                  <a:tcPr marL="18000" marR="18000" marT="18000" marB="18000">
                    <a:gradFill>
                      <a:gsLst>
                        <a:gs pos="0">
                          <a:schemeClr val="accent4">
                            <a:lumMod val="20000"/>
                            <a:lumOff val="80000"/>
                          </a:schemeClr>
                        </a:gs>
                        <a:gs pos="100000">
                          <a:schemeClr val="bg1"/>
                        </a:gs>
                      </a:gsLst>
                      <a:lin ang="5400000" scaled="1"/>
                    </a:gradFill>
                  </a:tcPr>
                </a:tc>
                <a:tc>
                  <a:txBody>
                    <a:bodyPr/>
                    <a:lstStyle/>
                    <a:p>
                      <a:r>
                        <a:rPr lang="ru-RU" sz="700" kern="1200" dirty="0">
                          <a:solidFill>
                            <a:schemeClr val="dk1"/>
                          </a:solidFill>
                          <a:effectLst/>
                          <a:latin typeface="+mn-lt"/>
                          <a:ea typeface="+mn-ea"/>
                          <a:cs typeface="+mn-cs"/>
                        </a:rPr>
                        <a:t xml:space="preserve">Compliance Group, Compliance Int. Perimetra, Chairman of the Compliance Committee, Risks</a:t>
                      </a:r>
                      <a:r>
                        <a:rPr lang="ru-RU" sz="700" kern="1200" baseline="0" dirty="0">
                          <a:solidFill>
                            <a:schemeClr val="dk1"/>
                          </a:solidFill>
                          <a:effectLst/>
                          <a:latin typeface="+mn-lt"/>
                          <a:ea typeface="+mn-ea"/>
                          <a:cs typeface="+mn-cs"/>
                        </a:rPr>
                        <a:t/>
                      </a:r>
                      <a:endParaRPr lang="ru-RU" sz="700" b="0" dirty="0">
                        <a:latin typeface="+mn-lt"/>
                      </a:endParaRPr>
                    </a:p>
                  </a:txBody>
                  <a:tcPr marL="18000" marR="18000" marT="18000" marB="18000">
                    <a:noFill/>
                  </a:tcPr>
                </a:tc>
                <a:tc>
                  <a:txBody>
                    <a:bodyPr/>
                    <a:lstStyle/>
                    <a:p>
                      <a:r>
                        <a:rPr lang="ru-RU" sz="700" b="0" dirty="0" smtClean="0">
                          <a:latin typeface="+mn-lt"/>
                        </a:rPr>
                        <a:t xml:space="preserve">During 2025, as part of the CPC process, an in-depth risk-based assessment of the risk of human rights (HR) violations was carried out, thanks to which Perimeter transactions were agreed upon to purchase products necessary for Perimeter projects from certain companies included in various US lists (not OFAC SDN), incl. on charges (according to some US authorities) of HR violations in certain regions. Risks were mitigated by an in-depth analysis of applicable restrictions, public official. position of counterparties in relation to HR, receiving additional letters from counterparties with assurance of compliance with high standards in the field of respect for HR, etc. The result of the analysis was supported by the CLO of the Group. In general, there is a limited number of transactions/projects related to the above-mentioned counterparties throughout the Perimeter. Analysis of these projects showed the need for an individual. approach to collecting and analyzing data in each individual case at the current stage. For every year. basis, the risk of HR violations is assessed within the framework of ESG assessments (Ecovadis, CAHRA, etc.). HR risk is low for Perimeter due to the specific jurisdiction. In the future, as the number of such transactions increases, the probability of realization/materiality of the risk in these transactions increases, in order to create a draft matrix or methodology for assessing the applicable risk of HR violations associated with third parties, an in-depth analysis will be required, covering all possible aspects associated with this risk, including labor/social. conditions, environmental protection issues, interaction with stakeholders, legislation. requirements taking into account jurisdictions, incl. ERG activities are carried out, as well as the determination of risk factors in the context of Perimeters, taking into account a unified methodological approach when assessing compliance risks.</a:t>
                      </a:r>
                      <a:r>
                        <a:rPr lang="en-US" sz="700" b="0" dirty="0"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en-US" sz="700" b="0" dirty="0" smtClean="0">
                          <a:latin typeface="+mn-lt"/>
                        </a:rPr>
                        <a:t/>
                      </a:r>
                      <a:r>
                        <a:rPr lang="ru-RU" sz="700" b="0" dirty="0" smtClean="0">
                          <a:latin typeface="+mn-lt"/>
                        </a:rPr>
                        <a:t/>
                      </a:r>
                      <a:r>
                        <a:rPr lang="en-US" sz="700" b="0" dirty="0" smtClean="0">
                          <a:latin typeface="+mn-lt"/>
                        </a:rPr>
                        <a:t/>
                      </a:r>
                      <a:r>
                        <a:rPr lang="ru-RU" sz="700" b="0" dirty="0" smtClean="0">
                          <a:latin typeface="+mn-lt"/>
                        </a:rPr>
                        <a:t/>
                      </a:r>
                      <a:r>
                        <a:rPr lang="en-US" sz="700" b="0" dirty="0"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en-US" sz="700" b="0" dirty="0"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en-US" sz="700" b="0" dirty="0" smtClean="0">
                          <a:latin typeface="+mn-lt"/>
                        </a:rPr>
                        <a:t/>
                      </a:r>
                      <a:r>
                        <a:rPr lang="ru-RU" sz="700" b="0" dirty="0" smtClean="0">
                          <a:latin typeface="+mn-lt"/>
                        </a:rPr>
                        <a:t/>
                      </a:r>
                      <a:r>
                        <a:rPr lang="en-US" sz="700" b="0" dirty="0"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p>
                  </a:txBody>
                  <a:tcPr marL="18000" marR="18000" marT="18000" marB="18000">
                    <a:noFill/>
                  </a:tcPr>
                </a:tc>
                <a:extLst>
                  <a:ext uri="{0D108BD9-81ED-4DB2-BD59-A6C34878D82A}">
                    <a16:rowId xmlns:a16="http://schemas.microsoft.com/office/drawing/2014/main" val="3224593582"/>
                  </a:ext>
                </a:extLst>
              </a:tr>
              <a:tr h="858224">
                <a:tc rowSpan="2">
                  <a:txBody>
                    <a:bodyPr/>
                    <a:lstStyle/>
                    <a:p>
                      <a:r>
                        <a:rPr lang="ru-RU" sz="700" b="0" dirty="0">
                          <a:latin typeface="+mn-lt"/>
                        </a:rPr>
                        <a:t xml:space="preserve">Automation of compliance processes</a:t>
                      </a:r>
                    </a:p>
                  </a:txBody>
                  <a:tcPr marL="18000" marR="18000" marT="18000" marB="18000">
                    <a:gradFill flip="none" rotWithShape="1">
                      <a:gsLst>
                        <a:gs pos="0">
                          <a:srgbClr val="CCCCFF">
                            <a:alpha val="50000"/>
                          </a:srgbClr>
                        </a:gs>
                        <a:gs pos="100000">
                          <a:schemeClr val="bg1"/>
                        </a:gs>
                      </a:gsLst>
                      <a:lin ang="5400000" scaled="1"/>
                      <a:tileRect/>
                    </a:grad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kern="1200" dirty="0">
                          <a:solidFill>
                            <a:schemeClr val="dk1"/>
                          </a:solidFill>
                          <a:effectLst/>
                          <a:latin typeface="+mn-lt"/>
                          <a:ea typeface="+mn-ea"/>
                          <a:cs typeface="+mn-cs"/>
                        </a:rPr>
                        <a:t xml:space="preserve">Complete the project to develop an additional resource (list of sanctioned persons) to inform businesses about current sanctions restrictions.</a:t>
                      </a:r>
                      <a:r>
                        <a:rPr lang="ru-RU" sz="700" kern="1200" baseline="0" dirty="0">
                          <a:solidFill>
                            <a:schemeClr val="dk1"/>
                          </a:solidFill>
                          <a:effectLst/>
                          <a:latin typeface="+mn-lt"/>
                          <a:ea typeface="+mn-ea"/>
                          <a:cs typeface="+mn-cs"/>
                        </a:rPr>
                        <a:t/>
                      </a:r>
                      <a:r>
                        <a:rPr lang="ru-RU" sz="700" kern="1200" dirty="0">
                          <a:solidFill>
                            <a:schemeClr val="dk1"/>
                          </a:solidFill>
                          <a:effectLst/>
                          <a:latin typeface="+mn-lt"/>
                          <a:ea typeface="+mn-ea"/>
                          <a:cs typeface="+mn-cs"/>
                        </a:rPr>
                        <a:t/>
                      </a:r>
                    </a:p>
                  </a:txBody>
                  <a:tcPr marL="18000" marR="18000" marT="18000" marB="18000">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lang="ru-RU" sz="700" b="0" i="1" dirty="0"/>
                    </a:p>
                  </a:txBody>
                  <a:tcPr marL="18000" marR="18000" marT="18000" marB="18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lang="ru-RU" sz="700" b="0" i="1" dirty="0"/>
                    </a:p>
                  </a:txBody>
                  <a:tcPr marL="18000" marR="18000" marT="18000" marB="18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ru-RU" sz="700" b="0" i="0" dirty="0"/>
                        <a:t>Х</a:t>
                      </a:r>
                    </a:p>
                  </a:txBody>
                  <a:tcPr marL="18000" marR="18000" marT="18000" marB="18000">
                    <a:gradFill>
                      <a:gsLst>
                        <a:gs pos="0">
                          <a:schemeClr val="accent4">
                            <a:lumMod val="20000"/>
                            <a:lumOff val="80000"/>
                          </a:schemeClr>
                        </a:gs>
                        <a:gs pos="100000">
                          <a:schemeClr val="bg1"/>
                        </a:gs>
                      </a:gsLst>
                      <a:lin ang="5400000" scaled="1"/>
                    </a:grad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lang="ru-RU" sz="700" b="0" i="1" dirty="0"/>
                    </a:p>
                  </a:txBody>
                  <a:tcPr marL="18000" marR="18000" marT="18000" marB="18000">
                    <a:gradFill>
                      <a:gsLst>
                        <a:gs pos="0">
                          <a:schemeClr val="accent4">
                            <a:lumMod val="20000"/>
                            <a:lumOff val="80000"/>
                          </a:schemeClr>
                        </a:gs>
                        <a:gs pos="100000">
                          <a:schemeClr val="bg1"/>
                        </a:gs>
                      </a:gsLst>
                      <a:lin ang="5400000" scaled="1"/>
                    </a:grad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en-US" sz="700" kern="1200" dirty="0">
                          <a:solidFill>
                            <a:schemeClr val="dk1"/>
                          </a:solidFill>
                          <a:effectLst/>
                          <a:latin typeface="+mn-lt"/>
                          <a:ea typeface="+mn-ea"/>
                          <a:cs typeface="+mn-cs"/>
                        </a:rPr>
                        <a:t xml:space="preserve">Perimeter CIO, IT</a:t>
                      </a:r>
                      <a:r>
                        <a:rPr lang="ru-RU" sz="700" kern="1200" dirty="0">
                          <a:solidFill>
                            <a:schemeClr val="dk1"/>
                          </a:solidFill>
                          <a:effectLst/>
                          <a:latin typeface="+mn-lt"/>
                          <a:ea typeface="+mn-ea"/>
                          <a:cs typeface="+mn-cs"/>
                        </a:rPr>
                        <a:t/>
                      </a:r>
                      <a:r>
                        <a:rPr lang="ru-RU" sz="700" kern="1200" baseline="0" dirty="0">
                          <a:solidFill>
                            <a:schemeClr val="dk1"/>
                          </a:solidFill>
                          <a:effectLst/>
                          <a:latin typeface="+mn-lt"/>
                          <a:ea typeface="+mn-ea"/>
                          <a:cs typeface="+mn-cs"/>
                        </a:rPr>
                        <a:t/>
                      </a:r>
                      <a:r>
                        <a:rPr lang="ru-RU" sz="700" b="0" dirty="0">
                          <a:latin typeface="+mn-lt"/>
                        </a:rPr>
                        <a:t/>
                      </a:r>
                    </a:p>
                  </a:txBody>
                  <a:tcPr marL="18000" marR="18000" marT="18000" marB="18000">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The list of sanctioned persons (SDN) was developed and posted in the Compliance 2.2 system in June 2025. Further additional modernization in terms of integration with internal systems requires additional financial costs (financing of IT projects was suspended in 2025). So, in particular, in Perimeter, the teams of CC, SAP, the procurement portal, and MDM carried out work to create a directory of manufacturers in MDM (by analogy with the directory of counterparties, which should be uniform for all systems and “distributed” from MDM). In 2025 functionality for adding the “manufacturer” attribute to created records in the business partner directory has been launched, but now from this directory data with the “manufacturer” attribute is transferred only to the procurement portal. Compliance is actively involved in the task, incl. will populate this directory from our PDA database. Further, in 2026+, full integration with the Compliance 2.2 system is planned. and ESED, if resources allow, because It will be necessary to make improvements to these systems (for example, introducing a field option with the name of manufacturers into the ESED, transferring the sign of the presence of sanctions from our directory of sanctioned persons to the unified MDM directory, for further transfer of information about existing sanctions to all other systems).</a:t>
                      </a:r>
                      <a:r>
                        <a:rPr lang="ru-RU" sz="700" b="0" dirty="0" err="1" smtClean="0">
                          <a:latin typeface="+mn-lt"/>
                        </a:rPr>
                        <a:t/>
                      </a:r>
                      <a:r>
                        <a:rPr lang="ru-RU" sz="700" b="0" dirty="0" smtClean="0">
                          <a:latin typeface="+mn-lt"/>
                        </a:rPr>
                        <a:t/>
                      </a:r>
                      <a:endParaRPr lang="ru-RU" sz="700" b="0" dirty="0">
                        <a:latin typeface="+mn-lt"/>
                      </a:endParaRPr>
                    </a:p>
                  </a:txBody>
                  <a:tcPr marL="18000" marR="18000" marT="18000" marB="18000">
                    <a:noFill/>
                  </a:tcPr>
                </a:tc>
                <a:extLst>
                  <a:ext uri="{0D108BD9-81ED-4DB2-BD59-A6C34878D82A}">
                    <a16:rowId xmlns:a16="http://schemas.microsoft.com/office/drawing/2014/main" val="3339700032"/>
                  </a:ext>
                </a:extLst>
              </a:tr>
              <a:tr h="443120">
                <a:tc vMerge="1">
                  <a:txBody>
                    <a:bodyPr/>
                    <a:lstStyle/>
                    <a:p>
                      <a:endParaRPr lang="ru-RU" sz="800" b="0" dirty="0">
                        <a:latin typeface="+mn-lt"/>
                      </a:endParaRPr>
                    </a:p>
                  </a:txBody>
                  <a:tcPr>
                    <a:gradFill flip="none" rotWithShape="1">
                      <a:gsLst>
                        <a:gs pos="0">
                          <a:srgbClr val="CCCCFF">
                            <a:alpha val="50000"/>
                          </a:srgbClr>
                        </a:gs>
                        <a:gs pos="100000">
                          <a:schemeClr val="bg1"/>
                        </a:gs>
                      </a:gsLst>
                      <a:lin ang="5400000" scaled="1"/>
                      <a:tileRect/>
                    </a:gradFill>
                  </a:tcPr>
                </a:tc>
                <a:tc>
                  <a:txBody>
                    <a:bodyPr/>
                    <a:lstStyle/>
                    <a:p>
                      <a:pPr marL="0" marR="0" lvl="0" indent="0" algn="l" defTabSz="583170" rtl="0" eaLnBrk="1" fontAlgn="ctr" latinLnBrk="0" hangingPunct="1">
                        <a:lnSpc>
                          <a:spcPct val="100000"/>
                        </a:lnSpc>
                        <a:spcBef>
                          <a:spcPts val="0"/>
                        </a:spcBef>
                        <a:spcAft>
                          <a:spcPts val="300"/>
                        </a:spcAft>
                        <a:buClr>
                          <a:schemeClr val="accent5">
                            <a:lumMod val="75000"/>
                            <a:lumOff val="25000"/>
                          </a:schemeClr>
                        </a:buClr>
                        <a:buSzTx/>
                        <a:buFont typeface="+mj-lt"/>
                        <a:buNone/>
                        <a:tabLst/>
                        <a:defRPr/>
                      </a:pPr>
                      <a:r>
                        <a:rPr lang="ru-RU" sz="700" kern="1200" dirty="0">
                          <a:solidFill>
                            <a:schemeClr val="dk1"/>
                          </a:solidFill>
                          <a:effectLst/>
                          <a:latin typeface="+mn-lt"/>
                          <a:ea typeface="+mn-ea"/>
                          <a:cs typeface="+mn-cs"/>
                        </a:rPr>
                        <a:t xml:space="preserve">Continue the search for opportunities for further automation of compliance processes (gifts and KRM, accounting for compliance training, preparation of compliance reporting, integration with external and internal databases, etc.) together with the CIO of Perimeter due to the stoppage of funding for IT compliance projects.</a:t>
                      </a:r>
                      <a:r>
                        <a:rPr lang="ru-RU" sz="700" kern="1200" dirty="0" smtClean="0">
                          <a:solidFill>
                            <a:schemeClr val="dk1"/>
                          </a:solidFill>
                          <a:effectLst/>
                          <a:latin typeface="+mn-lt"/>
                          <a:ea typeface="+mn-ea"/>
                          <a:cs typeface="+mn-cs"/>
                        </a:rPr>
                        <a:t/>
                      </a:r>
                      <a:r>
                        <a:rPr lang="ru-RU" sz="700" kern="1200" dirty="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a:solidFill>
                            <a:schemeClr val="dk1"/>
                          </a:solidFill>
                          <a:effectLst/>
                          <a:latin typeface="+mn-lt"/>
                          <a:ea typeface="+mn-ea"/>
                          <a:cs typeface="+mn-cs"/>
                        </a:rPr>
                        <a:t/>
                      </a:r>
                      <a:r>
                        <a:rPr lang="en-US" sz="700" kern="1200" dirty="0">
                          <a:solidFill>
                            <a:schemeClr val="dk1"/>
                          </a:solidFill>
                          <a:effectLst/>
                          <a:latin typeface="+mn-lt"/>
                          <a:ea typeface="+mn-ea"/>
                          <a:cs typeface="+mn-cs"/>
                        </a:rPr>
                        <a:t/>
                      </a:r>
                      <a:r>
                        <a:rPr lang="ru-RU" sz="700" kern="1200" dirty="0">
                          <a:solidFill>
                            <a:schemeClr val="dk1"/>
                          </a:solidFill>
                          <a:effectLst/>
                          <a:latin typeface="+mn-lt"/>
                          <a:ea typeface="+mn-ea"/>
                          <a:cs typeface="+mn-cs"/>
                        </a:rPr>
                        <a:t/>
                      </a:r>
                      <a:endParaRPr lang="ru-RU" sz="700" b="0" dirty="0">
                        <a:solidFill>
                          <a:schemeClr val="accent5">
                            <a:lumMod val="75000"/>
                            <a:lumOff val="25000"/>
                          </a:schemeClr>
                        </a:solidFill>
                        <a:latin typeface="+mn-lt"/>
                      </a:endParaRPr>
                    </a:p>
                  </a:txBody>
                  <a:tcPr marL="18000" marR="18000" marT="18000" marB="18000">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32373C"/>
                          </a:solidFill>
                          <a:effectLst/>
                          <a:uLnTx/>
                          <a:uFillTx/>
                          <a:latin typeface="+mn-lt"/>
                          <a:ea typeface="+mn-ea"/>
                          <a:cs typeface="+mn-cs"/>
                        </a:rPr>
                        <a:t xml:space="preserve">ad hoc</a:t>
                      </a:r>
                      <a:endParaRPr lang="ru-RU" sz="700" b="0" i="1" dirty="0"/>
                    </a:p>
                  </a:txBody>
                  <a:tcPr marL="18000" marR="18000" marT="18000" marB="18000">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hMerge="1">
                  <a:txBody>
                    <a:bodyPr/>
                    <a:lstStyle/>
                    <a:p>
                      <a:pPr algn="ctr"/>
                      <a:endParaRPr lang="ru-RU" sz="800" b="0" dirty="0"/>
                    </a:p>
                  </a:txBody>
                  <a:tcPr>
                    <a:gradFill>
                      <a:gsLst>
                        <a:gs pos="0">
                          <a:schemeClr val="accent4">
                            <a:lumMod val="20000"/>
                            <a:lumOff val="80000"/>
                          </a:schemeClr>
                        </a:gs>
                        <a:gs pos="100000">
                          <a:schemeClr val="bg1"/>
                        </a:gs>
                      </a:gsLst>
                      <a:lin ang="5400000" scaled="1"/>
                    </a:gradFill>
                  </a:tcPr>
                </a:tc>
                <a:tc>
                  <a:txBody>
                    <a:bodyPr/>
                    <a:lstStyle/>
                    <a:p>
                      <a:r>
                        <a:rPr lang="en-US" sz="700" kern="1200" dirty="0">
                          <a:solidFill>
                            <a:schemeClr val="dk1"/>
                          </a:solidFill>
                          <a:effectLst/>
                          <a:latin typeface="+mn-lt"/>
                          <a:ea typeface="+mn-ea"/>
                          <a:cs typeface="+mn-cs"/>
                        </a:rPr>
                        <a:t xml:space="preserve">Perimeter CIO, IT</a:t>
                      </a:r>
                      <a:r>
                        <a:rPr lang="ru-RU" sz="700" kern="1200" dirty="0">
                          <a:solidFill>
                            <a:schemeClr val="dk1"/>
                          </a:solidFill>
                          <a:effectLst/>
                          <a:latin typeface="+mn-lt"/>
                          <a:ea typeface="+mn-ea"/>
                          <a:cs typeface="+mn-cs"/>
                        </a:rPr>
                        <a:t/>
                      </a:r>
                      <a:r>
                        <a:rPr lang="ru-RU" sz="700" kern="1200" baseline="0" dirty="0">
                          <a:solidFill>
                            <a:schemeClr val="dk1"/>
                          </a:solidFill>
                          <a:effectLst/>
                          <a:latin typeface="+mn-lt"/>
                          <a:ea typeface="+mn-ea"/>
                          <a:cs typeface="+mn-cs"/>
                        </a:rPr>
                        <a:t/>
                      </a:r>
                      <a:r>
                        <a:rPr lang="ru-RU" sz="700" b="0" dirty="0">
                          <a:latin typeface="+mn-lt"/>
                        </a:rPr>
                        <a:t/>
                      </a:r>
                    </a:p>
                  </a:txBody>
                  <a:tcPr marL="18000" marR="18000" marT="18000" marB="18000">
                    <a:noFill/>
                  </a:tcPr>
                </a:tc>
                <a:tc>
                  <a:txBody>
                    <a:bodyPr/>
                    <a:lstStyle/>
                    <a:p>
                      <a:r>
                        <a:rPr lang="ru-RU" sz="700" b="0" dirty="0" smtClean="0">
                          <a:latin typeface="+mn-lt"/>
                        </a:rPr>
                        <a:t xml:space="preserve">Funding for IT compliance projects has been suspended. In 4th quarter 2025, the possibility of renewing funding if justifiably necessary was discussed with the CEO of Perimeter.</a:t>
                      </a:r>
                      <a:endParaRPr lang="ru-RU" sz="700" b="0" dirty="0">
                        <a:latin typeface="+mn-lt"/>
                      </a:endParaRPr>
                    </a:p>
                  </a:txBody>
                  <a:tcPr marL="18000" marR="18000" marT="18000" marB="18000">
                    <a:lnB w="9525" cap="flat" cmpd="sng" algn="ctr">
                      <a:noFill/>
                      <a:prstDash val="solid"/>
                      <a:round/>
                      <a:headEnd type="none" w="med" len="med"/>
                      <a:tailEnd type="none" w="med" len="med"/>
                    </a:lnB>
                    <a:noFill/>
                  </a:tcPr>
                </a:tc>
                <a:extLst>
                  <a:ext uri="{0D108BD9-81ED-4DB2-BD59-A6C34878D82A}">
                    <a16:rowId xmlns:a16="http://schemas.microsoft.com/office/drawing/2014/main" val="2328753196"/>
                  </a:ext>
                </a:extLst>
              </a:tr>
            </a:tbl>
          </a:graphicData>
        </a:graphic>
      </p:graphicFrame>
      <p:graphicFrame>
        <p:nvGraphicFramePr>
          <p:cNvPr id="4" name="think-cell data - do not delete" hidden="1">
            <a:extLst>
              <a:ext uri="{FF2B5EF4-FFF2-40B4-BE49-F238E27FC236}">
                <a16:creationId xmlns:a16="http://schemas.microsoft.com/office/drawing/2014/main" id="{5833E4D0-7778-41D7-8840-D0AF4348B3E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0956"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5833E4D0-7778-41D7-8840-D0AF4348B3E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Заголовок 26"/>
          <p:cNvSpPr>
            <a:spLocks noGrp="1"/>
          </p:cNvSpPr>
          <p:nvPr>
            <p:ph type="title"/>
          </p:nvPr>
        </p:nvSpPr>
        <p:spPr/>
        <p:txBody>
          <a:bodyPr/>
          <a:lstStyle/>
          <a:p>
            <a:r>
              <a:rPr lang="ru-RU" dirty="0"/>
              <a:t xml:space="preserve">Annual compliance program 2025: Perimeter Kazakhstan Implementation status - Special projects</a:t>
            </a:r>
            <a:br>
              <a:rPr lang="ru-RU" dirty="0"/>
            </a:br>
            <a:r>
              <a:rPr lang="ru-RU" dirty="0">
                <a:solidFill>
                  <a:schemeClr val="tx1"/>
                </a:solidFill>
              </a:rPr>
              <a:t/>
            </a:r>
            <a:r>
              <a:rPr lang="ru-RU" dirty="0" smtClean="0">
                <a:solidFill>
                  <a:schemeClr val="tx1"/>
                </a:solidFill>
              </a:rPr>
              <a:t/>
            </a:r>
            <a:r>
              <a:rPr lang="ru-RU" dirty="0">
                <a:solidFill>
                  <a:schemeClr val="tx1"/>
                </a:solidFill>
              </a:rPr>
              <a:t/>
            </a:r>
          </a:p>
        </p:txBody>
      </p:sp>
    </p:spTree>
    <p:extLst>
      <p:ext uri="{BB962C8B-B14F-4D97-AF65-F5344CB8AC3E}">
        <p14:creationId xmlns:p14="http://schemas.microsoft.com/office/powerpoint/2010/main" val="30920841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8770" name="think-cell Slide" r:id="rId4" imgW="594" imgH="595" progId="TCLayout.ActiveDocument.1">
                  <p:embed/>
                </p:oleObj>
              </mc:Choice>
              <mc:Fallback>
                <p:oleObj name="think-cell Slide" r:id="rId4" imgW="594" imgH="595"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 name="Table 9">
            <a:extLst>
              <a:ext uri="{FF2B5EF4-FFF2-40B4-BE49-F238E27FC236}">
                <a16:creationId xmlns:a16="http://schemas.microsoft.com/office/drawing/2014/main" id="{36DCCD8B-C149-490D-8E5F-DC5722E53037}"/>
              </a:ext>
            </a:extLst>
          </p:cNvPr>
          <p:cNvGraphicFramePr>
            <a:graphicFrameLocks noGrp="1"/>
          </p:cNvGraphicFramePr>
          <p:nvPr>
            <p:extLst>
              <p:ext uri="{D42A27DB-BD31-4B8C-83A1-F6EECF244321}">
                <p14:modId xmlns:p14="http://schemas.microsoft.com/office/powerpoint/2010/main" val="1437339766"/>
              </p:ext>
            </p:extLst>
          </p:nvPr>
        </p:nvGraphicFramePr>
        <p:xfrm>
          <a:off x="317499" y="771064"/>
          <a:ext cx="11700000" cy="5771280"/>
        </p:xfrm>
        <a:graphic>
          <a:graphicData uri="http://schemas.openxmlformats.org/drawingml/2006/table">
            <a:tbl>
              <a:tblPr>
                <a:tableStyleId>{5C22544A-7EE6-4342-B048-85BDC9FD1C3A}</a:tableStyleId>
              </a:tblPr>
              <a:tblGrid>
                <a:gridCol w="756000">
                  <a:extLst>
                    <a:ext uri="{9D8B030D-6E8A-4147-A177-3AD203B41FA5}">
                      <a16:colId xmlns:a16="http://schemas.microsoft.com/office/drawing/2014/main" val="3570299910"/>
                    </a:ext>
                  </a:extLst>
                </a:gridCol>
                <a:gridCol w="756000">
                  <a:extLst>
                    <a:ext uri="{9D8B030D-6E8A-4147-A177-3AD203B41FA5}">
                      <a16:colId xmlns:a16="http://schemas.microsoft.com/office/drawing/2014/main" val="3950796025"/>
                    </a:ext>
                  </a:extLst>
                </a:gridCol>
                <a:gridCol w="684000">
                  <a:extLst>
                    <a:ext uri="{9D8B030D-6E8A-4147-A177-3AD203B41FA5}">
                      <a16:colId xmlns:a16="http://schemas.microsoft.com/office/drawing/2014/main" val="23014324"/>
                    </a:ext>
                  </a:extLst>
                </a:gridCol>
                <a:gridCol w="1332000">
                  <a:extLst>
                    <a:ext uri="{9D8B030D-6E8A-4147-A177-3AD203B41FA5}">
                      <a16:colId xmlns:a16="http://schemas.microsoft.com/office/drawing/2014/main" val="2593145120"/>
                    </a:ext>
                  </a:extLst>
                </a:gridCol>
                <a:gridCol w="2340000">
                  <a:extLst>
                    <a:ext uri="{9D8B030D-6E8A-4147-A177-3AD203B41FA5}">
                      <a16:colId xmlns:a16="http://schemas.microsoft.com/office/drawing/2014/main" val="2149758195"/>
                    </a:ext>
                  </a:extLst>
                </a:gridCol>
                <a:gridCol w="1836000">
                  <a:extLst>
                    <a:ext uri="{9D8B030D-6E8A-4147-A177-3AD203B41FA5}">
                      <a16:colId xmlns:a16="http://schemas.microsoft.com/office/drawing/2014/main" val="3024837112"/>
                    </a:ext>
                  </a:extLst>
                </a:gridCol>
                <a:gridCol w="288000">
                  <a:extLst>
                    <a:ext uri="{9D8B030D-6E8A-4147-A177-3AD203B41FA5}">
                      <a16:colId xmlns:a16="http://schemas.microsoft.com/office/drawing/2014/main" val="4287191136"/>
                    </a:ext>
                  </a:extLst>
                </a:gridCol>
                <a:gridCol w="288000">
                  <a:extLst>
                    <a:ext uri="{9D8B030D-6E8A-4147-A177-3AD203B41FA5}">
                      <a16:colId xmlns:a16="http://schemas.microsoft.com/office/drawing/2014/main" val="1470397540"/>
                    </a:ext>
                  </a:extLst>
                </a:gridCol>
                <a:gridCol w="288000">
                  <a:extLst>
                    <a:ext uri="{9D8B030D-6E8A-4147-A177-3AD203B41FA5}">
                      <a16:colId xmlns:a16="http://schemas.microsoft.com/office/drawing/2014/main" val="3420789790"/>
                    </a:ext>
                  </a:extLst>
                </a:gridCol>
                <a:gridCol w="288000">
                  <a:extLst>
                    <a:ext uri="{9D8B030D-6E8A-4147-A177-3AD203B41FA5}">
                      <a16:colId xmlns:a16="http://schemas.microsoft.com/office/drawing/2014/main" val="3414007680"/>
                    </a:ext>
                  </a:extLst>
                </a:gridCol>
                <a:gridCol w="2844000">
                  <a:extLst>
                    <a:ext uri="{9D8B030D-6E8A-4147-A177-3AD203B41FA5}">
                      <a16:colId xmlns:a16="http://schemas.microsoft.com/office/drawing/2014/main" val="2168095823"/>
                    </a:ext>
                  </a:extLst>
                </a:gridCol>
              </a:tblGrid>
              <a:tr h="177620">
                <a:tc rowSpan="2">
                  <a:txBody>
                    <a:bodyPr/>
                    <a:lstStyle/>
                    <a:p>
                      <a:pPr algn="l" fontAlgn="ctr"/>
                      <a:r>
                        <a:rPr lang="ru-RU" sz="700" u="none" strike="noStrike" dirty="0">
                          <a:solidFill>
                            <a:schemeClr val="accent5">
                              <a:lumMod val="75000"/>
                              <a:lumOff val="25000"/>
                            </a:schemeClr>
                          </a:solidFill>
                          <a:effectLst/>
                          <a:latin typeface="+mn-lt"/>
                        </a:rPr>
                        <a:t xml:space="preserve">Program components</a:t>
                      </a:r>
                      <a:endParaRPr lang="en-US" sz="700" b="0" i="0" u="none" strike="noStrike" dirty="0">
                        <a:solidFill>
                          <a:schemeClr val="accent5">
                            <a:lumMod val="75000"/>
                            <a:lumOff val="25000"/>
                          </a:schemeClr>
                        </a:solidFill>
                        <a:effectLst/>
                        <a:latin typeface="+mn-lt"/>
                      </a:endParaRPr>
                    </a:p>
                  </a:txBody>
                  <a:tcPr marL="36000" marR="36000" marT="36000" marB="36000" anchor="ctr">
                    <a:lnL w="12700" cmpd="sng">
                      <a:noFill/>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algn="l" defTabSz="583170" rtl="0" eaLnBrk="1" fontAlgn="ctr" latinLnBrk="0" hangingPunct="1"/>
                      <a:r>
                        <a:rPr lang="ru-RU" sz="700" u="none" strike="noStrike" kern="1200" dirty="0">
                          <a:solidFill>
                            <a:schemeClr val="accent5">
                              <a:lumMod val="75000"/>
                              <a:lumOff val="25000"/>
                            </a:schemeClr>
                          </a:solidFill>
                          <a:effectLst/>
                          <a:latin typeface="+mn-lt"/>
                          <a:ea typeface="+mn-ea"/>
                          <a:cs typeface="+mn-cs"/>
                        </a:rPr>
                        <a:t xml:space="preserve">Key Tools</a:t>
                      </a:r>
                      <a:endParaRPr lang="en-US" sz="700" u="none" strike="noStrike" kern="1200" dirty="0">
                        <a:solidFill>
                          <a:schemeClr val="accent5">
                            <a:lumMod val="75000"/>
                            <a:lumOff val="25000"/>
                          </a:schemeClr>
                        </a:solidFill>
                        <a:effectLst/>
                        <a:latin typeface="+mn-lt"/>
                        <a:ea typeface="+mn-ea"/>
                        <a:cs typeface="+mn-cs"/>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accent5">
                              <a:lumMod val="75000"/>
                              <a:lumOff val="25000"/>
                            </a:schemeClr>
                          </a:solidFill>
                          <a:effectLst/>
                          <a:latin typeface="+mn-lt"/>
                        </a:rPr>
                        <a:t xml:space="preserve">Requirements</a:t>
                      </a:r>
                      <a:r>
                        <a:rPr lang="en-US" sz="700" u="none" strike="noStrike" dirty="0">
                          <a:solidFill>
                            <a:schemeClr val="accent5">
                              <a:lumMod val="75000"/>
                              <a:lumOff val="25000"/>
                            </a:schemeClr>
                          </a:solidFill>
                          <a:effectLst/>
                          <a:latin typeface="+mn-lt"/>
                        </a:rPr>
                        <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accent5">
                              <a:lumMod val="75000"/>
                              <a:lumOff val="25000"/>
                            </a:schemeClr>
                          </a:solidFill>
                          <a:effectLst/>
                          <a:latin typeface="+mn-lt"/>
                        </a:rPr>
                        <a:t xml:space="preserve">Control elements</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accent5">
                              <a:lumMod val="75000"/>
                              <a:lumOff val="25000"/>
                            </a:schemeClr>
                          </a:solidFill>
                          <a:effectLst/>
                          <a:latin typeface="+mn-lt"/>
                        </a:rPr>
                        <a:t xml:space="preserve">Operations</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b="0" i="0" u="none" strike="noStrike" dirty="0">
                          <a:solidFill>
                            <a:schemeClr val="accent5">
                              <a:lumMod val="75000"/>
                              <a:lumOff val="25000"/>
                            </a:schemeClr>
                          </a:solidFill>
                          <a:effectLst/>
                          <a:latin typeface="+mn-lt"/>
                        </a:rPr>
                        <a:t xml:space="preserve">Responsible</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l" fontAlgn="ctr"/>
                      <a:r>
                        <a:rPr lang="en-US" sz="700" u="none" strike="noStrike" dirty="0" smtClean="0">
                          <a:solidFill>
                            <a:schemeClr val="accent5">
                              <a:lumMod val="75000"/>
                              <a:lumOff val="25000"/>
                            </a:schemeClr>
                          </a:solidFill>
                          <a:effectLst/>
                          <a:latin typeface="+mn-lt"/>
                        </a:rPr>
                        <a:t xml:space="preserve">2025</a:t>
                      </a:r>
                      <a:r>
                        <a:rPr lang="ru-RU" sz="700" u="none" strike="noStrike" dirty="0" smtClean="0">
                          <a:solidFill>
                            <a:schemeClr val="accent5">
                              <a:lumMod val="75000"/>
                              <a:lumOff val="25000"/>
                            </a:schemeClr>
                          </a:solidFill>
                          <a:effectLst/>
                          <a:latin typeface="+mn-lt"/>
                        </a:rPr>
                        <a:t/>
                      </a:r>
                      <a:r>
                        <a:rPr lang="ru-RU" sz="700" u="none" strike="noStrike" dirty="0">
                          <a:solidFill>
                            <a:schemeClr val="accent5">
                              <a:lumMod val="75000"/>
                              <a:lumOff val="25000"/>
                            </a:schemeClr>
                          </a:solidFill>
                          <a:effectLst/>
                          <a:latin typeface="+mn-lt"/>
                        </a:rPr>
                        <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ru-RU"/>
                    </a:p>
                  </a:txBody>
                  <a:tcPr/>
                </a:tc>
                <a:tc hMerge="1">
                  <a:txBody>
                    <a:bodyPr/>
                    <a:lstStyle/>
                    <a:p>
                      <a:endParaRPr lang="ru-RU"/>
                    </a:p>
                  </a:txBody>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 xml:space="preserve">Execution Status</a:t>
                      </a:r>
                    </a:p>
                  </a:txBody>
                  <a:tcPr marL="36000" marR="36000" marT="36000" marB="36000" anchor="ctr">
                    <a:lnL w="9525" cap="flat" cmpd="sng" algn="ctr">
                      <a:solidFill>
                        <a:schemeClr val="bg1"/>
                      </a:solidFill>
                      <a:prstDash val="solid"/>
                      <a:round/>
                      <a:headEnd type="none" w="med" len="med"/>
                      <a:tailEnd type="none" w="med" len="med"/>
                    </a:lnL>
                    <a:lnR w="12700" cmpd="sng">
                      <a:noFill/>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572482"/>
                  </a:ext>
                </a:extLst>
              </a:tr>
              <a:tr h="1776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r>
                        <a:rPr lang="ru" sz="700" u="none" strike="noStrike" dirty="0">
                          <a:solidFill>
                            <a:schemeClr val="accent5">
                              <a:lumMod val="75000"/>
                              <a:lumOff val="25000"/>
                            </a:schemeClr>
                          </a:solidFill>
                          <a:effectLst/>
                          <a:latin typeface="+mn-lt"/>
                        </a:rPr>
                        <a:t xml:space="preserve">1 sq.</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 xml:space="preserve">2 sq.</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 xml:space="preserve">Q3</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 xml:space="preserve">Q4</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12700" cmpd="sng">
                      <a:noFill/>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7142690"/>
                  </a:ext>
                </a:extLst>
              </a:tr>
              <a:tr h="237871">
                <a:tc rowSpan="9">
                  <a:txBody>
                    <a:bodyPr/>
                    <a:lstStyle/>
                    <a:p>
                      <a:pPr algn="l" fontAlgn="ctr"/>
                      <a:r>
                        <a:rPr lang="ru-RU" sz="700" b="1" u="none" strike="noStrike" dirty="0">
                          <a:solidFill>
                            <a:schemeClr val="tx1"/>
                          </a:solidFill>
                          <a:effectLst/>
                          <a:latin typeface="+mn-lt"/>
                        </a:rPr>
                        <a:t xml:space="preserve">Managing the process of collecting, processing and protecting personal data</a:t>
                      </a:r>
                      <a:r>
                        <a:rPr lang="ru-RU" sz="700" b="1" u="none" strike="noStrike" dirty="0" smtClean="0">
                          <a:solidFill>
                            <a:schemeClr val="tx1"/>
                          </a:solidFill>
                          <a:effectLst/>
                          <a:latin typeface="+mn-lt"/>
                        </a:rPr>
                        <a:t/>
                      </a:r>
                      <a:endParaRPr lang="en-US" sz="700" b="1"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algn="l" fontAlgn="ctr"/>
                      <a:r>
                        <a:rPr lang="ru-RU" sz="700" u="none" strike="noStrike" dirty="0">
                          <a:solidFill>
                            <a:schemeClr val="tx1"/>
                          </a:solidFill>
                          <a:effectLst/>
                          <a:latin typeface="+mn-lt"/>
                        </a:rPr>
                        <a:t xml:space="preserve">Policies and Procedures</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11">
                  <a:txBody>
                    <a:bodyPr/>
                    <a:lstStyle/>
                    <a:p>
                      <a:pPr algn="l" fontAlgn="ctr"/>
                      <a:r>
                        <a:rPr lang="ru-RU" sz="700" u="none" strike="noStrike" dirty="0">
                          <a:solidFill>
                            <a:schemeClr val="tx1"/>
                          </a:solidFill>
                          <a:effectLst/>
                          <a:latin typeface="+mn-lt"/>
                        </a:rPr>
                        <a:t xml:space="preserve">Internal / Legal / Regulatory</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algn="l" fontAlgn="ctr"/>
                      <a:r>
                        <a:rPr lang="ru-RU" sz="700" u="none" strike="noStrike" dirty="0">
                          <a:solidFill>
                            <a:schemeClr val="tx1"/>
                          </a:solidFill>
                          <a:effectLst/>
                          <a:latin typeface="+mn-lt"/>
                        </a:rPr>
                        <a:t xml:space="preserve">Official documentation (Policies and Procedures of the Group; Regulations on PD at the Perimeter level) must be implemented in their current versions. Lack of documentation may lead the Company to violation of laws and financial/reputational damage/losses.</a:t>
                      </a:r>
                      <a:r>
                        <a:rPr lang="ru-RU"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r>
                        <a:rPr lang="ru-RU" sz="700" u="none" strike="noStrike" dirty="0" smtClean="0">
                          <a:solidFill>
                            <a:schemeClr val="tx1"/>
                          </a:solidFill>
                          <a:effectLst/>
                          <a:latin typeface="+mn-lt"/>
                        </a:rPr>
                        <a:t/>
                      </a:r>
                      <a:r>
                        <a:rPr lang="ru-RU" sz="700" u="none" strike="noStrike" dirty="0">
                          <a:solidFill>
                            <a:schemeClr val="tx1"/>
                          </a:solidFill>
                          <a:effectLst/>
                          <a:latin typeface="+mn-lt"/>
                        </a:rPr>
                        <a:t/>
                      </a:r>
                      <a:r>
                        <a:rPr lang="ru-RU" sz="700" u="none" strike="noStrike" dirty="0" smtClean="0">
                          <a:solidFill>
                            <a:schemeClr val="tx1"/>
                          </a:solidFill>
                          <a:effectLst/>
                          <a:latin typeface="+mn-lt"/>
                        </a:rPr>
                        <a:t/>
                      </a:r>
                      <a:r>
                        <a:rPr lang="ru-RU" sz="700" u="none" strike="noStrike" dirty="0">
                          <a:solidFill>
                            <a:schemeClr val="tx1"/>
                          </a:solidFill>
                          <a:effectLst/>
                          <a:latin typeface="+mn-lt"/>
                        </a:rPr>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 xml:space="preserve">Participate in the revision of the current Regulations on violations of the Group’s PD protection rules and the Regulations on compliance with the rights of Group PD subjects and provide the Group’s DPO with proposals for relevant changes (if any)</a:t>
                      </a:r>
                      <a:r>
                        <a:rPr lang="ru-RU" sz="700" u="none" strike="noStrike" baseline="0" dirty="0">
                          <a:solidFill>
                            <a:schemeClr val="tx1"/>
                          </a:solidFill>
                          <a:effectLst/>
                          <a:latin typeface="+mn-lt"/>
                        </a:rPr>
                        <a:t/>
                      </a:r>
                      <a:r>
                        <a:rPr lang="ru-RU" sz="700" u="none" strike="noStrike" dirty="0">
                          <a:solidFill>
                            <a:schemeClr val="tx1"/>
                          </a:solidFill>
                          <a:effectLst/>
                          <a:latin typeface="+mn-lt"/>
                        </a:rPr>
                        <a:t/>
                      </a:r>
                      <a:r>
                        <a:rPr lang="ru-RU" sz="700" u="none" strike="noStrike" baseline="0" dirty="0">
                          <a:solidFill>
                            <a:schemeClr val="tx1"/>
                          </a:solidFill>
                          <a:effectLst/>
                          <a:latin typeface="+mn-lt"/>
                        </a:rPr>
                        <a:t/>
                      </a:r>
                      <a:r>
                        <a:rPr lang="ru-RU" sz="700" u="none" strike="noStrike" baseline="0" dirty="0" smtClean="0">
                          <a:solidFill>
                            <a:schemeClr val="tx1"/>
                          </a:solidFill>
                          <a:effectLst/>
                          <a:latin typeface="+mn-lt"/>
                        </a:rPr>
                        <a:t/>
                      </a:r>
                      <a:r>
                        <a:rPr lang="ru-RU" sz="700" u="none" strike="noStrike" baseline="0" dirty="0">
                          <a:solidFill>
                            <a:schemeClr val="tx1"/>
                          </a:solidFill>
                          <a:effectLst/>
                          <a:latin typeface="+mn-lt"/>
                        </a:rPr>
                        <a:t/>
                      </a:r>
                      <a:r>
                        <a:rPr lang="ru-RU" sz="700" u="none" strike="noStrike" baseline="0" dirty="0" smtClean="0">
                          <a:solidFill>
                            <a:schemeClr val="tx1"/>
                          </a:solidFill>
                          <a:effectLst/>
                          <a:latin typeface="+mn-lt"/>
                        </a:rPr>
                        <a:t/>
                      </a:r>
                      <a:r>
                        <a:rPr lang="ru-RU" sz="700" u="none" strike="noStrike" dirty="0" smtClean="0">
                          <a:solidFill>
                            <a:schemeClr val="tx1"/>
                          </a:solidFill>
                          <a:effectLst/>
                          <a:latin typeface="+mn-lt"/>
                        </a:rPr>
                        <a:t/>
                      </a:r>
                      <a:r>
                        <a:rPr lang="ru-RU" sz="700" u="none" strike="noStrike" dirty="0">
                          <a:solidFill>
                            <a:schemeClr val="tx1"/>
                          </a:solidFill>
                          <a:effectLst/>
                          <a:latin typeface="+mn-lt"/>
                        </a:rPr>
                        <a:t/>
                      </a:r>
                      <a:r>
                        <a:rPr lang="ru-RU" sz="700" u="none" strike="noStrike" dirty="0" smtClean="0">
                          <a:solidFill>
                            <a:schemeClr val="tx1"/>
                          </a:solidFill>
                          <a:effectLst/>
                          <a:latin typeface="+mn-lt"/>
                        </a:rPr>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marL="90488" indent="-90488" algn="l" fontAlgn="ctr">
                        <a:buClr>
                          <a:schemeClr val="accent5">
                            <a:lumMod val="75000"/>
                            <a:lumOff val="25000"/>
                          </a:schemeClr>
                        </a:buClr>
                        <a:buFont typeface="Arial" panose="020B0604020202020204" pitchFamily="34" charset="0"/>
                        <a:buChar char="•"/>
                      </a:pPr>
                      <a:r>
                        <a:rPr lang="ru-RU" sz="700" u="none" strike="noStrike" dirty="0" smtClean="0">
                          <a:solidFill>
                            <a:schemeClr val="tx1"/>
                          </a:solidFill>
                          <a:effectLst/>
                          <a:latin typeface="+mn-lt"/>
                        </a:rPr>
                        <a:t xml:space="preserve">Personal Data Protection Manager</a:t>
                      </a:r>
                      <a:r>
                        <a:rPr lang="ru-RU" sz="700" u="none" strike="noStrike" baseline="0" dirty="0" smtClean="0">
                          <a:solidFill>
                            <a:schemeClr val="tx1"/>
                          </a:solidFill>
                          <a:effectLst/>
                          <a:latin typeface="+mn-lt"/>
                        </a:rPr>
                        <a:t/>
                      </a:r>
                      <a:r>
                        <a:rPr lang="ru-RU" sz="700" u="none" strike="noStrike" baseline="0" dirty="0">
                          <a:solidFill>
                            <a:schemeClr val="tx1"/>
                          </a:solidFill>
                          <a:effectLst/>
                          <a:latin typeface="+mn-lt"/>
                        </a:rPr>
                        <a:t/>
                      </a:r>
                      <a:endParaRPr lang="ru-RU" sz="700" u="none" strike="noStrike" baseline="0" dirty="0" smtClean="0">
                        <a:solidFill>
                          <a:schemeClr val="tx1"/>
                        </a:solidFill>
                        <a:effectLst/>
                        <a:latin typeface="+mn-lt"/>
                      </a:endParaRPr>
                    </a:p>
                    <a:p>
                      <a:pPr marL="90488" indent="-90488" algn="l" fontAlgn="ctr">
                        <a:buClr>
                          <a:schemeClr val="accent5">
                            <a:lumMod val="75000"/>
                            <a:lumOff val="25000"/>
                          </a:schemeClr>
                        </a:buClr>
                        <a:buFont typeface="Arial" panose="020B0604020202020204" pitchFamily="34" charset="0"/>
                        <a:buChar char="•"/>
                      </a:pPr>
                      <a:r>
                        <a:rPr lang="ru-RU" sz="700" u="none" strike="noStrike" baseline="0" dirty="0" smtClean="0">
                          <a:solidFill>
                            <a:schemeClr val="tx1"/>
                          </a:solidFill>
                          <a:effectLst/>
                          <a:latin typeface="+mn-lt"/>
                        </a:rPr>
                        <a:t xml:space="preserve">Participation: Healthcare Compliance Manager (for the Healthcare business sector), Compliance Officer for Compliance Risks and Controls (for the Register of Policies and Procedures)</a:t>
                      </a:r>
                      <a:r>
                        <a:rPr lang="ru-RU" sz="700" u="none" strike="noStrike" dirty="0" smtClean="0">
                          <a:solidFill>
                            <a:schemeClr val="tx1"/>
                          </a:solidFill>
                          <a:effectLst/>
                          <a:latin typeface="+mn-lt"/>
                        </a:rPr>
                        <a:t/>
                      </a:r>
                      <a:r>
                        <a:rPr lang="ru-RU" sz="700" u="none" strike="noStrike" dirty="0">
                          <a:solidFill>
                            <a:schemeClr val="tx1"/>
                          </a:solidFill>
                          <a:effectLst/>
                          <a:latin typeface="+mn-lt"/>
                        </a:rPr>
                        <a:t/>
                      </a:r>
                      <a:r>
                        <a:rPr lang="ru-RU" sz="700" u="none" strike="noStrike" dirty="0" smtClean="0">
                          <a:solidFill>
                            <a:schemeClr val="tx1"/>
                          </a:solidFill>
                          <a:effectLst/>
                          <a:latin typeface="+mn-lt"/>
                        </a:rPr>
                        <a:t/>
                      </a:r>
                      <a:r>
                        <a:rPr lang="en-US" sz="700" u="none" strike="noStrike" dirty="0" smtClean="0">
                          <a:solidFill>
                            <a:schemeClr val="tx1"/>
                          </a:solidFill>
                          <a:effectLst/>
                          <a:latin typeface="+mn-lt"/>
                        </a:rPr>
                        <a:t/>
                      </a:r>
                      <a:r>
                        <a:rPr lang="ru-RU" sz="700" u="none" strike="noStrike" dirty="0" smtClean="0">
                          <a:solidFill>
                            <a:schemeClr val="tx1"/>
                          </a:solidFill>
                          <a:effectLst/>
                          <a:latin typeface="+mn-lt"/>
                        </a:rPr>
                        <a:t/>
                      </a:r>
                      <a:r>
                        <a:rPr lang="en-US"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r>
                        <a:rPr lang="ru-RU" sz="700" u="none" strike="noStrike" kern="1200" dirty="0" smtClean="0">
                          <a:solidFill>
                            <a:schemeClr val="tx1"/>
                          </a:solidFill>
                          <a:effectLst/>
                          <a:latin typeface="+mn-lt"/>
                          <a:ea typeface="+mn-ea"/>
                          <a:cs typeface="+mn-cs"/>
                        </a:rPr>
                        <a:t/>
                      </a:r>
                      <a:r>
                        <a:rPr lang="en-US" sz="700" u="none" strike="noStrike" kern="1200" dirty="0" smtClean="0">
                          <a:solidFill>
                            <a:schemeClr val="tx1"/>
                          </a:solidFill>
                          <a:effectLst/>
                          <a:latin typeface="+mn-lt"/>
                          <a:ea typeface="+mn-ea"/>
                          <a:cs typeface="+mn-cs"/>
                        </a:rPr>
                        <a:t/>
                      </a:r>
                      <a:r>
                        <a:rPr lang="ru-RU" sz="700" u="none" strike="noStrike" kern="1200" dirty="0" smtClean="0">
                          <a:solidFill>
                            <a:schemeClr val="tx1"/>
                          </a:solidFill>
                          <a:effectLst/>
                          <a:latin typeface="+mn-lt"/>
                          <a:ea typeface="+mn-ea"/>
                          <a:cs typeface="+mn-cs"/>
                        </a:rPr>
                        <a:t/>
                      </a:r>
                      <a:r>
                        <a:rPr lang="en-US" sz="700" u="none" strike="noStrike" kern="1200" dirty="0" smtClean="0">
                          <a:solidFill>
                            <a:schemeClr val="tx1"/>
                          </a:solidFill>
                          <a:effectLst/>
                          <a:latin typeface="+mn-lt"/>
                          <a:ea typeface="+mn-ea"/>
                          <a:cs typeface="+mn-cs"/>
                        </a:rPr>
                        <a:t/>
                      </a:r>
                      <a:endParaRPr lang="ru-RU" sz="700" u="none" strike="noStrike" kern="1200" dirty="0" smtClean="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ru-RU" sz="700" b="0" i="0" u="none" strike="noStrike" dirty="0" smtClean="0">
                          <a:solidFill>
                            <a:schemeClr val="tx1"/>
                          </a:solidFill>
                          <a:effectLst/>
                          <a:latin typeface="+mn-lt"/>
                        </a:rPr>
                        <a:t>х</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b="0" i="0" u="none" strike="noStrike" dirty="0" smtClean="0">
                          <a:solidFill>
                            <a:schemeClr val="tx1"/>
                          </a:solidFill>
                          <a:effectLst/>
                          <a:latin typeface="+mn-lt"/>
                        </a:rPr>
                        <a:t>х</a:t>
                      </a:r>
                      <a:endParaRPr lang="ru-RU" sz="700" dirty="0">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700" dirty="0">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latin typeface="+mn-lt"/>
                        </a:rPr>
                        <a:t xml:space="preserve">In 2025, the Group Compliance did not initiate updating of the Regulations on violations of the rules for the protection of the Group’s PD and the Regulations on the observance of the rights of subjects of the Group’s PD.</a:t>
                      </a:r>
                      <a:r>
                        <a:rPr lang="ru-RU" sz="700" baseline="0" dirty="0" smtClean="0">
                          <a:latin typeface="+mn-lt"/>
                        </a:rPr>
                        <a:t/>
                      </a:r>
                      <a:r>
                        <a:rPr lang="ru-RU" sz="700" u="none" strike="noStrike" baseline="0" dirty="0" smtClean="0">
                          <a:solidFill>
                            <a:schemeClr val="tx1"/>
                          </a:solidFill>
                          <a:effectLst/>
                          <a:latin typeface="+mn-lt"/>
                        </a:rPr>
                        <a:t/>
                      </a:r>
                      <a:endParaRPr lang="ru-RU" sz="700" dirty="0">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4430981"/>
                  </a:ext>
                </a:extLst>
              </a:tr>
              <a:tr h="237871">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algn="l" fontAlgn="t"/>
                      <a:r>
                        <a:rPr lang="ru-RU" sz="700" u="none" strike="noStrike" dirty="0" smtClean="0">
                          <a:solidFill>
                            <a:schemeClr val="tx1"/>
                          </a:solidFill>
                          <a:effectLst/>
                          <a:latin typeface="+mn-lt"/>
                        </a:rPr>
                        <a:t xml:space="preserve">Participate in the development of the Group Data Retention Policy and provide the Group DPO with proposals for relevant changes (if any)</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endParaRPr lang="ru-RU" sz="700" dirty="0">
                        <a:solidFill>
                          <a:srgbClr val="FF0000"/>
                        </a:solidFill>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700" b="0" i="0" u="none" strike="noStrike" dirty="0" smtClean="0">
                          <a:solidFill>
                            <a:schemeClr val="tx1"/>
                          </a:solidFill>
                          <a:effectLst/>
                          <a:latin typeface="+mn-lt"/>
                        </a:rPr>
                        <a:t>х</a:t>
                      </a:r>
                      <a:endParaRPr lang="ru-RU" sz="700" dirty="0">
                        <a:solidFill>
                          <a:srgbClr val="FF0000"/>
                        </a:solidFill>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latin typeface="+mn-lt"/>
                        </a:rPr>
                        <a:t xml:space="preserve">In 2025, Group Compliance did not initiate the development of a Group Data Retention Policy. The last discussion on the task was in 2024, at which the Perimeter DPO provided information on the requirements of the legislation of the Republic of Kazakhstan and the internal regulatory rules of the Perimeter regarding information storage. </a:t>
                      </a:r>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6158604"/>
                  </a:ext>
                </a:extLst>
              </a:tr>
              <a:tr h="334868">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 xml:space="preserve">Monitor changes in applicable legislation and, if necessary, update the Perimeter Personal Data Regulations (including consent to the collection and processing of employee personal data, Cookie Statement, Privacy Statement), as well as for the Healthcare business sector - consent to the collection and processing of patients’ personal data</a:t>
                      </a:r>
                      <a:r>
                        <a:rPr lang="ru-RU" sz="700" u="none" strike="noStrike" baseline="0" dirty="0" smtClean="0">
                          <a:solidFill>
                            <a:schemeClr val="tx1"/>
                          </a:solidFill>
                          <a:effectLst/>
                          <a:latin typeface="+mn-lt"/>
                        </a:rPr>
                        <a:t/>
                      </a:r>
                      <a:r>
                        <a:rPr lang="ru-RU" sz="700" u="none" strike="noStrike" dirty="0" smtClean="0">
                          <a:solidFill>
                            <a:schemeClr val="tx1"/>
                          </a:solidFill>
                          <a:effectLst/>
                          <a:latin typeface="+mn-lt"/>
                        </a:rPr>
                        <a:t/>
                      </a:r>
                      <a:r>
                        <a:rPr lang="ru-RU" sz="700" u="none" strike="noStrike" dirty="0">
                          <a:solidFill>
                            <a:schemeClr val="tx1"/>
                          </a:solidFill>
                          <a:effectLst/>
                          <a:latin typeface="+mn-lt"/>
                        </a:rPr>
                        <a:t/>
                      </a:r>
                      <a:r>
                        <a:rPr lang="ru-RU" sz="700" u="none" strike="noStrike" baseline="0" dirty="0">
                          <a:solidFill>
                            <a:schemeClr val="tx1"/>
                          </a:solidFill>
                          <a:effectLst/>
                          <a:latin typeface="+mn-lt"/>
                        </a:rPr>
                        <a:t/>
                      </a:r>
                      <a:r>
                        <a:rPr lang="ru-RU" sz="700" u="none" strike="noStrike" dirty="0">
                          <a:solidFill>
                            <a:schemeClr val="tx1"/>
                          </a:solidFill>
                          <a:effectLst/>
                          <a:latin typeface="+mn-lt"/>
                        </a:rPr>
                        <a:t/>
                      </a:r>
                      <a:r>
                        <a:rPr lang="ru-RU" sz="700" u="none" strike="noStrike" dirty="0" smtClean="0">
                          <a:solidFill>
                            <a:schemeClr val="tx1"/>
                          </a:solidFill>
                          <a:effectLst/>
                          <a:latin typeface="+mn-lt"/>
                        </a:rPr>
                        <a:t/>
                      </a:r>
                      <a:r>
                        <a:rPr lang="ru-RU" sz="700" u="none" strike="noStrike" dirty="0">
                          <a:solidFill>
                            <a:schemeClr val="tx1"/>
                          </a:solidFill>
                          <a:effectLst/>
                          <a:latin typeface="+mn-lt"/>
                        </a:rPr>
                        <a:t/>
                      </a:r>
                      <a:r>
                        <a:rPr lang="ru-RU"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r>
                        <a:rPr lang="ru-RU"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r>
                        <a:rPr lang="ru-RU" sz="700" u="none" strike="noStrike" dirty="0" smtClean="0">
                          <a:solidFill>
                            <a:schemeClr val="tx1"/>
                          </a:solidFill>
                          <a:effectLst/>
                          <a:latin typeface="+mn-lt"/>
                        </a:rPr>
                        <a:t/>
                      </a:r>
                      <a:r>
                        <a:rPr lang="ru-RU" sz="700" u="none" strike="noStrike" dirty="0">
                          <a:solidFill>
                            <a:schemeClr val="tx1"/>
                          </a:solidFill>
                          <a:effectLst/>
                          <a:latin typeface="+mn-lt"/>
                        </a:rPr>
                        <a:t/>
                      </a:r>
                      <a:r>
                        <a:rPr lang="ru-RU"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r>
                        <a:rPr lang="ru-RU" sz="700" u="none" strike="noStrike" dirty="0" smtClean="0">
                          <a:solidFill>
                            <a:schemeClr val="tx1"/>
                          </a:solidFill>
                          <a:effectLst/>
                          <a:latin typeface="+mn-lt"/>
                        </a:rPr>
                        <a:t/>
                      </a:r>
                      <a:r>
                        <a:rPr lang="en-US" sz="700" u="none" strike="noStrike" dirty="0" smtClean="0">
                          <a:solidFill>
                            <a:schemeClr val="tx1"/>
                          </a:solidFill>
                          <a:effectLst/>
                          <a:latin typeface="+mn-lt"/>
                        </a:rPr>
                        <a:t/>
                      </a:r>
                      <a:r>
                        <a:rPr lang="ru-RU"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4">
                  <a:txBody>
                    <a:bodyPr/>
                    <a:lstStyle/>
                    <a:p>
                      <a:pPr algn="ctr" fontAlgn="t"/>
                      <a:r>
                        <a:rPr lang="ru-RU" sz="700" b="0" i="0" u="none" strike="noStrike" dirty="0">
                          <a:solidFill>
                            <a:schemeClr val="tx1"/>
                          </a:solidFill>
                          <a:effectLst/>
                          <a:latin typeface="+mn-lt"/>
                        </a:rPr>
                        <a:t xml:space="preserve">constantly</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algn="l" fontAlgn="t"/>
                      <a:r>
                        <a:rPr lang="ru-RU" sz="700" b="0" i="0" u="none" strike="noStrike" dirty="0" smtClean="0">
                          <a:solidFill>
                            <a:schemeClr val="tx1"/>
                          </a:solidFill>
                          <a:effectLst/>
                          <a:latin typeface="+mn-lt"/>
                        </a:rPr>
                        <a:t xml:space="preserve">Performed on an ongoing basis. In 2025, there were no legislative changes requiring additional updating of the Perimeter PD Regulations, consent to the collection and processing of data from Perimeter KZ employees, the Cookie Statement and the Privacy Statement.</a:t>
                      </a:r>
                      <a:r>
                        <a:rPr lang="ru-RU" sz="700" b="0" i="0" u="none" strike="noStrike" baseline="0" dirty="0" smtClean="0">
                          <a:solidFill>
                            <a:schemeClr val="tx1"/>
                          </a:solidFill>
                          <a:effectLst/>
                          <a:latin typeface="+mn-lt"/>
                        </a:rPr>
                        <a:t/>
                      </a:r>
                      <a:r>
                        <a:rPr lang="ru-RU" sz="700" u="none" strike="noStrike" dirty="0" smtClean="0">
                          <a:solidFill>
                            <a:schemeClr val="tx1"/>
                          </a:solidFill>
                          <a:effectLst/>
                          <a:latin typeface="+mn-lt"/>
                        </a:rPr>
                        <a:t/>
                      </a:r>
                      <a:r>
                        <a:rPr lang="ru-RU" sz="700" u="none" strike="noStrike" dirty="0" err="1" smtClean="0">
                          <a:solidFill>
                            <a:schemeClr val="tx1"/>
                          </a:solidFill>
                          <a:effectLst/>
                          <a:latin typeface="+mn-lt"/>
                        </a:rPr>
                        <a:t/>
                      </a:r>
                      <a:r>
                        <a:rPr lang="ru-RU" sz="700" u="none" strike="noStrike" dirty="0" smtClean="0">
                          <a:solidFill>
                            <a:schemeClr val="tx1"/>
                          </a:solidFill>
                          <a:effectLst/>
                          <a:latin typeface="+mn-lt"/>
                        </a:rPr>
                        <a:t/>
                      </a:r>
                      <a:r>
                        <a:rPr lang="ru-RU" sz="700" b="0" i="0" u="none" strike="noStrike" baseline="0" dirty="0" smtClean="0">
                          <a:solidFill>
                            <a:schemeClr val="tx1"/>
                          </a:solidFill>
                          <a:effectLst/>
                          <a:latin typeface="+mn-lt"/>
                        </a:rPr>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5704118"/>
                  </a:ext>
                </a:extLst>
              </a:tr>
              <a:tr h="236384">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0" i="0" u="none" strike="noStrike" baseline="0" dirty="0" smtClean="0">
                          <a:solidFill>
                            <a:schemeClr val="tx1"/>
                          </a:solidFill>
                          <a:effectLst/>
                          <a:latin typeface="+mn-lt"/>
                        </a:rPr>
                        <a:t xml:space="preserve">Ensure the implementation of the Group's policies and procedures in the field of PD at the Perimeter level and, if necessary, their adaptation taking into account the specifics of the Perimeter business sectors</a:t>
                      </a:r>
                      <a:r>
                        <a:rPr lang="ru-RU" sz="700" b="0" i="0" u="none" strike="noStrike" dirty="0" smtClean="0">
                          <a:solidFill>
                            <a:schemeClr val="tx1"/>
                          </a:solidFill>
                          <a:effectLst/>
                          <a:latin typeface="+mn-lt"/>
                        </a:rPr>
                        <a:t/>
                      </a:r>
                      <a:r>
                        <a:rPr lang="ru-RU" sz="700" b="0" i="0" u="none" strike="noStrike" baseline="0" dirty="0" smtClean="0">
                          <a:solidFill>
                            <a:schemeClr val="tx1"/>
                          </a:solidFill>
                          <a:effectLst/>
                          <a:latin typeface="+mn-lt"/>
                        </a:rPr>
                        <a:t/>
                      </a:r>
                      <a:r>
                        <a:rPr lang="ru-RU" sz="700" b="0" i="0" u="none" strike="noStrike" dirty="0" smtClean="0">
                          <a:solidFill>
                            <a:schemeClr val="tx1"/>
                          </a:solidFill>
                          <a:effectLst/>
                          <a:latin typeface="+mn-lt"/>
                        </a:rPr>
                        <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4">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 xml:space="preserve">if necessary</a:t>
                      </a: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dirty="0"/>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dirty="0"/>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dirty="0"/>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dirty="0" smtClean="0"/>
                        <a:t xml:space="preserve">Provided on an ongoing basis. In 4th quarter 2025, the coverage indicator decreased due to the transition of two companies to Perimeter KZ - Aitu Dala LLP (from Perimeter Digita) and ERG Beijing (from Perimeter IP). At the end of 2025, the coverage of Perimeter KZ enterprises with the Group's PD Policy and the Perimeter PD Regulations amounted to 95.83% (Aitu Dala LLP - implemented in January 2026, ERG Beijing - in the process of implementation).</a:t>
                      </a:r>
                      <a:r>
                        <a:rPr lang="ru-RU" sz="700" baseline="0" dirty="0" smtClean="0"/>
                        <a:t/>
                      </a:r>
                      <a:r>
                        <a:rPr lang="ru-RU" sz="700" dirty="0" smtClean="0"/>
                        <a:t/>
                      </a:r>
                      <a:r>
                        <a:rPr lang="ru-RU" sz="700" dirty="0" err="1" smtClean="0"/>
                        <a:t/>
                      </a:r>
                      <a:r>
                        <a:rPr lang="ru-RU" sz="700" dirty="0" smtClean="0"/>
                        <a:t/>
                      </a:r>
                      <a:r>
                        <a:rPr lang="ru-RU" sz="700" dirty="0" err="1" smtClean="0"/>
                        <a:t/>
                      </a:r>
                      <a:r>
                        <a:rPr lang="ru-RU" sz="700" dirty="0" smtClean="0"/>
                        <a:t/>
                      </a:r>
                      <a:r>
                        <a:rPr lang="en-US" sz="700" dirty="0" err="1" smtClean="0"/>
                        <a:t/>
                      </a:r>
                      <a:r>
                        <a:rPr lang="en-US" sz="700" dirty="0" smtClean="0"/>
                        <a:t/>
                      </a:r>
                      <a:r>
                        <a:rPr lang="ru-RU" sz="700" dirty="0" smtClean="0"/>
                        <a:t/>
                      </a:r>
                      <a:r>
                        <a:rPr lang="ru-RU" sz="700" baseline="0" dirty="0" smtClean="0"/>
                        <a:t/>
                      </a:r>
                      <a:r>
                        <a:rPr lang="ru-RU" sz="700" dirty="0" smtClean="0"/>
                        <a:t/>
                      </a:r>
                      <a:r>
                        <a:rPr lang="ru-RU" sz="700" dirty="0" err="1" smtClean="0"/>
                        <a:t/>
                      </a:r>
                      <a:r>
                        <a:rPr lang="ru-RU" sz="700" dirty="0" smtClean="0"/>
                        <a:t/>
                      </a:r>
                      <a:r>
                        <a:rPr lang="en-US" sz="700" dirty="0" smtClean="0"/>
                        <a:t/>
                      </a:r>
                      <a:r>
                        <a:rPr lang="ru-RU" sz="700" dirty="0" smtClean="0"/>
                        <a:t/>
                      </a:r>
                      <a:r>
                        <a:rPr lang="ru-RU" sz="700" baseline="0" dirty="0" smtClean="0"/>
                        <a:t/>
                      </a:r>
                      <a:r>
                        <a:rPr lang="ru-RU" sz="700" dirty="0" smtClean="0"/>
                        <a:t/>
                      </a:r>
                      <a:r>
                        <a:rPr lang="ru-RU" sz="700" dirty="0" err="1" smtClean="0"/>
                        <a:t/>
                      </a:r>
                      <a:r>
                        <a:rPr lang="ru-RU" sz="700" dirty="0" smtClean="0"/>
                        <a:t/>
                      </a:r>
                      <a:r>
                        <a:rPr lang="ru-RU" sz="700" dirty="0" err="1" smtClean="0"/>
                        <a:t/>
                      </a:r>
                      <a:r>
                        <a:rPr lang="ru-RU" sz="700" dirty="0" smtClean="0"/>
                        <a:t/>
                      </a:r>
                      <a:r>
                        <a:rPr lang="ru-RU" sz="700" dirty="0" err="1" smtClean="0"/>
                        <a:t/>
                      </a:r>
                      <a:r>
                        <a:rPr lang="ru-RU" sz="700" dirty="0" smtClean="0"/>
                        <a:t/>
                      </a: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nchor="ctr">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779102"/>
                  </a:ext>
                </a:extLst>
              </a:tr>
              <a:tr h="138497">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 xml:space="preserve">Implementation and implementation of the objectives of the Personal Data Protection Program in new Perimeter enterprises</a:t>
                      </a:r>
                      <a:r>
                        <a:rPr lang="ru-RU"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r>
                        <a:rPr lang="ru-RU"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r>
                        <a:rPr lang="ru-RU" sz="700" u="none" strike="noStrike" dirty="0" smtClean="0">
                          <a:solidFill>
                            <a:schemeClr val="tx1"/>
                          </a:solidFill>
                          <a:effectLst/>
                          <a:latin typeface="+mn-lt"/>
                        </a:rPr>
                        <a:t/>
                      </a:r>
                      <a:r>
                        <a:rPr lang="en-US" sz="700" u="none" strike="noStrike" baseline="0" dirty="0" smtClean="0">
                          <a:solidFill>
                            <a:schemeClr val="tx1"/>
                          </a:solidFill>
                          <a:effectLst/>
                          <a:latin typeface="+mn-lt"/>
                        </a:rPr>
                        <a:t/>
                      </a:r>
                      <a:r>
                        <a:rPr lang="ru-RU" sz="700" u="none" strike="noStrike" baseline="0" dirty="0">
                          <a:solidFill>
                            <a:schemeClr val="tx1"/>
                          </a:solidFill>
                          <a:effectLst/>
                          <a:latin typeface="+mn-lt"/>
                        </a:rPr>
                        <a:t/>
                      </a:r>
                      <a:r>
                        <a:rPr lang="ru-RU" sz="700" u="none" strike="noStrike" dirty="0">
                          <a:solidFill>
                            <a:schemeClr val="tx1"/>
                          </a:solidFill>
                          <a:effectLst/>
                          <a:latin typeface="+mn-lt"/>
                        </a:rPr>
                        <a:t/>
                      </a:r>
                      <a:endParaRPr lang="en-US" sz="70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4">
                  <a:txBody>
                    <a:bodyPr/>
                    <a:lstStyle/>
                    <a:p>
                      <a:pPr algn="ctr" fontAlgn="t"/>
                      <a:r>
                        <a:rPr lang="ru-RU" sz="700" b="0" i="0" u="none" strike="noStrike" dirty="0" smtClean="0">
                          <a:solidFill>
                            <a:schemeClr val="tx1"/>
                          </a:solidFill>
                          <a:effectLst/>
                          <a:latin typeface="+mn-lt"/>
                        </a:rPr>
                        <a:t xml:space="preserve">if necessary</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vMerge="1">
                  <a:txBody>
                    <a:bodyPr/>
                    <a:lstStyle/>
                    <a:p>
                      <a:pPr algn="l" fontAlgn="t"/>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154562"/>
                  </a:ext>
                </a:extLst>
              </a:tr>
              <a:tr h="225217">
                <a:tc vMerge="1">
                  <a:txBody>
                    <a:bodyPr/>
                    <a:lstStyle/>
                    <a:p>
                      <a:endParaRPr lang="ru-RU"/>
                    </a:p>
                  </a:txBody>
                  <a:tcPr/>
                </a:tc>
                <a:tc rowSpan="4">
                  <a:txBody>
                    <a:bodyPr/>
                    <a:lstStyle/>
                    <a:p>
                      <a:pPr algn="l" fontAlgn="t"/>
                      <a:r>
                        <a:rPr lang="ru-RU" sz="700" u="none" strike="noStrike" dirty="0">
                          <a:solidFill>
                            <a:schemeClr val="tx1"/>
                          </a:solidFill>
                          <a:effectLst/>
                          <a:latin typeface="+mn-lt"/>
                        </a:rPr>
                        <a:t xml:space="preserve">Registers</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rowSpan="4">
                  <a:txBody>
                    <a:bodyPr/>
                    <a:lstStyle/>
                    <a:p>
                      <a:pPr algn="l" fontAlgn="ctr"/>
                      <a:r>
                        <a:rPr lang="ru-RU" sz="700" u="none" strike="noStrike" dirty="0" smtClean="0">
                          <a:solidFill>
                            <a:schemeClr val="tx1"/>
                          </a:solidFill>
                          <a:effectLst/>
                          <a:latin typeface="+mn-lt"/>
                        </a:rPr>
                        <a:t xml:space="preserve">Demonstrate strict compliance with relevant laws, regulations, rules and instructions</a:t>
                      </a:r>
                      <a:r>
                        <a:rPr lang="ru-RU" sz="700" u="none" strike="noStrike" baseline="0" dirty="0" smtClean="0">
                          <a:solidFill>
                            <a:schemeClr val="tx1"/>
                          </a:solidFill>
                          <a:effectLst/>
                          <a:latin typeface="+mn-lt"/>
                        </a:rPr>
                        <a:t/>
                      </a:r>
                      <a:r>
                        <a:rPr lang="ru-RU" sz="700" u="none" strike="noStrike" dirty="0" smtClean="0">
                          <a:solidFill>
                            <a:schemeClr val="tx1"/>
                          </a:solidFill>
                          <a:effectLst/>
                          <a:latin typeface="+mn-lt"/>
                        </a:rPr>
                        <a:t/>
                      </a:r>
                      <a:endParaRPr lang="en-US" sz="700" b="0" i="0" u="none" strike="noStrike" dirty="0">
                        <a:solidFill>
                          <a:schemeClr val="tx1"/>
                        </a:solidFill>
                        <a:effectLst/>
                        <a:latin typeface="+mn-lt"/>
                      </a:endParaRPr>
                    </a:p>
                  </a:txBody>
                  <a:tcPr marL="36000" marR="36000" marT="36000" marB="36000">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 xml:space="preserve">Implementation and timely updating of the Register of compliance risks and obligations regarding PD risk, taking into account the specifics of the Perimeter business sectors</a:t>
                      </a:r>
                      <a:r>
                        <a:rPr lang="ru-RU" sz="700" u="none" strike="noStrike" baseline="0" dirty="0" smtClean="0">
                          <a:solidFill>
                            <a:schemeClr val="tx1"/>
                          </a:solidFill>
                          <a:effectLst/>
                          <a:latin typeface="+mn-lt"/>
                        </a:rPr>
                        <a:t/>
                      </a:r>
                      <a:r>
                        <a:rPr lang="ru-RU"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r>
                        <a:rPr lang="ru-RU" sz="700" b="0" i="0" u="none" strike="noStrike" dirty="0" smtClean="0">
                          <a:solidFill>
                            <a:schemeClr val="tx1"/>
                          </a:solidFill>
                          <a:effectLst/>
                          <a:latin typeface="+mn-lt"/>
                        </a:rPr>
                        <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marL="90488" indent="-90488" algn="l" defTabSz="583170" rtl="0" eaLnBrk="1" fontAlgn="ctr" latinLnBrk="0" hangingPunct="1">
                        <a:buClr>
                          <a:schemeClr val="accent5">
                            <a:lumMod val="75000"/>
                            <a:lumOff val="25000"/>
                          </a:schemeClr>
                        </a:buClr>
                        <a:buFont typeface="Arial" panose="020B0604020202020204" pitchFamily="34" charset="0"/>
                        <a:buChar char="•"/>
                      </a:pPr>
                      <a:r>
                        <a:rPr lang="ru-RU" sz="700" u="none" strike="noStrike" kern="1200" dirty="0">
                          <a:solidFill>
                            <a:schemeClr val="tx1"/>
                          </a:solidFill>
                          <a:effectLst/>
                          <a:latin typeface="+mn-lt"/>
                          <a:ea typeface="+mn-ea"/>
                          <a:cs typeface="+mn-cs"/>
                        </a:rPr>
                        <a:t xml:space="preserve">Personal Data Protection Manager</a:t>
                      </a:r>
                      <a:r>
                        <a:rPr lang="ru-RU" sz="700" u="none" strike="noStrike" kern="1200" dirty="0" smtClean="0">
                          <a:solidFill>
                            <a:schemeClr val="tx1"/>
                          </a:solidFill>
                          <a:effectLst/>
                          <a:latin typeface="+mn-lt"/>
                          <a:ea typeface="+mn-ea"/>
                          <a:cs typeface="+mn-cs"/>
                        </a:rPr>
                        <a:t/>
                      </a:r>
                    </a:p>
                    <a:p>
                      <a:pPr marL="90488" indent="-90488" algn="l" defTabSz="583170" rtl="0" eaLnBrk="1" fontAlgn="ctr" latinLnBrk="0" hangingPunct="1">
                        <a:buClr>
                          <a:schemeClr val="accent5">
                            <a:lumMod val="75000"/>
                            <a:lumOff val="25000"/>
                          </a:schemeClr>
                        </a:buClr>
                        <a:buFont typeface="Arial" panose="020B0604020202020204" pitchFamily="34" charset="0"/>
                        <a:buChar char="•"/>
                      </a:pPr>
                      <a:r>
                        <a:rPr lang="ru-RU" sz="700" u="none" strike="noStrike" kern="1200" dirty="0" smtClean="0">
                          <a:solidFill>
                            <a:schemeClr val="tx1"/>
                          </a:solidFill>
                          <a:effectLst/>
                          <a:latin typeface="+mn-lt"/>
                          <a:ea typeface="+mn-ea"/>
                          <a:cs typeface="+mn-cs"/>
                        </a:rPr>
                        <a:t xml:space="preserve">Participation: Healthcare Compliance Manager (for the Healthcare business sector), Compliance Officer for Compliance Risks and Controls (for the Register of Policies and Procedures), Head of Compliance Risks and Controls (for the Register of Compliance Risks and Liabilities)</a:t>
                      </a:r>
                      <a:r>
                        <a:rPr lang="ru-RU" sz="700" u="none" strike="noStrike" dirty="0" smtClean="0">
                          <a:solidFill>
                            <a:schemeClr val="tx1"/>
                          </a:solidFill>
                          <a:effectLst/>
                          <a:latin typeface="+mn-lt"/>
                        </a:rPr>
                        <a:t/>
                      </a:r>
                      <a:r>
                        <a:rPr lang="en-US" sz="700" u="none" strike="noStrike" dirty="0" smtClean="0">
                          <a:solidFill>
                            <a:schemeClr val="tx1"/>
                          </a:solidFill>
                          <a:effectLst/>
                          <a:latin typeface="+mn-lt"/>
                        </a:rPr>
                        <a:t/>
                      </a:r>
                      <a:r>
                        <a:rPr lang="ru-RU" sz="700" u="none" strike="noStrike" dirty="0" smtClean="0">
                          <a:solidFill>
                            <a:schemeClr val="tx1"/>
                          </a:solidFill>
                          <a:effectLst/>
                          <a:latin typeface="+mn-lt"/>
                        </a:rPr>
                        <a:t/>
                      </a:r>
                      <a:r>
                        <a:rPr lang="en-US"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r>
                        <a:rPr lang="ru-RU" sz="700" u="none" strike="noStrike" kern="1200" dirty="0" smtClean="0">
                          <a:solidFill>
                            <a:schemeClr val="tx1"/>
                          </a:solidFill>
                          <a:effectLst/>
                          <a:latin typeface="+mn-lt"/>
                          <a:ea typeface="+mn-ea"/>
                          <a:cs typeface="+mn-cs"/>
                        </a:rPr>
                        <a:t/>
                      </a:r>
                      <a:r>
                        <a:rPr lang="ru-RU" sz="700" u="none" strike="noStrike" kern="1200" dirty="0">
                          <a:solidFill>
                            <a:schemeClr val="tx1"/>
                          </a:solidFill>
                          <a:effectLst/>
                          <a:latin typeface="+mn-lt"/>
                          <a:ea typeface="+mn-ea"/>
                          <a:cs typeface="+mn-cs"/>
                        </a:rPr>
                        <a:t/>
                      </a:r>
                      <a:r>
                        <a:rPr lang="en-US" sz="700" u="none" strike="noStrike" kern="1200" dirty="0" smtClean="0">
                          <a:solidFill>
                            <a:schemeClr val="tx1"/>
                          </a:solidFill>
                          <a:effectLst/>
                          <a:latin typeface="+mn-lt"/>
                          <a:ea typeface="+mn-ea"/>
                          <a:cs typeface="+mn-cs"/>
                        </a:rPr>
                        <a:t/>
                      </a:r>
                      <a:r>
                        <a:rPr lang="ru-RU" sz="700" u="none" strike="noStrike" kern="1200" dirty="0">
                          <a:solidFill>
                            <a:schemeClr val="tx1"/>
                          </a:solidFill>
                          <a:effectLst/>
                          <a:latin typeface="+mn-lt"/>
                          <a:ea typeface="+mn-ea"/>
                          <a:cs typeface="+mn-cs"/>
                        </a:rPr>
                        <a:t/>
                      </a:r>
                      <a:r>
                        <a:rPr lang="ru-RU" sz="700" u="none" strike="noStrike" kern="1200" dirty="0" smtClean="0">
                          <a:solidFill>
                            <a:schemeClr val="tx1"/>
                          </a:solidFill>
                          <a:effectLst/>
                          <a:latin typeface="+mn-lt"/>
                          <a:ea typeface="+mn-ea"/>
                          <a:cs typeface="+mn-cs"/>
                        </a:rPr>
                        <a:t/>
                      </a:r>
                      <a:r>
                        <a:rPr lang="en-US" sz="700" u="none" strike="noStrike" kern="1200" dirty="0" smtClean="0">
                          <a:solidFill>
                            <a:schemeClr val="tx1"/>
                          </a:solidFill>
                          <a:effectLst/>
                          <a:latin typeface="+mn-lt"/>
                          <a:ea typeface="+mn-ea"/>
                          <a:cs typeface="+mn-cs"/>
                        </a:rPr>
                        <a:t/>
                      </a:r>
                      <a:r>
                        <a:rPr lang="ru-RU" sz="700" u="none" strike="noStrike" kern="1200" dirty="0" smtClean="0">
                          <a:solidFill>
                            <a:schemeClr val="tx1"/>
                          </a:solidFill>
                          <a:effectLst/>
                          <a:latin typeface="+mn-lt"/>
                          <a:ea typeface="+mn-ea"/>
                          <a:cs typeface="+mn-cs"/>
                        </a:rPr>
                        <a:t/>
                      </a:r>
                      <a:endParaRPr lang="ru-RU" sz="700"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700" b="0" i="0" u="none" strike="noStrike" dirty="0">
                          <a:solidFill>
                            <a:schemeClr val="tx1"/>
                          </a:solidFill>
                          <a:effectLst/>
                          <a:latin typeface="+mn-lt"/>
                        </a:rPr>
                        <a:t>x</a:t>
                      </a: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700" b="0" i="0" u="none" strike="noStrike" dirty="0">
                          <a:solidFill>
                            <a:schemeClr val="tx1"/>
                          </a:solidFill>
                          <a:effectLst/>
                          <a:latin typeface="+mn-lt"/>
                        </a:rPr>
                        <a:t>x</a:t>
                      </a: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700" b="0" i="0" u="none" strike="noStrike" dirty="0">
                          <a:solidFill>
                            <a:schemeClr val="tx1"/>
                          </a:solidFill>
                          <a:effectLst/>
                          <a:latin typeface="+mn-lt"/>
                        </a:rPr>
                        <a:t>x</a:t>
                      </a: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ru-RU" sz="700" b="0" i="0" u="none" strike="noStrike" dirty="0" smtClean="0">
                          <a:solidFill>
                            <a:schemeClr val="tx1"/>
                          </a:solidFill>
                          <a:effectLst/>
                          <a:latin typeface="+mn-lt"/>
                        </a:rPr>
                        <a:t xml:space="preserve">Will be executed after completion of the Registry formation.</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4274988"/>
                  </a:ext>
                </a:extLst>
              </a:tr>
              <a:tr h="134674">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 xml:space="preserve">Maintaining a Register of PD Security Violations</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4">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 xml:space="preserve">if necessary</a:t>
                      </a: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 xml:space="preserve">Conducted on an ongoing basis.</a:t>
                      </a: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3770898"/>
                  </a:ext>
                </a:extLst>
              </a:tr>
              <a:tr h="137521">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algn="l" fontAlgn="t"/>
                      <a:r>
                        <a:rPr lang="ru-RU" sz="700" u="none" strike="noStrike" dirty="0" smtClean="0">
                          <a:solidFill>
                            <a:schemeClr val="tx1"/>
                          </a:solidFill>
                          <a:effectLst/>
                          <a:latin typeface="+mn-lt"/>
                        </a:rPr>
                        <a:t xml:space="preserve">Maintaining a Register of requests from PD subjects</a:t>
                      </a:r>
                      <a:r>
                        <a:rPr lang="ru-RU" sz="700" u="none" strike="noStrike" dirty="0">
                          <a:solidFill>
                            <a:schemeClr val="tx1"/>
                          </a:solidFill>
                          <a:effectLst/>
                          <a:latin typeface="+mn-lt"/>
                        </a:rPr>
                        <a:t/>
                      </a:r>
                      <a:r>
                        <a:rPr lang="ru-RU" sz="700" u="none" strike="noStrike" dirty="0" smtClean="0">
                          <a:solidFill>
                            <a:schemeClr val="tx1"/>
                          </a:solidFill>
                          <a:effectLst/>
                          <a:latin typeface="+mn-lt"/>
                        </a:rPr>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4">
                  <a:txBody>
                    <a:bodyPr/>
                    <a:lstStyle/>
                    <a:p>
                      <a:pPr marL="0" marR="0" lvl="0" indent="0" algn="ctr" defTabSz="583170" rtl="0" eaLnBrk="1" fontAlgn="t"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 xml:space="preserve">if necessary</a:t>
                      </a: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 xml:space="preserve">Conducted on an ongoing basis.</a:t>
                      </a: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0276488"/>
                  </a:ext>
                </a:extLst>
              </a:tr>
              <a:tr h="131217">
                <a:tc vMerge="1">
                  <a:txBody>
                    <a:bodyPr/>
                    <a:lstStyle/>
                    <a:p>
                      <a:pPr algn="l" fontAlgn="ctr"/>
                      <a:endParaRPr lang="en-US" sz="600" b="1" i="0" u="none" strike="noStrike" dirty="0">
                        <a:solidFill>
                          <a:srgbClr val="000000"/>
                        </a:solidFill>
                        <a:effectLst/>
                        <a:latin typeface="+mn-lt"/>
                      </a:endParaRPr>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endParaRPr lang="en-US" sz="600" b="0" i="0" u="none" strike="noStrike" dirty="0">
                        <a:solidFill>
                          <a:schemeClr val="tx1"/>
                        </a:solidFill>
                        <a:effectLst/>
                        <a:latin typeface="+mn-lt"/>
                      </a:endParaRPr>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vMerge="1">
                  <a:txBody>
                    <a:bodyPr/>
                    <a:lstStyle/>
                    <a:p>
                      <a:pPr algn="l" fontAlgn="ctr"/>
                      <a:endParaRPr lang="en-US" sz="600" b="0" i="0" u="none" strike="noStrike" dirty="0">
                        <a:solidFill>
                          <a:schemeClr val="tx1"/>
                        </a:solidFill>
                        <a:effectLst/>
                        <a:latin typeface="+mn-lt"/>
                      </a:endParaRPr>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ru-RU" sz="700" u="none" strike="noStrike" dirty="0" smtClean="0">
                          <a:solidFill>
                            <a:schemeClr val="tx1"/>
                          </a:solidFill>
                          <a:effectLst/>
                          <a:latin typeface="+mn-lt"/>
                        </a:rPr>
                        <a:t xml:space="preserve">Maintaining a Register of Policies and Procedures regarding PD documents</a:t>
                      </a:r>
                      <a:r>
                        <a:rPr lang="ru-RU" sz="700" u="none" strike="noStrike" baseline="0" dirty="0" smtClean="0">
                          <a:solidFill>
                            <a:schemeClr val="tx1"/>
                          </a:solidFill>
                          <a:effectLst/>
                          <a:latin typeface="+mn-lt"/>
                        </a:rPr>
                        <a:t/>
                      </a:r>
                      <a:r>
                        <a:rPr lang="ru-RU" sz="700" u="none" strike="noStrike" dirty="0" smtClean="0">
                          <a:solidFill>
                            <a:schemeClr val="tx1"/>
                          </a:solidFill>
                          <a:effectLst/>
                          <a:latin typeface="+mn-lt"/>
                        </a:rPr>
                        <a:t/>
                      </a:r>
                      <a:r>
                        <a:rPr lang="ru-RU" sz="700" u="none" strike="noStrike" dirty="0">
                          <a:solidFill>
                            <a:schemeClr val="tx1"/>
                          </a:solidFill>
                          <a:effectLst/>
                          <a:latin typeface="+mn-lt"/>
                        </a:rPr>
                        <a:t/>
                      </a:r>
                      <a:r>
                        <a:rPr lang="ru-RU" sz="700" u="none" strike="noStrike" baseline="0" dirty="0" smtClean="0">
                          <a:solidFill>
                            <a:schemeClr val="tx1"/>
                          </a:solidFill>
                          <a:effectLst/>
                          <a:latin typeface="+mn-lt"/>
                        </a:rPr>
                        <a:t/>
                      </a:r>
                      <a:r>
                        <a:rPr lang="en-US" sz="700" u="none" strike="noStrike" baseline="0" dirty="0" smtClean="0">
                          <a:solidFill>
                            <a:schemeClr val="tx1"/>
                          </a:solidFill>
                          <a:effectLst/>
                          <a:latin typeface="+mn-lt"/>
                        </a:rPr>
                        <a:t/>
                      </a:r>
                      <a:r>
                        <a:rPr lang="ru-RU" sz="700" u="none" strike="noStrike" baseline="0" dirty="0" smtClean="0">
                          <a:solidFill>
                            <a:schemeClr val="tx1"/>
                          </a:solidFill>
                          <a:effectLst/>
                          <a:latin typeface="+mn-lt"/>
                        </a:rPr>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90488" indent="-90488" algn="l" defTabSz="583170" rtl="0" eaLnBrk="1" fontAlgn="ctr" latinLnBrk="0" hangingPunct="1">
                        <a:buClr>
                          <a:schemeClr val="accent5">
                            <a:lumMod val="75000"/>
                            <a:lumOff val="25000"/>
                          </a:schemeClr>
                        </a:buClr>
                        <a:buFont typeface="Arial" panose="020B0604020202020204" pitchFamily="34" charset="0"/>
                        <a:buChar char="•"/>
                      </a:pPr>
                      <a:endParaRPr lang="ru-RU" sz="600" u="none" strike="noStrike" kern="1200" dirty="0">
                        <a:solidFill>
                          <a:schemeClr val="tx1"/>
                        </a:solidFill>
                        <a:effectLst/>
                        <a:latin typeface="+mn-lt"/>
                        <a:ea typeface="+mn-ea"/>
                        <a:cs typeface="+mn-cs"/>
                      </a:endParaRPr>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t"/>
                      <a:r>
                        <a:rPr lang="ru-RU" sz="700" b="0" i="0" u="none" strike="noStrike" dirty="0">
                          <a:solidFill>
                            <a:schemeClr val="tx1"/>
                          </a:solidFill>
                          <a:effectLst/>
                          <a:latin typeface="+mn-lt"/>
                        </a:rPr>
                        <a:t xml:space="preserve">constantly</a:t>
                      </a:r>
                      <a:endParaRPr lang="en-US" sz="700"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 xml:space="preserve">Conducted on an ongoing basis.</a:t>
                      </a:r>
                      <a:endParaRPr lang="en-US" sz="700"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0826277"/>
                  </a:ext>
                </a:extLst>
              </a:tr>
              <a:tr h="162376">
                <a:tc rowSpan="2">
                  <a:txBody>
                    <a:bodyPr/>
                    <a:lstStyle/>
                    <a:p>
                      <a:pPr algn="l" fontAlgn="ctr"/>
                      <a:r>
                        <a:rPr lang="ru-RU" sz="700" b="1" u="none" strike="noStrike" dirty="0">
                          <a:effectLst/>
                          <a:latin typeface="+mn-lt"/>
                        </a:rPr>
                        <a:t xml:space="preserve">PD transmission chain management</a:t>
                      </a:r>
                      <a:r>
                        <a:rPr lang="ru-RU" sz="700" b="1" u="none" strike="noStrike" baseline="0" dirty="0">
                          <a:effectLst/>
                          <a:latin typeface="+mn-lt"/>
                        </a:rPr>
                        <a:t/>
                      </a:r>
                      <a:r>
                        <a:rPr lang="ru-RU" sz="700" b="1" u="none" strike="noStrike" dirty="0" smtClean="0">
                          <a:effectLst/>
                          <a:latin typeface="+mn-lt"/>
                        </a:rPr>
                        <a:t/>
                      </a:r>
                      <a:endParaRPr lang="en-US" sz="700" b="1" i="0" u="none" strike="noStrike" dirty="0">
                        <a:solidFill>
                          <a:srgbClr val="000000"/>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tx1"/>
                          </a:solidFill>
                          <a:effectLst/>
                          <a:latin typeface="+mn-lt"/>
                        </a:rPr>
                        <a:t xml:space="preserve">Legal basis for transfer, incl. cross-border transmission</a:t>
                      </a:r>
                      <a:r>
                        <a:rPr lang="ru-RU" sz="700" u="none" strike="noStrike" baseline="0" dirty="0">
                          <a:solidFill>
                            <a:schemeClr val="tx1"/>
                          </a:solidFill>
                          <a:effectLst/>
                          <a:latin typeface="+mn-lt"/>
                        </a:rPr>
                        <a:t/>
                      </a:r>
                      <a:r>
                        <a:rPr lang="ru-RU" sz="700" u="none" strike="noStrike" baseline="0" dirty="0" smtClean="0">
                          <a:solidFill>
                            <a:schemeClr val="tx1"/>
                          </a:solidFill>
                          <a:effectLst/>
                          <a:latin typeface="+mn-lt"/>
                        </a:rPr>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rowSpan="2">
                  <a:txBody>
                    <a:bodyPr/>
                    <a:lstStyle/>
                    <a:p>
                      <a:pPr algn="l" fontAlgn="ctr"/>
                      <a:r>
                        <a:rPr lang="ru-RU" sz="700" u="none" strike="noStrike" dirty="0">
                          <a:solidFill>
                            <a:schemeClr val="tx1"/>
                          </a:solidFill>
                          <a:effectLst/>
                          <a:latin typeface="+mn-lt"/>
                        </a:rPr>
                        <a:t xml:space="preserve">Legal documents and contract templates must be correctly drawn up and updated in accordance with changes in legislation on personal data protection</a:t>
                      </a:r>
                      <a:r>
                        <a:rPr lang="en-US" sz="700" u="none" strike="noStrike" dirty="0">
                          <a:solidFill>
                            <a:schemeClr val="tx1"/>
                          </a:solidFill>
                          <a:effectLst/>
                          <a:latin typeface="+mn-lt"/>
                        </a:rPr>
                        <a:t/>
                      </a:r>
                      <a:r>
                        <a:rPr lang="ru-RU" sz="700" u="none" strike="noStrike" dirty="0">
                          <a:solidFill>
                            <a:schemeClr val="tx1"/>
                          </a:solidFill>
                          <a:effectLst/>
                          <a:latin typeface="+mn-lt"/>
                        </a:rPr>
                        <a:t/>
                      </a:r>
                      <a:r>
                        <a:rPr lang="ru-RU" sz="700" u="none" strike="noStrike" baseline="0" dirty="0">
                          <a:solidFill>
                            <a:schemeClr val="tx1"/>
                          </a:solidFill>
                          <a:effectLst/>
                          <a:latin typeface="+mn-lt"/>
                        </a:rPr>
                        <a:t/>
                      </a:r>
                      <a:r>
                        <a:rPr lang="ru-RU" sz="700" u="none" strike="noStrike" baseline="0" dirty="0" smtClean="0">
                          <a:solidFill>
                            <a:schemeClr val="tx1"/>
                          </a:solidFill>
                          <a:effectLst/>
                          <a:latin typeface="+mn-lt"/>
                        </a:rPr>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u="none" strike="noStrike" kern="1200" dirty="0">
                          <a:solidFill>
                            <a:schemeClr val="tx1"/>
                          </a:solidFill>
                          <a:effectLst/>
                          <a:latin typeface="+mn-lt"/>
                          <a:ea typeface="+mn-ea"/>
                          <a:cs typeface="+mn-cs"/>
                        </a:rPr>
                        <a:t xml:space="preserve">Ensure the availability of signed intra-group agreements (IGA) at Perimeter enterprises (in cooperation with the legal block)</a:t>
                      </a:r>
                      <a:r>
                        <a:rPr lang="ru-RU" sz="700" u="none" strike="noStrike" kern="1200" baseline="0" dirty="0">
                          <a:solidFill>
                            <a:schemeClr val="tx1"/>
                          </a:solidFill>
                          <a:effectLst/>
                          <a:latin typeface="+mn-lt"/>
                          <a:ea typeface="+mn-ea"/>
                          <a:cs typeface="+mn-cs"/>
                        </a:rPr>
                        <a:t/>
                      </a:r>
                      <a:r>
                        <a:rPr lang="en-US" sz="700" u="none" strike="noStrike" kern="1200" baseline="0" dirty="0">
                          <a:solidFill>
                            <a:schemeClr val="tx1"/>
                          </a:solidFill>
                          <a:effectLst/>
                          <a:latin typeface="+mn-lt"/>
                          <a:ea typeface="+mn-ea"/>
                          <a:cs typeface="+mn-cs"/>
                        </a:rPr>
                        <a:t/>
                      </a:r>
                      <a:r>
                        <a:rPr lang="ru-RU" sz="700" u="none" strike="noStrike" kern="1200" baseline="0" dirty="0">
                          <a:solidFill>
                            <a:schemeClr val="tx1"/>
                          </a:solidFill>
                          <a:effectLst/>
                          <a:latin typeface="+mn-lt"/>
                          <a:ea typeface="+mn-ea"/>
                          <a:cs typeface="+mn-cs"/>
                        </a:rPr>
                        <a:t/>
                      </a:r>
                      <a:r>
                        <a:rPr lang="ru-RU" sz="700" u="none" strike="noStrike" kern="1200" dirty="0">
                          <a:solidFill>
                            <a:schemeClr val="tx1"/>
                          </a:solidFill>
                          <a:effectLst/>
                          <a:latin typeface="+mn-lt"/>
                          <a:ea typeface="+mn-ea"/>
                          <a:cs typeface="+mn-cs"/>
                        </a:rPr>
                        <a:t/>
                      </a:r>
                      <a:endParaRPr lang="en-US" sz="70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90488" indent="-90488" algn="l" defTabSz="583170" rtl="0" eaLnBrk="1" fontAlgn="ctr" latinLnBrk="0" hangingPunct="1">
                        <a:buClr>
                          <a:schemeClr val="accent5">
                            <a:lumMod val="75000"/>
                            <a:lumOff val="25000"/>
                          </a:schemeClr>
                        </a:buClr>
                        <a:buFont typeface="Arial" panose="020B0604020202020204" pitchFamily="34" charset="0"/>
                        <a:buChar char="•"/>
                      </a:pPr>
                      <a:r>
                        <a:rPr lang="ru-RU" sz="700" u="none" strike="noStrike" kern="1200" dirty="0" smtClean="0">
                          <a:solidFill>
                            <a:schemeClr val="tx1"/>
                          </a:solidFill>
                          <a:effectLst/>
                          <a:latin typeface="+mn-lt"/>
                          <a:ea typeface="+mn-ea"/>
                          <a:cs typeface="+mn-cs"/>
                        </a:rPr>
                        <a:t xml:space="preserve">Personal Data Protection Manager</a:t>
                      </a:r>
                      <a:r>
                        <a:rPr lang="ru-RU" sz="700" u="none" strike="noStrike" kern="1200" dirty="0">
                          <a:solidFill>
                            <a:schemeClr val="tx1"/>
                          </a:solidFill>
                          <a:effectLst/>
                          <a:latin typeface="+mn-lt"/>
                          <a:ea typeface="+mn-ea"/>
                          <a:cs typeface="+mn-cs"/>
                        </a:rPr>
                        <a:t/>
                      </a:r>
                      <a:r>
                        <a:rPr lang="ru-RU" sz="700" u="none" strike="noStrike" kern="1200" dirty="0" smtClean="0">
                          <a:solidFill>
                            <a:schemeClr val="tx1"/>
                          </a:solidFill>
                          <a:effectLst/>
                          <a:latin typeface="+mn-lt"/>
                          <a:ea typeface="+mn-ea"/>
                          <a:cs typeface="+mn-cs"/>
                        </a:rPr>
                        <a:t/>
                      </a:r>
                      <a:endParaRPr lang="ru-RU" sz="700" u="none" strike="noStrike" kern="1200" dirty="0">
                        <a:solidFill>
                          <a:schemeClr val="tx1"/>
                        </a:solidFill>
                        <a:effectLst/>
                        <a:latin typeface="+mn-lt"/>
                        <a:ea typeface="+mn-ea"/>
                        <a:cs typeface="+mn-cs"/>
                      </a:endParaRPr>
                    </a:p>
                    <a:p>
                      <a:pPr marL="90488" indent="-90488" algn="l" defTabSz="583170" rtl="0" eaLnBrk="1" fontAlgn="ctr" latinLnBrk="0" hangingPunct="1">
                        <a:buClr>
                          <a:schemeClr val="accent5">
                            <a:lumMod val="75000"/>
                            <a:lumOff val="25000"/>
                          </a:schemeClr>
                        </a:buClr>
                        <a:buFont typeface="Arial" panose="020B0604020202020204" pitchFamily="34" charset="0"/>
                        <a:buChar char="•"/>
                      </a:pPr>
                      <a:r>
                        <a:rPr lang="ru-RU" sz="700" u="none" strike="noStrike" kern="1200" dirty="0" smtClean="0">
                          <a:solidFill>
                            <a:schemeClr val="tx1"/>
                          </a:solidFill>
                          <a:effectLst/>
                          <a:latin typeface="+mn-lt"/>
                          <a:ea typeface="+mn-ea"/>
                          <a:cs typeface="+mn-cs"/>
                        </a:rPr>
                        <a:t xml:space="preserve">Participation: Legal entity block, Process owners</a:t>
                      </a:r>
                      <a:r>
                        <a:rPr lang="ru-RU" sz="700" u="none" strike="noStrike" kern="1200" dirty="0">
                          <a:solidFill>
                            <a:schemeClr val="tx1"/>
                          </a:solidFill>
                          <a:effectLst/>
                          <a:latin typeface="+mn-lt"/>
                          <a:ea typeface="+mn-ea"/>
                          <a:cs typeface="+mn-cs"/>
                        </a:rPr>
                        <a:t/>
                      </a:r>
                      <a:r>
                        <a:rPr lang="ru-RU" sz="700" u="none" strike="noStrike" kern="1200" dirty="0" smtClean="0">
                          <a:solidFill>
                            <a:schemeClr val="tx1"/>
                          </a:solidFill>
                          <a:effectLst/>
                          <a:latin typeface="+mn-lt"/>
                          <a:ea typeface="+mn-ea"/>
                          <a:cs typeface="+mn-cs"/>
                        </a:rPr>
                        <a:t/>
                      </a: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t"/>
                      <a:r>
                        <a:rPr lang="ru-RU" sz="700" b="0" i="0" u="none" strike="noStrike" dirty="0">
                          <a:solidFill>
                            <a:schemeClr val="tx1"/>
                          </a:solidFill>
                          <a:effectLst/>
                          <a:latin typeface="+mn-lt"/>
                        </a:rPr>
                        <a:t xml:space="preserve">constantly</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algn="l" fontAlgn="t"/>
                      <a:r>
                        <a:rPr lang="ru-RU" sz="700" b="0" i="0" u="none" strike="noStrike" dirty="0" smtClean="0">
                          <a:solidFill>
                            <a:schemeClr val="tx1"/>
                          </a:solidFill>
                          <a:effectLst/>
                          <a:latin typeface="+mn-lt"/>
                        </a:rPr>
                        <a:t xml:space="preserve">100% coverage of IGA enterprises is supported.</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2879030"/>
                  </a:ext>
                </a:extLst>
              </a:tr>
              <a:tr h="337245">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 xml:space="preserve">Monitor changes in applicable legislation in the field of PD and, if necessary, update PD clauses in contract templates, websites and Perimeter IT platforms (Purchasing Portal, Sales Portal, JobERG, Atlet, Qollab websites, etc.)</a:t>
                      </a:r>
                      <a:r>
                        <a:rPr lang="ru-RU" sz="700" u="none" strike="noStrike" baseline="0" dirty="0" smtClean="0">
                          <a:solidFill>
                            <a:schemeClr val="tx1"/>
                          </a:solidFill>
                          <a:effectLst/>
                          <a:latin typeface="+mn-lt"/>
                        </a:rPr>
                        <a:t/>
                      </a:r>
                      <a:r>
                        <a:rPr lang="ru-RU"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r>
                        <a:rPr lang="ru-RU"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r>
                        <a:rPr lang="ru-RU" sz="700" u="none" strike="noStrike" dirty="0" smtClean="0">
                          <a:solidFill>
                            <a:schemeClr val="tx1"/>
                          </a:solidFill>
                          <a:effectLst/>
                          <a:latin typeface="+mn-lt"/>
                        </a:rPr>
                        <a:t/>
                      </a:r>
                      <a:r>
                        <a:rPr lang="ru-RU" sz="700" u="none" strike="noStrike" dirty="0">
                          <a:solidFill>
                            <a:schemeClr val="tx1"/>
                          </a:solidFill>
                          <a:effectLst/>
                          <a:latin typeface="+mn-lt"/>
                        </a:rPr>
                        <a:t/>
                      </a:r>
                      <a:r>
                        <a:rPr lang="ru-RU" sz="700" u="none" strike="noStrike" dirty="0" smtClean="0">
                          <a:solidFill>
                            <a:schemeClr val="tx1"/>
                          </a:solidFill>
                          <a:effectLst/>
                          <a:latin typeface="+mn-lt"/>
                        </a:rPr>
                        <a:t/>
                      </a:r>
                      <a:r>
                        <a:rPr lang="ru-RU" sz="700" u="none" strike="noStrike" dirty="0">
                          <a:solidFill>
                            <a:schemeClr val="tx1"/>
                          </a:solidFill>
                          <a:effectLst/>
                          <a:latin typeface="+mn-lt"/>
                        </a:rPr>
                        <a:t/>
                      </a:r>
                      <a:r>
                        <a:rPr lang="en-US" sz="700" u="none" strike="noStrike" dirty="0" smtClean="0">
                          <a:solidFill>
                            <a:schemeClr val="tx1"/>
                          </a:solidFill>
                          <a:effectLst/>
                          <a:latin typeface="+mn-lt"/>
                        </a:rPr>
                        <a:t/>
                      </a:r>
                      <a:r>
                        <a:rPr lang="ru-RU" sz="700" u="none" strike="noStrike" dirty="0" smtClean="0">
                          <a:solidFill>
                            <a:schemeClr val="tx1"/>
                          </a:solidFill>
                          <a:effectLst/>
                          <a:latin typeface="+mn-lt"/>
                        </a:rPr>
                        <a:t/>
                      </a:r>
                      <a:r>
                        <a:rPr lang="en-US" sz="700" u="none" strike="noStrike" baseline="0" dirty="0" smtClean="0">
                          <a:solidFill>
                            <a:schemeClr val="tx1"/>
                          </a:solidFill>
                          <a:effectLst/>
                          <a:latin typeface="+mn-lt"/>
                        </a:rPr>
                        <a:t/>
                      </a:r>
                      <a:r>
                        <a:rPr lang="ru-RU"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r>
                        <a:rPr lang="ru-RU" sz="700" u="none" strike="noStrike" dirty="0" smtClean="0">
                          <a:solidFill>
                            <a:schemeClr val="tx1"/>
                          </a:solidFill>
                          <a:effectLst/>
                          <a:latin typeface="+mn-lt"/>
                        </a:rPr>
                        <a:t/>
                      </a:r>
                      <a:endParaRPr lang="en-US" sz="70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4">
                  <a:txBody>
                    <a:bodyPr/>
                    <a:lstStyle/>
                    <a:p>
                      <a:pPr algn="ctr" fontAlgn="t"/>
                      <a:r>
                        <a:rPr lang="ru-RU" sz="700" b="0" i="0" u="none" strike="noStrike" dirty="0">
                          <a:solidFill>
                            <a:schemeClr val="tx1"/>
                          </a:solidFill>
                          <a:effectLst/>
                          <a:latin typeface="+mn-lt"/>
                        </a:rPr>
                        <a:t xml:space="preserve">constantly</a:t>
                      </a:r>
                      <a:endParaRPr lang="en-US" sz="70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algn="l" fontAlgn="t"/>
                      <a:r>
                        <a:rPr lang="ru-RU" sz="700" u="none" strike="noStrike" dirty="0" smtClean="0">
                          <a:solidFill>
                            <a:schemeClr val="tx1"/>
                          </a:solidFill>
                          <a:effectLst/>
                          <a:latin typeface="+mn-lt"/>
                        </a:rPr>
                        <a:t xml:space="preserve">The task is performed on an ongoing basis. From 01/01/2025, in connection with the pilot project of the Ministry of Health of the Republic of Kazakhstan to identify a patient using biometric technology within the framework of the Statewide Free Medical Care and Compulsory Medical Insurance, in order to collect the patient’s PMD, consent is obtained for the collection, processing, and PMD attributed to him in an updated form. A draft of updated PD clauses has been developed as part of the Compliance provisions for contract templates for further implementation (will be implemented as part of updating the Perimeter CPC Instructions).</a:t>
                      </a:r>
                      <a:endParaRPr lang="en-US" sz="70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499294"/>
                  </a:ext>
                </a:extLst>
              </a:tr>
            </a:tbl>
          </a:graphicData>
        </a:graphic>
      </p:graphicFrame>
      <p:sp>
        <p:nvSpPr>
          <p:cNvPr id="9" name="Title 8">
            <a:extLst>
              <a:ext uri="{FF2B5EF4-FFF2-40B4-BE49-F238E27FC236}">
                <a16:creationId xmlns:a16="http://schemas.microsoft.com/office/drawing/2014/main" id="{45625ACB-FD17-4EE3-A814-1735AEDFB16E}"/>
              </a:ext>
            </a:extLst>
          </p:cNvPr>
          <p:cNvSpPr>
            <a:spLocks noGrp="1"/>
          </p:cNvSpPr>
          <p:nvPr>
            <p:ph type="title"/>
          </p:nvPr>
        </p:nvSpPr>
        <p:spPr/>
        <p:txBody>
          <a:bodyPr vert="horz"/>
          <a:lstStyle/>
          <a:p>
            <a:r>
              <a:rPr lang="ru-RU" dirty="0"/>
              <a:t xml:space="preserve">Annual compliance program 2025: Perimeter Kazakhstan Implementation status - Compliance program for the protection of personal data</a:t>
            </a:r>
            <a:br>
              <a:rPr lang="ru-RU" dirty="0"/>
            </a:br>
            <a:r>
              <a:rPr lang="ru-RU" dirty="0">
                <a:solidFill>
                  <a:schemeClr val="tx1"/>
                </a:solidFill>
              </a:rPr>
              <a:t/>
            </a:r>
            <a:r>
              <a:rPr lang="ru-RU" dirty="0" smtClean="0">
                <a:solidFill>
                  <a:schemeClr val="tx1"/>
                </a:solidFill>
              </a:rPr>
              <a:t/>
            </a:r>
            <a:r>
              <a:rPr lang="ru-RU" dirty="0">
                <a:solidFill>
                  <a:schemeClr val="tx1"/>
                </a:solidFill>
              </a:rPr>
              <a:t/>
            </a:r>
            <a:r>
              <a:rPr lang="ru-RU" dirty="0" smtClean="0">
                <a:solidFill>
                  <a:schemeClr val="tx1"/>
                </a:solidFill>
              </a:rPr>
              <a:t/>
            </a:r>
            <a:endParaRPr lang="en-US" dirty="0">
              <a:solidFill>
                <a:schemeClr val="tx1"/>
              </a:solidFill>
            </a:endParaRPr>
          </a:p>
        </p:txBody>
      </p:sp>
    </p:spTree>
    <p:extLst>
      <p:ext uri="{BB962C8B-B14F-4D97-AF65-F5344CB8AC3E}">
        <p14:creationId xmlns:p14="http://schemas.microsoft.com/office/powerpoint/2010/main" val="34650272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1970" name="think-cell Slide" r:id="rId4" imgW="594" imgH="595" progId="TCLayout.ActiveDocument.1">
                  <p:embed/>
                </p:oleObj>
              </mc:Choice>
              <mc:Fallback>
                <p:oleObj name="think-cell Slide" r:id="rId4" imgW="594" imgH="595"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 name="Table 9">
            <a:extLst>
              <a:ext uri="{FF2B5EF4-FFF2-40B4-BE49-F238E27FC236}">
                <a16:creationId xmlns:a16="http://schemas.microsoft.com/office/drawing/2014/main" id="{36DCCD8B-C149-490D-8E5F-DC5722E53037}"/>
              </a:ext>
            </a:extLst>
          </p:cNvPr>
          <p:cNvGraphicFramePr>
            <a:graphicFrameLocks noGrp="1"/>
          </p:cNvGraphicFramePr>
          <p:nvPr>
            <p:extLst>
              <p:ext uri="{D42A27DB-BD31-4B8C-83A1-F6EECF244321}">
                <p14:modId xmlns:p14="http://schemas.microsoft.com/office/powerpoint/2010/main" val="3847136308"/>
              </p:ext>
            </p:extLst>
          </p:nvPr>
        </p:nvGraphicFramePr>
        <p:xfrm>
          <a:off x="317499" y="771064"/>
          <a:ext cx="11700000" cy="5694000"/>
        </p:xfrm>
        <a:graphic>
          <a:graphicData uri="http://schemas.openxmlformats.org/drawingml/2006/table">
            <a:tbl>
              <a:tblPr>
                <a:tableStyleId>{5C22544A-7EE6-4342-B048-85BDC9FD1C3A}</a:tableStyleId>
              </a:tblPr>
              <a:tblGrid>
                <a:gridCol w="756000">
                  <a:extLst>
                    <a:ext uri="{9D8B030D-6E8A-4147-A177-3AD203B41FA5}">
                      <a16:colId xmlns:a16="http://schemas.microsoft.com/office/drawing/2014/main" val="3570299910"/>
                    </a:ext>
                  </a:extLst>
                </a:gridCol>
                <a:gridCol w="756000">
                  <a:extLst>
                    <a:ext uri="{9D8B030D-6E8A-4147-A177-3AD203B41FA5}">
                      <a16:colId xmlns:a16="http://schemas.microsoft.com/office/drawing/2014/main" val="3950796025"/>
                    </a:ext>
                  </a:extLst>
                </a:gridCol>
                <a:gridCol w="684000">
                  <a:extLst>
                    <a:ext uri="{9D8B030D-6E8A-4147-A177-3AD203B41FA5}">
                      <a16:colId xmlns:a16="http://schemas.microsoft.com/office/drawing/2014/main" val="23014324"/>
                    </a:ext>
                  </a:extLst>
                </a:gridCol>
                <a:gridCol w="1332000">
                  <a:extLst>
                    <a:ext uri="{9D8B030D-6E8A-4147-A177-3AD203B41FA5}">
                      <a16:colId xmlns:a16="http://schemas.microsoft.com/office/drawing/2014/main" val="2593145120"/>
                    </a:ext>
                  </a:extLst>
                </a:gridCol>
                <a:gridCol w="2340000">
                  <a:extLst>
                    <a:ext uri="{9D8B030D-6E8A-4147-A177-3AD203B41FA5}">
                      <a16:colId xmlns:a16="http://schemas.microsoft.com/office/drawing/2014/main" val="2149758195"/>
                    </a:ext>
                  </a:extLst>
                </a:gridCol>
                <a:gridCol w="1836000">
                  <a:extLst>
                    <a:ext uri="{9D8B030D-6E8A-4147-A177-3AD203B41FA5}">
                      <a16:colId xmlns:a16="http://schemas.microsoft.com/office/drawing/2014/main" val="3024837112"/>
                    </a:ext>
                  </a:extLst>
                </a:gridCol>
                <a:gridCol w="288000">
                  <a:extLst>
                    <a:ext uri="{9D8B030D-6E8A-4147-A177-3AD203B41FA5}">
                      <a16:colId xmlns:a16="http://schemas.microsoft.com/office/drawing/2014/main" val="4287191136"/>
                    </a:ext>
                  </a:extLst>
                </a:gridCol>
                <a:gridCol w="288000">
                  <a:extLst>
                    <a:ext uri="{9D8B030D-6E8A-4147-A177-3AD203B41FA5}">
                      <a16:colId xmlns:a16="http://schemas.microsoft.com/office/drawing/2014/main" val="1470397540"/>
                    </a:ext>
                  </a:extLst>
                </a:gridCol>
                <a:gridCol w="288000">
                  <a:extLst>
                    <a:ext uri="{9D8B030D-6E8A-4147-A177-3AD203B41FA5}">
                      <a16:colId xmlns:a16="http://schemas.microsoft.com/office/drawing/2014/main" val="3420789790"/>
                    </a:ext>
                  </a:extLst>
                </a:gridCol>
                <a:gridCol w="288000">
                  <a:extLst>
                    <a:ext uri="{9D8B030D-6E8A-4147-A177-3AD203B41FA5}">
                      <a16:colId xmlns:a16="http://schemas.microsoft.com/office/drawing/2014/main" val="3414007680"/>
                    </a:ext>
                  </a:extLst>
                </a:gridCol>
                <a:gridCol w="2844000">
                  <a:extLst>
                    <a:ext uri="{9D8B030D-6E8A-4147-A177-3AD203B41FA5}">
                      <a16:colId xmlns:a16="http://schemas.microsoft.com/office/drawing/2014/main" val="2168095823"/>
                    </a:ext>
                  </a:extLst>
                </a:gridCol>
              </a:tblGrid>
              <a:tr h="177620">
                <a:tc rowSpan="2">
                  <a:txBody>
                    <a:bodyPr/>
                    <a:lstStyle/>
                    <a:p>
                      <a:pPr algn="l" fontAlgn="ctr"/>
                      <a:r>
                        <a:rPr lang="ru-RU" sz="700" u="none" strike="noStrike" dirty="0">
                          <a:solidFill>
                            <a:schemeClr val="accent5">
                              <a:lumMod val="75000"/>
                              <a:lumOff val="25000"/>
                            </a:schemeClr>
                          </a:solidFill>
                          <a:effectLst/>
                          <a:latin typeface="+mn-lt"/>
                        </a:rPr>
                        <a:t xml:space="preserve">Program components</a:t>
                      </a:r>
                      <a:endParaRPr lang="en-US" sz="700" b="0" i="0" u="none" strike="noStrike" dirty="0">
                        <a:solidFill>
                          <a:schemeClr val="accent5">
                            <a:lumMod val="75000"/>
                            <a:lumOff val="25000"/>
                          </a:schemeClr>
                        </a:solidFill>
                        <a:effectLst/>
                        <a:latin typeface="+mn-lt"/>
                      </a:endParaRPr>
                    </a:p>
                  </a:txBody>
                  <a:tcPr marL="36000" marR="36000" marT="36000" marB="36000" anchor="ctr">
                    <a:lnL w="12700" cmpd="sng">
                      <a:noFill/>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algn="l" defTabSz="583170" rtl="0" eaLnBrk="1" fontAlgn="ctr" latinLnBrk="0" hangingPunct="1"/>
                      <a:r>
                        <a:rPr lang="ru-RU" sz="700" u="none" strike="noStrike" kern="1200" dirty="0">
                          <a:solidFill>
                            <a:schemeClr val="accent5">
                              <a:lumMod val="75000"/>
                              <a:lumOff val="25000"/>
                            </a:schemeClr>
                          </a:solidFill>
                          <a:effectLst/>
                          <a:latin typeface="+mn-lt"/>
                          <a:ea typeface="+mn-ea"/>
                          <a:cs typeface="+mn-cs"/>
                        </a:rPr>
                        <a:t xml:space="preserve">Key Tools</a:t>
                      </a:r>
                      <a:endParaRPr lang="en-US" sz="700" u="none" strike="noStrike" kern="1200" dirty="0">
                        <a:solidFill>
                          <a:schemeClr val="accent5">
                            <a:lumMod val="75000"/>
                            <a:lumOff val="25000"/>
                          </a:schemeClr>
                        </a:solidFill>
                        <a:effectLst/>
                        <a:latin typeface="+mn-lt"/>
                        <a:ea typeface="+mn-ea"/>
                        <a:cs typeface="+mn-cs"/>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accent5">
                              <a:lumMod val="75000"/>
                              <a:lumOff val="25000"/>
                            </a:schemeClr>
                          </a:solidFill>
                          <a:effectLst/>
                          <a:latin typeface="+mn-lt"/>
                        </a:rPr>
                        <a:t xml:space="preserve">Requirements</a:t>
                      </a:r>
                      <a:r>
                        <a:rPr lang="en-US" sz="700" u="none" strike="noStrike" dirty="0">
                          <a:solidFill>
                            <a:schemeClr val="accent5">
                              <a:lumMod val="75000"/>
                              <a:lumOff val="25000"/>
                            </a:schemeClr>
                          </a:solidFill>
                          <a:effectLst/>
                          <a:latin typeface="+mn-lt"/>
                        </a:rPr>
                        <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accent5">
                              <a:lumMod val="75000"/>
                              <a:lumOff val="25000"/>
                            </a:schemeClr>
                          </a:solidFill>
                          <a:effectLst/>
                          <a:latin typeface="+mn-lt"/>
                        </a:rPr>
                        <a:t xml:space="preserve">Control elements</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accent5">
                              <a:lumMod val="75000"/>
                              <a:lumOff val="25000"/>
                            </a:schemeClr>
                          </a:solidFill>
                          <a:effectLst/>
                          <a:latin typeface="+mn-lt"/>
                        </a:rPr>
                        <a:t xml:space="preserve">Operations</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b="0" i="0" u="none" strike="noStrike" dirty="0">
                          <a:solidFill>
                            <a:schemeClr val="accent5">
                              <a:lumMod val="75000"/>
                              <a:lumOff val="25000"/>
                            </a:schemeClr>
                          </a:solidFill>
                          <a:effectLst/>
                          <a:latin typeface="+mn-lt"/>
                        </a:rPr>
                        <a:t xml:space="preserve">Responsible</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l" fontAlgn="ctr"/>
                      <a:r>
                        <a:rPr lang="en-US" sz="700" u="none" strike="noStrike" dirty="0" smtClean="0">
                          <a:solidFill>
                            <a:schemeClr val="accent5">
                              <a:lumMod val="75000"/>
                              <a:lumOff val="25000"/>
                            </a:schemeClr>
                          </a:solidFill>
                          <a:effectLst/>
                          <a:latin typeface="+mn-lt"/>
                        </a:rPr>
                        <a:t xml:space="preserve">2025</a:t>
                      </a:r>
                      <a:r>
                        <a:rPr lang="ru-RU" sz="700" u="none" strike="noStrike" dirty="0" smtClean="0">
                          <a:solidFill>
                            <a:schemeClr val="accent5">
                              <a:lumMod val="75000"/>
                              <a:lumOff val="25000"/>
                            </a:schemeClr>
                          </a:solidFill>
                          <a:effectLst/>
                          <a:latin typeface="+mn-lt"/>
                        </a:rPr>
                        <a:t/>
                      </a:r>
                      <a:r>
                        <a:rPr lang="ru-RU" sz="700" u="none" strike="noStrike" dirty="0">
                          <a:solidFill>
                            <a:schemeClr val="accent5">
                              <a:lumMod val="75000"/>
                              <a:lumOff val="25000"/>
                            </a:schemeClr>
                          </a:solidFill>
                          <a:effectLst/>
                          <a:latin typeface="+mn-lt"/>
                        </a:rPr>
                        <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ru-RU"/>
                    </a:p>
                  </a:txBody>
                  <a:tcPr/>
                </a:tc>
                <a:tc hMerge="1">
                  <a:txBody>
                    <a:bodyPr/>
                    <a:lstStyle/>
                    <a:p>
                      <a:endParaRPr lang="ru-RU"/>
                    </a:p>
                  </a:txBody>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 xml:space="preserve">Execution Status</a:t>
                      </a:r>
                    </a:p>
                  </a:txBody>
                  <a:tcPr marL="36000" marR="36000" marT="36000" marB="36000" anchor="ctr">
                    <a:lnL w="9525" cap="flat" cmpd="sng" algn="ctr">
                      <a:solidFill>
                        <a:schemeClr val="bg1"/>
                      </a:solidFill>
                      <a:prstDash val="solid"/>
                      <a:round/>
                      <a:headEnd type="none" w="med" len="med"/>
                      <a:tailEnd type="none" w="med" len="med"/>
                    </a:lnL>
                    <a:lnR w="12700" cmpd="sng">
                      <a:noFill/>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572482"/>
                  </a:ext>
                </a:extLst>
              </a:tr>
              <a:tr h="1776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r>
                        <a:rPr lang="ru" sz="700" u="none" strike="noStrike" dirty="0">
                          <a:solidFill>
                            <a:schemeClr val="accent5">
                              <a:lumMod val="75000"/>
                              <a:lumOff val="25000"/>
                            </a:schemeClr>
                          </a:solidFill>
                          <a:effectLst/>
                          <a:latin typeface="+mn-lt"/>
                        </a:rPr>
                        <a:t xml:space="preserve">1 sq.</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 xml:space="preserve">2 sq.</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 xml:space="preserve">Q3</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 xml:space="preserve">Q4</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12700" cmpd="sng">
                      <a:noFill/>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7142690"/>
                  </a:ext>
                </a:extLst>
              </a:tr>
              <a:tr h="236194">
                <a:tc rowSpan="3">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1" u="none" strike="noStrike" dirty="0">
                          <a:solidFill>
                            <a:schemeClr val="tx1"/>
                          </a:solidFill>
                          <a:effectLst/>
                          <a:latin typeface="+mn-lt"/>
                        </a:rPr>
                        <a:t xml:space="preserve">Assessing the risk of non-compliance with PD protection requirements, Internal control, Reporting</a:t>
                      </a:r>
                      <a:r>
                        <a:rPr lang="ru-RU" sz="700" b="1" u="none" strike="noStrike" dirty="0" smtClean="0">
                          <a:solidFill>
                            <a:schemeClr val="tx1"/>
                          </a:solidFill>
                          <a:effectLst/>
                          <a:latin typeface="+mn-lt"/>
                        </a:rPr>
                        <a:t/>
                      </a:r>
                      <a:r>
                        <a:rPr lang="en-US" sz="700" b="1" u="none" strike="noStrike" kern="1200" dirty="0" smtClean="0">
                          <a:solidFill>
                            <a:schemeClr val="tx1"/>
                          </a:solidFill>
                          <a:effectLst/>
                          <a:latin typeface="+mn-lt"/>
                          <a:ea typeface="+mn-ea"/>
                          <a:cs typeface="+mn-cs"/>
                        </a:rPr>
                        <a:t/>
                      </a:r>
                      <a:r>
                        <a:rPr lang="ru-RU" sz="700" b="1" u="none" strike="noStrike" kern="1200" dirty="0">
                          <a:solidFill>
                            <a:schemeClr val="tx1"/>
                          </a:solidFill>
                          <a:effectLst/>
                          <a:latin typeface="+mn-lt"/>
                          <a:ea typeface="+mn-ea"/>
                          <a:cs typeface="+mn-cs"/>
                        </a:rPr>
                        <a:t/>
                      </a:r>
                      <a:r>
                        <a:rPr lang="ru-RU" sz="700" b="1" u="none" strike="noStrike" kern="1200" baseline="0" dirty="0">
                          <a:solidFill>
                            <a:schemeClr val="tx1"/>
                          </a:solidFill>
                          <a:effectLst/>
                          <a:latin typeface="+mn-lt"/>
                          <a:ea typeface="+mn-ea"/>
                          <a:cs typeface="+mn-cs"/>
                        </a:rPr>
                        <a:t/>
                      </a:r>
                      <a:r>
                        <a:rPr lang="en-US" sz="700" b="1" u="none" strike="noStrike" kern="1200" dirty="0">
                          <a:solidFill>
                            <a:schemeClr val="tx1"/>
                          </a:solidFill>
                          <a:effectLst/>
                          <a:latin typeface="+mn-lt"/>
                          <a:ea typeface="+mn-ea"/>
                          <a:cs typeface="+mn-cs"/>
                        </a:rPr>
                        <a:t/>
                      </a:r>
                      <a:r>
                        <a:rPr lang="ru-RU" sz="700" b="1" u="none" strike="noStrike" kern="1200" dirty="0">
                          <a:solidFill>
                            <a:schemeClr val="tx1"/>
                          </a:solidFill>
                          <a:effectLst/>
                          <a:latin typeface="+mn-lt"/>
                          <a:ea typeface="+mn-ea"/>
                          <a:cs typeface="+mn-cs"/>
                        </a:rPr>
                        <a:t/>
                      </a:r>
                      <a:endParaRPr lang="en-US" sz="700" b="1"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l" fontAlgn="ctr"/>
                      <a:r>
                        <a:rPr lang="ru-RU" sz="700" b="0" i="0" kern="1200" dirty="0" smtClean="0">
                          <a:solidFill>
                            <a:schemeClr val="dk1"/>
                          </a:solidFill>
                          <a:effectLst/>
                          <a:latin typeface="+mn-lt"/>
                          <a:ea typeface="+mn-ea"/>
                          <a:cs typeface="+mn-cs"/>
                        </a:rPr>
                        <a:t xml:space="preserve">Assessing the risk of non-compliance with personal data protection requirements</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l" fontAlgn="ctr"/>
                      <a:r>
                        <a:rPr lang="ru-RU" sz="700" u="none" strike="noStrike" dirty="0">
                          <a:solidFill>
                            <a:schemeClr val="tx1"/>
                          </a:solidFill>
                          <a:effectLst/>
                          <a:latin typeface="+mn-lt"/>
                        </a:rPr>
                        <a:t xml:space="preserve">Internal / Legal / Regulatory</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l" fontAlgn="ctr"/>
                      <a:r>
                        <a:rPr lang="ru-RU" sz="700" b="0" i="0" u="none" strike="noStrike" baseline="0" dirty="0" smtClean="0">
                          <a:solidFill>
                            <a:schemeClr val="tx1"/>
                          </a:solidFill>
                          <a:effectLst/>
                          <a:latin typeface="+mn-lt"/>
                        </a:rPr>
                        <a:t xml:space="preserve">PD risks in business processes and projects are promptly identified and assessed</a:t>
                      </a:r>
                      <a:r>
                        <a:rPr lang="ru-RU" sz="700" b="0" i="0" u="none" strike="noStrike" dirty="0" smtClean="0">
                          <a:solidFill>
                            <a:schemeClr val="tx1"/>
                          </a:solidFill>
                          <a:effectLst/>
                          <a:latin typeface="+mn-lt"/>
                        </a:rPr>
                        <a:t/>
                      </a:r>
                      <a:r>
                        <a:rPr lang="ru-RU" sz="700" b="0" i="0" u="none" strike="noStrike" dirty="0">
                          <a:solidFill>
                            <a:schemeClr val="tx1"/>
                          </a:solidFill>
                          <a:effectLst/>
                          <a:latin typeface="+mn-lt"/>
                        </a:rPr>
                        <a:t/>
                      </a:r>
                      <a:r>
                        <a:rPr lang="ru-RU" sz="700" b="0" i="0" u="none" strike="noStrike" dirty="0" smtClean="0">
                          <a:solidFill>
                            <a:schemeClr val="tx1"/>
                          </a:solidFill>
                          <a:effectLst/>
                          <a:latin typeface="+mn-lt"/>
                        </a:rPr>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 xml:space="preserve">Conduct PD risk assessments in Perimeter projects/initiatives related to the collection and processing of PD (including IT projects approved by TES IT), as well as in processes based on ad-hoc business requests</a:t>
                      </a:r>
                      <a:r>
                        <a:rPr lang="en-US" sz="700" u="none" strike="noStrike" dirty="0" smtClean="0">
                          <a:solidFill>
                            <a:schemeClr val="tx1"/>
                          </a:solidFill>
                          <a:effectLst/>
                          <a:latin typeface="+mn-lt"/>
                        </a:rPr>
                        <a:t/>
                      </a:r>
                      <a:r>
                        <a:rPr lang="ru-RU"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r>
                        <a:rPr lang="en-US" sz="700" u="none" strike="noStrike" baseline="0" dirty="0" smtClean="0">
                          <a:solidFill>
                            <a:schemeClr val="tx1"/>
                          </a:solidFill>
                          <a:effectLst/>
                          <a:latin typeface="+mn-lt"/>
                        </a:rPr>
                        <a:t/>
                      </a:r>
                      <a:r>
                        <a:rPr lang="ru-RU" sz="700" u="none" strike="noStrike" baseline="0" dirty="0" smtClean="0">
                          <a:solidFill>
                            <a:schemeClr val="tx1"/>
                          </a:solidFill>
                          <a:effectLst/>
                          <a:latin typeface="+mn-lt"/>
                        </a:rPr>
                        <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90488" indent="-90488" algn="l" defTabSz="583170" rtl="0" eaLnBrk="1" fontAlgn="ctr" latinLnBrk="0" hangingPunct="1">
                        <a:buClr>
                          <a:schemeClr val="accent5">
                            <a:lumMod val="75000"/>
                            <a:lumOff val="25000"/>
                          </a:schemeClr>
                        </a:buClr>
                        <a:buFont typeface="Arial" panose="020B0604020202020204" pitchFamily="34" charset="0"/>
                        <a:buChar char="•"/>
                      </a:pPr>
                      <a:r>
                        <a:rPr lang="ru-RU" sz="700" u="none" strike="noStrike" kern="1200" dirty="0" smtClean="0">
                          <a:solidFill>
                            <a:schemeClr val="tx1"/>
                          </a:solidFill>
                          <a:effectLst/>
                          <a:latin typeface="+mn-lt"/>
                          <a:ea typeface="+mn-ea"/>
                          <a:cs typeface="+mn-cs"/>
                        </a:rPr>
                        <a:t xml:space="preserve">Personal Data Protection Manager</a:t>
                      </a:r>
                      <a:r>
                        <a:rPr lang="ru-RU" sz="700" u="none" strike="noStrike" kern="1200" dirty="0">
                          <a:solidFill>
                            <a:schemeClr val="tx1"/>
                          </a:solidFill>
                          <a:effectLst/>
                          <a:latin typeface="+mn-lt"/>
                          <a:ea typeface="+mn-ea"/>
                          <a:cs typeface="+mn-cs"/>
                        </a:rPr>
                        <a:t/>
                      </a:r>
                      <a:r>
                        <a:rPr lang="ru-RU" sz="700" u="none" strike="noStrike" kern="1200" dirty="0" smtClean="0">
                          <a:solidFill>
                            <a:schemeClr val="tx1"/>
                          </a:solidFill>
                          <a:effectLst/>
                          <a:latin typeface="+mn-lt"/>
                          <a:ea typeface="+mn-ea"/>
                          <a:cs typeface="+mn-cs"/>
                        </a:rPr>
                        <a:t/>
                      </a:r>
                      <a:endParaRPr lang="ru-RU" sz="700" u="none" strike="noStrike" kern="1200" dirty="0">
                        <a:solidFill>
                          <a:schemeClr val="tx1"/>
                        </a:solidFill>
                        <a:effectLst/>
                        <a:latin typeface="+mn-lt"/>
                        <a:ea typeface="+mn-ea"/>
                        <a:cs typeface="+mn-cs"/>
                      </a:endParaRPr>
                    </a:p>
                    <a:p>
                      <a:pPr marL="90488" marR="0" lvl="0" indent="-90488" algn="l" defTabSz="583170" rtl="0" eaLnBrk="1" fontAlgn="ctr" latinLnBrk="0" hangingPunct="1">
                        <a:lnSpc>
                          <a:spcPct val="100000"/>
                        </a:lnSpc>
                        <a:spcBef>
                          <a:spcPts val="0"/>
                        </a:spcBef>
                        <a:spcAft>
                          <a:spcPts val="0"/>
                        </a:spcAft>
                        <a:buClr>
                          <a:schemeClr val="accent5">
                            <a:lumMod val="75000"/>
                            <a:lumOff val="25000"/>
                          </a:schemeClr>
                        </a:buClr>
                        <a:buSzTx/>
                        <a:buFont typeface="Arial" panose="020B0604020202020204" pitchFamily="34" charset="0"/>
                        <a:buChar char="•"/>
                        <a:tabLst/>
                        <a:defRPr/>
                      </a:pPr>
                      <a:r>
                        <a:rPr lang="ru-RU" sz="700" u="none" strike="noStrike" dirty="0" smtClean="0">
                          <a:solidFill>
                            <a:schemeClr val="tx1"/>
                          </a:solidFill>
                          <a:effectLst/>
                          <a:latin typeface="+mn-lt"/>
                        </a:rPr>
                        <a:t xml:space="preserve">Participation: Healthcare Compliance Manager (for the Healthcare business sector), Head of Compliance Risks and Controls, Head of CCP and CSR, Process Owners</a:t>
                      </a:r>
                      <a:r>
                        <a:rPr lang="en-US" sz="700" u="none" strike="noStrike" dirty="0" smtClean="0">
                          <a:solidFill>
                            <a:schemeClr val="tx1"/>
                          </a:solidFill>
                          <a:effectLst/>
                          <a:latin typeface="+mn-lt"/>
                        </a:rPr>
                        <a:t/>
                      </a:r>
                      <a:r>
                        <a:rPr lang="ru-RU" sz="700" u="none" strike="noStrike" dirty="0" smtClean="0">
                          <a:solidFill>
                            <a:schemeClr val="tx1"/>
                          </a:solidFill>
                          <a:effectLst/>
                          <a:latin typeface="+mn-lt"/>
                        </a:rPr>
                        <a:t/>
                      </a:r>
                      <a:r>
                        <a:rPr lang="en-US"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r>
                        <a:rPr lang="ru-RU" sz="700" u="none" strike="noStrike" kern="1200" baseline="0" dirty="0" smtClean="0">
                          <a:solidFill>
                            <a:schemeClr val="tx1"/>
                          </a:solidFill>
                          <a:effectLst/>
                          <a:latin typeface="+mn-lt"/>
                          <a:ea typeface="+mn-ea"/>
                          <a:cs typeface="+mn-cs"/>
                        </a:rPr>
                        <a:t/>
                      </a:r>
                      <a:r>
                        <a:rPr lang="ru-RU" sz="700" u="none" strike="noStrike" kern="1200" dirty="0" smtClean="0">
                          <a:solidFill>
                            <a:schemeClr val="tx1"/>
                          </a:solidFill>
                          <a:effectLst/>
                          <a:latin typeface="+mn-lt"/>
                          <a:ea typeface="+mn-ea"/>
                          <a:cs typeface="+mn-cs"/>
                        </a:rPr>
                        <a:t/>
                      </a:r>
                      <a:endParaRPr lang="ru-RU" sz="700"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b"/>
                      <a:r>
                        <a:rPr lang="ru-RU" sz="700" b="0" i="0" u="none" strike="noStrike" dirty="0">
                          <a:solidFill>
                            <a:schemeClr val="tx1"/>
                          </a:solidFill>
                          <a:effectLst/>
                          <a:latin typeface="+mn-lt"/>
                        </a:rPr>
                        <a:t xml:space="preserve">if necessary</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b"/>
                      <a:endParaRPr lang="en-US" sz="600" b="0" i="0" u="none" strike="noStrike" dirty="0">
                        <a:solidFill>
                          <a:schemeClr val="tx1"/>
                        </a:solidFill>
                        <a:effectLst/>
                        <a:latin typeface="+mn-lt"/>
                      </a:endParaRPr>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sz="600" dirty="0"/>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sz="600" dirty="0"/>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700" b="0" i="0" u="none" strike="noStrike" dirty="0" smtClean="0">
                          <a:solidFill>
                            <a:schemeClr val="tx1"/>
                          </a:solidFill>
                          <a:effectLst/>
                          <a:latin typeface="+mn-lt"/>
                        </a:rPr>
                        <a:t xml:space="preserve">During 2025, 10 PD risk assessments were carried out in projects and processes, incl. analysis of the process of deleting an account on Sales Market when the user’s consent is revoked, analysis of the transfer of photographic images from the OECD service to other systems, revision of the Privacy Policy on Qollab, updating the Consent form for undergoing printing research as part of the task of developing additional measures to strengthen the compliance culture and controls in order to prevent the risk of fraud, incl. commercial bribery, together with DVAiKR, KDP service (User repo), HR SAP Success Factors project, BTS Smartbridge integration project with internal ERG systems.</a:t>
                      </a:r>
                      <a:r>
                        <a:rPr lang="ru-RU" sz="700" b="0" i="0" u="none" strike="noStrike" dirty="0" err="1" smtClean="0">
                          <a:solidFill>
                            <a:schemeClr val="tx1"/>
                          </a:solidFill>
                          <a:effectLst/>
                          <a:latin typeface="+mn-lt"/>
                        </a:rPr>
                        <a:t/>
                      </a:r>
                      <a:r>
                        <a:rPr lang="ru-RU" sz="700" b="0" i="0" u="none" strike="noStrike" dirty="0" smtClean="0">
                          <a:solidFill>
                            <a:schemeClr val="tx1"/>
                          </a:solidFill>
                          <a:effectLst/>
                          <a:latin typeface="+mn-lt"/>
                        </a:rPr>
                        <a:t/>
                      </a:r>
                      <a:r>
                        <a:rPr lang="ru-RU" sz="700" b="0" i="0" u="none" strike="noStrike" dirty="0" err="1" smtClean="0">
                          <a:solidFill>
                            <a:schemeClr val="tx1"/>
                          </a:solidFill>
                          <a:effectLst/>
                          <a:latin typeface="+mn-lt"/>
                        </a:rPr>
                        <a:t/>
                      </a:r>
                      <a:r>
                        <a:rPr lang="ru-RU" sz="700" b="0" i="0" u="none" strike="noStrike" dirty="0" smtClean="0">
                          <a:solidFill>
                            <a:schemeClr val="tx1"/>
                          </a:solidFill>
                          <a:effectLst/>
                          <a:latin typeface="+mn-lt"/>
                        </a:rPr>
                        <a:t/>
                      </a:r>
                      <a:r>
                        <a:rPr lang="ru-RU" sz="700" b="0" i="0" u="none" strike="noStrike" dirty="0" err="1" smtClean="0">
                          <a:solidFill>
                            <a:schemeClr val="tx1"/>
                          </a:solidFill>
                          <a:effectLst/>
                          <a:latin typeface="+mn-lt"/>
                        </a:rPr>
                        <a:t/>
                      </a:r>
                      <a:r>
                        <a:rPr lang="ru-RU" sz="700" b="0" i="0" u="none" strike="noStrike" dirty="0" smtClean="0">
                          <a:solidFill>
                            <a:schemeClr val="tx1"/>
                          </a:solidFill>
                          <a:effectLst/>
                          <a:latin typeface="+mn-lt"/>
                        </a:rPr>
                        <a:t/>
                      </a:r>
                      <a:r>
                        <a:rPr lang="ru-RU" sz="700" b="0" i="0" u="none" strike="noStrike" dirty="0" err="1" smtClean="0">
                          <a:solidFill>
                            <a:schemeClr val="tx1"/>
                          </a:solidFill>
                          <a:effectLst/>
                          <a:latin typeface="+mn-lt"/>
                        </a:rPr>
                        <a:t/>
                      </a:r>
                      <a:r>
                        <a:rPr lang="ru-RU" sz="700" b="0" i="0" u="none" strike="noStrike" dirty="0" smtClean="0">
                          <a:solidFill>
                            <a:schemeClr val="tx1"/>
                          </a:solidFill>
                          <a:effectLst/>
                          <a:latin typeface="+mn-lt"/>
                        </a:rPr>
                        <a:t/>
                      </a:r>
                      <a:r>
                        <a:rPr lang="ru-RU" sz="700" b="0" i="0" u="none" strike="noStrike" dirty="0" err="1" smtClean="0">
                          <a:solidFill>
                            <a:schemeClr val="tx1"/>
                          </a:solidFill>
                          <a:effectLst/>
                          <a:latin typeface="+mn-lt"/>
                        </a:rPr>
                        <a:t/>
                      </a:r>
                      <a:r>
                        <a:rPr lang="ru-RU" sz="700" b="0" i="0" u="none" strike="noStrike" dirty="0" smtClean="0">
                          <a:solidFill>
                            <a:schemeClr val="tx1"/>
                          </a:solidFill>
                          <a:effectLst/>
                          <a:latin typeface="+mn-lt"/>
                        </a:rPr>
                        <a:t/>
                      </a:r>
                      <a:r>
                        <a:rPr lang="ru-RU" sz="700" b="0" i="0" u="none" strike="noStrike" dirty="0" err="1" smtClean="0">
                          <a:solidFill>
                            <a:schemeClr val="tx1"/>
                          </a:solidFill>
                          <a:effectLst/>
                          <a:latin typeface="+mn-lt"/>
                        </a:rPr>
                        <a:t/>
                      </a:r>
                      <a:r>
                        <a:rPr lang="ru-RU" sz="700" b="0" i="0" u="none" strike="noStrike" dirty="0" smtClean="0">
                          <a:solidFill>
                            <a:schemeClr val="tx1"/>
                          </a:solidFill>
                          <a:effectLst/>
                          <a:latin typeface="+mn-lt"/>
                        </a:rPr>
                        <a:t/>
                      </a:r>
                      <a:r>
                        <a:rPr lang="ru-RU" sz="700" b="0" i="0" u="none" strike="noStrike" dirty="0" err="1" smtClean="0">
                          <a:solidFill>
                            <a:schemeClr val="tx1"/>
                          </a:solidFill>
                          <a:effectLst/>
                          <a:latin typeface="+mn-lt"/>
                        </a:rPr>
                        <a:t/>
                      </a:r>
                      <a:r>
                        <a:rPr lang="ru-RU" sz="700" b="0" i="0" u="none" strike="noStrike" dirty="0" smtClean="0">
                          <a:solidFill>
                            <a:schemeClr val="tx1"/>
                          </a:solidFill>
                          <a:effectLst/>
                          <a:latin typeface="+mn-lt"/>
                        </a:rPr>
                        <a:t/>
                      </a:r>
                      <a:r>
                        <a:rPr lang="ru-RU" sz="700" b="0" i="0" u="none" strike="noStrike" dirty="0" err="1" smtClean="0">
                          <a:solidFill>
                            <a:schemeClr val="tx1"/>
                          </a:solidFill>
                          <a:effectLst/>
                          <a:latin typeface="+mn-lt"/>
                        </a:rPr>
                        <a:t/>
                      </a:r>
                      <a:r>
                        <a:rPr lang="ru-RU" sz="700" b="0" i="0" u="none" strike="noStrike" dirty="0" smtClean="0">
                          <a:solidFill>
                            <a:schemeClr val="tx1"/>
                          </a:solidFill>
                          <a:effectLst/>
                          <a:latin typeface="+mn-lt"/>
                        </a:rPr>
                        <a:t/>
                      </a:r>
                      <a:r>
                        <a:rPr lang="ru-RU" sz="700" b="0" i="0" u="none" strike="noStrike" dirty="0" err="1" smtClean="0">
                          <a:solidFill>
                            <a:schemeClr val="tx1"/>
                          </a:solidFill>
                          <a:effectLst/>
                          <a:latin typeface="+mn-lt"/>
                        </a:rPr>
                        <a:t/>
                      </a:r>
                      <a:r>
                        <a:rPr lang="ru-RU" sz="700" b="0" i="0" u="none" strike="noStrike" dirty="0" smtClean="0">
                          <a:solidFill>
                            <a:schemeClr val="tx1"/>
                          </a:solidFill>
                          <a:effectLst/>
                          <a:latin typeface="+mn-lt"/>
                        </a:rPr>
                        <a:t/>
                      </a:r>
                      <a:r>
                        <a:rPr lang="ru-RU" sz="700" b="0" i="0" u="none" strike="noStrike" dirty="0" err="1" smtClean="0">
                          <a:solidFill>
                            <a:schemeClr val="tx1"/>
                          </a:solidFill>
                          <a:effectLst/>
                          <a:latin typeface="+mn-lt"/>
                        </a:rPr>
                        <a:t/>
                      </a:r>
                      <a:r>
                        <a:rPr lang="ru-RU" sz="700" b="0" i="0" u="none" strike="noStrike" dirty="0" smtClean="0">
                          <a:solidFill>
                            <a:schemeClr val="tx1"/>
                          </a:solidFill>
                          <a:effectLst/>
                          <a:latin typeface="+mn-lt"/>
                        </a:rPr>
                        <a:t/>
                      </a:r>
                      <a:r>
                        <a:rPr lang="ru-RU" sz="700" b="0" i="0" u="none" strike="noStrike" dirty="0" err="1" smtClean="0">
                          <a:solidFill>
                            <a:schemeClr val="tx1"/>
                          </a:solidFill>
                          <a:effectLst/>
                          <a:latin typeface="+mn-lt"/>
                        </a:rPr>
                        <a:t/>
                      </a:r>
                      <a:r>
                        <a:rPr lang="ru-RU" sz="700" b="0" i="0" u="none" strike="noStrike" dirty="0" smtClean="0">
                          <a:solidFill>
                            <a:schemeClr val="tx1"/>
                          </a:solidFill>
                          <a:effectLst/>
                          <a:latin typeface="+mn-lt"/>
                        </a:rPr>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7284911"/>
                  </a:ext>
                </a:extLst>
              </a:tr>
              <a:tr h="236194">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 xml:space="preserve">Provide support to businesses in implementing mitigation measures according to the Action Plan based on the results of reassessment of PD risk in 2024 in the processes of Purchasing, Sales, Reputation Management</a:t>
                      </a:r>
                      <a:r>
                        <a:rPr lang="ru-RU" sz="700" u="none" strike="noStrike" baseline="0" dirty="0" smtClean="0">
                          <a:solidFill>
                            <a:schemeClr val="tx1"/>
                          </a:solidFill>
                          <a:effectLst/>
                          <a:latin typeface="+mn-lt"/>
                        </a:rPr>
                        <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b="0" i="0" u="none" strike="noStrike" dirty="0">
                          <a:solidFill>
                            <a:schemeClr val="tx1"/>
                          </a:solidFill>
                          <a:effectLst/>
                          <a:latin typeface="+mn-lt"/>
                        </a:rPr>
                        <a:t>x</a:t>
                      </a: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700" b="0" i="0" u="none" strike="noStrike" dirty="0" smtClean="0">
                          <a:solidFill>
                            <a:schemeClr val="tx1"/>
                          </a:solidFill>
                          <a:effectLst/>
                          <a:latin typeface="+mn-lt"/>
                        </a:rPr>
                        <a:t xml:space="preserve">During 2025, coordination and methodological support was provided for the implementation of appropriate measures in business processes:</a:t>
                      </a:r>
                    </a:p>
                    <a:p>
                      <a:pPr marL="92075" indent="-92075" algn="l" fontAlgn="b">
                        <a:buFont typeface="Arial" panose="020B0604020202020204" pitchFamily="34" charset="0"/>
                        <a:buChar char="•"/>
                      </a:pPr>
                      <a:r>
                        <a:rPr lang="ru-RU" sz="700" b="0" i="0" u="none" strike="noStrike" dirty="0" smtClean="0">
                          <a:solidFill>
                            <a:schemeClr val="tx1"/>
                          </a:solidFill>
                          <a:effectLst/>
                          <a:latin typeface="+mn-lt"/>
                        </a:rPr>
                        <a:t xml:space="preserve">“Procurement” - Risk mitigation measures related to obtaining and recording consents to the collection and processing of personal data on the ERG Procurement Portal were implemented. A one-time receipt of consent during registration was ensured with its correct recording in the supplier’s card, the recording of repeated consent was canceled, incorrectly recorded technical facts of providing consent were eliminated, and a confidentiality stamp was included in the communication template for SNK. Additionally, the relevant IRRs were updated.</a:t>
                      </a:r>
                    </a:p>
                    <a:p>
                      <a:pPr marL="92075" indent="-92075" algn="l" fontAlgn="b">
                        <a:buFont typeface="Arial" panose="020B0604020202020204" pitchFamily="34" charset="0"/>
                        <a:buChar char="•"/>
                      </a:pPr>
                      <a:r>
                        <a:rPr lang="ru-RU" sz="700" b="0" i="0" u="none" strike="noStrike" dirty="0" smtClean="0">
                          <a:solidFill>
                            <a:schemeClr val="tx1"/>
                          </a:solidFill>
                          <a:effectLst/>
                          <a:latin typeface="+mn-lt"/>
                        </a:rPr>
                        <a:t xml:space="preserve">“Sales” – Risk mitigation measures provided for in the Action Plan were implemented, including adjustments to the process of collecting personal data from customers and the process of revoking consent to their processing. The relevant IRRs have also been updated.</a:t>
                      </a:r>
                    </a:p>
                    <a:p>
                      <a:pPr marL="92075" indent="-92075" algn="l" fontAlgn="b">
                        <a:buFont typeface="Arial" panose="020B0604020202020204" pitchFamily="34" charset="0"/>
                        <a:buChar char="•"/>
                      </a:pPr>
                      <a:r>
                        <a:rPr lang="ru-RU" sz="700" b="0" i="0" u="none" strike="noStrike" dirty="0" smtClean="0">
                          <a:solidFill>
                            <a:schemeClr val="tx1"/>
                          </a:solidFill>
                          <a:effectLst/>
                          <a:latin typeface="+mn-lt"/>
                        </a:rPr>
                        <a:t xml:space="preserve">“Reputation Management” – Risk mitigation measures provided for in the Action Plan were implemented, including the introduction of necessary adjustments in the process of collecting and processing personal data of industrial tour participants to Perimeter enterprises to reduce risks in the field of personal data protection.</a:t>
                      </a: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599091"/>
                  </a:ext>
                </a:extLst>
              </a:tr>
              <a:tr h="236194">
                <a:tc vMerge="1">
                  <a:txBody>
                    <a:bodyPr/>
                    <a:lstStyle/>
                    <a:p>
                      <a:endParaRPr lang="ru-RU"/>
                    </a:p>
                  </a:txBody>
                  <a:tcPr/>
                </a:tc>
                <a:tc vMerge="1">
                  <a:txBody>
                    <a:bodyPr/>
                    <a:lstStyle/>
                    <a:p>
                      <a:pPr algn="l" fontAlgn="ctr"/>
                      <a:endParaRPr lang="en-US" sz="600" b="0" i="0" u="none" strike="noStrike" dirty="0">
                        <a:solidFill>
                          <a:schemeClr val="tx1"/>
                        </a:solidFill>
                        <a:effectLst/>
                        <a:latin typeface="+mn-lt"/>
                      </a:endParaRPr>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v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lang="en-US" sz="600" u="none" strike="noStrike" baseline="0" dirty="0">
                        <a:solidFill>
                          <a:schemeClr val="tx1"/>
                        </a:solidFill>
                        <a:effectLst/>
                        <a:latin typeface="+mn-lt"/>
                      </a:endParaRPr>
                    </a:p>
                  </a:txBody>
                  <a:tcPr marL="36000" marR="36000" marT="18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 xml:space="preserve">Provide support to IT&amp;IS in the implementation of mitigation measures in accordance with the Action Plan based on the results of the 2024 analysis in relation to compliance with the requirements of the Checklist for compliance with the legislation of the Republic of Kazakhstan on personal data and their protection</a:t>
                      </a:r>
                      <a:r>
                        <a:rPr lang="en-US" sz="700" u="none" strike="noStrike" dirty="0" smtClean="0">
                          <a:solidFill>
                            <a:schemeClr val="tx1"/>
                          </a:solidFill>
                          <a:effectLst/>
                          <a:latin typeface="+mn-lt"/>
                        </a:rPr>
                        <a:t/>
                      </a:r>
                      <a:r>
                        <a:rPr lang="ru-RU"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b="0" i="0" u="none" strike="noStrike" dirty="0">
                          <a:solidFill>
                            <a:schemeClr val="tx1"/>
                          </a:solidFill>
                          <a:effectLst/>
                          <a:latin typeface="+mn-lt"/>
                        </a:rPr>
                        <a:t>x</a:t>
                      </a: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700" b="0" i="0" u="none" strike="noStrike" dirty="0" smtClean="0">
                          <a:solidFill>
                            <a:schemeClr val="tx1"/>
                          </a:solidFill>
                          <a:effectLst/>
                          <a:latin typeface="+mn-lt"/>
                        </a:rPr>
                        <a:t xml:space="preserve">Support was provided, and discussions were held with BTS IT/IS throughout the year to monitor and update the status of compliance with the Checklist requirements. At the end of 2025, 5 out of 33 recommendations are in progress (28 have been implemented). The delay in implementation is due to the postponement of the information security project to automate the classification of information to the 1st quarter. 2026 due to a shortage of resources, as well as BTS’s choice of a different method for executing recommendations, in which the entire life cycle of documents will be carried out on Qollab with mandatory field marking, incl. determining the classification of document information by the user (confidentiality, presence of personal data, etc.).</a:t>
                      </a:r>
                      <a:r>
                        <a:rPr lang="ru-RU" sz="700" b="0" i="0" u="none" strike="noStrike" dirty="0" err="1" smtClean="0">
                          <a:solidFill>
                            <a:schemeClr val="tx1"/>
                          </a:solidFill>
                          <a:effectLst/>
                          <a:latin typeface="+mn-lt"/>
                        </a:rPr>
                        <a:t/>
                      </a:r>
                      <a:r>
                        <a:rPr lang="ru-RU" sz="700" b="0" i="0" u="none" strike="noStrike" dirty="0" smtClean="0">
                          <a:solidFill>
                            <a:schemeClr val="tx1"/>
                          </a:solidFill>
                          <a:effectLst/>
                          <a:latin typeface="+mn-lt"/>
                        </a:rPr>
                        <a:t/>
                      </a:r>
                      <a:r>
                        <a:rPr lang="ru-RU" sz="700" b="0" i="0" u="none" strike="noStrike" dirty="0" err="1" smtClean="0">
                          <a:solidFill>
                            <a:schemeClr val="tx1"/>
                          </a:solidFill>
                          <a:effectLst/>
                          <a:latin typeface="+mn-lt"/>
                        </a:rPr>
                        <a:t/>
                      </a:r>
                      <a:r>
                        <a:rPr lang="ru-RU" sz="700" b="0" i="0" u="none" strike="noStrike" dirty="0" smtClean="0">
                          <a:solidFill>
                            <a:schemeClr val="tx1"/>
                          </a:solidFill>
                          <a:effectLst/>
                          <a:latin typeface="+mn-lt"/>
                        </a:rPr>
                        <a:t/>
                      </a: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8826826"/>
                  </a:ext>
                </a:extLst>
              </a:tr>
            </a:tbl>
          </a:graphicData>
        </a:graphic>
      </p:graphicFrame>
      <p:sp>
        <p:nvSpPr>
          <p:cNvPr id="9" name="Title 8">
            <a:extLst>
              <a:ext uri="{FF2B5EF4-FFF2-40B4-BE49-F238E27FC236}">
                <a16:creationId xmlns:a16="http://schemas.microsoft.com/office/drawing/2014/main" id="{45625ACB-FD17-4EE3-A814-1735AEDFB16E}"/>
              </a:ext>
            </a:extLst>
          </p:cNvPr>
          <p:cNvSpPr>
            <a:spLocks noGrp="1"/>
          </p:cNvSpPr>
          <p:nvPr>
            <p:ph type="title"/>
          </p:nvPr>
        </p:nvSpPr>
        <p:spPr/>
        <p:txBody>
          <a:bodyPr vert="horz"/>
          <a:lstStyle/>
          <a:p>
            <a:r>
              <a:rPr lang="ru-RU" dirty="0"/>
              <a:t xml:space="preserve">Annual compliance program 2025: Perimeter Kazakhstan Implementation status - Compliance program for the protection of personal data</a:t>
            </a:r>
            <a:br>
              <a:rPr lang="ru-RU" dirty="0"/>
            </a:br>
            <a:r>
              <a:rPr lang="ru-RU" dirty="0">
                <a:solidFill>
                  <a:schemeClr val="tx1"/>
                </a:solidFill>
              </a:rPr>
              <a:t/>
            </a:r>
            <a:r>
              <a:rPr lang="ru-RU" dirty="0" smtClean="0">
                <a:solidFill>
                  <a:schemeClr val="tx1"/>
                </a:solidFill>
              </a:rPr>
              <a:t/>
            </a:r>
            <a:r>
              <a:rPr lang="ru-RU" dirty="0">
                <a:solidFill>
                  <a:schemeClr val="tx1"/>
                </a:solidFill>
              </a:rPr>
              <a:t/>
            </a:r>
            <a:r>
              <a:rPr lang="ru-RU" dirty="0" smtClean="0">
                <a:solidFill>
                  <a:schemeClr val="tx1"/>
                </a:solidFill>
              </a:rPr>
              <a:t/>
            </a:r>
            <a:endParaRPr lang="en-US" dirty="0">
              <a:solidFill>
                <a:schemeClr val="tx1"/>
              </a:solidFill>
            </a:endParaRPr>
          </a:p>
        </p:txBody>
      </p:sp>
    </p:spTree>
    <p:extLst>
      <p:ext uri="{BB962C8B-B14F-4D97-AF65-F5344CB8AC3E}">
        <p14:creationId xmlns:p14="http://schemas.microsoft.com/office/powerpoint/2010/main" val="595557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2987" name="think-cell Slide" r:id="rId4" imgW="594" imgH="595" progId="TCLayout.ActiveDocument.1">
                  <p:embed/>
                </p:oleObj>
              </mc:Choice>
              <mc:Fallback>
                <p:oleObj name="think-cell Slide" r:id="rId4" imgW="594" imgH="595"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 name="Table 9">
            <a:extLst>
              <a:ext uri="{FF2B5EF4-FFF2-40B4-BE49-F238E27FC236}">
                <a16:creationId xmlns:a16="http://schemas.microsoft.com/office/drawing/2014/main" id="{36DCCD8B-C149-490D-8E5F-DC5722E53037}"/>
              </a:ext>
            </a:extLst>
          </p:cNvPr>
          <p:cNvGraphicFramePr>
            <a:graphicFrameLocks noGrp="1"/>
          </p:cNvGraphicFramePr>
          <p:nvPr>
            <p:extLst>
              <p:ext uri="{D42A27DB-BD31-4B8C-83A1-F6EECF244321}">
                <p14:modId xmlns:p14="http://schemas.microsoft.com/office/powerpoint/2010/main" val="863741445"/>
              </p:ext>
            </p:extLst>
          </p:nvPr>
        </p:nvGraphicFramePr>
        <p:xfrm>
          <a:off x="317499" y="771064"/>
          <a:ext cx="11664000" cy="5587320"/>
        </p:xfrm>
        <a:graphic>
          <a:graphicData uri="http://schemas.openxmlformats.org/drawingml/2006/table">
            <a:tbl>
              <a:tblPr>
                <a:tableStyleId>{5C22544A-7EE6-4342-B048-85BDC9FD1C3A}</a:tableStyleId>
              </a:tblPr>
              <a:tblGrid>
                <a:gridCol w="756000">
                  <a:extLst>
                    <a:ext uri="{9D8B030D-6E8A-4147-A177-3AD203B41FA5}">
                      <a16:colId xmlns:a16="http://schemas.microsoft.com/office/drawing/2014/main" val="3570299910"/>
                    </a:ext>
                  </a:extLst>
                </a:gridCol>
                <a:gridCol w="756000">
                  <a:extLst>
                    <a:ext uri="{9D8B030D-6E8A-4147-A177-3AD203B41FA5}">
                      <a16:colId xmlns:a16="http://schemas.microsoft.com/office/drawing/2014/main" val="3950796025"/>
                    </a:ext>
                  </a:extLst>
                </a:gridCol>
                <a:gridCol w="684000">
                  <a:extLst>
                    <a:ext uri="{9D8B030D-6E8A-4147-A177-3AD203B41FA5}">
                      <a16:colId xmlns:a16="http://schemas.microsoft.com/office/drawing/2014/main" val="23014324"/>
                    </a:ext>
                  </a:extLst>
                </a:gridCol>
                <a:gridCol w="1224000">
                  <a:extLst>
                    <a:ext uri="{9D8B030D-6E8A-4147-A177-3AD203B41FA5}">
                      <a16:colId xmlns:a16="http://schemas.microsoft.com/office/drawing/2014/main" val="2593145120"/>
                    </a:ext>
                  </a:extLst>
                </a:gridCol>
                <a:gridCol w="1440000">
                  <a:extLst>
                    <a:ext uri="{9D8B030D-6E8A-4147-A177-3AD203B41FA5}">
                      <a16:colId xmlns:a16="http://schemas.microsoft.com/office/drawing/2014/main" val="2149758195"/>
                    </a:ext>
                  </a:extLst>
                </a:gridCol>
                <a:gridCol w="1440000">
                  <a:extLst>
                    <a:ext uri="{9D8B030D-6E8A-4147-A177-3AD203B41FA5}">
                      <a16:colId xmlns:a16="http://schemas.microsoft.com/office/drawing/2014/main" val="3024837112"/>
                    </a:ext>
                  </a:extLst>
                </a:gridCol>
                <a:gridCol w="288000">
                  <a:extLst>
                    <a:ext uri="{9D8B030D-6E8A-4147-A177-3AD203B41FA5}">
                      <a16:colId xmlns:a16="http://schemas.microsoft.com/office/drawing/2014/main" val="4287191136"/>
                    </a:ext>
                  </a:extLst>
                </a:gridCol>
                <a:gridCol w="288000">
                  <a:extLst>
                    <a:ext uri="{9D8B030D-6E8A-4147-A177-3AD203B41FA5}">
                      <a16:colId xmlns:a16="http://schemas.microsoft.com/office/drawing/2014/main" val="1470397540"/>
                    </a:ext>
                  </a:extLst>
                </a:gridCol>
                <a:gridCol w="288000">
                  <a:extLst>
                    <a:ext uri="{9D8B030D-6E8A-4147-A177-3AD203B41FA5}">
                      <a16:colId xmlns:a16="http://schemas.microsoft.com/office/drawing/2014/main" val="3420789790"/>
                    </a:ext>
                  </a:extLst>
                </a:gridCol>
                <a:gridCol w="288000">
                  <a:extLst>
                    <a:ext uri="{9D8B030D-6E8A-4147-A177-3AD203B41FA5}">
                      <a16:colId xmlns:a16="http://schemas.microsoft.com/office/drawing/2014/main" val="3414007680"/>
                    </a:ext>
                  </a:extLst>
                </a:gridCol>
                <a:gridCol w="4212000">
                  <a:extLst>
                    <a:ext uri="{9D8B030D-6E8A-4147-A177-3AD203B41FA5}">
                      <a16:colId xmlns:a16="http://schemas.microsoft.com/office/drawing/2014/main" val="2168095823"/>
                    </a:ext>
                  </a:extLst>
                </a:gridCol>
              </a:tblGrid>
              <a:tr h="177620">
                <a:tc rowSpan="2">
                  <a:txBody>
                    <a:bodyPr/>
                    <a:lstStyle/>
                    <a:p>
                      <a:pPr algn="l" fontAlgn="ctr"/>
                      <a:r>
                        <a:rPr lang="ru-RU" sz="700" u="none" strike="noStrike" dirty="0">
                          <a:solidFill>
                            <a:schemeClr val="accent5">
                              <a:lumMod val="75000"/>
                              <a:lumOff val="25000"/>
                            </a:schemeClr>
                          </a:solidFill>
                          <a:effectLst/>
                          <a:latin typeface="+mn-lt"/>
                        </a:rPr>
                        <a:t xml:space="preserve">Program components</a:t>
                      </a:r>
                      <a:endParaRPr lang="en-US" sz="700" b="0" i="0" u="none" strike="noStrike" dirty="0">
                        <a:solidFill>
                          <a:schemeClr val="accent5">
                            <a:lumMod val="75000"/>
                            <a:lumOff val="25000"/>
                          </a:schemeClr>
                        </a:solidFill>
                        <a:effectLst/>
                        <a:latin typeface="+mn-lt"/>
                      </a:endParaRPr>
                    </a:p>
                  </a:txBody>
                  <a:tcPr marL="36000" marR="36000" marT="36000" marB="36000" anchor="ctr">
                    <a:lnL w="12700" cmpd="sng">
                      <a:noFill/>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algn="l" defTabSz="583170" rtl="0" eaLnBrk="1" fontAlgn="ctr" latinLnBrk="0" hangingPunct="1"/>
                      <a:r>
                        <a:rPr lang="ru-RU" sz="700" u="none" strike="noStrike" kern="1200" dirty="0">
                          <a:solidFill>
                            <a:schemeClr val="accent5">
                              <a:lumMod val="75000"/>
                              <a:lumOff val="25000"/>
                            </a:schemeClr>
                          </a:solidFill>
                          <a:effectLst/>
                          <a:latin typeface="+mn-lt"/>
                          <a:ea typeface="+mn-ea"/>
                          <a:cs typeface="+mn-cs"/>
                        </a:rPr>
                        <a:t xml:space="preserve">Key Tools</a:t>
                      </a:r>
                      <a:endParaRPr lang="en-US" sz="700" u="none" strike="noStrike" kern="1200" dirty="0">
                        <a:solidFill>
                          <a:schemeClr val="accent5">
                            <a:lumMod val="75000"/>
                            <a:lumOff val="25000"/>
                          </a:schemeClr>
                        </a:solidFill>
                        <a:effectLst/>
                        <a:latin typeface="+mn-lt"/>
                        <a:ea typeface="+mn-ea"/>
                        <a:cs typeface="+mn-cs"/>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accent5">
                              <a:lumMod val="75000"/>
                              <a:lumOff val="25000"/>
                            </a:schemeClr>
                          </a:solidFill>
                          <a:effectLst/>
                          <a:latin typeface="+mn-lt"/>
                        </a:rPr>
                        <a:t xml:space="preserve">Requirements</a:t>
                      </a:r>
                      <a:r>
                        <a:rPr lang="en-US" sz="700" u="none" strike="noStrike" dirty="0">
                          <a:solidFill>
                            <a:schemeClr val="accent5">
                              <a:lumMod val="75000"/>
                              <a:lumOff val="25000"/>
                            </a:schemeClr>
                          </a:solidFill>
                          <a:effectLst/>
                          <a:latin typeface="+mn-lt"/>
                        </a:rPr>
                        <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accent5">
                              <a:lumMod val="75000"/>
                              <a:lumOff val="25000"/>
                            </a:schemeClr>
                          </a:solidFill>
                          <a:effectLst/>
                          <a:latin typeface="+mn-lt"/>
                        </a:rPr>
                        <a:t xml:space="preserve">Control elements</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accent5">
                              <a:lumMod val="75000"/>
                              <a:lumOff val="25000"/>
                            </a:schemeClr>
                          </a:solidFill>
                          <a:effectLst/>
                          <a:latin typeface="+mn-lt"/>
                        </a:rPr>
                        <a:t xml:space="preserve">Operations</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b="0" i="0" u="none" strike="noStrike" dirty="0">
                          <a:solidFill>
                            <a:schemeClr val="accent5">
                              <a:lumMod val="75000"/>
                              <a:lumOff val="25000"/>
                            </a:schemeClr>
                          </a:solidFill>
                          <a:effectLst/>
                          <a:latin typeface="+mn-lt"/>
                        </a:rPr>
                        <a:t xml:space="preserve">Responsible</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l" fontAlgn="ctr"/>
                      <a:r>
                        <a:rPr lang="en-US" sz="700" u="none" strike="noStrike" dirty="0" smtClean="0">
                          <a:solidFill>
                            <a:schemeClr val="accent5">
                              <a:lumMod val="75000"/>
                              <a:lumOff val="25000"/>
                            </a:schemeClr>
                          </a:solidFill>
                          <a:effectLst/>
                          <a:latin typeface="+mn-lt"/>
                        </a:rPr>
                        <a:t xml:space="preserve">2025</a:t>
                      </a:r>
                      <a:r>
                        <a:rPr lang="ru-RU" sz="700" u="none" strike="noStrike" dirty="0" smtClean="0">
                          <a:solidFill>
                            <a:schemeClr val="accent5">
                              <a:lumMod val="75000"/>
                              <a:lumOff val="25000"/>
                            </a:schemeClr>
                          </a:solidFill>
                          <a:effectLst/>
                          <a:latin typeface="+mn-lt"/>
                        </a:rPr>
                        <a:t/>
                      </a:r>
                      <a:r>
                        <a:rPr lang="ru-RU" sz="700" u="none" strike="noStrike" dirty="0">
                          <a:solidFill>
                            <a:schemeClr val="accent5">
                              <a:lumMod val="75000"/>
                              <a:lumOff val="25000"/>
                            </a:schemeClr>
                          </a:solidFill>
                          <a:effectLst/>
                          <a:latin typeface="+mn-lt"/>
                        </a:rPr>
                        <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ru-RU"/>
                    </a:p>
                  </a:txBody>
                  <a:tcPr/>
                </a:tc>
                <a:tc hMerge="1">
                  <a:txBody>
                    <a:bodyPr/>
                    <a:lstStyle/>
                    <a:p>
                      <a:endParaRPr lang="ru-RU"/>
                    </a:p>
                  </a:txBody>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 xml:space="preserve">Execution Status</a:t>
                      </a:r>
                    </a:p>
                  </a:txBody>
                  <a:tcPr marL="36000" marR="36000" marT="36000" marB="36000" anchor="ctr">
                    <a:lnL w="9525" cap="flat" cmpd="sng" algn="ctr">
                      <a:solidFill>
                        <a:schemeClr val="bg1"/>
                      </a:solidFill>
                      <a:prstDash val="solid"/>
                      <a:round/>
                      <a:headEnd type="none" w="med" len="med"/>
                      <a:tailEnd type="none" w="med" len="med"/>
                    </a:lnL>
                    <a:lnR w="12700" cmpd="sng">
                      <a:noFill/>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572482"/>
                  </a:ext>
                </a:extLst>
              </a:tr>
              <a:tr h="1776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r>
                        <a:rPr lang="ru" sz="700" u="none" strike="noStrike" dirty="0">
                          <a:solidFill>
                            <a:schemeClr val="accent5">
                              <a:lumMod val="75000"/>
                              <a:lumOff val="25000"/>
                            </a:schemeClr>
                          </a:solidFill>
                          <a:effectLst/>
                          <a:latin typeface="+mn-lt"/>
                        </a:rPr>
                        <a:t xml:space="preserve">1 sq.</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 xml:space="preserve">2 sq.</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 xml:space="preserve">Q3</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 xml:space="preserve">Q4</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12700" cmpd="sng">
                      <a:noFill/>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7142690"/>
                  </a:ext>
                </a:extLst>
              </a:tr>
              <a:tr h="236194">
                <a:tc rowSpan="3">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1" u="none" strike="noStrike" dirty="0">
                          <a:solidFill>
                            <a:schemeClr val="tx1"/>
                          </a:solidFill>
                          <a:effectLst/>
                          <a:latin typeface="+mn-lt"/>
                        </a:rPr>
                        <a:t xml:space="preserve">Assessing the risk of non-compliance with PD protection requirements, Internal control, Reporting</a:t>
                      </a:r>
                      <a:r>
                        <a:rPr lang="ru-RU" sz="700" b="1" u="none" strike="noStrike" dirty="0" smtClean="0">
                          <a:solidFill>
                            <a:schemeClr val="tx1"/>
                          </a:solidFill>
                          <a:effectLst/>
                          <a:latin typeface="+mn-lt"/>
                        </a:rPr>
                        <a:t/>
                      </a:r>
                      <a:r>
                        <a:rPr lang="en-US" sz="700" b="1" u="none" strike="noStrike" kern="1200" dirty="0" smtClean="0">
                          <a:solidFill>
                            <a:schemeClr val="tx1"/>
                          </a:solidFill>
                          <a:effectLst/>
                          <a:latin typeface="+mn-lt"/>
                          <a:ea typeface="+mn-ea"/>
                          <a:cs typeface="+mn-cs"/>
                        </a:rPr>
                        <a:t/>
                      </a:r>
                      <a:r>
                        <a:rPr lang="ru-RU" sz="700" b="1" u="none" strike="noStrike" kern="1200" dirty="0">
                          <a:solidFill>
                            <a:schemeClr val="tx1"/>
                          </a:solidFill>
                          <a:effectLst/>
                          <a:latin typeface="+mn-lt"/>
                          <a:ea typeface="+mn-ea"/>
                          <a:cs typeface="+mn-cs"/>
                        </a:rPr>
                        <a:t/>
                      </a:r>
                      <a:r>
                        <a:rPr lang="ru-RU" sz="700" b="1" u="none" strike="noStrike" kern="1200" baseline="0" dirty="0">
                          <a:solidFill>
                            <a:schemeClr val="tx1"/>
                          </a:solidFill>
                          <a:effectLst/>
                          <a:latin typeface="+mn-lt"/>
                          <a:ea typeface="+mn-ea"/>
                          <a:cs typeface="+mn-cs"/>
                        </a:rPr>
                        <a:t/>
                      </a:r>
                      <a:r>
                        <a:rPr lang="en-US" sz="700" b="1" u="none" strike="noStrike" kern="1200" dirty="0">
                          <a:solidFill>
                            <a:schemeClr val="tx1"/>
                          </a:solidFill>
                          <a:effectLst/>
                          <a:latin typeface="+mn-lt"/>
                          <a:ea typeface="+mn-ea"/>
                          <a:cs typeface="+mn-cs"/>
                        </a:rPr>
                        <a:t/>
                      </a:r>
                      <a:r>
                        <a:rPr lang="ru-RU" sz="700" b="1" u="none" strike="noStrike" kern="1200" dirty="0" smtClean="0">
                          <a:solidFill>
                            <a:schemeClr val="tx1"/>
                          </a:solidFill>
                          <a:effectLst/>
                          <a:latin typeface="+mn-lt"/>
                          <a:ea typeface="+mn-ea"/>
                          <a:cs typeface="+mn-cs"/>
                        </a:rPr>
                        <a:t/>
                      </a:r>
                    </a:p>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1" u="none" strike="noStrike" kern="1200" dirty="0" smtClean="0">
                          <a:solidFill>
                            <a:schemeClr val="tx1"/>
                          </a:solidFill>
                          <a:effectLst/>
                          <a:latin typeface="+mn-lt"/>
                          <a:ea typeface="+mn-ea"/>
                          <a:cs typeface="+mn-cs"/>
                        </a:rPr>
                        <a:t xml:space="preserve">(continuation)</a:t>
                      </a:r>
                      <a:endParaRPr lang="en-US" sz="700" b="0" i="1"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l" fontAlgn="ctr"/>
                      <a:r>
                        <a:rPr lang="ru-RU" sz="700" b="0" i="0" kern="1200" dirty="0" smtClean="0">
                          <a:solidFill>
                            <a:schemeClr val="dk1"/>
                          </a:solidFill>
                          <a:effectLst/>
                          <a:latin typeface="+mn-lt"/>
                          <a:ea typeface="+mn-ea"/>
                          <a:cs typeface="+mn-cs"/>
                        </a:rPr>
                        <a:t xml:space="preserve">Internal control</a:t>
                      </a:r>
                      <a:r>
                        <a:rPr lang="ru-RU" sz="700" b="0" i="0" kern="1200" baseline="0" dirty="0" smtClean="0">
                          <a:solidFill>
                            <a:schemeClr val="dk1"/>
                          </a:solidFill>
                          <a:effectLst/>
                          <a:latin typeface="+mn-lt"/>
                          <a:ea typeface="+mn-ea"/>
                          <a:cs typeface="+mn-cs"/>
                        </a:rPr>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l" fontAlgn="ctr"/>
                      <a:r>
                        <a:rPr lang="ru-RU" sz="700" u="none" strike="noStrike" dirty="0">
                          <a:solidFill>
                            <a:schemeClr val="tx1"/>
                          </a:solidFill>
                          <a:effectLst/>
                          <a:latin typeface="+mn-lt"/>
                        </a:rPr>
                        <a:t xml:space="preserve">Internal / Legal / Regulatory</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baseline="0" dirty="0" smtClean="0">
                          <a:solidFill>
                            <a:schemeClr val="tx1"/>
                          </a:solidFill>
                          <a:effectLst/>
                          <a:latin typeface="+mn-lt"/>
                        </a:rPr>
                        <a:t xml:space="preserve">Internal control tools have been implemented and applied to effectively manage PD risk</a:t>
                      </a:r>
                      <a:endParaRPr lang="en-US" sz="700" u="none" strike="noStrike" baseline="0"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700" dirty="0" smtClean="0">
                          <a:latin typeface="+mn-lt"/>
                        </a:rPr>
                        <a:t xml:space="preserve">Implement a Risk and Control Matrix regarding PD risk with further decomposition for high-risk business processes (starting with HR and Administrative support)</a:t>
                      </a:r>
                      <a:r>
                        <a:rPr lang="ru-RU" sz="700" baseline="0" dirty="0" smtClean="0">
                          <a:latin typeface="+mn-lt"/>
                        </a:rPr>
                        <a:t/>
                      </a:r>
                      <a:r>
                        <a:rPr lang="ru-RU" sz="700" dirty="0" smtClean="0">
                          <a:latin typeface="+mn-lt"/>
                        </a:rPr>
                        <a:t/>
                      </a:r>
                      <a:endParaRPr lang="ru-RU" sz="700" dirty="0">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90488" indent="-90488" algn="l" defTabSz="583170" rtl="0" eaLnBrk="1" fontAlgn="ctr" latinLnBrk="0" hangingPunct="1">
                        <a:buClr>
                          <a:schemeClr val="accent5">
                            <a:lumMod val="75000"/>
                            <a:lumOff val="25000"/>
                          </a:schemeClr>
                        </a:buClr>
                        <a:buFont typeface="Arial" panose="020B0604020202020204" pitchFamily="34" charset="0"/>
                        <a:buChar char="•"/>
                      </a:pPr>
                      <a:r>
                        <a:rPr lang="ru-RU" sz="700" u="none" strike="noStrike" kern="1200" dirty="0" smtClean="0">
                          <a:solidFill>
                            <a:schemeClr val="tx1"/>
                          </a:solidFill>
                          <a:effectLst/>
                          <a:latin typeface="+mn-lt"/>
                          <a:ea typeface="+mn-ea"/>
                          <a:cs typeface="+mn-cs"/>
                        </a:rPr>
                        <a:t xml:space="preserve">Personal Data Protection Manager</a:t>
                      </a:r>
                      <a:r>
                        <a:rPr lang="ru-RU" sz="700" u="none" strike="noStrike" kern="1200" dirty="0">
                          <a:solidFill>
                            <a:schemeClr val="tx1"/>
                          </a:solidFill>
                          <a:effectLst/>
                          <a:latin typeface="+mn-lt"/>
                          <a:ea typeface="+mn-ea"/>
                          <a:cs typeface="+mn-cs"/>
                        </a:rPr>
                        <a:t/>
                      </a:r>
                      <a:r>
                        <a:rPr lang="ru-RU" sz="700" u="none" strike="noStrike" kern="1200" dirty="0" smtClean="0">
                          <a:solidFill>
                            <a:schemeClr val="tx1"/>
                          </a:solidFill>
                          <a:effectLst/>
                          <a:latin typeface="+mn-lt"/>
                          <a:ea typeface="+mn-ea"/>
                          <a:cs typeface="+mn-cs"/>
                        </a:rPr>
                        <a:t/>
                      </a:r>
                      <a:endParaRPr lang="ru-RU" sz="700" u="none" strike="noStrike" kern="1200" dirty="0">
                        <a:solidFill>
                          <a:schemeClr val="tx1"/>
                        </a:solidFill>
                        <a:effectLst/>
                        <a:latin typeface="+mn-lt"/>
                        <a:ea typeface="+mn-ea"/>
                        <a:cs typeface="+mn-cs"/>
                      </a:endParaRPr>
                    </a:p>
                    <a:p>
                      <a:pPr marL="90488" marR="0" lvl="0" indent="-90488" algn="l" defTabSz="583170" rtl="0" eaLnBrk="1" fontAlgn="ctr" latinLnBrk="0" hangingPunct="1">
                        <a:lnSpc>
                          <a:spcPct val="100000"/>
                        </a:lnSpc>
                        <a:spcBef>
                          <a:spcPts val="0"/>
                        </a:spcBef>
                        <a:spcAft>
                          <a:spcPts val="0"/>
                        </a:spcAft>
                        <a:buClr>
                          <a:schemeClr val="accent5">
                            <a:lumMod val="75000"/>
                            <a:lumOff val="25000"/>
                          </a:schemeClr>
                        </a:buClr>
                        <a:buSzTx/>
                        <a:buFont typeface="Arial" panose="020B0604020202020204" pitchFamily="34" charset="0"/>
                        <a:buChar char="•"/>
                        <a:tabLst/>
                        <a:defRPr/>
                      </a:pPr>
                      <a:r>
                        <a:rPr lang="ru-RU" sz="700" u="none" strike="noStrike" dirty="0" smtClean="0">
                          <a:solidFill>
                            <a:schemeClr val="tx1"/>
                          </a:solidFill>
                          <a:effectLst/>
                          <a:latin typeface="+mn-lt"/>
                        </a:rPr>
                        <a:t xml:space="preserve">Participation: Healthcare Compliance Manager (for the Healthcare business sector), Head of Compliance Risks and Controls, Head of CCP and CSR, Process Owners</a:t>
                      </a:r>
                      <a:r>
                        <a:rPr lang="en-US" sz="700" u="none" strike="noStrike" dirty="0" smtClean="0">
                          <a:solidFill>
                            <a:schemeClr val="tx1"/>
                          </a:solidFill>
                          <a:effectLst/>
                          <a:latin typeface="+mn-lt"/>
                        </a:rPr>
                        <a:t/>
                      </a:r>
                      <a:r>
                        <a:rPr lang="ru-RU" sz="700" u="none" strike="noStrike" dirty="0" smtClean="0">
                          <a:solidFill>
                            <a:schemeClr val="tx1"/>
                          </a:solidFill>
                          <a:effectLst/>
                          <a:latin typeface="+mn-lt"/>
                        </a:rPr>
                        <a:t/>
                      </a:r>
                      <a:r>
                        <a:rPr lang="en-US"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r>
                        <a:rPr lang="ru-RU" sz="700" u="none" strike="noStrike" kern="1200" baseline="0" dirty="0" smtClean="0">
                          <a:solidFill>
                            <a:schemeClr val="tx1"/>
                          </a:solidFill>
                          <a:effectLst/>
                          <a:latin typeface="+mn-lt"/>
                          <a:ea typeface="+mn-ea"/>
                          <a:cs typeface="+mn-cs"/>
                        </a:rPr>
                        <a:t/>
                      </a:r>
                      <a:r>
                        <a:rPr lang="ru-RU" sz="700" u="none" strike="noStrike" kern="1200" dirty="0" smtClean="0">
                          <a:solidFill>
                            <a:schemeClr val="tx1"/>
                          </a:solidFill>
                          <a:effectLst/>
                          <a:latin typeface="+mn-lt"/>
                          <a:ea typeface="+mn-ea"/>
                          <a:cs typeface="+mn-cs"/>
                        </a:rPr>
                        <a:t/>
                      </a:r>
                      <a:endParaRPr lang="ru-RU" sz="700"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b="0" i="0" u="none" strike="noStrike" dirty="0" smtClean="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en-US" sz="700" u="none" strike="noStrike" dirty="0" smtClean="0">
                          <a:solidFill>
                            <a:schemeClr val="tx1"/>
                          </a:solidFill>
                          <a:effectLst/>
                          <a:latin typeface="+mn-lt"/>
                        </a:rPr>
                        <a:t>x</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lang="en-US" sz="700" u="none" strike="noStrike" dirty="0" smtClean="0">
                          <a:solidFill>
                            <a:schemeClr val="tx1"/>
                          </a:solidFill>
                          <a:effectLst/>
                          <a:latin typeface="+mn-lt"/>
                        </a:rPr>
                        <a:t>x</a:t>
                      </a:r>
                      <a:endParaRPr lang="ru-RU" sz="700" dirty="0">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latin typeface="+mn-lt"/>
                        </a:rPr>
                        <a:t xml:space="preserve">The matrix has been developed.</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latin typeface="+mn-lt"/>
                        </a:rPr>
                        <a:t xml:space="preserve">HR - During 2025, together with the project team (HR, BTS), key preparatory steps were completed related to changing the process of collecting and processing employee PD as a result of the implementation of the Smart Bridge project, which is directly related to HR processes and provides for the automation of a significant amount of operations for verifying and updating employee PD. Smart Bridge was launched in December 2025; on December 17, 2025, communication was sent to employees regarding changes in the collection and updating of personal data. According to the plans of the BTS team, a large-scale block of tasks is planned for 2026 for the further development of PD processing services: expanding Smart Bridge integrations with the state. information systems and internal circuits to optimize the processes of updating PD, reducing manual operations, as well as building a sustainable architecture for collecting PD not only from employees, but also from candidates. These integrations will affect internal systems, incl. HR systems such as SAP, JobERG, MIS. Taking into account the above, it is advisable to decompose the compliance risks of non-compliance with requirements for the protection of personal data in HR processes in 2026, after the completion of all key stages of the implementation of the Smart Bridge project. The implementation of this task in 2026 will make it possible to take into account the actually built process of collecting and processing personal data, taking into account the implemented integrations with internal information systems, ensuring the correct identification of compliance risks and developing mitigation measures taking into account the updated processes for collecting and processing personal data.</a:t>
                      </a:r>
                      <a:r>
                        <a:rPr lang="ru-RU" sz="700" dirty="0" err="1" smtClean="0">
                          <a:latin typeface="+mn-lt"/>
                        </a:rPr>
                        <a:t/>
                      </a:r>
                      <a:r>
                        <a:rPr lang="ru-RU" sz="700" dirty="0" smtClean="0">
                          <a:latin typeface="+mn-lt"/>
                        </a:rPr>
                        <a:t/>
                      </a:r>
                      <a:r>
                        <a:rPr lang="ru-RU" sz="700" dirty="0" err="1" smtClean="0">
                          <a:latin typeface="+mn-lt"/>
                        </a:rPr>
                        <a:t/>
                      </a:r>
                      <a:r>
                        <a:rPr lang="ru-RU" sz="700" dirty="0" smtClean="0">
                          <a:latin typeface="+mn-lt"/>
                        </a:rPr>
                        <a:t/>
                      </a:r>
                      <a:r>
                        <a:rPr lang="ru-RU" sz="700" dirty="0" err="1" smtClean="0">
                          <a:latin typeface="+mn-lt"/>
                        </a:rPr>
                        <a:t/>
                      </a:r>
                      <a:r>
                        <a:rPr lang="ru-RU" sz="700" dirty="0" smtClean="0">
                          <a:latin typeface="+mn-lt"/>
                        </a:rPr>
                        <a:t/>
                      </a:r>
                      <a:r>
                        <a:rPr lang="ru-RU" sz="700" dirty="0" err="1" smtClean="0">
                          <a:latin typeface="+mn-lt"/>
                        </a:rPr>
                        <a:t/>
                      </a:r>
                      <a:r>
                        <a:rPr lang="ru-RU" sz="700" dirty="0" smtClean="0">
                          <a:latin typeface="+mn-lt"/>
                        </a:rPr>
                        <a:t/>
                      </a:r>
                      <a:r>
                        <a:rPr lang="ru-RU" sz="700" dirty="0" err="1" smtClean="0">
                          <a:latin typeface="+mn-lt"/>
                        </a:rPr>
                        <a:t/>
                      </a:r>
                      <a:r>
                        <a:rPr lang="ru-RU" sz="700" dirty="0" smtClean="0">
                          <a:latin typeface="+mn-lt"/>
                        </a:rPr>
                        <a:t/>
                      </a:r>
                      <a:r>
                        <a:rPr lang="ru-RU" sz="700" dirty="0" err="1" smtClean="0">
                          <a:latin typeface="+mn-lt"/>
                        </a:rPr>
                        <a:t/>
                      </a:r>
                      <a:r>
                        <a:rPr lang="ru-RU" sz="700" dirty="0" smtClean="0">
                          <a:latin typeface="+mn-lt"/>
                        </a:rPr>
                        <a:t/>
                      </a:r>
                      <a:r>
                        <a:rPr lang="ru-RU" sz="700" dirty="0" err="1" smtClean="0">
                          <a:latin typeface="+mn-lt"/>
                        </a:rPr>
                        <a:t/>
                      </a:r>
                      <a:r>
                        <a:rPr lang="ru-RU" sz="700" dirty="0" smtClean="0">
                          <a:latin typeface="+mn-lt"/>
                        </a:rPr>
                        <a:t/>
                      </a:r>
                      <a:r>
                        <a:rPr lang="ru-RU" sz="700" dirty="0" err="1" smtClean="0">
                          <a:latin typeface="+mn-lt"/>
                        </a:rPr>
                        <a:t/>
                      </a:r>
                      <a:r>
                        <a:rPr lang="ru-RU" sz="700" dirty="0" smtClean="0">
                          <a:latin typeface="+mn-lt"/>
                        </a:rPr>
                        <a:t/>
                      </a:r>
                      <a:r>
                        <a:rPr lang="ru-RU" sz="700" dirty="0" err="1" smtClean="0">
                          <a:latin typeface="+mn-lt"/>
                        </a:rPr>
                        <a:t/>
                      </a:r>
                      <a:r>
                        <a:rPr lang="ru-RU" sz="700" dirty="0" smtClean="0">
                          <a:latin typeface="+mn-lt"/>
                        </a:rPr>
                        <a:t/>
                      </a:r>
                    </a:p>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smtClean="0">
                          <a:latin typeface="+mn-lt"/>
                        </a:rPr>
                        <a:t xml:space="preserve">Administrative support - An analysis of the current internal regulatory documents of the “Administrative Support” function was carried out for their compliance with the requirements of legislation in the field of personal data protection, as well as applicable internal policies and procedures of the Company in the field of personal data protection, issues of storing personal data were considered, including the procedure for the formation, maintenance and use of archives, incl. electronic. Special attention is paid to the processes of timely destruction of PD after the expiration of established storage periods, including the procedure for making decisions on destruction, documenting the fact of destruction, as well as the distribution of responsibilities between departments and officials. The preparation of a report on the results of the ongoing decomposition and assessment of the business processes of the “Administrative Support” function is being completed.</a:t>
                      </a:r>
                      <a:r>
                        <a:rPr lang="ru-RU" sz="700" dirty="0" err="1" smtClean="0">
                          <a:latin typeface="+mn-lt"/>
                        </a:rPr>
                        <a:t/>
                      </a:r>
                      <a:r>
                        <a:rPr lang="ru-RU" sz="700" dirty="0" smtClean="0">
                          <a:latin typeface="+mn-lt"/>
                        </a:rPr>
                        <a:t/>
                      </a: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242774"/>
                  </a:ext>
                </a:extLst>
              </a:tr>
              <a:tr h="236194">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r>
                        <a:rPr lang="ru-RU" sz="700" dirty="0">
                          <a:latin typeface="+mn-lt"/>
                        </a:rPr>
                        <a:t xml:space="preserve">Conduct self-testing (sampling) to determine the availability of signed, current consents for the collection and processing of PD of Perimeter employees</a:t>
                      </a:r>
                      <a:r>
                        <a:rPr lang="ru-RU" sz="700" dirty="0" smtClean="0">
                          <a:latin typeface="+mn-lt"/>
                        </a:rPr>
                        <a:t/>
                      </a:r>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b="0" i="0" u="none" strike="noStrike" dirty="0" smtClean="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700" dirty="0" smtClean="0"/>
                        <a:t xml:space="preserve">Based on the results of self-testing (sampling method - 500 workers from different jurisdictions), the following was revealed:</a:t>
                      </a:r>
                    </a:p>
                    <a:p>
                      <a:pPr marL="87313" indent="-87313" algn="l" defTabSz="583170" rtl="0" eaLnBrk="1" latinLnBrk="0" hangingPunct="1">
                        <a:buFont typeface="Arial" panose="020B0604020202020204" pitchFamily="34" charset="0"/>
                        <a:buChar char="•"/>
                      </a:pPr>
                      <a:r>
                        <a:rPr lang="ru-RU" sz="700" kern="1200" dirty="0" smtClean="0">
                          <a:solidFill>
                            <a:schemeClr val="dk1"/>
                          </a:solidFill>
                          <a:latin typeface="+mn-lt"/>
                          <a:ea typeface="+mn-ea"/>
                          <a:cs typeface="+mn-cs"/>
                        </a:rPr>
                        <a:t xml:space="preserve">211 employees (42%) signed the current consent form, which is valid from 2022.</a:t>
                      </a:r>
                    </a:p>
                    <a:p>
                      <a:pPr marL="87313" indent="-87313" algn="l" defTabSz="583170" rtl="0" eaLnBrk="1" latinLnBrk="0" hangingPunct="1">
                        <a:buFont typeface="Arial" panose="020B0604020202020204" pitchFamily="34" charset="0"/>
                        <a:buChar char="•"/>
                      </a:pPr>
                      <a:r>
                        <a:rPr lang="ru-RU" sz="700" kern="1200" dirty="0" smtClean="0">
                          <a:solidFill>
                            <a:schemeClr val="dk1"/>
                          </a:solidFill>
                          <a:latin typeface="+mn-lt"/>
                          <a:ea typeface="+mn-ea"/>
                          <a:cs typeface="+mn-cs"/>
                        </a:rPr>
                        <a:t xml:space="preserve">268 employees (54%) signed the 2021 consent form, 85% of whom signed the 2021 consent form after the current consent form was introduced. At the same time, in 2022, minor changes were made to the consent form (a BIN was added, one wording was adjusted). – re-signing the form is not required.</a:t>
                      </a:r>
                      <a:r>
                        <a:rPr lang="ru-RU" sz="700" kern="1200" dirty="0" err="1" smtClean="0">
                          <a:solidFill>
                            <a:schemeClr val="dk1"/>
                          </a:solidFill>
                          <a:latin typeface="+mn-lt"/>
                          <a:ea typeface="+mn-ea"/>
                          <a:cs typeface="+mn-cs"/>
                        </a:rPr>
                        <a:t/>
                      </a:r>
                      <a:r>
                        <a:rPr lang="ru-RU" sz="700" kern="1200" dirty="0" smtClean="0">
                          <a:solidFill>
                            <a:schemeClr val="dk1"/>
                          </a:solidFill>
                          <a:latin typeface="+mn-lt"/>
                          <a:ea typeface="+mn-ea"/>
                          <a:cs typeface="+mn-cs"/>
                        </a:rPr>
                        <a:t/>
                      </a:r>
                    </a:p>
                    <a:p>
                      <a:pPr marL="87313" indent="-87313" algn="l" defTabSz="583170" rtl="0" eaLnBrk="1" latinLnBrk="0" hangingPunct="1">
                        <a:buFont typeface="Arial" panose="020B0604020202020204" pitchFamily="34" charset="0"/>
                        <a:buChar char="•"/>
                      </a:pPr>
                      <a:r>
                        <a:rPr lang="ru-RU" sz="700" kern="1200" dirty="0" smtClean="0">
                          <a:solidFill>
                            <a:schemeClr val="dk1"/>
                          </a:solidFill>
                          <a:latin typeface="+mn-lt"/>
                          <a:ea typeface="+mn-ea"/>
                          <a:cs typeface="+mn-cs"/>
                        </a:rPr>
                        <a:t xml:space="preserve">4 employees (1%) signed an outdated 2017 consent form - re-signing required.</a:t>
                      </a:r>
                      <a:r>
                        <a:rPr lang="ru-RU" sz="700" kern="1200" dirty="0" err="1" smtClean="0">
                          <a:solidFill>
                            <a:schemeClr val="dk1"/>
                          </a:solidFill>
                          <a:latin typeface="+mn-lt"/>
                          <a:ea typeface="+mn-ea"/>
                          <a:cs typeface="+mn-cs"/>
                        </a:rPr>
                        <a:t/>
                      </a:r>
                      <a:r>
                        <a:rPr lang="ru-RU" sz="700" kern="1200" dirty="0" smtClean="0">
                          <a:solidFill>
                            <a:schemeClr val="dk1"/>
                          </a:solidFill>
                          <a:latin typeface="+mn-lt"/>
                          <a:ea typeface="+mn-ea"/>
                          <a:cs typeface="+mn-cs"/>
                        </a:rPr>
                        <a:t/>
                      </a:r>
                    </a:p>
                    <a:p>
                      <a:pPr marL="87313" indent="-87313" algn="l" defTabSz="583170" rtl="0" eaLnBrk="1" latinLnBrk="0" hangingPunct="1">
                        <a:buFont typeface="Arial" panose="020B0604020202020204" pitchFamily="34" charset="0"/>
                        <a:buChar char="•"/>
                      </a:pPr>
                      <a:r>
                        <a:rPr lang="ru-RU" sz="700" kern="1200" dirty="0" smtClean="0">
                          <a:solidFill>
                            <a:schemeClr val="dk1"/>
                          </a:solidFill>
                          <a:latin typeface="+mn-lt"/>
                          <a:ea typeface="+mn-ea"/>
                          <a:cs typeface="+mn-cs"/>
                        </a:rPr>
                        <a:t xml:space="preserve">17 employees (3%) were not sent consent forms for various reasons (work leave, refusal to sign, no signed consents).</a:t>
                      </a:r>
                    </a:p>
                    <a:p>
                      <a:r>
                        <a:rPr lang="ru-RU" sz="700" dirty="0" smtClean="0"/>
                        <a:t xml:space="preserve">Relevant recommendations were sent to HR to eliminate the identified deviations.</a:t>
                      </a:r>
                      <a:endParaRPr lang="ru-RU" sz="700" dirty="0"/>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5391964"/>
                  </a:ext>
                </a:extLst>
              </a:tr>
              <a:tr h="237832">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latin typeface="+mn-lt"/>
                        </a:rPr>
                        <a:t xml:space="preserve">Conduct self-testing (sampling) to determine the presence of current PD clauses in existing Perimeter agreements</a:t>
                      </a:r>
                      <a:r>
                        <a:rPr lang="ru-RU" sz="700" dirty="0" smtClean="0">
                          <a:latin typeface="+mn-lt"/>
                        </a:rPr>
                        <a:t/>
                      </a:r>
                      <a:r>
                        <a:rPr lang="ru-RU" sz="700" baseline="0" dirty="0" smtClean="0">
                          <a:latin typeface="+mn-lt"/>
                        </a:rPr>
                        <a:t/>
                      </a:r>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en-US" sz="700" u="none" strike="noStrike" dirty="0" smtClean="0">
                          <a:solidFill>
                            <a:schemeClr val="tx1"/>
                          </a:solidFill>
                          <a:effectLst/>
                          <a:latin typeface="+mn-lt"/>
                        </a:rPr>
                        <a:t>x</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700" dirty="0" smtClean="0"/>
                        <a:t xml:space="preserve">Based on the results of self-testing of clauses in the field of personal data, out of 100 contracts selected by random sampling, taking into account the risk-based approach (contracts that are most at risk of non-compliance with requirements for personal data protection are included), 59% - include current compliance provisions, 31% - include irrelevant compliance provisions, 10% - do not contain compliance provisions (template counterparty agreement as agreed Compliance, non-standard agreements (payment of compensation under labor laws)). Relevant recommendations have been sent to Yurblock. The results were presented at a meeting of the Compliance Committee as part of the Perimeter report for the 4th quarter. 2025</a:t>
                      </a:r>
                      <a:r>
                        <a:rPr lang="ru-RU" sz="700" dirty="0" err="1" smtClean="0"/>
                        <a:t/>
                      </a:r>
                      <a:r>
                        <a:rPr lang="ru-RU" sz="700" dirty="0" smtClean="0"/>
                        <a:t/>
                      </a:r>
                      <a:endParaRPr lang="ru-RU" sz="700" dirty="0"/>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4588084"/>
                  </a:ext>
                </a:extLst>
              </a:tr>
            </a:tbl>
          </a:graphicData>
        </a:graphic>
      </p:graphicFrame>
      <p:sp>
        <p:nvSpPr>
          <p:cNvPr id="9" name="Title 8">
            <a:extLst>
              <a:ext uri="{FF2B5EF4-FFF2-40B4-BE49-F238E27FC236}">
                <a16:creationId xmlns:a16="http://schemas.microsoft.com/office/drawing/2014/main" id="{45625ACB-FD17-4EE3-A814-1735AEDFB16E}"/>
              </a:ext>
            </a:extLst>
          </p:cNvPr>
          <p:cNvSpPr>
            <a:spLocks noGrp="1"/>
          </p:cNvSpPr>
          <p:nvPr>
            <p:ph type="title"/>
          </p:nvPr>
        </p:nvSpPr>
        <p:spPr/>
        <p:txBody>
          <a:bodyPr vert="horz"/>
          <a:lstStyle/>
          <a:p>
            <a:r>
              <a:rPr lang="ru-RU" dirty="0"/>
              <a:t xml:space="preserve">Annual compliance program 2025: Perimeter Kazakhstan Implementation status - Compliance program for the protection of personal data</a:t>
            </a:r>
            <a:br>
              <a:rPr lang="ru-RU" dirty="0"/>
            </a:br>
            <a:r>
              <a:rPr lang="ru-RU" dirty="0">
                <a:solidFill>
                  <a:schemeClr val="tx1"/>
                </a:solidFill>
              </a:rPr>
              <a:t/>
            </a:r>
            <a:r>
              <a:rPr lang="ru-RU" dirty="0" smtClean="0">
                <a:solidFill>
                  <a:schemeClr val="tx1"/>
                </a:solidFill>
              </a:rPr>
              <a:t/>
            </a:r>
            <a:r>
              <a:rPr lang="ru-RU" dirty="0">
                <a:solidFill>
                  <a:schemeClr val="tx1"/>
                </a:solidFill>
              </a:rPr>
              <a:t/>
            </a:r>
            <a:r>
              <a:rPr lang="ru-RU" dirty="0" smtClean="0">
                <a:solidFill>
                  <a:schemeClr val="tx1"/>
                </a:solidFill>
              </a:rPr>
              <a:t/>
            </a:r>
            <a:endParaRPr lang="en-US" dirty="0">
              <a:solidFill>
                <a:schemeClr val="tx1"/>
              </a:solidFill>
            </a:endParaRPr>
          </a:p>
        </p:txBody>
      </p:sp>
    </p:spTree>
    <p:extLst>
      <p:ext uri="{BB962C8B-B14F-4D97-AF65-F5344CB8AC3E}">
        <p14:creationId xmlns:p14="http://schemas.microsoft.com/office/powerpoint/2010/main" val="13404902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4010" name="think-cell Slide" r:id="rId4" imgW="594" imgH="595" progId="TCLayout.ActiveDocument.1">
                  <p:embed/>
                </p:oleObj>
              </mc:Choice>
              <mc:Fallback>
                <p:oleObj name="think-cell Slide" r:id="rId4" imgW="594" imgH="595"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 name="Table 9">
            <a:extLst>
              <a:ext uri="{FF2B5EF4-FFF2-40B4-BE49-F238E27FC236}">
                <a16:creationId xmlns:a16="http://schemas.microsoft.com/office/drawing/2014/main" id="{36DCCD8B-C149-490D-8E5F-DC5722E53037}"/>
              </a:ext>
            </a:extLst>
          </p:cNvPr>
          <p:cNvGraphicFramePr>
            <a:graphicFrameLocks noGrp="1"/>
          </p:cNvGraphicFramePr>
          <p:nvPr>
            <p:extLst>
              <p:ext uri="{D42A27DB-BD31-4B8C-83A1-F6EECF244321}">
                <p14:modId xmlns:p14="http://schemas.microsoft.com/office/powerpoint/2010/main" val="3681724615"/>
              </p:ext>
            </p:extLst>
          </p:nvPr>
        </p:nvGraphicFramePr>
        <p:xfrm>
          <a:off x="317499" y="771064"/>
          <a:ext cx="11664000" cy="4059120"/>
        </p:xfrm>
        <a:graphic>
          <a:graphicData uri="http://schemas.openxmlformats.org/drawingml/2006/table">
            <a:tbl>
              <a:tblPr>
                <a:tableStyleId>{5C22544A-7EE6-4342-B048-85BDC9FD1C3A}</a:tableStyleId>
              </a:tblPr>
              <a:tblGrid>
                <a:gridCol w="756000">
                  <a:extLst>
                    <a:ext uri="{9D8B030D-6E8A-4147-A177-3AD203B41FA5}">
                      <a16:colId xmlns:a16="http://schemas.microsoft.com/office/drawing/2014/main" val="3570299910"/>
                    </a:ext>
                  </a:extLst>
                </a:gridCol>
                <a:gridCol w="756000">
                  <a:extLst>
                    <a:ext uri="{9D8B030D-6E8A-4147-A177-3AD203B41FA5}">
                      <a16:colId xmlns:a16="http://schemas.microsoft.com/office/drawing/2014/main" val="3950796025"/>
                    </a:ext>
                  </a:extLst>
                </a:gridCol>
                <a:gridCol w="684000">
                  <a:extLst>
                    <a:ext uri="{9D8B030D-6E8A-4147-A177-3AD203B41FA5}">
                      <a16:colId xmlns:a16="http://schemas.microsoft.com/office/drawing/2014/main" val="23014324"/>
                    </a:ext>
                  </a:extLst>
                </a:gridCol>
                <a:gridCol w="1224000">
                  <a:extLst>
                    <a:ext uri="{9D8B030D-6E8A-4147-A177-3AD203B41FA5}">
                      <a16:colId xmlns:a16="http://schemas.microsoft.com/office/drawing/2014/main" val="2593145120"/>
                    </a:ext>
                  </a:extLst>
                </a:gridCol>
                <a:gridCol w="1440000">
                  <a:extLst>
                    <a:ext uri="{9D8B030D-6E8A-4147-A177-3AD203B41FA5}">
                      <a16:colId xmlns:a16="http://schemas.microsoft.com/office/drawing/2014/main" val="2149758195"/>
                    </a:ext>
                  </a:extLst>
                </a:gridCol>
                <a:gridCol w="1440000">
                  <a:extLst>
                    <a:ext uri="{9D8B030D-6E8A-4147-A177-3AD203B41FA5}">
                      <a16:colId xmlns:a16="http://schemas.microsoft.com/office/drawing/2014/main" val="3024837112"/>
                    </a:ext>
                  </a:extLst>
                </a:gridCol>
                <a:gridCol w="288000">
                  <a:extLst>
                    <a:ext uri="{9D8B030D-6E8A-4147-A177-3AD203B41FA5}">
                      <a16:colId xmlns:a16="http://schemas.microsoft.com/office/drawing/2014/main" val="4287191136"/>
                    </a:ext>
                  </a:extLst>
                </a:gridCol>
                <a:gridCol w="288000">
                  <a:extLst>
                    <a:ext uri="{9D8B030D-6E8A-4147-A177-3AD203B41FA5}">
                      <a16:colId xmlns:a16="http://schemas.microsoft.com/office/drawing/2014/main" val="1470397540"/>
                    </a:ext>
                  </a:extLst>
                </a:gridCol>
                <a:gridCol w="288000">
                  <a:extLst>
                    <a:ext uri="{9D8B030D-6E8A-4147-A177-3AD203B41FA5}">
                      <a16:colId xmlns:a16="http://schemas.microsoft.com/office/drawing/2014/main" val="3420789790"/>
                    </a:ext>
                  </a:extLst>
                </a:gridCol>
                <a:gridCol w="288000">
                  <a:extLst>
                    <a:ext uri="{9D8B030D-6E8A-4147-A177-3AD203B41FA5}">
                      <a16:colId xmlns:a16="http://schemas.microsoft.com/office/drawing/2014/main" val="3414007680"/>
                    </a:ext>
                  </a:extLst>
                </a:gridCol>
                <a:gridCol w="4212000">
                  <a:extLst>
                    <a:ext uri="{9D8B030D-6E8A-4147-A177-3AD203B41FA5}">
                      <a16:colId xmlns:a16="http://schemas.microsoft.com/office/drawing/2014/main" val="2168095823"/>
                    </a:ext>
                  </a:extLst>
                </a:gridCol>
              </a:tblGrid>
              <a:tr h="177620">
                <a:tc rowSpan="2">
                  <a:txBody>
                    <a:bodyPr/>
                    <a:lstStyle/>
                    <a:p>
                      <a:pPr algn="l" fontAlgn="ctr"/>
                      <a:r>
                        <a:rPr lang="ru-RU" sz="700" u="none" strike="noStrike" dirty="0">
                          <a:solidFill>
                            <a:schemeClr val="accent5">
                              <a:lumMod val="75000"/>
                              <a:lumOff val="25000"/>
                            </a:schemeClr>
                          </a:solidFill>
                          <a:effectLst/>
                          <a:latin typeface="+mn-lt"/>
                        </a:rPr>
                        <a:t xml:space="preserve">Program components</a:t>
                      </a:r>
                      <a:endParaRPr lang="en-US" sz="700" b="0" i="0" u="none" strike="noStrike" dirty="0">
                        <a:solidFill>
                          <a:schemeClr val="accent5">
                            <a:lumMod val="75000"/>
                            <a:lumOff val="25000"/>
                          </a:schemeClr>
                        </a:solidFill>
                        <a:effectLst/>
                        <a:latin typeface="+mn-lt"/>
                      </a:endParaRPr>
                    </a:p>
                  </a:txBody>
                  <a:tcPr marL="36000" marR="36000" marT="36000" marB="36000" anchor="ctr">
                    <a:lnL w="12700" cmpd="sng">
                      <a:noFill/>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algn="l" defTabSz="583170" rtl="0" eaLnBrk="1" fontAlgn="ctr" latinLnBrk="0" hangingPunct="1"/>
                      <a:r>
                        <a:rPr lang="ru-RU" sz="700" u="none" strike="noStrike" kern="1200" dirty="0">
                          <a:solidFill>
                            <a:schemeClr val="accent5">
                              <a:lumMod val="75000"/>
                              <a:lumOff val="25000"/>
                            </a:schemeClr>
                          </a:solidFill>
                          <a:effectLst/>
                          <a:latin typeface="+mn-lt"/>
                          <a:ea typeface="+mn-ea"/>
                          <a:cs typeface="+mn-cs"/>
                        </a:rPr>
                        <a:t xml:space="preserve">Key Tools</a:t>
                      </a:r>
                      <a:endParaRPr lang="en-US" sz="700" u="none" strike="noStrike" kern="1200" dirty="0">
                        <a:solidFill>
                          <a:schemeClr val="accent5">
                            <a:lumMod val="75000"/>
                            <a:lumOff val="25000"/>
                          </a:schemeClr>
                        </a:solidFill>
                        <a:effectLst/>
                        <a:latin typeface="+mn-lt"/>
                        <a:ea typeface="+mn-ea"/>
                        <a:cs typeface="+mn-cs"/>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accent5">
                              <a:lumMod val="75000"/>
                              <a:lumOff val="25000"/>
                            </a:schemeClr>
                          </a:solidFill>
                          <a:effectLst/>
                          <a:latin typeface="+mn-lt"/>
                        </a:rPr>
                        <a:t xml:space="preserve">Requirements</a:t>
                      </a:r>
                      <a:r>
                        <a:rPr lang="en-US" sz="700" u="none" strike="noStrike" dirty="0">
                          <a:solidFill>
                            <a:schemeClr val="accent5">
                              <a:lumMod val="75000"/>
                              <a:lumOff val="25000"/>
                            </a:schemeClr>
                          </a:solidFill>
                          <a:effectLst/>
                          <a:latin typeface="+mn-lt"/>
                        </a:rPr>
                        <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u="none" strike="noStrike" dirty="0">
                          <a:solidFill>
                            <a:schemeClr val="accent5">
                              <a:lumMod val="75000"/>
                              <a:lumOff val="25000"/>
                            </a:schemeClr>
                          </a:solidFill>
                          <a:effectLst/>
                          <a:latin typeface="+mn-lt"/>
                        </a:rPr>
                        <a:t xml:space="preserve">Control elements</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accent5">
                              <a:lumMod val="75000"/>
                              <a:lumOff val="25000"/>
                            </a:schemeClr>
                          </a:solidFill>
                          <a:effectLst/>
                          <a:latin typeface="+mn-lt"/>
                        </a:rPr>
                        <a:t xml:space="preserve">Operations</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r>
                        <a:rPr lang="ru-RU" sz="700" b="0" i="0" u="none" strike="noStrike" dirty="0">
                          <a:solidFill>
                            <a:schemeClr val="accent5">
                              <a:lumMod val="75000"/>
                              <a:lumOff val="25000"/>
                            </a:schemeClr>
                          </a:solidFill>
                          <a:effectLst/>
                          <a:latin typeface="+mn-lt"/>
                        </a:rPr>
                        <a:t xml:space="preserve">Responsible</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l" fontAlgn="ctr"/>
                      <a:r>
                        <a:rPr lang="en-US" sz="700" u="none" strike="noStrike" dirty="0" smtClean="0">
                          <a:solidFill>
                            <a:schemeClr val="accent5">
                              <a:lumMod val="75000"/>
                              <a:lumOff val="25000"/>
                            </a:schemeClr>
                          </a:solidFill>
                          <a:effectLst/>
                          <a:latin typeface="+mn-lt"/>
                        </a:rPr>
                        <a:t xml:space="preserve">2025</a:t>
                      </a:r>
                      <a:r>
                        <a:rPr lang="ru-RU" sz="700" u="none" strike="noStrike" dirty="0" smtClean="0">
                          <a:solidFill>
                            <a:schemeClr val="accent5">
                              <a:lumMod val="75000"/>
                              <a:lumOff val="25000"/>
                            </a:schemeClr>
                          </a:solidFill>
                          <a:effectLst/>
                          <a:latin typeface="+mn-lt"/>
                        </a:rPr>
                        <a:t/>
                      </a:r>
                      <a:r>
                        <a:rPr lang="ru-RU" sz="700" u="none" strike="noStrike" dirty="0">
                          <a:solidFill>
                            <a:schemeClr val="accent5">
                              <a:lumMod val="75000"/>
                              <a:lumOff val="25000"/>
                            </a:schemeClr>
                          </a:solidFill>
                          <a:effectLst/>
                          <a:latin typeface="+mn-lt"/>
                        </a:rPr>
                        <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ru-RU"/>
                    </a:p>
                  </a:txBody>
                  <a:tcPr/>
                </a:tc>
                <a:tc hMerge="1">
                  <a:txBody>
                    <a:bodyPr/>
                    <a:lstStyle/>
                    <a:p>
                      <a:endParaRPr lang="ru-RU"/>
                    </a:p>
                  </a:txBody>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 xml:space="preserve">Execution Status</a:t>
                      </a:r>
                    </a:p>
                  </a:txBody>
                  <a:tcPr marL="36000" marR="36000" marT="36000" marB="36000" anchor="ctr">
                    <a:lnL w="9525" cap="flat" cmpd="sng" algn="ctr">
                      <a:solidFill>
                        <a:schemeClr val="bg1"/>
                      </a:solidFill>
                      <a:prstDash val="solid"/>
                      <a:round/>
                      <a:headEnd type="none" w="med" len="med"/>
                      <a:tailEnd type="none" w="med" len="med"/>
                    </a:lnL>
                    <a:lnR w="12700" cmpd="sng">
                      <a:noFill/>
                    </a:lnR>
                    <a:lnT w="12700" cmpd="sng">
                      <a:noFill/>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572482"/>
                  </a:ext>
                </a:extLst>
              </a:tr>
              <a:tr h="1776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r>
                        <a:rPr lang="ru" sz="700" u="none" strike="noStrike" dirty="0">
                          <a:solidFill>
                            <a:schemeClr val="accent5">
                              <a:lumMod val="75000"/>
                              <a:lumOff val="25000"/>
                            </a:schemeClr>
                          </a:solidFill>
                          <a:effectLst/>
                          <a:latin typeface="+mn-lt"/>
                        </a:rPr>
                        <a:t xml:space="preserve">1 sq.</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 xml:space="preserve">2 sq.</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 xml:space="preserve">Q3</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accent5">
                              <a:lumMod val="75000"/>
                              <a:lumOff val="25000"/>
                            </a:schemeClr>
                          </a:solidFill>
                          <a:effectLst/>
                          <a:latin typeface="+mn-lt"/>
                        </a:rPr>
                        <a:t xml:space="preserve">Q4</a:t>
                      </a: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700" b="0" i="0" u="none" strike="noStrike" dirty="0">
                        <a:solidFill>
                          <a:schemeClr val="accent5">
                            <a:lumMod val="75000"/>
                            <a:lumOff val="25000"/>
                          </a:schemeClr>
                        </a:solidFill>
                        <a:effectLst/>
                        <a:latin typeface="+mn-lt"/>
                      </a:endParaRPr>
                    </a:p>
                  </a:txBody>
                  <a:tcPr marL="36000" marR="36000" marT="36000" marB="36000" anchor="ctr">
                    <a:lnL w="9525" cap="flat" cmpd="sng" algn="ctr">
                      <a:solidFill>
                        <a:schemeClr val="bg1"/>
                      </a:solidFill>
                      <a:prstDash val="solid"/>
                      <a:round/>
                      <a:headEnd type="none" w="med" len="med"/>
                      <a:tailEnd type="none" w="med" len="med"/>
                    </a:lnL>
                    <a:lnR w="12700" cmpd="sng">
                      <a:noFill/>
                    </a:lnR>
                    <a:lnT w="9525" cap="flat" cmpd="sng" algn="ctr">
                      <a:solidFill>
                        <a:srgbClr val="0070C0"/>
                      </a:solidFill>
                      <a:prstDash val="solid"/>
                      <a:round/>
                      <a:headEnd type="none" w="med" len="med"/>
                      <a:tailEnd type="none" w="med" len="med"/>
                    </a:lnT>
                    <a:lnB w="9525"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7142690"/>
                  </a:ext>
                </a:extLst>
              </a:tr>
              <a:tr h="436619">
                <a:tc rowSpan="3">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1" u="none" strike="noStrike" dirty="0">
                          <a:solidFill>
                            <a:schemeClr val="tx1"/>
                          </a:solidFill>
                          <a:effectLst/>
                          <a:latin typeface="+mn-lt"/>
                        </a:rPr>
                        <a:t xml:space="preserve">Assessing the risk of non-compliance with PD protection requirements, Internal control, Reporting</a:t>
                      </a:r>
                      <a:r>
                        <a:rPr lang="ru-RU" sz="700" b="1" u="none" strike="noStrike" dirty="0" smtClean="0">
                          <a:solidFill>
                            <a:schemeClr val="tx1"/>
                          </a:solidFill>
                          <a:effectLst/>
                          <a:latin typeface="+mn-lt"/>
                        </a:rPr>
                        <a:t/>
                      </a:r>
                      <a:r>
                        <a:rPr lang="en-US" sz="700" b="1" u="none" strike="noStrike" kern="1200" dirty="0" smtClean="0">
                          <a:solidFill>
                            <a:schemeClr val="tx1"/>
                          </a:solidFill>
                          <a:effectLst/>
                          <a:latin typeface="+mn-lt"/>
                          <a:ea typeface="+mn-ea"/>
                          <a:cs typeface="+mn-cs"/>
                        </a:rPr>
                        <a:t/>
                      </a:r>
                      <a:r>
                        <a:rPr lang="ru-RU" sz="700" b="1" u="none" strike="noStrike" kern="1200" dirty="0">
                          <a:solidFill>
                            <a:schemeClr val="tx1"/>
                          </a:solidFill>
                          <a:effectLst/>
                          <a:latin typeface="+mn-lt"/>
                          <a:ea typeface="+mn-ea"/>
                          <a:cs typeface="+mn-cs"/>
                        </a:rPr>
                        <a:t/>
                      </a:r>
                      <a:r>
                        <a:rPr lang="ru-RU" sz="700" b="1" u="none" strike="noStrike" kern="1200" baseline="0" dirty="0">
                          <a:solidFill>
                            <a:schemeClr val="tx1"/>
                          </a:solidFill>
                          <a:effectLst/>
                          <a:latin typeface="+mn-lt"/>
                          <a:ea typeface="+mn-ea"/>
                          <a:cs typeface="+mn-cs"/>
                        </a:rPr>
                        <a:t/>
                      </a:r>
                      <a:r>
                        <a:rPr lang="en-US" sz="700" b="1" u="none" strike="noStrike" kern="1200" dirty="0">
                          <a:solidFill>
                            <a:schemeClr val="tx1"/>
                          </a:solidFill>
                          <a:effectLst/>
                          <a:latin typeface="+mn-lt"/>
                          <a:ea typeface="+mn-ea"/>
                          <a:cs typeface="+mn-cs"/>
                        </a:rPr>
                        <a:t/>
                      </a:r>
                      <a:r>
                        <a:rPr lang="ru-RU" sz="700" b="1" u="none" strike="noStrike" kern="1200" dirty="0" smtClean="0">
                          <a:solidFill>
                            <a:schemeClr val="tx1"/>
                          </a:solidFill>
                          <a:effectLst/>
                          <a:latin typeface="+mn-lt"/>
                          <a:ea typeface="+mn-ea"/>
                          <a:cs typeface="+mn-cs"/>
                        </a:rPr>
                        <a:t/>
                      </a:r>
                    </a:p>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1" u="none" strike="noStrike" kern="1200" dirty="0" smtClean="0">
                          <a:solidFill>
                            <a:schemeClr val="tx1"/>
                          </a:solidFill>
                          <a:effectLst/>
                          <a:latin typeface="+mn-lt"/>
                          <a:ea typeface="+mn-ea"/>
                          <a:cs typeface="+mn-cs"/>
                        </a:rPr>
                        <a:t xml:space="preserve">(continuation)</a:t>
                      </a:r>
                      <a:endParaRPr lang="en-US" sz="700" b="0" i="1"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 xml:space="preserve">Reporting</a:t>
                      </a:r>
                      <a:endParaRPr lang="en-US" sz="700" b="0" i="0" u="none" strike="noStrike" dirty="0">
                        <a:solidFill>
                          <a:schemeClr val="tx1"/>
                        </a:solidFill>
                        <a:effectLst/>
                        <a:latin typeface="+mn-lt"/>
                      </a:endParaRPr>
                    </a:p>
                    <a:p>
                      <a:pPr algn="l" fontAlgn="ct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lgn="l" fontAlgn="ctr"/>
                      <a:r>
                        <a:rPr lang="ru-RU" sz="700" u="none" strike="noStrike" dirty="0">
                          <a:solidFill>
                            <a:schemeClr val="tx1"/>
                          </a:solidFill>
                          <a:effectLst/>
                          <a:latin typeface="+mn-lt"/>
                        </a:rPr>
                        <a:t xml:space="preserve">Internal / Legal / Regulatory</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 xml:space="preserve">Results of PD risk management regularly</a:t>
                      </a:r>
                      <a:r>
                        <a:rPr lang="ru-RU" sz="700" u="none" strike="noStrike" baseline="0" dirty="0" smtClean="0">
                          <a:solidFill>
                            <a:schemeClr val="tx1"/>
                          </a:solidFill>
                          <a:effectLst/>
                          <a:latin typeface="+mn-lt"/>
                        </a:rPr>
                        <a:t/>
                      </a:r>
                      <a:endParaRPr lang="en-US" sz="700" u="none" strike="noStrike" baseline="0" dirty="0" smtClean="0">
                        <a:solidFill>
                          <a:schemeClr val="tx1"/>
                        </a:solidFill>
                        <a:effectLst/>
                        <a:latin typeface="+mn-lt"/>
                      </a:endParaRPr>
                    </a:p>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smtClean="0">
                          <a:solidFill>
                            <a:schemeClr val="tx1"/>
                          </a:solidFill>
                          <a:effectLst/>
                          <a:latin typeface="+mn-lt"/>
                        </a:rPr>
                        <a:t xml:space="preserve">provided to management as part of compliance reporting</a:t>
                      </a:r>
                      <a:endParaRPr lang="en-US" sz="700" u="none" strike="noStrike" baseline="0"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kern="1200" baseline="0" dirty="0" smtClean="0">
                          <a:solidFill>
                            <a:schemeClr val="tx1"/>
                          </a:solidFill>
                          <a:latin typeface="+mn-lt"/>
                          <a:ea typeface="+mn-ea"/>
                          <a:cs typeface="+mn-cs"/>
                        </a:rPr>
                        <a:t xml:space="preserve">Generate and provide results of PD risk management (quarterly, as part of Compliance reporting):</a:t>
                      </a:r>
                      <a:r>
                        <a:rPr lang="ru-RU" sz="700" kern="1200" baseline="0" dirty="0">
                          <a:solidFill>
                            <a:schemeClr val="tx1"/>
                          </a:solidFill>
                          <a:latin typeface="+mn-lt"/>
                          <a:ea typeface="+mn-ea"/>
                          <a:cs typeface="+mn-cs"/>
                        </a:rPr>
                        <a:t/>
                      </a:r>
                      <a:r>
                        <a:rPr lang="ru-RU" sz="700" kern="1200" baseline="0" dirty="0" smtClean="0">
                          <a:solidFill>
                            <a:schemeClr val="tx1"/>
                          </a:solidFill>
                          <a:latin typeface="+mn-lt"/>
                          <a:ea typeface="+mn-ea"/>
                          <a:cs typeface="+mn-cs"/>
                        </a:rPr>
                        <a:t/>
                      </a:r>
                      <a:r>
                        <a:rPr lang="en-US" sz="700" kern="1200" baseline="0" dirty="0" smtClean="0">
                          <a:solidFill>
                            <a:schemeClr val="tx1"/>
                          </a:solidFill>
                          <a:latin typeface="+mn-lt"/>
                          <a:ea typeface="+mn-ea"/>
                          <a:cs typeface="+mn-cs"/>
                        </a:rPr>
                        <a:t/>
                      </a:r>
                      <a:endParaRPr lang="ru-RU" sz="700" kern="1200" baseline="0" dirty="0">
                        <a:solidFill>
                          <a:schemeClr val="tx1"/>
                        </a:solidFill>
                        <a:latin typeface="+mn-lt"/>
                        <a:ea typeface="+mn-ea"/>
                        <a:cs typeface="+mn-cs"/>
                      </a:endParaRPr>
                    </a:p>
                    <a:p>
                      <a:pPr marL="171450" marR="0" lvl="0" indent="-171450" algn="l" defTabSz="583170" rtl="0" eaLnBrk="1" fontAlgn="t" latinLnBrk="0" hangingPunct="1">
                        <a:lnSpc>
                          <a:spcPct val="100000"/>
                        </a:lnSpc>
                        <a:spcBef>
                          <a:spcPts val="0"/>
                        </a:spcBef>
                        <a:spcAft>
                          <a:spcPts val="0"/>
                        </a:spcAft>
                        <a:buClrTx/>
                        <a:buSzTx/>
                        <a:buFont typeface="Arial" panose="020B0604020202020204" pitchFamily="34" charset="0"/>
                        <a:buChar char="•"/>
                        <a:tabLst/>
                        <a:defRPr/>
                      </a:pPr>
                      <a:r>
                        <a:rPr lang="ru-RU" sz="700" kern="1200" baseline="0" dirty="0" smtClean="0">
                          <a:solidFill>
                            <a:schemeClr val="tx1"/>
                          </a:solidFill>
                          <a:latin typeface="+mn-lt"/>
                          <a:ea typeface="+mn-ea"/>
                          <a:cs typeface="+mn-cs"/>
                        </a:rPr>
                        <a:t xml:space="preserve">Compliance dashboard for Perimeter CEO</a:t>
                      </a:r>
                      <a:r>
                        <a:rPr lang="ru-RU"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p>
                    <a:p>
                      <a:pPr marL="171450" marR="0" lvl="0" indent="-171450" algn="l" defTabSz="583170" rtl="0" eaLnBrk="1" fontAlgn="t" latinLnBrk="0" hangingPunct="1">
                        <a:lnSpc>
                          <a:spcPct val="100000"/>
                        </a:lnSpc>
                        <a:spcBef>
                          <a:spcPts val="0"/>
                        </a:spcBef>
                        <a:spcAft>
                          <a:spcPts val="0"/>
                        </a:spcAft>
                        <a:buClrTx/>
                        <a:buSzTx/>
                        <a:buFont typeface="Arial" panose="020B0604020202020204" pitchFamily="34" charset="0"/>
                        <a:buChar char="•"/>
                        <a:tabLst/>
                        <a:defRPr/>
                      </a:pPr>
                      <a:r>
                        <a:rPr lang="ru-RU" sz="700" u="none" strike="noStrike" baseline="0" dirty="0" smtClean="0">
                          <a:solidFill>
                            <a:schemeClr val="tx1"/>
                          </a:solidFill>
                          <a:effectLst/>
                          <a:latin typeface="+mn-lt"/>
                        </a:rPr>
                        <a:t xml:space="preserve">Compliance dashboards for Heads of 5 Divisions, CEO of TG, CEO of MCE</a:t>
                      </a:r>
                      <a:endParaRPr lang="en-US" sz="700" u="none" strike="noStrike" baseline="0" dirty="0" smtClean="0">
                        <a:solidFill>
                          <a:schemeClr val="tx1"/>
                        </a:solidFill>
                        <a:effectLst/>
                        <a:latin typeface="+mn-lt"/>
                      </a:endParaRPr>
                    </a:p>
                    <a:p>
                      <a:pPr marL="171450" marR="0" lvl="0" indent="-171450" algn="l" defTabSz="583170" rtl="0" eaLnBrk="1" fontAlgn="t" latinLnBrk="0" hangingPunct="1">
                        <a:lnSpc>
                          <a:spcPct val="100000"/>
                        </a:lnSpc>
                        <a:spcBef>
                          <a:spcPts val="0"/>
                        </a:spcBef>
                        <a:spcAft>
                          <a:spcPts val="0"/>
                        </a:spcAft>
                        <a:buClrTx/>
                        <a:buSzTx/>
                        <a:buFont typeface="Arial" panose="020B0604020202020204" pitchFamily="34" charset="0"/>
                        <a:buChar char="•"/>
                        <a:tabLst/>
                        <a:defRPr/>
                      </a:pPr>
                      <a:r>
                        <a:rPr lang="ru-RU" sz="700" kern="1200" baseline="0" dirty="0" smtClean="0">
                          <a:solidFill>
                            <a:schemeClr val="tx1"/>
                          </a:solidFill>
                          <a:latin typeface="+mn-lt"/>
                          <a:ea typeface="+mn-ea"/>
                          <a:cs typeface="+mn-cs"/>
                        </a:rPr>
                        <a:t xml:space="preserve">Perimeter compliance report for the ERG Compliance Committee</a:t>
                      </a:r>
                      <a:r>
                        <a:rPr lang="ru-RU" sz="700" kern="1200" baseline="0" dirty="0">
                          <a:solidFill>
                            <a:schemeClr val="tx1"/>
                          </a:solidFill>
                          <a:latin typeface="+mn-lt"/>
                          <a:ea typeface="+mn-ea"/>
                          <a:cs typeface="+mn-cs"/>
                        </a:rPr>
                        <a:t/>
                      </a:r>
                      <a:r>
                        <a:rPr lang="en-US" sz="700" kern="1200" baseline="0" dirty="0">
                          <a:solidFill>
                            <a:schemeClr val="tx1"/>
                          </a:solidFill>
                          <a:latin typeface="+mn-lt"/>
                          <a:ea typeface="+mn-ea"/>
                          <a:cs typeface="+mn-cs"/>
                        </a:rPr>
                        <a:t/>
                      </a:r>
                      <a:endParaRPr lang="ru-RU" sz="700" kern="1200" baseline="0" dirty="0">
                        <a:solidFill>
                          <a:schemeClr val="tx1"/>
                        </a:solidFill>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90488" indent="-90488" algn="l" defTabSz="583170" rtl="0" eaLnBrk="1" fontAlgn="ctr" latinLnBrk="0" hangingPunct="1">
                        <a:buClr>
                          <a:schemeClr val="accent5">
                            <a:lumMod val="75000"/>
                            <a:lumOff val="25000"/>
                          </a:schemeClr>
                        </a:buClr>
                        <a:buFont typeface="Arial" panose="020B0604020202020204" pitchFamily="34" charset="0"/>
                        <a:buChar char="•"/>
                      </a:pPr>
                      <a:r>
                        <a:rPr lang="ru-RU" sz="700" u="none" strike="noStrike" kern="1200" dirty="0" smtClean="0">
                          <a:solidFill>
                            <a:schemeClr val="tx1"/>
                          </a:solidFill>
                          <a:effectLst/>
                          <a:latin typeface="+mn-lt"/>
                          <a:ea typeface="+mn-ea"/>
                          <a:cs typeface="+mn-cs"/>
                        </a:rPr>
                        <a:t xml:space="preserve">Personal Data Protection Manager</a:t>
                      </a:r>
                      <a:r>
                        <a:rPr lang="ru-RU" sz="700" u="none" strike="noStrike" kern="1200" dirty="0">
                          <a:solidFill>
                            <a:schemeClr val="tx1"/>
                          </a:solidFill>
                          <a:effectLst/>
                          <a:latin typeface="+mn-lt"/>
                          <a:ea typeface="+mn-ea"/>
                          <a:cs typeface="+mn-cs"/>
                        </a:rPr>
                        <a:t/>
                      </a:r>
                      <a:r>
                        <a:rPr lang="ru-RU" sz="700" u="none" strike="noStrike" kern="1200" dirty="0" smtClean="0">
                          <a:solidFill>
                            <a:schemeClr val="tx1"/>
                          </a:solidFill>
                          <a:effectLst/>
                          <a:latin typeface="+mn-lt"/>
                          <a:ea typeface="+mn-ea"/>
                          <a:cs typeface="+mn-cs"/>
                        </a:rPr>
                        <a:t/>
                      </a:r>
                      <a:endParaRPr lang="ru-RU" sz="700" u="none" strike="noStrike" kern="1200" dirty="0">
                        <a:solidFill>
                          <a:schemeClr val="tx1"/>
                        </a:solidFill>
                        <a:effectLst/>
                        <a:latin typeface="+mn-lt"/>
                        <a:ea typeface="+mn-ea"/>
                        <a:cs typeface="+mn-cs"/>
                      </a:endParaRPr>
                    </a:p>
                    <a:p>
                      <a:pPr marL="90488" marR="0" lvl="0" indent="-90488" algn="l" defTabSz="583170" rtl="0" eaLnBrk="1" fontAlgn="ctr" latinLnBrk="0" hangingPunct="1">
                        <a:lnSpc>
                          <a:spcPct val="100000"/>
                        </a:lnSpc>
                        <a:spcBef>
                          <a:spcPts val="0"/>
                        </a:spcBef>
                        <a:spcAft>
                          <a:spcPts val="0"/>
                        </a:spcAft>
                        <a:buClr>
                          <a:schemeClr val="accent5">
                            <a:lumMod val="75000"/>
                            <a:lumOff val="25000"/>
                          </a:schemeClr>
                        </a:buClr>
                        <a:buSzTx/>
                        <a:buFont typeface="Arial" panose="020B0604020202020204" pitchFamily="34" charset="0"/>
                        <a:buChar char="•"/>
                        <a:tabLst/>
                        <a:defRPr/>
                      </a:pPr>
                      <a:r>
                        <a:rPr lang="ru-RU" sz="700" u="none" strike="noStrike" dirty="0" smtClean="0">
                          <a:solidFill>
                            <a:schemeClr val="tx1"/>
                          </a:solidFill>
                          <a:effectLst/>
                          <a:latin typeface="+mn-lt"/>
                        </a:rPr>
                        <a:t xml:space="preserve">Participation: Healthcare Compliance Manager (for the Healthcare business sector), Head of Compliance Risks and Controls, Head of CCP and CSR, Process Owners</a:t>
                      </a:r>
                      <a:r>
                        <a:rPr lang="en-US" sz="700" u="none" strike="noStrike" dirty="0" smtClean="0">
                          <a:solidFill>
                            <a:schemeClr val="tx1"/>
                          </a:solidFill>
                          <a:effectLst/>
                          <a:latin typeface="+mn-lt"/>
                        </a:rPr>
                        <a:t/>
                      </a:r>
                      <a:r>
                        <a:rPr lang="ru-RU" sz="700" u="none" strike="noStrike" dirty="0" smtClean="0">
                          <a:solidFill>
                            <a:schemeClr val="tx1"/>
                          </a:solidFill>
                          <a:effectLst/>
                          <a:latin typeface="+mn-lt"/>
                        </a:rPr>
                        <a:t/>
                      </a:r>
                      <a:r>
                        <a:rPr lang="en-US"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r>
                        <a:rPr lang="ru-RU" sz="700" u="none" strike="noStrike" kern="1200" baseline="0" dirty="0" smtClean="0">
                          <a:solidFill>
                            <a:schemeClr val="tx1"/>
                          </a:solidFill>
                          <a:effectLst/>
                          <a:latin typeface="+mn-lt"/>
                          <a:ea typeface="+mn-ea"/>
                          <a:cs typeface="+mn-cs"/>
                        </a:rPr>
                        <a:t/>
                      </a:r>
                      <a:r>
                        <a:rPr lang="ru-RU" sz="700" u="none" strike="noStrike" kern="1200" dirty="0" smtClean="0">
                          <a:solidFill>
                            <a:schemeClr val="tx1"/>
                          </a:solidFill>
                          <a:effectLst/>
                          <a:latin typeface="+mn-lt"/>
                          <a:ea typeface="+mn-ea"/>
                          <a:cs typeface="+mn-cs"/>
                        </a:rPr>
                        <a:t/>
                      </a:r>
                      <a:endParaRPr lang="ru-RU" sz="700"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700" b="0" i="0" u="none" strike="noStrike" dirty="0">
                          <a:solidFill>
                            <a:schemeClr val="tx1"/>
                          </a:solidFill>
                          <a:effectLst/>
                          <a:latin typeface="+mn-lt"/>
                        </a:rPr>
                        <a:t>x</a:t>
                      </a: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700" b="0" i="0" u="none" strike="noStrike" dirty="0" smtClean="0">
                          <a:solidFill>
                            <a:schemeClr val="tx1"/>
                          </a:solidFill>
                          <a:effectLst/>
                          <a:latin typeface="+mn-lt"/>
                        </a:rPr>
                        <a:t xml:space="preserve">Performed on a regular basis.</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6092550"/>
                  </a:ext>
                </a:extLst>
              </a:tr>
              <a:tr h="237871">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0" u="none" strike="noStrike" dirty="0" smtClean="0">
                          <a:solidFill>
                            <a:schemeClr val="tx1"/>
                          </a:solidFill>
                          <a:effectLst/>
                          <a:latin typeface="+mn-lt"/>
                        </a:rPr>
                        <a:t xml:space="preserve">The Group DPO is informed in cases provided for in the Group Procedures</a:t>
                      </a:r>
                      <a:r>
                        <a:rPr lang="ru-RU" sz="700" b="0" i="0" u="none" strike="noStrike" dirty="0">
                          <a:solidFill>
                            <a:schemeClr val="tx1"/>
                          </a:solidFill>
                          <a:effectLst/>
                          <a:latin typeface="+mn-lt"/>
                        </a:rPr>
                        <a:t/>
                      </a:r>
                      <a:r>
                        <a:rPr lang="ru-RU" sz="700" b="0" i="0" u="none" strike="noStrike" dirty="0" smtClean="0">
                          <a:solidFill>
                            <a:schemeClr val="tx1"/>
                          </a:solidFill>
                          <a:effectLst/>
                          <a:latin typeface="+mn-lt"/>
                        </a:rPr>
                        <a:t/>
                      </a:r>
                      <a:r>
                        <a:rPr lang="ru-RU" sz="700" b="0" i="0" u="none" strike="noStrike" dirty="0">
                          <a:solidFill>
                            <a:schemeClr val="tx1"/>
                          </a:solidFill>
                          <a:effectLst/>
                          <a:latin typeface="+mn-lt"/>
                        </a:rPr>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latin typeface="+mn-lt"/>
                        </a:rPr>
                        <a:t xml:space="preserve">Inform the Group DPO about incidents / violations of PD security in cases provided for by the Group Procedures in the field of PD</a:t>
                      </a:r>
                      <a:r>
                        <a:rPr lang="ru-RU" sz="700" baseline="0" dirty="0" smtClean="0">
                          <a:latin typeface="+mn-lt"/>
                        </a:rPr>
                        <a:t/>
                      </a:r>
                      <a:r>
                        <a:rPr lang="en-US" sz="700" baseline="0" dirty="0" smtClean="0">
                          <a:latin typeface="+mn-lt"/>
                        </a:rPr>
                        <a:t/>
                      </a:r>
                      <a:r>
                        <a:rPr lang="ru-RU" sz="700" dirty="0">
                          <a:latin typeface="+mn-lt"/>
                        </a:rPr>
                        <a:t/>
                      </a:r>
                      <a:r>
                        <a:rPr lang="en-US" sz="700" dirty="0">
                          <a:latin typeface="+mn-lt"/>
                        </a:rPr>
                        <a:t/>
                      </a:r>
                      <a:r>
                        <a:rPr lang="ru-RU" sz="700" dirty="0" smtClean="0">
                          <a:latin typeface="+mn-lt"/>
                        </a:rPr>
                        <a:t/>
                      </a:r>
                      <a:r>
                        <a:rPr lang="ru-RU" sz="700" dirty="0">
                          <a:latin typeface="+mn-lt"/>
                        </a:rPr>
                        <a:t/>
                      </a:r>
                      <a:r>
                        <a:rPr lang="ru-RU" sz="700" dirty="0" smtClean="0">
                          <a:latin typeface="+mn-lt"/>
                        </a:rPr>
                        <a:t/>
                      </a:r>
                      <a:endParaRPr lang="ru-RU" sz="700" dirty="0">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4">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 xml:space="preserve">if necessary</a:t>
                      </a: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 xml:space="preserve">In 2025, no incidents were identified that required notification to the Group’s DPO in accordance with the rules of the Group’s PD Procedures.</a:t>
                      </a:r>
                      <a:r>
                        <a:rPr lang="ru-RU" sz="700" dirty="0" smtClean="0">
                          <a:latin typeface="+mn-lt"/>
                        </a:rPr>
                        <a:t/>
                      </a:r>
                      <a:r>
                        <a:rPr lang="ru-RU" sz="700" baseline="0" dirty="0" smtClean="0">
                          <a:latin typeface="+mn-lt"/>
                        </a:rPr>
                        <a:t/>
                      </a:r>
                      <a:r>
                        <a:rPr lang="ru-RU" sz="700" dirty="0" smtClean="0">
                          <a:latin typeface="+mn-lt"/>
                        </a:rPr>
                        <a:t/>
                      </a:r>
                    </a:p>
                    <a:p>
                      <a:pPr marL="0" marR="0" lvl="0" indent="0" algn="l" defTabSz="583170" rtl="0" eaLnBrk="1" fontAlgn="b"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5845622"/>
                  </a:ext>
                </a:extLst>
              </a:tr>
              <a:tr h="337245">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en-US" sz="700" b="0" i="0" u="none" strike="noStrike" baseline="0" dirty="0">
                          <a:solidFill>
                            <a:schemeClr val="tx1"/>
                          </a:solidFill>
                          <a:effectLst/>
                          <a:latin typeface="+mn-lt"/>
                        </a:rPr>
                        <a:t xml:space="preserve">The relevant regulatory authorities are informed in cases provided for by applicable legislation in the field of personal data.</a:t>
                      </a:r>
                      <a:r>
                        <a:rPr lang="ru-RU" sz="700" b="0" i="0" u="none" strike="noStrike" baseline="0" dirty="0">
                          <a:solidFill>
                            <a:schemeClr val="tx1"/>
                          </a:solidFill>
                          <a:effectLst/>
                          <a:latin typeface="+mn-lt"/>
                        </a:rPr>
                        <a:t/>
                      </a:r>
                      <a:r>
                        <a:rPr lang="ru-RU" sz="700" b="0" i="0" u="none" strike="noStrike" baseline="0" dirty="0" smtClean="0">
                          <a:solidFill>
                            <a:schemeClr val="tx1"/>
                          </a:solidFill>
                          <a:effectLst/>
                          <a:latin typeface="+mn-lt"/>
                        </a:rPr>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latin typeface="+mn-lt"/>
                        </a:rPr>
                        <a:t xml:space="preserve">Inform regulatory authorities about incidents / violations of personal data security in cases provided for by applicable legislation in the field of personal data</a:t>
                      </a:r>
                      <a:r>
                        <a:rPr lang="ru-RU" sz="700" b="0" i="0" u="none" strike="noStrike" baseline="0" dirty="0">
                          <a:solidFill>
                            <a:schemeClr val="tx1"/>
                          </a:solidFill>
                          <a:effectLst/>
                          <a:latin typeface="+mn-lt"/>
                        </a:rPr>
                        <a:t/>
                      </a:r>
                      <a:r>
                        <a:rPr lang="ru-RU" sz="700" dirty="0">
                          <a:latin typeface="+mn-lt"/>
                        </a:rPr>
                        <a:t/>
                      </a:r>
                      <a:r>
                        <a:rPr lang="ru-RU" sz="700" dirty="0" smtClean="0">
                          <a:latin typeface="+mn-lt"/>
                        </a:rPr>
                        <a:t/>
                      </a:r>
                      <a:r>
                        <a:rPr lang="ru-RU" sz="700" baseline="0" dirty="0" smtClean="0">
                          <a:latin typeface="+mn-lt"/>
                        </a:rPr>
                        <a:t/>
                      </a:r>
                      <a:r>
                        <a:rPr lang="ru-RU" sz="700" dirty="0" smtClean="0">
                          <a:latin typeface="+mn-lt"/>
                        </a:rPr>
                        <a:t/>
                      </a:r>
                      <a:r>
                        <a:rPr lang="en-US" sz="700" dirty="0" smtClean="0">
                          <a:latin typeface="+mn-lt"/>
                        </a:rPr>
                        <a:t/>
                      </a:r>
                      <a:r>
                        <a:rPr lang="en-US" sz="700" dirty="0">
                          <a:latin typeface="+mn-lt"/>
                        </a:rPr>
                        <a:t/>
                      </a:r>
                      <a:r>
                        <a:rPr lang="ru-RU" sz="700" dirty="0">
                          <a:latin typeface="+mn-lt"/>
                        </a:rPr>
                        <a:t/>
                      </a:r>
                      <a:r>
                        <a:rPr lang="ru-RU" sz="700" dirty="0" smtClean="0">
                          <a:latin typeface="+mn-lt"/>
                        </a:rPr>
                        <a:t/>
                      </a:r>
                      <a:r>
                        <a:rPr lang="ru-RU" sz="700" baseline="0" dirty="0" smtClean="0">
                          <a:latin typeface="+mn-lt"/>
                        </a:rPr>
                        <a:t/>
                      </a:r>
                      <a:r>
                        <a:rPr lang="ru-RU" sz="700" dirty="0" smtClean="0">
                          <a:latin typeface="+mn-lt"/>
                        </a:rPr>
                        <a:t/>
                      </a:r>
                      <a:r>
                        <a:rPr lang="ru-RU" sz="700" dirty="0">
                          <a:latin typeface="+mn-lt"/>
                        </a:rPr>
                        <a:t/>
                      </a:r>
                      <a:r>
                        <a:rPr lang="ru-RU" sz="700" dirty="0" smtClean="0">
                          <a:latin typeface="+mn-lt"/>
                        </a:rPr>
                        <a:t/>
                      </a:r>
                      <a:r>
                        <a:rPr lang="ru-RU" sz="700" b="0" i="0" u="none" strike="noStrike" baseline="0" dirty="0" smtClean="0">
                          <a:solidFill>
                            <a:schemeClr val="tx1"/>
                          </a:solidFill>
                          <a:effectLst/>
                          <a:latin typeface="+mn-lt"/>
                        </a:rPr>
                        <a:t/>
                      </a:r>
                      <a:endParaRPr lang="en-US" sz="700" b="0" i="0" u="none" strike="noStrike" dirty="0" smtClean="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gridSpan="4">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 xml:space="preserve">if necessary</a:t>
                      </a: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rgbClr val="32373C"/>
                          </a:solidFill>
                          <a:effectLst/>
                          <a:uLnTx/>
                          <a:uFillTx/>
                          <a:latin typeface="+mn-lt"/>
                          <a:ea typeface="+mn-ea"/>
                          <a:cs typeface="+mn-cs"/>
                        </a:rPr>
                        <a:t xml:space="preserve">In 2025, no incidents were identified that required notification to regulatory authorities in accordance with the requirements of applicable legislation in the field of personal data.</a:t>
                      </a:r>
                      <a:r>
                        <a:rPr lang="ru-RU" sz="700" b="0" i="0" u="none" strike="noStrike" baseline="0" dirty="0" smtClean="0">
                          <a:solidFill>
                            <a:schemeClr val="tx1"/>
                          </a:solidFill>
                          <a:effectLst/>
                          <a:latin typeface="+mn-lt"/>
                        </a:rPr>
                        <a:t/>
                      </a:r>
                      <a:r>
                        <a:rPr lang="ru-RU" sz="700" dirty="0" smtClean="0">
                          <a:latin typeface="+mn-lt"/>
                        </a:rPr>
                        <a:t/>
                      </a:r>
                      <a:r>
                        <a:rPr lang="ru-RU" sz="700" b="0" i="0" u="none" strike="noStrike" baseline="0" dirty="0" smtClean="0">
                          <a:solidFill>
                            <a:schemeClr val="tx1"/>
                          </a:solidFill>
                          <a:effectLst/>
                          <a:latin typeface="+mn-lt"/>
                        </a:rPr>
                        <a:t/>
                      </a:r>
                      <a:endParaRPr lang="en-US" sz="700" b="0" i="0" u="none" strike="noStrike" dirty="0" smtClean="0">
                        <a:solidFill>
                          <a:schemeClr val="tx1"/>
                        </a:solidFill>
                        <a:effectLst/>
                        <a:latin typeface="+mn-lt"/>
                      </a:endParaRPr>
                    </a:p>
                    <a:p>
                      <a:pPr marL="0" marR="0" lvl="0" indent="0" algn="l" defTabSz="583170" rtl="0" eaLnBrk="1" fontAlgn="b" latinLnBrk="0" hangingPunct="1">
                        <a:lnSpc>
                          <a:spcPct val="100000"/>
                        </a:lnSpc>
                        <a:spcBef>
                          <a:spcPts val="0"/>
                        </a:spcBef>
                        <a:spcAft>
                          <a:spcPts val="0"/>
                        </a:spcAft>
                        <a:buClrTx/>
                        <a:buSzTx/>
                        <a:buFontTx/>
                        <a:buNone/>
                        <a:tabLst/>
                        <a:defRPr/>
                      </a:pPr>
                      <a:endParaRPr lang="ru-RU" sz="700" dirty="0" smtClean="0">
                        <a:latin typeface="+mn-lt"/>
                      </a:endParaRPr>
                    </a:p>
                    <a:p>
                      <a:pPr marL="0" marR="0" lvl="0" indent="0" algn="l" defTabSz="583170" rtl="0" eaLnBrk="1" fontAlgn="b"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32373C"/>
                        </a:solidFill>
                        <a:effectLst/>
                        <a:uLnTx/>
                        <a:uFillTx/>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603417"/>
                  </a:ext>
                </a:extLst>
              </a:tr>
              <a:tr h="337245">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1" u="none" strike="noStrike" kern="1200" dirty="0">
                          <a:solidFill>
                            <a:schemeClr val="tx1"/>
                          </a:solidFill>
                          <a:effectLst/>
                          <a:latin typeface="+mn-lt"/>
                          <a:ea typeface="+mn-ea"/>
                          <a:cs typeface="+mn-cs"/>
                        </a:rPr>
                        <a:t xml:space="preserve">Training and awareness raising</a:t>
                      </a:r>
                      <a:endParaRPr lang="en-US" sz="700" b="1"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u="none" strike="noStrike" kern="1200" dirty="0">
                          <a:solidFill>
                            <a:schemeClr val="tx1"/>
                          </a:solidFill>
                          <a:effectLst/>
                          <a:latin typeface="+mn-lt"/>
                          <a:ea typeface="+mn-ea"/>
                          <a:cs typeface="+mn-cs"/>
                        </a:rPr>
                        <a:t xml:space="preserve">T&amp;A program</a:t>
                      </a:r>
                      <a:r>
                        <a:rPr lang="ru-RU" sz="700" b="0" u="none" strike="noStrike" kern="1200" baseline="0" dirty="0">
                          <a:solidFill>
                            <a:schemeClr val="tx1"/>
                          </a:solidFill>
                          <a:effectLst/>
                          <a:latin typeface="+mn-lt"/>
                          <a:ea typeface="+mn-ea"/>
                          <a:cs typeface="+mn-cs"/>
                        </a:rPr>
                        <a:t/>
                      </a:r>
                      <a:r>
                        <a:rPr lang="en-US" sz="700" b="0" u="none" strike="noStrike" kern="1200" baseline="0" dirty="0" smtClean="0">
                          <a:solidFill>
                            <a:schemeClr val="tx1"/>
                          </a:solidFill>
                          <a:effectLst/>
                          <a:latin typeface="+mn-lt"/>
                          <a:ea typeface="+mn-ea"/>
                          <a:cs typeface="+mn-cs"/>
                        </a:rPr>
                        <a:t/>
                      </a:r>
                      <a:endParaRPr lang="en-US" sz="700" b="0"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ru-RU"/>
                    </a:p>
                  </a:txBody>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 xml:space="preserve">Perimeter employees must be aware of and trained in ERG principles and rules in the field of PD</a:t>
                      </a:r>
                      <a:r>
                        <a:rPr lang="ru-RU" sz="700" b="0" i="0" u="none" strike="noStrike" dirty="0" smtClean="0">
                          <a:solidFill>
                            <a:schemeClr val="tx1"/>
                          </a:solidFill>
                          <a:effectLst/>
                          <a:latin typeface="+mn-lt"/>
                        </a:rPr>
                        <a:t/>
                      </a:r>
                      <a:r>
                        <a:rPr lang="ru-RU" sz="700" b="0" i="0" u="none" strike="noStrike" dirty="0">
                          <a:solidFill>
                            <a:schemeClr val="tx1"/>
                          </a:solidFill>
                          <a:effectLst/>
                          <a:latin typeface="+mn-lt"/>
                        </a:rPr>
                        <a:t/>
                      </a:r>
                      <a:r>
                        <a:rPr lang="en-US" sz="700" b="0" i="0" u="none" strike="noStrike" dirty="0" smtClean="0">
                          <a:solidFill>
                            <a:schemeClr val="tx1"/>
                          </a:solidFill>
                          <a:effectLst/>
                          <a:latin typeface="+mn-lt"/>
                        </a:rPr>
                        <a:t/>
                      </a:r>
                      <a:r>
                        <a:rPr lang="en-US" sz="700" b="0" i="0" u="none" strike="noStrike" baseline="0" dirty="0" smtClean="0">
                          <a:solidFill>
                            <a:schemeClr val="tx1"/>
                          </a:solidFill>
                          <a:effectLst/>
                          <a:latin typeface="+mn-lt"/>
                        </a:rPr>
                        <a:t/>
                      </a:r>
                      <a:r>
                        <a:rPr lang="ru-RU" sz="700" b="0" i="0" u="none" strike="noStrike" dirty="0" smtClean="0">
                          <a:solidFill>
                            <a:schemeClr val="tx1"/>
                          </a:solidFill>
                          <a:effectLst/>
                          <a:latin typeface="+mn-lt"/>
                        </a:rPr>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 xml:space="preserve">Supporting the online course “Personal Data Protection” for employees (IT users), developing compliance communications in the field of personal data and conducting compliance sessions on personal data according to ad-hoc business requests</a:t>
                      </a:r>
                      <a:r>
                        <a:rPr lang="ru-RU" sz="700" b="0" i="0" u="none" strike="noStrike" baseline="0" dirty="0">
                          <a:solidFill>
                            <a:schemeClr val="tx1"/>
                          </a:solidFill>
                          <a:effectLst/>
                          <a:latin typeface="+mn-lt"/>
                        </a:rPr>
                        <a:t/>
                      </a:r>
                      <a:r>
                        <a:rPr lang="ru-RU" sz="700" b="0" i="0" u="none" strike="noStrike" baseline="0" dirty="0" smtClean="0">
                          <a:solidFill>
                            <a:schemeClr val="tx1"/>
                          </a:solidFill>
                          <a:effectLst/>
                          <a:latin typeface="+mn-lt"/>
                        </a:rPr>
                        <a:t/>
                      </a:r>
                      <a:r>
                        <a:rPr lang="ru-RU" sz="700" b="0" i="0" u="none" strike="noStrike" dirty="0" smtClean="0">
                          <a:solidFill>
                            <a:schemeClr val="tx1"/>
                          </a:solidFill>
                          <a:effectLst/>
                          <a:latin typeface="+mn-lt"/>
                        </a:rPr>
                        <a:t/>
                      </a:r>
                      <a:r>
                        <a:rPr lang="ru-RU" sz="700" b="0" i="0" u="none" strike="noStrike" dirty="0">
                          <a:solidFill>
                            <a:schemeClr val="tx1"/>
                          </a:solidFill>
                          <a:effectLst/>
                          <a:latin typeface="+mn-lt"/>
                        </a:rPr>
                        <a:t/>
                      </a:r>
                      <a:r>
                        <a:rPr lang="ru-RU" sz="700" b="0" i="0" u="none" strike="noStrike" dirty="0" smtClean="0">
                          <a:solidFill>
                            <a:schemeClr val="tx1"/>
                          </a:solidFill>
                          <a:effectLst/>
                          <a:latin typeface="+mn-lt"/>
                        </a:rPr>
                        <a:t/>
                      </a:r>
                      <a:r>
                        <a:rPr lang="ru-RU" sz="700" b="0" i="0" u="none" strike="noStrike" baseline="0" dirty="0" smtClean="0">
                          <a:solidFill>
                            <a:schemeClr val="tx1"/>
                          </a:solidFill>
                          <a:effectLst/>
                          <a:latin typeface="+mn-lt"/>
                        </a:rPr>
                        <a:t/>
                      </a:r>
                      <a:r>
                        <a:rPr lang="ru-RU" sz="700" b="0" i="0" u="none" strike="noStrike" dirty="0" smtClean="0">
                          <a:solidFill>
                            <a:schemeClr val="tx1"/>
                          </a:solidFill>
                          <a:effectLst/>
                          <a:latin typeface="+mn-lt"/>
                        </a:rPr>
                        <a:t/>
                      </a:r>
                      <a:r>
                        <a:rPr lang="ru-RU" sz="700" b="0" i="0" u="none" strike="noStrike" dirty="0">
                          <a:solidFill>
                            <a:schemeClr val="tx1"/>
                          </a:solidFill>
                          <a:effectLst/>
                          <a:latin typeface="+mn-lt"/>
                        </a:rPr>
                        <a:t/>
                      </a:r>
                      <a:r>
                        <a:rPr lang="ru-RU" sz="700" b="0" i="0" u="none" strike="noStrike" baseline="0" dirty="0">
                          <a:solidFill>
                            <a:schemeClr val="tx1"/>
                          </a:solidFill>
                          <a:effectLst/>
                          <a:latin typeface="+mn-lt"/>
                        </a:rPr>
                        <a:t/>
                      </a:r>
                      <a:r>
                        <a:rPr lang="ru-RU" sz="700" b="0" i="0" u="none" strike="noStrike" dirty="0">
                          <a:solidFill>
                            <a:schemeClr val="tx1"/>
                          </a:solidFill>
                          <a:effectLst/>
                          <a:latin typeface="+mn-lt"/>
                        </a:rPr>
                        <a:t/>
                      </a:r>
                      <a:r>
                        <a:rPr lang="ru-RU" sz="700" b="0" i="0" u="none" strike="noStrike" dirty="0" smtClean="0">
                          <a:solidFill>
                            <a:schemeClr val="tx1"/>
                          </a:solidFill>
                          <a:effectLst/>
                          <a:latin typeface="+mn-lt"/>
                        </a:rPr>
                        <a:t/>
                      </a:r>
                      <a:r>
                        <a:rPr lang="ru-RU" sz="700" b="0" i="0" u="none" strike="noStrike" baseline="0" dirty="0" smtClean="0">
                          <a:solidFill>
                            <a:schemeClr val="tx1"/>
                          </a:solidFill>
                          <a:effectLst/>
                          <a:latin typeface="+mn-lt"/>
                        </a:rPr>
                        <a:t/>
                      </a:r>
                      <a:r>
                        <a:rPr lang="ru-RU" sz="700" b="0" i="0" u="none" strike="noStrike" dirty="0" smtClean="0">
                          <a:solidFill>
                            <a:schemeClr val="tx1"/>
                          </a:solidFill>
                          <a:effectLst/>
                          <a:latin typeface="+mn-lt"/>
                        </a:rPr>
                        <a:t/>
                      </a:r>
                      <a:r>
                        <a:rPr lang="ru-RU" sz="700" b="0" i="0" u="none" strike="noStrike" baseline="0" dirty="0" smtClean="0">
                          <a:solidFill>
                            <a:schemeClr val="tx1"/>
                          </a:solidFill>
                          <a:effectLst/>
                          <a:latin typeface="+mn-lt"/>
                        </a:rPr>
                        <a:t/>
                      </a:r>
                      <a:r>
                        <a:rPr lang="en-US" sz="700" b="0" i="0" u="none" strike="noStrike" baseline="0" dirty="0" smtClean="0">
                          <a:solidFill>
                            <a:schemeClr val="tx1"/>
                          </a:solidFill>
                          <a:effectLst/>
                          <a:latin typeface="+mn-lt"/>
                        </a:rPr>
                        <a:t/>
                      </a:r>
                      <a:r>
                        <a:rPr lang="ru-RU" sz="700" b="0" i="0" u="none" strike="noStrike" baseline="0" dirty="0" smtClean="0">
                          <a:solidFill>
                            <a:schemeClr val="tx1"/>
                          </a:solidFill>
                          <a:effectLst/>
                          <a:latin typeface="+mn-lt"/>
                        </a:rPr>
                        <a:t/>
                      </a:r>
                      <a:r>
                        <a:rPr lang="ru-RU" sz="700" b="0" i="0" u="none" strike="noStrike" dirty="0" smtClean="0">
                          <a:solidFill>
                            <a:schemeClr val="tx1"/>
                          </a:solidFill>
                          <a:effectLst/>
                          <a:latin typeface="+mn-lt"/>
                        </a:rPr>
                        <a:t/>
                      </a:r>
                      <a:endParaRPr lang="en-US" sz="700" b="0" i="0" u="none" strike="noStrike" dirty="0">
                        <a:solidFill>
                          <a:schemeClr val="tx1"/>
                        </a:solidFill>
                        <a:effectLst/>
                        <a:latin typeface="+mn-lt"/>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0488" indent="-90488" algn="l" defTabSz="583170" rtl="0" eaLnBrk="1" fontAlgn="ctr" latinLnBrk="0" hangingPunct="1">
                        <a:buClr>
                          <a:schemeClr val="accent5">
                            <a:lumMod val="75000"/>
                            <a:lumOff val="25000"/>
                          </a:schemeClr>
                        </a:buClr>
                        <a:buFont typeface="Arial" panose="020B0604020202020204" pitchFamily="34" charset="0"/>
                        <a:buChar char="•"/>
                      </a:pPr>
                      <a:r>
                        <a:rPr lang="ru-RU" sz="700" u="none" strike="noStrike" kern="1200" dirty="0" smtClean="0">
                          <a:solidFill>
                            <a:schemeClr val="tx1"/>
                          </a:solidFill>
                          <a:effectLst/>
                          <a:latin typeface="+mn-lt"/>
                          <a:ea typeface="+mn-ea"/>
                          <a:cs typeface="+mn-cs"/>
                        </a:rPr>
                        <a:t xml:space="preserve">Personal Data Protection Manager</a:t>
                      </a:r>
                      <a:r>
                        <a:rPr lang="ru-RU" sz="700" u="none" strike="noStrike" kern="1200" dirty="0">
                          <a:solidFill>
                            <a:schemeClr val="tx1"/>
                          </a:solidFill>
                          <a:effectLst/>
                          <a:latin typeface="+mn-lt"/>
                          <a:ea typeface="+mn-ea"/>
                          <a:cs typeface="+mn-cs"/>
                        </a:rPr>
                        <a:t/>
                      </a:r>
                      <a:r>
                        <a:rPr lang="ru-RU" sz="700" u="none" strike="noStrike" kern="1200" dirty="0" smtClean="0">
                          <a:solidFill>
                            <a:schemeClr val="tx1"/>
                          </a:solidFill>
                          <a:effectLst/>
                          <a:latin typeface="+mn-lt"/>
                          <a:ea typeface="+mn-ea"/>
                          <a:cs typeface="+mn-cs"/>
                        </a:rPr>
                        <a:t/>
                      </a:r>
                      <a:endParaRPr lang="ru-RU" sz="700" u="none" strike="noStrike" kern="1200" dirty="0">
                        <a:solidFill>
                          <a:schemeClr val="tx1"/>
                        </a:solidFill>
                        <a:effectLst/>
                        <a:latin typeface="+mn-lt"/>
                        <a:ea typeface="+mn-ea"/>
                        <a:cs typeface="+mn-cs"/>
                      </a:endParaRPr>
                    </a:p>
                    <a:p>
                      <a:pPr marL="90488" marR="0" lvl="0" indent="-90488" algn="l" defTabSz="583170" rtl="0" eaLnBrk="1" fontAlgn="ctr" latinLnBrk="0" hangingPunct="1">
                        <a:lnSpc>
                          <a:spcPct val="100000"/>
                        </a:lnSpc>
                        <a:spcBef>
                          <a:spcPts val="0"/>
                        </a:spcBef>
                        <a:spcAft>
                          <a:spcPts val="0"/>
                        </a:spcAft>
                        <a:buClr>
                          <a:schemeClr val="accent5">
                            <a:lumMod val="75000"/>
                            <a:lumOff val="25000"/>
                          </a:schemeClr>
                        </a:buClr>
                        <a:buSzTx/>
                        <a:buFont typeface="Arial" panose="020B0604020202020204" pitchFamily="34" charset="0"/>
                        <a:buChar char="•"/>
                        <a:tabLst/>
                        <a:defRPr/>
                      </a:pPr>
                      <a:r>
                        <a:rPr lang="ru-RU" sz="700" u="none" strike="noStrike" dirty="0" smtClean="0">
                          <a:solidFill>
                            <a:schemeClr val="tx1"/>
                          </a:solidFill>
                          <a:effectLst/>
                          <a:latin typeface="+mn-lt"/>
                        </a:rPr>
                        <a:t xml:space="preserve">Participation: Healthcare Compliance Manager (as acting expert on compliance training and communications)</a:t>
                      </a:r>
                      <a:r>
                        <a:rPr lang="ru-RU" sz="700" u="none" strike="noStrike" baseline="0" dirty="0" smtClean="0">
                          <a:solidFill>
                            <a:schemeClr val="tx1"/>
                          </a:solidFill>
                          <a:effectLst/>
                          <a:latin typeface="+mn-lt"/>
                        </a:rPr>
                        <a:t/>
                      </a:r>
                      <a:r>
                        <a:rPr lang="ru-RU" sz="700" u="none" strike="noStrike" dirty="0" smtClean="0">
                          <a:solidFill>
                            <a:schemeClr val="tx1"/>
                          </a:solidFill>
                          <a:effectLst/>
                          <a:latin typeface="+mn-lt"/>
                        </a:rPr>
                        <a:t/>
                      </a:r>
                      <a:r>
                        <a:rPr lang="ru-RU" sz="700" u="none" strike="noStrike" baseline="0" dirty="0" smtClean="0">
                          <a:solidFill>
                            <a:schemeClr val="tx1"/>
                          </a:solidFill>
                          <a:effectLst/>
                          <a:latin typeface="+mn-lt"/>
                        </a:rPr>
                        <a:t/>
                      </a:r>
                      <a:endParaRPr lang="ru-RU" sz="700" u="none" strike="noStrike" kern="1200" dirty="0">
                        <a:solidFill>
                          <a:schemeClr val="tx1"/>
                        </a:solidFill>
                        <a:effectLst/>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t"/>
                      <a:r>
                        <a:rPr lang="ru-RU" sz="700" u="none" strike="noStrike" kern="1200" dirty="0" smtClean="0">
                          <a:solidFill>
                            <a:schemeClr val="dk1"/>
                          </a:solidFill>
                          <a:effectLst/>
                          <a:latin typeface="+mn-lt"/>
                          <a:ea typeface="+mn-ea"/>
                          <a:cs typeface="+mn-cs"/>
                        </a:rPr>
                        <a:t xml:space="preserve">according to T&amp;A Program / ad-hoc requests</a:t>
                      </a:r>
                      <a:r>
                        <a:rPr lang="en-US" sz="700" u="none" strike="noStrike" kern="1200" dirty="0" smtClean="0">
                          <a:solidFill>
                            <a:schemeClr val="dk1"/>
                          </a:solidFill>
                          <a:effectLst/>
                          <a:latin typeface="+mn-lt"/>
                          <a:ea typeface="+mn-ea"/>
                          <a:cs typeface="+mn-cs"/>
                        </a:rPr>
                        <a:t/>
                      </a:r>
                      <a:r>
                        <a:rPr lang="en-US" sz="700" u="none" strike="noStrike" kern="1200" dirty="0">
                          <a:solidFill>
                            <a:schemeClr val="dk1"/>
                          </a:solidFill>
                          <a:effectLst/>
                          <a:latin typeface="+mn-lt"/>
                          <a:ea typeface="+mn-ea"/>
                          <a:cs typeface="+mn-cs"/>
                        </a:rPr>
                        <a:t/>
                      </a:r>
                      <a:r>
                        <a:rPr lang="ru-RU" sz="700" u="none" strike="noStrike" kern="1200" dirty="0" smtClean="0">
                          <a:solidFill>
                            <a:schemeClr val="dk1"/>
                          </a:solidFill>
                          <a:effectLst/>
                          <a:latin typeface="+mn-lt"/>
                          <a:ea typeface="+mn-ea"/>
                          <a:cs typeface="+mn-cs"/>
                        </a:rPr>
                        <a:t/>
                      </a:r>
                      <a:r>
                        <a:rPr lang="en-US" sz="700" u="none" strike="noStrike" kern="1200" dirty="0" smtClean="0">
                          <a:solidFill>
                            <a:schemeClr val="dk1"/>
                          </a:solidFill>
                          <a:effectLst/>
                          <a:latin typeface="+mn-lt"/>
                          <a:ea typeface="+mn-ea"/>
                          <a:cs typeface="+mn-cs"/>
                        </a:rPr>
                        <a:t/>
                      </a:r>
                      <a:r>
                        <a:rPr lang="en-US" sz="700" b="0" i="0" u="none" strike="noStrike" baseline="0" dirty="0" smtClean="0">
                          <a:solidFill>
                            <a:schemeClr val="tx1"/>
                          </a:solidFill>
                          <a:effectLst/>
                          <a:latin typeface="+mn-lt"/>
                        </a:rPr>
                        <a:t/>
                      </a:r>
                      <a:r>
                        <a:rPr lang="ru-RU" sz="700" b="0" i="0" u="none" strike="noStrike" baseline="0" dirty="0" smtClean="0">
                          <a:solidFill>
                            <a:schemeClr val="tx1"/>
                          </a:solidFill>
                          <a:effectLst/>
                          <a:latin typeface="+mn-lt"/>
                        </a:rPr>
                        <a:t/>
                      </a:r>
                      <a:endParaRPr lang="en-US" sz="700" b="0" i="0" u="none" strike="noStrike" kern="1200" dirty="0">
                        <a:solidFill>
                          <a:srgbClr val="000000"/>
                        </a:solidFill>
                        <a:effectLst/>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marL="0" marR="0" lvl="0" indent="0" algn="l" defTabSz="583170" rtl="0" eaLnBrk="1" fontAlgn="t" latinLnBrk="0" hangingPunct="1">
                        <a:lnSpc>
                          <a:spcPct val="100000"/>
                        </a:lnSpc>
                        <a:spcBef>
                          <a:spcPts val="0"/>
                        </a:spcBef>
                        <a:spcAft>
                          <a:spcPts val="0"/>
                        </a:spcAft>
                        <a:buClrTx/>
                        <a:buSzTx/>
                        <a:buFontTx/>
                        <a:buNone/>
                        <a:tabLst/>
                        <a:defRPr/>
                      </a:pPr>
                      <a:r>
                        <a:rPr lang="ru-RU" sz="700" b="0" i="0" u="none" strike="noStrike" dirty="0" smtClean="0">
                          <a:solidFill>
                            <a:schemeClr val="tx1"/>
                          </a:solidFill>
                          <a:effectLst/>
                          <a:latin typeface="+mn-lt"/>
                        </a:rPr>
                        <a:t xml:space="preserve">Online course support is provided on a regular basis.</a:t>
                      </a:r>
                    </a:p>
                    <a:p>
                      <a:pPr marL="0" marR="0" lvl="0" indent="0" algn="l" defTabSz="583170" rtl="0" eaLnBrk="1" fontAlgn="t"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 xml:space="preserve">At a meeting of the strategic RG on information security, face-to-face training was conducted for 20 employees on the topic “Key aspects of regulation within the framework of the draft Law of the Republic of Kazakhstan “On Artificial Intelligence”.</a:t>
                      </a:r>
                    </a:p>
                    <a:p>
                      <a:pPr marL="0" marR="0" lvl="0" indent="0" algn="l" defTabSz="583170" rtl="0" eaLnBrk="1" fontAlgn="t" latinLnBrk="0" hangingPunct="1">
                        <a:lnSpc>
                          <a:spcPct val="100000"/>
                        </a:lnSpc>
                        <a:spcBef>
                          <a:spcPts val="0"/>
                        </a:spcBef>
                        <a:spcAft>
                          <a:spcPts val="0"/>
                        </a:spcAft>
                        <a:buClrTx/>
                        <a:buSzTx/>
                        <a:buFontTx/>
                        <a:buNone/>
                        <a:tabLst/>
                        <a:defRPr/>
                      </a:pPr>
                      <a:endParaRPr lang="en-US" sz="700" b="0" i="0" u="none" strike="noStrike" dirty="0" smtClean="0">
                        <a:solidFill>
                          <a:schemeClr val="tx1"/>
                        </a:solidFill>
                        <a:effectLst/>
                        <a:latin typeface="+mn-lt"/>
                      </a:endParaRPr>
                    </a:p>
                    <a:p>
                      <a:pPr algn="l" fontAlgn="t"/>
                      <a:endParaRPr lang="en-US" sz="700" b="0" i="0" u="none" strike="noStrike" kern="1200" dirty="0">
                        <a:solidFill>
                          <a:srgbClr val="000000"/>
                        </a:solidFill>
                        <a:effectLst/>
                        <a:latin typeface="+mn-lt"/>
                        <a:ea typeface="+mn-ea"/>
                        <a:cs typeface="+mn-cs"/>
                      </a:endParaRPr>
                    </a:p>
                  </a:txBody>
                  <a:tcPr marL="36000" marR="36000" marT="36000" marB="36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2810029"/>
                  </a:ext>
                </a:extLst>
              </a:tr>
            </a:tbl>
          </a:graphicData>
        </a:graphic>
      </p:graphicFrame>
      <p:sp>
        <p:nvSpPr>
          <p:cNvPr id="9" name="Title 8">
            <a:extLst>
              <a:ext uri="{FF2B5EF4-FFF2-40B4-BE49-F238E27FC236}">
                <a16:creationId xmlns:a16="http://schemas.microsoft.com/office/drawing/2014/main" id="{45625ACB-FD17-4EE3-A814-1735AEDFB16E}"/>
              </a:ext>
            </a:extLst>
          </p:cNvPr>
          <p:cNvSpPr>
            <a:spLocks noGrp="1"/>
          </p:cNvSpPr>
          <p:nvPr>
            <p:ph type="title"/>
          </p:nvPr>
        </p:nvSpPr>
        <p:spPr/>
        <p:txBody>
          <a:bodyPr vert="horz"/>
          <a:lstStyle/>
          <a:p>
            <a:r>
              <a:rPr lang="ru-RU" dirty="0"/>
              <a:t xml:space="preserve">Annual compliance program 2025: Perimeter Kazakhstan Implementation status - Compliance program for the protection of personal data</a:t>
            </a:r>
            <a:br>
              <a:rPr lang="ru-RU" dirty="0"/>
            </a:br>
            <a:r>
              <a:rPr lang="ru-RU" dirty="0">
                <a:solidFill>
                  <a:schemeClr val="tx1"/>
                </a:solidFill>
              </a:rPr>
              <a:t/>
            </a:r>
            <a:r>
              <a:rPr lang="ru-RU" dirty="0" smtClean="0">
                <a:solidFill>
                  <a:schemeClr val="tx1"/>
                </a:solidFill>
              </a:rPr>
              <a:t/>
            </a:r>
            <a:r>
              <a:rPr lang="ru-RU" dirty="0">
                <a:solidFill>
                  <a:schemeClr val="tx1"/>
                </a:solidFill>
              </a:rPr>
              <a:t/>
            </a:r>
            <a:r>
              <a:rPr lang="ru-RU" dirty="0" smtClean="0">
                <a:solidFill>
                  <a:schemeClr val="tx1"/>
                </a:solidFill>
              </a:rPr>
              <a:t/>
            </a:r>
            <a:endParaRPr lang="en-US" dirty="0">
              <a:solidFill>
                <a:schemeClr val="tx1"/>
              </a:solidFill>
            </a:endParaRPr>
          </a:p>
        </p:txBody>
      </p:sp>
    </p:spTree>
    <p:extLst>
      <p:ext uri="{BB962C8B-B14F-4D97-AF65-F5344CB8AC3E}">
        <p14:creationId xmlns:p14="http://schemas.microsoft.com/office/powerpoint/2010/main" val="28346304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6EE351A-4F52-4B9F-86B1-5A4F4372B075}"/>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9793"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76EE351A-4F52-4B9F-86B1-5A4F4372B07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69D35-12EB-4434-9232-DC54BC04A09F}"/>
              </a:ext>
            </a:extLst>
          </p:cNvPr>
          <p:cNvSpPr>
            <a:spLocks noGrp="1"/>
          </p:cNvSpPr>
          <p:nvPr>
            <p:ph type="title"/>
          </p:nvPr>
        </p:nvSpPr>
        <p:spPr>
          <a:xfrm>
            <a:off x="317499" y="0"/>
            <a:ext cx="10584209" cy="704850"/>
          </a:xfrm>
        </p:spPr>
        <p:txBody>
          <a:bodyPr vert="horz" rtlCol="0"/>
          <a:lstStyle/>
          <a:p>
            <a:r>
              <a:rPr lang="ru-RU" dirty="0"/>
              <a:t xml:space="preserve">Annual compliance program 2025: Perimeter Kazakhstan Implementation status - Compliance training program</a:t>
            </a:r>
            <a:br>
              <a:rPr lang="ru-RU" dirty="0"/>
            </a:br>
            <a:r>
              <a:rPr lang="ru-RU" dirty="0">
                <a:solidFill>
                  <a:schemeClr val="tx1"/>
                </a:solidFill>
              </a:rPr>
              <a:t/>
            </a:r>
            <a:r>
              <a:rPr lang="ru" dirty="0" smtClean="0">
                <a:solidFill>
                  <a:schemeClr val="tx1"/>
                </a:solidFill>
              </a:rPr>
              <a:t/>
            </a:r>
            <a:endParaRPr lang="ru" dirty="0">
              <a:solidFill>
                <a:schemeClr val="tx1"/>
              </a:solidFill>
            </a:endParaRPr>
          </a:p>
        </p:txBody>
      </p:sp>
      <p:graphicFrame>
        <p:nvGraphicFramePr>
          <p:cNvPr id="6" name="Table 5">
            <a:extLst>
              <a:ext uri="{FF2B5EF4-FFF2-40B4-BE49-F238E27FC236}">
                <a16:creationId xmlns:a16="http://schemas.microsoft.com/office/drawing/2014/main" id="{41E38550-D414-4094-A22F-C70BB79F7442}"/>
              </a:ext>
            </a:extLst>
          </p:cNvPr>
          <p:cNvGraphicFramePr>
            <a:graphicFrameLocks noGrp="1"/>
          </p:cNvGraphicFramePr>
          <p:nvPr>
            <p:extLst>
              <p:ext uri="{D42A27DB-BD31-4B8C-83A1-F6EECF244321}">
                <p14:modId xmlns:p14="http://schemas.microsoft.com/office/powerpoint/2010/main" val="837929748"/>
              </p:ext>
            </p:extLst>
          </p:nvPr>
        </p:nvGraphicFramePr>
        <p:xfrm>
          <a:off x="239596" y="904568"/>
          <a:ext cx="11628000" cy="5556600"/>
        </p:xfrm>
        <a:graphic>
          <a:graphicData uri="http://schemas.openxmlformats.org/drawingml/2006/table">
            <a:tbl>
              <a:tblPr>
                <a:tableStyleId>{5C22544A-7EE6-4342-B048-85BDC9FD1C3A}</a:tableStyleId>
              </a:tblPr>
              <a:tblGrid>
                <a:gridCol w="1296000">
                  <a:extLst>
                    <a:ext uri="{9D8B030D-6E8A-4147-A177-3AD203B41FA5}">
                      <a16:colId xmlns:a16="http://schemas.microsoft.com/office/drawing/2014/main" val="1405931119"/>
                    </a:ext>
                  </a:extLst>
                </a:gridCol>
                <a:gridCol w="1296000">
                  <a:extLst>
                    <a:ext uri="{9D8B030D-6E8A-4147-A177-3AD203B41FA5}">
                      <a16:colId xmlns:a16="http://schemas.microsoft.com/office/drawing/2014/main" val="3697848050"/>
                    </a:ext>
                  </a:extLst>
                </a:gridCol>
                <a:gridCol w="504000">
                  <a:extLst>
                    <a:ext uri="{9D8B030D-6E8A-4147-A177-3AD203B41FA5}">
                      <a16:colId xmlns:a16="http://schemas.microsoft.com/office/drawing/2014/main" val="280189921"/>
                    </a:ext>
                  </a:extLst>
                </a:gridCol>
                <a:gridCol w="468000">
                  <a:extLst>
                    <a:ext uri="{9D8B030D-6E8A-4147-A177-3AD203B41FA5}">
                      <a16:colId xmlns:a16="http://schemas.microsoft.com/office/drawing/2014/main" val="2849685821"/>
                    </a:ext>
                  </a:extLst>
                </a:gridCol>
                <a:gridCol w="1044000">
                  <a:extLst>
                    <a:ext uri="{9D8B030D-6E8A-4147-A177-3AD203B41FA5}">
                      <a16:colId xmlns:a16="http://schemas.microsoft.com/office/drawing/2014/main" val="3602705157"/>
                    </a:ext>
                  </a:extLst>
                </a:gridCol>
                <a:gridCol w="1152000">
                  <a:extLst>
                    <a:ext uri="{9D8B030D-6E8A-4147-A177-3AD203B41FA5}">
                      <a16:colId xmlns:a16="http://schemas.microsoft.com/office/drawing/2014/main" val="770680002"/>
                    </a:ext>
                  </a:extLst>
                </a:gridCol>
                <a:gridCol w="756000">
                  <a:extLst>
                    <a:ext uri="{9D8B030D-6E8A-4147-A177-3AD203B41FA5}">
                      <a16:colId xmlns:a16="http://schemas.microsoft.com/office/drawing/2014/main" val="673600722"/>
                    </a:ext>
                  </a:extLst>
                </a:gridCol>
                <a:gridCol w="288000">
                  <a:extLst>
                    <a:ext uri="{9D8B030D-6E8A-4147-A177-3AD203B41FA5}">
                      <a16:colId xmlns:a16="http://schemas.microsoft.com/office/drawing/2014/main" val="4111977573"/>
                    </a:ext>
                  </a:extLst>
                </a:gridCol>
                <a:gridCol w="288000">
                  <a:extLst>
                    <a:ext uri="{9D8B030D-6E8A-4147-A177-3AD203B41FA5}">
                      <a16:colId xmlns:a16="http://schemas.microsoft.com/office/drawing/2014/main" val="1553107606"/>
                    </a:ext>
                  </a:extLst>
                </a:gridCol>
                <a:gridCol w="288000">
                  <a:extLst>
                    <a:ext uri="{9D8B030D-6E8A-4147-A177-3AD203B41FA5}">
                      <a16:colId xmlns:a16="http://schemas.microsoft.com/office/drawing/2014/main" val="304441070"/>
                    </a:ext>
                  </a:extLst>
                </a:gridCol>
                <a:gridCol w="288000">
                  <a:extLst>
                    <a:ext uri="{9D8B030D-6E8A-4147-A177-3AD203B41FA5}">
                      <a16:colId xmlns:a16="http://schemas.microsoft.com/office/drawing/2014/main" val="3925450415"/>
                    </a:ext>
                  </a:extLst>
                </a:gridCol>
                <a:gridCol w="3960000">
                  <a:extLst>
                    <a:ext uri="{9D8B030D-6E8A-4147-A177-3AD203B41FA5}">
                      <a16:colId xmlns:a16="http://schemas.microsoft.com/office/drawing/2014/main" val="460414649"/>
                    </a:ext>
                  </a:extLst>
                </a:gridCol>
              </a:tblGrid>
              <a:tr h="0">
                <a:tc rowSpan="2">
                  <a:txBody>
                    <a:bodyPr/>
                    <a:lstStyle/>
                    <a:p>
                      <a:pPr algn="l" rtl="0" fontAlgn="ctr"/>
                      <a:r>
                        <a:rPr lang="ru" sz="700" u="none" strike="noStrike" dirty="0">
                          <a:solidFill>
                            <a:schemeClr val="accent5">
                              <a:lumMod val="75000"/>
                              <a:lumOff val="25000"/>
                            </a:schemeClr>
                          </a:solidFill>
                          <a:effectLst/>
                          <a:latin typeface="+mj-lt"/>
                        </a:rPr>
                        <a:t xml:space="preserve">Perimeter target audience</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RU" sz="700" u="none" strike="noStrike" dirty="0">
                          <a:solidFill>
                            <a:schemeClr val="accent5">
                              <a:lumMod val="75000"/>
                              <a:lumOff val="25000"/>
                            </a:schemeClr>
                          </a:solidFill>
                          <a:effectLst/>
                          <a:latin typeface="+mj-lt"/>
                        </a:rPr>
                        <a:t xml:space="preserve">Program/topic of study</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 xml:space="preserve">Training format</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b="0" i="0" u="none" strike="noStrike" dirty="0">
                          <a:solidFill>
                            <a:schemeClr val="accent5">
                              <a:lumMod val="75000"/>
                              <a:lumOff val="25000"/>
                            </a:schemeClr>
                          </a:solidFill>
                          <a:effectLst/>
                          <a:latin typeface="+mj-lt"/>
                        </a:rPr>
                        <a:t xml:space="preserve">Risks</a:t>
                      </a: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 xml:space="preserve">Confirmation</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 xml:space="preserve">Approx.</a:t>
                      </a:r>
                    </a:p>
                    <a:p>
                      <a:pPr algn="l" rtl="0" fontAlgn="ctr"/>
                      <a:r>
                        <a:rPr lang="ru-RU" sz="700" u="none" strike="noStrike" dirty="0">
                          <a:solidFill>
                            <a:schemeClr val="accent5">
                              <a:lumMod val="75000"/>
                              <a:lumOff val="25000"/>
                            </a:schemeClr>
                          </a:solidFill>
                          <a:effectLst/>
                          <a:latin typeface="+mj-lt"/>
                        </a:rPr>
                        <a:t xml:space="preserve">number of employees at the beginning of 2025</a:t>
                      </a:r>
                      <a:r>
                        <a:rPr lang="ru" sz="700" u="none" strike="noStrike" dirty="0">
                          <a:solidFill>
                            <a:schemeClr val="accent5">
                              <a:lumMod val="75000"/>
                              <a:lumOff val="25000"/>
                            </a:schemeClr>
                          </a:solidFill>
                          <a:effectLst/>
                          <a:latin typeface="+mj-lt"/>
                        </a:rPr>
                        <a:t/>
                      </a:r>
                      <a:r>
                        <a:rPr lang="ru" sz="700" u="none" strike="noStrike" dirty="0" smtClean="0">
                          <a:solidFill>
                            <a:schemeClr val="accent5">
                              <a:lumMod val="75000"/>
                              <a:lumOff val="25000"/>
                            </a:schemeClr>
                          </a:solidFill>
                          <a:effectLst/>
                          <a:latin typeface="+mj-lt"/>
                        </a:rPr>
                        <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RU" sz="700" u="none" strike="noStrike" dirty="0">
                          <a:solidFill>
                            <a:schemeClr val="accent5">
                              <a:lumMod val="75000"/>
                              <a:lumOff val="25000"/>
                            </a:schemeClr>
                          </a:solidFill>
                          <a:effectLst/>
                          <a:latin typeface="+mj-lt"/>
                        </a:rPr>
                        <a:t xml:space="preserve">Mandatory training (O)</a:t>
                      </a:r>
                      <a:r>
                        <a:rPr lang="ru" sz="700" u="none" strike="noStrike" dirty="0">
                          <a:solidFill>
                            <a:schemeClr val="accent5">
                              <a:lumMod val="75000"/>
                              <a:lumOff val="25000"/>
                            </a:schemeClr>
                          </a:solidFill>
                          <a:effectLst/>
                          <a:latin typeface="+mj-lt"/>
                        </a:rPr>
                        <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l" rtl="0" fontAlgn="ctr"/>
                      <a:r>
                        <a:rPr lang="ru" sz="700" u="none" strike="noStrike" dirty="0">
                          <a:solidFill>
                            <a:schemeClr val="accent5">
                              <a:lumMod val="75000"/>
                              <a:lumOff val="25000"/>
                            </a:schemeClr>
                          </a:solidFill>
                          <a:effectLst/>
                          <a:latin typeface="+mj-lt"/>
                        </a:rPr>
                        <a:t xml:space="preserve">2025</a:t>
                      </a:r>
                      <a:endParaRPr lang="en-US" sz="700" b="0" i="0" u="none" strike="noStrike" dirty="0">
                        <a:solidFill>
                          <a:schemeClr val="accent5">
                            <a:lumMod val="75000"/>
                            <a:lumOff val="25000"/>
                          </a:schemeClr>
                        </a:solidFill>
                        <a:effectLst/>
                        <a:latin typeface="+mj-lt"/>
                      </a:endParaRPr>
                    </a:p>
                  </a:txBody>
                  <a:tcPr marL="36000" marR="18000" marT="36000" marB="18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 xml:space="preserve">Execution Status</a:t>
                      </a: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0138932"/>
                  </a:ext>
                </a:extLst>
              </a:tr>
              <a:tr h="0">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a:txBody>
                    <a:bodyPr/>
                    <a:lstStyle/>
                    <a:p>
                      <a:pPr algn="l" rtl="0" fontAlgn="ctr"/>
                      <a:r>
                        <a:rPr lang="ru" sz="700" u="none" strike="noStrike" spc="-30" baseline="0" dirty="0">
                          <a:solidFill>
                            <a:schemeClr val="accent5">
                              <a:lumMod val="75000"/>
                              <a:lumOff val="25000"/>
                            </a:schemeClr>
                          </a:solidFill>
                          <a:effectLst/>
                          <a:latin typeface="+mj-lt"/>
                        </a:rPr>
                        <a:t xml:space="preserve">1 sq.</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 xml:space="preserve">2 sq.</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 xml:space="preserve">Q3</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 xml:space="preserve">Q4</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700" b="0" i="0" u="none" strike="noStrike" spc="-30" baseline="0" dirty="0">
                        <a:solidFill>
                          <a:schemeClr val="accent5">
                            <a:lumMod val="75000"/>
                            <a:lumOff val="25000"/>
                          </a:schemeClr>
                        </a:solidFill>
                        <a:effectLst/>
                        <a:latin typeface="+mj-lt"/>
                      </a:endParaRPr>
                    </a:p>
                  </a:txBody>
                  <a:tcPr marL="36000" marR="18000" marT="36000" marB="18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1262013"/>
                  </a:ext>
                </a:extLst>
              </a:tr>
              <a:tr h="0">
                <a:tc>
                  <a:txBody>
                    <a:bodyPr/>
                    <a:lstStyle/>
                    <a:p>
                      <a:pPr algn="l" rtl="0" fontAlgn="ctr"/>
                      <a:r>
                        <a:rPr lang="ru" sz="700" b="1" i="0" u="none" strike="noStrike" dirty="0">
                          <a:solidFill>
                            <a:schemeClr val="tx1"/>
                          </a:solidFill>
                          <a:effectLst/>
                          <a:latin typeface="+mj-lt"/>
                        </a:rPr>
                        <a:t xml:space="preserve">Senior management</a:t>
                      </a:r>
                      <a:r>
                        <a:rPr lang="ru" sz="700" b="1" i="0" u="none" strike="noStrike" baseline="0" dirty="0">
                          <a:solidFill>
                            <a:schemeClr val="tx1"/>
                          </a:solidFill>
                          <a:effectLst/>
                          <a:latin typeface="+mj-lt"/>
                        </a:rPr>
                        <a:t/>
                      </a:r>
                      <a:endParaRPr lang="en-US" sz="700" b="1"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RU" sz="700" b="1" i="0" u="none" strike="noStrike" dirty="0">
                          <a:solidFill>
                            <a:schemeClr val="tx1"/>
                          </a:solidFill>
                          <a:effectLst/>
                          <a:latin typeface="+mj-lt"/>
                        </a:rPr>
                        <a:t xml:space="preserve">Compliance sessions, incl. on request</a:t>
                      </a:r>
                      <a:r>
                        <a:rPr lang="ru-RU" sz="700" b="1" i="0" u="none" strike="noStrike" baseline="0" dirty="0">
                          <a:solidFill>
                            <a:schemeClr val="tx1"/>
                          </a:solidFill>
                          <a:effectLst/>
                          <a:latin typeface="+mj-lt"/>
                        </a:rPr>
                        <a:t/>
                      </a:r>
                      <a:endParaRPr lang="en-US" sz="700" b="1"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ctr"/>
                      <a:r>
                        <a:rPr lang="ru" sz="700" u="none" strike="noStrike">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ctr"/>
                      <a:r>
                        <a:rPr lang="ru" sz="700" u="none" strike="noStrike">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dirty="0">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1292946469"/>
                  </a:ext>
                </a:extLst>
              </a:tr>
              <a:tr h="124640">
                <a:tc>
                  <a:txBody>
                    <a:bodyPr/>
                    <a:lstStyle/>
                    <a:p>
                      <a:pPr algn="l" rtl="0" fontAlgn="ctr"/>
                      <a:r>
                        <a:rPr lang="ru" sz="700" b="0" u="none" strike="noStrike" dirty="0">
                          <a:solidFill>
                            <a:schemeClr val="tx1"/>
                          </a:solidFill>
                          <a:effectLst/>
                          <a:latin typeface="+mj-lt"/>
                        </a:rPr>
                        <a:t xml:space="preserve">CEO of Perimeter</a:t>
                      </a:r>
                      <a:endParaRPr lang="en-US" sz="700" b="1" i="0" u="none" strike="noStrike" dirty="0">
                        <a:solidFill>
                          <a:schemeClr val="tx1"/>
                        </a:solidFill>
                        <a:effectLst/>
                        <a:latin typeface="+mj-lt"/>
                      </a:endParaRP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 sz="700" u="none" strike="noStrike" dirty="0">
                          <a:solidFill>
                            <a:schemeClr val="tx1"/>
                          </a:solidFill>
                          <a:effectLst/>
                          <a:latin typeface="+mj-lt"/>
                        </a:rPr>
                        <a:t xml:space="preserve">Special compliance sessions upon request</a:t>
                      </a:r>
                      <a:endParaRPr lang="en-US" sz="700" b="1" i="0" u="none" strike="noStrike" dirty="0">
                        <a:solidFill>
                          <a:schemeClr val="tx1"/>
                        </a:solidFill>
                        <a:effectLst/>
                        <a:latin typeface="+mj-lt"/>
                      </a:endParaRP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 sz="700" u="none" strike="noStrike" dirty="0">
                          <a:solidFill>
                            <a:schemeClr val="tx1"/>
                          </a:solidFill>
                          <a:effectLst/>
                          <a:latin typeface="+mj-lt"/>
                        </a:rPr>
                        <a:t xml:space="preserve">In person</a:t>
                      </a:r>
                      <a:endParaRPr lang="en-US" sz="700" b="0" i="0" u="none" strike="noStrike" dirty="0">
                        <a:solidFill>
                          <a:schemeClr val="tx1"/>
                        </a:solidFill>
                        <a:effectLst/>
                        <a:latin typeface="+mj-lt"/>
                      </a:endParaRP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 sz="700" b="0" i="0" u="none" strike="noStrike" dirty="0">
                          <a:solidFill>
                            <a:schemeClr val="tx1"/>
                          </a:solidFill>
                          <a:effectLst/>
                          <a:latin typeface="+mj-lt"/>
                        </a:rPr>
                        <a:t xml:space="preserve">All</a:t>
                      </a: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u="none" strike="noStrike" dirty="0">
                          <a:solidFill>
                            <a:schemeClr val="tx1"/>
                          </a:solidFill>
                          <a:effectLst/>
                          <a:latin typeface="+mj-lt"/>
                        </a:rPr>
                        <a:t xml:space="preserve">Record of visits / screenshot of VKS participants</a:t>
                      </a:r>
                      <a:endParaRPr lang="en-US" sz="700" b="0" i="0" u="none" strike="noStrike" dirty="0">
                        <a:solidFill>
                          <a:schemeClr val="tx1"/>
                        </a:solidFill>
                        <a:effectLst/>
                        <a:latin typeface="+mj-lt"/>
                      </a:endParaRP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j-lt"/>
                        </a:rPr>
                        <a:t>1</a:t>
                      </a:r>
                      <a:endParaRPr lang="en-US" sz="700" b="0" i="0" u="none" strike="noStrike" dirty="0">
                        <a:solidFill>
                          <a:schemeClr val="tx1"/>
                        </a:solidFill>
                        <a:effectLst/>
                        <a:latin typeface="+mj-lt"/>
                      </a:endParaRP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u="none" strike="noStrike" dirty="0">
                          <a:solidFill>
                            <a:schemeClr val="accent5">
                              <a:lumMod val="75000"/>
                              <a:lumOff val="25000"/>
                            </a:schemeClr>
                          </a:solidFill>
                          <a:effectLst/>
                          <a:latin typeface="+mj-lt"/>
                        </a:rPr>
                        <a:t xml:space="preserve">Ad hoc</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 xml:space="preserve">Ad hoc</a:t>
                      </a: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ru"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ru"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chemeClr val="tx1"/>
                          </a:solidFill>
                          <a:effectLst/>
                          <a:uLnTx/>
                          <a:uFillTx/>
                          <a:latin typeface="+mj-lt"/>
                          <a:ea typeface="+mn-ea"/>
                          <a:cs typeface="+mn-cs"/>
                        </a:rPr>
                        <a:t xml:space="preserve">There were no requests for special compliance sessions in 2025.</a:t>
                      </a:r>
                    </a:p>
                    <a:p>
                      <a:pPr marL="0" marR="0" lvl="0" indent="0" algn="l" defTabSz="583170" rtl="0" eaLnBrk="1" fontAlgn="ctr" latinLnBrk="0" hangingPunct="1">
                        <a:lnSpc>
                          <a:spcPct val="100000"/>
                        </a:lnSpc>
                        <a:spcBef>
                          <a:spcPts val="0"/>
                        </a:spcBef>
                        <a:spcAft>
                          <a:spcPts val="0"/>
                        </a:spcAft>
                        <a:buClrTx/>
                        <a:buSzTx/>
                        <a:buFontTx/>
                        <a:buNone/>
                        <a:tabLst/>
                        <a:defRPr/>
                      </a:pPr>
                      <a:r>
                        <a:rPr lang="ru-RU" sz="700" kern="1200" dirty="0" smtClean="0">
                          <a:solidFill>
                            <a:schemeClr val="dk1"/>
                          </a:solidFill>
                          <a:latin typeface="+mn-lt"/>
                          <a:ea typeface="+mn-ea"/>
                          <a:cs typeface="+mn-cs"/>
                        </a:rPr>
                        <a:t xml:space="preserve">Regular compliance sessions are held with the Perimeter CEO as part of quarterly compliance reporting, covering discussions of all compliance risks and Perimeter processes.</a:t>
                      </a:r>
                      <a:r>
                        <a:rPr lang="ru-RU" sz="700" kern="1200" baseline="0" dirty="0" smtClean="0">
                          <a:solidFill>
                            <a:schemeClr val="dk1"/>
                          </a:solidFill>
                          <a:latin typeface="+mn-lt"/>
                          <a:ea typeface="+mn-ea"/>
                          <a:cs typeface="+mn-cs"/>
                        </a:rPr>
                        <a:t/>
                      </a:r>
                      <a:r>
                        <a:rPr lang="ru-RU" sz="700" kern="1200" dirty="0" smtClean="0">
                          <a:solidFill>
                            <a:schemeClr val="dk1"/>
                          </a:solidFill>
                          <a:latin typeface="+mn-lt"/>
                          <a:ea typeface="+mn-ea"/>
                          <a:cs typeface="+mn-cs"/>
                        </a:rPr>
                        <a:t/>
                      </a:r>
                      <a:r>
                        <a:rPr lang="ru-RU" sz="700" dirty="0" smtClean="0"/>
                        <a:t/>
                      </a:r>
                      <a:endParaRPr kumimoji="0" lang="en-US" sz="700" b="0" i="0" u="none" strike="noStrike" kern="1200" cap="none" spc="0" normalizeH="0" baseline="0" noProof="0" dirty="0">
                        <a:ln>
                          <a:noFill/>
                        </a:ln>
                        <a:solidFill>
                          <a:schemeClr val="tx1"/>
                        </a:solidFill>
                        <a:effectLst/>
                        <a:uLnTx/>
                        <a:uFillTx/>
                        <a:latin typeface="+mj-lt"/>
                        <a:ea typeface="+mn-ea"/>
                        <a:cs typeface="+mn-cs"/>
                      </a:endParaRPr>
                    </a:p>
                  </a:txBody>
                  <a:tcPr marL="36000" marR="18000" marT="36000" marB="18000">
                    <a:lnL w="12700" cmpd="sng">
                      <a:noFill/>
                    </a:lnL>
                    <a:lnR w="12700" cmpd="sng">
                      <a:noFill/>
                    </a:lnR>
                    <a:lnT w="12700" cmpd="sng">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43227"/>
                  </a:ext>
                </a:extLst>
              </a:tr>
              <a:tr h="201073">
                <a:tc>
                  <a:txBody>
                    <a:bodyPr/>
                    <a:lstStyle/>
                    <a:p>
                      <a:pPr marL="0" algn="l" defTabSz="583170" rtl="0" eaLnBrk="1" fontAlgn="ctr" latinLnBrk="0" hangingPunct="1"/>
                      <a:r>
                        <a:rPr lang="ru-RU" sz="700" b="0" u="none" strike="noStrike" kern="1200" dirty="0">
                          <a:solidFill>
                            <a:schemeClr val="tx1"/>
                          </a:solidFill>
                          <a:effectLst/>
                          <a:latin typeface="+mj-lt"/>
                          <a:ea typeface="+mn-ea"/>
                          <a:cs typeface="+mn-cs"/>
                        </a:rPr>
                        <a:t xml:space="preserve">New N-1 level managers, independent directors of board of directors of enterprises</a:t>
                      </a:r>
                      <a:r>
                        <a:rPr lang="en-US" sz="700" b="0" u="none" strike="noStrike" kern="1200" dirty="0">
                          <a:solidFill>
                            <a:schemeClr val="tx1"/>
                          </a:solidFill>
                          <a:effectLst/>
                          <a:latin typeface="+mj-lt"/>
                          <a:ea typeface="+mn-ea"/>
                          <a:cs typeface="+mn-cs"/>
                        </a:rPr>
                        <a:t/>
                      </a:r>
                      <a:r>
                        <a:rPr lang="ru-RU" sz="700" b="0" u="none" strike="noStrike" kern="1200" dirty="0">
                          <a:solidFill>
                            <a:schemeClr val="tx1"/>
                          </a:solidFill>
                          <a:effectLst/>
                          <a:latin typeface="+mj-lt"/>
                          <a:ea typeface="+mn-ea"/>
                          <a:cs typeface="+mn-cs"/>
                        </a:rPr>
                        <a:t/>
                      </a:r>
                      <a:r>
                        <a:rPr lang="ru-RU" sz="700" b="0" u="none" strike="noStrike" kern="1200" baseline="0" dirty="0">
                          <a:solidFill>
                            <a:schemeClr val="tx1"/>
                          </a:solidFill>
                          <a:effectLst/>
                          <a:latin typeface="+mj-lt"/>
                          <a:ea typeface="+mn-ea"/>
                          <a:cs typeface="+mn-cs"/>
                        </a:rPr>
                        <a:t/>
                      </a:r>
                      <a:endParaRPr lang="en-US" sz="700" b="0" u="none" strike="noStrike" kern="1200" dirty="0">
                        <a:solidFill>
                          <a:schemeClr val="tx1"/>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b" latinLnBrk="0" hangingPunct="1"/>
                      <a:r>
                        <a:rPr lang="ru-RU" sz="700" u="none" strike="noStrike" kern="1200" dirty="0">
                          <a:solidFill>
                            <a:schemeClr val="tx1"/>
                          </a:solidFill>
                          <a:effectLst/>
                          <a:latin typeface="+mj-lt"/>
                          <a:ea typeface="+mn-ea"/>
                          <a:cs typeface="+mn-cs"/>
                        </a:rPr>
                        <a:t xml:space="preserve">Principles of the ERG Code of Corporate Conduct, compliance risk management (introductory course)</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tx1"/>
                          </a:solidFill>
                          <a:effectLst/>
                          <a:latin typeface="+mj-lt"/>
                        </a:rPr>
                        <a:t xml:space="preserve">Full-time/VKS</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RU" sz="700" b="0" i="0" u="none" strike="noStrike" dirty="0">
                          <a:solidFill>
                            <a:schemeClr val="tx1"/>
                          </a:solidFill>
                          <a:effectLst/>
                          <a:latin typeface="+mj-lt"/>
                        </a:rPr>
                        <a:t xml:space="preserve">All</a:t>
                      </a:r>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u="none" strike="noStrike" dirty="0">
                          <a:solidFill>
                            <a:schemeClr val="tx1"/>
                          </a:solidFill>
                          <a:effectLst/>
                          <a:latin typeface="+mj-lt"/>
                        </a:rPr>
                        <a:t xml:space="preserve">Record of visits / screenshot of VKS participants</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mj-lt"/>
                        </a:rPr>
                        <a:t xml:space="preserve">Ad hoc</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lang="ru" sz="700" b="0" i="0" u="none" strike="noStrike" dirty="0">
                          <a:solidFill>
                            <a:schemeClr val="accent5">
                              <a:lumMod val="75000"/>
                              <a:lumOff val="25000"/>
                            </a:schemeClr>
                          </a:solidFill>
                          <a:effectLst/>
                          <a:latin typeface="+mj-lt"/>
                        </a:rPr>
                        <a:t>O</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 xml:space="preserve">Ad hoc</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ru"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ru"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chemeClr val="tx1"/>
                          </a:solidFill>
                          <a:effectLst/>
                          <a:uLnTx/>
                          <a:uFillTx/>
                          <a:latin typeface="+mj-lt"/>
                          <a:ea typeface="+mn-ea"/>
                          <a:cs typeface="+mn-cs"/>
                        </a:rPr>
                        <a:t xml:space="preserve">There were no new managers (hired from outside) in 2025.</a:t>
                      </a:r>
                      <a:endParaRPr kumimoji="0" lang="en-US" sz="700" b="0" i="0" u="none" strike="noStrike" kern="1200" cap="none" spc="0" normalizeH="0" baseline="0" noProof="0" dirty="0">
                        <a:ln>
                          <a:noFill/>
                        </a:ln>
                        <a:solidFill>
                          <a:schemeClr val="tx1"/>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2733244"/>
                  </a:ext>
                </a:extLst>
              </a:tr>
              <a:tr h="0">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b="1" u="none" strike="noStrike" dirty="0">
                          <a:solidFill>
                            <a:schemeClr val="tx1"/>
                          </a:solidFill>
                          <a:effectLst/>
                          <a:latin typeface="+mj-lt"/>
                        </a:rPr>
                        <a:t xml:space="preserve">Target Audience</a:t>
                      </a:r>
                      <a:endParaRPr lang="en-US" sz="700" b="1"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1" i="0" u="none" strike="noStrike" dirty="0">
                          <a:solidFill>
                            <a:schemeClr val="tx1"/>
                          </a:solidFill>
                          <a:effectLst/>
                          <a:latin typeface="+mj-lt"/>
                        </a:rPr>
                        <a:t xml:space="preserve">Online training and compliance sessions, incl. on request</a:t>
                      </a:r>
                      <a:r>
                        <a:rPr lang="ru-RU" sz="700" b="1" i="0" u="none" strike="noStrike" baseline="0" dirty="0">
                          <a:solidFill>
                            <a:schemeClr val="tx1"/>
                          </a:solidFill>
                          <a:effectLst/>
                          <a:latin typeface="+mj-lt"/>
                        </a:rPr>
                        <a:t/>
                      </a:r>
                      <a:endParaRPr lang="en-US" sz="700" b="1"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dirty="0">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dirty="0">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2202081867"/>
                  </a:ext>
                </a:extLst>
              </a:tr>
              <a:tr h="214020">
                <a:tc rowSpan="9">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 xml:space="preserve">Employees with an account, incl. senior managers</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 xml:space="preserve">ERG Code of Corporate Conduct</a:t>
                      </a:r>
                      <a:r>
                        <a:rPr lang="ru-RU" sz="700" b="0" i="0" u="none" strike="noStrike" baseline="0" dirty="0">
                          <a:solidFill>
                            <a:schemeClr val="tx1"/>
                          </a:solidFill>
                          <a:effectLst/>
                          <a:latin typeface="+mj-lt"/>
                        </a:rPr>
                        <a:t/>
                      </a:r>
                      <a:r>
                        <a:rPr lang="en-US" sz="700" b="0" i="0" u="none" strike="noStrike" baseline="0" dirty="0">
                          <a:solidFill>
                            <a:schemeClr val="tx1"/>
                          </a:solidFill>
                          <a:effectLst/>
                          <a:latin typeface="+mj-lt"/>
                        </a:rPr>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 xml:space="preserve">Online</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b="0" i="0" u="none" strike="noStrike" dirty="0">
                          <a:solidFill>
                            <a:srgbClr val="000000"/>
                          </a:solidFill>
                          <a:effectLst/>
                          <a:latin typeface="+mj-lt"/>
                        </a:rPr>
                        <a:t xml:space="preserve">All</a:t>
                      </a: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32373C"/>
                          </a:solidFill>
                          <a:effectLst/>
                          <a:uLnTx/>
                          <a:uFillTx/>
                          <a:latin typeface="+mj-lt"/>
                          <a:ea typeface="+mn-ea"/>
                          <a:cs typeface="+mn-cs"/>
                        </a:rPr>
                        <a:t xml:space="preserve">LMS</a:t>
                      </a: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700" b="0" i="0" u="none" strike="noStrike" dirty="0">
                          <a:solidFill>
                            <a:schemeClr val="tx1"/>
                          </a:solidFill>
                          <a:effectLst/>
                          <a:latin typeface="+mj-lt"/>
                        </a:rPr>
                        <a:t xml:space="preserve">6,139 + new employees</a:t>
                      </a:r>
                      <a:r>
                        <a:rPr lang="ru-RU" sz="700" b="0" i="0" u="none" strike="noStrike" dirty="0">
                          <a:solidFill>
                            <a:schemeClr val="tx1"/>
                          </a:solidFill>
                          <a:effectLst/>
                          <a:latin typeface="+mj-lt"/>
                        </a:rPr>
                        <a:t/>
                      </a:r>
                      <a:r>
                        <a:rPr lang="en-US" sz="700" b="0" i="0" u="none" strike="noStrike" dirty="0">
                          <a:solidFill>
                            <a:schemeClr val="tx1"/>
                          </a:solidFill>
                          <a:effectLst/>
                          <a:latin typeface="+mj-lt"/>
                        </a:rPr>
                        <a:t/>
                      </a:r>
                      <a:r>
                        <a:rPr lang="ru-RU" sz="700" b="0" i="0" u="none" strike="noStrike" dirty="0">
                          <a:solidFill>
                            <a:schemeClr val="tx1"/>
                          </a:solidFill>
                          <a:effectLst/>
                          <a:latin typeface="+mj-lt"/>
                        </a:rPr>
                        <a:t/>
                      </a:r>
                      <a:r>
                        <a:rPr lang="ru-RU" sz="700" b="0" i="0" u="none" strike="noStrike" baseline="0" dirty="0">
                          <a:solidFill>
                            <a:schemeClr val="tx1"/>
                          </a:solidFill>
                          <a:effectLst/>
                          <a:latin typeface="+mj-lt"/>
                        </a:rPr>
                        <a:t/>
                      </a:r>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a:ln>
                            <a:noFill/>
                          </a:ln>
                          <a:solidFill>
                            <a:srgbClr val="003751">
                              <a:lumMod val="75000"/>
                              <a:lumOff val="25000"/>
                            </a:srgbClr>
                          </a:solidFill>
                          <a:effectLst/>
                          <a:uLnTx/>
                          <a:uFillTx/>
                          <a:latin typeface="+mj-lt"/>
                          <a:ea typeface="+mn-ea"/>
                          <a:cs typeface="+mn-cs"/>
                        </a:rPr>
                        <a:t>O</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gridSpan="4">
                  <a:txBody>
                    <a:bodyPr/>
                    <a:lstStyle/>
                    <a:p>
                      <a:pPr algn="ctr" rtl="0" fontAlgn="b"/>
                      <a:r>
                        <a:rPr lang="ru-RU" sz="700" b="0" i="1" u="none" strike="noStrike" baseline="0" dirty="0">
                          <a:solidFill>
                            <a:schemeClr val="accent5">
                              <a:lumMod val="75000"/>
                              <a:lumOff val="25000"/>
                            </a:schemeClr>
                          </a:solidFill>
                          <a:effectLst/>
                          <a:latin typeface="+mj-lt"/>
                        </a:rPr>
                        <a:t xml:space="preserve">subject to the resumption of the course</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algn="ctr" rtl="0" fontAlgn="b"/>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algn="ctr" rtl="0" fontAlgn="b"/>
                      <a:endParaRPr lang="ru"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algn="ctr" rtl="0" fontAlgn="b"/>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RU" sz="700" b="0" i="0" u="none" strike="noStrike" dirty="0" smtClean="0">
                          <a:solidFill>
                            <a:schemeClr val="tx1"/>
                          </a:solidFill>
                          <a:effectLst/>
                          <a:latin typeface="+mj-lt"/>
                        </a:rPr>
                        <a:t xml:space="preserve">The module went live on 04/08/2025. In 2025, 5,437 Perimeter employees working as of 12/31/2025 completed training, which, together with the results of previous years, amounted to 98% of the coverage of Perimeter employees with an account for this course.</a:t>
                      </a:r>
                      <a:r>
                        <a:rPr lang="ru-RU" sz="700" b="0" i="0" u="none" strike="noStrike" baseline="0" dirty="0" smtClean="0">
                          <a:solidFill>
                            <a:schemeClr val="tx1"/>
                          </a:solidFill>
                          <a:effectLst/>
                          <a:latin typeface="+mj-lt"/>
                        </a:rPr>
                        <a:t/>
                      </a:r>
                      <a:r>
                        <a:rPr lang="ru-RU" sz="700" b="0" i="0" u="none" strike="noStrike" dirty="0" smtClean="0">
                          <a:solidFill>
                            <a:schemeClr val="tx1"/>
                          </a:solidFill>
                          <a:effectLst/>
                          <a:latin typeface="+mj-lt"/>
                        </a:rPr>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3590297"/>
                  </a:ext>
                </a:extLst>
              </a:tr>
              <a:tr h="212911">
                <a:tc vMerge="1">
                  <a:txBody>
                    <a:bodyPr/>
                    <a:lstStyle/>
                    <a:p>
                      <a:endParaRPr lang="ru-RU"/>
                    </a:p>
                  </a:txBody>
                  <a:tcPr/>
                </a:tc>
                <a:tc>
                  <a:txBody>
                    <a:bodyPr/>
                    <a:lstStyle/>
                    <a:p>
                      <a:pPr marL="0" marR="0" lvl="0" indent="0" algn="r"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 xml:space="preserve">incl. key workers</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ru" sz="700" b="0" i="0" u="none" strike="noStrike" dirty="0">
                          <a:solidFill>
                            <a:schemeClr val="tx1"/>
                          </a:solidFill>
                          <a:effectLst/>
                          <a:latin typeface="+mj-lt"/>
                        </a:rPr>
                        <a:t xml:space="preserve">302 + new employees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ru-RU"/>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vMerge="1">
                  <a:txBody>
                    <a:bodyPr/>
                    <a:lstStyle/>
                    <a:p>
                      <a:endParaRPr lang="ru-RU"/>
                    </a:p>
                  </a:txBody>
                  <a:tcPr/>
                </a:tc>
                <a:tc hMerge="1" vMerge="1">
                  <a:txBody>
                    <a:bodyPr/>
                    <a:lstStyle/>
                    <a:p>
                      <a:endParaRPr lang="ru-RU"/>
                    </a:p>
                  </a:txBody>
                  <a:tcPr/>
                </a:tc>
                <a:tc hMerge="1" vMerge="1">
                  <a:txBody>
                    <a:bodyPr/>
                    <a:lstStyle/>
                    <a:p>
                      <a:endParaRPr lang="ru-RU"/>
                    </a:p>
                  </a:txBody>
                  <a:tcPr/>
                </a:tc>
                <a:tc hMerge="1" vMerge="1">
                  <a:txBody>
                    <a:bodyPr/>
                    <a:lstStyle/>
                    <a:p>
                      <a:endParaRPr lang="ru-RU"/>
                    </a:p>
                  </a:txBody>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0" u="none" strike="noStrike" kern="1200" dirty="0" smtClean="0">
                          <a:solidFill>
                            <a:schemeClr val="tx1"/>
                          </a:solidFill>
                          <a:effectLst/>
                          <a:latin typeface="+mn-lt"/>
                          <a:ea typeface="+mn-ea"/>
                          <a:cs typeface="+mn-cs"/>
                        </a:rPr>
                        <a:t xml:space="preserve">In 2025, 113 key Perimeter employees working as of 12/31/2025 completed training, which, together with the results of previous years, amounted to 98% of the coverage of Perimeter employees for this course.</a:t>
                      </a:r>
                      <a:endParaRPr lang="en-US" sz="700" b="0" i="0" u="none" strike="noStrike" kern="1200" dirty="0" smtClean="0">
                        <a:solidFill>
                          <a:schemeClr val="tx1"/>
                        </a:solidFill>
                        <a:effectLst/>
                        <a:latin typeface="+mn-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6183464"/>
                  </a:ext>
                </a:extLst>
              </a:tr>
              <a:tr h="155913">
                <a:tc vMerge="1">
                  <a:txBody>
                    <a:bodyPr/>
                    <a:lstStyle/>
                    <a:p>
                      <a:pPr rtl="0"/>
                      <a:endParaRPr lang="ru" sz="650" dirty="0">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700" b="0" i="0" u="none" strike="noStrike" dirty="0">
                          <a:solidFill>
                            <a:schemeClr val="tx1"/>
                          </a:solidFill>
                          <a:effectLst/>
                          <a:latin typeface="+mj-lt"/>
                        </a:rPr>
                        <a:t xml:space="preserve">Anti-bribery and corruption</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RU" sz="700" b="0" i="0" u="none" strike="noStrike" dirty="0">
                          <a:solidFill>
                            <a:schemeClr val="tx1"/>
                          </a:solidFill>
                          <a:effectLst/>
                          <a:latin typeface="+mj-lt"/>
                        </a:rPr>
                        <a:t xml:space="preserve">Online</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700" b="0" i="0" u="none" strike="noStrike" dirty="0">
                          <a:solidFill>
                            <a:schemeClr val="tx1"/>
                          </a:solidFill>
                          <a:effectLst/>
                          <a:latin typeface="+mj-lt"/>
                        </a:rPr>
                        <a:t xml:space="preserve">ABC</a:t>
                      </a:r>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32373C"/>
                          </a:solidFill>
                          <a:effectLst/>
                          <a:uLnTx/>
                          <a:uFillTx/>
                          <a:latin typeface="+mj-lt"/>
                          <a:ea typeface="+mn-ea"/>
                          <a:cs typeface="+mn-cs"/>
                        </a:rPr>
                        <a:t xml:space="preserve">LMS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ru" sz="700" b="0" i="0" u="none" strike="noStrike" dirty="0">
                          <a:solidFill>
                            <a:schemeClr val="tx1"/>
                          </a:solidFill>
                          <a:effectLst/>
                          <a:latin typeface="+mj-lt"/>
                        </a:rPr>
                        <a:t xml:space="preserve">1,073 + new employees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a:ln>
                            <a:noFill/>
                          </a:ln>
                          <a:solidFill>
                            <a:srgbClr val="003751">
                              <a:lumMod val="75000"/>
                              <a:lumOff val="25000"/>
                            </a:srgbClr>
                          </a:solidFill>
                          <a:effectLst/>
                          <a:uLnTx/>
                          <a:uFillTx/>
                          <a:latin typeface="+mj-lt"/>
                          <a:ea typeface="+mn-ea"/>
                          <a:cs typeface="+mn-cs"/>
                        </a:rPr>
                        <a:t>O</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RU" sz="700" b="0" i="1" u="none" strike="noStrike" baseline="0" dirty="0">
                          <a:solidFill>
                            <a:schemeClr val="accent5">
                              <a:lumMod val="75000"/>
                              <a:lumOff val="25000"/>
                            </a:schemeClr>
                          </a:solidFill>
                          <a:effectLst/>
                          <a:latin typeface="+mj-lt"/>
                        </a:rPr>
                        <a:t xml:space="preserve">subject to the resumption of the course</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ru"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smtClean="0">
                          <a:solidFill>
                            <a:schemeClr val="tx1"/>
                          </a:solidFill>
                          <a:effectLst/>
                          <a:latin typeface="+mn-lt"/>
                        </a:rPr>
                        <a:t xml:space="preserve">The module went live on July 17, 2025. In 2025, 1,486 Perimeter employees working as of December 31, 2025 completed training, which, together with the results of previous years, amounted to 83% of the coverage of Perimeter employees with an account for this course.</a:t>
                      </a:r>
                      <a:r>
                        <a:rPr lang="ru-RU" sz="700" b="0" i="0" u="none" strike="noStrike" kern="1200" dirty="0" smtClean="0">
                          <a:solidFill>
                            <a:schemeClr val="tx1"/>
                          </a:solidFill>
                          <a:effectLst/>
                          <a:latin typeface="+mn-lt"/>
                          <a:ea typeface="+mn-ea"/>
                          <a:cs typeface="+mn-cs"/>
                        </a:rPr>
                        <a:t/>
                      </a:r>
                      <a:endParaRPr lang="en-US" sz="700" b="0" i="0" u="none" strike="noStrike" kern="1200" dirty="0" smtClean="0">
                        <a:solidFill>
                          <a:schemeClr val="tx1"/>
                        </a:solidFill>
                        <a:effectLst/>
                        <a:latin typeface="+mn-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899299"/>
                  </a:ext>
                </a:extLst>
              </a:tr>
              <a:tr h="155913">
                <a:tc vMerge="1">
                  <a:txBody>
                    <a:bodyPr/>
                    <a:lstStyle/>
                    <a:p>
                      <a:pPr rtl="0"/>
                      <a:endParaRPr lang="ru" sz="650" dirty="0">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 xml:space="preserve">Respect for human rights when doing business</a:t>
                      </a:r>
                      <a:r>
                        <a:rPr lang="ru-RU" sz="700" b="0" i="0" u="none" strike="noStrike" baseline="0" dirty="0">
                          <a:solidFill>
                            <a:schemeClr val="tx1"/>
                          </a:solidFill>
                          <a:effectLst/>
                          <a:latin typeface="+mj-lt"/>
                        </a:rPr>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 xml:space="preserve">Online</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700" b="0" i="0" u="none" strike="noStrike" dirty="0">
                          <a:solidFill>
                            <a:schemeClr val="tx1"/>
                          </a:solidFill>
                          <a:effectLst/>
                          <a:latin typeface="+mj-lt"/>
                        </a:rPr>
                        <a:t xml:space="preserve">HR</a:t>
                      </a:r>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32373C"/>
                          </a:solidFill>
                          <a:effectLst/>
                          <a:uLnTx/>
                          <a:uFillTx/>
                          <a:latin typeface="+mj-lt"/>
                          <a:ea typeface="+mn-ea"/>
                          <a:cs typeface="+mn-cs"/>
                        </a:rPr>
                        <a:t xml:space="preserve">LMS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ru" sz="700" b="0" i="0" u="none" strike="noStrike" dirty="0">
                          <a:solidFill>
                            <a:schemeClr val="tx1"/>
                          </a:solidFill>
                          <a:effectLst/>
                          <a:latin typeface="+mj-lt"/>
                        </a:rPr>
                        <a:t xml:space="preserve">2,449 + new employees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a:ln>
                            <a:noFill/>
                          </a:ln>
                          <a:solidFill>
                            <a:srgbClr val="003751">
                              <a:lumMod val="75000"/>
                              <a:lumOff val="25000"/>
                            </a:srgbClr>
                          </a:solidFill>
                          <a:effectLst/>
                          <a:uLnTx/>
                          <a:uFillTx/>
                          <a:latin typeface="+mj-lt"/>
                          <a:ea typeface="+mn-ea"/>
                          <a:cs typeface="+mn-cs"/>
                        </a:rPr>
                        <a:t>O</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0" u="none" strike="noStrike" kern="1200" dirty="0" smtClean="0">
                          <a:solidFill>
                            <a:schemeClr val="tx1"/>
                          </a:solidFill>
                          <a:effectLst/>
                          <a:latin typeface="+mn-lt"/>
                          <a:ea typeface="+mn-ea"/>
                          <a:cs typeface="+mn-cs"/>
                        </a:rPr>
                        <a:t xml:space="preserve">In 2025, 2,054 Perimeter employees working as of December 31, 2025 completed the training, which, together with the results of previous years, amounted to 98% of the coverage of Perimeter employees with an account for this course.</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0920612"/>
                  </a:ext>
                </a:extLst>
              </a:tr>
              <a:tr h="155913">
                <a:tc vMerge="1">
                  <a:txBody>
                    <a:bodyPr/>
                    <a:lstStyle/>
                    <a:p>
                      <a:endParaRPr lang="ru-RU"/>
                    </a:p>
                  </a:txBody>
                  <a:tcPr/>
                </a:tc>
                <a:tc>
                  <a:txBody>
                    <a:bodyPr/>
                    <a:lstStyle/>
                    <a:p>
                      <a:pPr marL="0" marR="0" lvl="0" indent="0" algn="r"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 xml:space="preserve">incl. key workers</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ru" sz="700" b="0" i="0" u="none" strike="noStrike" dirty="0">
                          <a:solidFill>
                            <a:schemeClr val="tx1"/>
                          </a:solidFill>
                          <a:effectLst/>
                          <a:latin typeface="+mj-lt"/>
                        </a:rPr>
                        <a:t xml:space="preserve">55 + new employees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0" u="none" strike="noStrike" kern="1200" dirty="0" smtClean="0">
                          <a:solidFill>
                            <a:schemeClr val="tx1"/>
                          </a:solidFill>
                          <a:effectLst/>
                          <a:latin typeface="+mn-lt"/>
                          <a:ea typeface="+mn-ea"/>
                          <a:cs typeface="+mn-cs"/>
                        </a:rPr>
                        <a:t xml:space="preserve">In 2025, 20 key employees of Perimeter, working as of December 31, 2025, completed the training, which, together with the results of previous years, amounted to 99.55% of the coverage of Perimeter employees for this course.</a:t>
                      </a:r>
                      <a:r>
                        <a:rPr lang="ru-RU" sz="700" b="0" i="0" u="none" strike="noStrike" kern="1200" baseline="0" dirty="0" smtClean="0">
                          <a:solidFill>
                            <a:schemeClr val="tx1"/>
                          </a:solidFill>
                          <a:effectLst/>
                          <a:latin typeface="+mn-lt"/>
                          <a:ea typeface="+mn-ea"/>
                          <a:cs typeface="+mn-cs"/>
                        </a:rPr>
                        <a:t/>
                      </a:r>
                      <a:r>
                        <a:rPr lang="ru-RU" sz="700" b="0" i="0" u="none" strike="noStrike" kern="1200" dirty="0" smtClean="0">
                          <a:solidFill>
                            <a:schemeClr val="tx1"/>
                          </a:solidFill>
                          <a:effectLst/>
                          <a:latin typeface="+mn-lt"/>
                          <a:ea typeface="+mn-ea"/>
                          <a:cs typeface="+mn-cs"/>
                        </a:rPr>
                        <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6744847"/>
                  </a:ext>
                </a:extLst>
              </a:tr>
              <a:tr h="155913">
                <a:tc vMerge="1">
                  <a:txBody>
                    <a:bodyPr/>
                    <a:lstStyle/>
                    <a:p>
                      <a:pPr rtl="0"/>
                      <a:endParaRPr lang="ru" sz="650" dirty="0">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 xml:space="preserve">Conflict of interest</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 xml:space="preserve">Online</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700" b="0" i="0" u="none" strike="noStrike" dirty="0">
                          <a:solidFill>
                            <a:schemeClr val="tx1"/>
                          </a:solidFill>
                          <a:effectLst/>
                          <a:latin typeface="+mj-lt"/>
                        </a:rPr>
                        <a:t xml:space="preserve">CoI</a:t>
                      </a:r>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32373C"/>
                          </a:solidFill>
                          <a:effectLst/>
                          <a:uLnTx/>
                          <a:uFillTx/>
                          <a:latin typeface="+mj-lt"/>
                          <a:ea typeface="+mn-ea"/>
                          <a:cs typeface="+mn-cs"/>
                        </a:rPr>
                        <a:t xml:space="preserve">LMS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ru" sz="700" b="0" i="0" u="none" strike="noStrike" dirty="0">
                          <a:solidFill>
                            <a:schemeClr val="tx1"/>
                          </a:solidFill>
                          <a:effectLst/>
                          <a:latin typeface="+mj-lt"/>
                        </a:rPr>
                        <a:t xml:space="preserve">3,093 + new employees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a:ln>
                            <a:noFill/>
                          </a:ln>
                          <a:solidFill>
                            <a:srgbClr val="003751">
                              <a:lumMod val="75000"/>
                              <a:lumOff val="25000"/>
                            </a:srgbClr>
                          </a:solidFill>
                          <a:effectLst/>
                          <a:uLnTx/>
                          <a:uFillTx/>
                          <a:latin typeface="+mj-lt"/>
                          <a:ea typeface="+mn-ea"/>
                          <a:cs typeface="+mn-cs"/>
                        </a:rPr>
                        <a:t>O</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0" u="none" strike="noStrike" kern="1200" dirty="0" smtClean="0">
                          <a:solidFill>
                            <a:schemeClr val="tx1"/>
                          </a:solidFill>
                          <a:effectLst/>
                          <a:latin typeface="+mn-lt"/>
                          <a:ea typeface="+mn-ea"/>
                          <a:cs typeface="+mn-cs"/>
                        </a:rPr>
                        <a:t xml:space="preserve">In 2025, 2,616 Perimeter employees working as of December 31, 2025 completed training, which, together with the results of previous years, amounted to 98% of the coverage of Perimeter employees for this course.</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4062350"/>
                  </a:ext>
                </a:extLst>
              </a:tr>
              <a:tr h="155913">
                <a:tc vMerge="1">
                  <a:txBody>
                    <a:bodyPr/>
                    <a:lstStyle/>
                    <a:p>
                      <a:pPr rtl="0"/>
                      <a:endParaRPr lang="ru" sz="650" dirty="0">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 xml:space="preserve">Personal data protection</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 xml:space="preserve">Online</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700" b="0" i="0" u="none" strike="noStrike" dirty="0">
                          <a:solidFill>
                            <a:schemeClr val="tx1"/>
                          </a:solidFill>
                          <a:effectLst/>
                          <a:latin typeface="+mj-lt"/>
                        </a:rPr>
                        <a:t xml:space="preserve">D.P.</a:t>
                      </a:r>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32373C"/>
                          </a:solidFill>
                          <a:effectLst/>
                          <a:uLnTx/>
                          <a:uFillTx/>
                          <a:latin typeface="+mj-lt"/>
                          <a:ea typeface="+mn-ea"/>
                          <a:cs typeface="+mn-cs"/>
                        </a:rPr>
                        <a:t xml:space="preserve">LMS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ru" sz="700" b="0" i="0" u="none" strike="noStrike" dirty="0">
                          <a:solidFill>
                            <a:schemeClr val="tx1"/>
                          </a:solidFill>
                          <a:effectLst/>
                          <a:latin typeface="+mj-lt"/>
                        </a:rPr>
                        <a:t xml:space="preserve">2,926 + new employees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a:ln>
                            <a:noFill/>
                          </a:ln>
                          <a:solidFill>
                            <a:srgbClr val="003751">
                              <a:lumMod val="75000"/>
                              <a:lumOff val="25000"/>
                            </a:srgbClr>
                          </a:solidFill>
                          <a:effectLst/>
                          <a:uLnTx/>
                          <a:uFillTx/>
                          <a:latin typeface="+mj-lt"/>
                          <a:ea typeface="+mn-ea"/>
                          <a:cs typeface="+mn-cs"/>
                        </a:rPr>
                        <a:t>O</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Х</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i="0" u="none" strike="noStrike" kern="1200" dirty="0" smtClean="0">
                          <a:solidFill>
                            <a:schemeClr val="tx1"/>
                          </a:solidFill>
                          <a:effectLst/>
                          <a:latin typeface="+mn-lt"/>
                          <a:ea typeface="+mn-ea"/>
                          <a:cs typeface="+mn-cs"/>
                        </a:rPr>
                        <a:t xml:space="preserve">In 2025, 2,679 Perimeter employees working as of 12/31/2025 completed training, which, together with the results of previous years, amounted to 98% of the coverage of Perimeter employees for this course.</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8842659"/>
                  </a:ext>
                </a:extLst>
              </a:tr>
              <a:tr h="155913">
                <a:tc vMerge="1">
                  <a:txBody>
                    <a:bodyPr/>
                    <a:lstStyle/>
                    <a:p>
                      <a:pPr rtl="0"/>
                      <a:endParaRPr lang="ru" sz="650" dirty="0">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 xml:space="preserve">Other online modules of the Group (for example, CCP, Sanctions, AML/CFT)</a:t>
                      </a:r>
                      <a:r>
                        <a:rPr lang="ru-RU" sz="700" b="0" i="0" u="none" strike="noStrike" baseline="0" dirty="0">
                          <a:solidFill>
                            <a:schemeClr val="tx1"/>
                          </a:solidFill>
                          <a:effectLst/>
                          <a:latin typeface="+mj-lt"/>
                        </a:rPr>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 xml:space="preserve">Online</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 sz="700" b="0" i="0" u="none" strike="noStrike" dirty="0">
                          <a:solidFill>
                            <a:schemeClr val="tx1"/>
                          </a:solidFill>
                          <a:effectLst/>
                          <a:latin typeface="+mj-lt"/>
                        </a:rPr>
                        <a:t xml:space="preserve">All</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32373C"/>
                          </a:solidFill>
                          <a:effectLst/>
                          <a:uLnTx/>
                          <a:uFillTx/>
                          <a:latin typeface="+mj-lt"/>
                          <a:ea typeface="+mn-ea"/>
                          <a:cs typeface="+mn-cs"/>
                        </a:rPr>
                        <a:t xml:space="preserve">LMS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O</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r>
                        <a:rPr kumimoji="0" lang="ru-RU" sz="700" b="0" i="1" u="none" strike="noStrike" kern="1200" cap="none" spc="0" normalizeH="0" baseline="0" noProof="0" dirty="0">
                          <a:ln>
                            <a:noFill/>
                          </a:ln>
                          <a:solidFill>
                            <a:schemeClr val="accent5">
                              <a:lumMod val="75000"/>
                              <a:lumOff val="25000"/>
                            </a:schemeClr>
                          </a:solidFill>
                          <a:effectLst/>
                          <a:uLnTx/>
                          <a:uFillTx/>
                          <a:latin typeface="+mj-lt"/>
                          <a:ea typeface="+mn-ea"/>
                          <a:cs typeface="+mn-cs"/>
                        </a:rPr>
                        <a:t xml:space="preserve">after the courses are launched</a:t>
                      </a:r>
                      <a:endParaRPr kumimoji="0" lang="en-US" sz="700" b="0" i="1" u="none" strike="noStrike" kern="1200" cap="none" spc="0" normalizeH="0" baseline="0" noProof="0" dirty="0">
                        <a:ln>
                          <a:noFill/>
                        </a:ln>
                        <a:solidFill>
                          <a:schemeClr val="accent5">
                            <a:lumMod val="75000"/>
                            <a:lumOff val="25000"/>
                          </a:scheme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dirty="0">
                        <a:ln>
                          <a:noFill/>
                        </a:ln>
                        <a:solidFill>
                          <a:srgbClr val="003751">
                            <a:lumMod val="75000"/>
                            <a:lumOff val="25000"/>
                          </a:srgbClr>
                        </a:solidFill>
                        <a:effectLst/>
                        <a:uLnTx/>
                        <a:uFillTx/>
                        <a:latin typeface="Arial" panose="020B0604020202020204"/>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dirty="0">
                        <a:ln>
                          <a:noFill/>
                        </a:ln>
                        <a:solidFill>
                          <a:srgbClr val="003751">
                            <a:lumMod val="75000"/>
                            <a:lumOff val="25000"/>
                          </a:srgbClr>
                        </a:solidFill>
                        <a:effectLst/>
                        <a:uLnTx/>
                        <a:uFillTx/>
                        <a:latin typeface="Arial" panose="020B0604020202020204"/>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583170" rtl="0" eaLnBrk="1" fontAlgn="auto"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dirty="0">
                        <a:ln>
                          <a:noFill/>
                        </a:ln>
                        <a:solidFill>
                          <a:srgbClr val="003751">
                            <a:lumMod val="75000"/>
                            <a:lumOff val="25000"/>
                          </a:srgbClr>
                        </a:solidFill>
                        <a:effectLst/>
                        <a:uLnTx/>
                        <a:uFillTx/>
                        <a:latin typeface="Arial" panose="020B0604020202020204"/>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smtClean="0">
                          <a:ln>
                            <a:noFill/>
                          </a:ln>
                          <a:solidFill>
                            <a:schemeClr val="tx1"/>
                          </a:solidFill>
                          <a:effectLst/>
                          <a:uLnTx/>
                          <a:uFillTx/>
                          <a:latin typeface="+mj-lt"/>
                          <a:ea typeface="+mn-ea"/>
                          <a:cs typeface="+mn-cs"/>
                        </a:rPr>
                        <a:t xml:space="preserve">In 2025, no additional Group training modules were launched.</a:t>
                      </a:r>
                      <a:endParaRPr kumimoji="0" lang="en-US" sz="700" b="0" i="0" u="none" strike="noStrike" kern="1200" cap="none" spc="0" normalizeH="0" baseline="0" noProof="0" dirty="0">
                        <a:ln>
                          <a:noFill/>
                        </a:ln>
                        <a:solidFill>
                          <a:schemeClr val="tx1"/>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2684175"/>
                  </a:ext>
                </a:extLst>
              </a:tr>
              <a:tr h="155913">
                <a:tc vMerge="1">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endParaRPr lang="en-US" sz="650" b="0" i="0" u="none" strike="noStrike" dirty="0">
                        <a:solidFill>
                          <a:schemeClr val="tx1"/>
                        </a:solidFill>
                        <a:effectLst/>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 xml:space="preserve">Perimeter PDA Advanced Course</a:t>
                      </a:r>
                      <a:r>
                        <a:rPr lang="ru-RU" sz="700" b="0" i="0" u="none" strike="noStrike" baseline="0" dirty="0">
                          <a:solidFill>
                            <a:schemeClr val="tx1"/>
                          </a:solidFill>
                          <a:effectLst/>
                          <a:latin typeface="+mj-lt"/>
                        </a:rPr>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 xml:space="preserve">Online*</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 sz="700" b="0" i="0" u="none" strike="noStrike" dirty="0">
                          <a:solidFill>
                            <a:schemeClr val="tx1"/>
                          </a:solidFill>
                          <a:effectLst/>
                          <a:latin typeface="+mj-lt"/>
                        </a:rPr>
                        <a:t xml:space="preserve">All</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 xml:space="preserve">To be confirmed</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O</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rtl="0" fontAlgn="b"/>
                      <a:r>
                        <a:rPr lang="ru-RU" sz="700" b="0" i="1" u="none" strike="noStrike" dirty="0">
                          <a:solidFill>
                            <a:schemeClr val="accent5">
                              <a:lumMod val="75000"/>
                              <a:lumOff val="25000"/>
                            </a:schemeClr>
                          </a:solidFill>
                          <a:effectLst/>
                          <a:latin typeface="+mj-lt"/>
                        </a:rPr>
                        <a:t xml:space="preserve">*after the course launches</a:t>
                      </a:r>
                      <a:endParaRPr lang="en-US" sz="700" b="0" i="1"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ru"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b"/>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dirty="0" smtClean="0">
                          <a:latin typeface="+mn-lt"/>
                        </a:rPr>
                        <a:t xml:space="preserve">The Perimeter course project has been developed. The course includes the rules of the CCP, the Compliance Sheet, explains the algorithms for working with the Compliance 2.2 System, the consequences of missing the CCP, sanctions and the consequences of realizing the risk of violating sanctions, etc. Currently, work is underway with CU to write technical algorithms for the course. The course is expected to launch in 2026.</a:t>
                      </a:r>
                      <a:r>
                        <a:rPr lang="ru-RU" sz="700" b="0" dirty="0" smtClean="0">
                          <a:latin typeface="+mn-lt"/>
                        </a:rPr>
                        <a:t/>
                      </a:r>
                      <a:r>
                        <a:rPr lang="ru-RU" sz="700" b="0" dirty="0" smtClean="0">
                          <a:latin typeface="+mn-lt"/>
                        </a:rPr>
                        <a:t/>
                      </a:r>
                      <a:r>
                        <a:rPr lang="ru-RU" sz="700" b="0" dirty="0" smtClean="0">
                          <a:latin typeface="+mn-lt"/>
                        </a:rPr>
                        <a:t/>
                      </a:r>
                      <a:r>
                        <a:rPr lang="ru-RU" sz="700" b="0" dirty="0" smtClean="0">
                          <a:latin typeface="+mn-lt"/>
                        </a:rPr>
                        <a:t/>
                      </a:r>
                      <a:r>
                        <a:rPr lang="ru-RU" sz="700" b="0" i="1" u="none" strike="noStrike" baseline="0" dirty="0">
                          <a:solidFill>
                            <a:schemeClr val="accent5">
                              <a:lumMod val="75000"/>
                              <a:lumOff val="25000"/>
                            </a:schemeClr>
                          </a:solidFill>
                          <a:effectLst/>
                          <a:latin typeface="+mj-lt"/>
                        </a:rPr>
                        <a:t/>
                      </a:r>
                      <a:r>
                        <a:rPr lang="ru-RU" sz="700" b="0" i="0" u="none" strike="noStrike" baseline="0" dirty="0" smtClean="0">
                          <a:solidFill>
                            <a:schemeClr val="tx1"/>
                          </a:solidFill>
                          <a:effectLst/>
                          <a:latin typeface="+mj-lt"/>
                        </a:rPr>
                        <a:t/>
                      </a:r>
                      <a:endParaRPr lang="ru-RU" sz="700" b="0" i="0" dirty="0" smtClean="0">
                        <a:solidFill>
                          <a:schemeClr val="tx1"/>
                        </a:solidFill>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921621"/>
                  </a:ext>
                </a:extLst>
              </a:tr>
            </a:tbl>
          </a:graphicData>
        </a:graphic>
      </p:graphicFrame>
    </p:spTree>
    <p:extLst>
      <p:ext uri="{BB962C8B-B14F-4D97-AF65-F5344CB8AC3E}">
        <p14:creationId xmlns:p14="http://schemas.microsoft.com/office/powerpoint/2010/main" val="4211150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6EE351A-4F52-4B9F-86B1-5A4F4372B075}"/>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5020"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76EE351A-4F52-4B9F-86B1-5A4F4372B07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69D35-12EB-4434-9232-DC54BC04A09F}"/>
              </a:ext>
            </a:extLst>
          </p:cNvPr>
          <p:cNvSpPr>
            <a:spLocks noGrp="1"/>
          </p:cNvSpPr>
          <p:nvPr>
            <p:ph type="title"/>
          </p:nvPr>
        </p:nvSpPr>
        <p:spPr>
          <a:xfrm>
            <a:off x="317499" y="0"/>
            <a:ext cx="10584209" cy="704850"/>
          </a:xfrm>
        </p:spPr>
        <p:txBody>
          <a:bodyPr vert="horz" rtlCol="0"/>
          <a:lstStyle/>
          <a:p>
            <a:r>
              <a:rPr lang="ru-RU" dirty="0"/>
              <a:t xml:space="preserve">Annual compliance program 2025: Perimeter Kazakhstan Implementation status - Compliance training program</a:t>
            </a:r>
            <a:br>
              <a:rPr lang="ru-RU" dirty="0"/>
            </a:br>
            <a:r>
              <a:rPr lang="ru-RU" dirty="0">
                <a:solidFill>
                  <a:schemeClr val="tx1"/>
                </a:solidFill>
              </a:rPr>
              <a:t/>
            </a:r>
            <a:r>
              <a:rPr lang="ru" dirty="0" smtClean="0">
                <a:solidFill>
                  <a:schemeClr val="tx1"/>
                </a:solidFill>
              </a:rPr>
              <a:t/>
            </a:r>
            <a:endParaRPr lang="ru" dirty="0">
              <a:solidFill>
                <a:schemeClr val="tx1"/>
              </a:solidFill>
            </a:endParaRPr>
          </a:p>
        </p:txBody>
      </p:sp>
      <p:graphicFrame>
        <p:nvGraphicFramePr>
          <p:cNvPr id="6" name="Table 5">
            <a:extLst>
              <a:ext uri="{FF2B5EF4-FFF2-40B4-BE49-F238E27FC236}">
                <a16:creationId xmlns:a16="http://schemas.microsoft.com/office/drawing/2014/main" id="{41E38550-D414-4094-A22F-C70BB79F7442}"/>
              </a:ext>
            </a:extLst>
          </p:cNvPr>
          <p:cNvGraphicFramePr>
            <a:graphicFrameLocks noGrp="1"/>
          </p:cNvGraphicFramePr>
          <p:nvPr>
            <p:extLst>
              <p:ext uri="{D42A27DB-BD31-4B8C-83A1-F6EECF244321}">
                <p14:modId xmlns:p14="http://schemas.microsoft.com/office/powerpoint/2010/main" val="3991058196"/>
              </p:ext>
            </p:extLst>
          </p:nvPr>
        </p:nvGraphicFramePr>
        <p:xfrm>
          <a:off x="239596" y="904568"/>
          <a:ext cx="11736000" cy="5607960"/>
        </p:xfrm>
        <a:graphic>
          <a:graphicData uri="http://schemas.openxmlformats.org/drawingml/2006/table">
            <a:tbl>
              <a:tblPr>
                <a:tableStyleId>{5C22544A-7EE6-4342-B048-85BDC9FD1C3A}</a:tableStyleId>
              </a:tblPr>
              <a:tblGrid>
                <a:gridCol w="1512000">
                  <a:extLst>
                    <a:ext uri="{9D8B030D-6E8A-4147-A177-3AD203B41FA5}">
                      <a16:colId xmlns:a16="http://schemas.microsoft.com/office/drawing/2014/main" val="1405931119"/>
                    </a:ext>
                  </a:extLst>
                </a:gridCol>
                <a:gridCol w="1368000">
                  <a:extLst>
                    <a:ext uri="{9D8B030D-6E8A-4147-A177-3AD203B41FA5}">
                      <a16:colId xmlns:a16="http://schemas.microsoft.com/office/drawing/2014/main" val="3697848050"/>
                    </a:ext>
                  </a:extLst>
                </a:gridCol>
                <a:gridCol w="504000">
                  <a:extLst>
                    <a:ext uri="{9D8B030D-6E8A-4147-A177-3AD203B41FA5}">
                      <a16:colId xmlns:a16="http://schemas.microsoft.com/office/drawing/2014/main" val="280189921"/>
                    </a:ext>
                  </a:extLst>
                </a:gridCol>
                <a:gridCol w="468000">
                  <a:extLst>
                    <a:ext uri="{9D8B030D-6E8A-4147-A177-3AD203B41FA5}">
                      <a16:colId xmlns:a16="http://schemas.microsoft.com/office/drawing/2014/main" val="2849685821"/>
                    </a:ext>
                  </a:extLst>
                </a:gridCol>
                <a:gridCol w="1044000">
                  <a:extLst>
                    <a:ext uri="{9D8B030D-6E8A-4147-A177-3AD203B41FA5}">
                      <a16:colId xmlns:a16="http://schemas.microsoft.com/office/drawing/2014/main" val="3602705157"/>
                    </a:ext>
                  </a:extLst>
                </a:gridCol>
                <a:gridCol w="864000">
                  <a:extLst>
                    <a:ext uri="{9D8B030D-6E8A-4147-A177-3AD203B41FA5}">
                      <a16:colId xmlns:a16="http://schemas.microsoft.com/office/drawing/2014/main" val="770680002"/>
                    </a:ext>
                  </a:extLst>
                </a:gridCol>
                <a:gridCol w="756000">
                  <a:extLst>
                    <a:ext uri="{9D8B030D-6E8A-4147-A177-3AD203B41FA5}">
                      <a16:colId xmlns:a16="http://schemas.microsoft.com/office/drawing/2014/main" val="673600722"/>
                    </a:ext>
                  </a:extLst>
                </a:gridCol>
                <a:gridCol w="252000">
                  <a:extLst>
                    <a:ext uri="{9D8B030D-6E8A-4147-A177-3AD203B41FA5}">
                      <a16:colId xmlns:a16="http://schemas.microsoft.com/office/drawing/2014/main" val="4111977573"/>
                    </a:ext>
                  </a:extLst>
                </a:gridCol>
                <a:gridCol w="252000">
                  <a:extLst>
                    <a:ext uri="{9D8B030D-6E8A-4147-A177-3AD203B41FA5}">
                      <a16:colId xmlns:a16="http://schemas.microsoft.com/office/drawing/2014/main" val="1553107606"/>
                    </a:ext>
                  </a:extLst>
                </a:gridCol>
                <a:gridCol w="252000">
                  <a:extLst>
                    <a:ext uri="{9D8B030D-6E8A-4147-A177-3AD203B41FA5}">
                      <a16:colId xmlns:a16="http://schemas.microsoft.com/office/drawing/2014/main" val="304441070"/>
                    </a:ext>
                  </a:extLst>
                </a:gridCol>
                <a:gridCol w="252000">
                  <a:extLst>
                    <a:ext uri="{9D8B030D-6E8A-4147-A177-3AD203B41FA5}">
                      <a16:colId xmlns:a16="http://schemas.microsoft.com/office/drawing/2014/main" val="3925450415"/>
                    </a:ext>
                  </a:extLst>
                </a:gridCol>
                <a:gridCol w="4212000">
                  <a:extLst>
                    <a:ext uri="{9D8B030D-6E8A-4147-A177-3AD203B41FA5}">
                      <a16:colId xmlns:a16="http://schemas.microsoft.com/office/drawing/2014/main" val="460414649"/>
                    </a:ext>
                  </a:extLst>
                </a:gridCol>
              </a:tblGrid>
              <a:tr h="132319">
                <a:tc rowSpan="2">
                  <a:txBody>
                    <a:bodyPr/>
                    <a:lstStyle/>
                    <a:p>
                      <a:pPr algn="l" rtl="0" fontAlgn="ctr"/>
                      <a:r>
                        <a:rPr lang="ru" sz="700" u="none" strike="noStrike" dirty="0">
                          <a:solidFill>
                            <a:schemeClr val="accent5">
                              <a:lumMod val="75000"/>
                              <a:lumOff val="25000"/>
                            </a:schemeClr>
                          </a:solidFill>
                          <a:effectLst/>
                          <a:latin typeface="+mj-lt"/>
                        </a:rPr>
                        <a:t xml:space="preserve">Perimeter target audience</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RU" sz="700" u="none" strike="noStrike" dirty="0">
                          <a:solidFill>
                            <a:schemeClr val="accent5">
                              <a:lumMod val="75000"/>
                              <a:lumOff val="25000"/>
                            </a:schemeClr>
                          </a:solidFill>
                          <a:effectLst/>
                          <a:latin typeface="+mj-lt"/>
                        </a:rPr>
                        <a:t xml:space="preserve">Program/topic of study</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 xml:space="preserve">Training format</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b="0" i="0" u="none" strike="noStrike" dirty="0">
                          <a:solidFill>
                            <a:schemeClr val="accent5">
                              <a:lumMod val="75000"/>
                              <a:lumOff val="25000"/>
                            </a:schemeClr>
                          </a:solidFill>
                          <a:effectLst/>
                          <a:latin typeface="+mj-lt"/>
                        </a:rPr>
                        <a:t xml:space="preserve">Risks</a:t>
                      </a: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 xml:space="preserve">Confirmation</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 xml:space="preserve">Approx.</a:t>
                      </a:r>
                    </a:p>
                    <a:p>
                      <a:pPr algn="l" rtl="0" fontAlgn="ctr"/>
                      <a:r>
                        <a:rPr lang="ru-RU" sz="700" u="none" strike="noStrike" dirty="0">
                          <a:solidFill>
                            <a:schemeClr val="accent5">
                              <a:lumMod val="75000"/>
                              <a:lumOff val="25000"/>
                            </a:schemeClr>
                          </a:solidFill>
                          <a:effectLst/>
                          <a:latin typeface="+mj-lt"/>
                        </a:rPr>
                        <a:t xml:space="preserve">number of employees at the beginning of 2025</a:t>
                      </a:r>
                      <a:r>
                        <a:rPr lang="ru" sz="700" u="none" strike="noStrike" dirty="0">
                          <a:solidFill>
                            <a:schemeClr val="accent5">
                              <a:lumMod val="75000"/>
                              <a:lumOff val="25000"/>
                            </a:schemeClr>
                          </a:solidFill>
                          <a:effectLst/>
                          <a:latin typeface="+mj-lt"/>
                        </a:rPr>
                        <a:t/>
                      </a:r>
                      <a:r>
                        <a:rPr lang="ru" sz="700" u="none" strike="noStrike" dirty="0" smtClean="0">
                          <a:solidFill>
                            <a:schemeClr val="accent5">
                              <a:lumMod val="75000"/>
                              <a:lumOff val="25000"/>
                            </a:schemeClr>
                          </a:solidFill>
                          <a:effectLst/>
                          <a:latin typeface="+mj-lt"/>
                        </a:rPr>
                        <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RU" sz="700" u="none" strike="noStrike" dirty="0">
                          <a:solidFill>
                            <a:schemeClr val="accent5">
                              <a:lumMod val="75000"/>
                              <a:lumOff val="25000"/>
                            </a:schemeClr>
                          </a:solidFill>
                          <a:effectLst/>
                          <a:latin typeface="+mj-lt"/>
                        </a:rPr>
                        <a:t xml:space="preserve">Mandatory training (O)</a:t>
                      </a:r>
                      <a:r>
                        <a:rPr lang="ru" sz="700" u="none" strike="noStrike" dirty="0">
                          <a:solidFill>
                            <a:schemeClr val="accent5">
                              <a:lumMod val="75000"/>
                              <a:lumOff val="25000"/>
                            </a:schemeClr>
                          </a:solidFill>
                          <a:effectLst/>
                          <a:latin typeface="+mj-lt"/>
                        </a:rPr>
                        <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l" rtl="0" fontAlgn="ctr"/>
                      <a:r>
                        <a:rPr lang="ru" sz="700" u="none" strike="noStrike" dirty="0">
                          <a:solidFill>
                            <a:schemeClr val="accent5">
                              <a:lumMod val="75000"/>
                              <a:lumOff val="25000"/>
                            </a:schemeClr>
                          </a:solidFill>
                          <a:effectLst/>
                          <a:latin typeface="+mj-lt"/>
                        </a:rPr>
                        <a:t xml:space="preserve">2025</a:t>
                      </a:r>
                      <a:endParaRPr lang="en-US" sz="700" b="0" i="0" u="none" strike="noStrike" dirty="0">
                        <a:solidFill>
                          <a:schemeClr val="accent5">
                            <a:lumMod val="75000"/>
                            <a:lumOff val="25000"/>
                          </a:schemeClr>
                        </a:solidFill>
                        <a:effectLst/>
                        <a:latin typeface="+mj-lt"/>
                      </a:endParaRPr>
                    </a:p>
                  </a:txBody>
                  <a:tcPr marL="36000" marR="18000" marT="36000" marB="18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 xml:space="preserve">Execution Status</a:t>
                      </a: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0138932"/>
                  </a:ext>
                </a:extLst>
              </a:tr>
              <a:tr h="175700">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a:txBody>
                    <a:bodyPr/>
                    <a:lstStyle/>
                    <a:p>
                      <a:pPr algn="l" rtl="0" fontAlgn="ctr"/>
                      <a:r>
                        <a:rPr lang="ru" sz="700" u="none" strike="noStrike" spc="-30" baseline="0" dirty="0">
                          <a:solidFill>
                            <a:schemeClr val="accent5">
                              <a:lumMod val="75000"/>
                              <a:lumOff val="25000"/>
                            </a:schemeClr>
                          </a:solidFill>
                          <a:effectLst/>
                          <a:latin typeface="+mj-lt"/>
                        </a:rPr>
                        <a:t xml:space="preserve">1 sq.</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 xml:space="preserve">2 sq.</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 xml:space="preserve">Q3</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 xml:space="preserve">Q4</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700" b="0" i="0" u="none" strike="noStrike" spc="-30" baseline="0" dirty="0">
                        <a:solidFill>
                          <a:schemeClr val="accent5">
                            <a:lumMod val="75000"/>
                            <a:lumOff val="25000"/>
                          </a:schemeClr>
                        </a:solidFill>
                        <a:effectLst/>
                        <a:latin typeface="+mj-lt"/>
                      </a:endParaRPr>
                    </a:p>
                  </a:txBody>
                  <a:tcPr marL="36000" marR="18000" marT="36000" marB="18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1262013"/>
                  </a:ext>
                </a:extLst>
              </a:tr>
              <a:tr h="308019">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b="1" u="none" strike="noStrike" dirty="0">
                          <a:solidFill>
                            <a:schemeClr val="tx1"/>
                          </a:solidFill>
                          <a:effectLst/>
                          <a:latin typeface="+mj-lt"/>
                        </a:rPr>
                        <a:t xml:space="preserve">Target Audience</a:t>
                      </a:r>
                      <a:endParaRPr lang="en-US" sz="700" b="1"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1" i="0" u="none" strike="noStrike" dirty="0">
                          <a:solidFill>
                            <a:schemeClr val="tx1"/>
                          </a:solidFill>
                          <a:effectLst/>
                          <a:latin typeface="+mj-lt"/>
                        </a:rPr>
                        <a:t xml:space="preserve">Online training and compliance sessions, incl. on request</a:t>
                      </a:r>
                      <a:r>
                        <a:rPr lang="ru-RU" sz="700" b="1" i="0" u="none" strike="noStrike" baseline="0" dirty="0">
                          <a:solidFill>
                            <a:schemeClr val="tx1"/>
                          </a:solidFill>
                          <a:effectLst/>
                          <a:latin typeface="+mj-lt"/>
                        </a:rPr>
                        <a:t/>
                      </a:r>
                      <a:endParaRPr lang="en-US" sz="700" b="1"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dirty="0">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r>
                        <a:rPr lang="ru" sz="700" u="none" strike="noStrike" dirty="0">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tx1"/>
                          </a:solidFill>
                          <a:effectLst/>
                          <a:latin typeface="+mj-lt"/>
                        </a:rPr>
                        <a:t>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ctr" rtl="0" fontAlgn="b"/>
                      <a:r>
                        <a:rPr lang="ru" sz="700" u="none" strike="noStrike" dirty="0">
                          <a:solidFill>
                            <a:schemeClr val="accent5">
                              <a:lumMod val="75000"/>
                              <a:lumOff val="25000"/>
                            </a:schemeClr>
                          </a:solidFill>
                          <a:effectLst/>
                          <a:latin typeface="+mj-lt"/>
                        </a:rPr>
                        <a:t>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rtl="0" fontAlgn="b"/>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2202081867"/>
                  </a:ext>
                </a:extLst>
              </a:tr>
              <a:tr h="220169">
                <a:tc>
                  <a:txBody>
                    <a:bodyPr/>
                    <a:lstStyle/>
                    <a:p>
                      <a:pPr rtl="0"/>
                      <a:r>
                        <a:rPr lang="ru" sz="700" dirty="0">
                          <a:latin typeface="+mj-lt"/>
                        </a:rPr>
                        <a:t xml:space="preserve">Procurement, Sales, Finance, Department of Internal Affairs and Development, Lawyers, Risks</a:t>
                      </a:r>
                      <a:r>
                        <a:rPr lang="ru" sz="700" baseline="0" dirty="0">
                          <a:latin typeface="+mj-lt"/>
                        </a:rPr>
                        <a:t/>
                      </a:r>
                      <a:endParaRPr lang="ru" sz="700" dirty="0">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RU" sz="700" dirty="0">
                          <a:latin typeface="+mj-lt"/>
                        </a:rPr>
                        <a:t xml:space="preserve">Sanctions</a:t>
                      </a:r>
                      <a:endParaRPr lang="en-US" sz="700" dirty="0">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 xml:space="preserve">Full-time/VKS</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r>
                        <a:rPr lang="en-US" sz="700" dirty="0">
                          <a:latin typeface="+mj-lt"/>
                        </a:rPr>
                        <a:t xml:space="preserve">Sanctions</a:t>
                      </a: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a:ln>
                            <a:noFill/>
                          </a:ln>
                          <a:solidFill>
                            <a:srgbClr val="32373C"/>
                          </a:solidFill>
                          <a:effectLst/>
                          <a:uLnTx/>
                          <a:uFillTx/>
                          <a:latin typeface="+mj-lt"/>
                          <a:ea typeface="+mn-ea"/>
                          <a:cs typeface="+mn-cs"/>
                        </a:rPr>
                        <a:t xml:space="preserve">Record of visits / screenshot of VKS participants</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smtClean="0">
                          <a:ln>
                            <a:noFill/>
                          </a:ln>
                          <a:solidFill>
                            <a:schemeClr val="tx1"/>
                          </a:solidFill>
                          <a:effectLst/>
                          <a:uLnTx/>
                          <a:uFillTx/>
                          <a:latin typeface="+mj-lt"/>
                          <a:ea typeface="+mn-ea"/>
                          <a:cs typeface="+mn-cs"/>
                        </a:rPr>
                        <a:t>14</a:t>
                      </a:r>
                      <a:endParaRPr kumimoji="0" lang="ru" sz="700" b="0" i="0" u="none" strike="noStrike" kern="1200" cap="none" spc="0" normalizeH="0" baseline="0" noProof="0" dirty="0">
                        <a:ln>
                          <a:noFill/>
                        </a:ln>
                        <a:solidFill>
                          <a:schemeClr val="tx1"/>
                        </a:solidFill>
                        <a:effectLst/>
                        <a:uLnTx/>
                        <a:uFillTx/>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О</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7">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dirty="0" smtClean="0">
                          <a:latin typeface="+mn-lt"/>
                        </a:rPr>
                        <a:t xml:space="preserve">During 2025, the following in-person compliance sessions/trainings were conducted for Perimeter employees:</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Risks of third parties - within the framework of CCP training (including Compliance Sheet, compliance with sanctions, ABC, AML, DP, HR) - 722 employees.</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Principles and rules of the Policy on projects in the field of CSR and sponsorship and the Perimeter BIS Regulations for members of the Perimeter BIS Commissions and other employees participating in the consideration and support of BIS / CSR projects - 14 employees.</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Results of self-testing of the CPC and Compliance List - 28 employees.</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Discussion of the Compliance Report (dashboard) with the CEO of Perimeter Kazakhstan, Divisions, TG, MCE - 94 employees.</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Compliance Officer Day (online quiz, offline QUIZ, offline events at the EEC JSC site: Tone from Above session, panel discussion, solution of situational cases on compliance risks at the practical session “Ethics in Action”) – 204 employees.</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At the meeting of the strategic RG on information security - Key aspects of regulation within the framework of the draft Law of the Republic of Kazakhstan "On Artificial Intelligence" - 20 employees.</a:t>
                      </a:r>
                    </a:p>
                    <a:p>
                      <a:pPr algn="l" rtl="0"/>
                      <a:r>
                        <a:rPr lang="ru-RU" sz="700" dirty="0" smtClean="0">
                          <a:solidFill>
                            <a:schemeClr val="tx1"/>
                          </a:solidFill>
                          <a:latin typeface="+mj-lt"/>
                        </a:rPr>
                        <a:t xml:space="preserve">In-person functional training will continue in 2026.</a:t>
                      </a:r>
                      <a:r>
                        <a:rPr lang="ru-RU" sz="700" baseline="0" dirty="0" smtClean="0">
                          <a:solidFill>
                            <a:schemeClr val="tx1"/>
                          </a:solidFill>
                          <a:latin typeface="+mj-lt"/>
                        </a:rPr>
                        <a:t/>
                      </a:r>
                      <a:endParaRPr lang="en-US" sz="700" dirty="0">
                        <a:solidFill>
                          <a:schemeClr val="tx1"/>
                        </a:solidFill>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0527523"/>
                  </a:ext>
                </a:extLst>
              </a:tr>
              <a:tr h="220169">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700" dirty="0">
                          <a:latin typeface="+mj-lt"/>
                        </a:rPr>
                        <a:t xml:space="preserve">Procurement, Sales, Finance, Lawyers, HR, GR, DCC, OHS</a:t>
                      </a:r>
                      <a:r>
                        <a:rPr lang="en-US" sz="700" dirty="0">
                          <a:latin typeface="+mj-lt"/>
                        </a:rPr>
                        <a:t/>
                      </a:r>
                      <a:r>
                        <a:rPr lang="ru-RU" sz="700" dirty="0">
                          <a:latin typeface="+mj-lt"/>
                        </a:rPr>
                        <a:t/>
                      </a:r>
                      <a:r>
                        <a:rPr lang="en-US" sz="700" dirty="0">
                          <a:latin typeface="+mj-lt"/>
                        </a:rPr>
                        <a:t/>
                      </a:r>
                      <a:r>
                        <a:rPr lang="ru-RU" sz="700" dirty="0">
                          <a:latin typeface="+mj-lt"/>
                        </a:rPr>
                        <a:t/>
                      </a:r>
                      <a:endParaRPr lang="ru"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 xml:space="preserve">In-depth course on the Perimeter PDA, incl. by passes</a:t>
                      </a:r>
                      <a:r>
                        <a:rPr lang="ru-RU" sz="700" b="0" i="0" u="none" strike="noStrike" baseline="0" dirty="0">
                          <a:solidFill>
                            <a:schemeClr val="tx1"/>
                          </a:solidFill>
                          <a:effectLst/>
                          <a:latin typeface="+mj-lt"/>
                        </a:rPr>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r>
                        <a:rPr kumimoji="0" lang="ru-RU" sz="700" b="0" i="0" u="none" strike="noStrike" kern="1200" cap="none" spc="0" normalizeH="0" baseline="0" noProof="0" dirty="0">
                          <a:ln>
                            <a:noFill/>
                          </a:ln>
                          <a:solidFill>
                            <a:srgbClr val="32373C"/>
                          </a:solidFill>
                          <a:effectLst/>
                          <a:uLnTx/>
                          <a:uFillTx/>
                          <a:latin typeface="+mj-lt"/>
                          <a:ea typeface="+mn-ea"/>
                          <a:cs typeface="+mn-cs"/>
                        </a:rPr>
                        <a:t xml:space="preserve">Full-time/VKS</a:t>
                      </a:r>
                      <a:endParaRPr lang="en-US"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r>
                        <a:rPr lang="ru-RU" sz="700" dirty="0">
                          <a:latin typeface="+mj-lt"/>
                        </a:rPr>
                        <a:t xml:space="preserve">All</a:t>
                      </a:r>
                      <a:endParaRPr lang="en-US"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32373C"/>
                          </a:solidFill>
                          <a:effectLst/>
                          <a:uLnTx/>
                          <a:uFillTx/>
                          <a:latin typeface="+mj-lt"/>
                          <a:ea typeface="+mn-ea"/>
                          <a:cs typeface="+mn-cs"/>
                        </a:rPr>
                        <a:t xml:space="preserve">Record of visits / screenshot of VKS participants</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smtClean="0">
                          <a:ln>
                            <a:noFill/>
                          </a:ln>
                          <a:solidFill>
                            <a:schemeClr val="tx1"/>
                          </a:solidFill>
                          <a:effectLst/>
                          <a:uLnTx/>
                          <a:uFillTx/>
                          <a:latin typeface="+mj-lt"/>
                          <a:ea typeface="+mn-ea"/>
                          <a:cs typeface="+mn-cs"/>
                        </a:rPr>
                        <a:t>836</a:t>
                      </a:r>
                      <a:endParaRPr kumimoji="0" lang="ru" sz="700" b="0" i="0" u="none" strike="noStrike" kern="1200" cap="none" spc="0" normalizeH="0" baseline="0" noProof="0" dirty="0">
                        <a:ln>
                          <a:noFill/>
                        </a:ln>
                        <a:solidFill>
                          <a:schemeClr val="tx1"/>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 xml:space="preserve">O/Ad hoc</a:t>
                      </a:r>
                      <a:r>
                        <a:rPr lang="en-US" sz="700" dirty="0">
                          <a:solidFill>
                            <a:schemeClr val="accent5">
                              <a:lumMod val="75000"/>
                              <a:lumOff val="25000"/>
                            </a:schemeClr>
                          </a:solidFill>
                          <a:latin typeface="+mj-lt"/>
                        </a:rPr>
                        <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0606356"/>
                  </a:ext>
                </a:extLst>
              </a:tr>
              <a:tr h="483719">
                <a:tc>
                  <a:txBody>
                    <a:bodyPr/>
                    <a:lstStyle/>
                    <a:p>
                      <a:pPr rtl="0"/>
                      <a:r>
                        <a:rPr lang="ru" sz="700" dirty="0">
                          <a:latin typeface="+mj-lt"/>
                        </a:rPr>
                        <a:t xml:space="preserve">Members of the Commission on Business and Information Services of the EG and Enterprises and other employees participating in the consideration and support of projects on Business and Social Services / CSR</a:t>
                      </a:r>
                      <a:r>
                        <a:rPr lang="ru" sz="700" baseline="0" dirty="0">
                          <a:latin typeface="+mj-lt"/>
                        </a:rPr>
                        <a:t/>
                      </a:r>
                      <a:endParaRPr lang="ru"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RU" sz="700" dirty="0">
                          <a:latin typeface="+mj-lt"/>
                        </a:rPr>
                        <a:t xml:space="preserve">Principles and rules of the ERG Policy on projects in the field of CSR and sponsorship support and the Perimeter BIS Regulations</a:t>
                      </a:r>
                      <a:r>
                        <a:rPr lang="ru-RU" sz="700" b="0" u="none" strike="noStrike" kern="1200" baseline="0" dirty="0">
                          <a:solidFill>
                            <a:schemeClr val="tx1"/>
                          </a:solidFill>
                          <a:effectLst/>
                          <a:latin typeface="+mj-lt"/>
                          <a:ea typeface="+mn-ea"/>
                          <a:cs typeface="+mn-cs"/>
                        </a:rPr>
                        <a:t/>
                      </a:r>
                      <a:r>
                        <a:rPr lang="en-US" sz="700" b="0" u="none" strike="noStrike" kern="1200" baseline="0" dirty="0">
                          <a:solidFill>
                            <a:schemeClr val="tx1"/>
                          </a:solidFill>
                          <a:effectLst/>
                          <a:latin typeface="+mj-lt"/>
                          <a:ea typeface="+mn-ea"/>
                          <a:cs typeface="+mn-cs"/>
                        </a:rPr>
                        <a:t/>
                      </a:r>
                      <a:r>
                        <a:rPr lang="ru-RU" sz="700" b="0" u="none" strike="noStrike" kern="1200" baseline="0" dirty="0">
                          <a:solidFill>
                            <a:schemeClr val="tx1"/>
                          </a:solidFill>
                          <a:effectLst/>
                          <a:latin typeface="+mj-lt"/>
                          <a:ea typeface="+mn-ea"/>
                          <a:cs typeface="+mn-cs"/>
                        </a:rPr>
                        <a:t/>
                      </a:r>
                      <a:r>
                        <a:rPr lang="en-US" sz="700" b="0" u="none" strike="noStrike" kern="1200" baseline="0" dirty="0">
                          <a:solidFill>
                            <a:schemeClr val="tx1"/>
                          </a:solidFill>
                          <a:effectLst/>
                          <a:latin typeface="+mj-lt"/>
                          <a:ea typeface="+mn-ea"/>
                          <a:cs typeface="+mn-cs"/>
                        </a:rPr>
                        <a:t/>
                      </a:r>
                      <a:r>
                        <a:rPr lang="ru-RU" sz="700" b="0" u="none" strike="noStrike" kern="1200" baseline="0" dirty="0">
                          <a:solidFill>
                            <a:schemeClr val="tx1"/>
                          </a:solidFill>
                          <a:effectLst/>
                          <a:latin typeface="+mj-lt"/>
                          <a:ea typeface="+mn-ea"/>
                          <a:cs typeface="+mn-cs"/>
                        </a:rPr>
                        <a:t/>
                      </a:r>
                      <a:endParaRPr lang="en-US"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tx1"/>
                          </a:solidFill>
                          <a:effectLst/>
                          <a:latin typeface="+mj-lt"/>
                        </a:rPr>
                        <a:t xml:space="preserve">Full-time/VKS</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RU" sz="700" b="0" i="0" u="none" strike="noStrike" dirty="0">
                          <a:solidFill>
                            <a:schemeClr val="tx1"/>
                          </a:solidFill>
                          <a:effectLst/>
                          <a:latin typeface="+mj-lt"/>
                        </a:rPr>
                        <a:t xml:space="preserve">All</a:t>
                      </a:r>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32373C"/>
                          </a:solidFill>
                          <a:effectLst/>
                          <a:uLnTx/>
                          <a:uFillTx/>
                          <a:latin typeface="+mj-lt"/>
                          <a:ea typeface="+mn-ea"/>
                          <a:cs typeface="+mn-cs"/>
                        </a:rPr>
                        <a:t xml:space="preserve">Record of visits / screenshot of VKS participants</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smtClean="0">
                          <a:ln>
                            <a:noFill/>
                          </a:ln>
                          <a:solidFill>
                            <a:schemeClr val="tx1"/>
                          </a:solidFill>
                          <a:effectLst/>
                          <a:uLnTx/>
                          <a:uFillTx/>
                          <a:latin typeface="+mj-lt"/>
                          <a:ea typeface="+mn-ea"/>
                          <a:cs typeface="+mn-cs"/>
                        </a:rPr>
                        <a:t>31</a:t>
                      </a:r>
                      <a:endParaRPr kumimoji="0" lang="ru" sz="700" b="0" i="0" u="none" strike="noStrike" kern="1200" cap="none" spc="0" normalizeH="0" baseline="0" noProof="0" dirty="0">
                        <a:ln>
                          <a:noFill/>
                        </a:ln>
                        <a:solidFill>
                          <a:schemeClr val="tx1"/>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О</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9102411"/>
                  </a:ext>
                </a:extLst>
              </a:tr>
              <a:tr h="220169">
                <a:tc>
                  <a:txBody>
                    <a:bodyPr/>
                    <a:lstStyle/>
                    <a:p>
                      <a:pPr rtl="0"/>
                      <a:r>
                        <a:rPr lang="ru" sz="700" dirty="0">
                          <a:latin typeface="+mj-lt"/>
                        </a:rPr>
                        <a:t xml:space="preserve">DVAiKR, DB, HR, MCE and other functions on request</a:t>
                      </a:r>
                      <a:r>
                        <a:rPr lang="en-US" sz="700" dirty="0">
                          <a:latin typeface="+mj-lt"/>
                        </a:rPr>
                        <a:t/>
                      </a:r>
                      <a:r>
                        <a:rPr lang="ru-RU" sz="700" dirty="0">
                          <a:latin typeface="+mj-lt"/>
                        </a:rPr>
                        <a:t/>
                      </a:r>
                      <a:r>
                        <a:rPr lang="ru" sz="700" dirty="0">
                          <a:latin typeface="+mj-lt"/>
                        </a:rPr>
                        <a:t/>
                      </a:r>
                      <a:r>
                        <a:rPr lang="ru-RU" sz="700" dirty="0">
                          <a:latin typeface="+mj-lt"/>
                        </a:rPr>
                        <a:t/>
                      </a:r>
                      <a:r>
                        <a:rPr lang="ru" sz="700" dirty="0">
                          <a:latin typeface="+mj-lt"/>
                        </a:rPr>
                        <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ru-RU" sz="700" dirty="0">
                          <a:latin typeface="+mj-lt"/>
                        </a:rPr>
                        <a:t xml:space="preserve">Collection, processing and protection of personal data</a:t>
                      </a:r>
                      <a:endParaRPr lang="en-US"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 xml:space="preserve">Full-time/VKS</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r>
                        <a:rPr lang="en-US" sz="700" dirty="0">
                          <a:latin typeface="+mj-lt"/>
                        </a:rPr>
                        <a:t xml:space="preserve">D.P.</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32373C"/>
                          </a:solidFill>
                          <a:effectLst/>
                          <a:uLnTx/>
                          <a:uFillTx/>
                          <a:latin typeface="+mj-lt"/>
                          <a:ea typeface="+mn-ea"/>
                          <a:cs typeface="+mn-cs"/>
                        </a:rPr>
                        <a:t xml:space="preserve">Record of visits / screenshot of VKS participants</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kumimoji="0" lang="ru" sz="700" b="0" i="0" u="none" strike="noStrike" kern="1200" cap="none" spc="0" normalizeH="0" baseline="0" noProof="0" dirty="0">
                        <a:ln>
                          <a:noFill/>
                        </a:ln>
                        <a:solidFill>
                          <a:schemeClr val="tx1"/>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 xml:space="preserve">O/Ad hoc</a:t>
                      </a:r>
                      <a:r>
                        <a:rPr lang="en-US" sz="700" dirty="0">
                          <a:solidFill>
                            <a:schemeClr val="accent5">
                              <a:lumMod val="75000"/>
                              <a:lumOff val="25000"/>
                            </a:schemeClr>
                          </a:solidFill>
                          <a:latin typeface="+mj-lt"/>
                        </a:rPr>
                        <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127690"/>
                  </a:ext>
                </a:extLst>
              </a:tr>
              <a:tr h="220169">
                <a:tc>
                  <a:txBody>
                    <a:bodyPr/>
                    <a:lstStyle/>
                    <a:p>
                      <a:pPr rtl="0"/>
                      <a:r>
                        <a:rPr lang="ru" sz="700" dirty="0">
                          <a:latin typeface="+mj-lt"/>
                        </a:rPr>
                        <a:t xml:space="preserve">Strategic Group for Information Security</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dirty="0">
                          <a:latin typeface="+mj-lt"/>
                        </a:rPr>
                        <a:t xml:space="preserve">Collection, processing and protection of personal data</a:t>
                      </a:r>
                      <a:endParaRPr lang="en-US"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 xml:space="preserve">Full-time/VKS</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r>
                        <a:rPr lang="en-US" sz="700" dirty="0">
                          <a:latin typeface="+mj-lt"/>
                        </a:rPr>
                        <a:t xml:space="preserve">D.P.</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32373C"/>
                          </a:solidFill>
                          <a:effectLst/>
                          <a:uLnTx/>
                          <a:uFillTx/>
                          <a:latin typeface="+mj-lt"/>
                          <a:ea typeface="+mn-ea"/>
                          <a:cs typeface="+mn-cs"/>
                        </a:rPr>
                        <a:t xml:space="preserve">Record of visits / screenshot of VKS participants</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chemeClr val="tx1"/>
                          </a:solidFill>
                          <a:effectLst/>
                          <a:uLnTx/>
                          <a:uFillTx/>
                          <a:latin typeface="+mj-lt"/>
                          <a:ea typeface="+mn-ea"/>
                          <a:cs typeface="+mn-cs"/>
                        </a:rPr>
                        <a:t>12</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003751">
                              <a:lumMod val="75000"/>
                              <a:lumOff val="25000"/>
                            </a:srgbClr>
                          </a:solidFill>
                          <a:effectLst/>
                          <a:uLnTx/>
                          <a:uFillTx/>
                          <a:latin typeface="+mj-lt"/>
                          <a:ea typeface="+mn-ea"/>
                          <a:cs typeface="+mn-cs"/>
                        </a:rPr>
                        <a:t>О</a:t>
                      </a:r>
                      <a:endParaRPr kumimoji="0" lang="en-US" sz="700" b="0" i="0" u="none" strike="noStrike" kern="1200" cap="none" spc="0" normalizeH="0" baseline="0" noProof="0" dirty="0">
                        <a:ln>
                          <a:noFill/>
                        </a:ln>
                        <a:solidFill>
                          <a:srgbClr val="003751">
                            <a:lumMod val="75000"/>
                            <a:lumOff val="25000"/>
                          </a:srgbClr>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2945085"/>
                  </a:ext>
                </a:extLst>
              </a:tr>
              <a:tr h="308019">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 sz="700" dirty="0">
                          <a:latin typeface="+mj-lt"/>
                        </a:rPr>
                        <a:t xml:space="preserve">DCC EG and Enterprises, GR</a:t>
                      </a:r>
                      <a:r>
                        <a:rPr lang="ru-RU" sz="700" dirty="0">
                          <a:latin typeface="+mj-lt"/>
                        </a:rPr>
                        <a:t/>
                      </a:r>
                      <a:r>
                        <a:rPr lang="en-US" sz="700" dirty="0">
                          <a:latin typeface="+mj-lt"/>
                        </a:rPr>
                        <a:t/>
                      </a:r>
                      <a:endParaRPr lang="ru"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 xml:space="preserve">Risks in the field of business gifts and KRM, conflicts of interest, ABC</a:t>
                      </a:r>
                      <a:r>
                        <a:rPr lang="ru-RU" sz="700" b="0" i="0" u="none" strike="noStrike" dirty="0" smtClean="0">
                          <a:solidFill>
                            <a:schemeClr val="tx1"/>
                          </a:solidFill>
                          <a:effectLst/>
                          <a:latin typeface="+mj-lt"/>
                        </a:rPr>
                        <a:t/>
                      </a:r>
                      <a:r>
                        <a:rPr lang="ru-RU" sz="700" b="0" i="0" u="none" strike="noStrike" dirty="0">
                          <a:solidFill>
                            <a:schemeClr val="tx1"/>
                          </a:solidFill>
                          <a:effectLst/>
                          <a:latin typeface="+mj-lt"/>
                        </a:rPr>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j-lt"/>
                          <a:ea typeface="+mn-ea"/>
                          <a:cs typeface="+mn-cs"/>
                        </a:rPr>
                        <a:t xml:space="preserve">Full-time/VKS</a:t>
                      </a:r>
                      <a:endParaRPr lang="en-US"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r>
                        <a:rPr lang="en-US" sz="700" dirty="0">
                          <a:latin typeface="+mj-lt"/>
                        </a:rPr>
                        <a:t xml:space="preserve">ABC, CoI</a:t>
                      </a:r>
                      <a:r>
                        <a:rPr lang="en-US" sz="700" baseline="0" dirty="0">
                          <a:latin typeface="+mj-lt"/>
                        </a:rPr>
                        <a:t/>
                      </a:r>
                      <a:endParaRPr lang="en-US"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32373C"/>
                          </a:solidFill>
                          <a:effectLst/>
                          <a:uLnTx/>
                          <a:uFillTx/>
                          <a:latin typeface="+mj-lt"/>
                          <a:ea typeface="+mn-ea"/>
                          <a:cs typeface="+mn-cs"/>
                        </a:rPr>
                        <a:t xml:space="preserve">Record of visits / screenshot of VKS participants</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kumimoji="0" lang="ru" sz="700" b="0" i="0" u="none" strike="noStrike" kern="1200" cap="none" spc="0" normalizeH="0" baseline="0" noProof="0" dirty="0">
                        <a:ln>
                          <a:noFill/>
                        </a:ln>
                        <a:solidFill>
                          <a:schemeClr val="tx1"/>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О</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ru-RU" sz="700" dirty="0">
                          <a:solidFill>
                            <a:schemeClr val="accent5">
                              <a:lumMod val="75000"/>
                              <a:lumOff val="25000"/>
                            </a:schemeClr>
                          </a:solidFill>
                          <a:latin typeface="+mj-lt"/>
                        </a:rPr>
                        <a:t>Х</a:t>
                      </a:r>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a:endParaRPr lang="en-US" sz="700" dirty="0">
                        <a:solidFill>
                          <a:schemeClr val="accent5">
                            <a:lumMod val="75000"/>
                            <a:lumOff val="25000"/>
                          </a:schemeClr>
                        </a:solidFill>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904243"/>
                  </a:ext>
                </a:extLst>
              </a:tr>
              <a:tr h="395869">
                <a:tc>
                  <a:txBody>
                    <a:bodyPr/>
                    <a:lstStyle/>
                    <a:p>
                      <a:pPr rtl="0"/>
                      <a:r>
                        <a:rPr lang="ru" sz="700" dirty="0">
                          <a:latin typeface="+mj-lt"/>
                        </a:rPr>
                        <a:t xml:space="preserve">Employees involved in checking requests (Verification Matrix of the Perimeter WBS Instructions)</a:t>
                      </a:r>
                      <a:r>
                        <a:rPr lang="ru" sz="700" baseline="0" dirty="0">
                          <a:latin typeface="+mj-lt"/>
                        </a:rPr>
                        <a:t/>
                      </a:r>
                      <a:r>
                        <a:rPr lang="en-US" sz="700" baseline="0" dirty="0">
                          <a:latin typeface="+mj-lt"/>
                        </a:rPr>
                        <a:t/>
                      </a:r>
                      <a:r>
                        <a:rPr lang="ru-RU" sz="700" baseline="0" dirty="0">
                          <a:latin typeface="+mj-lt"/>
                        </a:rPr>
                        <a:t/>
                      </a:r>
                      <a:endParaRPr lang="ru" sz="700" dirty="0">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 sz="700" b="0" i="0" u="none" strike="noStrike" dirty="0">
                          <a:solidFill>
                            <a:schemeClr val="tx1"/>
                          </a:solidFill>
                          <a:effectLst/>
                          <a:latin typeface="+mj-lt"/>
                        </a:rPr>
                        <a:t xml:space="preserve">ERG principles regarding the verification of requests received through the Hotline channels</a:t>
                      </a:r>
                      <a:r>
                        <a:rPr lang="en-US" sz="700" b="0" i="0" u="none" strike="noStrike" dirty="0">
                          <a:solidFill>
                            <a:schemeClr val="tx1"/>
                          </a:solidFill>
                          <a:effectLst/>
                          <a:latin typeface="+mj-lt"/>
                        </a:rPr>
                        <a:t/>
                      </a:r>
                      <a:r>
                        <a:rPr lang="ru-RU" sz="700" b="0" i="0" u="none" strike="noStrike" dirty="0">
                          <a:solidFill>
                            <a:schemeClr val="tx1"/>
                          </a:solidFill>
                          <a:effectLst/>
                          <a:latin typeface="+mj-lt"/>
                        </a:rPr>
                        <a:t/>
                      </a:r>
                      <a:r>
                        <a:rPr lang="ru-RU" sz="700" b="0" i="0" u="none" strike="noStrike" baseline="0" dirty="0">
                          <a:solidFill>
                            <a:schemeClr val="tx1"/>
                          </a:solidFill>
                          <a:effectLst/>
                          <a:latin typeface="+mj-lt"/>
                        </a:rPr>
                        <a:t/>
                      </a:r>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 sz="700" b="0" i="0" u="none" strike="noStrike" dirty="0">
                          <a:solidFill>
                            <a:schemeClr val="tx1"/>
                          </a:solidFill>
                          <a:effectLst/>
                          <a:latin typeface="+mj-lt"/>
                        </a:rPr>
                        <a:t xml:space="preserve">Full-time/VKS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ru" sz="700" b="0" i="0" u="none" strike="noStrike">
                          <a:solidFill>
                            <a:schemeClr val="tx1"/>
                          </a:solidFill>
                          <a:effectLst/>
                          <a:latin typeface="+mj-lt"/>
                        </a:rPr>
                        <a:t xml:space="preserve">All</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32373C"/>
                          </a:solidFill>
                          <a:effectLst/>
                          <a:uLnTx/>
                          <a:uFillTx/>
                          <a:latin typeface="+mj-lt"/>
                          <a:ea typeface="+mn-ea"/>
                          <a:cs typeface="+mn-cs"/>
                        </a:rPr>
                        <a:t xml:space="preserve">Record of visits / screenshot of VKS participants</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ru" sz="700" b="0" i="0" u="none" strike="noStrike" dirty="0">
                          <a:solidFill>
                            <a:schemeClr val="accent5">
                              <a:lumMod val="75000"/>
                              <a:lumOff val="25000"/>
                            </a:schemeClr>
                          </a:solidFill>
                          <a:effectLst/>
                          <a:latin typeface="+mj-lt"/>
                        </a:rPr>
                        <a:t>O</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ru-RU" sz="700" b="0" i="0" u="none" strike="noStrike" dirty="0">
                          <a:solidFill>
                            <a:schemeClr val="accent5">
                              <a:lumMod val="75000"/>
                              <a:lumOff val="25000"/>
                            </a:schemeClr>
                          </a:solidFill>
                          <a:effectLst/>
                          <a:latin typeface="+mj-lt"/>
                        </a:rPr>
                        <a:t>Х</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endParaRPr lang="ru"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b"/>
                      <a:endParaRPr lang="ru"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3052722"/>
                  </a:ext>
                </a:extLst>
              </a:tr>
              <a:tr h="922970">
                <a:tc>
                  <a:txBody>
                    <a:bodyPr/>
                    <a:lstStyle/>
                    <a:p>
                      <a:pPr marL="0" algn="l" defTabSz="583170" rtl="0" eaLnBrk="1" latinLnBrk="0" hangingPunct="1"/>
                      <a:r>
                        <a:rPr lang="ru-RU" sz="700" kern="1200" noProof="0" dirty="0">
                          <a:solidFill>
                            <a:schemeClr val="dk1"/>
                          </a:solidFill>
                          <a:latin typeface="+mj-lt"/>
                          <a:ea typeface="+mn-ea"/>
                          <a:cs typeface="+mn-cs"/>
                        </a:rPr>
                        <a:t xml:space="preserve">Perimeter Procurement Function Employees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i="0" kern="1200" dirty="0">
                          <a:solidFill>
                            <a:schemeClr val="tx1"/>
                          </a:solidFill>
                          <a:latin typeface="+mj-lt"/>
                          <a:ea typeface="+mn-ea"/>
                          <a:cs typeface="+mn-cs"/>
                        </a:rPr>
                        <a:t xml:space="preserve">Ethical principles of ERG, risks of fraud, incl. commercial bribery, joint session with DVAiKR</a:t>
                      </a:r>
                      <a:r>
                        <a:rPr lang="en-US" sz="700" i="0" kern="1200" dirty="0">
                          <a:solidFill>
                            <a:schemeClr val="tx1"/>
                          </a:solidFill>
                          <a:latin typeface="+mj-lt"/>
                          <a:ea typeface="+mn-ea"/>
                          <a:cs typeface="+mn-cs"/>
                        </a:rPr>
                        <a:t/>
                      </a:r>
                      <a:r>
                        <a:rPr lang="ru-RU" sz="700" i="0" kern="1200" dirty="0">
                          <a:solidFill>
                            <a:schemeClr val="tx1"/>
                          </a:solidFill>
                          <a:latin typeface="+mj-lt"/>
                          <a:ea typeface="+mn-ea"/>
                          <a:cs typeface="+mn-cs"/>
                        </a:rPr>
                        <a:t/>
                      </a:r>
                      <a:r>
                        <a:rPr lang="ru-RU" sz="700" b="0" i="0" u="none" strike="noStrike" kern="1200" dirty="0">
                          <a:solidFill>
                            <a:schemeClr val="tx1"/>
                          </a:solidFill>
                          <a:effectLst/>
                          <a:latin typeface="+mj-lt"/>
                          <a:ea typeface="+mn-ea"/>
                          <a:cs typeface="+mn-cs"/>
                        </a:rPr>
                        <a:t/>
                      </a:r>
                      <a:r>
                        <a:rPr lang="ru-RU" sz="700" b="0" i="0" u="none" strike="noStrike" dirty="0">
                          <a:solidFill>
                            <a:schemeClr val="tx1"/>
                          </a:solidFill>
                          <a:effectLst/>
                          <a:latin typeface="+mj-lt"/>
                        </a:rPr>
                        <a:t/>
                      </a:r>
                      <a:r>
                        <a:rPr lang="ru-RU" sz="700" b="0" i="0" u="none" strike="noStrike" baseline="0" dirty="0">
                          <a:solidFill>
                            <a:schemeClr val="tx1"/>
                          </a:solidFill>
                          <a:effectLst/>
                          <a:latin typeface="+mj-lt"/>
                        </a:rPr>
                        <a:t/>
                      </a:r>
                      <a:r>
                        <a:rPr lang="ru-RU" sz="700" b="0" i="0" u="none" strike="noStrike" dirty="0">
                          <a:solidFill>
                            <a:schemeClr val="tx1"/>
                          </a:solidFill>
                          <a:effectLst/>
                          <a:latin typeface="+mj-lt"/>
                        </a:rPr>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tx1"/>
                          </a:solidFill>
                          <a:effectLst/>
                          <a:latin typeface="+mj-lt"/>
                        </a:rPr>
                        <a:t xml:space="preserve">Full-time/VKS</a:t>
                      </a:r>
                      <a:endParaRPr lang="ru"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b" latinLnBrk="0" hangingPunct="1"/>
                      <a:r>
                        <a:rPr lang="en-US" sz="700" kern="1200" dirty="0">
                          <a:solidFill>
                            <a:schemeClr val="dk1"/>
                          </a:solidFill>
                          <a:latin typeface="+mj-lt"/>
                          <a:ea typeface="+mn-ea"/>
                          <a:cs typeface="+mn-cs"/>
                        </a:rPr>
                        <a:t xml:space="preserve">ABC, CoI, Fraud</a:t>
                      </a:r>
                      <a:endParaRPr lang="ru"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32373C"/>
                          </a:solidFill>
                          <a:effectLst/>
                          <a:uLnTx/>
                          <a:uFillTx/>
                          <a:latin typeface="+mj-lt"/>
                          <a:ea typeface="+mn-ea"/>
                          <a:cs typeface="+mn-cs"/>
                        </a:rPr>
                        <a:t xml:space="preserve">Record of visits / screenshot of VKS participants</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endParaRPr lang="ru"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 sz="700" b="0" i="0" u="none" strike="noStrike" kern="1200" dirty="0">
                          <a:solidFill>
                            <a:schemeClr val="accent5">
                              <a:lumMod val="75000"/>
                              <a:lumOff val="25000"/>
                            </a:schemeClr>
                          </a:solidFill>
                          <a:effectLst/>
                          <a:latin typeface="+mj-lt"/>
                          <a:ea typeface="+mn-ea"/>
                          <a:cs typeface="+mn-cs"/>
                        </a:rPr>
                        <a:t>О</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 sz="700" b="0" i="0" u="none" strike="noStrike" kern="1200" dirty="0">
                          <a:solidFill>
                            <a:schemeClr val="accent5">
                              <a:lumMod val="75000"/>
                              <a:lumOff val="25000"/>
                            </a:schemeClr>
                          </a:solidFill>
                          <a:effectLst/>
                          <a:latin typeface="+mj-lt"/>
                          <a:ea typeface="+mn-ea"/>
                          <a:cs typeface="+mn-cs"/>
                        </a:rPr>
                        <a:t>Х</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700" kern="1200" dirty="0" smtClean="0">
                          <a:solidFill>
                            <a:schemeClr val="dk1"/>
                          </a:solidFill>
                          <a:effectLst/>
                          <a:latin typeface="+mn-lt"/>
                          <a:ea typeface="+mn-ea"/>
                          <a:cs typeface="+mn-cs"/>
                        </a:rPr>
                        <a:t xml:space="preserve">Conducting planned additional face-to-face training for employees of the Perimeter Procurement function on the topic - ERG ethical principles, fraud risks, incl. commercial bribery (joint session with DVAiKR), postponed to 2026. taking into account:</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r>
                        <a:rPr lang="ru-RU" sz="700" kern="1200" dirty="0" err="1" smtClean="0">
                          <a:solidFill>
                            <a:schemeClr val="dk1"/>
                          </a:solidFill>
                          <a:effectLst/>
                          <a:latin typeface="+mn-lt"/>
                          <a:ea typeface="+mn-ea"/>
                          <a:cs typeface="+mn-cs"/>
                        </a:rPr>
                        <a:t/>
                      </a:r>
                      <a:r>
                        <a:rPr lang="ru-RU" sz="700" kern="1200" dirty="0" smtClean="0">
                          <a:solidFill>
                            <a:schemeClr val="dk1"/>
                          </a:solidFill>
                          <a:effectLst/>
                          <a:latin typeface="+mn-lt"/>
                          <a:ea typeface="+mn-ea"/>
                          <a:cs typeface="+mn-cs"/>
                        </a:rPr>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the launch from 07/17/2025 of the mandatory course “Anti-bribery and corruption” (including for the Procurement function), which covers the risks of fraud - as of 12/31/2025, 82.94% of Perimeter employees had completed the training, incl. 81.07% of CC employees (the course resumed in July 2026);</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the ERG Group's plans to update its Anti-Fraud Policy with the development of a fraud prevention framework and program in 2026;</a:t>
                      </a:r>
                    </a:p>
                    <a:p>
                      <a:pPr marL="87313" marR="0" lvl="0" indent="-87313" algn="l" defTabSz="583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700" b="0" kern="1200" dirty="0" smtClean="0">
                          <a:solidFill>
                            <a:schemeClr val="dk1"/>
                          </a:solidFill>
                          <a:latin typeface="+mn-lt"/>
                          <a:ea typeface="+mn-ea"/>
                          <a:cs typeface="+mn-cs"/>
                        </a:rPr>
                        <a:t xml:space="preserve">limited resources of the Directorate for Compliance and DVAiKR.</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929559"/>
                  </a:ext>
                </a:extLst>
              </a:tr>
              <a:tr h="1098670">
                <a:tc>
                  <a:txBody>
                    <a:bodyPr/>
                    <a:lstStyle/>
                    <a:p>
                      <a:pPr marL="0" algn="l" defTabSz="583170" rtl="0" eaLnBrk="1" latinLnBrk="0" hangingPunct="1"/>
                      <a:r>
                        <a:rPr lang="ru-RU" sz="700" kern="1200" noProof="0" dirty="0">
                          <a:solidFill>
                            <a:schemeClr val="dk1"/>
                          </a:solidFill>
                          <a:latin typeface="+mj-lt"/>
                          <a:ea typeface="+mn-ea"/>
                          <a:cs typeface="+mn-cs"/>
                        </a:rPr>
                        <a:t xml:space="preserve">Leadership Academy Employees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kern="1200" noProof="0" dirty="0">
                          <a:solidFill>
                            <a:schemeClr val="dk1"/>
                          </a:solidFill>
                          <a:latin typeface="+mj-lt"/>
                          <a:ea typeface="+mn-ea"/>
                          <a:cs typeface="+mn-cs"/>
                        </a:rPr>
                        <a:t xml:space="preserve">Sessions in the “train the trainer” format to train new Perimeter employees on site about the ethical principles of ERG</a:t>
                      </a:r>
                      <a:endParaRPr lang="en-US" sz="700" b="0" i="1" u="none" strike="noStrike" dirty="0">
                        <a:solidFill>
                          <a:srgbClr val="FF0000"/>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tx1"/>
                          </a:solidFill>
                          <a:effectLst/>
                          <a:latin typeface="+mj-lt"/>
                        </a:rPr>
                        <a:t xml:space="preserve">Full-time/VKS</a:t>
                      </a:r>
                    </a:p>
                    <a:p>
                      <a:pPr marL="0" marR="0" lvl="0" indent="0" algn="l" defTabSz="583170" rtl="0" eaLnBrk="1" fontAlgn="b" latinLnBrk="0" hangingPunct="1">
                        <a:lnSpc>
                          <a:spcPct val="100000"/>
                        </a:lnSpc>
                        <a:spcBef>
                          <a:spcPts val="0"/>
                        </a:spcBef>
                        <a:spcAft>
                          <a:spcPts val="0"/>
                        </a:spcAft>
                        <a:buClrTx/>
                        <a:buSzTx/>
                        <a:buFontTx/>
                        <a:buNone/>
                        <a:tabLst/>
                        <a:defRPr/>
                      </a:pPr>
                      <a:endParaRPr lang="ru"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b" latinLnBrk="0" hangingPunct="1"/>
                      <a:r>
                        <a:rPr lang="ru" sz="700" kern="1200" dirty="0">
                          <a:solidFill>
                            <a:schemeClr val="dk1"/>
                          </a:solidFill>
                          <a:latin typeface="+mj-lt"/>
                          <a:ea typeface="+mn-ea"/>
                          <a:cs typeface="+mn-cs"/>
                        </a:rPr>
                        <a:t xml:space="preserve">All</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kumimoji="0" lang="ru" sz="700" b="0" i="0" u="none" strike="noStrike" kern="1200" cap="none" spc="0" normalizeH="0" baseline="0" noProof="0" dirty="0">
                          <a:ln>
                            <a:noFill/>
                          </a:ln>
                          <a:solidFill>
                            <a:srgbClr val="32373C"/>
                          </a:solidFill>
                          <a:effectLst/>
                          <a:uLnTx/>
                          <a:uFillTx/>
                          <a:latin typeface="+mj-lt"/>
                          <a:ea typeface="+mn-ea"/>
                          <a:cs typeface="+mn-cs"/>
                        </a:rPr>
                        <a:t xml:space="preserve">Record of visits / screenshot of VKS participants</a:t>
                      </a:r>
                      <a:endParaRPr kumimoji="0" lang="en-US" sz="700" b="0" i="0" u="none" strike="noStrike" kern="1200" cap="none" spc="0" normalizeH="0" baseline="0" noProof="0" dirty="0">
                        <a:ln>
                          <a:noFill/>
                        </a:ln>
                        <a:solidFill>
                          <a:srgbClr val="32373C"/>
                        </a:solidFill>
                        <a:effectLst/>
                        <a:uLnTx/>
                        <a:uFillTx/>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tx1"/>
                          </a:solidFill>
                          <a:effectLst/>
                          <a:latin typeface="+mj-lt"/>
                        </a:rPr>
                        <a:t xml:space="preserve">To be confirmed</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en-US" sz="700" b="0" i="0" u="none" strike="noStrike" kern="1200" dirty="0">
                          <a:solidFill>
                            <a:schemeClr val="accent5">
                              <a:lumMod val="75000"/>
                              <a:lumOff val="25000"/>
                            </a:schemeClr>
                          </a:solidFill>
                          <a:effectLst/>
                          <a:latin typeface="+mj-lt"/>
                          <a:ea typeface="+mn-ea"/>
                          <a:cs typeface="+mn-cs"/>
                        </a:rPr>
                        <a:t>O</a:t>
                      </a:r>
                      <a:endParaRPr lang="ru"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ru-RU" sz="700" b="0" i="0" u="none" strike="noStrike" kern="1200" dirty="0">
                          <a:solidFill>
                            <a:schemeClr val="accent5">
                              <a:lumMod val="75000"/>
                              <a:lumOff val="25000"/>
                            </a:schemeClr>
                          </a:solidFill>
                          <a:effectLst/>
                          <a:latin typeface="+mj-lt"/>
                          <a:ea typeface="+mn-ea"/>
                          <a:cs typeface="+mn-cs"/>
                        </a:rPr>
                        <a:t>Х</a:t>
                      </a:r>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accent5">
                              <a:lumMod val="75000"/>
                              <a:lumOff val="25000"/>
                            </a:schemeClr>
                          </a:solidFill>
                          <a:effectLst/>
                          <a:latin typeface="+mj-lt"/>
                        </a:rPr>
                        <a:t>X</a:t>
                      </a:r>
                    </a:p>
                    <a:p>
                      <a:pPr marL="0" algn="ctr" defTabSz="583170" rtl="0" eaLnBrk="1" fontAlgn="b" latinLnBrk="0" hangingPunct="1"/>
                      <a:endParaRPr lang="ru"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dirty="0" smtClean="0">
                          <a:latin typeface="+mn-lt"/>
                        </a:rPr>
                        <a:t xml:space="preserve">In the 1st half of 2025, the Compliance Directorate (DC) developed training materials for an introductory course on ethics. ERG principles for new Perimeter employees. In April 2025, the Leadership Academy of the Corporate University (CU) announced the launch of offline welcome training in the second half of 2025. In this regard, MYR agreed to postpone the task until the end of 2025. In July 2025, CU announced that due to limited resources, the development of welcome training by the end of 2025 is not included in the Mandatory Training Plan and this task transferred to the “Stop” status. In August 2025, the DC decided to adjust the Compliance Training Program for 2025 based on the results of a discussion with the CU, including the exclusion of the development of a course on the ethical principles of ERG and holding “train the trainer” sessions for employees of the Leadership Academy, and also taking into account that the DC had an additional task to develop a course for employees in the “Workers” category.</a:t>
                      </a:r>
                      <a:r>
                        <a:rPr lang="ru-RU" sz="700" b="0" dirty="0"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err="1" smtClean="0">
                          <a:latin typeface="+mn-lt"/>
                        </a:rPr>
                        <a:t/>
                      </a:r>
                      <a:r>
                        <a:rPr lang="ru-RU" sz="700" b="0" dirty="0" smtClean="0">
                          <a:latin typeface="+mn-lt"/>
                        </a:rPr>
                        <a:t/>
                      </a:r>
                      <a:r>
                        <a:rPr lang="ru-RU" sz="700" b="0" dirty="0" smtClean="0">
                          <a:latin typeface="+mn-lt"/>
                        </a:rPr>
                        <a:t/>
                      </a:r>
                      <a:r>
                        <a:rPr lang="ru-RU" sz="700" b="0" dirty="0" smtClean="0">
                          <a:latin typeface="+mn-lt"/>
                        </a:rPr>
                        <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5843594"/>
                  </a:ext>
                </a:extLst>
              </a:tr>
            </a:tbl>
          </a:graphicData>
        </a:graphic>
      </p:graphicFrame>
    </p:spTree>
    <p:extLst>
      <p:ext uri="{BB962C8B-B14F-4D97-AF65-F5344CB8AC3E}">
        <p14:creationId xmlns:p14="http://schemas.microsoft.com/office/powerpoint/2010/main" val="9158332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6EE351A-4F52-4B9F-86B1-5A4F4372B075}"/>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6038" name="think-cell Slide" r:id="rId5" imgW="473" imgH="473" progId="TCLayout.ActiveDocument.1">
                  <p:embed/>
                </p:oleObj>
              </mc:Choice>
              <mc:Fallback>
                <p:oleObj name="think-cell Slide" r:id="rId5" imgW="473" imgH="473" progId="TCLayout.ActiveDocument.1">
                  <p:embed/>
                  <p:pic>
                    <p:nvPicPr>
                      <p:cNvPr id="4" name="think-cell data - do not delete" hidden="1">
                        <a:extLst>
                          <a:ext uri="{FF2B5EF4-FFF2-40B4-BE49-F238E27FC236}">
                            <a16:creationId xmlns:a16="http://schemas.microsoft.com/office/drawing/2014/main" id="{76EE351A-4F52-4B9F-86B1-5A4F4372B07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A69D35-12EB-4434-9232-DC54BC04A09F}"/>
              </a:ext>
            </a:extLst>
          </p:cNvPr>
          <p:cNvSpPr>
            <a:spLocks noGrp="1"/>
          </p:cNvSpPr>
          <p:nvPr>
            <p:ph type="title"/>
          </p:nvPr>
        </p:nvSpPr>
        <p:spPr>
          <a:xfrm>
            <a:off x="317499" y="0"/>
            <a:ext cx="10584209" cy="704850"/>
          </a:xfrm>
        </p:spPr>
        <p:txBody>
          <a:bodyPr vert="horz" rtlCol="0"/>
          <a:lstStyle/>
          <a:p>
            <a:r>
              <a:rPr lang="ru-RU" dirty="0"/>
              <a:t xml:space="preserve">Annual compliance program 2025: Perimeter Kazakhstan Implementation status - Compliance training program</a:t>
            </a:r>
            <a:br>
              <a:rPr lang="ru-RU" dirty="0"/>
            </a:br>
            <a:r>
              <a:rPr lang="ru-RU" dirty="0">
                <a:solidFill>
                  <a:schemeClr val="tx1"/>
                </a:solidFill>
              </a:rPr>
              <a:t/>
            </a:r>
            <a:r>
              <a:rPr lang="ru" dirty="0" smtClean="0">
                <a:solidFill>
                  <a:schemeClr val="tx1"/>
                </a:solidFill>
              </a:rPr>
              <a:t/>
            </a:r>
            <a:endParaRPr lang="ru" dirty="0">
              <a:solidFill>
                <a:schemeClr val="tx1"/>
              </a:solidFill>
            </a:endParaRPr>
          </a:p>
        </p:txBody>
      </p:sp>
      <p:graphicFrame>
        <p:nvGraphicFramePr>
          <p:cNvPr id="6" name="Table 5">
            <a:extLst>
              <a:ext uri="{FF2B5EF4-FFF2-40B4-BE49-F238E27FC236}">
                <a16:creationId xmlns:a16="http://schemas.microsoft.com/office/drawing/2014/main" id="{41E38550-D414-4094-A22F-C70BB79F7442}"/>
              </a:ext>
            </a:extLst>
          </p:cNvPr>
          <p:cNvGraphicFramePr>
            <a:graphicFrameLocks noGrp="1"/>
          </p:cNvGraphicFramePr>
          <p:nvPr>
            <p:extLst>
              <p:ext uri="{D42A27DB-BD31-4B8C-83A1-F6EECF244321}">
                <p14:modId xmlns:p14="http://schemas.microsoft.com/office/powerpoint/2010/main" val="2585713967"/>
              </p:ext>
            </p:extLst>
          </p:nvPr>
        </p:nvGraphicFramePr>
        <p:xfrm>
          <a:off x="239596" y="904568"/>
          <a:ext cx="11736000" cy="5124600"/>
        </p:xfrm>
        <a:graphic>
          <a:graphicData uri="http://schemas.openxmlformats.org/drawingml/2006/table">
            <a:tbl>
              <a:tblPr>
                <a:tableStyleId>{5C22544A-7EE6-4342-B048-85BDC9FD1C3A}</a:tableStyleId>
              </a:tblPr>
              <a:tblGrid>
                <a:gridCol w="1296000">
                  <a:extLst>
                    <a:ext uri="{9D8B030D-6E8A-4147-A177-3AD203B41FA5}">
                      <a16:colId xmlns:a16="http://schemas.microsoft.com/office/drawing/2014/main" val="1405931119"/>
                    </a:ext>
                  </a:extLst>
                </a:gridCol>
                <a:gridCol w="1296000">
                  <a:extLst>
                    <a:ext uri="{9D8B030D-6E8A-4147-A177-3AD203B41FA5}">
                      <a16:colId xmlns:a16="http://schemas.microsoft.com/office/drawing/2014/main" val="3697848050"/>
                    </a:ext>
                  </a:extLst>
                </a:gridCol>
                <a:gridCol w="504000">
                  <a:extLst>
                    <a:ext uri="{9D8B030D-6E8A-4147-A177-3AD203B41FA5}">
                      <a16:colId xmlns:a16="http://schemas.microsoft.com/office/drawing/2014/main" val="280189921"/>
                    </a:ext>
                  </a:extLst>
                </a:gridCol>
                <a:gridCol w="468000">
                  <a:extLst>
                    <a:ext uri="{9D8B030D-6E8A-4147-A177-3AD203B41FA5}">
                      <a16:colId xmlns:a16="http://schemas.microsoft.com/office/drawing/2014/main" val="2849685821"/>
                    </a:ext>
                  </a:extLst>
                </a:gridCol>
                <a:gridCol w="1044000">
                  <a:extLst>
                    <a:ext uri="{9D8B030D-6E8A-4147-A177-3AD203B41FA5}">
                      <a16:colId xmlns:a16="http://schemas.microsoft.com/office/drawing/2014/main" val="3602705157"/>
                    </a:ext>
                  </a:extLst>
                </a:gridCol>
                <a:gridCol w="1008000">
                  <a:extLst>
                    <a:ext uri="{9D8B030D-6E8A-4147-A177-3AD203B41FA5}">
                      <a16:colId xmlns:a16="http://schemas.microsoft.com/office/drawing/2014/main" val="770680002"/>
                    </a:ext>
                  </a:extLst>
                </a:gridCol>
                <a:gridCol w="756000">
                  <a:extLst>
                    <a:ext uri="{9D8B030D-6E8A-4147-A177-3AD203B41FA5}">
                      <a16:colId xmlns:a16="http://schemas.microsoft.com/office/drawing/2014/main" val="673600722"/>
                    </a:ext>
                  </a:extLst>
                </a:gridCol>
                <a:gridCol w="252000">
                  <a:extLst>
                    <a:ext uri="{9D8B030D-6E8A-4147-A177-3AD203B41FA5}">
                      <a16:colId xmlns:a16="http://schemas.microsoft.com/office/drawing/2014/main" val="4111977573"/>
                    </a:ext>
                  </a:extLst>
                </a:gridCol>
                <a:gridCol w="252000">
                  <a:extLst>
                    <a:ext uri="{9D8B030D-6E8A-4147-A177-3AD203B41FA5}">
                      <a16:colId xmlns:a16="http://schemas.microsoft.com/office/drawing/2014/main" val="1553107606"/>
                    </a:ext>
                  </a:extLst>
                </a:gridCol>
                <a:gridCol w="252000">
                  <a:extLst>
                    <a:ext uri="{9D8B030D-6E8A-4147-A177-3AD203B41FA5}">
                      <a16:colId xmlns:a16="http://schemas.microsoft.com/office/drawing/2014/main" val="304441070"/>
                    </a:ext>
                  </a:extLst>
                </a:gridCol>
                <a:gridCol w="252000">
                  <a:extLst>
                    <a:ext uri="{9D8B030D-6E8A-4147-A177-3AD203B41FA5}">
                      <a16:colId xmlns:a16="http://schemas.microsoft.com/office/drawing/2014/main" val="3925450415"/>
                    </a:ext>
                  </a:extLst>
                </a:gridCol>
                <a:gridCol w="4356000">
                  <a:extLst>
                    <a:ext uri="{9D8B030D-6E8A-4147-A177-3AD203B41FA5}">
                      <a16:colId xmlns:a16="http://schemas.microsoft.com/office/drawing/2014/main" val="460414649"/>
                    </a:ext>
                  </a:extLst>
                </a:gridCol>
              </a:tblGrid>
              <a:tr h="0">
                <a:tc rowSpan="2">
                  <a:txBody>
                    <a:bodyPr/>
                    <a:lstStyle/>
                    <a:p>
                      <a:pPr algn="l" rtl="0" fontAlgn="ctr"/>
                      <a:r>
                        <a:rPr lang="ru" sz="700" u="none" strike="noStrike" dirty="0">
                          <a:solidFill>
                            <a:schemeClr val="accent5">
                              <a:lumMod val="75000"/>
                              <a:lumOff val="25000"/>
                            </a:schemeClr>
                          </a:solidFill>
                          <a:effectLst/>
                          <a:latin typeface="+mj-lt"/>
                        </a:rPr>
                        <a:t xml:space="preserve">Perimeter target audience</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RU" sz="700" u="none" strike="noStrike" dirty="0">
                          <a:solidFill>
                            <a:schemeClr val="accent5">
                              <a:lumMod val="75000"/>
                              <a:lumOff val="25000"/>
                            </a:schemeClr>
                          </a:solidFill>
                          <a:effectLst/>
                          <a:latin typeface="+mj-lt"/>
                        </a:rPr>
                        <a:t xml:space="preserve">Program/topic of study</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 xml:space="preserve">Training format</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b="0" i="0" u="none" strike="noStrike" dirty="0">
                          <a:solidFill>
                            <a:schemeClr val="accent5">
                              <a:lumMod val="75000"/>
                              <a:lumOff val="25000"/>
                            </a:schemeClr>
                          </a:solidFill>
                          <a:effectLst/>
                          <a:latin typeface="+mj-lt"/>
                        </a:rPr>
                        <a:t xml:space="preserve">Risks</a:t>
                      </a: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 xml:space="preserve">Confirmation</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 sz="700" u="none" strike="noStrike" dirty="0">
                          <a:solidFill>
                            <a:schemeClr val="accent5">
                              <a:lumMod val="75000"/>
                              <a:lumOff val="25000"/>
                            </a:schemeClr>
                          </a:solidFill>
                          <a:effectLst/>
                          <a:latin typeface="+mj-lt"/>
                        </a:rPr>
                        <a:t xml:space="preserve">Approx.</a:t>
                      </a:r>
                    </a:p>
                    <a:p>
                      <a:pPr algn="l" rtl="0" fontAlgn="ctr"/>
                      <a:r>
                        <a:rPr lang="ru-RU" sz="700" u="none" strike="noStrike" dirty="0">
                          <a:solidFill>
                            <a:schemeClr val="accent5">
                              <a:lumMod val="75000"/>
                              <a:lumOff val="25000"/>
                            </a:schemeClr>
                          </a:solidFill>
                          <a:effectLst/>
                          <a:latin typeface="+mj-lt"/>
                        </a:rPr>
                        <a:t xml:space="preserve">number of employees at the beginning of 2025</a:t>
                      </a:r>
                      <a:r>
                        <a:rPr lang="ru" sz="700" u="none" strike="noStrike" dirty="0">
                          <a:solidFill>
                            <a:schemeClr val="accent5">
                              <a:lumMod val="75000"/>
                              <a:lumOff val="25000"/>
                            </a:schemeClr>
                          </a:solidFill>
                          <a:effectLst/>
                          <a:latin typeface="+mj-lt"/>
                        </a:rPr>
                        <a:t/>
                      </a:r>
                      <a:r>
                        <a:rPr lang="ru" sz="700" u="none" strike="noStrike" dirty="0" smtClean="0">
                          <a:solidFill>
                            <a:schemeClr val="accent5">
                              <a:lumMod val="75000"/>
                              <a:lumOff val="25000"/>
                            </a:schemeClr>
                          </a:solidFill>
                          <a:effectLst/>
                          <a:latin typeface="+mj-lt"/>
                        </a:rPr>
                        <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rtl="0" fontAlgn="ctr"/>
                      <a:r>
                        <a:rPr lang="ru-RU" sz="700" u="none" strike="noStrike" dirty="0">
                          <a:solidFill>
                            <a:schemeClr val="accent5">
                              <a:lumMod val="75000"/>
                              <a:lumOff val="25000"/>
                            </a:schemeClr>
                          </a:solidFill>
                          <a:effectLst/>
                          <a:latin typeface="+mj-lt"/>
                        </a:rPr>
                        <a:t xml:space="preserve">Mandatory training (O)</a:t>
                      </a:r>
                      <a:r>
                        <a:rPr lang="ru" sz="700" u="none" strike="noStrike" dirty="0">
                          <a:solidFill>
                            <a:schemeClr val="accent5">
                              <a:lumMod val="75000"/>
                              <a:lumOff val="25000"/>
                            </a:schemeClr>
                          </a:solidFill>
                          <a:effectLst/>
                          <a:latin typeface="+mj-lt"/>
                        </a:rPr>
                        <a:t/>
                      </a:r>
                      <a:endParaRPr lang="en-US" sz="700" b="0" i="0" u="none" strike="noStrike"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l" rtl="0" fontAlgn="ctr"/>
                      <a:r>
                        <a:rPr lang="ru" sz="700" u="none" strike="noStrike" dirty="0">
                          <a:solidFill>
                            <a:schemeClr val="accent5">
                              <a:lumMod val="75000"/>
                              <a:lumOff val="25000"/>
                            </a:schemeClr>
                          </a:solidFill>
                          <a:effectLst/>
                          <a:latin typeface="+mj-lt"/>
                        </a:rPr>
                        <a:t xml:space="preserve">2025</a:t>
                      </a:r>
                      <a:endParaRPr lang="en-US" sz="700" b="0" i="0" u="none" strike="noStrike" dirty="0">
                        <a:solidFill>
                          <a:schemeClr val="accent5">
                            <a:lumMod val="75000"/>
                            <a:lumOff val="25000"/>
                          </a:schemeClr>
                        </a:solidFill>
                        <a:effectLst/>
                        <a:latin typeface="+mj-lt"/>
                      </a:endParaRPr>
                    </a:p>
                  </a:txBody>
                  <a:tcPr marL="36000" marR="18000" marT="36000" marB="18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rowSpan="2">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 xml:space="preserve">Execution Status</a:t>
                      </a: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0138932"/>
                  </a:ext>
                </a:extLst>
              </a:tr>
              <a:tr h="0">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vMerge="1">
                  <a:txBody>
                    <a:bodyPr/>
                    <a:lstStyle/>
                    <a:p>
                      <a:pPr rtl="0"/>
                      <a:endParaRPr lang="en-US"/>
                    </a:p>
                  </a:txBody>
                  <a:tcPr/>
                </a:tc>
                <a:tc>
                  <a:txBody>
                    <a:bodyPr/>
                    <a:lstStyle/>
                    <a:p>
                      <a:pPr algn="l" rtl="0" fontAlgn="ctr"/>
                      <a:r>
                        <a:rPr lang="ru" sz="700" u="none" strike="noStrike" spc="-30" baseline="0" dirty="0">
                          <a:solidFill>
                            <a:schemeClr val="accent5">
                              <a:lumMod val="75000"/>
                              <a:lumOff val="25000"/>
                            </a:schemeClr>
                          </a:solidFill>
                          <a:effectLst/>
                          <a:latin typeface="+mj-lt"/>
                        </a:rPr>
                        <a:t xml:space="preserve">1 sq.</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 xml:space="preserve">2 sq.</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 xml:space="preserve">Q3</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spc="-30" baseline="0" dirty="0">
                          <a:solidFill>
                            <a:schemeClr val="accent5">
                              <a:lumMod val="75000"/>
                              <a:lumOff val="25000"/>
                            </a:schemeClr>
                          </a:solidFill>
                          <a:effectLst/>
                          <a:latin typeface="+mj-lt"/>
                        </a:rPr>
                        <a:t xml:space="preserve">Q4</a:t>
                      </a:r>
                      <a:endParaRPr lang="en-US" sz="700" b="0" i="0" u="none" strike="noStrike" spc="-30" baseline="0" dirty="0">
                        <a:solidFill>
                          <a:schemeClr val="accent5">
                            <a:lumMod val="75000"/>
                            <a:lumOff val="25000"/>
                          </a:schemeClr>
                        </a:solidFill>
                        <a:effectLst/>
                        <a:latin typeface="+mj-lt"/>
                      </a:endParaRPr>
                    </a:p>
                  </a:txBody>
                  <a:tcPr marL="36000" marR="18000" marT="36000" marB="1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rtl="0" fontAlgn="ctr"/>
                      <a:endParaRPr lang="en-US" sz="700" b="0" i="0" u="none" strike="noStrike" spc="-30" baseline="0" dirty="0">
                        <a:solidFill>
                          <a:schemeClr val="accent5">
                            <a:lumMod val="75000"/>
                            <a:lumOff val="25000"/>
                          </a:schemeClr>
                        </a:solidFill>
                        <a:effectLst/>
                        <a:latin typeface="+mj-lt"/>
                      </a:endParaRPr>
                    </a:p>
                  </a:txBody>
                  <a:tcPr marL="36000" marR="18000" marT="36000" marB="1800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5">
                          <a:lumMod val="75000"/>
                          <a:lumOff val="25000"/>
                        </a:schemeClr>
                      </a:solidFill>
                      <a:prstDash val="solid"/>
                      <a:round/>
                      <a:headEnd type="none" w="med" len="med"/>
                      <a:tailEnd type="none" w="med" len="med"/>
                    </a:lnT>
                    <a:lnB w="9525" cap="flat" cmpd="sng" algn="ctr">
                      <a:solidFill>
                        <a:schemeClr val="accent5">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1262013"/>
                  </a:ext>
                </a:extLst>
              </a:tr>
              <a:tr h="0">
                <a:tc>
                  <a:txBody>
                    <a:bodyPr/>
                    <a:lstStyle/>
                    <a:p>
                      <a:pPr marL="0" algn="l" defTabSz="583170" rtl="0" eaLnBrk="1" latinLnBrk="0" hangingPunct="1"/>
                      <a:r>
                        <a:rPr lang="ru-RU" sz="700" b="1" kern="1200" noProof="0" dirty="0">
                          <a:solidFill>
                            <a:schemeClr val="dk1"/>
                          </a:solidFill>
                          <a:latin typeface="+mj-lt"/>
                          <a:ea typeface="+mn-ea"/>
                          <a:cs typeface="+mn-cs"/>
                        </a:rPr>
                        <a:t xml:space="preserve">Third parties</a:t>
                      </a:r>
                      <a:r>
                        <a:rPr lang="ru-RU" sz="700" b="1" kern="1200" baseline="0" noProof="0" dirty="0">
                          <a:solidFill>
                            <a:schemeClr val="dk1"/>
                          </a:solidFill>
                          <a:latin typeface="+mj-lt"/>
                          <a:ea typeface="+mn-ea"/>
                          <a:cs typeface="+mn-cs"/>
                        </a:rPr>
                        <a:t/>
                      </a:r>
                      <a:endParaRPr lang="ru-RU" sz="700" b="1" kern="1200" noProof="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1" i="0" u="none" strike="noStrike" dirty="0">
                          <a:solidFill>
                            <a:schemeClr val="tx1"/>
                          </a:solidFill>
                          <a:effectLst/>
                          <a:latin typeface="+mj-lt"/>
                        </a:rPr>
                        <a:t xml:space="preserve">Online training and compliance sessions, incl. on request</a:t>
                      </a:r>
                      <a:r>
                        <a:rPr lang="ru-RU" sz="700" b="1" i="0" u="none" strike="noStrike" baseline="0" dirty="0">
                          <a:solidFill>
                            <a:schemeClr val="tx1"/>
                          </a:solidFill>
                          <a:effectLst/>
                          <a:latin typeface="+mj-lt"/>
                        </a:rPr>
                        <a:t/>
                      </a:r>
                      <a:endParaRPr lang="en-US" sz="700" b="1" i="0" u="none" strike="noStrike" dirty="0">
                        <a:solidFill>
                          <a:schemeClr val="tx1"/>
                        </a:solidFill>
                        <a:effectLst/>
                        <a:latin typeface="+mj-lt"/>
                      </a:endParaRPr>
                    </a:p>
                  </a:txBody>
                  <a:tcPr marL="36000" marR="18000" marT="36000" marB="18000" anchor="ctr">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endParaRPr lang="ru" sz="700" b="1"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l" defTabSz="583170" rtl="0" eaLnBrk="1" fontAlgn="b" latinLnBrk="0" hangingPunct="1"/>
                      <a:endParaRPr lang="ru" sz="700" b="1"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endParaRPr lang="ru" sz="700" b="1"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lang="ru" sz="700" b="1" kern="1200" dirty="0">
                        <a:solidFill>
                          <a:schemeClr val="tx1"/>
                        </a:solidFill>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ru"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en-US"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ru"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en-US"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en-US"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l" defTabSz="583170" rtl="0" eaLnBrk="1" fontAlgn="b" latinLnBrk="0" hangingPunct="1"/>
                      <a:endParaRPr lang="en-US"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accent5">
                          <a:lumMod val="75000"/>
                          <a:lumOff val="2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3014425996"/>
                  </a:ext>
                </a:extLst>
              </a:tr>
              <a:tr h="0">
                <a:tc rowSpan="2">
                  <a:txBody>
                    <a:bodyPr/>
                    <a:lstStyle/>
                    <a:p>
                      <a:pPr marL="0" algn="l" defTabSz="583170" rtl="0" eaLnBrk="1" latinLnBrk="0" hangingPunct="1"/>
                      <a:r>
                        <a:rPr lang="ru-RU" sz="700" kern="1200" noProof="0" dirty="0">
                          <a:solidFill>
                            <a:schemeClr val="dk1"/>
                          </a:solidFill>
                          <a:latin typeface="+mj-lt"/>
                          <a:ea typeface="+mn-ea"/>
                          <a:cs typeface="+mn-cs"/>
                        </a:rPr>
                        <a:t xml:space="preserve">Perimeter Suppliers</a:t>
                      </a: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 xml:space="preserve">ERG Supplier Code of Conduct</a:t>
                      </a:r>
                      <a:r>
                        <a:rPr lang="en-US" sz="700" b="0" i="0" u="none" strike="noStrike" dirty="0">
                          <a:solidFill>
                            <a:schemeClr val="tx1"/>
                          </a:solidFill>
                          <a:effectLst/>
                          <a:latin typeface="+mj-lt"/>
                        </a:rPr>
                        <a:t/>
                      </a:r>
                      <a:endParaRPr lang="en-US" sz="700" b="0" i="1" u="none" strike="noStrike" dirty="0">
                        <a:solidFill>
                          <a:srgbClr val="FF0000"/>
                        </a:solidFill>
                        <a:effectLst/>
                        <a:latin typeface="+mj-lt"/>
                      </a:endParaRPr>
                    </a:p>
                  </a:txBody>
                  <a:tcPr marL="36000" marR="18000" marT="36000" marB="18000" anchor="ctr">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kern="1200" dirty="0">
                          <a:solidFill>
                            <a:schemeClr val="dk1"/>
                          </a:solidFill>
                          <a:latin typeface="+mj-lt"/>
                          <a:ea typeface="+mn-ea"/>
                          <a:cs typeface="+mn-cs"/>
                        </a:rPr>
                        <a:t xml:space="preserve">Online</a:t>
                      </a:r>
                      <a:endParaRPr lang="ru"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b" latinLnBrk="0" hangingPunct="1"/>
                      <a:r>
                        <a:rPr lang="ru" sz="700" kern="1200" dirty="0">
                          <a:solidFill>
                            <a:schemeClr val="dk1"/>
                          </a:solidFill>
                          <a:latin typeface="+mj-lt"/>
                          <a:ea typeface="+mn-ea"/>
                          <a:cs typeface="+mn-cs"/>
                        </a:rPr>
                        <a:t xml:space="preserve">All</a:t>
                      </a: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kern="1200" dirty="0">
                          <a:solidFill>
                            <a:schemeClr val="dk1"/>
                          </a:solidFill>
                          <a:latin typeface="+mj-lt"/>
                          <a:ea typeface="+mn-ea"/>
                          <a:cs typeface="+mn-cs"/>
                        </a:rPr>
                        <a:t xml:space="preserve">TBA (platform dependent)</a:t>
                      </a: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 sz="700" kern="1200" dirty="0">
                          <a:solidFill>
                            <a:schemeClr val="tx1"/>
                          </a:solidFill>
                          <a:latin typeface="+mj-lt"/>
                          <a:ea typeface="+mn-ea"/>
                          <a:cs typeface="+mn-cs"/>
                        </a:rPr>
                        <a:t>2 457</a:t>
                      </a: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accent5">
                              <a:lumMod val="75000"/>
                              <a:lumOff val="25000"/>
                            </a:schemeClr>
                          </a:solidFill>
                          <a:effectLst/>
                          <a:latin typeface="+mj-lt"/>
                        </a:rPr>
                        <a:t>O</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gridSpan="4">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RU" sz="700" b="0" i="1" u="none" strike="noStrike" baseline="0" dirty="0">
                          <a:solidFill>
                            <a:schemeClr val="accent5">
                              <a:lumMod val="75000"/>
                              <a:lumOff val="25000"/>
                            </a:schemeClr>
                          </a:solidFill>
                          <a:effectLst/>
                          <a:latin typeface="+mj-lt"/>
                        </a:rPr>
                        <a:t xml:space="preserve">subject to the resumption of the course</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marL="0" algn="ctr" defTabSz="583170" rtl="0" eaLnBrk="1" fontAlgn="b" latinLnBrk="0" hangingPunct="1"/>
                      <a:endParaRPr lang="ru" sz="650" b="0" i="0" u="none" strike="noStrike" kern="1200" dirty="0">
                        <a:solidFill>
                          <a:schemeClr val="accent5">
                            <a:lumMod val="75000"/>
                            <a:lumOff val="25000"/>
                          </a:schemeClr>
                        </a:solidFill>
                        <a:effectLst/>
                        <a:latin typeface="+mn-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marL="0" algn="ctr" defTabSz="583170" rtl="0" eaLnBrk="1" fontAlgn="b" latinLnBrk="0" hangingPunct="1"/>
                      <a:endParaRPr lang="en-US" sz="650" b="0" i="0" u="none" strike="noStrike" kern="1200" dirty="0">
                        <a:solidFill>
                          <a:schemeClr val="accent5">
                            <a:lumMod val="75000"/>
                            <a:lumOff val="25000"/>
                          </a:schemeClr>
                        </a:solidFill>
                        <a:effectLst/>
                        <a:latin typeface="+mn-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marL="0" algn="ctr" defTabSz="583170" rtl="0" eaLnBrk="1" fontAlgn="b" latinLnBrk="0" hangingPunct="1"/>
                      <a:endParaRPr lang="en-US" sz="650" b="0" i="0" u="none" strike="noStrike" kern="1200" dirty="0">
                        <a:solidFill>
                          <a:schemeClr val="accent5">
                            <a:lumMod val="75000"/>
                            <a:lumOff val="25000"/>
                          </a:schemeClr>
                        </a:solidFill>
                        <a:effectLst/>
                        <a:latin typeface="+mn-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0" i="0" u="none" strike="noStrike" dirty="0" smtClean="0">
                          <a:solidFill>
                            <a:schemeClr val="tx1"/>
                          </a:solidFill>
                          <a:effectLst/>
                          <a:latin typeface="+mj-lt"/>
                        </a:rPr>
                        <a:t xml:space="preserve">As of the end of 2025, 52% of Perimeter's key suppliers who completed training in 2023 in the online course “ERG Supplier Code of Conduct” (hereinafter referred to as the SCoC course), taking into account that training on this course was suspended in Q1. 2024, due to the end of support from BTS for the Jumysbar learning platform, which hosted the SCoC course in 2023. The search for a platform that would provide third party access to training was conducted from spring 2024 to fall 2025. In September 2025, an existing LMS (employee training platform) was selected as such a platform. Currently awaiting technical support. implementation of providing third party access to this platform. In November 2025, the SCORM package of the SCoC course was posted on the LMS for testing, which resulted in a number of technical errors, irrelevant hyperlinks to documents and the Hotline, the inability to complete the SCoC course on mobile devices, etc. In December 2025, it was proposed to eliminate the identified deficiencies and further support the Group’s SCoC course from the budget of Perimeter Kazakhstan. As a result of the discussion on December 30, 2025, the Perimeter Compliance Directorate did not support this funding of the course due to the limited ability to correct the above shortcomings, as well as based on the experience of difficulties in making any corrections to the course, proposing to consider the development of our own SCoC course together with the Perimeter Corporate University with the mandatory presence of the Kazakh language, a mobile version and correct Hotline data (48% of requests to GL comes from third parties). In January 2026, the CU confirmed the possibility of developing a course from scratch internally, it was reported that the course is not included in the CU plan for 2026, however, if materials are provided in March 2026, digitalization is possible from April 2026 with a development period of 1–2 months, with the proposal of an additional meeting to discuss the development of three courses of interest to the Compliance Directorate.</a:t>
                      </a:r>
                      <a:r>
                        <a:rPr lang="ru-RU" sz="700" b="0" i="0" u="none" strike="noStrike" dirty="0" err="1" smtClean="0">
                          <a:solidFill>
                            <a:schemeClr val="tx1"/>
                          </a:solidFill>
                          <a:effectLst/>
                          <a:latin typeface="+mj-lt"/>
                        </a:rPr>
                        <a:t/>
                      </a:r>
                      <a:r>
                        <a:rPr lang="ru-RU" sz="700" b="0" i="0" u="none" strike="noStrike" dirty="0" smtClean="0">
                          <a:solidFill>
                            <a:schemeClr val="tx1"/>
                          </a:solidFill>
                          <a:effectLst/>
                          <a:latin typeface="+mj-lt"/>
                        </a:rPr>
                        <a:t/>
                      </a:r>
                      <a:r>
                        <a:rPr lang="ru-RU" sz="700" b="0" i="0" u="none" strike="noStrike" dirty="0" err="1" smtClean="0">
                          <a:solidFill>
                            <a:schemeClr val="tx1"/>
                          </a:solidFill>
                          <a:effectLst/>
                          <a:latin typeface="+mj-lt"/>
                        </a:rPr>
                        <a:t/>
                      </a:r>
                      <a:r>
                        <a:rPr lang="ru-RU" sz="700" b="0" i="0" u="none" strike="noStrike" dirty="0" smtClean="0">
                          <a:solidFill>
                            <a:schemeClr val="tx1"/>
                          </a:solidFill>
                          <a:effectLst/>
                          <a:latin typeface="+mj-lt"/>
                        </a:rPr>
                        <a:t/>
                      </a:r>
                      <a:r>
                        <a:rPr lang="ru-RU" sz="700" b="0" i="0" u="none" strike="noStrike" dirty="0" err="1" smtClean="0">
                          <a:solidFill>
                            <a:schemeClr val="tx1"/>
                          </a:solidFill>
                          <a:effectLst/>
                          <a:latin typeface="+mj-lt"/>
                        </a:rPr>
                        <a:t/>
                      </a:r>
                      <a:r>
                        <a:rPr lang="ru-RU" sz="700" b="0" i="0" u="none" strike="noStrike" dirty="0" smtClean="0">
                          <a:solidFill>
                            <a:schemeClr val="tx1"/>
                          </a:solidFill>
                          <a:effectLst/>
                          <a:latin typeface="+mj-lt"/>
                        </a:rPr>
                        <a:t/>
                      </a:r>
                      <a:r>
                        <a:rPr lang="ru-RU" sz="700" b="0" i="0" u="none" strike="noStrike" dirty="0" err="1" smtClean="0">
                          <a:solidFill>
                            <a:schemeClr val="tx1"/>
                          </a:solidFill>
                          <a:effectLst/>
                          <a:latin typeface="+mj-lt"/>
                        </a:rPr>
                        <a:t/>
                      </a:r>
                      <a:r>
                        <a:rPr lang="ru-RU" sz="700" b="0" i="0" u="none" strike="noStrike" dirty="0" smtClean="0">
                          <a:solidFill>
                            <a:schemeClr val="tx1"/>
                          </a:solidFill>
                          <a:effectLst/>
                          <a:latin typeface="+mj-lt"/>
                        </a:rPr>
                        <a:t/>
                      </a:r>
                      <a:r>
                        <a:rPr lang="ru-RU" sz="700" b="0" i="0" u="none" strike="noStrike" dirty="0" err="1" smtClean="0">
                          <a:solidFill>
                            <a:schemeClr val="tx1"/>
                          </a:solidFill>
                          <a:effectLst/>
                          <a:latin typeface="+mj-lt"/>
                        </a:rPr>
                        <a:t/>
                      </a:r>
                      <a:r>
                        <a:rPr lang="ru-RU" sz="700" b="0" i="0" u="none" strike="noStrike" dirty="0" smtClean="0">
                          <a:solidFill>
                            <a:schemeClr val="tx1"/>
                          </a:solidFill>
                          <a:effectLst/>
                          <a:latin typeface="+mj-lt"/>
                        </a:rPr>
                        <a:t/>
                      </a:r>
                      <a:r>
                        <a:rPr lang="ru-RU" sz="700" b="0" i="0" u="none" strike="noStrike" dirty="0" err="1" smtClean="0">
                          <a:solidFill>
                            <a:schemeClr val="tx1"/>
                          </a:solidFill>
                          <a:effectLst/>
                          <a:latin typeface="+mj-lt"/>
                        </a:rPr>
                        <a:t/>
                      </a:r>
                      <a:r>
                        <a:rPr lang="ru-RU" sz="700" b="0" i="0" u="none" strike="noStrike" dirty="0" smtClean="0">
                          <a:solidFill>
                            <a:schemeClr val="tx1"/>
                          </a:solidFill>
                          <a:effectLst/>
                          <a:latin typeface="+mj-lt"/>
                        </a:rPr>
                        <a:t/>
                      </a:r>
                      <a:r>
                        <a:rPr lang="ru-RU" sz="700" b="0" i="0" u="none" strike="noStrike" dirty="0" smtClean="0">
                          <a:solidFill>
                            <a:schemeClr val="tx1"/>
                          </a:solidFill>
                          <a:effectLst/>
                          <a:latin typeface="+mj-lt"/>
                        </a:rPr>
                        <a:t/>
                      </a:r>
                      <a:r>
                        <a:rPr lang="ru-RU" sz="700" b="0" i="0" u="none" strike="noStrike" dirty="0" smtClean="0">
                          <a:solidFill>
                            <a:schemeClr val="tx1"/>
                          </a:solidFill>
                          <a:effectLst/>
                          <a:latin typeface="+mj-lt"/>
                        </a:rPr>
                        <a:t/>
                      </a:r>
                      <a:r>
                        <a:rPr lang="ru-RU" sz="700" b="0" i="0" u="none" strike="noStrike" smtClean="0">
                          <a:solidFill>
                            <a:schemeClr val="tx1"/>
                          </a:solidFill>
                          <a:effectLst/>
                          <a:latin typeface="+mj-lt"/>
                        </a:rPr>
                        <a:t/>
                      </a:r>
                      <a:r>
                        <a:rPr lang="ru-RU" sz="700" b="0" i="0" u="none" strike="noStrike" smtClean="0">
                          <a:solidFill>
                            <a:schemeClr val="tx1"/>
                          </a:solidFill>
                          <a:effectLst/>
                          <a:latin typeface="+mj-lt"/>
                        </a:rPr>
                        <a:t/>
                      </a:r>
                      <a:r>
                        <a:rPr lang="ru-RU" sz="700" b="0" i="0" u="none" strike="noStrike" dirty="0" smtClean="0">
                          <a:solidFill>
                            <a:schemeClr val="tx1"/>
                          </a:solidFill>
                          <a:effectLst/>
                          <a:latin typeface="+mj-lt"/>
                        </a:rPr>
                        <a:t/>
                      </a:r>
                      <a:r>
                        <a:rPr lang="ru-RU" sz="700" b="0" i="0" u="none" strike="noStrike" dirty="0" err="1" smtClean="0">
                          <a:solidFill>
                            <a:schemeClr val="tx1"/>
                          </a:solidFill>
                          <a:effectLst/>
                          <a:latin typeface="+mj-lt"/>
                        </a:rPr>
                        <a:t/>
                      </a:r>
                      <a:r>
                        <a:rPr lang="ru-RU" sz="700" b="0" i="0" u="none" strike="noStrike" dirty="0" smtClean="0">
                          <a:solidFill>
                            <a:schemeClr val="tx1"/>
                          </a:solidFill>
                          <a:effectLst/>
                          <a:latin typeface="+mj-lt"/>
                        </a:rPr>
                        <a:t/>
                      </a:r>
                      <a:r>
                        <a:rPr lang="ru-RU" sz="700" b="0" i="0" u="none" strike="noStrike" kern="1200" dirty="0" smtClean="0">
                          <a:solidFill>
                            <a:schemeClr val="tx1"/>
                          </a:solidFill>
                          <a:effectLst/>
                          <a:latin typeface="+mj-lt"/>
                          <a:ea typeface="+mn-ea"/>
                          <a:cs typeface="+mn-cs"/>
                        </a:rPr>
                        <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0758485"/>
                  </a:ext>
                </a:extLst>
              </a:tr>
              <a:tr h="0">
                <a:tc vMerge="1">
                  <a:txBody>
                    <a:bodyPr/>
                    <a:lstStyle/>
                    <a:p>
                      <a:pPr marL="0" algn="l" defTabSz="583170" rtl="0" eaLnBrk="1" latinLnBrk="0" hangingPunct="1"/>
                      <a:endParaRPr lang="ru-RU" sz="650" kern="1200" noProof="0" dirty="0">
                        <a:solidFill>
                          <a:schemeClr val="dk1"/>
                        </a:solidFill>
                        <a:latin typeface="+mn-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j-lt"/>
                        </a:rPr>
                        <a:t xml:space="preserve">incl. key suppliers</a:t>
                      </a:r>
                      <a:endParaRPr lang="en-US" sz="700" b="0" i="0" u="none" strike="noStrike" dirty="0">
                        <a:solidFill>
                          <a:schemeClr val="tx1"/>
                        </a:solidFill>
                        <a:effectLst/>
                        <a:latin typeface="+mj-lt"/>
                      </a:endParaRPr>
                    </a:p>
                  </a:txBody>
                  <a:tcPr marL="36000" marR="18000" marT="36000" marB="18000" anchor="ctr">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endParaRPr lang="ru" sz="700" kern="1200" dirty="0">
                        <a:solidFill>
                          <a:schemeClr val="tx1"/>
                        </a:solidFill>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b" latinLnBrk="0" hangingPunct="1"/>
                      <a:endParaRPr lang="ru"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endParaRPr lang="ru"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 sz="700" kern="1200" dirty="0">
                          <a:solidFill>
                            <a:schemeClr val="tx1"/>
                          </a:solidFill>
                          <a:latin typeface="+mj-lt"/>
                          <a:ea typeface="+mn-ea"/>
                          <a:cs typeface="+mn-cs"/>
                        </a:rPr>
                        <a:t>52</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ru-RU" sz="700" b="0" i="0" u="none" strike="noStrike" dirty="0">
                          <a:solidFill>
                            <a:schemeClr val="accent5">
                              <a:lumMod val="75000"/>
                              <a:lumOff val="25000"/>
                            </a:schemeClr>
                          </a:solidFill>
                          <a:effectLst/>
                          <a:latin typeface="+mj-lt"/>
                        </a:rPr>
                        <a:t>О</a:t>
                      </a:r>
                      <a:endParaRPr lang="en-US" sz="700" b="0" i="0" u="none" strike="noStrike" dirty="0">
                        <a:solidFill>
                          <a:schemeClr val="accent5">
                            <a:lumMod val="75000"/>
                            <a:lumOff val="25000"/>
                          </a:schemeClr>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4" vMerge="1">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lang="en-US" sz="650" b="0" i="0" u="none" strike="noStrike" dirty="0">
                        <a:solidFill>
                          <a:schemeClr val="accent5">
                            <a:lumMod val="75000"/>
                            <a:lumOff val="25000"/>
                          </a:schemeClr>
                        </a:solidFill>
                        <a:effectLst/>
                        <a:latin typeface="+mn-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ru-RU"/>
                    </a:p>
                  </a:txBody>
                  <a:tcPr/>
                </a:tc>
                <a:tc hMerge="1" vMerge="1">
                  <a:txBody>
                    <a:bodyPr/>
                    <a:lstStyle/>
                    <a:p>
                      <a:endParaRPr lang="ru-RU"/>
                    </a:p>
                  </a:txBody>
                  <a:tcPr/>
                </a:tc>
                <a:tc hMerge="1" vMerge="1">
                  <a:txBody>
                    <a:bodyPr/>
                    <a:lstStyle/>
                    <a:p>
                      <a:endParaRPr lang="ru-RU"/>
                    </a:p>
                  </a:txBody>
                  <a:tcPr/>
                </a:tc>
                <a:tc vMerge="1">
                  <a:txBody>
                    <a:bodyPr/>
                    <a:lstStyle/>
                    <a:p>
                      <a:endParaRPr lang="ru-RU"/>
                    </a:p>
                  </a:txBody>
                  <a:tcPr/>
                </a:tc>
                <a:extLst>
                  <a:ext uri="{0D108BD9-81ED-4DB2-BD59-A6C34878D82A}">
                    <a16:rowId xmlns:a16="http://schemas.microsoft.com/office/drawing/2014/main" val="1160491091"/>
                  </a:ext>
                </a:extLst>
              </a:tr>
              <a:tr h="0">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kern="1200" dirty="0">
                          <a:solidFill>
                            <a:schemeClr val="dk1"/>
                          </a:solidFill>
                          <a:latin typeface="+mj-lt"/>
                          <a:ea typeface="+mn-ea"/>
                          <a:cs typeface="+mn-cs"/>
                        </a:rPr>
                        <a:t xml:space="preserve">ERG Supplier Award participants</a:t>
                      </a:r>
                      <a:endParaRPr lang="en-US"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700" b="0" i="0" u="none" strike="noStrike" dirty="0">
                          <a:solidFill>
                            <a:schemeClr val="tx1"/>
                          </a:solidFill>
                          <a:effectLst/>
                          <a:latin typeface="+mj-lt"/>
                        </a:rPr>
                        <a:t xml:space="preserve">ESG &amp; compliance session (on request)</a:t>
                      </a:r>
                      <a:r>
                        <a:rPr lang="ru-RU" sz="700" b="0" i="0" u="none" strike="noStrike" dirty="0">
                          <a:solidFill>
                            <a:schemeClr val="tx1"/>
                          </a:solidFill>
                          <a:effectLst/>
                          <a:latin typeface="+mj-lt"/>
                        </a:rPr>
                        <a:t/>
                      </a:r>
                      <a:r>
                        <a:rPr lang="ru-RU" sz="700" b="0" i="0" u="none" strike="noStrike" baseline="0" dirty="0">
                          <a:solidFill>
                            <a:schemeClr val="tx1"/>
                          </a:solidFill>
                          <a:effectLst/>
                          <a:latin typeface="+mj-lt"/>
                        </a:rPr>
                        <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tx1"/>
                          </a:solidFill>
                          <a:effectLst/>
                          <a:latin typeface="+mj-lt"/>
                        </a:rPr>
                        <a:t xml:space="preserve">Full-time/VKS</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b" latinLnBrk="0" hangingPunct="1"/>
                      <a:r>
                        <a:rPr lang="en-US" sz="700" kern="1200" dirty="0">
                          <a:solidFill>
                            <a:schemeClr val="dk1"/>
                          </a:solidFill>
                          <a:latin typeface="+mj-lt"/>
                          <a:ea typeface="+mn-ea"/>
                          <a:cs typeface="+mn-cs"/>
                        </a:rPr>
                        <a:t xml:space="preserve">ESG</a:t>
                      </a:r>
                      <a:endParaRPr lang="ru"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kern="1200" dirty="0">
                          <a:solidFill>
                            <a:schemeClr val="dk1"/>
                          </a:solidFill>
                          <a:latin typeface="+mj-lt"/>
                          <a:ea typeface="+mn-ea"/>
                          <a:cs typeface="+mn-cs"/>
                        </a:rPr>
                        <a:t xml:space="preserve">TBA (platform dependent)</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en-US" sz="700" b="0" i="0" u="none" strike="noStrike" dirty="0">
                          <a:solidFill>
                            <a:schemeClr val="tx1"/>
                          </a:solidFill>
                          <a:effectLst/>
                          <a:latin typeface="+mj-lt"/>
                        </a:rPr>
                        <a:t xml:space="preserve">Ad hoc</a:t>
                      </a: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r>
                        <a:rPr lang="en-US" sz="700" b="0" i="0" u="none" strike="noStrike" kern="1200" dirty="0">
                          <a:solidFill>
                            <a:schemeClr val="accent5">
                              <a:lumMod val="75000"/>
                              <a:lumOff val="25000"/>
                            </a:schemeClr>
                          </a:solidFill>
                          <a:effectLst/>
                          <a:latin typeface="+mj-lt"/>
                          <a:ea typeface="+mn-ea"/>
                          <a:cs typeface="+mn-cs"/>
                        </a:rPr>
                        <a:t xml:space="preserve">Ad hoc</a:t>
                      </a:r>
                      <a:endParaRPr lang="ru"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ru"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583170" rtl="0" eaLnBrk="1" fontAlgn="b" latinLnBrk="0" hangingPunct="1"/>
                      <a:r>
                        <a:rPr lang="ru-RU" sz="700" b="0" i="0" u="none" strike="noStrike" kern="1200" dirty="0" smtClean="0">
                          <a:solidFill>
                            <a:schemeClr val="tx1"/>
                          </a:solidFill>
                          <a:effectLst/>
                          <a:latin typeface="+mj-lt"/>
                          <a:ea typeface="+mn-ea"/>
                          <a:cs typeface="+mn-cs"/>
                        </a:rPr>
                        <a:t xml:space="preserve">At the Perimeter level, it was decided that the formal format of the ERG Supplier Award (with sessions, including on ESG and compliance) will be held once every 5 years. Those. there will be no session in 2025. In 2024, she gave a detailed session.</a:t>
                      </a:r>
                      <a:r>
                        <a:rPr lang="ru-RU" sz="700" b="0" i="0" u="none" strike="noStrike" kern="1200" dirty="0" err="1" smtClean="0">
                          <a:solidFill>
                            <a:schemeClr val="tx1"/>
                          </a:solidFill>
                          <a:effectLst/>
                          <a:latin typeface="+mj-lt"/>
                          <a:ea typeface="+mn-ea"/>
                          <a:cs typeface="+mn-cs"/>
                        </a:rPr>
                        <a:t/>
                      </a:r>
                      <a:r>
                        <a:rPr lang="ru-RU" sz="700" b="0" i="0" u="none" strike="noStrike" kern="1200" dirty="0" smtClean="0">
                          <a:solidFill>
                            <a:schemeClr val="tx1"/>
                          </a:solidFill>
                          <a:effectLst/>
                          <a:latin typeface="+mj-lt"/>
                          <a:ea typeface="+mn-ea"/>
                          <a:cs typeface="+mn-cs"/>
                        </a:rPr>
                        <a:t/>
                      </a:r>
                      <a:r>
                        <a:rPr lang="ru-RU" sz="700" b="0" i="0" u="none" strike="noStrike" kern="1200" dirty="0" err="1" smtClean="0">
                          <a:solidFill>
                            <a:schemeClr val="tx1"/>
                          </a:solidFill>
                          <a:effectLst/>
                          <a:latin typeface="+mj-lt"/>
                          <a:ea typeface="+mn-ea"/>
                          <a:cs typeface="+mn-cs"/>
                        </a:rPr>
                        <a:t/>
                      </a:r>
                      <a:r>
                        <a:rPr lang="ru-RU" sz="700" b="0" i="0" u="none" strike="noStrike" kern="1200" dirty="0" smtClean="0">
                          <a:solidFill>
                            <a:schemeClr val="tx1"/>
                          </a:solidFill>
                          <a:effectLst/>
                          <a:latin typeface="+mj-lt"/>
                          <a:ea typeface="+mn-ea"/>
                          <a:cs typeface="+mn-cs"/>
                        </a:rPr>
                        <a:t/>
                      </a:r>
                      <a:r>
                        <a:rPr lang="ru-RU" sz="700" b="0" i="0" u="none" strike="noStrike" kern="1200" dirty="0" err="1" smtClean="0">
                          <a:solidFill>
                            <a:schemeClr val="tx1"/>
                          </a:solidFill>
                          <a:effectLst/>
                          <a:latin typeface="+mj-lt"/>
                          <a:ea typeface="+mn-ea"/>
                          <a:cs typeface="+mn-cs"/>
                        </a:rPr>
                        <a:t/>
                      </a:r>
                      <a:r>
                        <a:rPr lang="ru-RU" sz="700" b="0" i="0" u="none" strike="noStrike" kern="1200" dirty="0" smtClean="0">
                          <a:solidFill>
                            <a:schemeClr val="tx1"/>
                          </a:solidFill>
                          <a:effectLst/>
                          <a:latin typeface="+mj-lt"/>
                          <a:ea typeface="+mn-ea"/>
                          <a:cs typeface="+mn-cs"/>
                        </a:rPr>
                        <a:t/>
                      </a:r>
                      <a:endParaRPr lang="en-US" sz="700" b="0" i="0" u="none" strike="noStrike" kern="1200" dirty="0">
                        <a:solidFill>
                          <a:schemeClr val="tx1"/>
                        </a:solidFill>
                        <a:effectLst/>
                        <a:latin typeface="+mj-lt"/>
                        <a:ea typeface="+mn-ea"/>
                        <a:cs typeface="+mn-cs"/>
                      </a:endParaRPr>
                    </a:p>
                  </a:txBody>
                  <a:tcPr marL="36000" marR="18000" marT="36000" marB="18000">
                    <a:lnL w="12700" cmpd="sng">
                      <a:noFill/>
                    </a:lnL>
                    <a:lnR w="12700" cmpd="sng">
                      <a:noFill/>
                    </a:lnR>
                    <a:lnT w="9525"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1674710"/>
                  </a:ext>
                </a:extLst>
              </a:tr>
              <a:tr h="0">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b="1" kern="1200" dirty="0">
                          <a:solidFill>
                            <a:schemeClr val="dk1"/>
                          </a:solidFill>
                          <a:latin typeface="+mj-lt"/>
                          <a:ea typeface="+mn-ea"/>
                          <a:cs typeface="+mn-cs"/>
                        </a:rPr>
                        <a:t xml:space="preserve">External appearances</a:t>
                      </a:r>
                      <a:r>
                        <a:rPr lang="ru-RU" sz="700" b="1" kern="1200" baseline="0" dirty="0">
                          <a:solidFill>
                            <a:schemeClr val="dk1"/>
                          </a:solidFill>
                          <a:latin typeface="+mj-lt"/>
                          <a:ea typeface="+mn-ea"/>
                          <a:cs typeface="+mn-cs"/>
                        </a:rPr>
                        <a:t/>
                      </a:r>
                      <a:endParaRPr lang="en-US" sz="700" b="1"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algn="l" fontAlgn="b"/>
                      <a:r>
                        <a:rPr lang="ru-RU" sz="700" b="1" i="0" u="none" strike="noStrike" dirty="0">
                          <a:solidFill>
                            <a:schemeClr val="tx1"/>
                          </a:solidFill>
                          <a:effectLst/>
                          <a:latin typeface="+mj-lt"/>
                        </a:rPr>
                        <a:t xml:space="preserve">Speeches at compliance forums and conferences of the Republic of Kazakhstan</a:t>
                      </a:r>
                      <a:r>
                        <a:rPr lang="ru-RU" sz="700" b="1" i="0" u="none" strike="noStrike" baseline="0" dirty="0">
                          <a:solidFill>
                            <a:schemeClr val="tx1"/>
                          </a:solidFill>
                          <a:effectLst/>
                          <a:latin typeface="+mj-lt"/>
                        </a:rPr>
                        <a:t/>
                      </a:r>
                      <a:endParaRPr lang="en-US" sz="700" b="1"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endParaRPr lang="ru" sz="700" b="1"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l" defTabSz="583170" rtl="0" eaLnBrk="1" fontAlgn="b" latinLnBrk="0" hangingPunct="1"/>
                      <a:endParaRPr lang="ru" sz="700" b="1"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endParaRPr lang="ru" sz="700" b="1"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endParaRPr lang="ru" sz="700" b="1" kern="1200" dirty="0">
                        <a:solidFill>
                          <a:schemeClr val="tx1"/>
                        </a:solidFill>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ru"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en-US"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ru"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en-US"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ctr" defTabSz="583170" rtl="0" eaLnBrk="1" fontAlgn="b" latinLnBrk="0" hangingPunct="1"/>
                      <a:endParaRPr lang="en-US"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tc>
                  <a:txBody>
                    <a:bodyPr/>
                    <a:lstStyle/>
                    <a:p>
                      <a:pPr marL="0" algn="l" defTabSz="583170" rtl="0" eaLnBrk="1" fontAlgn="b" latinLnBrk="0" hangingPunct="1"/>
                      <a:endParaRPr lang="en-US" sz="700" b="1"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10000"/>
                        <a:lumOff val="90000"/>
                      </a:schemeClr>
                    </a:solidFill>
                  </a:tcPr>
                </a:tc>
                <a:extLst>
                  <a:ext uri="{0D108BD9-81ED-4DB2-BD59-A6C34878D82A}">
                    <a16:rowId xmlns:a16="http://schemas.microsoft.com/office/drawing/2014/main" val="4212726015"/>
                  </a:ext>
                </a:extLst>
              </a:tr>
              <a:tr h="0">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RU" sz="700" kern="1200" dirty="0">
                          <a:solidFill>
                            <a:schemeClr val="dk1"/>
                          </a:solidFill>
                          <a:latin typeface="+mj-lt"/>
                          <a:ea typeface="+mn-ea"/>
                          <a:cs typeface="+mn-cs"/>
                        </a:rPr>
                        <a:t xml:space="preserve">External audience</a:t>
                      </a:r>
                      <a:endParaRPr lang="en-US" sz="700" kern="1200" dirty="0">
                        <a:solidFill>
                          <a:schemeClr val="dk1"/>
                        </a:solidFill>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r>
                        <a:rPr lang="ru-RU" sz="700" b="0" i="0" u="none" strike="noStrike" dirty="0">
                          <a:solidFill>
                            <a:schemeClr val="tx1"/>
                          </a:solidFill>
                          <a:effectLst/>
                          <a:latin typeface="+mj-lt"/>
                        </a:rPr>
                        <a:t xml:space="preserve">Issues of promoting compliance culture</a:t>
                      </a:r>
                      <a:endParaRPr lang="en-US" sz="700" b="0" i="0" u="none" strike="noStrike" dirty="0">
                        <a:solidFill>
                          <a:schemeClr val="tx1"/>
                        </a:solidFill>
                        <a:effectLst/>
                        <a:latin typeface="+mj-lt"/>
                      </a:endParaRP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b="0" i="0" u="none" strike="noStrike" dirty="0">
                          <a:solidFill>
                            <a:schemeClr val="tx1"/>
                          </a:solidFill>
                          <a:effectLst/>
                          <a:latin typeface="+mj-lt"/>
                        </a:rPr>
                        <a:t xml:space="preserve">Full-time/VKS</a:t>
                      </a: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l" defTabSz="583170" rtl="0" eaLnBrk="1" fontAlgn="b" latinLnBrk="0" hangingPunct="1"/>
                      <a:r>
                        <a:rPr lang="ru" sz="700" kern="1200" dirty="0">
                          <a:solidFill>
                            <a:schemeClr val="dk1"/>
                          </a:solidFill>
                          <a:latin typeface="+mj-lt"/>
                          <a:ea typeface="+mn-ea"/>
                          <a:cs typeface="+mn-cs"/>
                        </a:rPr>
                        <a:t xml:space="preserve">All</a:t>
                      </a: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583170" rtl="0" eaLnBrk="1" fontAlgn="b" latinLnBrk="0" hangingPunct="1">
                        <a:lnSpc>
                          <a:spcPct val="100000"/>
                        </a:lnSpc>
                        <a:spcBef>
                          <a:spcPts val="0"/>
                        </a:spcBef>
                        <a:spcAft>
                          <a:spcPts val="0"/>
                        </a:spcAft>
                        <a:buClrTx/>
                        <a:buSzTx/>
                        <a:buFontTx/>
                        <a:buNone/>
                        <a:tabLst/>
                        <a:defRPr/>
                      </a:pPr>
                      <a:r>
                        <a:rPr lang="ru" sz="700" kern="1200" dirty="0">
                          <a:solidFill>
                            <a:schemeClr val="dk1"/>
                          </a:solidFill>
                          <a:latin typeface="+mj-lt"/>
                          <a:ea typeface="+mn-ea"/>
                          <a:cs typeface="+mn-cs"/>
                        </a:rPr>
                        <a:t xml:space="preserve">TBA (platform dependent)</a:t>
                      </a: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583170" rtl="0" eaLnBrk="1" fontAlgn="b" latinLnBrk="0" hangingPunct="1">
                        <a:lnSpc>
                          <a:spcPct val="100000"/>
                        </a:lnSpc>
                        <a:spcBef>
                          <a:spcPts val="0"/>
                        </a:spcBef>
                        <a:spcAft>
                          <a:spcPts val="0"/>
                        </a:spcAft>
                        <a:buClrTx/>
                        <a:buSzTx/>
                        <a:buFontTx/>
                        <a:buNone/>
                        <a:tabLst/>
                        <a:defRPr/>
                      </a:pPr>
                      <a:r>
                        <a:rPr lang="en-US" sz="700" b="0" i="0" u="none" strike="noStrike" dirty="0">
                          <a:solidFill>
                            <a:schemeClr val="tx1"/>
                          </a:solidFill>
                          <a:effectLst/>
                          <a:latin typeface="+mj-lt"/>
                        </a:rPr>
                        <a:t xml:space="preserve">Ad hoc</a:t>
                      </a: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583170" rtl="0" eaLnBrk="1" fontAlgn="b" latinLnBrk="0" hangingPunct="1"/>
                      <a:r>
                        <a:rPr lang="en-US" sz="700" b="0" i="0" u="none" strike="noStrike" kern="1200" dirty="0">
                          <a:solidFill>
                            <a:schemeClr val="accent5">
                              <a:lumMod val="75000"/>
                              <a:lumOff val="25000"/>
                            </a:schemeClr>
                          </a:solidFill>
                          <a:effectLst/>
                          <a:latin typeface="+mj-lt"/>
                          <a:ea typeface="+mn-ea"/>
                          <a:cs typeface="+mn-cs"/>
                        </a:rPr>
                        <a:t xml:space="preserve">Ad hoc</a:t>
                      </a:r>
                      <a:endParaRPr lang="ru"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ru"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583170" rtl="0" eaLnBrk="1" fontAlgn="b" latinLnBrk="0" hangingPunct="1"/>
                      <a:endParaRPr lang="en-US" sz="700" b="0" i="0" u="none" strike="noStrike" kern="1200" dirty="0">
                        <a:solidFill>
                          <a:schemeClr val="accent5">
                            <a:lumMod val="75000"/>
                            <a:lumOff val="25000"/>
                          </a:schemeClr>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l" defTabSz="583170" rtl="0" eaLnBrk="1" fontAlgn="b" latinLnBrk="0" hangingPunct="1"/>
                      <a:r>
                        <a:rPr lang="ru-RU" sz="700" b="0" i="0" u="none" strike="noStrike" kern="1200" dirty="0" smtClean="0">
                          <a:solidFill>
                            <a:schemeClr val="tx1"/>
                          </a:solidFill>
                          <a:effectLst/>
                          <a:latin typeface="+mj-lt"/>
                          <a:ea typeface="+mn-ea"/>
                          <a:cs typeface="+mn-cs"/>
                        </a:rPr>
                        <a:t xml:space="preserve">Compliance sessions were held for third parties (external sites):</a:t>
                      </a:r>
                    </a:p>
                    <a:p>
                      <a:pPr marL="92075" indent="-92075" algn="l" defTabSz="583170" rtl="0" eaLnBrk="1" fontAlgn="b" latinLnBrk="0" hangingPunct="1">
                        <a:buFont typeface="Arial" panose="020B0604020202020204" pitchFamily="34" charset="0"/>
                        <a:buChar char="•"/>
                      </a:pPr>
                      <a:r>
                        <a:rPr lang="ru-RU" sz="700" b="0" i="0" u="none" strike="noStrike" kern="1200" dirty="0" smtClean="0">
                          <a:solidFill>
                            <a:schemeClr val="tx1"/>
                          </a:solidFill>
                          <a:effectLst/>
                          <a:latin typeface="+mj-lt"/>
                          <a:ea typeface="+mn-ea"/>
                          <a:cs typeface="+mn-cs"/>
                        </a:rPr>
                        <a:t xml:space="preserve">Speech among experts on the issue of “Sanction Risk Management” at the webinar “Sanctions Compliance: Updates and Key Expectations in 2025”, conducted by the Association of Compliance and Business Ethics of the Republic of Kazakhstan - 200 participants.</a:t>
                      </a:r>
                      <a:r>
                        <a:rPr lang="ru-RU" sz="700" b="0" i="0" u="none" strike="noStrike" kern="1200" dirty="0" err="1" smtClean="0">
                          <a:solidFill>
                            <a:schemeClr val="tx1"/>
                          </a:solidFill>
                          <a:effectLst/>
                          <a:latin typeface="+mj-lt"/>
                          <a:ea typeface="+mn-ea"/>
                          <a:cs typeface="+mn-cs"/>
                        </a:rPr>
                        <a:t/>
                      </a:r>
                      <a:r>
                        <a:rPr lang="ru-RU" sz="700" b="0" i="0" u="none" strike="noStrike" kern="1200" dirty="0" smtClean="0">
                          <a:solidFill>
                            <a:schemeClr val="tx1"/>
                          </a:solidFill>
                          <a:effectLst/>
                          <a:latin typeface="+mj-lt"/>
                          <a:ea typeface="+mn-ea"/>
                          <a:cs typeface="+mn-cs"/>
                        </a:rPr>
                        <a:t/>
                      </a:r>
                    </a:p>
                    <a:p>
                      <a:pPr marL="92075" indent="-92075" algn="l" defTabSz="583170" rtl="0" eaLnBrk="1" fontAlgn="b" latinLnBrk="0" hangingPunct="1">
                        <a:buFont typeface="Arial" panose="020B0604020202020204" pitchFamily="34" charset="0"/>
                        <a:buChar char="•"/>
                      </a:pPr>
                      <a:r>
                        <a:rPr lang="ru-RU" sz="700" b="0" i="0" u="none" strike="noStrike" kern="1200" dirty="0" smtClean="0">
                          <a:solidFill>
                            <a:schemeClr val="tx1"/>
                          </a:solidFill>
                          <a:effectLst/>
                          <a:latin typeface="+mj-lt"/>
                          <a:ea typeface="+mn-ea"/>
                          <a:cs typeface="+mn-cs"/>
                        </a:rPr>
                        <a:t xml:space="preserve">Speech at Compliance Forum 2025 “AI, ESG, AML, Data Protection, Crypto: time to act responsibly” with a report on the topics: 1) “Supplier Code of Conduct as a mechanism for managing an ethical supply chain”, 2) “Artificial intelligence under control: key regulatory aspects” - 420 participants. It should be noted that at this event, the Compliance Directorate was recognized as the winner in the “Compliance Team of the Year” category at the annual Compliance 2025 award.</a:t>
                      </a:r>
                      <a:r>
                        <a:rPr lang="ru-RU" sz="700" b="0" i="0" u="none" strike="noStrike" kern="1200" dirty="0" err="1" smtClean="0">
                          <a:solidFill>
                            <a:schemeClr val="tx1"/>
                          </a:solidFill>
                          <a:effectLst/>
                          <a:latin typeface="+mj-lt"/>
                          <a:ea typeface="+mn-ea"/>
                          <a:cs typeface="+mn-cs"/>
                        </a:rPr>
                        <a:t/>
                      </a:r>
                      <a:r>
                        <a:rPr lang="ru-RU" sz="700" b="0" i="0" u="none" strike="noStrike" kern="1200" dirty="0" smtClean="0">
                          <a:solidFill>
                            <a:schemeClr val="tx1"/>
                          </a:solidFill>
                          <a:effectLst/>
                          <a:latin typeface="+mj-lt"/>
                          <a:ea typeface="+mn-ea"/>
                          <a:cs typeface="+mn-cs"/>
                        </a:rPr>
                        <a:t/>
                      </a:r>
                      <a:r>
                        <a:rPr lang="ru-RU" sz="700" b="0" i="0" u="none" strike="noStrike" kern="1200" dirty="0" err="1" smtClean="0">
                          <a:solidFill>
                            <a:schemeClr val="tx1"/>
                          </a:solidFill>
                          <a:effectLst/>
                          <a:latin typeface="+mj-lt"/>
                          <a:ea typeface="+mn-ea"/>
                          <a:cs typeface="+mn-cs"/>
                        </a:rPr>
                        <a:t/>
                      </a:r>
                      <a:r>
                        <a:rPr lang="ru-RU" sz="700" b="0" i="0" u="none" strike="noStrike" kern="1200" dirty="0" smtClean="0">
                          <a:solidFill>
                            <a:schemeClr val="tx1"/>
                          </a:solidFill>
                          <a:effectLst/>
                          <a:latin typeface="+mj-lt"/>
                          <a:ea typeface="+mn-ea"/>
                          <a:cs typeface="+mn-cs"/>
                        </a:rPr>
                        <a:t/>
                      </a:r>
                      <a:r>
                        <a:rPr lang="ru-RU" sz="700" b="0" i="0" u="none" strike="noStrike" kern="1200" dirty="0" err="1" smtClean="0">
                          <a:solidFill>
                            <a:schemeClr val="tx1"/>
                          </a:solidFill>
                          <a:effectLst/>
                          <a:latin typeface="+mj-lt"/>
                          <a:ea typeface="+mn-ea"/>
                          <a:cs typeface="+mn-cs"/>
                        </a:rPr>
                        <a:t/>
                      </a:r>
                      <a:r>
                        <a:rPr lang="ru-RU" sz="700" b="0" i="0" u="none" strike="noStrike" kern="1200" dirty="0" smtClean="0">
                          <a:solidFill>
                            <a:schemeClr val="tx1"/>
                          </a:solidFill>
                          <a:effectLst/>
                          <a:latin typeface="+mj-lt"/>
                          <a:ea typeface="+mn-ea"/>
                          <a:cs typeface="+mn-cs"/>
                        </a:rPr>
                        <a:t/>
                      </a:r>
                      <a:r>
                        <a:rPr lang="ru-RU" sz="700" b="0" i="0" u="none" strike="noStrike" kern="1200" dirty="0" err="1" smtClean="0">
                          <a:solidFill>
                            <a:schemeClr val="tx1"/>
                          </a:solidFill>
                          <a:effectLst/>
                          <a:latin typeface="+mj-lt"/>
                          <a:ea typeface="+mn-ea"/>
                          <a:cs typeface="+mn-cs"/>
                        </a:rPr>
                        <a:t/>
                      </a:r>
                      <a:r>
                        <a:rPr lang="ru-RU" sz="700" b="0" i="0" u="none" strike="noStrike" kern="1200" dirty="0" smtClean="0">
                          <a:solidFill>
                            <a:schemeClr val="tx1"/>
                          </a:solidFill>
                          <a:effectLst/>
                          <a:latin typeface="+mj-lt"/>
                          <a:ea typeface="+mn-ea"/>
                          <a:cs typeface="+mn-cs"/>
                        </a:rPr>
                        <a:t/>
                      </a:r>
                      <a:endParaRPr lang="en-US" sz="700" b="0" i="0" u="none" strike="noStrike" kern="1200" dirty="0">
                        <a:solidFill>
                          <a:schemeClr val="tx1"/>
                        </a:solidFill>
                        <a:effectLst/>
                        <a:latin typeface="+mj-lt"/>
                        <a:ea typeface="+mn-ea"/>
                        <a:cs typeface="+mn-cs"/>
                      </a:endParaRPr>
                    </a:p>
                  </a:txBody>
                  <a:tcPr marL="36000" marR="18000" marT="36000" marB="18000">
                    <a:lnL w="12700" cmpd="sng">
                      <a:noFill/>
                    </a:lnL>
                    <a:lnR w="12700" cmpd="sng">
                      <a:noFill/>
                    </a:lnR>
                    <a:lnT w="952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07212821"/>
                  </a:ext>
                </a:extLst>
              </a:tr>
            </a:tbl>
          </a:graphicData>
        </a:graphic>
      </p:graphicFrame>
    </p:spTree>
    <p:extLst>
      <p:ext uri="{BB962C8B-B14F-4D97-AF65-F5344CB8AC3E}">
        <p14:creationId xmlns:p14="http://schemas.microsoft.com/office/powerpoint/2010/main" val="24402361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DAD5FC9-FF2C-4EC0-805D-83E1B956DC9B}"/>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0815" name="think-cell Slide" r:id="rId5" imgW="473" imgH="473" progId="TCLayout.ActiveDocument.1">
                  <p:embed/>
                </p:oleObj>
              </mc:Choice>
              <mc:Fallback>
                <p:oleObj name="think-cell Slide" r:id="rId5" imgW="473" imgH="473" progId="TCLayout.ActiveDocument.1">
                  <p:embed/>
                  <p:pic>
                    <p:nvPicPr>
                      <p:cNvPr id="5" name="Object 4" hidden="1">
                        <a:extLst>
                          <a:ext uri="{FF2B5EF4-FFF2-40B4-BE49-F238E27FC236}">
                            <a16:creationId xmlns:a16="http://schemas.microsoft.com/office/drawing/2014/main" id="{EDAD5FC9-FF2C-4EC0-805D-83E1B956DC9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98C1F65-B331-43F3-BCCF-85B377530206}"/>
              </a:ext>
            </a:extLst>
          </p:cNvPr>
          <p:cNvSpPr>
            <a:spLocks noGrp="1"/>
          </p:cNvSpPr>
          <p:nvPr>
            <p:ph type="title"/>
          </p:nvPr>
        </p:nvSpPr>
        <p:spPr>
          <a:xfrm>
            <a:off x="317499" y="0"/>
            <a:ext cx="10584209" cy="704850"/>
          </a:xfrm>
        </p:spPr>
        <p:txBody>
          <a:bodyPr vert="horz" rtlCol="0"/>
          <a:lstStyle/>
          <a:p>
            <a:r>
              <a:rPr lang="ru-RU" dirty="0"/>
              <a:t xml:space="preserve">Annual Compliance Program 2025: Perimeter Kazakhstan Implementation status - Compliance Communications Program</a:t>
            </a:r>
            <a:br>
              <a:rPr lang="ru-RU" dirty="0"/>
            </a:br>
            <a:r>
              <a:rPr lang="ru-RU" dirty="0">
                <a:solidFill>
                  <a:schemeClr val="tx1"/>
                </a:solidFill>
              </a:rPr>
              <a:t/>
            </a:r>
            <a:r>
              <a:rPr lang="ru" dirty="0">
                <a:solidFill>
                  <a:schemeClr val="tx1"/>
                </a:solidFill>
              </a:rPr>
              <a:t/>
            </a:r>
            <a:r>
              <a:rPr lang="ru" dirty="0" smtClean="0">
                <a:solidFill>
                  <a:schemeClr val="tx1"/>
                </a:solidFill>
              </a:rPr>
              <a:t/>
            </a:r>
            <a:endParaRPr lang="ru" dirty="0">
              <a:solidFill>
                <a:schemeClr val="tx1"/>
              </a:solidFill>
            </a:endParaRPr>
          </a:p>
        </p:txBody>
      </p:sp>
      <p:graphicFrame>
        <p:nvGraphicFramePr>
          <p:cNvPr id="6" name="Table 5">
            <a:extLst>
              <a:ext uri="{FF2B5EF4-FFF2-40B4-BE49-F238E27FC236}">
                <a16:creationId xmlns:a16="http://schemas.microsoft.com/office/drawing/2014/main" id="{1E0B4359-7D9E-43BE-8D59-439DA033DDAE}"/>
              </a:ext>
            </a:extLst>
          </p:cNvPr>
          <p:cNvGraphicFramePr>
            <a:graphicFrameLocks noGrp="1"/>
          </p:cNvGraphicFramePr>
          <p:nvPr>
            <p:extLst>
              <p:ext uri="{D42A27DB-BD31-4B8C-83A1-F6EECF244321}">
                <p14:modId xmlns:p14="http://schemas.microsoft.com/office/powerpoint/2010/main" val="53217691"/>
              </p:ext>
            </p:extLst>
          </p:nvPr>
        </p:nvGraphicFramePr>
        <p:xfrm>
          <a:off x="317499" y="952988"/>
          <a:ext cx="11560126" cy="4280400"/>
        </p:xfrm>
        <a:graphic>
          <a:graphicData uri="http://schemas.openxmlformats.org/drawingml/2006/table">
            <a:tbl>
              <a:tblPr>
                <a:tableStyleId>{5C22544A-7EE6-4342-B048-85BDC9FD1C3A}</a:tableStyleId>
              </a:tblPr>
              <a:tblGrid>
                <a:gridCol w="1728000">
                  <a:extLst>
                    <a:ext uri="{9D8B030D-6E8A-4147-A177-3AD203B41FA5}">
                      <a16:colId xmlns:a16="http://schemas.microsoft.com/office/drawing/2014/main" val="3568390040"/>
                    </a:ext>
                  </a:extLst>
                </a:gridCol>
                <a:gridCol w="2471313">
                  <a:extLst>
                    <a:ext uri="{9D8B030D-6E8A-4147-A177-3AD203B41FA5}">
                      <a16:colId xmlns:a16="http://schemas.microsoft.com/office/drawing/2014/main" val="3830539557"/>
                    </a:ext>
                  </a:extLst>
                </a:gridCol>
                <a:gridCol w="1218253">
                  <a:extLst>
                    <a:ext uri="{9D8B030D-6E8A-4147-A177-3AD203B41FA5}">
                      <a16:colId xmlns:a16="http://schemas.microsoft.com/office/drawing/2014/main" val="1045536790"/>
                    </a:ext>
                  </a:extLst>
                </a:gridCol>
                <a:gridCol w="382880">
                  <a:extLst>
                    <a:ext uri="{9D8B030D-6E8A-4147-A177-3AD203B41FA5}">
                      <a16:colId xmlns:a16="http://schemas.microsoft.com/office/drawing/2014/main" val="1719532188"/>
                    </a:ext>
                  </a:extLst>
                </a:gridCol>
                <a:gridCol w="382880">
                  <a:extLst>
                    <a:ext uri="{9D8B030D-6E8A-4147-A177-3AD203B41FA5}">
                      <a16:colId xmlns:a16="http://schemas.microsoft.com/office/drawing/2014/main" val="3384843292"/>
                    </a:ext>
                  </a:extLst>
                </a:gridCol>
                <a:gridCol w="382880">
                  <a:extLst>
                    <a:ext uri="{9D8B030D-6E8A-4147-A177-3AD203B41FA5}">
                      <a16:colId xmlns:a16="http://schemas.microsoft.com/office/drawing/2014/main" val="4033282206"/>
                    </a:ext>
                  </a:extLst>
                </a:gridCol>
                <a:gridCol w="382880">
                  <a:extLst>
                    <a:ext uri="{9D8B030D-6E8A-4147-A177-3AD203B41FA5}">
                      <a16:colId xmlns:a16="http://schemas.microsoft.com/office/drawing/2014/main" val="89004304"/>
                    </a:ext>
                  </a:extLst>
                </a:gridCol>
                <a:gridCol w="382880">
                  <a:extLst>
                    <a:ext uri="{9D8B030D-6E8A-4147-A177-3AD203B41FA5}">
                      <a16:colId xmlns:a16="http://schemas.microsoft.com/office/drawing/2014/main" val="2029164394"/>
                    </a:ext>
                  </a:extLst>
                </a:gridCol>
                <a:gridCol w="382880">
                  <a:extLst>
                    <a:ext uri="{9D8B030D-6E8A-4147-A177-3AD203B41FA5}">
                      <a16:colId xmlns:a16="http://schemas.microsoft.com/office/drawing/2014/main" val="3439488264"/>
                    </a:ext>
                  </a:extLst>
                </a:gridCol>
                <a:gridCol w="382880">
                  <a:extLst>
                    <a:ext uri="{9D8B030D-6E8A-4147-A177-3AD203B41FA5}">
                      <a16:colId xmlns:a16="http://schemas.microsoft.com/office/drawing/2014/main" val="2451690540"/>
                    </a:ext>
                  </a:extLst>
                </a:gridCol>
                <a:gridCol w="382880">
                  <a:extLst>
                    <a:ext uri="{9D8B030D-6E8A-4147-A177-3AD203B41FA5}">
                      <a16:colId xmlns:a16="http://schemas.microsoft.com/office/drawing/2014/main" val="2701873932"/>
                    </a:ext>
                  </a:extLst>
                </a:gridCol>
                <a:gridCol w="382880">
                  <a:extLst>
                    <a:ext uri="{9D8B030D-6E8A-4147-A177-3AD203B41FA5}">
                      <a16:colId xmlns:a16="http://schemas.microsoft.com/office/drawing/2014/main" val="1138467749"/>
                    </a:ext>
                  </a:extLst>
                </a:gridCol>
                <a:gridCol w="382880">
                  <a:extLst>
                    <a:ext uri="{9D8B030D-6E8A-4147-A177-3AD203B41FA5}">
                      <a16:colId xmlns:a16="http://schemas.microsoft.com/office/drawing/2014/main" val="3132779595"/>
                    </a:ext>
                  </a:extLst>
                </a:gridCol>
                <a:gridCol w="382880">
                  <a:extLst>
                    <a:ext uri="{9D8B030D-6E8A-4147-A177-3AD203B41FA5}">
                      <a16:colId xmlns:a16="http://schemas.microsoft.com/office/drawing/2014/main" val="3752998496"/>
                    </a:ext>
                  </a:extLst>
                </a:gridCol>
                <a:gridCol w="382880">
                  <a:extLst>
                    <a:ext uri="{9D8B030D-6E8A-4147-A177-3AD203B41FA5}">
                      <a16:colId xmlns:a16="http://schemas.microsoft.com/office/drawing/2014/main" val="619743336"/>
                    </a:ext>
                  </a:extLst>
                </a:gridCol>
                <a:gridCol w="1548000">
                  <a:extLst>
                    <a:ext uri="{9D8B030D-6E8A-4147-A177-3AD203B41FA5}">
                      <a16:colId xmlns:a16="http://schemas.microsoft.com/office/drawing/2014/main" val="1811700505"/>
                    </a:ext>
                  </a:extLst>
                </a:gridCol>
              </a:tblGrid>
              <a:tr h="234086">
                <a:tc>
                  <a:txBody>
                    <a:bodyPr/>
                    <a:lstStyle/>
                    <a:p>
                      <a:pPr algn="l" rtl="0" fontAlgn="ctr"/>
                      <a:r>
                        <a:rPr lang="ru" sz="700" u="none" strike="noStrike" dirty="0">
                          <a:solidFill>
                            <a:schemeClr val="accent5">
                              <a:lumMod val="75000"/>
                              <a:lumOff val="25000"/>
                            </a:schemeClr>
                          </a:solidFill>
                          <a:effectLst/>
                          <a:latin typeface="+mn-lt"/>
                        </a:rPr>
                        <a:t xml:space="preserve">Subject</a:t>
                      </a:r>
                      <a:endParaRPr lang="en-US" sz="700" b="1" i="0" u="none" strike="noStrike" dirty="0">
                        <a:solidFill>
                          <a:schemeClr val="accent5">
                            <a:lumMod val="75000"/>
                            <a:lumOff val="25000"/>
                          </a:schemeClr>
                        </a:solidFill>
                        <a:effectLst/>
                        <a:latin typeface="+mn-lt"/>
                      </a:endParaRPr>
                    </a:p>
                  </a:txBody>
                  <a:tcPr marL="36000" marR="18000" marT="36000" marB="18000" anchor="ctr">
                    <a:lnB w="9525" cap="flat" cmpd="sng" algn="ctr">
                      <a:solidFill>
                        <a:schemeClr val="accent5">
                          <a:lumMod val="75000"/>
                          <a:lumOff val="25000"/>
                        </a:schemeClr>
                      </a:solidFill>
                      <a:prstDash val="solid"/>
                      <a:round/>
                      <a:headEnd type="none" w="med" len="med"/>
                      <a:tailEnd type="none" w="med" len="med"/>
                    </a:lnB>
                    <a:noFill/>
                  </a:tcPr>
                </a:tc>
                <a:tc>
                  <a:txBody>
                    <a:bodyPr/>
                    <a:lstStyle/>
                    <a:p>
                      <a:pPr algn="l" rtl="0" fontAlgn="ctr"/>
                      <a:r>
                        <a:rPr lang="ru" sz="700" u="none" strike="noStrike" dirty="0">
                          <a:solidFill>
                            <a:schemeClr val="accent5">
                              <a:lumMod val="75000"/>
                              <a:lumOff val="25000"/>
                            </a:schemeClr>
                          </a:solidFill>
                          <a:effectLst/>
                          <a:latin typeface="+mn-lt"/>
                        </a:rPr>
                        <a:t xml:space="preserve">Audience</a:t>
                      </a:r>
                      <a:endParaRPr lang="en-US" sz="700" b="1" i="0" u="none" strike="noStrike" dirty="0">
                        <a:solidFill>
                          <a:schemeClr val="accent5">
                            <a:lumMod val="75000"/>
                            <a:lumOff val="25000"/>
                          </a:schemeClr>
                        </a:solidFill>
                        <a:effectLst/>
                        <a:latin typeface="+mn-lt"/>
                      </a:endParaRPr>
                    </a:p>
                  </a:txBody>
                  <a:tcPr marL="36000" marR="18000" marT="36000" marB="18000" anchor="ctr">
                    <a:lnB w="9525" cap="flat" cmpd="sng" algn="ctr">
                      <a:solidFill>
                        <a:schemeClr val="accent5">
                          <a:lumMod val="75000"/>
                          <a:lumOff val="25000"/>
                        </a:schemeClr>
                      </a:solidFill>
                      <a:prstDash val="solid"/>
                      <a:round/>
                      <a:headEnd type="none" w="med" len="med"/>
                      <a:tailEnd type="none" w="med" len="med"/>
                    </a:lnB>
                    <a:noFill/>
                  </a:tcPr>
                </a:tc>
                <a:tc>
                  <a:txBody>
                    <a:bodyPr/>
                    <a:lstStyle/>
                    <a:p>
                      <a:pPr algn="l" rtl="0" fontAlgn="ctr"/>
                      <a:r>
                        <a:rPr lang="ru" sz="700" u="none" strike="noStrike" dirty="0">
                          <a:solidFill>
                            <a:schemeClr val="accent5">
                              <a:lumMod val="75000"/>
                              <a:lumOff val="25000"/>
                            </a:schemeClr>
                          </a:solidFill>
                          <a:effectLst/>
                          <a:latin typeface="+mn-lt"/>
                        </a:rPr>
                        <a:t xml:space="preserve">Channel</a:t>
                      </a:r>
                      <a:endParaRPr lang="en-US" sz="700" b="1" i="0" u="none" strike="noStrike" dirty="0">
                        <a:solidFill>
                          <a:schemeClr val="accent5">
                            <a:lumMod val="75000"/>
                            <a:lumOff val="25000"/>
                          </a:schemeClr>
                        </a:solidFill>
                        <a:effectLst/>
                        <a:latin typeface="+mn-lt"/>
                      </a:endParaRPr>
                    </a:p>
                  </a:txBody>
                  <a:tcPr marL="36000" marR="18000" marT="36000" marB="18000" anchor="ct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Jan.</a:t>
                      </a:r>
                      <a:endParaRPr lang="en-US" sz="700" b="1" i="0" u="none" strike="noStrike" dirty="0">
                        <a:solidFill>
                          <a:schemeClr val="accent5">
                            <a:lumMod val="75000"/>
                            <a:lumOff val="25000"/>
                          </a:schemeClr>
                        </a:solidFill>
                        <a:effectLst/>
                        <a:latin typeface="+mn-lt"/>
                      </a:endParaRPr>
                    </a:p>
                  </a:txBody>
                  <a:tcPr marL="18000" marR="18000" marT="36000" marB="18000" anchor="ctr">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Feb.</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March</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Apr.</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May</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June</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July</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Aug.</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Sep.</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Oct.</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Nov.</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Dec.</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 xml:space="preserve">Execution Status</a:t>
                      </a:r>
                    </a:p>
                    <a:p>
                      <a:pPr algn="ctr" rtl="0" fontAlgn="ct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707363138"/>
                  </a:ext>
                </a:extLst>
              </a:tr>
              <a:tr h="144000">
                <a:tc gridSpan="15">
                  <a:txBody>
                    <a:bodyPr/>
                    <a:lstStyle/>
                    <a:p>
                      <a:pPr algn="l" rtl="0" fontAlgn="ctr"/>
                      <a:r>
                        <a:rPr lang="ru" sz="700" b="1" u="none" strike="noStrike" dirty="0">
                          <a:solidFill>
                            <a:schemeClr val="tx1"/>
                          </a:solidFill>
                          <a:effectLst/>
                          <a:latin typeface="+mn-lt"/>
                        </a:rPr>
                        <a:t xml:space="preserve">Level: Group</a:t>
                      </a:r>
                      <a:endParaRPr lang="en-US" sz="700" b="1" i="0" u="none" strike="noStrike" dirty="0">
                        <a:solidFill>
                          <a:schemeClr val="tx1"/>
                        </a:solidFill>
                        <a:effectLst/>
                        <a:latin typeface="+mn-lt"/>
                      </a:endParaRPr>
                    </a:p>
                  </a:txBody>
                  <a:tcPr marL="18000" marR="18000" marT="36000" marB="18000" anchor="ctr">
                    <a:lnT w="9525" cap="flat" cmpd="sng" algn="ctr">
                      <a:solidFill>
                        <a:schemeClr val="accent5">
                          <a:lumMod val="75000"/>
                          <a:lumOff val="25000"/>
                        </a:schemeClr>
                      </a:solidFill>
                      <a:prstDash val="solid"/>
                      <a:round/>
                      <a:headEnd type="none" w="med" len="med"/>
                      <a:tailEnd type="none" w="med" len="med"/>
                    </a:lnT>
                    <a:solidFill>
                      <a:schemeClr val="accent5">
                        <a:lumMod val="10000"/>
                        <a:lumOff val="90000"/>
                      </a:schemeClr>
                    </a:solidFill>
                  </a:tcPr>
                </a:tc>
                <a:tc hMerge="1">
                  <a:txBody>
                    <a:bodyPr/>
                    <a:lstStyle/>
                    <a:p>
                      <a:pPr algn="l" rtl="0" fontAlgn="ctr"/>
                      <a:endParaRPr lang="en-US" sz="800" b="1" i="0" u="none" strike="noStrike" dirty="0">
                        <a:solidFill>
                          <a:schemeClr val="tx1"/>
                        </a:solidFill>
                        <a:effectLst/>
                        <a:latin typeface="+mn-lt"/>
                      </a:endParaRPr>
                    </a:p>
                  </a:txBody>
                  <a:tcPr marL="36000" marR="36000" marT="36000" marB="36000">
                    <a:lnT w="9525" cap="flat" cmpd="sng" algn="ctr">
                      <a:solidFill>
                        <a:schemeClr val="accent5">
                          <a:lumMod val="75000"/>
                          <a:lumOff val="25000"/>
                        </a:schemeClr>
                      </a:solidFill>
                      <a:prstDash val="solid"/>
                      <a:round/>
                      <a:headEnd type="none" w="med" len="med"/>
                      <a:tailEnd type="none" w="med" len="med"/>
                    </a:lnT>
                    <a:solidFill>
                      <a:schemeClr val="accent5">
                        <a:lumMod val="10000"/>
                        <a:lumOff val="90000"/>
                      </a:schemeClr>
                    </a:solidFill>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a:txBody>
                    <a:bodyPr/>
                    <a:lstStyle/>
                    <a:p>
                      <a:pPr algn="l" rtl="0" fontAlgn="ctr"/>
                      <a:endParaRPr lang="en-US" sz="700" b="1" i="0" u="none" strike="noStrike" dirty="0">
                        <a:solidFill>
                          <a:schemeClr val="tx1"/>
                        </a:solidFill>
                        <a:effectLst/>
                        <a:latin typeface="+mn-lt"/>
                      </a:endParaRPr>
                    </a:p>
                  </a:txBody>
                  <a:tcPr marL="18000" marR="18000" marT="36000" marB="18000" anchor="ctr">
                    <a:lnT w="9525" cap="flat" cmpd="sng" algn="ctr">
                      <a:solidFill>
                        <a:schemeClr val="accent5">
                          <a:lumMod val="75000"/>
                          <a:lumOff val="25000"/>
                        </a:schemeClr>
                      </a:solidFill>
                      <a:prstDash val="solid"/>
                      <a:round/>
                      <a:headEnd type="none" w="med" len="med"/>
                      <a:tailEnd type="none" w="med" len="med"/>
                    </a:lnT>
                    <a:solidFill>
                      <a:schemeClr val="accent5">
                        <a:lumMod val="10000"/>
                        <a:lumOff val="90000"/>
                      </a:schemeClr>
                    </a:solidFill>
                  </a:tcPr>
                </a:tc>
                <a:extLst>
                  <a:ext uri="{0D108BD9-81ED-4DB2-BD59-A6C34878D82A}">
                    <a16:rowId xmlns:a16="http://schemas.microsoft.com/office/drawing/2014/main" val="2511481647"/>
                  </a:ext>
                </a:extLst>
              </a:tr>
              <a:tr h="154800">
                <a:tc gridSpan="15">
                  <a:txBody>
                    <a:bodyPr/>
                    <a:lstStyle/>
                    <a:p>
                      <a:pPr algn="l" rtl="0" fontAlgn="ctr"/>
                      <a:r>
                        <a:rPr lang="ru" sz="700" b="1" u="none" strike="noStrike" dirty="0">
                          <a:solidFill>
                            <a:schemeClr val="tx1"/>
                          </a:solidFill>
                          <a:effectLst/>
                          <a:latin typeface="+mn-lt"/>
                        </a:rPr>
                        <a:t xml:space="preserve">Chief Executive Officer (CEO) messages and management commitments – these messages reflect the Company's commitment to celebrating significant international days focused on compliance and ethics issues</a:t>
                      </a:r>
                      <a:r>
                        <a:rPr lang="ru" sz="700" u="none" strike="noStrike" dirty="0">
                          <a:solidFill>
                            <a:schemeClr val="tx1"/>
                          </a:solidFill>
                          <a:effectLst/>
                          <a:latin typeface="+mn-lt"/>
                        </a:rPr>
                        <a:t/>
                      </a:r>
                      <a:endParaRPr lang="en-US" sz="700" b="1" i="0" u="none" strike="noStrike" dirty="0">
                        <a:solidFill>
                          <a:schemeClr val="tx1"/>
                        </a:solidFill>
                        <a:effectLst/>
                        <a:latin typeface="+mn-lt"/>
                      </a:endParaRPr>
                    </a:p>
                  </a:txBody>
                  <a:tcPr marL="18000" marR="18000" marT="36000" marB="18000" anchor="ctr">
                    <a:lnB w="12700" cmpd="sng">
                      <a:noFill/>
                    </a:lnB>
                    <a:solidFill>
                      <a:schemeClr val="tx2">
                        <a:lumMod val="20000"/>
                        <a:lumOff val="80000"/>
                      </a:schemeClr>
                    </a:solidFill>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hMerge="1">
                  <a:txBody>
                    <a:bodyPr/>
                    <a:lstStyle/>
                    <a:p>
                      <a:pPr rtl="0"/>
                      <a:endParaRPr lang="en-US"/>
                    </a:p>
                  </a:txBody>
                  <a:tcPr/>
                </a:tc>
                <a:tc>
                  <a:txBody>
                    <a:bodyPr/>
                    <a:lstStyle/>
                    <a:p>
                      <a:pPr algn="l" rtl="0" fontAlgn="ctr"/>
                      <a:endParaRPr lang="en-US" sz="700" b="1" i="0" u="none" strike="noStrike" dirty="0">
                        <a:solidFill>
                          <a:schemeClr val="tx1"/>
                        </a:solidFill>
                        <a:effectLst/>
                        <a:latin typeface="+mn-lt"/>
                      </a:endParaRPr>
                    </a:p>
                  </a:txBody>
                  <a:tcPr marL="18000" marR="18000" marT="36000" marB="18000" anchor="ctr">
                    <a:lnB w="12700" cmpd="sng">
                      <a:noFill/>
                    </a:lnB>
                    <a:solidFill>
                      <a:schemeClr val="tx2">
                        <a:lumMod val="20000"/>
                        <a:lumOff val="80000"/>
                      </a:schemeClr>
                    </a:solidFill>
                  </a:tcPr>
                </a:tc>
                <a:extLst>
                  <a:ext uri="{0D108BD9-81ED-4DB2-BD59-A6C34878D82A}">
                    <a16:rowId xmlns:a16="http://schemas.microsoft.com/office/drawing/2014/main" val="1450479256"/>
                  </a:ext>
                </a:extLst>
              </a:tr>
              <a:tr h="154800">
                <a:tc>
                  <a:txBody>
                    <a:bodyPr/>
                    <a:lstStyle/>
                    <a:p>
                      <a:pPr algn="l" rtl="0" fontAlgn="ctr"/>
                      <a:r>
                        <a:rPr lang="ru" sz="700" u="none" strike="noStrike" dirty="0">
                          <a:solidFill>
                            <a:schemeClr val="tx1"/>
                          </a:solidFill>
                          <a:effectLst/>
                          <a:latin typeface="+mn-lt"/>
                        </a:rPr>
                        <a:t xml:space="preserve">Anti-Corruption Day</a:t>
                      </a:r>
                      <a:endParaRPr lang="en-US" sz="700" b="0" i="0" u="none" strike="noStrike" dirty="0">
                        <a:solidFill>
                          <a:schemeClr val="tx1"/>
                        </a:solidFill>
                        <a:effectLst/>
                        <a:latin typeface="+mn-lt"/>
                      </a:endParaRPr>
                    </a:p>
                  </a:txBody>
                  <a:tcPr marL="36000" marR="18000" marT="36000" marB="18000">
                    <a:lnL w="12700" cmpd="sng">
                      <a:noFill/>
                    </a:lnL>
                    <a:lnR w="12700" cmpd="sng">
                      <a:noFill/>
                    </a:lnR>
                    <a:lnT w="127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All employees worldwide (IT users)</a:t>
                      </a:r>
                      <a:endParaRPr lang="en-US" sz="700" b="0" i="0" u="none" strike="noStrike" dirty="0">
                        <a:solidFill>
                          <a:schemeClr val="tx1"/>
                        </a:solidFill>
                        <a:effectLst/>
                        <a:latin typeface="+mn-lt"/>
                      </a:endParaRPr>
                    </a:p>
                  </a:txBody>
                  <a:tcPr marL="36000" marR="18000" marT="36000" marB="18000">
                    <a:lnL w="12700" cmpd="sng">
                      <a:noFill/>
                    </a:lnL>
                    <a:lnR w="12700" cmpd="sng">
                      <a:noFill/>
                    </a:lnR>
                    <a:lnT w="127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Email CEO letter</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127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09.12</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9">
                  <a:txBody>
                    <a:bodyPr/>
                    <a:lstStyle/>
                    <a:p>
                      <a:pPr algn="l" rtl="0" fontAlgn="ctr"/>
                      <a:r>
                        <a:rPr lang="ru-RU" sz="700" b="0" i="0" u="none" strike="noStrike" dirty="0" smtClean="0">
                          <a:solidFill>
                            <a:schemeClr val="tx1"/>
                          </a:solidFill>
                          <a:effectLst/>
                          <a:latin typeface="+mn-lt"/>
                        </a:rPr>
                        <a:t xml:space="preserve">Executed according to the Group's deadlines.</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4332297"/>
                  </a:ext>
                </a:extLst>
              </a:tr>
              <a:tr h="153666">
                <a:tc>
                  <a:txBody>
                    <a:bodyPr/>
                    <a:lstStyle/>
                    <a:p>
                      <a:pPr algn="l" rtl="0" fontAlgn="ctr"/>
                      <a:r>
                        <a:rPr lang="ru" sz="700" u="none" strike="noStrike" dirty="0">
                          <a:solidFill>
                            <a:schemeClr val="tx1"/>
                          </a:solidFill>
                          <a:effectLst/>
                          <a:latin typeface="+mn-lt"/>
                        </a:rPr>
                        <a:t xml:space="preserve">World Day for Cultural Diversity</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a:solidFill>
                            <a:schemeClr val="tx1"/>
                          </a:solidFill>
                          <a:effectLst/>
                          <a:latin typeface="+mn-lt"/>
                        </a:rPr>
                        <a:t xml:space="preserve">All employees worldwide (IT users)</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Email CEO letter</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21.05</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6798437"/>
                  </a:ext>
                </a:extLst>
              </a:tr>
              <a:tr h="154800">
                <a:tc>
                  <a:txBody>
                    <a:bodyPr/>
                    <a:lstStyle/>
                    <a:p>
                      <a:pPr algn="l" rtl="0" fontAlgn="ctr"/>
                      <a:r>
                        <a:rPr lang="ru" sz="700" u="none" strike="noStrike" dirty="0">
                          <a:solidFill>
                            <a:schemeClr val="tx1"/>
                          </a:solidFill>
                          <a:effectLst/>
                          <a:latin typeface="+mn-lt"/>
                        </a:rPr>
                        <a:t xml:space="preserve">World Values ​​Day</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All employees worldwide (IT users)</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Email CEO letter</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1</a:t>
                      </a:r>
                      <a:r>
                        <a:rPr lang="en-US" sz="700" u="none" strike="noStrike" dirty="0">
                          <a:solidFill>
                            <a:schemeClr val="tx1"/>
                          </a:solidFill>
                          <a:effectLst/>
                          <a:latin typeface="+mn-lt"/>
                        </a:rPr>
                        <a:t>6</a:t>
                      </a:r>
                      <a:r>
                        <a:rPr lang="ru" sz="700" u="none" strike="noStrike" dirty="0">
                          <a:solidFill>
                            <a:schemeClr val="tx1"/>
                          </a:solidFill>
                          <a:effectLst/>
                          <a:latin typeface="+mn-lt"/>
                        </a:rPr>
                        <a:t>.10</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6202208"/>
                  </a:ext>
                </a:extLst>
              </a:tr>
              <a:tr h="154800">
                <a:tc>
                  <a:txBody>
                    <a:bodyPr/>
                    <a:lstStyle/>
                    <a:p>
                      <a:pPr algn="l" rtl="0" fontAlgn="ctr"/>
                      <a:r>
                        <a:rPr lang="ru" sz="700" u="none" strike="noStrike" dirty="0">
                          <a:solidFill>
                            <a:schemeClr val="tx1"/>
                          </a:solidFill>
                          <a:effectLst/>
                          <a:latin typeface="+mn-lt"/>
                        </a:rPr>
                        <a:t xml:space="preserve">Human Rights Day</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a:solidFill>
                            <a:schemeClr val="tx1"/>
                          </a:solidFill>
                          <a:effectLst/>
                          <a:latin typeface="+mn-lt"/>
                        </a:rPr>
                        <a:t xml:space="preserve">All employees worldwide (IT users)</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Email CEO letter</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10.12</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0974168"/>
                  </a:ext>
                </a:extLst>
              </a:tr>
              <a:tr h="154800">
                <a:tc>
                  <a:txBody>
                    <a:bodyPr/>
                    <a:lstStyle/>
                    <a:p>
                      <a:pPr algn="l" rtl="0" fontAlgn="ctr"/>
                      <a:r>
                        <a:rPr lang="ru" sz="700" u="none" strike="noStrike" dirty="0">
                          <a:solidFill>
                            <a:schemeClr val="tx1"/>
                          </a:solidFill>
                          <a:effectLst/>
                          <a:latin typeface="+mn-lt"/>
                        </a:rPr>
                        <a:t xml:space="preserve">Personal Data Protection Day</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a:solidFill>
                            <a:schemeClr val="tx1"/>
                          </a:solidFill>
                          <a:effectLst/>
                          <a:latin typeface="+mn-lt"/>
                        </a:rPr>
                        <a:t xml:space="preserve">All employees worldwide (IT users)</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Email CEO letter</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28.01</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451291"/>
                  </a:ext>
                </a:extLst>
              </a:tr>
              <a:tr h="154800">
                <a:tc>
                  <a:txBody>
                    <a:bodyPr/>
                    <a:lstStyle/>
                    <a:p>
                      <a:pPr algn="l" rtl="0" fontAlgn="ctr"/>
                      <a:r>
                        <a:rPr lang="ru" sz="700" u="none" strike="noStrike" dirty="0">
                          <a:solidFill>
                            <a:schemeClr val="tx1"/>
                          </a:solidFill>
                          <a:effectLst/>
                          <a:latin typeface="+mn-lt"/>
                        </a:rPr>
                        <a:t xml:space="preserve">World Whistleblower Day</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a:solidFill>
                            <a:schemeClr val="tx1"/>
                          </a:solidFill>
                          <a:effectLst/>
                          <a:latin typeface="+mn-lt"/>
                        </a:rPr>
                        <a:t xml:space="preserve">All employees worldwide (IT users)</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Email CEO letter</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23.06</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1357941"/>
                  </a:ext>
                </a:extLst>
              </a:tr>
              <a:tr h="154800">
                <a:tc>
                  <a:txBody>
                    <a:bodyPr/>
                    <a:lstStyle/>
                    <a:p>
                      <a:pPr algn="l" rtl="0" fontAlgn="ctr"/>
                      <a:r>
                        <a:rPr lang="ru" sz="700" u="none" strike="noStrike" dirty="0">
                          <a:solidFill>
                            <a:schemeClr val="tx1"/>
                          </a:solidFill>
                          <a:effectLst/>
                          <a:latin typeface="+mn-lt"/>
                        </a:rPr>
                        <a:t xml:space="preserve">World Ethics Day</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All employees worldwide (IT users)</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Email CEO letter</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17.10</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6572223"/>
                  </a:ext>
                </a:extLst>
              </a:tr>
              <a:tr h="154800">
                <a:tc>
                  <a:txBody>
                    <a:bodyPr/>
                    <a:lstStyle/>
                    <a:p>
                      <a:pPr algn="l" rtl="0" fontAlgn="ctr"/>
                      <a:r>
                        <a:rPr lang="ru" sz="700" u="none" strike="noStrike" dirty="0">
                          <a:solidFill>
                            <a:schemeClr val="tx1"/>
                          </a:solidFill>
                          <a:effectLst/>
                          <a:latin typeface="+mn-lt"/>
                        </a:rPr>
                        <a:t xml:space="preserve">World Environment Day</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All employees worldwide (IT users)</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Email CEO letter</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05.06</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5402926"/>
                  </a:ext>
                </a:extLst>
              </a:tr>
              <a:tr h="154800">
                <a:tc>
                  <a:txBody>
                    <a:bodyPr/>
                    <a:lstStyle/>
                    <a:p>
                      <a:pPr algn="l" rtl="0" fontAlgn="ctr"/>
                      <a:r>
                        <a:rPr lang="ru" sz="700" u="none" strike="noStrike" dirty="0">
                          <a:solidFill>
                            <a:schemeClr val="tx1"/>
                          </a:solidFill>
                          <a:effectLst/>
                          <a:latin typeface="+mn-lt"/>
                        </a:rPr>
                        <a:t xml:space="preserve">International Anti-Fraud Week</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All employees worldwide (IT users)</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Email CEO letter</a:t>
                      </a:r>
                      <a:endParaRPr lang="en-US" sz="700" b="0" i="0" u="none" strike="noStrike" dirty="0">
                        <a:solidFill>
                          <a:schemeClr val="tx1"/>
                        </a:solidFill>
                        <a:effectLst/>
                        <a:latin typeface="+mn-lt"/>
                      </a:endParaRPr>
                    </a:p>
                  </a:txBody>
                  <a:tcPr marL="36000" marR="18000" marT="36000" marB="18000">
                    <a:lnL w="12700" cmpd="sng">
                      <a:noFill/>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12-18.11</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3287208"/>
                  </a:ext>
                </a:extLst>
              </a:tr>
              <a:tr h="154800">
                <a:tc gridSpan="15">
                  <a:txBody>
                    <a:bodyPr/>
                    <a:lstStyle/>
                    <a:p>
                      <a:pPr algn="l" rtl="0" fontAlgn="ctr"/>
                      <a:r>
                        <a:rPr lang="ru" sz="700" b="1" u="none" strike="noStrike" dirty="0">
                          <a:solidFill>
                            <a:schemeClr val="tx1"/>
                          </a:solidFill>
                          <a:effectLst/>
                          <a:latin typeface="+mn-lt"/>
                        </a:rPr>
                        <a:t xml:space="preserve">Policies and Procedures Reminders – will include centralized communications regarding policies and procedures</a:t>
                      </a:r>
                      <a:endParaRPr lang="en-US" sz="700" b="0" i="0" u="none" strike="noStrike" dirty="0">
                        <a:solidFill>
                          <a:schemeClr val="tx1"/>
                        </a:solidFill>
                        <a:effectLst/>
                        <a:highlight>
                          <a:srgbClr val="FFFF00"/>
                        </a:highlight>
                        <a:latin typeface="+mn-lt"/>
                      </a:endParaRPr>
                    </a:p>
                  </a:txBody>
                  <a:tcPr marL="18000" marR="18000" marT="36000" marB="1800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algn="l"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l"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chemeClr val="tx2">
                        <a:lumMod val="20000"/>
                        <a:lumOff val="80000"/>
                      </a:schemeClr>
                    </a:solidFill>
                  </a:tcPr>
                </a:tc>
                <a:tc hMerge="1">
                  <a:txBody>
                    <a:bodyPr/>
                    <a:lstStyle/>
                    <a:p>
                      <a:pPr algn="ctr" rtl="0" fontAlgn="ctr"/>
                      <a:endParaRPr lang="en-US" sz="800" b="0" i="0" u="none" strike="noStrike" dirty="0">
                        <a:solidFill>
                          <a:schemeClr val="tx1"/>
                        </a:solidFill>
                        <a:effectLst/>
                        <a:highlight>
                          <a:srgbClr val="FFFF00"/>
                        </a:highlight>
                        <a:latin typeface="+mn-lt"/>
                      </a:endParaRPr>
                    </a:p>
                  </a:txBody>
                  <a:tcPr marL="36000" marR="36000" marT="36000" marB="36000">
                    <a:lnL w="9525" cap="flat" cmpd="sng" algn="ctr">
                      <a:noFill/>
                      <a:prstDash val="solid"/>
                      <a:round/>
                      <a:headEnd type="none" w="med" len="med"/>
                      <a:tailEnd type="none" w="med" len="med"/>
                    </a:lnL>
                    <a:solidFill>
                      <a:schemeClr val="tx2">
                        <a:lumMod val="20000"/>
                        <a:lumOff val="80000"/>
                      </a:schemeClr>
                    </a:solidFill>
                  </a:tcPr>
                </a:tc>
                <a:tc>
                  <a:txBody>
                    <a:bodyPr/>
                    <a:lstStyle/>
                    <a:p>
                      <a:pPr algn="l" rtl="0" fontAlgn="ctr"/>
                      <a:endParaRPr lang="en-US" sz="700" b="0" i="0" u="none" strike="noStrike" dirty="0">
                        <a:solidFill>
                          <a:schemeClr val="tx1"/>
                        </a:solidFill>
                        <a:effectLst/>
                        <a:highlight>
                          <a:srgbClr val="FFFF00"/>
                        </a:highlight>
                        <a:latin typeface="+mn-lt"/>
                      </a:endParaRPr>
                    </a:p>
                  </a:txBody>
                  <a:tcPr marL="18000" marR="18000" marT="36000" marB="1800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511039653"/>
                  </a:ext>
                </a:extLst>
              </a:tr>
              <a:tr h="154800">
                <a:tc>
                  <a:txBody>
                    <a:bodyPr/>
                    <a:lstStyle/>
                    <a:p>
                      <a:pPr algn="l" rtl="0" fontAlgn="ctr"/>
                      <a:r>
                        <a:rPr lang="ru" sz="700" u="none" strike="noStrike" dirty="0">
                          <a:solidFill>
                            <a:schemeClr val="tx1"/>
                          </a:solidFill>
                          <a:effectLst/>
                          <a:latin typeface="+mn-lt"/>
                        </a:rPr>
                        <a:t xml:space="preserve">Reminder of G&amp;E rules (ahead of public holidays)</a:t>
                      </a:r>
                      <a:r>
                        <a:rPr lang="en-US" sz="700" u="none" strike="noStrike" dirty="0">
                          <a:solidFill>
                            <a:schemeClr val="tx1"/>
                          </a:solidFill>
                          <a:effectLst/>
                          <a:latin typeface="+mn-lt"/>
                        </a:rPr>
                        <a:t/>
                      </a:r>
                      <a:r>
                        <a:rPr lang="ru" sz="700" u="none" strike="noStrike" dirty="0">
                          <a:solidFill>
                            <a:schemeClr val="tx1"/>
                          </a:solidFill>
                          <a:effectLst/>
                          <a:latin typeface="+mn-lt"/>
                        </a:rPr>
                        <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RU" sz="700" u="none" strike="noStrike" dirty="0">
                          <a:solidFill>
                            <a:schemeClr val="tx1"/>
                          </a:solidFill>
                          <a:effectLst/>
                          <a:latin typeface="+mn-lt"/>
                        </a:rPr>
                        <a:t xml:space="preserve">For employees of the Group and Int. Perimeter (IT users)</a:t>
                      </a:r>
                      <a:r>
                        <a:rPr lang="ru" sz="700" u="none" strike="noStrike" dirty="0">
                          <a:solidFill>
                            <a:schemeClr val="tx1"/>
                          </a:solidFill>
                          <a:effectLst/>
                          <a:latin typeface="+mn-lt"/>
                        </a:rPr>
                        <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Email letter</a:t>
                      </a:r>
                      <a:endParaRPr lang="en-US" sz="700" b="0" i="0" u="none" strike="noStrike" dirty="0">
                        <a:solidFill>
                          <a:schemeClr val="tx1"/>
                        </a:solidFill>
                        <a:effectLst/>
                        <a:latin typeface="+mn-lt"/>
                      </a:endParaRPr>
                    </a:p>
                  </a:txBody>
                  <a:tcPr marL="36000" marR="18000" marT="36000" marB="18000">
                    <a:lnL w="12700" cmpd="sng">
                      <a:noFill/>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rowSpan="7">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0" u="none" strike="noStrike" dirty="0" smtClean="0">
                          <a:solidFill>
                            <a:schemeClr val="tx1"/>
                          </a:solidFill>
                          <a:effectLst/>
                          <a:latin typeface="+mn-lt"/>
                        </a:rPr>
                        <a:t xml:space="preserve">Executed according to the Group's deadlines.</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425447"/>
                  </a:ext>
                </a:extLst>
              </a:tr>
              <a:tr h="154800">
                <a:tc>
                  <a:txBody>
                    <a:bodyPr/>
                    <a:lstStyle/>
                    <a:p>
                      <a:pPr algn="l" rtl="0" fontAlgn="ctr"/>
                      <a:r>
                        <a:rPr lang="ru" sz="700" u="none" strike="noStrike" dirty="0">
                          <a:solidFill>
                            <a:schemeClr val="tx1"/>
                          </a:solidFill>
                          <a:effectLst/>
                          <a:latin typeface="+mn-lt"/>
                        </a:rPr>
                        <a:t xml:space="preserve">Reminder of Conflict of Interest Policy</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RU" sz="700" u="none" strike="noStrike" dirty="0">
                          <a:solidFill>
                            <a:schemeClr val="tx1"/>
                          </a:solidFill>
                          <a:effectLst/>
                          <a:latin typeface="+mn-lt"/>
                        </a:rPr>
                        <a:t xml:space="preserve">For employees of the Group and Int. Perimeter (IT users)</a:t>
                      </a:r>
                      <a:r>
                        <a:rPr lang="ru" sz="700" u="none" strike="noStrike" dirty="0">
                          <a:solidFill>
                            <a:schemeClr val="tx1"/>
                          </a:solidFill>
                          <a:effectLst/>
                          <a:latin typeface="+mn-lt"/>
                        </a:rPr>
                        <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Email mail/ poster/ etc.</a:t>
                      </a:r>
                      <a:r>
                        <a:rPr lang="en-US" sz="700" u="none" strike="noStrike" dirty="0">
                          <a:solidFill>
                            <a:schemeClr val="tx1"/>
                          </a:solidFill>
                          <a:effectLst/>
                          <a:latin typeface="+mn-lt"/>
                        </a:rPr>
                        <a:t/>
                      </a:r>
                      <a:r>
                        <a:rPr lang="ru-RU" sz="700" u="none" strike="noStrike" dirty="0">
                          <a:solidFill>
                            <a:schemeClr val="tx1"/>
                          </a:solidFill>
                          <a:effectLst/>
                          <a:latin typeface="+mn-lt"/>
                        </a:rPr>
                        <a:t/>
                      </a:r>
                      <a:endParaRPr lang="en-US" sz="700" b="0" i="0" u="none" strike="noStrike" dirty="0">
                        <a:solidFill>
                          <a:schemeClr val="tx1"/>
                        </a:solidFill>
                        <a:effectLst/>
                        <a:latin typeface="+mn-lt"/>
                      </a:endParaRPr>
                    </a:p>
                  </a:txBody>
                  <a:tcPr marL="36000" marR="18000" marT="36000" marB="18000">
                    <a:lnL w="12700" cmpd="sng">
                      <a:noFill/>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296278"/>
                  </a:ext>
                </a:extLst>
              </a:tr>
              <a:tr h="154800">
                <a:tc>
                  <a:txBody>
                    <a:bodyPr/>
                    <a:lstStyle/>
                    <a:p>
                      <a:pPr algn="l" rtl="0" fontAlgn="ctr"/>
                      <a:r>
                        <a:rPr lang="ru" sz="700" u="none" strike="noStrike" dirty="0">
                          <a:solidFill>
                            <a:schemeClr val="tx1"/>
                          </a:solidFill>
                          <a:effectLst/>
                          <a:latin typeface="+mn-lt"/>
                        </a:rPr>
                        <a:t xml:space="preserve">Policies and Procedures Reminders / New Policies and Procedures</a:t>
                      </a:r>
                      <a:r>
                        <a:rPr lang="ru" sz="700" b="0" i="0" u="none" strike="noStrike" dirty="0">
                          <a:solidFill>
                            <a:schemeClr val="tx1"/>
                          </a:solidFill>
                          <a:effectLst/>
                          <a:latin typeface="+mn-lt"/>
                        </a:rPr>
                        <a:t/>
                      </a: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Workers (non-IT), Compliance</a:t>
                      </a:r>
                      <a:r>
                        <a:rPr lang="ru" sz="700" b="0" i="0" u="none" strike="noStrike" dirty="0">
                          <a:solidFill>
                            <a:schemeClr val="tx1"/>
                          </a:solidFill>
                          <a:effectLst/>
                          <a:latin typeface="+mn-lt"/>
                        </a:rPr>
                        <a:t/>
                      </a: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Posters/krat. manuals/etc.</a:t>
                      </a:r>
                      <a:endParaRPr lang="en-US" sz="700" b="0" i="0" u="none" strike="noStrike" dirty="0">
                        <a:solidFill>
                          <a:schemeClr val="tx1"/>
                        </a:solidFill>
                        <a:effectLst/>
                        <a:latin typeface="+mn-lt"/>
                      </a:endParaRPr>
                    </a:p>
                  </a:txBody>
                  <a:tcPr marL="36000" marR="18000" marT="36000" marB="18000">
                    <a:lnL w="12700" cmpd="sng">
                      <a:noFill/>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741006"/>
                  </a:ext>
                </a:extLst>
              </a:tr>
              <a:tr h="154800">
                <a:tc>
                  <a:txBody>
                    <a:bodyPr/>
                    <a:lstStyle/>
                    <a:p>
                      <a:pPr algn="l" rtl="0" fontAlgn="ctr"/>
                      <a:r>
                        <a:rPr lang="ru" sz="700" u="none" strike="noStrike" dirty="0">
                          <a:solidFill>
                            <a:schemeClr val="tx1"/>
                          </a:solidFill>
                          <a:effectLst/>
                          <a:latin typeface="+mn-lt"/>
                        </a:rPr>
                        <a:t xml:space="preserve">Sanctions (regular information)</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Higher management, persons associated with jurisprudence and decision-making</a:t>
                      </a:r>
                      <a:r>
                        <a:rPr lang="ru-RU" sz="700" u="none" strike="noStrike" dirty="0">
                          <a:solidFill>
                            <a:schemeClr val="tx1"/>
                          </a:solidFill>
                          <a:effectLst/>
                          <a:latin typeface="+mn-lt"/>
                        </a:rPr>
                        <a:t/>
                      </a:r>
                      <a:r>
                        <a:rPr lang="ru" sz="700" u="none" strike="noStrike" dirty="0">
                          <a:solidFill>
                            <a:schemeClr val="tx1"/>
                          </a:solidFill>
                          <a:effectLst/>
                          <a:latin typeface="+mn-lt"/>
                        </a:rPr>
                        <a:t/>
                      </a:r>
                      <a:r>
                        <a:rPr lang="ru" sz="700" u="none" strike="noStrike" baseline="0" dirty="0">
                          <a:solidFill>
                            <a:schemeClr val="tx1"/>
                          </a:solidFill>
                          <a:effectLst/>
                          <a:latin typeface="+mn-lt"/>
                        </a:rPr>
                        <a:t/>
                      </a:r>
                      <a:r>
                        <a:rPr lang="ru" sz="700" u="none" strike="noStrike" dirty="0">
                          <a:solidFill>
                            <a:schemeClr val="tx1"/>
                          </a:solidFill>
                          <a:effectLst/>
                          <a:latin typeface="+mn-lt"/>
                        </a:rPr>
                        <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Email letter</a:t>
                      </a:r>
                      <a:endParaRPr lang="en-US" sz="700" b="0" i="0" u="none" strike="noStrike" dirty="0">
                        <a:solidFill>
                          <a:schemeClr val="tx1"/>
                        </a:solidFill>
                        <a:effectLst/>
                        <a:latin typeface="+mn-lt"/>
                      </a:endParaRPr>
                    </a:p>
                  </a:txBody>
                  <a:tcPr marL="36000" marR="18000" marT="36000" marB="18000">
                    <a:lnL w="12700" cmpd="sng">
                      <a:noFill/>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X</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X</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164314"/>
                  </a:ext>
                </a:extLst>
              </a:tr>
              <a:tr h="154800">
                <a:tc>
                  <a:txBody>
                    <a:bodyPr/>
                    <a:lstStyle/>
                    <a:p>
                      <a:pPr algn="l" rtl="0" fontAlgn="ctr"/>
                      <a:r>
                        <a:rPr lang="ru" sz="700" u="none" strike="noStrike" dirty="0">
                          <a:solidFill>
                            <a:schemeClr val="tx1"/>
                          </a:solidFill>
                          <a:effectLst/>
                          <a:latin typeface="+mn-lt"/>
                        </a:rPr>
                        <a:t xml:space="preserve">PDA</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RU" sz="700" u="none" strike="noStrike" dirty="0">
                          <a:solidFill>
                            <a:schemeClr val="tx1"/>
                          </a:solidFill>
                          <a:effectLst/>
                          <a:latin typeface="+mn-lt"/>
                        </a:rPr>
                        <a:t xml:space="preserve">For employees of the Group and Int. Perimeter (IT users)</a:t>
                      </a:r>
                      <a:r>
                        <a:rPr lang="ru" sz="700" u="none" strike="noStrike" dirty="0">
                          <a:solidFill>
                            <a:schemeClr val="tx1"/>
                          </a:solidFill>
                          <a:effectLst/>
                          <a:latin typeface="+mn-lt"/>
                        </a:rPr>
                        <a:t/>
                      </a:r>
                      <a:endParaRPr lang="en-US" sz="700" b="0" i="0"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18000" marT="36000" marB="18000">
                    <a:lnL w="12700" cmpd="sng">
                      <a:noFill/>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X</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4737780"/>
                  </a:ext>
                </a:extLst>
              </a:tr>
              <a:tr h="154800">
                <a:tc>
                  <a:txBody>
                    <a:bodyPr/>
                    <a:lstStyle/>
                    <a:p>
                      <a:pPr algn="l" rtl="0" fontAlgn="ctr"/>
                      <a:r>
                        <a:rPr lang="ru" sz="700" u="none" strike="noStrike" dirty="0">
                          <a:solidFill>
                            <a:schemeClr val="tx1"/>
                          </a:solidFill>
                          <a:effectLst/>
                          <a:latin typeface="+mn-lt"/>
                        </a:rPr>
                        <a:t xml:space="preserve">Compliance Day (Day of Compliance Specialists in the Group and Regions)</a:t>
                      </a:r>
                      <a:endParaRPr lang="en-US" sz="700" b="0" i="1"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Dept. employees, special volunteer regional trainings</a:t>
                      </a:r>
                      <a:r>
                        <a:rPr lang="ru-RU" sz="700" u="none" strike="noStrike" dirty="0">
                          <a:solidFill>
                            <a:schemeClr val="tx1"/>
                          </a:solidFill>
                          <a:effectLst/>
                          <a:latin typeface="+mn-lt"/>
                        </a:rPr>
                        <a:t/>
                      </a:r>
                      <a:r>
                        <a:rPr lang="ru" sz="700" u="none" strike="noStrike" dirty="0">
                          <a:solidFill>
                            <a:schemeClr val="tx1"/>
                          </a:solidFill>
                          <a:effectLst/>
                          <a:latin typeface="+mn-lt"/>
                        </a:rPr>
                        <a:t/>
                      </a:r>
                      <a:endParaRPr lang="en-US" sz="700" b="0" i="1"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In person/Electronic letter</a:t>
                      </a:r>
                      <a:endParaRPr lang="en-US" sz="700" b="0" i="0" u="none" strike="noStrike" dirty="0">
                        <a:solidFill>
                          <a:schemeClr val="tx1"/>
                        </a:solidFill>
                        <a:effectLst/>
                        <a:latin typeface="+mn-lt"/>
                      </a:endParaRPr>
                    </a:p>
                  </a:txBody>
                  <a:tcPr marL="36000" marR="18000" marT="36000" marB="18000">
                    <a:lnL w="12700" cmpd="sng">
                      <a:noFill/>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en-US" sz="700" b="0" i="0" u="none" strike="noStrike" dirty="0">
                        <a:solidFill>
                          <a:srgbClr val="FF0000"/>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26.09</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7168623"/>
                  </a:ext>
                </a:extLst>
              </a:tr>
              <a:tr h="154800">
                <a:tc>
                  <a:txBody>
                    <a:bodyPr/>
                    <a:lstStyle/>
                    <a:p>
                      <a:pPr algn="l" rtl="0" fontAlgn="ctr"/>
                      <a:r>
                        <a:rPr lang="ru" sz="700" u="none" strike="noStrike" dirty="0">
                          <a:solidFill>
                            <a:schemeClr val="tx1"/>
                          </a:solidFill>
                          <a:effectLst/>
                          <a:latin typeface="+mn-lt"/>
                        </a:rPr>
                        <a:t xml:space="preserve">Review of local legislation changes</a:t>
                      </a:r>
                      <a:endParaRPr lang="en-US" sz="700" b="0" i="1"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xml:space="preserve">Employees affected by changes</a:t>
                      </a:r>
                      <a:endParaRPr lang="en-US" sz="700" b="0" i="1" u="none" strike="noStrike" dirty="0">
                        <a:solidFill>
                          <a:schemeClr val="tx1"/>
                        </a:solidFill>
                        <a:effectLst/>
                        <a:latin typeface="+mn-lt"/>
                      </a:endParaRPr>
                    </a:p>
                  </a:txBody>
                  <a:tcPr marL="36000" marR="18000" marT="36000" marB="18000">
                    <a:lnL w="12700" cmpd="sng">
                      <a:noFill/>
                    </a:lnL>
                    <a:lnR w="12700" cmpd="sng">
                      <a:noFill/>
                    </a:lnR>
                    <a:lnT w="6350"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18000" marT="36000" marB="18000">
                    <a:lnL w="12700" cmpd="sng">
                      <a:noFill/>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ru"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ctr"/>
                      <a:endParaRPr lang="en-US" sz="700" b="0" i="0" u="none" strike="noStrike" dirty="0">
                        <a:solidFill>
                          <a:schemeClr val="tx1"/>
                        </a:solidFill>
                        <a:effectLst/>
                        <a:latin typeface="+mn-lt"/>
                      </a:endParaRPr>
                    </a:p>
                  </a:txBody>
                  <a:tcPr marL="18000" marR="18000" marT="36000" marB="1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584762"/>
                  </a:ext>
                </a:extLst>
              </a:tr>
            </a:tbl>
          </a:graphicData>
        </a:graphic>
      </p:graphicFrame>
    </p:spTree>
    <p:extLst>
      <p:ext uri="{BB962C8B-B14F-4D97-AF65-F5344CB8AC3E}">
        <p14:creationId xmlns:p14="http://schemas.microsoft.com/office/powerpoint/2010/main" val="30708816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DAD5FC9-FF2C-4EC0-805D-83E1B956DC9B}"/>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7060" name="think-cell Slide" r:id="rId5" imgW="473" imgH="473" progId="TCLayout.ActiveDocument.1">
                  <p:embed/>
                </p:oleObj>
              </mc:Choice>
              <mc:Fallback>
                <p:oleObj name="think-cell Slide" r:id="rId5" imgW="473" imgH="473" progId="TCLayout.ActiveDocument.1">
                  <p:embed/>
                  <p:pic>
                    <p:nvPicPr>
                      <p:cNvPr id="5" name="Object 4" hidden="1">
                        <a:extLst>
                          <a:ext uri="{FF2B5EF4-FFF2-40B4-BE49-F238E27FC236}">
                            <a16:creationId xmlns:a16="http://schemas.microsoft.com/office/drawing/2014/main" id="{EDAD5FC9-FF2C-4EC0-805D-83E1B956DC9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98C1F65-B331-43F3-BCCF-85B377530206}"/>
              </a:ext>
            </a:extLst>
          </p:cNvPr>
          <p:cNvSpPr>
            <a:spLocks noGrp="1"/>
          </p:cNvSpPr>
          <p:nvPr>
            <p:ph type="title"/>
          </p:nvPr>
        </p:nvSpPr>
        <p:spPr>
          <a:xfrm>
            <a:off x="317499" y="0"/>
            <a:ext cx="10584209" cy="704850"/>
          </a:xfrm>
        </p:spPr>
        <p:txBody>
          <a:bodyPr vert="horz" rtlCol="0"/>
          <a:lstStyle/>
          <a:p>
            <a:r>
              <a:rPr lang="ru-RU" dirty="0"/>
              <a:t xml:space="preserve">Annual Compliance Program 2025: Perimeter Kazakhstan Implementation status - Compliance Communications Program</a:t>
            </a:r>
            <a:br>
              <a:rPr lang="ru-RU" dirty="0"/>
            </a:br>
            <a:r>
              <a:rPr lang="ru-RU" dirty="0">
                <a:solidFill>
                  <a:schemeClr val="tx1"/>
                </a:solidFill>
              </a:rPr>
              <a:t/>
            </a:r>
            <a:r>
              <a:rPr lang="ru" dirty="0">
                <a:solidFill>
                  <a:schemeClr val="tx1"/>
                </a:solidFill>
              </a:rPr>
              <a:t/>
            </a:r>
            <a:r>
              <a:rPr lang="ru" dirty="0" smtClean="0">
                <a:solidFill>
                  <a:schemeClr val="tx1"/>
                </a:solidFill>
              </a:rPr>
              <a:t/>
            </a:r>
            <a:endParaRPr lang="ru" dirty="0">
              <a:solidFill>
                <a:schemeClr val="tx1"/>
              </a:solidFill>
            </a:endParaRPr>
          </a:p>
        </p:txBody>
      </p:sp>
      <p:graphicFrame>
        <p:nvGraphicFramePr>
          <p:cNvPr id="6" name="Table 5">
            <a:extLst>
              <a:ext uri="{FF2B5EF4-FFF2-40B4-BE49-F238E27FC236}">
                <a16:creationId xmlns:a16="http://schemas.microsoft.com/office/drawing/2014/main" id="{1E0B4359-7D9E-43BE-8D59-439DA033DDAE}"/>
              </a:ext>
            </a:extLst>
          </p:cNvPr>
          <p:cNvGraphicFramePr>
            <a:graphicFrameLocks noGrp="1"/>
          </p:cNvGraphicFramePr>
          <p:nvPr>
            <p:extLst>
              <p:ext uri="{D42A27DB-BD31-4B8C-83A1-F6EECF244321}">
                <p14:modId xmlns:p14="http://schemas.microsoft.com/office/powerpoint/2010/main" val="2060475949"/>
              </p:ext>
            </p:extLst>
          </p:nvPr>
        </p:nvGraphicFramePr>
        <p:xfrm>
          <a:off x="317499" y="952988"/>
          <a:ext cx="11550253" cy="5251920"/>
        </p:xfrm>
        <a:graphic>
          <a:graphicData uri="http://schemas.openxmlformats.org/drawingml/2006/table">
            <a:tbl>
              <a:tblPr>
                <a:tableStyleId>{5C22544A-7EE6-4342-B048-85BDC9FD1C3A}</a:tableStyleId>
              </a:tblPr>
              <a:tblGrid>
                <a:gridCol w="1728000">
                  <a:extLst>
                    <a:ext uri="{9D8B030D-6E8A-4147-A177-3AD203B41FA5}">
                      <a16:colId xmlns:a16="http://schemas.microsoft.com/office/drawing/2014/main" val="3568390040"/>
                    </a:ext>
                  </a:extLst>
                </a:gridCol>
                <a:gridCol w="1836000">
                  <a:extLst>
                    <a:ext uri="{9D8B030D-6E8A-4147-A177-3AD203B41FA5}">
                      <a16:colId xmlns:a16="http://schemas.microsoft.com/office/drawing/2014/main" val="3830539557"/>
                    </a:ext>
                  </a:extLst>
                </a:gridCol>
                <a:gridCol w="1218253">
                  <a:extLst>
                    <a:ext uri="{9D8B030D-6E8A-4147-A177-3AD203B41FA5}">
                      <a16:colId xmlns:a16="http://schemas.microsoft.com/office/drawing/2014/main" val="1045536790"/>
                    </a:ext>
                  </a:extLst>
                </a:gridCol>
                <a:gridCol w="324000">
                  <a:extLst>
                    <a:ext uri="{9D8B030D-6E8A-4147-A177-3AD203B41FA5}">
                      <a16:colId xmlns:a16="http://schemas.microsoft.com/office/drawing/2014/main" val="1719532188"/>
                    </a:ext>
                  </a:extLst>
                </a:gridCol>
                <a:gridCol w="324000">
                  <a:extLst>
                    <a:ext uri="{9D8B030D-6E8A-4147-A177-3AD203B41FA5}">
                      <a16:colId xmlns:a16="http://schemas.microsoft.com/office/drawing/2014/main" val="3384843292"/>
                    </a:ext>
                  </a:extLst>
                </a:gridCol>
                <a:gridCol w="324000">
                  <a:extLst>
                    <a:ext uri="{9D8B030D-6E8A-4147-A177-3AD203B41FA5}">
                      <a16:colId xmlns:a16="http://schemas.microsoft.com/office/drawing/2014/main" val="4033282206"/>
                    </a:ext>
                  </a:extLst>
                </a:gridCol>
                <a:gridCol w="324000">
                  <a:extLst>
                    <a:ext uri="{9D8B030D-6E8A-4147-A177-3AD203B41FA5}">
                      <a16:colId xmlns:a16="http://schemas.microsoft.com/office/drawing/2014/main" val="89004304"/>
                    </a:ext>
                  </a:extLst>
                </a:gridCol>
                <a:gridCol w="324000">
                  <a:extLst>
                    <a:ext uri="{9D8B030D-6E8A-4147-A177-3AD203B41FA5}">
                      <a16:colId xmlns:a16="http://schemas.microsoft.com/office/drawing/2014/main" val="2029164394"/>
                    </a:ext>
                  </a:extLst>
                </a:gridCol>
                <a:gridCol w="324000">
                  <a:extLst>
                    <a:ext uri="{9D8B030D-6E8A-4147-A177-3AD203B41FA5}">
                      <a16:colId xmlns:a16="http://schemas.microsoft.com/office/drawing/2014/main" val="3439488264"/>
                    </a:ext>
                  </a:extLst>
                </a:gridCol>
                <a:gridCol w="324000">
                  <a:extLst>
                    <a:ext uri="{9D8B030D-6E8A-4147-A177-3AD203B41FA5}">
                      <a16:colId xmlns:a16="http://schemas.microsoft.com/office/drawing/2014/main" val="2451690540"/>
                    </a:ext>
                  </a:extLst>
                </a:gridCol>
                <a:gridCol w="324000">
                  <a:extLst>
                    <a:ext uri="{9D8B030D-6E8A-4147-A177-3AD203B41FA5}">
                      <a16:colId xmlns:a16="http://schemas.microsoft.com/office/drawing/2014/main" val="2701873932"/>
                    </a:ext>
                  </a:extLst>
                </a:gridCol>
                <a:gridCol w="324000">
                  <a:extLst>
                    <a:ext uri="{9D8B030D-6E8A-4147-A177-3AD203B41FA5}">
                      <a16:colId xmlns:a16="http://schemas.microsoft.com/office/drawing/2014/main" val="1138467749"/>
                    </a:ext>
                  </a:extLst>
                </a:gridCol>
                <a:gridCol w="324000">
                  <a:extLst>
                    <a:ext uri="{9D8B030D-6E8A-4147-A177-3AD203B41FA5}">
                      <a16:colId xmlns:a16="http://schemas.microsoft.com/office/drawing/2014/main" val="3132779595"/>
                    </a:ext>
                  </a:extLst>
                </a:gridCol>
                <a:gridCol w="324000">
                  <a:extLst>
                    <a:ext uri="{9D8B030D-6E8A-4147-A177-3AD203B41FA5}">
                      <a16:colId xmlns:a16="http://schemas.microsoft.com/office/drawing/2014/main" val="3752998496"/>
                    </a:ext>
                  </a:extLst>
                </a:gridCol>
                <a:gridCol w="324000">
                  <a:extLst>
                    <a:ext uri="{9D8B030D-6E8A-4147-A177-3AD203B41FA5}">
                      <a16:colId xmlns:a16="http://schemas.microsoft.com/office/drawing/2014/main" val="619743336"/>
                    </a:ext>
                  </a:extLst>
                </a:gridCol>
                <a:gridCol w="2880000">
                  <a:extLst>
                    <a:ext uri="{9D8B030D-6E8A-4147-A177-3AD203B41FA5}">
                      <a16:colId xmlns:a16="http://schemas.microsoft.com/office/drawing/2014/main" val="1811700505"/>
                    </a:ext>
                  </a:extLst>
                </a:gridCol>
              </a:tblGrid>
              <a:tr h="234086">
                <a:tc>
                  <a:txBody>
                    <a:bodyPr/>
                    <a:lstStyle/>
                    <a:p>
                      <a:pPr algn="l" rtl="0" fontAlgn="ctr"/>
                      <a:r>
                        <a:rPr lang="ru" sz="700" u="none" strike="noStrike" dirty="0">
                          <a:solidFill>
                            <a:schemeClr val="accent5">
                              <a:lumMod val="75000"/>
                              <a:lumOff val="25000"/>
                            </a:schemeClr>
                          </a:solidFill>
                          <a:effectLst/>
                          <a:latin typeface="+mn-lt"/>
                        </a:rPr>
                        <a:t xml:space="preserve">Subject</a:t>
                      </a:r>
                      <a:endParaRPr lang="en-US" sz="700" b="1" i="0" u="none" strike="noStrike" dirty="0">
                        <a:solidFill>
                          <a:schemeClr val="accent5">
                            <a:lumMod val="75000"/>
                            <a:lumOff val="25000"/>
                          </a:schemeClr>
                        </a:solidFill>
                        <a:effectLst/>
                        <a:latin typeface="+mn-lt"/>
                      </a:endParaRPr>
                    </a:p>
                  </a:txBody>
                  <a:tcPr marL="36000" marR="18000" marT="36000" marB="18000" anchor="ctr">
                    <a:lnB w="9525" cap="flat" cmpd="sng" algn="ctr">
                      <a:solidFill>
                        <a:schemeClr val="accent5">
                          <a:lumMod val="75000"/>
                          <a:lumOff val="25000"/>
                        </a:schemeClr>
                      </a:solidFill>
                      <a:prstDash val="solid"/>
                      <a:round/>
                      <a:headEnd type="none" w="med" len="med"/>
                      <a:tailEnd type="none" w="med" len="med"/>
                    </a:lnB>
                    <a:noFill/>
                  </a:tcPr>
                </a:tc>
                <a:tc>
                  <a:txBody>
                    <a:bodyPr/>
                    <a:lstStyle/>
                    <a:p>
                      <a:pPr algn="l" rtl="0" fontAlgn="ctr"/>
                      <a:r>
                        <a:rPr lang="ru" sz="700" u="none" strike="noStrike" dirty="0">
                          <a:solidFill>
                            <a:schemeClr val="accent5">
                              <a:lumMod val="75000"/>
                              <a:lumOff val="25000"/>
                            </a:schemeClr>
                          </a:solidFill>
                          <a:effectLst/>
                          <a:latin typeface="+mn-lt"/>
                        </a:rPr>
                        <a:t xml:space="preserve">Audience</a:t>
                      </a:r>
                      <a:endParaRPr lang="en-US" sz="700" b="1" i="0" u="none" strike="noStrike" dirty="0">
                        <a:solidFill>
                          <a:schemeClr val="accent5">
                            <a:lumMod val="75000"/>
                            <a:lumOff val="25000"/>
                          </a:schemeClr>
                        </a:solidFill>
                        <a:effectLst/>
                        <a:latin typeface="+mn-lt"/>
                      </a:endParaRPr>
                    </a:p>
                  </a:txBody>
                  <a:tcPr marL="36000" marR="18000" marT="36000" marB="18000" anchor="ctr">
                    <a:lnB w="9525" cap="flat" cmpd="sng" algn="ctr">
                      <a:solidFill>
                        <a:schemeClr val="accent5">
                          <a:lumMod val="75000"/>
                          <a:lumOff val="25000"/>
                        </a:schemeClr>
                      </a:solidFill>
                      <a:prstDash val="solid"/>
                      <a:round/>
                      <a:headEnd type="none" w="med" len="med"/>
                      <a:tailEnd type="none" w="med" len="med"/>
                    </a:lnB>
                    <a:noFill/>
                  </a:tcPr>
                </a:tc>
                <a:tc>
                  <a:txBody>
                    <a:bodyPr/>
                    <a:lstStyle/>
                    <a:p>
                      <a:pPr algn="l" rtl="0" fontAlgn="ctr"/>
                      <a:r>
                        <a:rPr lang="ru" sz="700" u="none" strike="noStrike" dirty="0">
                          <a:solidFill>
                            <a:schemeClr val="accent5">
                              <a:lumMod val="75000"/>
                              <a:lumOff val="25000"/>
                            </a:schemeClr>
                          </a:solidFill>
                          <a:effectLst/>
                          <a:latin typeface="+mn-lt"/>
                        </a:rPr>
                        <a:t xml:space="preserve">Channel</a:t>
                      </a:r>
                      <a:endParaRPr lang="en-US" sz="700" b="1" i="0" u="none" strike="noStrike" dirty="0">
                        <a:solidFill>
                          <a:schemeClr val="accent5">
                            <a:lumMod val="75000"/>
                            <a:lumOff val="25000"/>
                          </a:schemeClr>
                        </a:solidFill>
                        <a:effectLst/>
                        <a:latin typeface="+mn-lt"/>
                      </a:endParaRPr>
                    </a:p>
                  </a:txBody>
                  <a:tcPr marL="36000" marR="18000" marT="36000" marB="18000" anchor="ct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Jan.</a:t>
                      </a:r>
                      <a:endParaRPr lang="en-US" sz="700" b="1" i="0" u="none" strike="noStrike" dirty="0">
                        <a:solidFill>
                          <a:schemeClr val="accent5">
                            <a:lumMod val="75000"/>
                            <a:lumOff val="25000"/>
                          </a:schemeClr>
                        </a:solidFill>
                        <a:effectLst/>
                        <a:latin typeface="+mn-lt"/>
                      </a:endParaRPr>
                    </a:p>
                  </a:txBody>
                  <a:tcPr marL="18000" marR="18000" marT="36000" marB="18000" anchor="ctr">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Feb.</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March</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Apr.</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May</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June</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July</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Aug.</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Sep.</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Oct.</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Nov.</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algn="ctr" rtl="0" fontAlgn="ctr"/>
                      <a:r>
                        <a:rPr lang="ru" sz="700" u="none" strike="noStrike" dirty="0">
                          <a:solidFill>
                            <a:schemeClr val="accent5">
                              <a:lumMod val="75000"/>
                              <a:lumOff val="25000"/>
                            </a:schemeClr>
                          </a:solidFill>
                          <a:effectLst/>
                          <a:latin typeface="+mn-lt"/>
                        </a:rPr>
                        <a:t xml:space="preserve">Dec.</a:t>
                      </a: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R w="6350" cap="flat" cmpd="sng" algn="ctr">
                      <a:solidFill>
                        <a:schemeClr val="accent5">
                          <a:lumMod val="75000"/>
                          <a:lumOff val="25000"/>
                        </a:schemeClr>
                      </a:solidFill>
                      <a:prstDash val="solid"/>
                      <a:round/>
                      <a:headEnd type="none" w="med" len="med"/>
                      <a:tailEnd type="none" w="med" len="med"/>
                    </a:lnR>
                    <a:lnB w="9525" cap="flat" cmpd="sng" algn="ctr">
                      <a:solidFill>
                        <a:schemeClr val="accent5">
                          <a:lumMod val="75000"/>
                          <a:lumOff val="25000"/>
                        </a:schemeClr>
                      </a:solidFill>
                      <a:prstDash val="solid"/>
                      <a:round/>
                      <a:headEnd type="none" w="med" len="med"/>
                      <a:tailEnd type="none" w="med" len="med"/>
                    </a:lnB>
                    <a:noFill/>
                  </a:tcPr>
                </a:tc>
                <a:tc>
                  <a:txBody>
                    <a:bodyPr/>
                    <a:lstStyle/>
                    <a:p>
                      <a:pPr marL="0" marR="0" lvl="0" indent="0" algn="ctr" defTabSz="583170" rtl="0" eaLnBrk="1" fontAlgn="ctr" latinLnBrk="0" hangingPunct="1">
                        <a:lnSpc>
                          <a:spcPct val="100000"/>
                        </a:lnSpc>
                        <a:spcBef>
                          <a:spcPts val="0"/>
                        </a:spcBef>
                        <a:spcAft>
                          <a:spcPts val="0"/>
                        </a:spcAft>
                        <a:buClrTx/>
                        <a:buSzTx/>
                        <a:buFontTx/>
                        <a:buNone/>
                        <a:tabLst/>
                        <a:defRPr/>
                      </a:pPr>
                      <a:r>
                        <a:rPr lang="ru-RU" sz="700" b="0" dirty="0" smtClean="0">
                          <a:solidFill>
                            <a:schemeClr val="accent5">
                              <a:lumMod val="75000"/>
                              <a:lumOff val="25000"/>
                            </a:schemeClr>
                          </a:solidFill>
                          <a:latin typeface="+mn-lt"/>
                        </a:rPr>
                        <a:t xml:space="preserve">Execution Status</a:t>
                      </a:r>
                    </a:p>
                    <a:p>
                      <a:pPr algn="ctr" rtl="0" fontAlgn="ctr"/>
                      <a:endParaRPr lang="en-US" sz="700" b="1" i="0" u="none" strike="noStrike" dirty="0">
                        <a:solidFill>
                          <a:schemeClr val="accent5">
                            <a:lumMod val="75000"/>
                            <a:lumOff val="25000"/>
                          </a:schemeClr>
                        </a:solidFill>
                        <a:effectLst/>
                        <a:latin typeface="+mn-lt"/>
                      </a:endParaRPr>
                    </a:p>
                  </a:txBody>
                  <a:tcPr marL="18000" marR="18000" marT="36000" marB="18000" anchor="ctr">
                    <a:lnL w="6350" cap="flat" cmpd="sng" algn="ctr">
                      <a:solidFill>
                        <a:schemeClr val="accent5">
                          <a:lumMod val="75000"/>
                          <a:lumOff val="25000"/>
                        </a:schemeClr>
                      </a:solidFill>
                      <a:prstDash val="solid"/>
                      <a:round/>
                      <a:headEnd type="none" w="med" len="med"/>
                      <a:tailEnd type="none" w="med" len="med"/>
                    </a:lnL>
                    <a:lnB w="9525" cap="flat" cmpd="sng" algn="ctr">
                      <a:solidFill>
                        <a:schemeClr val="accent5">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707363138"/>
                  </a:ext>
                </a:extLst>
              </a:tr>
              <a:tr h="162000">
                <a:tc gridSpan="15">
                  <a:txBody>
                    <a:bodyPr/>
                    <a:lstStyle/>
                    <a:p>
                      <a:pPr marL="0" algn="l" defTabSz="583170" rtl="0" eaLnBrk="1" fontAlgn="ctr" latinLnBrk="0" hangingPunct="1"/>
                      <a:r>
                        <a:rPr lang="ru-RU" sz="700" b="1" u="none" strike="noStrike" kern="1200" dirty="0">
                          <a:solidFill>
                            <a:schemeClr val="tx1"/>
                          </a:solidFill>
                          <a:effectLst/>
                          <a:latin typeface="+mn-lt"/>
                          <a:ea typeface="+mn-ea"/>
                          <a:cs typeface="+mn-cs"/>
                        </a:rPr>
                        <a:t xml:space="preserve">Level: Perimeter Kazakhstan</a:t>
                      </a:r>
                      <a:endParaRPr lang="en-US" sz="700" b="1" u="none" strike="noStrike" kern="1200" dirty="0">
                        <a:solidFill>
                          <a:schemeClr val="tx1"/>
                        </a:solidFill>
                        <a:effectLst/>
                        <a:latin typeface="+mn-lt"/>
                        <a:ea typeface="+mn-ea"/>
                        <a:cs typeface="+mn-cs"/>
                      </a:endParaRPr>
                    </a:p>
                  </a:txBody>
                  <a:tcPr marL="36000" marR="18000" marT="36000" marB="18000">
                    <a:lnT w="9525" cap="flat" cmpd="sng" algn="ctr">
                      <a:solidFill>
                        <a:schemeClr val="accent5">
                          <a:lumMod val="75000"/>
                          <a:lumOff val="25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36000" marR="18000" marT="36000" marB="18000">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36000" marR="18000" marT="36000" marB="18000">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hMerge="1">
                  <a:txBody>
                    <a:bodyPr/>
                    <a:lstStyle/>
                    <a:p>
                      <a:pPr marL="0" algn="l" defTabSz="583170" rtl="0" eaLnBrk="1" fontAlgn="ctr" latinLnBrk="0" hangingPunct="1"/>
                      <a:endParaRPr lang="en-US" sz="650" b="1" u="none" strike="noStrike" kern="1200" dirty="0">
                        <a:solidFill>
                          <a:schemeClr val="tx1"/>
                        </a:solidFill>
                        <a:effectLst/>
                        <a:latin typeface="+mn-lt"/>
                        <a:ea typeface="+mn-ea"/>
                        <a:cs typeface="+mn-cs"/>
                      </a:endParaRPr>
                    </a:p>
                  </a:txBody>
                  <a:tcPr marL="18000" marR="18000" marT="36000" marB="18000" anchor="ctr">
                    <a:lnT w="9525" cap="flat" cmpd="sng" algn="ctr">
                      <a:solidFill>
                        <a:srgbClr val="0070C0"/>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5">
                        <a:lumMod val="10000"/>
                        <a:lumOff val="90000"/>
                      </a:schemeClr>
                    </a:solidFill>
                  </a:tcPr>
                </a:tc>
                <a:tc>
                  <a:txBody>
                    <a:bodyPr/>
                    <a:lstStyle/>
                    <a:p>
                      <a:pPr marL="0" algn="l" defTabSz="583170" rtl="0" eaLnBrk="1" fontAlgn="ctr" latinLnBrk="0" hangingPunct="1"/>
                      <a:endParaRPr lang="en-US" sz="700" b="1" u="none" strike="noStrike" kern="1200" dirty="0">
                        <a:solidFill>
                          <a:schemeClr val="tx1"/>
                        </a:solidFill>
                        <a:effectLst/>
                        <a:latin typeface="+mn-lt"/>
                        <a:ea typeface="+mn-ea"/>
                        <a:cs typeface="+mn-cs"/>
                      </a:endParaRPr>
                    </a:p>
                  </a:txBody>
                  <a:tcPr marL="36000" marR="18000" marT="36000" marB="18000">
                    <a:lnT w="9525" cap="flat" cmpd="sng" algn="ctr">
                      <a:solidFill>
                        <a:schemeClr val="accent5">
                          <a:lumMod val="75000"/>
                          <a:lumOff val="25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lumMod val="10000"/>
                        <a:lumOff val="90000"/>
                      </a:schemeClr>
                    </a:solidFill>
                  </a:tcPr>
                </a:tc>
                <a:extLst>
                  <a:ext uri="{0D108BD9-81ED-4DB2-BD59-A6C34878D82A}">
                    <a16:rowId xmlns:a16="http://schemas.microsoft.com/office/drawing/2014/main" val="2280015864"/>
                  </a:ext>
                </a:extLst>
              </a:tr>
              <a:tr h="154800">
                <a:tc gridSpan="15">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700" b="1" i="0" u="none" strike="noStrike" kern="1200" cap="none" spc="0" normalizeH="0" baseline="0" noProof="0" dirty="0">
                          <a:ln w="0"/>
                          <a:solidFill>
                            <a:srgbClr val="32373C"/>
                          </a:solidFill>
                          <a:effectLst/>
                          <a:uLnTx/>
                          <a:uFillTx/>
                          <a:latin typeface="+mn-lt"/>
                          <a:ea typeface="+mn-ea"/>
                          <a:cs typeface="+mn-cs"/>
                        </a:rPr>
                        <a:t xml:space="preserve">Perimeter communications – these communications reflect the values ​​and principles of the Group and are tailored to the specifics, issues and projects of Perimeter, while avoiding duplication with the Group</a:t>
                      </a:r>
                      <a:r>
                        <a:rPr kumimoji="0" lang="ru-RU" sz="700" b="0" i="0" u="none" strike="noStrike" kern="1200" cap="none" spc="0" normalizeH="0" baseline="0" noProof="0" dirty="0">
                          <a:ln w="0"/>
                          <a:solidFill>
                            <a:srgbClr val="32373C"/>
                          </a:solidFill>
                          <a:effectLst/>
                          <a:uLnTx/>
                          <a:uFillTx/>
                          <a:latin typeface="+mn-lt"/>
                          <a:ea typeface="+mn-ea"/>
                          <a:cs typeface="+mn-cs"/>
                        </a:rPr>
                        <a:t/>
                      </a:r>
                      <a:endParaRPr kumimoji="0" lang="en-US" sz="700" b="1" i="0" u="none" strike="noStrike" kern="1200" cap="none" spc="0" normalizeH="0" baseline="0" noProof="0" dirty="0">
                        <a:ln>
                          <a:noFill/>
                        </a:ln>
                        <a:solidFill>
                          <a:srgbClr val="32373C"/>
                        </a:solidFill>
                        <a:effectLst/>
                        <a:uLnTx/>
                        <a:uFillTx/>
                        <a:latin typeface="+mn-lt"/>
                        <a:ea typeface="+mn-ea"/>
                        <a:cs typeface="+mn-cs"/>
                      </a:endParaRPr>
                    </a:p>
                  </a:txBody>
                  <a:tcPr marL="36000" marR="18000" marT="36000" marB="18000">
                    <a:lnL w="12700" cmpd="sng">
                      <a:noFill/>
                    </a:lnL>
                    <a:lnR w="12700" cmpd="sng">
                      <a:noFill/>
                    </a:lnR>
                    <a:lnT w="952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36000" marR="18000" marT="36000" marB="18000">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36000" marR="18000" marT="36000" marB="18000">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600" b="1" i="0" u="none" strike="noStrike" kern="1200" cap="none" spc="0" normalizeH="0" baseline="0" noProof="0" dirty="0">
                        <a:ln>
                          <a:noFill/>
                        </a:ln>
                        <a:solidFill>
                          <a:srgbClr val="32373C"/>
                        </a:solidFill>
                        <a:effectLst/>
                        <a:uLnTx/>
                        <a:uFillTx/>
                        <a:latin typeface="Arial" panose="020B0604020202020204"/>
                        <a:ea typeface="+mn-ea"/>
                        <a:cs typeface="+mn-cs"/>
                      </a:endParaRPr>
                    </a:p>
                  </a:txBody>
                  <a:tcPr marL="18000" marR="18000" marT="36000" marB="18000" anchor="ctr">
                    <a:lnT w="9525"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dirty="0">
                        <a:ln>
                          <a:noFill/>
                        </a:ln>
                        <a:solidFill>
                          <a:srgbClr val="32373C"/>
                        </a:solidFill>
                        <a:effectLst/>
                        <a:uLnTx/>
                        <a:uFillTx/>
                        <a:latin typeface="+mn-lt"/>
                        <a:ea typeface="+mn-ea"/>
                        <a:cs typeface="+mn-cs"/>
                      </a:endParaRPr>
                    </a:p>
                  </a:txBody>
                  <a:tcPr marL="36000" marR="18000" marT="36000" marB="18000">
                    <a:lnL w="12700" cmpd="sng">
                      <a:noFill/>
                    </a:lnL>
                    <a:lnR w="12700" cmpd="sng">
                      <a:noFill/>
                    </a:lnR>
                    <a:lnT w="952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3243721151"/>
                  </a:ext>
                </a:extLst>
              </a:tr>
              <a:tr h="154800">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i="0" u="none" strike="noStrike" dirty="0">
                          <a:solidFill>
                            <a:schemeClr val="tx1"/>
                          </a:solidFill>
                          <a:effectLst/>
                          <a:latin typeface="+mn-lt"/>
                        </a:rPr>
                        <a:t xml:space="preserve">“Tone from above” messages from the CEO of Perimeter, Heads of Divisions, CEO-1</a:t>
                      </a:r>
                      <a:r>
                        <a:rPr lang="en-US" sz="700" i="0" u="none" strike="noStrike" dirty="0">
                          <a:solidFill>
                            <a:schemeClr val="tx1"/>
                          </a:solidFill>
                          <a:effectLst/>
                          <a:latin typeface="+mn-lt"/>
                        </a:rPr>
                        <a:t/>
                      </a:r>
                      <a:r>
                        <a:rPr lang="ru-RU" sz="700" i="0" u="none" strike="noStrike" dirty="0">
                          <a:solidFill>
                            <a:schemeClr val="tx1"/>
                          </a:solidFill>
                          <a:effectLst/>
                          <a:latin typeface="+mn-lt"/>
                        </a:rPr>
                        <a:t/>
                      </a:r>
                      <a:r>
                        <a:rPr lang="en-US" sz="700" i="0" u="none" strike="noStrike" dirty="0">
                          <a:solidFill>
                            <a:schemeClr val="tx1"/>
                          </a:solidFill>
                          <a:effectLst/>
                          <a:latin typeface="+mn-lt"/>
                        </a:rPr>
                        <a:t/>
                      </a:r>
                      <a:r>
                        <a:rPr lang="ru-RU" sz="700" i="0" u="none" strike="noStrike" baseline="0" dirty="0">
                          <a:solidFill>
                            <a:schemeClr val="tx1"/>
                          </a:solidFill>
                          <a:effectLst/>
                          <a:latin typeface="+mn-lt"/>
                        </a:rPr>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kumimoji="0" lang="ru-RU" sz="700" b="0" i="0" u="none" strike="noStrike" kern="1200" cap="none" spc="0" normalizeH="0" baseline="0" noProof="0" dirty="0">
                          <a:ln>
                            <a:noFill/>
                          </a:ln>
                          <a:solidFill>
                            <a:srgbClr val="32373C"/>
                          </a:solidFill>
                          <a:effectLst/>
                          <a:uLnTx/>
                          <a:uFillTx/>
                          <a:latin typeface="+mn-lt"/>
                          <a:ea typeface="+mn-ea"/>
                          <a:cs typeface="+mn-cs"/>
                        </a:rPr>
                        <a:t xml:space="preserve">All Perimeter employees</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 xml:space="preserve">Email letter/ portal/ newsletter</a:t>
                      </a:r>
                      <a:r>
                        <a:rPr lang="ru-RU" sz="700" b="0" i="0" u="none" strike="noStrike" dirty="0">
                          <a:solidFill>
                            <a:schemeClr val="tx1"/>
                          </a:solidFill>
                          <a:effectLst/>
                          <a:latin typeface="+mn-lt"/>
                        </a:rPr>
                        <a:t/>
                      </a:r>
                      <a:r>
                        <a:rPr lang="ru-RU" sz="700" b="0" i="0" u="none" strike="noStrike" baseline="0" dirty="0">
                          <a:solidFill>
                            <a:schemeClr val="tx1"/>
                          </a:solidFill>
                          <a:effectLst/>
                          <a:latin typeface="+mn-lt"/>
                        </a:rPr>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fontAlgn="ctr"/>
                      <a:r>
                        <a:rPr lang="ru-RU" sz="700" b="0" i="1" u="none" strike="noStrike" dirty="0">
                          <a:solidFill>
                            <a:schemeClr val="tx1"/>
                          </a:solidFill>
                          <a:effectLst/>
                          <a:latin typeface="+mn-lt"/>
                        </a:rPr>
                        <a:t xml:space="preserve">together with DCC according to their schedule</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8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rowSpan="2">
                  <a:txBody>
                    <a:bodyPr/>
                    <a:lstStyle/>
                    <a:p>
                      <a:pPr algn="l" fontAlgn="ctr"/>
                      <a:r>
                        <a:rPr lang="ru-RU" sz="700" b="0" i="0" u="none" strike="noStrike" dirty="0" smtClean="0">
                          <a:solidFill>
                            <a:schemeClr val="tx1"/>
                          </a:solidFill>
                          <a:effectLst/>
                          <a:latin typeface="+mn-lt"/>
                        </a:rPr>
                        <a:t xml:space="preserve">In September 2025, in order to strengthen the culture of compliance, Perimeter KZ held an annual Ethics and Compliance Day, uniting thousands of Perimeter employees around the Group’s Values ​​and commitment to high standards of business ethics and professionalism. The event included a number of communications of various formats from the CEO of Perimeter, Heads of Divisions and CEO-1, a compliance session at the site of EEC JSC with the participation of managers and the Chairman of the Compliance Committee, and other events</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4754868"/>
                  </a:ext>
                </a:extLst>
              </a:tr>
              <a:tr h="154800">
                <a:tc>
                  <a:txBody>
                    <a:bodyPr/>
                    <a:lstStyle/>
                    <a:p>
                      <a:pPr algn="l" fontAlgn="ctr"/>
                      <a:r>
                        <a:rPr lang="ru-RU" sz="700" u="none" strike="noStrike" dirty="0">
                          <a:solidFill>
                            <a:schemeClr val="tx1"/>
                          </a:solidFill>
                          <a:effectLst/>
                          <a:latin typeface="+mn-lt"/>
                        </a:rPr>
                        <a:t xml:space="preserve">Compliance Officer Day, Perimeter level</a:t>
                      </a:r>
                      <a:r>
                        <a:rPr lang="en-US" sz="700" u="none" strike="noStrike" dirty="0">
                          <a:solidFill>
                            <a:schemeClr val="tx1"/>
                          </a:solidFill>
                          <a:effectLst/>
                          <a:latin typeface="+mn-lt"/>
                        </a:rPr>
                        <a:t/>
                      </a:r>
                      <a:r>
                        <a:rPr lang="ru-RU" sz="700" u="none" strike="noStrike" dirty="0">
                          <a:solidFill>
                            <a:schemeClr val="tx1"/>
                          </a:solidFill>
                          <a:effectLst/>
                          <a:latin typeface="+mn-lt"/>
                        </a:rPr>
                        <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ru-RU" sz="700" u="none" strike="noStrike" dirty="0">
                          <a:solidFill>
                            <a:schemeClr val="tx1"/>
                          </a:solidFill>
                          <a:effectLst/>
                          <a:latin typeface="+mn-lt"/>
                        </a:rPr>
                        <a:t xml:space="preserve">All employees (quiz, posters, compliance sessions)</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ru-RU" sz="700" u="none" strike="noStrike" dirty="0">
                          <a:solidFill>
                            <a:schemeClr val="tx1"/>
                          </a:solidFill>
                          <a:effectLst/>
                          <a:latin typeface="+mn-lt"/>
                        </a:rPr>
                        <a:t xml:space="preserve">In person / portal / newsletter</a:t>
                      </a:r>
                      <a:r>
                        <a:rPr lang="en-US" sz="700" u="none" strike="noStrike" dirty="0">
                          <a:solidFill>
                            <a:schemeClr val="tx1"/>
                          </a:solidFill>
                          <a:effectLst/>
                          <a:latin typeface="+mn-lt"/>
                        </a:rPr>
                        <a:t/>
                      </a:r>
                      <a:r>
                        <a:rPr lang="ru-RU" sz="700" u="none" strike="noStrike" dirty="0">
                          <a:solidFill>
                            <a:schemeClr val="tx1"/>
                          </a:solidFill>
                          <a:effectLst/>
                          <a:latin typeface="+mn-lt"/>
                        </a:rPr>
                        <a:t/>
                      </a:r>
                      <a:r>
                        <a:rPr lang="en-US" sz="700" u="none" strike="noStrike" dirty="0">
                          <a:solidFill>
                            <a:schemeClr val="tx1"/>
                          </a:solidFill>
                          <a:effectLst/>
                          <a:latin typeface="+mn-lt"/>
                        </a:rPr>
                        <a:t/>
                      </a:r>
                      <a:r>
                        <a:rPr lang="ru-RU" sz="700" b="0" i="0" u="none" strike="noStrike" baseline="0" dirty="0">
                          <a:solidFill>
                            <a:schemeClr val="tx1"/>
                          </a:solidFill>
                          <a:effectLst/>
                          <a:latin typeface="+mn-lt"/>
                        </a:rPr>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u="none" strike="noStrike" dirty="0">
                          <a:solidFill>
                            <a:schemeClr val="tx1"/>
                          </a:solidFill>
                          <a:effectLst/>
                          <a:latin typeface="+mn-lt"/>
                        </a:rPr>
                        <a:t>2</a:t>
                      </a:r>
                      <a:r>
                        <a:rPr lang="ru-RU" sz="700" u="none" strike="noStrike" dirty="0">
                          <a:solidFill>
                            <a:schemeClr val="tx1"/>
                          </a:solidFill>
                          <a:effectLst/>
                          <a:latin typeface="+mn-lt"/>
                        </a:rPr>
                        <a:t>6.09</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u="none" strike="noStrike" dirty="0">
                          <a:solidFill>
                            <a:schemeClr val="tx1"/>
                          </a:solidFill>
                          <a:effectLst/>
                          <a:latin typeface="+mn-lt"/>
                        </a:rPr>
                        <a:t>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028423"/>
                  </a:ext>
                </a:extLst>
              </a:tr>
              <a:tr h="154800">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 xml:space="preserve">Principles and rules of the CCP (Perimeter CCP procedure)</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 xml:space="preserve">All Perimeter employees</a:t>
                      </a:r>
                      <a:r>
                        <a:rPr kumimoji="0" lang="en-US" sz="700" b="0" i="0" u="none" strike="noStrike" kern="1200" cap="none" spc="0" normalizeH="0" baseline="0" noProof="0" dirty="0">
                          <a:ln>
                            <a:noFill/>
                          </a:ln>
                          <a:solidFill>
                            <a:srgbClr val="32373C"/>
                          </a:solidFill>
                          <a:effectLst/>
                          <a:uLnTx/>
                          <a:uFillTx/>
                          <a:latin typeface="+mn-lt"/>
                          <a:ea typeface="+mn-ea"/>
                          <a:cs typeface="+mn-cs"/>
                        </a:rPr>
                        <a:t/>
                      </a:r>
                      <a:r>
                        <a:rPr kumimoji="0" lang="ru-RU" sz="700" b="0" i="0" u="none" strike="noStrike" kern="1200" cap="none" spc="0" normalizeH="0" baseline="0" noProof="0" dirty="0">
                          <a:ln>
                            <a:noFill/>
                          </a:ln>
                          <a:solidFill>
                            <a:srgbClr val="32373C"/>
                          </a:solidFill>
                          <a:effectLst/>
                          <a:uLnTx/>
                          <a:uFillTx/>
                          <a:latin typeface="+mn-lt"/>
                          <a:ea typeface="+mn-ea"/>
                          <a:cs typeface="+mn-cs"/>
                        </a:rPr>
                        <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 xml:space="preserve">Email letter/ portal/ newsletter</a:t>
                      </a:r>
                      <a:r>
                        <a:rPr lang="ru-RU" sz="700" b="0" i="0" u="none" strike="noStrike" dirty="0">
                          <a:solidFill>
                            <a:schemeClr val="tx1"/>
                          </a:solidFill>
                          <a:effectLst/>
                          <a:latin typeface="+mn-lt"/>
                        </a:rPr>
                        <a:t/>
                      </a:r>
                      <a:r>
                        <a:rPr lang="ru-RU" sz="700" b="0" i="0" u="none" strike="noStrike" baseline="0" dirty="0">
                          <a:solidFill>
                            <a:schemeClr val="tx1"/>
                          </a:solidFill>
                          <a:effectLst/>
                          <a:latin typeface="+mn-lt"/>
                        </a:rPr>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rgbClr val="FF0000"/>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ru-RU" sz="700" b="0" i="0" u="none" strike="noStrike" dirty="0">
                          <a:solidFill>
                            <a:schemeClr val="tx1"/>
                          </a:solidFill>
                          <a:effectLst/>
                          <a:latin typeface="+mn-lt"/>
                        </a:rPr>
                        <a:t>Х</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ru-RU" sz="700" b="0" i="0" u="none" strike="noStrike" dirty="0">
                          <a:solidFill>
                            <a:schemeClr val="tx1"/>
                          </a:solidFill>
                          <a:effectLst/>
                          <a:latin typeface="+mn-lt"/>
                        </a:rPr>
                        <a:t>Х</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ru-RU" sz="700" b="0" i="0" u="none" strike="noStrike" dirty="0" smtClean="0">
                          <a:solidFill>
                            <a:schemeClr val="tx1"/>
                          </a:solidFill>
                          <a:effectLst/>
                          <a:latin typeface="+mn-lt"/>
                        </a:rPr>
                        <a:t xml:space="preserve">The communication was released on March 26, 2025. and 11/12/2025</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7596485"/>
                  </a:ext>
                </a:extLst>
              </a:tr>
              <a:tr h="154800">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 xml:space="preserve">Gifts and business hospitality (on the eve of national holidays)</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 xml:space="preserve">All Perimeter employees</a:t>
                      </a:r>
                      <a:r>
                        <a:rPr kumimoji="0" lang="en-US" sz="700" b="0" i="0" u="none" strike="noStrike" kern="1200" cap="none" spc="0" normalizeH="0" baseline="0" noProof="0" dirty="0">
                          <a:ln>
                            <a:noFill/>
                          </a:ln>
                          <a:solidFill>
                            <a:srgbClr val="32373C"/>
                          </a:solidFill>
                          <a:effectLst/>
                          <a:uLnTx/>
                          <a:uFillTx/>
                          <a:latin typeface="+mn-lt"/>
                          <a:ea typeface="+mn-ea"/>
                          <a:cs typeface="+mn-cs"/>
                        </a:rPr>
                        <a:t/>
                      </a:r>
                      <a:r>
                        <a:rPr kumimoji="0" lang="ru-RU" sz="700" b="0" i="0" u="none" strike="noStrike" kern="1200" cap="none" spc="0" normalizeH="0" baseline="0" noProof="0" dirty="0">
                          <a:ln>
                            <a:noFill/>
                          </a:ln>
                          <a:solidFill>
                            <a:srgbClr val="32373C"/>
                          </a:solidFill>
                          <a:effectLst/>
                          <a:uLnTx/>
                          <a:uFillTx/>
                          <a:latin typeface="+mn-lt"/>
                          <a:ea typeface="+mn-ea"/>
                          <a:cs typeface="+mn-cs"/>
                        </a:rPr>
                        <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 xml:space="preserve">Email letter/ portal/ newsletter</a:t>
                      </a:r>
                      <a:r>
                        <a:rPr lang="ru-RU" sz="700" b="0" i="0" u="none" strike="noStrike" dirty="0">
                          <a:solidFill>
                            <a:schemeClr val="tx1"/>
                          </a:solidFill>
                          <a:effectLst/>
                          <a:latin typeface="+mn-lt"/>
                        </a:rPr>
                        <a:t/>
                      </a:r>
                      <a:r>
                        <a:rPr lang="ru-RU" sz="700" b="0" i="0" u="none" strike="noStrike" baseline="0" dirty="0">
                          <a:solidFill>
                            <a:schemeClr val="tx1"/>
                          </a:solidFill>
                          <a:effectLst/>
                          <a:latin typeface="+mn-lt"/>
                        </a:rPr>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rgbClr val="FF0000"/>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ru-RU" sz="700" b="0" i="0" u="none" strike="noStrike" dirty="0">
                          <a:solidFill>
                            <a:schemeClr val="tx1"/>
                          </a:solidFill>
                          <a:effectLst/>
                          <a:latin typeface="+mn-lt"/>
                        </a:rPr>
                        <a:t>Х</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ru-RU" sz="700" b="0" i="0" u="none" strike="noStrike" dirty="0">
                          <a:solidFill>
                            <a:schemeClr val="tx1"/>
                          </a:solidFill>
                          <a:effectLst/>
                          <a:latin typeface="+mn-lt"/>
                        </a:rPr>
                        <a:t>Х</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kumimoji="0" lang="ru-RU" sz="700" b="0" i="0" u="none" strike="noStrike" kern="1200" cap="none" spc="0" normalizeH="0" baseline="0" noProof="0" dirty="0" smtClean="0">
                          <a:ln>
                            <a:noFill/>
                          </a:ln>
                          <a:solidFill>
                            <a:srgbClr val="32373C"/>
                          </a:solidFill>
                          <a:effectLst/>
                          <a:uLnTx/>
                          <a:uFillTx/>
                          <a:latin typeface="Arial" panose="020B0604020202020204"/>
                          <a:ea typeface="+mn-ea"/>
                          <a:cs typeface="+mn-cs"/>
                        </a:rPr>
                        <a:t xml:space="preserve">The communication was released on February 27, 2025. and November 27, 2025</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1307997"/>
                  </a:ext>
                </a:extLst>
              </a:tr>
              <a:tr h="154800">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 xml:space="preserve">Conflict of interest (according to the Perimeter Instructions)</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 xml:space="preserve">All Perimeter employees</a:t>
                      </a:r>
                      <a:r>
                        <a:rPr kumimoji="0" lang="en-US" sz="700" b="0" i="0" u="none" strike="noStrike" kern="1200" cap="none" spc="0" normalizeH="0" baseline="0" noProof="0" dirty="0">
                          <a:ln>
                            <a:noFill/>
                          </a:ln>
                          <a:solidFill>
                            <a:srgbClr val="32373C"/>
                          </a:solidFill>
                          <a:effectLst/>
                          <a:uLnTx/>
                          <a:uFillTx/>
                          <a:latin typeface="+mn-lt"/>
                          <a:ea typeface="+mn-ea"/>
                          <a:cs typeface="+mn-cs"/>
                        </a:rPr>
                        <a:t/>
                      </a:r>
                      <a:r>
                        <a:rPr kumimoji="0" lang="ru-RU" sz="700" b="0" i="0" u="none" strike="noStrike" kern="1200" cap="none" spc="0" normalizeH="0" baseline="0" noProof="0" dirty="0">
                          <a:ln>
                            <a:noFill/>
                          </a:ln>
                          <a:solidFill>
                            <a:srgbClr val="32373C"/>
                          </a:solidFill>
                          <a:effectLst/>
                          <a:uLnTx/>
                          <a:uFillTx/>
                          <a:latin typeface="+mn-lt"/>
                          <a:ea typeface="+mn-ea"/>
                          <a:cs typeface="+mn-cs"/>
                        </a:rPr>
                        <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 xml:space="preserve">Email letter/ portal/ newsletter</a:t>
                      </a:r>
                      <a:r>
                        <a:rPr lang="ru-RU" sz="700" b="0" i="0" u="none" strike="noStrike" dirty="0">
                          <a:solidFill>
                            <a:schemeClr val="tx1"/>
                          </a:solidFill>
                          <a:effectLst/>
                          <a:latin typeface="+mn-lt"/>
                        </a:rPr>
                        <a:t/>
                      </a:r>
                      <a:r>
                        <a:rPr lang="ru-RU" sz="700" b="0" i="0" u="none" strike="noStrike" baseline="0" dirty="0">
                          <a:solidFill>
                            <a:schemeClr val="tx1"/>
                          </a:solidFill>
                          <a:effectLst/>
                          <a:latin typeface="+mn-lt"/>
                        </a:rPr>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rgbClr val="FF0000"/>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ru-RU" sz="700" b="0" i="0" u="none" strike="noStrike" dirty="0">
                          <a:solidFill>
                            <a:schemeClr val="tx1"/>
                          </a:solidFill>
                          <a:effectLst/>
                          <a:latin typeface="+mn-lt"/>
                        </a:rPr>
                        <a:t>Х</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kumimoji="0" lang="ru-RU" sz="700" b="0" i="0" u="none" strike="noStrike" kern="1200" cap="none" spc="0" normalizeH="0" baseline="0" noProof="0" dirty="0" smtClean="0">
                          <a:ln>
                            <a:noFill/>
                          </a:ln>
                          <a:solidFill>
                            <a:srgbClr val="32373C"/>
                          </a:solidFill>
                          <a:effectLst/>
                          <a:uLnTx/>
                          <a:uFillTx/>
                          <a:latin typeface="Arial" panose="020B0604020202020204"/>
                          <a:ea typeface="+mn-ea"/>
                          <a:cs typeface="+mn-cs"/>
                        </a:rPr>
                        <a:t xml:space="preserve">The communication was released on 06/09/2025.</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6151814"/>
                  </a:ext>
                </a:extLst>
              </a:tr>
              <a:tr h="154800">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0" u="none" strike="noStrike" dirty="0">
                          <a:solidFill>
                            <a:schemeClr val="tx1"/>
                          </a:solidFill>
                          <a:effectLst/>
                          <a:latin typeface="+mn-lt"/>
                        </a:rPr>
                        <a:t xml:space="preserve">Protection of personal data (in accordance with national legislation)</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 xml:space="preserve">All Perimeter employees</a:t>
                      </a:r>
                      <a:r>
                        <a:rPr kumimoji="0" lang="en-US" sz="700" b="0" i="0" u="none" strike="noStrike" kern="1200" cap="none" spc="0" normalizeH="0" baseline="0" noProof="0" dirty="0">
                          <a:ln>
                            <a:noFill/>
                          </a:ln>
                          <a:solidFill>
                            <a:srgbClr val="32373C"/>
                          </a:solidFill>
                          <a:effectLst/>
                          <a:uLnTx/>
                          <a:uFillTx/>
                          <a:latin typeface="+mn-lt"/>
                          <a:ea typeface="+mn-ea"/>
                          <a:cs typeface="+mn-cs"/>
                        </a:rPr>
                        <a:t/>
                      </a:r>
                      <a:r>
                        <a:rPr kumimoji="0" lang="ru-RU" sz="700" b="0" i="0" u="none" strike="noStrike" kern="1200" cap="none" spc="0" normalizeH="0" baseline="0" noProof="0" dirty="0">
                          <a:ln>
                            <a:noFill/>
                          </a:ln>
                          <a:solidFill>
                            <a:srgbClr val="32373C"/>
                          </a:solidFill>
                          <a:effectLst/>
                          <a:uLnTx/>
                          <a:uFillTx/>
                          <a:latin typeface="+mn-lt"/>
                          <a:ea typeface="+mn-ea"/>
                          <a:cs typeface="+mn-cs"/>
                        </a:rPr>
                        <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 xml:space="preserve">Email letter/ portal/ newsletter</a:t>
                      </a:r>
                      <a:r>
                        <a:rPr lang="ru-RU" sz="700" b="0" i="0" u="none" strike="noStrike" dirty="0">
                          <a:solidFill>
                            <a:schemeClr val="tx1"/>
                          </a:solidFill>
                          <a:effectLst/>
                          <a:latin typeface="+mn-lt"/>
                        </a:rPr>
                        <a:t/>
                      </a:r>
                      <a:r>
                        <a:rPr lang="ru-RU" sz="700" b="0" i="0" u="none" strike="noStrike" baseline="0" dirty="0">
                          <a:solidFill>
                            <a:schemeClr val="tx1"/>
                          </a:solidFill>
                          <a:effectLst/>
                          <a:latin typeface="+mn-lt"/>
                        </a:rPr>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rgbClr val="FF0000"/>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ru-RU" sz="700" b="0" i="0" u="none" strike="noStrike" dirty="0">
                          <a:solidFill>
                            <a:schemeClr val="tx1"/>
                          </a:solidFill>
                          <a:effectLst/>
                          <a:latin typeface="+mn-lt"/>
                        </a:rPr>
                        <a:t>Х</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kumimoji="0" lang="ru-RU" sz="700" b="0" i="0" u="none" strike="noStrike" kern="1200" cap="none" spc="0" normalizeH="0" baseline="0" noProof="0" dirty="0" smtClean="0">
                          <a:ln>
                            <a:noFill/>
                          </a:ln>
                          <a:solidFill>
                            <a:srgbClr val="32373C"/>
                          </a:solidFill>
                          <a:effectLst/>
                          <a:uLnTx/>
                          <a:uFillTx/>
                          <a:latin typeface="Arial" panose="020B0604020202020204"/>
                          <a:ea typeface="+mn-ea"/>
                          <a:cs typeface="+mn-cs"/>
                        </a:rPr>
                        <a:t xml:space="preserve">The communication was released on October 30, 2025.</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1947187"/>
                  </a:ext>
                </a:extLst>
              </a:tr>
              <a:tr h="103002">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b="0" i="0" u="none" strike="noStrike" kern="1200" dirty="0">
                          <a:solidFill>
                            <a:schemeClr val="tx1"/>
                          </a:solidFill>
                          <a:effectLst/>
                          <a:latin typeface="+mn-lt"/>
                          <a:ea typeface="+mn-ea"/>
                          <a:cs typeface="+mn-cs"/>
                        </a:rPr>
                        <a:t xml:space="preserve">Culture of open communication, WBS results, fraud risks, incl. commercial bribery</a:t>
                      </a:r>
                      <a:r>
                        <a:rPr lang="ru-RU" sz="700" b="0" i="0" u="none" strike="noStrike" dirty="0">
                          <a:solidFill>
                            <a:schemeClr val="tx1"/>
                          </a:solidFill>
                          <a:effectLst/>
                          <a:latin typeface="+mn-lt"/>
                        </a:rPr>
                        <a:t/>
                      </a:r>
                      <a:r>
                        <a:rPr lang="ru-RU" sz="700" b="0" i="0" u="none" strike="noStrike" baseline="0" dirty="0">
                          <a:solidFill>
                            <a:schemeClr val="tx1"/>
                          </a:solidFill>
                          <a:effectLst/>
                          <a:latin typeface="+mn-lt"/>
                        </a:rPr>
                        <a:t/>
                      </a:r>
                      <a:r>
                        <a:rPr lang="ru-RU" sz="700" b="0" i="0" u="none" strike="noStrike" dirty="0">
                          <a:solidFill>
                            <a:schemeClr val="tx1"/>
                          </a:solidFill>
                          <a:effectLst/>
                          <a:latin typeface="+mn-lt"/>
                        </a:rPr>
                        <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kumimoji="0" lang="ru-RU" sz="700" b="0" i="0" u="none" strike="noStrike" kern="1200" cap="none" spc="0" normalizeH="0" baseline="0" noProof="0" dirty="0">
                          <a:ln>
                            <a:noFill/>
                          </a:ln>
                          <a:solidFill>
                            <a:srgbClr val="32373C"/>
                          </a:solidFill>
                          <a:effectLst/>
                          <a:uLnTx/>
                          <a:uFillTx/>
                          <a:latin typeface="+mn-lt"/>
                          <a:ea typeface="+mn-ea"/>
                          <a:cs typeface="+mn-cs"/>
                        </a:rPr>
                        <a:t xml:space="preserve">All Perimeter employees</a:t>
                      </a:r>
                      <a:r>
                        <a:rPr kumimoji="0" lang="en-US" sz="700" b="0" i="0" u="none" strike="noStrike" kern="1200" cap="none" spc="0" normalizeH="0" baseline="0" noProof="0" dirty="0">
                          <a:ln>
                            <a:noFill/>
                          </a:ln>
                          <a:solidFill>
                            <a:srgbClr val="32373C"/>
                          </a:solidFill>
                          <a:effectLst/>
                          <a:uLnTx/>
                          <a:uFillTx/>
                          <a:latin typeface="+mn-lt"/>
                          <a:ea typeface="+mn-ea"/>
                          <a:cs typeface="+mn-cs"/>
                        </a:rPr>
                        <a:t/>
                      </a:r>
                      <a:r>
                        <a:rPr kumimoji="0" lang="ru-RU" sz="700" b="0" i="0" u="none" strike="noStrike" kern="1200" cap="none" spc="0" normalizeH="0" baseline="0" noProof="0" dirty="0">
                          <a:ln>
                            <a:noFill/>
                          </a:ln>
                          <a:solidFill>
                            <a:srgbClr val="32373C"/>
                          </a:solidFill>
                          <a:effectLst/>
                          <a:uLnTx/>
                          <a:uFillTx/>
                          <a:latin typeface="+mn-lt"/>
                          <a:ea typeface="+mn-ea"/>
                          <a:cs typeface="+mn-cs"/>
                        </a:rPr>
                        <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 xml:space="preserve">Email letter/ portal/ newsletter</a:t>
                      </a:r>
                      <a:r>
                        <a:rPr lang="ru-RU" sz="700" b="0" i="0" u="none" strike="noStrike" dirty="0">
                          <a:solidFill>
                            <a:schemeClr val="tx1"/>
                          </a:solidFill>
                          <a:effectLst/>
                          <a:latin typeface="+mn-lt"/>
                        </a:rPr>
                        <a:t/>
                      </a:r>
                      <a:r>
                        <a:rPr lang="ru-RU" sz="700" b="0" i="0" u="none" strike="noStrike" baseline="0" dirty="0">
                          <a:solidFill>
                            <a:schemeClr val="tx1"/>
                          </a:solidFill>
                          <a:effectLst/>
                          <a:latin typeface="+mn-lt"/>
                        </a:rPr>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rgbClr val="FF0000"/>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ru-RU" sz="700" b="0" i="0" u="none" strike="noStrike" dirty="0">
                          <a:solidFill>
                            <a:schemeClr val="tx1"/>
                          </a:solidFill>
                          <a:effectLst/>
                          <a:latin typeface="+mn-lt"/>
                        </a:rPr>
                        <a:t>Х</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kumimoji="0" lang="ru-RU" sz="700" b="0" i="0" u="none" strike="noStrike" kern="1200" cap="none" spc="0" normalizeH="0" baseline="0" noProof="0" dirty="0" smtClean="0">
                          <a:ln>
                            <a:noFill/>
                          </a:ln>
                          <a:solidFill>
                            <a:srgbClr val="32373C"/>
                          </a:solidFill>
                          <a:effectLst/>
                          <a:uLnTx/>
                          <a:uFillTx/>
                          <a:latin typeface="Arial" panose="020B0604020202020204"/>
                          <a:ea typeface="+mn-ea"/>
                          <a:cs typeface="+mn-cs"/>
                        </a:rPr>
                        <a:t xml:space="preserve">The communication came out on 05/05/2025.</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2524836"/>
                  </a:ext>
                </a:extLst>
              </a:tr>
              <a:tr h="154800">
                <a:tc>
                  <a:txBody>
                    <a:bodyPr/>
                    <a:lstStyle/>
                    <a:p>
                      <a:pPr algn="l" fontAlgn="ctr"/>
                      <a:r>
                        <a:rPr lang="ru-RU" sz="700" u="none" strike="noStrike" dirty="0">
                          <a:solidFill>
                            <a:schemeClr val="tx1"/>
                          </a:solidFill>
                          <a:effectLst/>
                          <a:latin typeface="+mn-lt"/>
                        </a:rPr>
                        <a:t xml:space="preserve">ERG Ethical Principles</a:t>
                      </a:r>
                      <a:r>
                        <a:rPr lang="en-US" sz="700" u="none" strike="noStrike" dirty="0">
                          <a:solidFill>
                            <a:schemeClr val="tx1"/>
                          </a:solidFill>
                          <a:effectLst/>
                          <a:latin typeface="+mn-lt"/>
                        </a:rPr>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ru-RU" sz="700" u="none" strike="noStrike" dirty="0">
                          <a:solidFill>
                            <a:schemeClr val="tx1"/>
                          </a:solidFill>
                          <a:effectLst/>
                          <a:latin typeface="+mn-lt"/>
                        </a:rPr>
                        <a:t xml:space="preserve">Employees (not IT users) / 3rd parties</a:t>
                      </a:r>
                      <a:r>
                        <a:rPr kumimoji="0" lang="ru-RU" sz="700" b="0" i="0" u="none" strike="noStrike" kern="1200" cap="none" spc="0" normalizeH="0" baseline="0" noProof="0" dirty="0">
                          <a:ln>
                            <a:noFill/>
                          </a:ln>
                          <a:solidFill>
                            <a:srgbClr val="32373C"/>
                          </a:solidFill>
                          <a:effectLst/>
                          <a:uLnTx/>
                          <a:uFillTx/>
                          <a:latin typeface="+mn-lt"/>
                          <a:ea typeface="+mn-ea"/>
                          <a:cs typeface="+mn-cs"/>
                        </a:rPr>
                        <a:t/>
                      </a:r>
                      <a:r>
                        <a:rPr lang="ru-RU" sz="700" u="none" strike="noStrike" dirty="0">
                          <a:solidFill>
                            <a:schemeClr val="tx1"/>
                          </a:solidFill>
                          <a:effectLst/>
                          <a:latin typeface="+mn-lt"/>
                        </a:rPr>
                        <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700" dirty="0"/>
                        <a:t xml:space="preserve">Posters/brochures/etc.</a:t>
                      </a: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rgbClr val="FF0000"/>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b="0" i="0" u="none" strike="noStrike" dirty="0">
                          <a:solidFill>
                            <a:schemeClr val="tx1"/>
                          </a:solidFill>
                          <a:effectLst/>
                          <a:latin typeface="+mn-lt"/>
                        </a:rPr>
                        <a:t>X</a:t>
                      </a: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b="0" i="0" u="none" strike="noStrike" dirty="0">
                          <a:solidFill>
                            <a:schemeClr val="tx1"/>
                          </a:solidFill>
                          <a:effectLst/>
                          <a:latin typeface="+mn-lt"/>
                        </a:rPr>
                        <a:t>X</a:t>
                      </a: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b="0" i="0" u="none" strike="noStrike" dirty="0">
                          <a:solidFill>
                            <a:schemeClr val="tx1"/>
                          </a:solidFill>
                          <a:effectLst/>
                          <a:latin typeface="+mn-lt"/>
                        </a:rPr>
                        <a:t>X</a:t>
                      </a: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b="0" i="0" u="none" strike="noStrike" dirty="0">
                          <a:solidFill>
                            <a:schemeClr val="tx1"/>
                          </a:solidFill>
                          <a:effectLst/>
                          <a:latin typeface="+mn-lt"/>
                        </a:rPr>
                        <a:t>X</a:t>
                      </a: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b="0" i="0" u="none" strike="noStrike" dirty="0">
                          <a:solidFill>
                            <a:schemeClr val="tx1"/>
                          </a:solidFill>
                          <a:effectLst/>
                          <a:latin typeface="+mn-lt"/>
                        </a:rPr>
                        <a:t>X</a:t>
                      </a: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700" b="0" i="0" u="none" strike="noStrike" dirty="0">
                          <a:solidFill>
                            <a:schemeClr val="tx1"/>
                          </a:solidFill>
                          <a:effectLst/>
                          <a:latin typeface="+mn-lt"/>
                        </a:rPr>
                        <a:t>X</a:t>
                      </a: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auto" latinLnBrk="0" hangingPunct="1">
                        <a:lnSpc>
                          <a:spcPct val="100000"/>
                        </a:lnSpc>
                        <a:spcBef>
                          <a:spcPts val="0"/>
                        </a:spcBef>
                        <a:spcAft>
                          <a:spcPts val="0"/>
                        </a:spcAft>
                        <a:buClrTx/>
                        <a:buSzTx/>
                        <a:buFontTx/>
                        <a:buNone/>
                        <a:tabLst/>
                        <a:defRPr/>
                      </a:pPr>
                      <a:r>
                        <a:rPr lang="ru-RU" sz="700" b="0" kern="1200" dirty="0" smtClean="0">
                          <a:solidFill>
                            <a:schemeClr val="dk1"/>
                          </a:solidFill>
                          <a:latin typeface="+mn-lt"/>
                          <a:ea typeface="+mn-ea"/>
                          <a:cs typeface="+mn-cs"/>
                        </a:rPr>
                        <a:t xml:space="preserve">To raise awareness in 2025 It was also planned to update the Hotline posters and OHS brochures at key Perimeter enterprises, incl. for third parties - visitors to our enterprises, taking into account planned changes in relation to the EQS platform (with a change in the ITFS number). Draft GL posters and HSE brochures have been developed (the Perimeter HSE Directorate is awaiting updates from the Compliance Directorate) and are awaiting a resolution of the issue at the Group level regarding the problem of activating the dedicated EQS number (technical performance testing is currently underway by the contractor, the Compliance Group and the Compliance Directorate, a solution is expected). Additional activities are planned for 2026 aimed at raising awareness among workers and third parties, incl. about Hotline channels</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r>
                        <a:rPr lang="ru-RU" sz="700" b="0" kern="1200" dirty="0" err="1" smtClean="0">
                          <a:solidFill>
                            <a:schemeClr val="dk1"/>
                          </a:solidFill>
                          <a:latin typeface="+mn-lt"/>
                          <a:ea typeface="+mn-ea"/>
                          <a:cs typeface="+mn-cs"/>
                        </a:rPr>
                        <a:t/>
                      </a:r>
                      <a:r>
                        <a:rPr lang="ru-RU" sz="700" b="0" kern="1200" dirty="0" smtClean="0">
                          <a:solidFill>
                            <a:schemeClr val="dk1"/>
                          </a:solidFill>
                          <a:latin typeface="+mn-lt"/>
                          <a:ea typeface="+mn-ea"/>
                          <a:cs typeface="+mn-cs"/>
                        </a:rPr>
                        <a:t/>
                      </a: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6955125"/>
                  </a:ext>
                </a:extLst>
              </a:tr>
              <a:tr h="154800">
                <a:tc>
                  <a:txBody>
                    <a:bodyPr/>
                    <a:lstStyle/>
                    <a:p>
                      <a:pPr algn="l" fontAlgn="ctr"/>
                      <a:r>
                        <a:rPr lang="ru-RU" sz="700" u="none" strike="noStrike" dirty="0">
                          <a:solidFill>
                            <a:schemeClr val="tx1"/>
                          </a:solidFill>
                          <a:effectLst/>
                          <a:latin typeface="+mn-lt"/>
                        </a:rPr>
                        <a:t xml:space="preserve">Sanctions (constant communications)</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83170" rtl="0" eaLnBrk="1" fontAlgn="ctr" latinLnBrk="0" hangingPunct="1">
                        <a:lnSpc>
                          <a:spcPct val="100000"/>
                        </a:lnSpc>
                        <a:spcBef>
                          <a:spcPts val="0"/>
                        </a:spcBef>
                        <a:spcAft>
                          <a:spcPts val="0"/>
                        </a:spcAft>
                        <a:buClrTx/>
                        <a:buSzTx/>
                        <a:buFontTx/>
                        <a:buNone/>
                        <a:tabLst/>
                        <a:defRPr/>
                      </a:pPr>
                      <a:r>
                        <a:rPr lang="ru-RU" sz="700" u="none" strike="noStrike" dirty="0">
                          <a:solidFill>
                            <a:schemeClr val="tx1"/>
                          </a:solidFill>
                          <a:effectLst/>
                          <a:latin typeface="+mn-lt"/>
                        </a:rPr>
                        <a:t xml:space="preserve">Senior executives and decision makers in areas affected by sanctions</a:t>
                      </a:r>
                      <a:r>
                        <a:rPr lang="en-US" sz="700" u="none" strike="noStrike" dirty="0">
                          <a:solidFill>
                            <a:schemeClr val="tx1"/>
                          </a:solidFill>
                          <a:effectLst/>
                          <a:latin typeface="+mn-lt"/>
                        </a:rPr>
                        <a:t/>
                      </a:r>
                      <a:r>
                        <a:rPr lang="ru-RU" sz="700" u="none" strike="noStrike" dirty="0">
                          <a:solidFill>
                            <a:schemeClr val="tx1"/>
                          </a:solidFill>
                          <a:effectLst/>
                          <a:latin typeface="+mn-lt"/>
                        </a:rPr>
                        <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ru-RU" sz="700" u="none" strike="noStrike" dirty="0">
                          <a:solidFill>
                            <a:schemeClr val="tx1"/>
                          </a:solidFill>
                          <a:effectLst/>
                          <a:latin typeface="+mn-lt"/>
                        </a:rPr>
                        <a:t xml:space="preserve">Email letter</a:t>
                      </a:r>
                      <a:endParaRPr lang="ru-RU" sz="700" dirty="0"/>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fontAlgn="ctr"/>
                      <a:r>
                        <a:rPr lang="ru-RU" sz="700" b="0" i="1" u="none" strike="noStrike" dirty="0">
                          <a:solidFill>
                            <a:schemeClr val="tx1"/>
                          </a:solidFill>
                          <a:effectLst/>
                          <a:latin typeface="+mn-lt"/>
                        </a:rPr>
                        <a:t xml:space="preserve">when new sanctions are introduced</a:t>
                      </a:r>
                      <a:endParaRPr lang="en-US" sz="700" b="0" i="1"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ctr" fontAlgn="ctr"/>
                      <a:endParaRPr lang="en-US" sz="700" b="0" i="0" u="none" strike="noStrike" dirty="0">
                        <a:solidFill>
                          <a:schemeClr val="tx1"/>
                        </a:solidFill>
                        <a:effectLst/>
                        <a:latin typeface="+mn-lt"/>
                      </a:endParaRPr>
                    </a:p>
                  </a:txBody>
                  <a:tcPr marL="36000" marR="36000" marT="18000" marB="18000">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a:txBody>
                    <a:bodyPr/>
                    <a:lstStyle/>
                    <a:p>
                      <a:pPr algn="l" fontAlgn="ctr"/>
                      <a:r>
                        <a:rPr lang="ru-RU" sz="700" b="0" i="0" u="none" strike="noStrike" dirty="0" smtClean="0">
                          <a:solidFill>
                            <a:schemeClr val="tx1"/>
                          </a:solidFill>
                          <a:effectLst/>
                          <a:latin typeface="+mn-lt"/>
                        </a:rPr>
                        <a:t xml:space="preserve">During 2025, 9 communications were released.</a:t>
                      </a:r>
                      <a:endParaRPr lang="en-US" sz="700" b="0" i="0" u="none" strike="noStrike" dirty="0">
                        <a:solidFill>
                          <a:schemeClr val="tx1"/>
                        </a:solidFill>
                        <a:effectLst/>
                        <a:latin typeface="+mn-lt"/>
                      </a:endParaRPr>
                    </a:p>
                  </a:txBody>
                  <a:tcPr marL="36000" marR="36000" marT="180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1549524"/>
                  </a:ext>
                </a:extLst>
              </a:tr>
            </a:tbl>
          </a:graphicData>
        </a:graphic>
      </p:graphicFrame>
    </p:spTree>
    <p:extLst>
      <p:ext uri="{BB962C8B-B14F-4D97-AF65-F5344CB8AC3E}">
        <p14:creationId xmlns:p14="http://schemas.microsoft.com/office/powerpoint/2010/main" val="31529131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5060&quot;&gt;&lt;version val=&quot;28176&quot;/&gt;&lt;CPresentation id=&quot;1&quot;&gt;&lt;m_precDefaultNumber&gt;&lt;m_bNumberIsYear val=&quot;1&quot;/&gt;&lt;m_chMinusSymbol&gt;-&lt;/m_chMinusSymbol&gt;&lt;m_chDecimalSymbol17909&gt;,&lt;/m_chDecimalSymbol17909&gt;&lt;m_nGroupingDigits17909 val=&quot;3&quot;/&gt;&lt;m_chGroupingSymbol17909&gt; &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 &lt;/m_chGroupingSymbol17909&gt;&lt;m_strSuffix17909&gt;%&lt;/m_strSuffix17909&gt;&lt;m_yearfmt&gt;&lt;begin val=&quot;0&quot;/&gt;&lt;end val=&quot;4&quot;/&gt;&lt;/m_yearfmt&gt;&lt;/m_precDefaultPercent&gt;&lt;m_precDefaultDate&gt;&lt;m_bNumberIsYear val=&quot;0&quot;/&gt;&lt;m_strFormatTime&gt;%d.%m&lt;/m_strFormatTime&gt;&lt;m_yearfmt&gt;&lt;begin val=&quot;0&quot;/&gt;&lt;end val=&quot;0&quot;/&gt;&lt;/m_yearfmt&gt;&lt;/m_precDefaultDate&gt;&lt;m_precDefaultYear&gt;&lt;m_bNumberIsYear val=&quot;0&quot;/&gt;&lt;m_strFormatTime&gt;%Y&lt;/m_strFormatTime&gt;&lt;m_yearfmt&gt;&lt;begin val=&quot;0&quot;/&gt;&lt;end val=&quot;0&quot;/&gt;&lt;/m_yearfmt&gt;&lt;/m_precDefaultYear&gt;&lt;m_precDefaultQuarter&gt;&lt;m_bNumberIsYear val=&quot;0&quot;/&gt;&lt;m_strFormatTime&gt;Q%5&lt;/m_strFormatTime&gt;&lt;m_yearfmt&gt;&lt;begin val=&quot;0&quot;/&gt;&lt;end val=&quot;4&quot;/&gt;&lt;/m_yearfmt&gt;&lt;/m_precDefaultQuarter&gt;&lt;m_precDefaultMonth&gt;&lt;m_bNumberIsYear val=&quot;0&quot;/&gt;&lt;m_strFormatTime&gt;%1&lt;/m_strFormatTime&gt;&lt;m_yearfmt&gt;&lt;begin val=&quot;0&quot;/&gt;&lt;end val=&quot;4&quot;/&gt;&lt;/m_yearfmt&gt;&lt;/m_precDefaultMonth&gt;&lt;m_precDefaultWeek&gt;&lt;m_bNumberIsYear val=&quot;0&quot;/&gt;&lt;m_strFormatTime&gt;%4&lt;/m_strFormatTime&gt;&lt;m_yearfmt&gt;&lt;begin val=&quot;0&quot;/&gt;&lt;end val=&quot;4&quot;/&gt;&lt;/m_yearfmt&gt;&lt;/m_precDefaultWeek&gt;&lt;m_precDefaultDay&gt;&lt;m_bNumberIsYear val=&quot;0&quot;/&gt;&lt;m_strFormatTime&gt;%#d&lt;/m_strFormatTime&gt;&lt;m_yearfmt&gt;&lt;begin val=&quot;0&quot;/&gt;&lt;end val=&quot;4&quot;/&gt;&lt;/m_yearfmt&gt;&lt;/m_precDefaultDay&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mlbwm7nEqw69AhGmOstLN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wwit99C1bymIj23jMItQu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DsGMYKkSbWDh.a5gwd.HG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wit99C1bymIj23jMItQu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wwit99C1bymIj23jMItQu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wt5MRESiYk6mnvW.h44Z7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KUFSf7Rw70KyqS7YPQP8a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qrNR8IF0L0SySGIbULnWz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TfqPuyHleECXv4Ypl0wc3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oq4RWcJExUGThWn6WQWVH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C8wJy9.T70u6KA76sWaaKQ"/>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idwNHDjVU0GAySVJpTJs_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iqqZeJjNb0KH5iHwPgueo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HG_MuBp5CEK9EqAw4X14e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i1Z.HICdPU24ZM8DxIB73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XOznR95e0keAIOgLrOTj3Q"/>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DrWp0UXRjkCu2h_yFwwj.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m_oeb4MKW0CxRC2y5Nl0z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z6vcK.DLHEmuzjMitmmEv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IAoxfpFOoUOGia0sEkez1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fVgBtGkxEESAx_2D94Pac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pF9fCWLUecN2bqHrYAa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aSmSuu3aD0iV1TqDE7s5.A"/>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jFKQ0U7ZCkKxZWg07BySE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QvwHcTB4AEWt6O2LlpfUk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1LZjA2acI0qPvnD8vk6IjA"/>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KlOcPP7O60W3uAj322rlW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3xXgcAxHZE.DQYfqb93Gy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QMRAyhjPxUSMnbnQd0MRXQ"/>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i8izSRXl4Eeo_evaFGF_RA"/>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1LnZAgOwUUu9zEeNdAExK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dhQ7KxhBXk2qbYIG2VZ6m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ps8wMlJVJUujH3iwcKkieA"/>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BONgtDSDS02hm0C3vGyJt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lLqAogB8FkSyF5w9NY1mz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Q.WlLrZHLk2rMt4sS3idBQ"/>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pYI3KGego02.1OOEvfKmM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1.e4Ki1f7UWisXt6vvi_kA"/>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2Be2t2_wxEW.hDZ4gQ1Lmw"/>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bI_CCIOKwEGgTC3jh38Ipg"/>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pawR5H7wnxkqjL6i.cIm5Wg"/>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yr9JLuuAm0.R0owSC6hzCQ"/>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WmqFkfJN_U6vx3U08Ucl2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9OHcFxrWWkSDnlPxTIeFy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nHEcQPNnVUup.5wEPKlPb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2U9Q8F3Jb0.qNLLeos75pw"/>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AransbsFMkCZV8vj37.VZg"/>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rqZ53EQA1U.PvF0rd5yDzg"/>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pDBOS.IWQC0qYnIGSq0.LNw"/>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pB3qXlF_vNkuok4_hcRrrpA"/>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7FHANt9aSUWDcWjKKfBXbg"/>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XRDneWrZhkCyoklX9FlUEg"/>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MSlo5qeL8Eyb3i1311oMNQ"/>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p4gIqZaBkVkqElJtC9FRvbQ"/>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pwc_xql2SJEenM6sa91uWQA"/>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28zNcCtbo06a95j3naymsA"/>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pQTvaa4QqNEqqzJmgE0jKtQ"/>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pfSdVjtqp9kWdwYGLcralog"/>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prCy7rRnY6k61sPsVX8trIw"/>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p.k7RyxM1oEW6w336vPvFeQ"/>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pPI8Z21ruxk2g5Xdt4dRZkg"/>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ptQDGqe2V9kyCit0qllhjOA"/>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pWTWk.mQ_vE6j2.wD3hWmEA"/>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pNPyJLZIl3EKiZh64uHy97w"/>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pBMKXmoBmYE6WMsfU2Ut8C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pIjMi3hqlbkG4TlPmHhNytg"/>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pTBO0uRpBCEub4AT1l2csGA"/>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pixmzVRvpFEqXh7_WPJchWQ"/>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por5G.cdTUESsngVvvRLfdw"/>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pXMq1Sq0A2UqRTElVIlsVO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pkZD8dz8wQU.9BQV9YoOMgA"/>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pXHmy0j1LcU6GNvfbP8EQBg"/>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ptIwCxIW2yEW2ll5z8eWq7w"/>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pFpxS3VEK0kqMMIowd8wNbA"/>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pFRvETPoLTke00b410q_TjA"/>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pIiegLdehY0Wb9WsG1bJXCA"/>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pH5_Mwrj0.ECOrjQxqJbOQA"/>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pgu6UEZkSsUGyoVS1L_NdbQ"/>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pjF.ualFQkU.sJGH_pY0p8Q"/>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pFzMJsnQeckCmobQMSsNaTw"/>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pDtrnF5GHkkeQKfairqXHMg"/>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pU4HcHQmZKEOig3R5hnRbvw"/>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pf_bcp0Q.u0yam5I8VgqQyw"/>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pyoevMbJsJUuTJ5iYeW79aQ"/>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pBx35q1kuyUSfmswyuLCO8Q"/>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p9fZTmNxB30GmjiWS2WGIBQ"/>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pezG7GyvqXU.0pCxKOAN6GA"/>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p4gCoG9e1rUm7KkXGLyT.QQ"/>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pPjBFDTMq7k2WJtQf9EaJqw"/>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pL69l41ACcUSHTuhX3LC3Vg"/>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pfvJR1xcWtUSZRQiGBt5GgQ"/>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pUu6_bsFn0kmxrORQGDO4vg"/>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p9s4P.BxeDkGACvl67ZACjg"/>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pItxmJYrN_Eqrm_ky0VZfUQ"/>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pjZamOWJiL060t3CYG8Y6RA"/>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pWEMP69PC4Em9AmQ2RXJ2qw"/>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p.oGf4bRN9kWFeBUAoqlCwQ"/>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pklESKtOxXEqLyc2s76IBwA"/>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pdnio7QkJ5USzJ86aMibbgg"/>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ph4xRluGaWUy6obKblW8xnQ"/>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pCmb8i7vqqkKhhruJPAjR6A"/>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pTWJCqdSQuEiHIkDpeVSC4g"/>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py41jbwD56U6Wq6nrEODwXQ"/>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p4GVKeBEjPUGN9q8p6UdIPw"/>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p_bzoni6N.0e2LR6dQOThag"/>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pXEa.f8bp.kW8wPt1QNzbww"/>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p5CsW3hkzCkql29g1QO_hOA"/>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pX_XN8Bq48kWGBBZkK79kNA"/>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p3S5vWXep10.UTQ6YjshUBQ"/>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poPiVJsupGk.i7BT5j9M1Lw"/>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pAriiA5JUGk.pdkgW5Hhh2w"/>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pyvzmMZAyaE6RxbHl4WVLYQ"/>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p.Z3Ip7wGGEuqF.KfJyVi5g"/>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pPU6yRPif1EqddVMJ5qib7A"/>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pjSGeVvEcg02NqJcVK365Tw"/>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pBe8CCSo7kEuZ9BnQSgNYTQ"/>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p6lMqsf_HREGZ6JB3JT0zyQ"/>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pcOkZB2SzH0uTzTP9cr_EcA"/>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pwpHytK9oRU2MtTSi_uHWsw"/>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pj5Nhi5Lu.ECpk6zDlqWjMA"/>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pN5D4H5sI4kSuEz0ifwDEow"/>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pSPJGSREfmkm6VlNv8jwOIQ"/>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pOPzAfCPg7k6Uje2NzfADVg"/>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p2DL7DvhuUk61m34NxJSQow"/>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peZNRbrc2QUaP3uCjQcSnYQ"/>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pY2ngnlbUWUqg_E2xbfh91Q"/>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p1Kuoq0_Rnk2Ih2Rkj1Ojlw"/>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pAnguMjO4mk.CyJ9KPRMM5Q"/>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p3QM.AcRZa0ukNgsSr1oM0A"/>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p.datb3xmwk6ZApLyLbMLTw"/>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p7s9qerrJIE2tgMeq.Pps7w"/>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pAORVz5NtI0eKJABpMMA9Bw"/>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pb3xs48mmvkGuhZcepwuz4Q"/>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pZkqIk7ZsfEGBsfmTTHRhww"/>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p6Ky_8EzOQ0eGZhPKbGZA.w"/>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p67PQhaYfgUOUpzkNud4hRg"/>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pKgyyrNcNAkGVVXV507YqCA"/>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p3BE6.o0aakuCRyR7zH6tNQ"/>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plqTCdNO_oUCAh5MPlfU1wA"/>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p4a2r1zjD2kG0B4EeQYuRpA"/>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p_d4_i6efJEiMyG1xC3geqA"/>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pDrvL3tX7Tk.vCccXbhjdyg"/>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pPMI36M4aDUGaQu2TecbJqw"/>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pTYsI5IFZMkiQtvnOG94S_g"/>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p_atV2D0hKUC5eSTda53waA"/>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pJb_dBrzTLkKgxu2DonVFrQ"/>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pXcyfkeTIdUiunpk_N36EdA"/>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pMZXZf.UlUUuMmetHnlOTqQ"/>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phzNXkYf6Kk.Iv0XieyGMNA"/>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pUkOrpHZHQ0uikgDaOwOk0Q"/>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pD1NfFzpFm0S8ceR0eWTFOg"/>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pnGtW3CjkDkuI1E_bW_Wtkw"/>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pyvDvMnfx1EC6n7ru1DGwBQ"/>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pEq8qVLKCAEClgEfxnFmrsQ"/>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pBIulFdLklkuBd3fJ72WOcw"/>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pcd4DuL3dKUCWJnn4KIlTmw"/>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pmqfDcA8Cg0S6i7ND1RPSJw"/>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ps3JGdwzvykaytbkP4aqV9g"/>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pmwFHjr37zUa7uax1ZjtPcQ"/>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p9sWHR9wBvE2cKINJBu7T8A"/>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prIYNGFBwAki.pZOER9UeJg"/>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pADXoC0TevEyxSmKA0NWb1w"/>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prAAX_YfU2Ue9qUKdRbGGsA"/>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psM_xgpCyHkOVB922KD65hQ"/>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p3Sdc1yWwQkG09Qx7EVRkZQ"/>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pHb6ksDrEvkqyDZ.MLk21iA"/>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pQCS63zu6106ZeOabMpVU_w"/>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pcVcdyXPfLEuz24U0mik_zg"/>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pcHp2zOB.JEubiR158powcQ"/>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pcz6ft4K53kSriCL2p0J55g"/>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pC1IjZGobMEGFUtHqSxT9Bw"/>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pumAm0pgN20aIoAcizJe8ow"/>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pNclJkCsSQUqM4m1VWve0wA"/>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pMU5a5cr6nUeHeb0cKJ9w6w"/>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pLXk2SCGMMEasX0KmLUcxOQ"/>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pId4LVYQNx02YnEadNfUQ.g"/>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pDYNnOurJfUK2HuJAJKdx5Q"/>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pnB0DjhUxDEWHEgom9hUfwA"/>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pgE57HdPXFEinsKpJYBCF3A"/>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pmn0cogQtXUOThS0rjklpKw"/>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p9CkFUJZagUS_9D94SEj0ug"/>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p6WeJMqok5kWlITVNk_tM9A"/>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pij6d3qTcGEuqHQDcoJNuig"/>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pP57j6QkcqE2Vwue9WZDJfw"/>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psWO8U_.zRES4frM8Ld7qnQ"/>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pnLbQ7RFVUUKQg0HePhzlGg"/>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pk3ANOaXS90q9nish2e5xSw"/>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pfwmvU2zSq0y2PDoWj3cY.Q"/>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plyrFNXg8RkaJ42BPGYTP0g"/>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pxHGSCttBCkS.DEPBNqUX2A"/>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p7ThQ0kzhq0KdpxDStIvWCQ"/>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piG4WODkL9EGzvwgHh4I8SQ"/>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pq7l.XkivHUuYuIbYtBefuQ"/>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p2s0zcTEPTUifqLMKBtmS8g"/>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pLkuIx9bN6EqBLEhFhykIHg"/>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p1Ju6Ej_d2UaSz.QxAlFyDg"/>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p9u9ehucMJEew3U3zqylQKA"/>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pWYxv9bKghECY31R6HoPPNQ"/>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pCgMuSBU0wE23QVYzUiLO0A"/>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pgk1SLbBBukS8YHq9yWCqWQ"/>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pKxrvdXQtpEikvyeR3bQK.Q"/>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plTGdsDjL5kmoI.MtZZcUEQ"/>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pg4Z4PKu66UikyAqpFAg8ww"/>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psiD2eRPb.EGbJ8fDWfSsJg"/>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pMCHVqt0bYU.pFu1.awV9Wg"/>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pFnjb53dc4Ui4a9PJ3gjnTQ"/>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pA5WcJ48hD0S3DgQJrqifeQ"/>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p9tU0YN9rh0KKj3q7dSGg5Q"/>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pCkQaiFnybkyEPUwYXNaWJg"/>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pnuyaps5hwEq80yEpPXKUGg"/>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pdFMavmXX9EuObY83LXRxKg"/>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pKQR_86hsTUiGrC4FM9s7ag"/>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plKr9NIP7FEKn5g_6aBHaKg"/>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pllYl0mkAjke4BBRwwKztoQ"/>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po4nDuJ_y8k.7DAVpsY9x.w"/>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p.DGQVlyeC0SKlTVXHwClLQ"/>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pW7r8VLvjpkmNX7R1iyQu1A"/>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pdEwU1fYlxkmfg5CYRhc3DQ"/>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pNptiBj2W5UyYE7vMnvWMFQ"/>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pJC42FPUkXEiVl2vZxAcxmg"/>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peIvSAAw_QUOjDyKf5_EKxg"/>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pyGBzub8gmEKMbO0Nh28bvQ"/>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p7LUdF_u9AEinM90gkIDCww"/>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p7sM2dY9BPk6iJnz5rcC3OA"/>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pWMUbBYNKc0OZW2BBvmi0kA"/>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pD8pdMgh2zU6zuF1jc8QX4w"/>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pAbIxjPtFoUG6dtqMeA5ncw"/>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pfcHwfyCBl0iRCKR.kMKdTQ"/>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p.qz5ohLeP0uYJRx.Z9zc8A"/>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pW18JmR1Mhkmc0cgyMCKrtw"/>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p99nWhSXkK06S2MUY_ZHysw"/>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pjhf7TXrGEEOmNMoXcqMf3w"/>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p2dVjs7CluE.3ElNcqWq3Yg"/>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pFo.19BlvZk679w8udYJy3g"/>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pvVKSBicUlEi334AG7XXGyg"/>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pzqvmlz.8u0aZpjfTN7j3pg"/>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p4JTYhHX9u0iK7dHkWoKWKg"/>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phh053aZ3O02FWhNsW5qlgQ"/>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pbcBa8f1lXUi3SU2XDDX_YQ"/>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pg1VFMKm8CEWMvza_AxYOWA"/>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pOl_zSqK6i0Se3OMMA2dn_g"/>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pjEYnle7ha0GP4dQwISDC9A"/>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p21WbsuUCE0Sn7a.HF1LWAw"/>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pOtnhurPqbUKRzbLma_Pg7g"/>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pQ78x.NYQrUWowoHOtlgHdg"/>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p8xzzKzpWtUmu331S8svAvg"/>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pOZb9.GauEUenlfNGyFUcLA"/>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pEo9Vc9FLGEmke4B6Fm9I.Q"/>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pVTNeUKmrrUSWiplUNXKQUA"/>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pENi.Nrb2yky0QHPdkt3KQA"/>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piGHBSmGHU0qH2Zo1dKKFrQ"/>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pExR0IZWrl0igQwiYLeZaiA"/>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pc6ChDntXeUmEozVN.GTaEg"/>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pePwae2pFCUqbv0sJNF_Ekg"/>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ppIjW9J4ToUeSeV8ksPJyOg"/>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pGm6xcIXsbUGSCzkvcvbJiA"/>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pgE8eVaRHZEOZlvAjQqiJCw"/>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p_.KsUpOchEe1HCXpeZkeFw"/>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pA2ylzXlOu0uKScZyn4B9hw"/>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psZFLo9.7FkWCqIEJMSp.Jg"/>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pR8xbagmYdUC21dD7bbxHag"/>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pTDItQM_la0.1t7EcK38hag"/>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psw8pmP9f0E6T2.PD_Ehyjw"/>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pLXUOlM0gDkClocDYXhahwg"/>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pLaHkj6UiK0qc0iCaFzl0SA"/>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pDbXk2IqsN0WTSI_oDgxrRg"/>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pn7KH1daDEU..FQXli0OOqw"/>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pq02sDEnQxkmQAQALg5ajuA"/>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pW1eIuLQRykaDpIuNlm6VjQ"/>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pFAJX4bJj7EaANhgeIjdKMA"/>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p14eKoB7UqUWgBnB6lG4ENw"/>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pEN0d1LAeHkKby71pi04EsQ"/>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pwseJPh_QCEm2eRX.zacWBw"/>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p_yZKvpEQcUm0OJDxSZMG3w"/>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pCIy32zh3YkGrUj.3DSVdwA"/>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pGC6.DTwI2UOKLDEGVpWyeg"/>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pFSPXFXbys0Gd9v3Y8JZ3Vg"/>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pFZRNHNOMdUuDCl4ouhgEMQ"/>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pF8tjVApBLEi3.IbHNQXwPA"/>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paz6Mam1ry0a2gjYF.otX8A"/>
</p:tagLst>
</file>

<file path=ppt/tags/tag309.xml><?xml version="1.0" encoding="utf-8"?>
<p:tagLst xmlns:a="http://schemas.openxmlformats.org/drawingml/2006/main" xmlns:r="http://schemas.openxmlformats.org/officeDocument/2006/relationships" xmlns:p="http://schemas.openxmlformats.org/presentationml/2006/main">
  <p:tag name="THINKCELLSHAPEDONOTDELETE" val="p4LobrcxEaEe5HOHvRipwWQ"/>
</p:tagLst>
</file>

<file path=ppt/tags/tag310.xml><?xml version="1.0" encoding="utf-8"?>
<p:tagLst xmlns:a="http://schemas.openxmlformats.org/drawingml/2006/main" xmlns:r="http://schemas.openxmlformats.org/officeDocument/2006/relationships" xmlns:p="http://schemas.openxmlformats.org/presentationml/2006/main">
  <p:tag name="THINKCELLSHAPEDONOTDELETE" val="pmxvGMT.j.UO83jNAMlhTbQ"/>
</p:tagLst>
</file>

<file path=ppt/tags/tag311.xml><?xml version="1.0" encoding="utf-8"?>
<p:tagLst xmlns:a="http://schemas.openxmlformats.org/drawingml/2006/main" xmlns:r="http://schemas.openxmlformats.org/officeDocument/2006/relationships" xmlns:p="http://schemas.openxmlformats.org/presentationml/2006/main">
  <p:tag name="THINKCELLSHAPEDONOTDELETE" val="px66ywLlU10qQPA71Ds8WTA"/>
</p:tagLst>
</file>

<file path=ppt/tags/tag312.xml><?xml version="1.0" encoding="utf-8"?>
<p:tagLst xmlns:a="http://schemas.openxmlformats.org/drawingml/2006/main" xmlns:r="http://schemas.openxmlformats.org/officeDocument/2006/relationships" xmlns:p="http://schemas.openxmlformats.org/presentationml/2006/main">
  <p:tag name="THINKCELLSHAPEDONOTDELETE" val="pf5fc7m7tIUKR.3nkxBpotg"/>
</p:tagLst>
</file>

<file path=ppt/tags/tag313.xml><?xml version="1.0" encoding="utf-8"?>
<p:tagLst xmlns:a="http://schemas.openxmlformats.org/drawingml/2006/main" xmlns:r="http://schemas.openxmlformats.org/officeDocument/2006/relationships" xmlns:p="http://schemas.openxmlformats.org/presentationml/2006/main">
  <p:tag name="THINKCELLSHAPEDONOTDELETE" val="pK7UHZkkYPk2vXiXDYYGlIw"/>
</p:tagLst>
</file>

<file path=ppt/tags/tag314.xml><?xml version="1.0" encoding="utf-8"?>
<p:tagLst xmlns:a="http://schemas.openxmlformats.org/drawingml/2006/main" xmlns:r="http://schemas.openxmlformats.org/officeDocument/2006/relationships" xmlns:p="http://schemas.openxmlformats.org/presentationml/2006/main">
  <p:tag name="THINKCELLSHAPEDONOTDELETE" val="pWcxO7AFldkWpIoG.3Ly4Fg"/>
</p:tagLst>
</file>

<file path=ppt/tags/tag315.xml><?xml version="1.0" encoding="utf-8"?>
<p:tagLst xmlns:a="http://schemas.openxmlformats.org/drawingml/2006/main" xmlns:r="http://schemas.openxmlformats.org/officeDocument/2006/relationships" xmlns:p="http://schemas.openxmlformats.org/presentationml/2006/main">
  <p:tag name="THINKCELLSHAPEDONOTDELETE" val="pFwe7fyfQBUiLkWGuH_XbvQ"/>
</p:tagLst>
</file>

<file path=ppt/tags/tag316.xml><?xml version="1.0" encoding="utf-8"?>
<p:tagLst xmlns:a="http://schemas.openxmlformats.org/drawingml/2006/main" xmlns:r="http://schemas.openxmlformats.org/officeDocument/2006/relationships" xmlns:p="http://schemas.openxmlformats.org/presentationml/2006/main">
  <p:tag name="THINKCELLSHAPEDONOTDELETE" val="pY.QNHHylD0miQWOL6AdeJw"/>
</p:tagLst>
</file>

<file path=ppt/tags/tag317.xml><?xml version="1.0" encoding="utf-8"?>
<p:tagLst xmlns:a="http://schemas.openxmlformats.org/drawingml/2006/main" xmlns:r="http://schemas.openxmlformats.org/officeDocument/2006/relationships" xmlns:p="http://schemas.openxmlformats.org/presentationml/2006/main">
  <p:tag name="THINKCELLSHAPEDONOTDELETE" val="pQUFvFCHJWk6lEmTXM2ODYw"/>
</p:tagLst>
</file>

<file path=ppt/tags/tag318.xml><?xml version="1.0" encoding="utf-8"?>
<p:tagLst xmlns:a="http://schemas.openxmlformats.org/drawingml/2006/main" xmlns:r="http://schemas.openxmlformats.org/officeDocument/2006/relationships" xmlns:p="http://schemas.openxmlformats.org/presentationml/2006/main">
  <p:tag name="THINKCELLSHAPEDONOTDELETE" val="pAnl_Y_iWpUWYryPhPPyR6w"/>
</p:tagLst>
</file>

<file path=ppt/tags/tag319.xml><?xml version="1.0" encoding="utf-8"?>
<p:tagLst xmlns:a="http://schemas.openxmlformats.org/drawingml/2006/main" xmlns:r="http://schemas.openxmlformats.org/officeDocument/2006/relationships" xmlns:p="http://schemas.openxmlformats.org/presentationml/2006/main">
  <p:tag name="THINKCELLSHAPEDONOTDELETE" val="pdYWbRVEhq0m6sfJvWiFiHA"/>
</p:tagLst>
</file>

<file path=ppt/tags/tag320.xml><?xml version="1.0" encoding="utf-8"?>
<p:tagLst xmlns:a="http://schemas.openxmlformats.org/drawingml/2006/main" xmlns:r="http://schemas.openxmlformats.org/officeDocument/2006/relationships" xmlns:p="http://schemas.openxmlformats.org/presentationml/2006/main">
  <p:tag name="THINKCELLSHAPEDONOTDELETE" val="pUeyaGlSZxEeJ_iPoYlJ_NA"/>
</p:tagLst>
</file>

<file path=ppt/tags/tag321.xml><?xml version="1.0" encoding="utf-8"?>
<p:tagLst xmlns:a="http://schemas.openxmlformats.org/drawingml/2006/main" xmlns:r="http://schemas.openxmlformats.org/officeDocument/2006/relationships" xmlns:p="http://schemas.openxmlformats.org/presentationml/2006/main">
  <p:tag name="THINKCELLSHAPEDONOTDELETE" val="p8ZBNELh73kSubBhtHR7BOg"/>
</p:tagLst>
</file>

<file path=ppt/tags/tag322.xml><?xml version="1.0" encoding="utf-8"?>
<p:tagLst xmlns:a="http://schemas.openxmlformats.org/drawingml/2006/main" xmlns:r="http://schemas.openxmlformats.org/officeDocument/2006/relationships" xmlns:p="http://schemas.openxmlformats.org/presentationml/2006/main">
  <p:tag name="THINKCELLSHAPEDONOTDELETE" val="pz7r7I4uJbEKDMdC8HwpIWw"/>
</p:tagLst>
</file>

<file path=ppt/tags/tag323.xml><?xml version="1.0" encoding="utf-8"?>
<p:tagLst xmlns:a="http://schemas.openxmlformats.org/drawingml/2006/main" xmlns:r="http://schemas.openxmlformats.org/officeDocument/2006/relationships" xmlns:p="http://schemas.openxmlformats.org/presentationml/2006/main">
  <p:tag name="THINKCELLSHAPEDONOTDELETE" val="p7JXoxxk2gESLh5hsNO2kFQ"/>
</p:tagLst>
</file>

<file path=ppt/tags/tag324.xml><?xml version="1.0" encoding="utf-8"?>
<p:tagLst xmlns:a="http://schemas.openxmlformats.org/drawingml/2006/main" xmlns:r="http://schemas.openxmlformats.org/officeDocument/2006/relationships" xmlns:p="http://schemas.openxmlformats.org/presentationml/2006/main">
  <p:tag name="THINKCELLSHAPEDONOTDELETE" val="p2GxuX7cZ8kOS8sFyseYYzA"/>
</p:tagLst>
</file>

<file path=ppt/tags/tag325.xml><?xml version="1.0" encoding="utf-8"?>
<p:tagLst xmlns:a="http://schemas.openxmlformats.org/drawingml/2006/main" xmlns:r="http://schemas.openxmlformats.org/officeDocument/2006/relationships" xmlns:p="http://schemas.openxmlformats.org/presentationml/2006/main">
  <p:tag name="THINKCELLSHAPEDONOTDELETE" val="p_V9MC6sPO0iT5kaH_UIYDQ"/>
</p:tagLst>
</file>

<file path=ppt/tags/tag326.xml><?xml version="1.0" encoding="utf-8"?>
<p:tagLst xmlns:a="http://schemas.openxmlformats.org/drawingml/2006/main" xmlns:r="http://schemas.openxmlformats.org/officeDocument/2006/relationships" xmlns:p="http://schemas.openxmlformats.org/presentationml/2006/main">
  <p:tag name="THINKCELLSHAPEDONOTDELETE" val="p7HInwCp0v0SHa5yObD3mWw"/>
</p:tagLst>
</file>

<file path=ppt/tags/tag327.xml><?xml version="1.0" encoding="utf-8"?>
<p:tagLst xmlns:a="http://schemas.openxmlformats.org/drawingml/2006/main" xmlns:r="http://schemas.openxmlformats.org/officeDocument/2006/relationships" xmlns:p="http://schemas.openxmlformats.org/presentationml/2006/main">
  <p:tag name="THINKCELLSHAPEDONOTDELETE" val="pygFisRoGckGfw6.AKFZtqg"/>
</p:tagLst>
</file>

<file path=ppt/tags/tag328.xml><?xml version="1.0" encoding="utf-8"?>
<p:tagLst xmlns:a="http://schemas.openxmlformats.org/drawingml/2006/main" xmlns:r="http://schemas.openxmlformats.org/officeDocument/2006/relationships" xmlns:p="http://schemas.openxmlformats.org/presentationml/2006/main">
  <p:tag name="THINKCELLSHAPEDONOTDELETE" val="piVZu5j5QbEOh_1qyw2zDpg"/>
</p:tagLst>
</file>

<file path=ppt/tags/tag329.xml><?xml version="1.0" encoding="utf-8"?>
<p:tagLst xmlns:a="http://schemas.openxmlformats.org/drawingml/2006/main" xmlns:r="http://schemas.openxmlformats.org/officeDocument/2006/relationships" xmlns:p="http://schemas.openxmlformats.org/presentationml/2006/main">
  <p:tag name="THINKCELLSHAPEDONOTDELETE" val="pIEAE5YRFN0WLxDottXYN9Q"/>
</p:tagLst>
</file>

<file path=ppt/tags/tag330.xml><?xml version="1.0" encoding="utf-8"?>
<p:tagLst xmlns:a="http://schemas.openxmlformats.org/drawingml/2006/main" xmlns:r="http://schemas.openxmlformats.org/officeDocument/2006/relationships" xmlns:p="http://schemas.openxmlformats.org/presentationml/2006/main">
  <p:tag name="THINKCELLSHAPEDONOTDELETE" val="pKFaLLQrbO0yFypDOo0NI_A"/>
</p:tagLst>
</file>

<file path=ppt/tags/tag331.xml><?xml version="1.0" encoding="utf-8"?>
<p:tagLst xmlns:a="http://schemas.openxmlformats.org/drawingml/2006/main" xmlns:r="http://schemas.openxmlformats.org/officeDocument/2006/relationships" xmlns:p="http://schemas.openxmlformats.org/presentationml/2006/main">
  <p:tag name="THINKCELLSHAPEDONOTDELETE" val="pWj6NovToO0GoDc3yONwjRQ"/>
</p:tagLst>
</file>

<file path=ppt/tags/tag332.xml><?xml version="1.0" encoding="utf-8"?>
<p:tagLst xmlns:a="http://schemas.openxmlformats.org/drawingml/2006/main" xmlns:r="http://schemas.openxmlformats.org/officeDocument/2006/relationships" xmlns:p="http://schemas.openxmlformats.org/presentationml/2006/main">
  <p:tag name="THINKCELLSHAPEDONOTDELETE" val="p0Owg1iQVp0.H09Dn97gBEA"/>
</p:tagLst>
</file>

<file path=ppt/tags/tag333.xml><?xml version="1.0" encoding="utf-8"?>
<p:tagLst xmlns:a="http://schemas.openxmlformats.org/drawingml/2006/main" xmlns:r="http://schemas.openxmlformats.org/officeDocument/2006/relationships" xmlns:p="http://schemas.openxmlformats.org/presentationml/2006/main">
  <p:tag name="THINKCELLSHAPEDONOTDELETE" val="pnBBNB2_ZNEaQjcxFk.5txw"/>
</p:tagLst>
</file>

<file path=ppt/tags/tag334.xml><?xml version="1.0" encoding="utf-8"?>
<p:tagLst xmlns:a="http://schemas.openxmlformats.org/drawingml/2006/main" xmlns:r="http://schemas.openxmlformats.org/officeDocument/2006/relationships" xmlns:p="http://schemas.openxmlformats.org/presentationml/2006/main">
  <p:tag name="THINKCELLSHAPEDONOTDELETE" val="pBBvOs3pc0kWo4CFaHlTtHQ"/>
</p:tagLst>
</file>

<file path=ppt/tags/tag335.xml><?xml version="1.0" encoding="utf-8"?>
<p:tagLst xmlns:a="http://schemas.openxmlformats.org/drawingml/2006/main" xmlns:r="http://schemas.openxmlformats.org/officeDocument/2006/relationships" xmlns:p="http://schemas.openxmlformats.org/presentationml/2006/main">
  <p:tag name="THINKCELLSHAPEDONOTDELETE" val="pDdvt6ZkifEGkSMT0HWrg2w"/>
</p:tagLst>
</file>

<file path=ppt/tags/tag336.xml><?xml version="1.0" encoding="utf-8"?>
<p:tagLst xmlns:a="http://schemas.openxmlformats.org/drawingml/2006/main" xmlns:r="http://schemas.openxmlformats.org/officeDocument/2006/relationships" xmlns:p="http://schemas.openxmlformats.org/presentationml/2006/main">
  <p:tag name="THINKCELLSHAPEDONOTDELETE" val="pKtvqkHY0aE2nI62wY.JIGA"/>
</p:tagLst>
</file>

<file path=ppt/tags/tag337.xml><?xml version="1.0" encoding="utf-8"?>
<p:tagLst xmlns:a="http://schemas.openxmlformats.org/drawingml/2006/main" xmlns:r="http://schemas.openxmlformats.org/officeDocument/2006/relationships" xmlns:p="http://schemas.openxmlformats.org/presentationml/2006/main">
  <p:tag name="THINKCELLSHAPEDONOTDELETE" val="pAgZGE5CqBU2KJVt3c7yx4A"/>
</p:tagLst>
</file>

<file path=ppt/tags/tag338.xml><?xml version="1.0" encoding="utf-8"?>
<p:tagLst xmlns:a="http://schemas.openxmlformats.org/drawingml/2006/main" xmlns:r="http://schemas.openxmlformats.org/officeDocument/2006/relationships" xmlns:p="http://schemas.openxmlformats.org/presentationml/2006/main">
  <p:tag name="THINKCELLSHAPEDONOTDELETE" val="pKgfs24dNBEuRlGK5qiMTnQ"/>
</p:tagLst>
</file>

<file path=ppt/tags/tag339.xml><?xml version="1.0" encoding="utf-8"?>
<p:tagLst xmlns:a="http://schemas.openxmlformats.org/drawingml/2006/main" xmlns:r="http://schemas.openxmlformats.org/officeDocument/2006/relationships" xmlns:p="http://schemas.openxmlformats.org/presentationml/2006/main">
  <p:tag name="THINKCELLSHAPEDONOTDELETE" val="pdG2KOawgBkCCvrrANdi6WA"/>
</p:tagLst>
</file>

<file path=ppt/tags/tag340.xml><?xml version="1.0" encoding="utf-8"?>
<p:tagLst xmlns:a="http://schemas.openxmlformats.org/drawingml/2006/main" xmlns:r="http://schemas.openxmlformats.org/officeDocument/2006/relationships" xmlns:p="http://schemas.openxmlformats.org/presentationml/2006/main">
  <p:tag name="THINKCELLSHAPEDONOTDELETE" val="pKSob0UJvUUqSDL3QCGtogA"/>
</p:tagLst>
</file>

<file path=ppt/tags/tag341.xml><?xml version="1.0" encoding="utf-8"?>
<p:tagLst xmlns:a="http://schemas.openxmlformats.org/drawingml/2006/main" xmlns:r="http://schemas.openxmlformats.org/officeDocument/2006/relationships" xmlns:p="http://schemas.openxmlformats.org/presentationml/2006/main">
  <p:tag name="THINKCELLSHAPEDONOTDELETE" val="p82iSOh17m0SQKMbFx1sfTA"/>
</p:tagLst>
</file>

<file path=ppt/tags/tag342.xml><?xml version="1.0" encoding="utf-8"?>
<p:tagLst xmlns:a="http://schemas.openxmlformats.org/drawingml/2006/main" xmlns:r="http://schemas.openxmlformats.org/officeDocument/2006/relationships" xmlns:p="http://schemas.openxmlformats.org/presentationml/2006/main">
  <p:tag name="THINKCELLSHAPEDONOTDELETE" val="pn4Rkd8NAukKHB4x60T__NQ"/>
</p:tagLst>
</file>

<file path=ppt/tags/tag343.xml><?xml version="1.0" encoding="utf-8"?>
<p:tagLst xmlns:a="http://schemas.openxmlformats.org/drawingml/2006/main" xmlns:r="http://schemas.openxmlformats.org/officeDocument/2006/relationships" xmlns:p="http://schemas.openxmlformats.org/presentationml/2006/main">
  <p:tag name="THINKCELLSHAPEDONOTDELETE" val="pIs2kgbEg1k2de9Est.Iiaw"/>
</p:tagLst>
</file>

<file path=ppt/tags/tag344.xml><?xml version="1.0" encoding="utf-8"?>
<p:tagLst xmlns:a="http://schemas.openxmlformats.org/drawingml/2006/main" xmlns:r="http://schemas.openxmlformats.org/officeDocument/2006/relationships" xmlns:p="http://schemas.openxmlformats.org/presentationml/2006/main">
  <p:tag name="THINKCELLSHAPEDONOTDELETE" val="pPA0aUhvzckiB2K2tQvcZyg"/>
</p:tagLst>
</file>

<file path=ppt/tags/tag345.xml><?xml version="1.0" encoding="utf-8"?>
<p:tagLst xmlns:a="http://schemas.openxmlformats.org/drawingml/2006/main" xmlns:r="http://schemas.openxmlformats.org/officeDocument/2006/relationships" xmlns:p="http://schemas.openxmlformats.org/presentationml/2006/main">
  <p:tag name="THINKCELLSHAPEDONOTDELETE" val="pm5k5LprtpUe9xvN3BFlUYg"/>
</p:tagLst>
</file>

<file path=ppt/tags/tag346.xml><?xml version="1.0" encoding="utf-8"?>
<p:tagLst xmlns:a="http://schemas.openxmlformats.org/drawingml/2006/main" xmlns:r="http://schemas.openxmlformats.org/officeDocument/2006/relationships" xmlns:p="http://schemas.openxmlformats.org/presentationml/2006/main">
  <p:tag name="THINKCELLSHAPEDONOTDELETE" val="pIXF7tAqgUizTxzEsfPysVw"/>
</p:tagLst>
</file>

<file path=ppt/tags/tag347.xml><?xml version="1.0" encoding="utf-8"?>
<p:tagLst xmlns:a="http://schemas.openxmlformats.org/drawingml/2006/main" xmlns:r="http://schemas.openxmlformats.org/officeDocument/2006/relationships" xmlns:p="http://schemas.openxmlformats.org/presentationml/2006/main">
  <p:tag name="THINKCELLSHAPEDONOTDELETE" val="tC6ozkU0DcmcvunbQJfWbCA"/>
</p:tagLst>
</file>

<file path=ppt/tags/tag348.xml><?xml version="1.0" encoding="utf-8"?>
<p:tagLst xmlns:a="http://schemas.openxmlformats.org/drawingml/2006/main" xmlns:r="http://schemas.openxmlformats.org/officeDocument/2006/relationships" xmlns:p="http://schemas.openxmlformats.org/presentationml/2006/main">
  <p:tag name="THINKCELLSHAPEDONOTDELETE" val="th.LA45doPYWZlkrVlju2iQ"/>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0.xml><?xml version="1.0" encoding="utf-8"?>
<p:tagLst xmlns:a="http://schemas.openxmlformats.org/drawingml/2006/main" xmlns:r="http://schemas.openxmlformats.org/officeDocument/2006/relationships" xmlns:p="http://schemas.openxmlformats.org/presentationml/2006/main">
  <p:tag name="THINKCELLSHAPEDONOTDELETE" val="tn0xN8M1QRnh4nf9mCP2PVg"/>
</p:tagLst>
</file>

<file path=ppt/tags/tag351.xml><?xml version="1.0" encoding="utf-8"?>
<p:tagLst xmlns:a="http://schemas.openxmlformats.org/drawingml/2006/main" xmlns:r="http://schemas.openxmlformats.org/officeDocument/2006/relationships" xmlns:p="http://schemas.openxmlformats.org/presentationml/2006/main">
  <p:tag name="THINKCELLSHAPEDONOTDELETE" val="tf4H6fbZxFo4y7FWN8W0Mqw"/>
</p:tagLst>
</file>

<file path=ppt/tags/tag352.xml><?xml version="1.0" encoding="utf-8"?>
<p:tagLst xmlns:a="http://schemas.openxmlformats.org/drawingml/2006/main" xmlns:r="http://schemas.openxmlformats.org/officeDocument/2006/relationships" xmlns:p="http://schemas.openxmlformats.org/presentationml/2006/main">
  <p:tag name="THINKCELLSHAPEDONOTDELETE" val="t.McnAKRPBe2fXGer4BX8kA"/>
</p:tagLst>
</file>

<file path=ppt/tags/tag353.xml><?xml version="1.0" encoding="utf-8"?>
<p:tagLst xmlns:a="http://schemas.openxmlformats.org/drawingml/2006/main" xmlns:r="http://schemas.openxmlformats.org/officeDocument/2006/relationships" xmlns:p="http://schemas.openxmlformats.org/presentationml/2006/main">
  <p:tag name="THINKCELLSHAPEDONOTDELETE" val="tCFd9uI0l.0fXv7oqP1UxDQ"/>
</p:tagLst>
</file>

<file path=ppt/tags/tag354.xml><?xml version="1.0" encoding="utf-8"?>
<p:tagLst xmlns:a="http://schemas.openxmlformats.org/drawingml/2006/main" xmlns:r="http://schemas.openxmlformats.org/officeDocument/2006/relationships" xmlns:p="http://schemas.openxmlformats.org/presentationml/2006/main">
  <p:tag name="THINKCELLSHAPEDONOTDELETE" val="teUCAZmXR6eIZQcfWr_YOOg"/>
</p:tagLst>
</file>

<file path=ppt/tags/tag355.xml><?xml version="1.0" encoding="utf-8"?>
<p:tagLst xmlns:a="http://schemas.openxmlformats.org/drawingml/2006/main" xmlns:r="http://schemas.openxmlformats.org/officeDocument/2006/relationships" xmlns:p="http://schemas.openxmlformats.org/presentationml/2006/main">
  <p:tag name="THINKCELLSHAPEDONOTDELETE" val="tLVpC6gjZ0k4zapzVGXeO9A"/>
</p:tagLst>
</file>

<file path=ppt/tags/tag356.xml><?xml version="1.0" encoding="utf-8"?>
<p:tagLst xmlns:a="http://schemas.openxmlformats.org/drawingml/2006/main" xmlns:r="http://schemas.openxmlformats.org/officeDocument/2006/relationships" xmlns:p="http://schemas.openxmlformats.org/presentationml/2006/main">
  <p:tag name="THINKCELLSHAPEDONOTDELETE" val="tDSzevDxwww4rr1n3JnHHdg"/>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t3UdZjcisrrztjRggKXfCog"/>
</p:tagLst>
</file>

<file path=ppt/tags/tag358.xml><?xml version="1.0" encoding="utf-8"?>
<p:tagLst xmlns:a="http://schemas.openxmlformats.org/drawingml/2006/main" xmlns:r="http://schemas.openxmlformats.org/officeDocument/2006/relationships" xmlns:p="http://schemas.openxmlformats.org/presentationml/2006/main">
  <p:tag name="THINKCELLSHAPEDONOTDELETE" val="t_uM24dbPgWeMDkwN4pV7iA"/>
</p:tagLst>
</file>

<file path=ppt/tags/tag359.xml><?xml version="1.0" encoding="utf-8"?>
<p:tagLst xmlns:a="http://schemas.openxmlformats.org/drawingml/2006/main" xmlns:r="http://schemas.openxmlformats.org/officeDocument/2006/relationships" xmlns:p="http://schemas.openxmlformats.org/presentationml/2006/main">
  <p:tag name="THINKCELLSHAPEDONOTDELETE" val="th.LA45doPYWZlkrVlju2iQ"/>
</p:tagLst>
</file>

<file path=ppt/tags/tag360.xml><?xml version="1.0" encoding="utf-8"?>
<p:tagLst xmlns:a="http://schemas.openxmlformats.org/drawingml/2006/main" xmlns:r="http://schemas.openxmlformats.org/officeDocument/2006/relationships" xmlns:p="http://schemas.openxmlformats.org/presentationml/2006/main">
  <p:tag name="THINKCELLSHAPEDONOTDELETE" val="tW2G1GannI_cruJYJFIc5JA"/>
</p:tagLst>
</file>

<file path=ppt/tags/tag361.xml><?xml version="1.0" encoding="utf-8"?>
<p:tagLst xmlns:a="http://schemas.openxmlformats.org/drawingml/2006/main" xmlns:r="http://schemas.openxmlformats.org/officeDocument/2006/relationships" xmlns:p="http://schemas.openxmlformats.org/presentationml/2006/main">
  <p:tag name="THINKCELLSHAPEDONOTDELETE" val="trWfhEseJgjadSt1ZTnEsAA"/>
</p:tagLst>
</file>

<file path=ppt/tags/tag362.xml><?xml version="1.0" encoding="utf-8"?>
<p:tagLst xmlns:a="http://schemas.openxmlformats.org/drawingml/2006/main" xmlns:r="http://schemas.openxmlformats.org/officeDocument/2006/relationships" xmlns:p="http://schemas.openxmlformats.org/presentationml/2006/main">
  <p:tag name="THINKCELLSHAPEDONOTDELETE" val="tX3YZ0M9WlDx6FoCESVC67Q"/>
</p:tagLst>
</file>

<file path=ppt/tags/tag363.xml><?xml version="1.0" encoding="utf-8"?>
<p:tagLst xmlns:a="http://schemas.openxmlformats.org/drawingml/2006/main" xmlns:r="http://schemas.openxmlformats.org/officeDocument/2006/relationships" xmlns:p="http://schemas.openxmlformats.org/presentationml/2006/main">
  <p:tag name="THINKCELLSHAPEDONOTDELETE" val="tk5X24GYZoqZGI7L48Cc6tw"/>
</p:tagLst>
</file>

<file path=ppt/tags/tag364.xml><?xml version="1.0" encoding="utf-8"?>
<p:tagLst xmlns:a="http://schemas.openxmlformats.org/drawingml/2006/main" xmlns:r="http://schemas.openxmlformats.org/officeDocument/2006/relationships" xmlns:p="http://schemas.openxmlformats.org/presentationml/2006/main">
  <p:tag name="THINKCELLSHAPEDONOTDELETE" val="tumd3AxOTO.ZbD2tiFJ.iKA"/>
</p:tagLst>
</file>

<file path=ppt/tags/tag365.xml><?xml version="1.0" encoding="utf-8"?>
<p:tagLst xmlns:a="http://schemas.openxmlformats.org/drawingml/2006/main" xmlns:r="http://schemas.openxmlformats.org/officeDocument/2006/relationships" xmlns:p="http://schemas.openxmlformats.org/presentationml/2006/main">
  <p:tag name="THINKCELLSHAPEDONOTDELETE" val="t4LL_cXeJZYTUQjh5vL5EnQ"/>
</p:tagLst>
</file>

<file path=ppt/tags/tag366.xml><?xml version="1.0" encoding="utf-8"?>
<p:tagLst xmlns:a="http://schemas.openxmlformats.org/drawingml/2006/main" xmlns:r="http://schemas.openxmlformats.org/officeDocument/2006/relationships" xmlns:p="http://schemas.openxmlformats.org/presentationml/2006/main">
  <p:tag name="THINKCELLSHAPEDONOTDELETE" val="tuqNxzQIkpluXS9rkjEsv5w"/>
</p:tagLst>
</file>

<file path=ppt/tags/tag367.xml><?xml version="1.0" encoding="utf-8"?>
<p:tagLst xmlns:a="http://schemas.openxmlformats.org/drawingml/2006/main" xmlns:r="http://schemas.openxmlformats.org/officeDocument/2006/relationships" xmlns:p="http://schemas.openxmlformats.org/presentationml/2006/main">
  <p:tag name="THINKCELLSHAPEDONOTDELETE" val="tlj5ZCm8kpJFdDo5EGMiAZw"/>
</p:tagLst>
</file>

<file path=ppt/tags/tag368.xml><?xml version="1.0" encoding="utf-8"?>
<p:tagLst xmlns:a="http://schemas.openxmlformats.org/drawingml/2006/main" xmlns:r="http://schemas.openxmlformats.org/officeDocument/2006/relationships" xmlns:p="http://schemas.openxmlformats.org/presentationml/2006/main">
  <p:tag name="THINKCELLSHAPEDONOTDELETE" val="tftK3Im365iDPMPmyv6sAOg"/>
</p:tagLst>
</file>

<file path=ppt/tags/tag369.xml><?xml version="1.0" encoding="utf-8"?>
<p:tagLst xmlns:a="http://schemas.openxmlformats.org/drawingml/2006/main" xmlns:r="http://schemas.openxmlformats.org/officeDocument/2006/relationships" xmlns:p="http://schemas.openxmlformats.org/presentationml/2006/main">
  <p:tag name="THINKCELLSHAPEDONOTDELETE" val="thd6C8R8NiEfkT3iXTe5lgQ"/>
</p:tagLst>
</file>

<file path=ppt/tags/tag370.xml><?xml version="1.0" encoding="utf-8"?>
<p:tagLst xmlns:a="http://schemas.openxmlformats.org/drawingml/2006/main" xmlns:r="http://schemas.openxmlformats.org/officeDocument/2006/relationships" xmlns:p="http://schemas.openxmlformats.org/presentationml/2006/main">
  <p:tag name="THINKCELLSHAPEDONOTDELETE" val="taAno4b1OvB5QUuyXidYo8Q"/>
</p:tagLst>
</file>

<file path=ppt/tags/tag371.xml><?xml version="1.0" encoding="utf-8"?>
<p:tagLst xmlns:a="http://schemas.openxmlformats.org/drawingml/2006/main" xmlns:r="http://schemas.openxmlformats.org/officeDocument/2006/relationships" xmlns:p="http://schemas.openxmlformats.org/presentationml/2006/main">
  <p:tag name="THINKCELLSHAPEDONOTDELETE" val="tCt5jAollVL4d.WjTYZ21VQ"/>
</p:tagLst>
</file>

<file path=ppt/tags/tag372.xml><?xml version="1.0" encoding="utf-8"?>
<p:tagLst xmlns:a="http://schemas.openxmlformats.org/drawingml/2006/main" xmlns:r="http://schemas.openxmlformats.org/officeDocument/2006/relationships" xmlns:p="http://schemas.openxmlformats.org/presentationml/2006/main">
  <p:tag name="THINKCELLSHAPEDONOTDELETE" val="t4LC1jLS5Xr6Es_5.E9V5jg"/>
</p:tagLst>
</file>

<file path=ppt/tags/tag373.xml><?xml version="1.0" encoding="utf-8"?>
<p:tagLst xmlns:a="http://schemas.openxmlformats.org/drawingml/2006/main" xmlns:r="http://schemas.openxmlformats.org/officeDocument/2006/relationships" xmlns:p="http://schemas.openxmlformats.org/presentationml/2006/main">
  <p:tag name="THINKCELLSHAPEDONOTDELETE" val="tapRpiijoSDz7j8nGCLV2fw"/>
</p:tagLst>
</file>

<file path=ppt/tags/tag374.xml><?xml version="1.0" encoding="utf-8"?>
<p:tagLst xmlns:a="http://schemas.openxmlformats.org/drawingml/2006/main" xmlns:r="http://schemas.openxmlformats.org/officeDocument/2006/relationships" xmlns:p="http://schemas.openxmlformats.org/presentationml/2006/main">
  <p:tag name="THINKCELLSHAPEDONOTDELETE" val="toOakpsuNhrH9Hh8hw_j5mA"/>
</p:tagLst>
</file>

<file path=ppt/tags/tag375.xml><?xml version="1.0" encoding="utf-8"?>
<p:tagLst xmlns:a="http://schemas.openxmlformats.org/drawingml/2006/main" xmlns:r="http://schemas.openxmlformats.org/officeDocument/2006/relationships" xmlns:p="http://schemas.openxmlformats.org/presentationml/2006/main">
  <p:tag name="THINKCELLSHAPEDONOTDELETE" val="tgecheGM10mOFzuCXbwXqRQ"/>
</p:tagLst>
</file>

<file path=ppt/tags/tag376.xml><?xml version="1.0" encoding="utf-8"?>
<p:tagLst xmlns:a="http://schemas.openxmlformats.org/drawingml/2006/main" xmlns:r="http://schemas.openxmlformats.org/officeDocument/2006/relationships" xmlns:p="http://schemas.openxmlformats.org/presentationml/2006/main">
  <p:tag name="THINKCELLSHAPEDONOTDELETE" val="tYp7bAgO1AVGo51DJlfAAAQ"/>
</p:tagLst>
</file>

<file path=ppt/tags/tag377.xml><?xml version="1.0" encoding="utf-8"?>
<p:tagLst xmlns:a="http://schemas.openxmlformats.org/drawingml/2006/main" xmlns:r="http://schemas.openxmlformats.org/officeDocument/2006/relationships" xmlns:p="http://schemas.openxmlformats.org/presentationml/2006/main">
  <p:tag name="THINKCELLSHAPEDONOTDELETE" val="tY0prFn6En_jI1xfulH6EXw"/>
</p:tagLst>
</file>

<file path=ppt/tags/tag378.xml><?xml version="1.0" encoding="utf-8"?>
<p:tagLst xmlns:a="http://schemas.openxmlformats.org/drawingml/2006/main" xmlns:r="http://schemas.openxmlformats.org/officeDocument/2006/relationships" xmlns:p="http://schemas.openxmlformats.org/presentationml/2006/main">
  <p:tag name="THINKCELLSHAPEDONOTDELETE" val="t8AQCv9rGxfZ4Xew1ld.CGg"/>
</p:tagLst>
</file>

<file path=ppt/tags/tag379.xml><?xml version="1.0" encoding="utf-8"?>
<p:tagLst xmlns:a="http://schemas.openxmlformats.org/drawingml/2006/main" xmlns:r="http://schemas.openxmlformats.org/officeDocument/2006/relationships" xmlns:p="http://schemas.openxmlformats.org/presentationml/2006/main">
  <p:tag name="THINKCELLSHAPEDONOTDELETE" val="tpGyLieWZjuR2lZbSdo7FJA"/>
</p:tagLst>
</file>

<file path=ppt/tags/tag380.xml><?xml version="1.0" encoding="utf-8"?>
<p:tagLst xmlns:a="http://schemas.openxmlformats.org/drawingml/2006/main" xmlns:r="http://schemas.openxmlformats.org/officeDocument/2006/relationships" xmlns:p="http://schemas.openxmlformats.org/presentationml/2006/main">
  <p:tag name="THINKCELLSHAPEDONOTDELETE" val="txW74fxD1HWsTLnnZawBIGg"/>
</p:tagLst>
</file>

<file path=ppt/tags/tag381.xml><?xml version="1.0" encoding="utf-8"?>
<p:tagLst xmlns:a="http://schemas.openxmlformats.org/drawingml/2006/main" xmlns:r="http://schemas.openxmlformats.org/officeDocument/2006/relationships" xmlns:p="http://schemas.openxmlformats.org/presentationml/2006/main">
  <p:tag name="THINKCELLSHAPEDONOTDELETE" val="pvaAqa6vQ94VAKOov4rSX7g"/>
</p:tagLst>
</file>

<file path=ppt/tags/tag382.xml><?xml version="1.0" encoding="utf-8"?>
<p:tagLst xmlns:a="http://schemas.openxmlformats.org/drawingml/2006/main" xmlns:r="http://schemas.openxmlformats.org/officeDocument/2006/relationships" xmlns:p="http://schemas.openxmlformats.org/presentationml/2006/main">
  <p:tag name="THINKCELLSHAPEDONOTDELETE" val="pSsJ8LPLFS2x2HKoRhv4ydA"/>
</p:tagLst>
</file>

<file path=ppt/tags/tag383.xml><?xml version="1.0" encoding="utf-8"?>
<p:tagLst xmlns:a="http://schemas.openxmlformats.org/drawingml/2006/main" xmlns:r="http://schemas.openxmlformats.org/officeDocument/2006/relationships" xmlns:p="http://schemas.openxmlformats.org/presentationml/2006/main">
  <p:tag name="THINKCELLSHAPEDONOTDELETE" val="teUCAZmXR6eIZQcfWr_YOOg"/>
</p:tagLst>
</file>

<file path=ppt/tags/tag384.xml><?xml version="1.0" encoding="utf-8"?>
<p:tagLst xmlns:a="http://schemas.openxmlformats.org/drawingml/2006/main" xmlns:r="http://schemas.openxmlformats.org/officeDocument/2006/relationships" xmlns:p="http://schemas.openxmlformats.org/presentationml/2006/main">
  <p:tag name="THINKCELLSHAPEDONOTDELETE" val="tLVpC6gjZ0k4zapzVGXeO9A"/>
</p:tagLst>
</file>

<file path=ppt/tags/tag3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6.xml><?xml version="1.0" encoding="utf-8"?>
<p:tagLst xmlns:a="http://schemas.openxmlformats.org/drawingml/2006/main" xmlns:r="http://schemas.openxmlformats.org/officeDocument/2006/relationships" xmlns:p="http://schemas.openxmlformats.org/presentationml/2006/main">
  <p:tag name="THINKCELLSHAPEDONOTDELETE" val="tgQirPzcj3fEjaierUFLK7g"/>
</p:tagLst>
</file>

<file path=ppt/tags/tag387.xml><?xml version="1.0" encoding="utf-8"?>
<p:tagLst xmlns:a="http://schemas.openxmlformats.org/drawingml/2006/main" xmlns:r="http://schemas.openxmlformats.org/officeDocument/2006/relationships" xmlns:p="http://schemas.openxmlformats.org/presentationml/2006/main">
  <p:tag name="THINKCELLSHAPEDONOTDELETE" val="t3XJe8v3UTgV_pT15QpX5Uw"/>
</p:tagLst>
</file>

<file path=ppt/tags/tag388.xml><?xml version="1.0" encoding="utf-8"?>
<p:tagLst xmlns:a="http://schemas.openxmlformats.org/drawingml/2006/main" xmlns:r="http://schemas.openxmlformats.org/officeDocument/2006/relationships" xmlns:p="http://schemas.openxmlformats.org/presentationml/2006/main">
  <p:tag name="THINKCELLSHAPEDONOTDELETE" val="tomy.ocJXvk_Om8a0ZtR.2Q"/>
</p:tagLst>
</file>

<file path=ppt/tags/tag389.xml><?xml version="1.0" encoding="utf-8"?>
<p:tagLst xmlns:a="http://schemas.openxmlformats.org/drawingml/2006/main" xmlns:r="http://schemas.openxmlformats.org/officeDocument/2006/relationships" xmlns:p="http://schemas.openxmlformats.org/presentationml/2006/main">
  <p:tag name="THINKCELLSHAPEDONOTDELETE" val="tomy.ocJXvk_Om8a0ZtR.2Q"/>
</p:tagLst>
</file>

<file path=ppt/tags/tag390.xml><?xml version="1.0" encoding="utf-8"?>
<p:tagLst xmlns:a="http://schemas.openxmlformats.org/drawingml/2006/main" xmlns:r="http://schemas.openxmlformats.org/officeDocument/2006/relationships" xmlns:p="http://schemas.openxmlformats.org/presentationml/2006/main">
  <p:tag name="THINKCELLSHAPEDONOTDELETE" val="t3XJe8v3UTgV_pT15QpX5Uw"/>
</p:tagLst>
</file>

<file path=ppt/tags/tag391.xml><?xml version="1.0" encoding="utf-8"?>
<p:tagLst xmlns:a="http://schemas.openxmlformats.org/drawingml/2006/main" xmlns:r="http://schemas.openxmlformats.org/officeDocument/2006/relationships" xmlns:p="http://schemas.openxmlformats.org/presentationml/2006/main">
  <p:tag name="THINKCELLSHAPEDONOTDELETE" val="t3XJe8v3UTgV_pT15QpX5Uw"/>
</p:tagLst>
</file>

<file path=ppt/tags/tag3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3.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394.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395.xml><?xml version="1.0" encoding="utf-8"?>
<p:tagLst xmlns:a="http://schemas.openxmlformats.org/drawingml/2006/main" xmlns:r="http://schemas.openxmlformats.org/officeDocument/2006/relationships" xmlns:p="http://schemas.openxmlformats.org/presentationml/2006/main">
  <p:tag name="THINKCELLSHAPEDONOTDELETE" val="pIXF7tAqgUizTxzEsfPysVw"/>
</p:tagLst>
</file>

<file path=ppt/tags/tag3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7.xml><?xml version="1.0" encoding="utf-8"?>
<p:tagLst xmlns:a="http://schemas.openxmlformats.org/drawingml/2006/main" xmlns:r="http://schemas.openxmlformats.org/officeDocument/2006/relationships" xmlns:p="http://schemas.openxmlformats.org/presentationml/2006/main">
  <p:tag name="THINKCELLSHAPEDONOTDELETE" val="pIXF7tAqgUizTxzEsfPysVw"/>
</p:tagLst>
</file>

<file path=ppt/tags/tag398.xml><?xml version="1.0" encoding="utf-8"?>
<p:tagLst xmlns:a="http://schemas.openxmlformats.org/drawingml/2006/main" xmlns:r="http://schemas.openxmlformats.org/officeDocument/2006/relationships" xmlns:p="http://schemas.openxmlformats.org/presentationml/2006/main">
  <p:tag name="THINKCELLSHAPEDONOTDELETE" val="pIXF7tAqgUizTxzEsfPysVw"/>
</p:tagLst>
</file>

<file path=ppt/tags/tag399.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00.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01.xml><?xml version="1.0" encoding="utf-8"?>
<p:tagLst xmlns:a="http://schemas.openxmlformats.org/drawingml/2006/main" xmlns:r="http://schemas.openxmlformats.org/officeDocument/2006/relationships" xmlns:p="http://schemas.openxmlformats.org/presentationml/2006/main">
  <p:tag name="THINKCELLSHAPEDONOTDELETE" val="tXP6rNBaZ.0SokkE8DcYDbw"/>
</p:tagLst>
</file>

<file path=ppt/tags/tag402.xml><?xml version="1.0" encoding="utf-8"?>
<p:tagLst xmlns:a="http://schemas.openxmlformats.org/drawingml/2006/main" xmlns:r="http://schemas.openxmlformats.org/officeDocument/2006/relationships" xmlns:p="http://schemas.openxmlformats.org/presentationml/2006/main">
  <p:tag name="THINKCELLSHAPEDONOTDELETE" val="tXP6rNBaZ.0SokkE8DcYDbw"/>
</p:tagLst>
</file>

<file path=ppt/tags/tag403.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04.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05.xml><?xml version="1.0" encoding="utf-8"?>
<p:tagLst xmlns:a="http://schemas.openxmlformats.org/drawingml/2006/main" xmlns:r="http://schemas.openxmlformats.org/officeDocument/2006/relationships" xmlns:p="http://schemas.openxmlformats.org/presentationml/2006/main">
  <p:tag name="THINKCELLSHAPEDONOTDELETE" val="tXP6rNBaZ.0SokkE8DcYDbw"/>
</p:tagLst>
</file>

<file path=ppt/tags/tag406.xml><?xml version="1.0" encoding="utf-8"?>
<p:tagLst xmlns:a="http://schemas.openxmlformats.org/drawingml/2006/main" xmlns:r="http://schemas.openxmlformats.org/officeDocument/2006/relationships" xmlns:p="http://schemas.openxmlformats.org/presentationml/2006/main">
  <p:tag name="THINKCELLSHAPEDONOTDELETE" val="tXP6rNBaZ.0SokkE8DcYDbw"/>
</p:tagLst>
</file>

<file path=ppt/tags/tag407.xml><?xml version="1.0" encoding="utf-8"?>
<p:tagLst xmlns:a="http://schemas.openxmlformats.org/drawingml/2006/main" xmlns:r="http://schemas.openxmlformats.org/officeDocument/2006/relationships" xmlns:p="http://schemas.openxmlformats.org/presentationml/2006/main">
  <p:tag name="THINKCELLSHAPEDONOTDELETE" val="pngOy4g_4Sc5nTv6uNBDP0A"/>
</p:tagLst>
</file>

<file path=ppt/tags/tag408.xml><?xml version="1.0" encoding="utf-8"?>
<p:tagLst xmlns:a="http://schemas.openxmlformats.org/drawingml/2006/main" xmlns:r="http://schemas.openxmlformats.org/officeDocument/2006/relationships" xmlns:p="http://schemas.openxmlformats.org/presentationml/2006/main">
  <p:tag name="THINKCELLSHAPEDONOTDELETE" val="tnrylFaEn5BKsXrbLUKtUBA"/>
</p:tagLst>
</file>

<file path=ppt/tags/tag409.xml><?xml version="1.0" encoding="utf-8"?>
<p:tagLst xmlns:a="http://schemas.openxmlformats.org/drawingml/2006/main" xmlns:r="http://schemas.openxmlformats.org/officeDocument/2006/relationships" xmlns:p="http://schemas.openxmlformats.org/presentationml/2006/main">
  <p:tag name="THINKCELLSHAPEDONOTDELETE" val="tD_zEOBQnaeFtpr1PDWNw5w"/>
</p:tagLst>
</file>

<file path=ppt/tags/tag410.xml><?xml version="1.0" encoding="utf-8"?>
<p:tagLst xmlns:a="http://schemas.openxmlformats.org/drawingml/2006/main" xmlns:r="http://schemas.openxmlformats.org/officeDocument/2006/relationships" xmlns:p="http://schemas.openxmlformats.org/presentationml/2006/main">
  <p:tag name="THINKCELLSHAPEDONOTDELETE" val="thIE8xSEpMn7.HgqRVNg8FQ"/>
</p:tagLst>
</file>

<file path=ppt/tags/tag411.xml><?xml version="1.0" encoding="utf-8"?>
<p:tagLst xmlns:a="http://schemas.openxmlformats.org/drawingml/2006/main" xmlns:r="http://schemas.openxmlformats.org/officeDocument/2006/relationships" xmlns:p="http://schemas.openxmlformats.org/presentationml/2006/main">
  <p:tag name="THINKCELLSHAPEDONOTDELETE" val="twpFO71F58PafubwFzLCIkg"/>
</p:tagLst>
</file>

<file path=ppt/tags/tag412.xml><?xml version="1.0" encoding="utf-8"?>
<p:tagLst xmlns:a="http://schemas.openxmlformats.org/drawingml/2006/main" xmlns:r="http://schemas.openxmlformats.org/officeDocument/2006/relationships" xmlns:p="http://schemas.openxmlformats.org/presentationml/2006/main">
  <p:tag name="THINKCELLSHAPEDONOTDELETE" val="tD_zEOBQnaeFtpr1PDWNw5w"/>
</p:tagLst>
</file>

<file path=ppt/tags/tag413.xml><?xml version="1.0" encoding="utf-8"?>
<p:tagLst xmlns:a="http://schemas.openxmlformats.org/drawingml/2006/main" xmlns:r="http://schemas.openxmlformats.org/officeDocument/2006/relationships" xmlns:p="http://schemas.openxmlformats.org/presentationml/2006/main">
  <p:tag name="THINKCELLSHAPEDONOTDELETE" val="thIE8xSEpMn7.HgqRVNg8FQ"/>
</p:tagLst>
</file>

<file path=ppt/tags/tag414.xml><?xml version="1.0" encoding="utf-8"?>
<p:tagLst xmlns:a="http://schemas.openxmlformats.org/drawingml/2006/main" xmlns:r="http://schemas.openxmlformats.org/officeDocument/2006/relationships" xmlns:p="http://schemas.openxmlformats.org/presentationml/2006/main">
  <p:tag name="THINKCELLSHAPEDONOTDELETE" val="tD_zEOBQnaeFtpr1PDWNw5w"/>
</p:tagLst>
</file>

<file path=ppt/tags/tag415.xml><?xml version="1.0" encoding="utf-8"?>
<p:tagLst xmlns:a="http://schemas.openxmlformats.org/drawingml/2006/main" xmlns:r="http://schemas.openxmlformats.org/officeDocument/2006/relationships" xmlns:p="http://schemas.openxmlformats.org/presentationml/2006/main">
  <p:tag name="THINKCELLSHAPEDONOTDELETE" val="thIE8xSEpMn7.HgqRVNg8FQ"/>
</p:tagLst>
</file>

<file path=ppt/tags/tag4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8.xml><?xml version="1.0" encoding="utf-8"?>
<p:tagLst xmlns:a="http://schemas.openxmlformats.org/drawingml/2006/main" xmlns:r="http://schemas.openxmlformats.org/officeDocument/2006/relationships" xmlns:p="http://schemas.openxmlformats.org/presentationml/2006/main">
  <p:tag name="THINKCELLSHAPEDONOTDELETE" val="t4W.NnM7eBkFm0lA5AFGiWg"/>
</p:tagLst>
</file>

<file path=ppt/tags/tag419.xml><?xml version="1.0" encoding="utf-8"?>
<p:tagLst xmlns:a="http://schemas.openxmlformats.org/drawingml/2006/main" xmlns:r="http://schemas.openxmlformats.org/officeDocument/2006/relationships" xmlns:p="http://schemas.openxmlformats.org/presentationml/2006/main">
  <p:tag name="THINKCELLSHAPEDONOTDELETE" val="tAG0rVNDpLjlKYPziZhDmLA"/>
</p:tagLst>
</file>

<file path=ppt/tags/tag4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0.xml><?xml version="1.0" encoding="utf-8"?>
<p:tagLst xmlns:a="http://schemas.openxmlformats.org/drawingml/2006/main" xmlns:r="http://schemas.openxmlformats.org/officeDocument/2006/relationships" xmlns:p="http://schemas.openxmlformats.org/presentationml/2006/main">
  <p:tag name="THINKCELLSHAPEDONOTDELETE" val="t4W.NnM7eBkFm0lA5AFGiWg"/>
</p:tagLst>
</file>

<file path=ppt/tags/tag4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4.xml><?xml version="1.0" encoding="utf-8"?>
<p:tagLst xmlns:a="http://schemas.openxmlformats.org/drawingml/2006/main" xmlns:r="http://schemas.openxmlformats.org/officeDocument/2006/relationships" xmlns:p="http://schemas.openxmlformats.org/presentationml/2006/main">
  <p:tag name="THINKCELLSHAPEDONOTDELETE" val="tsQG2P9Wyk4B8zS4XUhrHOA"/>
</p:tagLst>
</file>

<file path=ppt/tags/tag435.xml><?xml version="1.0" encoding="utf-8"?>
<p:tagLst xmlns:a="http://schemas.openxmlformats.org/drawingml/2006/main" xmlns:r="http://schemas.openxmlformats.org/officeDocument/2006/relationships" xmlns:p="http://schemas.openxmlformats.org/presentationml/2006/main">
  <p:tag name="THINKCELLSHAPEDONOTDELETE" val="tn0xN8M1QRnh4nf9mCP2PVg"/>
</p:tagLst>
</file>

<file path=ppt/tags/tag436.xml><?xml version="1.0" encoding="utf-8"?>
<p:tagLst xmlns:a="http://schemas.openxmlformats.org/drawingml/2006/main" xmlns:r="http://schemas.openxmlformats.org/officeDocument/2006/relationships" xmlns:p="http://schemas.openxmlformats.org/presentationml/2006/main">
  <p:tag name="THINKCELLSHAPEDONOTDELETE" val="tf4H6fbZxFo4y7FWN8W0Mqw"/>
</p:tagLst>
</file>

<file path=ppt/tags/tag437.xml><?xml version="1.0" encoding="utf-8"?>
<p:tagLst xmlns:a="http://schemas.openxmlformats.org/drawingml/2006/main" xmlns:r="http://schemas.openxmlformats.org/officeDocument/2006/relationships" xmlns:p="http://schemas.openxmlformats.org/presentationml/2006/main">
  <p:tag name="THINKCELLSHAPEDONOTDELETE" val="t.McnAKRPBe2fXGer4BX8kA"/>
</p:tagLst>
</file>

<file path=ppt/tags/tag438.xml><?xml version="1.0" encoding="utf-8"?>
<p:tagLst xmlns:a="http://schemas.openxmlformats.org/drawingml/2006/main" xmlns:r="http://schemas.openxmlformats.org/officeDocument/2006/relationships" xmlns:p="http://schemas.openxmlformats.org/presentationml/2006/main">
  <p:tag name="THINKCELLSHAPEDONOTDELETE" val="tCFd9uI0l.0fXv7oqP1UxDQ"/>
</p:tagLst>
</file>

<file path=ppt/tags/tag439.xml><?xml version="1.0" encoding="utf-8"?>
<p:tagLst xmlns:a="http://schemas.openxmlformats.org/drawingml/2006/main" xmlns:r="http://schemas.openxmlformats.org/officeDocument/2006/relationships" xmlns:p="http://schemas.openxmlformats.org/presentationml/2006/main">
  <p:tag name="THINKCELLSHAPEDONOTDELETE" val="teUCAZmXR6eIZQcfWr_YOOg"/>
</p:tagLst>
</file>

<file path=ppt/tags/tag440.xml><?xml version="1.0" encoding="utf-8"?>
<p:tagLst xmlns:a="http://schemas.openxmlformats.org/drawingml/2006/main" xmlns:r="http://schemas.openxmlformats.org/officeDocument/2006/relationships" xmlns:p="http://schemas.openxmlformats.org/presentationml/2006/main">
  <p:tag name="THINKCELLSHAPEDONOTDELETE" val="tLVpC6gjZ0k4zapzVGXeO9A"/>
</p:tagLst>
</file>

<file path=ppt/tags/tag441.xml><?xml version="1.0" encoding="utf-8"?>
<p:tagLst xmlns:a="http://schemas.openxmlformats.org/drawingml/2006/main" xmlns:r="http://schemas.openxmlformats.org/officeDocument/2006/relationships" xmlns:p="http://schemas.openxmlformats.org/presentationml/2006/main">
  <p:tag name="THINKCELLSHAPEDONOTDELETE" val="tDSzevDxwww4rr1n3JnHHdg"/>
</p:tagLst>
</file>

<file path=ppt/tags/tag442.xml><?xml version="1.0" encoding="utf-8"?>
<p:tagLst xmlns:a="http://schemas.openxmlformats.org/drawingml/2006/main" xmlns:r="http://schemas.openxmlformats.org/officeDocument/2006/relationships" xmlns:p="http://schemas.openxmlformats.org/presentationml/2006/main">
  <p:tag name="THINKCELLSHAPEDONOTDELETE" val="t3UdZjcisrrztjRggKXfCog"/>
</p:tagLst>
</file>

<file path=ppt/tags/tag443.xml><?xml version="1.0" encoding="utf-8"?>
<p:tagLst xmlns:a="http://schemas.openxmlformats.org/drawingml/2006/main" xmlns:r="http://schemas.openxmlformats.org/officeDocument/2006/relationships" xmlns:p="http://schemas.openxmlformats.org/presentationml/2006/main">
  <p:tag name="THINKCELLSHAPEDONOTDELETE" val="t_uM24dbPgWeMDkwN4pV7iA"/>
</p:tagLst>
</file>

<file path=ppt/tags/tag444.xml><?xml version="1.0" encoding="utf-8"?>
<p:tagLst xmlns:a="http://schemas.openxmlformats.org/drawingml/2006/main" xmlns:r="http://schemas.openxmlformats.org/officeDocument/2006/relationships" xmlns:p="http://schemas.openxmlformats.org/presentationml/2006/main">
  <p:tag name="THINKCELLSHAPEDONOTDELETE" val="teUCAZmXR6eIZQcfWr_YOOg"/>
</p:tagLst>
</file>

<file path=ppt/tags/tag445.xml><?xml version="1.0" encoding="utf-8"?>
<p:tagLst xmlns:a="http://schemas.openxmlformats.org/drawingml/2006/main" xmlns:r="http://schemas.openxmlformats.org/officeDocument/2006/relationships" xmlns:p="http://schemas.openxmlformats.org/presentationml/2006/main">
  <p:tag name="THINKCELLSHAPEDONOTDELETE" val="tLVpC6gjZ0k4zapzVGXeO9A"/>
</p:tagLst>
</file>

<file path=ppt/tags/tag446.xml><?xml version="1.0" encoding="utf-8"?>
<p:tagLst xmlns:a="http://schemas.openxmlformats.org/drawingml/2006/main" xmlns:r="http://schemas.openxmlformats.org/officeDocument/2006/relationships" xmlns:p="http://schemas.openxmlformats.org/presentationml/2006/main">
  <p:tag name="THINKCELLSHAPEDONOTDELETE" val="th.LA45doPYWZlkrVlju2iQ"/>
</p:tagLst>
</file>

<file path=ppt/tags/tag447.xml><?xml version="1.0" encoding="utf-8"?>
<p:tagLst xmlns:a="http://schemas.openxmlformats.org/drawingml/2006/main" xmlns:r="http://schemas.openxmlformats.org/officeDocument/2006/relationships" xmlns:p="http://schemas.openxmlformats.org/presentationml/2006/main">
  <p:tag name="THINKCELLSHAPEDONOTDELETE" val="tW2G1GannI_cruJYJFIc5JA"/>
</p:tagLst>
</file>

<file path=ppt/tags/tag448.xml><?xml version="1.0" encoding="utf-8"?>
<p:tagLst xmlns:a="http://schemas.openxmlformats.org/drawingml/2006/main" xmlns:r="http://schemas.openxmlformats.org/officeDocument/2006/relationships" xmlns:p="http://schemas.openxmlformats.org/presentationml/2006/main">
  <p:tag name="THINKCELLSHAPEDONOTDELETE" val="trWfhEseJgjadSt1ZTnEsAA"/>
</p:tagLst>
</file>

<file path=ppt/tags/tag449.xml><?xml version="1.0" encoding="utf-8"?>
<p:tagLst xmlns:a="http://schemas.openxmlformats.org/drawingml/2006/main" xmlns:r="http://schemas.openxmlformats.org/officeDocument/2006/relationships" xmlns:p="http://schemas.openxmlformats.org/presentationml/2006/main">
  <p:tag name="THINKCELLSHAPEDONOTDELETE" val="tX3YZ0M9WlDx6FoCESVC67Q"/>
</p:tagLst>
</file>

<file path=ppt/tags/tag450.xml><?xml version="1.0" encoding="utf-8"?>
<p:tagLst xmlns:a="http://schemas.openxmlformats.org/drawingml/2006/main" xmlns:r="http://schemas.openxmlformats.org/officeDocument/2006/relationships" xmlns:p="http://schemas.openxmlformats.org/presentationml/2006/main">
  <p:tag name="THINKCELLSHAPEDONOTDELETE" val="tk5X24GYZoqZGI7L48Cc6tw"/>
</p:tagLst>
</file>

<file path=ppt/tags/tag451.xml><?xml version="1.0" encoding="utf-8"?>
<p:tagLst xmlns:a="http://schemas.openxmlformats.org/drawingml/2006/main" xmlns:r="http://schemas.openxmlformats.org/officeDocument/2006/relationships" xmlns:p="http://schemas.openxmlformats.org/presentationml/2006/main">
  <p:tag name="THINKCELLSHAPEDONOTDELETE" val="tumd3AxOTO.ZbD2tiFJ.iKA"/>
</p:tagLst>
</file>

<file path=ppt/tags/tag452.xml><?xml version="1.0" encoding="utf-8"?>
<p:tagLst xmlns:a="http://schemas.openxmlformats.org/drawingml/2006/main" xmlns:r="http://schemas.openxmlformats.org/officeDocument/2006/relationships" xmlns:p="http://schemas.openxmlformats.org/presentationml/2006/main">
  <p:tag name="THINKCELLSHAPEDONOTDELETE" val="t4LL_cXeJZYTUQjh5vL5EnQ"/>
</p:tagLst>
</file>

<file path=ppt/tags/tag453.xml><?xml version="1.0" encoding="utf-8"?>
<p:tagLst xmlns:a="http://schemas.openxmlformats.org/drawingml/2006/main" xmlns:r="http://schemas.openxmlformats.org/officeDocument/2006/relationships" xmlns:p="http://schemas.openxmlformats.org/presentationml/2006/main">
  <p:tag name="THINKCELLSHAPEDONOTDELETE" val="tuqNxzQIkpluXS9rkjEsv5w"/>
</p:tagLst>
</file>

<file path=ppt/tags/tag454.xml><?xml version="1.0" encoding="utf-8"?>
<p:tagLst xmlns:a="http://schemas.openxmlformats.org/drawingml/2006/main" xmlns:r="http://schemas.openxmlformats.org/officeDocument/2006/relationships" xmlns:p="http://schemas.openxmlformats.org/presentationml/2006/main">
  <p:tag name="THINKCELLSHAPEDONOTDELETE" val="tlj5ZCm8kpJFdDo5EGMiAZw"/>
</p:tagLst>
</file>

<file path=ppt/tags/tag455.xml><?xml version="1.0" encoding="utf-8"?>
<p:tagLst xmlns:a="http://schemas.openxmlformats.org/drawingml/2006/main" xmlns:r="http://schemas.openxmlformats.org/officeDocument/2006/relationships" xmlns:p="http://schemas.openxmlformats.org/presentationml/2006/main">
  <p:tag name="THINKCELLSHAPEDONOTDELETE" val="tftK3Im365iDPMPmyv6sAOg"/>
</p:tagLst>
</file>

<file path=ppt/tags/tag456.xml><?xml version="1.0" encoding="utf-8"?>
<p:tagLst xmlns:a="http://schemas.openxmlformats.org/drawingml/2006/main" xmlns:r="http://schemas.openxmlformats.org/officeDocument/2006/relationships" xmlns:p="http://schemas.openxmlformats.org/presentationml/2006/main">
  <p:tag name="THINKCELLSHAPEDONOTDELETE" val="thd6C8R8NiEfkT3iXTe5lgQ"/>
</p:tagLst>
</file>

<file path=ppt/tags/tag457.xml><?xml version="1.0" encoding="utf-8"?>
<p:tagLst xmlns:a="http://schemas.openxmlformats.org/drawingml/2006/main" xmlns:r="http://schemas.openxmlformats.org/officeDocument/2006/relationships" xmlns:p="http://schemas.openxmlformats.org/presentationml/2006/main">
  <p:tag name="THINKCELLSHAPEDONOTDELETE" val="taAno4b1OvB5QUuyXidYo8Q"/>
</p:tagLst>
</file>

<file path=ppt/tags/tag458.xml><?xml version="1.0" encoding="utf-8"?>
<p:tagLst xmlns:a="http://schemas.openxmlformats.org/drawingml/2006/main" xmlns:r="http://schemas.openxmlformats.org/officeDocument/2006/relationships" xmlns:p="http://schemas.openxmlformats.org/presentationml/2006/main">
  <p:tag name="THINKCELLSHAPEDONOTDELETE" val="tCt5jAollVL4d.WjTYZ21VQ"/>
</p:tagLst>
</file>

<file path=ppt/tags/tag459.xml><?xml version="1.0" encoding="utf-8"?>
<p:tagLst xmlns:a="http://schemas.openxmlformats.org/drawingml/2006/main" xmlns:r="http://schemas.openxmlformats.org/officeDocument/2006/relationships" xmlns:p="http://schemas.openxmlformats.org/presentationml/2006/main">
  <p:tag name="THINKCELLSHAPEDONOTDELETE" val="t4LC1jLS5Xr6Es_5.E9V5jg"/>
</p:tagLst>
</file>

<file path=ppt/tags/tag460.xml><?xml version="1.0" encoding="utf-8"?>
<p:tagLst xmlns:a="http://schemas.openxmlformats.org/drawingml/2006/main" xmlns:r="http://schemas.openxmlformats.org/officeDocument/2006/relationships" xmlns:p="http://schemas.openxmlformats.org/presentationml/2006/main">
  <p:tag name="THINKCELLSHAPEDONOTDELETE" val="tapRpiijoSDz7j8nGCLV2fw"/>
</p:tagLst>
</file>

<file path=ppt/tags/tag461.xml><?xml version="1.0" encoding="utf-8"?>
<p:tagLst xmlns:a="http://schemas.openxmlformats.org/drawingml/2006/main" xmlns:r="http://schemas.openxmlformats.org/officeDocument/2006/relationships" xmlns:p="http://schemas.openxmlformats.org/presentationml/2006/main">
  <p:tag name="THINKCELLSHAPEDONOTDELETE" val="toOakpsuNhrH9Hh8hw_j5mA"/>
</p:tagLst>
</file>

<file path=ppt/tags/tag462.xml><?xml version="1.0" encoding="utf-8"?>
<p:tagLst xmlns:a="http://schemas.openxmlformats.org/drawingml/2006/main" xmlns:r="http://schemas.openxmlformats.org/officeDocument/2006/relationships" xmlns:p="http://schemas.openxmlformats.org/presentationml/2006/main">
  <p:tag name="THINKCELLSHAPEDONOTDELETE" val="tgecheGM10mOFzuCXbwXqRQ"/>
</p:tagLst>
</file>

<file path=ppt/tags/tag463.xml><?xml version="1.0" encoding="utf-8"?>
<p:tagLst xmlns:a="http://schemas.openxmlformats.org/drawingml/2006/main" xmlns:r="http://schemas.openxmlformats.org/officeDocument/2006/relationships" xmlns:p="http://schemas.openxmlformats.org/presentationml/2006/main">
  <p:tag name="THINKCELLSHAPEDONOTDELETE" val="tYp7bAgO1AVGo51DJlfAAAQ"/>
</p:tagLst>
</file>

<file path=ppt/tags/tag464.xml><?xml version="1.0" encoding="utf-8"?>
<p:tagLst xmlns:a="http://schemas.openxmlformats.org/drawingml/2006/main" xmlns:r="http://schemas.openxmlformats.org/officeDocument/2006/relationships" xmlns:p="http://schemas.openxmlformats.org/presentationml/2006/main">
  <p:tag name="THINKCELLSHAPEDONOTDELETE" val="tY0prFn6En_jI1xfulH6EXw"/>
</p:tagLst>
</file>

<file path=ppt/tags/tag465.xml><?xml version="1.0" encoding="utf-8"?>
<p:tagLst xmlns:a="http://schemas.openxmlformats.org/drawingml/2006/main" xmlns:r="http://schemas.openxmlformats.org/officeDocument/2006/relationships" xmlns:p="http://schemas.openxmlformats.org/presentationml/2006/main">
  <p:tag name="THINKCELLSHAPEDONOTDELETE" val="t8AQCv9rGxfZ4Xew1ld.CGg"/>
</p:tagLst>
</file>

<file path=ppt/tags/tag466.xml><?xml version="1.0" encoding="utf-8"?>
<p:tagLst xmlns:a="http://schemas.openxmlformats.org/drawingml/2006/main" xmlns:r="http://schemas.openxmlformats.org/officeDocument/2006/relationships" xmlns:p="http://schemas.openxmlformats.org/presentationml/2006/main">
  <p:tag name="THINKCELLSHAPEDONOTDELETE" val="tpGyLieWZjuR2lZbSdo7FJA"/>
</p:tagLst>
</file>

<file path=ppt/tags/tag467.xml><?xml version="1.0" encoding="utf-8"?>
<p:tagLst xmlns:a="http://schemas.openxmlformats.org/drawingml/2006/main" xmlns:r="http://schemas.openxmlformats.org/officeDocument/2006/relationships" xmlns:p="http://schemas.openxmlformats.org/presentationml/2006/main">
  <p:tag name="THINKCELLSHAPEDONOTDELETE" val="txW74fxD1HWsTLnnZawBIGg"/>
</p:tagLst>
</file>

<file path=ppt/tags/tag468.xml><?xml version="1.0" encoding="utf-8"?>
<p:tagLst xmlns:a="http://schemas.openxmlformats.org/drawingml/2006/main" xmlns:r="http://schemas.openxmlformats.org/officeDocument/2006/relationships" xmlns:p="http://schemas.openxmlformats.org/presentationml/2006/main">
  <p:tag name="THINKCELLSHAPEDONOTDELETE" val="pvaAqa6vQ94VAKOov4rSX7g"/>
</p:tagLst>
</file>

<file path=ppt/tags/tag469.xml><?xml version="1.0" encoding="utf-8"?>
<p:tagLst xmlns:a="http://schemas.openxmlformats.org/drawingml/2006/main" xmlns:r="http://schemas.openxmlformats.org/officeDocument/2006/relationships" xmlns:p="http://schemas.openxmlformats.org/presentationml/2006/main">
  <p:tag name="THINKCELLSHAPEDONOTDELETE" val="pSsJ8LPLFS2x2HKoRhv4ydA"/>
</p:tagLst>
</file>

<file path=ppt/tags/tag4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1.xml><?xml version="1.0" encoding="utf-8"?>
<p:tagLst xmlns:a="http://schemas.openxmlformats.org/drawingml/2006/main" xmlns:r="http://schemas.openxmlformats.org/officeDocument/2006/relationships" xmlns:p="http://schemas.openxmlformats.org/presentationml/2006/main">
  <p:tag name="THINKCELLSHAPEDONOTDELETE" val="tsQG2P9Wyk4B8zS4XUhrHOA"/>
</p:tagLst>
</file>

<file path=ppt/tags/tag472.xml><?xml version="1.0" encoding="utf-8"?>
<p:tagLst xmlns:a="http://schemas.openxmlformats.org/drawingml/2006/main" xmlns:r="http://schemas.openxmlformats.org/officeDocument/2006/relationships" xmlns:p="http://schemas.openxmlformats.org/presentationml/2006/main">
  <p:tag name="THINKCELLSHAPEDONOTDELETE" val="pIXF7tAqgUizTxzEsfPysVw"/>
</p:tagLst>
</file>

<file path=ppt/tags/tag473.xml><?xml version="1.0" encoding="utf-8"?>
<p:tagLst xmlns:a="http://schemas.openxmlformats.org/drawingml/2006/main" xmlns:r="http://schemas.openxmlformats.org/officeDocument/2006/relationships" xmlns:p="http://schemas.openxmlformats.org/presentationml/2006/main">
  <p:tag name="THINKCELLSHAPEDONOTDELETE" val="tgQirPzcj3fEjaierUFLK7g"/>
</p:tagLst>
</file>

<file path=ppt/tags/tag474.xml><?xml version="1.0" encoding="utf-8"?>
<p:tagLst xmlns:a="http://schemas.openxmlformats.org/drawingml/2006/main" xmlns:r="http://schemas.openxmlformats.org/officeDocument/2006/relationships" xmlns:p="http://schemas.openxmlformats.org/presentationml/2006/main">
  <p:tag name="THINKCELLSHAPEDONOTDELETE" val="t3XJe8v3UTgV_pT15QpX5Uw"/>
</p:tagLst>
</file>

<file path=ppt/tags/tag475.xml><?xml version="1.0" encoding="utf-8"?>
<p:tagLst xmlns:a="http://schemas.openxmlformats.org/drawingml/2006/main" xmlns:r="http://schemas.openxmlformats.org/officeDocument/2006/relationships" xmlns:p="http://schemas.openxmlformats.org/presentationml/2006/main">
  <p:tag name="THINKCELLSHAPEDONOTDELETE" val="tomy.ocJXvk_Om8a0ZtR.2Q"/>
</p:tagLst>
</file>

<file path=ppt/tags/tag476.xml><?xml version="1.0" encoding="utf-8"?>
<p:tagLst xmlns:a="http://schemas.openxmlformats.org/drawingml/2006/main" xmlns:r="http://schemas.openxmlformats.org/officeDocument/2006/relationships" xmlns:p="http://schemas.openxmlformats.org/presentationml/2006/main">
  <p:tag name="THINKCELLSHAPEDONOTDELETE" val="tomy.ocJXvk_Om8a0ZtR.2Q"/>
</p:tagLst>
</file>

<file path=ppt/tags/tag477.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78.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79.xml><?xml version="1.0" encoding="utf-8"?>
<p:tagLst xmlns:a="http://schemas.openxmlformats.org/drawingml/2006/main" xmlns:r="http://schemas.openxmlformats.org/officeDocument/2006/relationships" xmlns:p="http://schemas.openxmlformats.org/presentationml/2006/main">
  <p:tag name="THINKCELLSHAPEDONOTDELETE" val="t3XJe8v3UTgV_pT15QpX5Uw"/>
</p:tagLst>
</file>

<file path=ppt/tags/tag480.xml><?xml version="1.0" encoding="utf-8"?>
<p:tagLst xmlns:a="http://schemas.openxmlformats.org/drawingml/2006/main" xmlns:r="http://schemas.openxmlformats.org/officeDocument/2006/relationships" xmlns:p="http://schemas.openxmlformats.org/presentationml/2006/main">
  <p:tag name="THINKCELLSHAPEDONOTDELETE" val="t3XJe8v3UTgV_pT15QpX5Uw"/>
</p:tagLst>
</file>

<file path=ppt/tags/tag4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2.xml><?xml version="1.0" encoding="utf-8"?>
<p:tagLst xmlns:a="http://schemas.openxmlformats.org/drawingml/2006/main" xmlns:r="http://schemas.openxmlformats.org/officeDocument/2006/relationships" xmlns:p="http://schemas.openxmlformats.org/presentationml/2006/main">
  <p:tag name="THINKCELLSHAPEDONOTDELETE" val="tsQG2P9Wyk4B8zS4XUhrHOA"/>
</p:tagLst>
</file>

<file path=ppt/tags/tag483.xml><?xml version="1.0" encoding="utf-8"?>
<p:tagLst xmlns:a="http://schemas.openxmlformats.org/drawingml/2006/main" xmlns:r="http://schemas.openxmlformats.org/officeDocument/2006/relationships" xmlns:p="http://schemas.openxmlformats.org/presentationml/2006/main">
  <p:tag name="THINKCELLSHAPEDONOTDELETE" val="pIXF7tAqgUizTxzEsfPysVw"/>
</p:tagLst>
</file>

<file path=ppt/tags/tag484.xml><?xml version="1.0" encoding="utf-8"?>
<p:tagLst xmlns:a="http://schemas.openxmlformats.org/drawingml/2006/main" xmlns:r="http://schemas.openxmlformats.org/officeDocument/2006/relationships" xmlns:p="http://schemas.openxmlformats.org/presentationml/2006/main">
  <p:tag name="THINKCELLSHAPEDONOTDELETE" val="pIXF7tAqgUizTxzEsfPysVw"/>
</p:tagLst>
</file>

<file path=ppt/tags/tag485.xml><?xml version="1.0" encoding="utf-8"?>
<p:tagLst xmlns:a="http://schemas.openxmlformats.org/drawingml/2006/main" xmlns:r="http://schemas.openxmlformats.org/officeDocument/2006/relationships" xmlns:p="http://schemas.openxmlformats.org/presentationml/2006/main">
  <p:tag name="THINKCELLSHAPEDONOTDELETE" val="pngOy4g_4Sc5nTv6uNBDP0A"/>
</p:tagLst>
</file>

<file path=ppt/tags/tag486.xml><?xml version="1.0" encoding="utf-8"?>
<p:tagLst xmlns:a="http://schemas.openxmlformats.org/drawingml/2006/main" xmlns:r="http://schemas.openxmlformats.org/officeDocument/2006/relationships" xmlns:p="http://schemas.openxmlformats.org/presentationml/2006/main">
  <p:tag name="THINKCELLSHAPEDONOTDELETE" val="tnrylFaEn5BKsXrbLUKtUBA"/>
</p:tagLst>
</file>

<file path=ppt/tags/tag487.xml><?xml version="1.0" encoding="utf-8"?>
<p:tagLst xmlns:a="http://schemas.openxmlformats.org/drawingml/2006/main" xmlns:r="http://schemas.openxmlformats.org/officeDocument/2006/relationships" xmlns:p="http://schemas.openxmlformats.org/presentationml/2006/main">
  <p:tag name="THINKCELLSHAPEDONOTDELETE" val="tD_zEOBQnaeFtpr1PDWNw5w"/>
</p:tagLst>
</file>

<file path=ppt/tags/tag488.xml><?xml version="1.0" encoding="utf-8"?>
<p:tagLst xmlns:a="http://schemas.openxmlformats.org/drawingml/2006/main" xmlns:r="http://schemas.openxmlformats.org/officeDocument/2006/relationships" xmlns:p="http://schemas.openxmlformats.org/presentationml/2006/main">
  <p:tag name="THINKCELLSHAPEDONOTDELETE" val="thIE8xSEpMn7.HgqRVNg8FQ"/>
</p:tagLst>
</file>

<file path=ppt/tags/tag489.xml><?xml version="1.0" encoding="utf-8"?>
<p:tagLst xmlns:a="http://schemas.openxmlformats.org/drawingml/2006/main" xmlns:r="http://schemas.openxmlformats.org/officeDocument/2006/relationships" xmlns:p="http://schemas.openxmlformats.org/presentationml/2006/main">
  <p:tag name="THINKCELLSHAPEDONOTDELETE" val="twpFO71F58PafubwFzLCIkg"/>
</p:tagLst>
</file>

<file path=ppt/tags/tag490.xml><?xml version="1.0" encoding="utf-8"?>
<p:tagLst xmlns:a="http://schemas.openxmlformats.org/drawingml/2006/main" xmlns:r="http://schemas.openxmlformats.org/officeDocument/2006/relationships" xmlns:p="http://schemas.openxmlformats.org/presentationml/2006/main">
  <p:tag name="THINKCELLSHAPEDONOTDELETE" val="tD_zEOBQnaeFtpr1PDWNw5w"/>
</p:tagLst>
</file>

<file path=ppt/tags/tag491.xml><?xml version="1.0" encoding="utf-8"?>
<p:tagLst xmlns:a="http://schemas.openxmlformats.org/drawingml/2006/main" xmlns:r="http://schemas.openxmlformats.org/officeDocument/2006/relationships" xmlns:p="http://schemas.openxmlformats.org/presentationml/2006/main">
  <p:tag name="THINKCELLSHAPEDONOTDELETE" val="thIE8xSEpMn7.HgqRVNg8FQ"/>
</p:tagLst>
</file>

<file path=ppt/tags/tag492.xml><?xml version="1.0" encoding="utf-8"?>
<p:tagLst xmlns:a="http://schemas.openxmlformats.org/drawingml/2006/main" xmlns:r="http://schemas.openxmlformats.org/officeDocument/2006/relationships" xmlns:p="http://schemas.openxmlformats.org/presentationml/2006/main">
  <p:tag name="THINKCELLSHAPEDONOTDELETE" val="tD_zEOBQnaeFtpr1PDWNw5w"/>
</p:tagLst>
</file>

<file path=ppt/tags/tag493.xml><?xml version="1.0" encoding="utf-8"?>
<p:tagLst xmlns:a="http://schemas.openxmlformats.org/drawingml/2006/main" xmlns:r="http://schemas.openxmlformats.org/officeDocument/2006/relationships" xmlns:p="http://schemas.openxmlformats.org/presentationml/2006/main">
  <p:tag name="THINKCELLSHAPEDONOTDELETE" val="thIE8xSEpMn7.HgqRVNg8FQ"/>
</p:tagLst>
</file>

<file path=ppt/tags/tag494.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95.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96.xml><?xml version="1.0" encoding="utf-8"?>
<p:tagLst xmlns:a="http://schemas.openxmlformats.org/drawingml/2006/main" xmlns:r="http://schemas.openxmlformats.org/officeDocument/2006/relationships" xmlns:p="http://schemas.openxmlformats.org/presentationml/2006/main">
  <p:tag name="THINKCELLSHAPEDONOTDELETE" val="tXP6rNBaZ.0SokkE8DcYDbw"/>
</p:tagLst>
</file>

<file path=ppt/tags/tag497.xml><?xml version="1.0" encoding="utf-8"?>
<p:tagLst xmlns:a="http://schemas.openxmlformats.org/drawingml/2006/main" xmlns:r="http://schemas.openxmlformats.org/officeDocument/2006/relationships" xmlns:p="http://schemas.openxmlformats.org/presentationml/2006/main">
  <p:tag name="THINKCELLSHAPEDONOTDELETE" val="tXP6rNBaZ.0SokkE8DcYDbw"/>
</p:tagLst>
</file>

<file path=ppt/tags/tag498.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499.xml><?xml version="1.0" encoding="utf-8"?>
<p:tagLst xmlns:a="http://schemas.openxmlformats.org/drawingml/2006/main" xmlns:r="http://schemas.openxmlformats.org/officeDocument/2006/relationships" xmlns:p="http://schemas.openxmlformats.org/presentationml/2006/main">
  <p:tag name="THINKCELLSHAPEDONOTDELETE" val="tZhHhL2Ao7om3rxYd_zVtqw"/>
</p:tagLst>
</file>

<file path=ppt/tags/tag500.xml><?xml version="1.0" encoding="utf-8"?>
<p:tagLst xmlns:a="http://schemas.openxmlformats.org/drawingml/2006/main" xmlns:r="http://schemas.openxmlformats.org/officeDocument/2006/relationships" xmlns:p="http://schemas.openxmlformats.org/presentationml/2006/main">
  <p:tag name="THINKCELLSHAPEDONOTDELETE" val="tXP6rNBaZ.0SokkE8DcYDbw"/>
</p:tagLst>
</file>

<file path=ppt/tags/tag501.xml><?xml version="1.0" encoding="utf-8"?>
<p:tagLst xmlns:a="http://schemas.openxmlformats.org/drawingml/2006/main" xmlns:r="http://schemas.openxmlformats.org/officeDocument/2006/relationships" xmlns:p="http://schemas.openxmlformats.org/presentationml/2006/main">
  <p:tag name="THINKCELLSHAPEDONOTDELETE" val="tXP6rNBaZ.0SokkE8DcYDbw"/>
</p:tagLst>
</file>

<file path=ppt/tags/tag5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3.xml><?xml version="1.0" encoding="utf-8"?>
<p:tagLst xmlns:a="http://schemas.openxmlformats.org/drawingml/2006/main" xmlns:r="http://schemas.openxmlformats.org/officeDocument/2006/relationships" xmlns:p="http://schemas.openxmlformats.org/presentationml/2006/main">
  <p:tag name="THINKCELLSHAPEDONOTDELETE" val="tsQG2P9Wyk4B8zS4XUhrHOA"/>
</p:tagLst>
</file>

<file path=ppt/tags/tag504.xml><?xml version="1.0" encoding="utf-8"?>
<p:tagLst xmlns:a="http://schemas.openxmlformats.org/drawingml/2006/main" xmlns:r="http://schemas.openxmlformats.org/officeDocument/2006/relationships" xmlns:p="http://schemas.openxmlformats.org/presentationml/2006/main">
  <p:tag name="THINKCELLSHAPEDONOTDELETE" val="pIXF7tAqgUizTxzEsfPysVw"/>
</p:tagLst>
</file>

<file path=ppt/tags/tag5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6.xml><?xml version="1.0" encoding="utf-8"?>
<p:tagLst xmlns:a="http://schemas.openxmlformats.org/drawingml/2006/main" xmlns:r="http://schemas.openxmlformats.org/officeDocument/2006/relationships" xmlns:p="http://schemas.openxmlformats.org/presentationml/2006/main">
  <p:tag name="THINKCELLSHAPEDONOTDELETE" val="tsQG2P9Wyk4B8zS4XUhrHOA"/>
</p:tagLst>
</file>

<file path=ppt/tags/tag507.xml><?xml version="1.0" encoding="utf-8"?>
<p:tagLst xmlns:a="http://schemas.openxmlformats.org/drawingml/2006/main" xmlns:r="http://schemas.openxmlformats.org/officeDocument/2006/relationships" xmlns:p="http://schemas.openxmlformats.org/presentationml/2006/main">
  <p:tag name="THINKCELLSHAPEDONOTDELETE" val="tAG0rVNDpLjlKYPziZhDmLA"/>
</p:tagLst>
</file>

<file path=ppt/tags/tag508.xml><?xml version="1.0" encoding="utf-8"?>
<p:tagLst xmlns:a="http://schemas.openxmlformats.org/drawingml/2006/main" xmlns:r="http://schemas.openxmlformats.org/officeDocument/2006/relationships" xmlns:p="http://schemas.openxmlformats.org/presentationml/2006/main">
  <p:tag name="THINKCELLSHAPEDONOTDELETE" val="tAG0rVNDpLjlKYPziZhDmLA"/>
</p:tagLst>
</file>

<file path=ppt/tags/tag5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ERG">
  <a:themeElements>
    <a:clrScheme name="ERG Final">
      <a:dk1>
        <a:srgbClr val="32373C"/>
      </a:dk1>
      <a:lt1>
        <a:srgbClr val="FFFFFF"/>
      </a:lt1>
      <a:dk2>
        <a:srgbClr val="5A6469"/>
      </a:dk2>
      <a:lt2>
        <a:srgbClr val="FFFFFF"/>
      </a:lt2>
      <a:accent1>
        <a:srgbClr val="EF7F1A"/>
      </a:accent1>
      <a:accent2>
        <a:srgbClr val="FF9E29"/>
      </a:accent2>
      <a:accent3>
        <a:srgbClr val="32373C"/>
      </a:accent3>
      <a:accent4>
        <a:srgbClr val="5A6469"/>
      </a:accent4>
      <a:accent5>
        <a:srgbClr val="003751"/>
      </a:accent5>
      <a:accent6>
        <a:srgbClr val="DB1516"/>
      </a:accent6>
      <a:hlink>
        <a:srgbClr val="008E22"/>
      </a:hlink>
      <a:folHlink>
        <a:srgbClr val="009FB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lumMod val="20000"/>
            <a:lumOff val="80000"/>
          </a:schemeClr>
        </a:solidFill>
        <a:ln w="9525">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9525">
          <a:solidFill>
            <a:schemeClr val="tx2"/>
          </a:solidFill>
        </a:ln>
      </a:spPr>
      <a:bodyPr/>
      <a:lstStyle/>
      <a:style>
        <a:lnRef idx="2">
          <a:schemeClr val="accent1">
            <a:shade val="50000"/>
          </a:schemeClr>
        </a:lnRef>
        <a:fillRef idx="1">
          <a:schemeClr val="accent1"/>
        </a:fillRef>
        <a:effectRef idx="0">
          <a:schemeClr val="accent1"/>
        </a:effectRef>
        <a:fontRef idx="minor">
          <a:schemeClr val="lt1"/>
        </a:fontRef>
      </a:style>
    </a:lnDef>
    <a:txDef>
      <a:spPr/>
      <a:bodyPr lIns="0" tIns="0" rIns="0" bIns="0">
        <a:spAutoFit/>
      </a:bodyPr>
      <a:lstStyle>
        <a:defPPr>
          <a:defRPr dirty="0"/>
        </a:defPPr>
      </a:lstStyle>
    </a:txDef>
  </a:objectDefaults>
  <a:extraClrSchemeLst/>
  <a:extLst>
    <a:ext uri="{05A4C25C-085E-4340-85A3-A5531E510DB2}">
      <thm15:themeFamily xmlns:thm15="http://schemas.microsoft.com/office/thememl/2012/main" name="Blank 16x9 (small size) (002).pptx [Read-Only]" id="{3CC24C2D-7AE9-468D-8FDE-4193F665763E}" vid="{E3C30269-D4C5-437F-840A-1A972437E116}"/>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21722</TotalTime>
  <Words>34328</Words>
  <Application>Microsoft Office PowerPoint</Application>
  <PresentationFormat>Широкоэкранный</PresentationFormat>
  <Paragraphs>3559</Paragraphs>
  <Slides>61</Slides>
  <Notes>42</Notes>
  <HiddenSlides>0</HiddenSlides>
  <MMClips>0</MMClips>
  <ScaleCrop>false</ScaleCrop>
  <HeadingPairs>
    <vt:vector size="8" baseType="variant">
      <vt:variant>
        <vt:lpstr>Использованные шрифты</vt:lpstr>
      </vt:variant>
      <vt:variant>
        <vt:i4>6</vt:i4>
      </vt:variant>
      <vt:variant>
        <vt:lpstr>Тема</vt:lpstr>
      </vt:variant>
      <vt:variant>
        <vt:i4>1</vt:i4>
      </vt:variant>
      <vt:variant>
        <vt:lpstr>Внедренные серверы OLE</vt:lpstr>
      </vt:variant>
      <vt:variant>
        <vt:i4>1</vt:i4>
      </vt:variant>
      <vt:variant>
        <vt:lpstr>Заголовки слайдов</vt:lpstr>
      </vt:variant>
      <vt:variant>
        <vt:i4>61</vt:i4>
      </vt:variant>
    </vt:vector>
  </HeadingPairs>
  <TitlesOfParts>
    <vt:vector size="69" baseType="lpstr">
      <vt:lpstr>Yu Gothic UI Semibold</vt:lpstr>
      <vt:lpstr>Arial</vt:lpstr>
      <vt:lpstr>Calibri</vt:lpstr>
      <vt:lpstr>Courier New</vt:lpstr>
      <vt:lpstr>Play</vt:lpstr>
      <vt:lpstr>Wingdings</vt:lpstr>
      <vt:lpstr>1_ERG</vt:lpstr>
      <vt:lpstr>think-cell Slide</vt:lpstr>
      <vt:lpstr>Презентация PowerPoint</vt:lpstr>
      <vt:lpstr>Презентация PowerPoint</vt:lpstr>
      <vt:lpstr>Дэшборд за 4 кв. 2025 г.: Информация по рискам и гарантиям</vt:lpstr>
      <vt:lpstr>Дэшборд за 4 кв. 2025 г.: Информация по рискам и гарантиям</vt:lpstr>
      <vt:lpstr>Дэшборд за 4 кв. 2025 г.: Информация по управлению политиками</vt:lpstr>
      <vt:lpstr>Дашборд за 4 кв. 2025 г.: Управление рисками третьих сторон Комплексная проверка контрагентов (КПК)</vt:lpstr>
      <vt:lpstr>Дашборд за 4 кв. 2025 г.: Управление рисками третьих сторон КСО – Благотворительность и спонсорство (БиС)</vt:lpstr>
      <vt:lpstr>Дашборд за 4 кв. 2025 г.: Управление рисками: Связанные стороны. Защита персональных данных</vt:lpstr>
      <vt:lpstr>Дашборд за 4 кв. 2025 г.: Управление рисками: Конфликт интересов, подарки и культурно-развлекательные мероприятия</vt:lpstr>
      <vt:lpstr>Дашборд за 4 кв. 2025 г.:  Обучение и коммуникации </vt:lpstr>
      <vt:lpstr>Дашборд за 1-4 кв. 2025 г.:  Система информирования о нарушениях (WBS)</vt:lpstr>
      <vt:lpstr>Дашборд за 1-4 кв. 2025 г.:  Система информирования о нарушениях (WBS)</vt:lpstr>
      <vt:lpstr>Дашборд за 4 кв. 2025 г.:  Ресурсы службы комплаенс (персонал и бюджет, ИТ-решения)</vt:lpstr>
      <vt:lpstr>Презентация PowerPoint</vt:lpstr>
      <vt:lpstr>Прил.1: Управление рисками третьих сторон Самотестирование КПК - 4 кв. 2025 г.</vt:lpstr>
      <vt:lpstr>Прил.1: Управление рисками третьих сторон Самотестирование КПК - 4 кв. 2025 г. (продолжение)</vt:lpstr>
      <vt:lpstr>Прил. 2: Управление рисками третьих сторон Результаты самотестирования Комплаенс Листа (на основе Схемы гарантий) – 4 кв. 2025 </vt:lpstr>
      <vt:lpstr>Прил. 2: Управление рисками третьих сторон Результаты самотестирования Комплаенс Листа (на основе Схемы гарантий) - продолжение</vt:lpstr>
      <vt:lpstr>Прил. 2: Управление рисками третьих сторон Результаты самотестирования Комплаенс Листа (на основе Схемы гарантий) - продолжение</vt:lpstr>
      <vt:lpstr>Прил. 3: Управление рисками третьих сторон Дополнительные самотестирования процесса КПК </vt:lpstr>
      <vt:lpstr>Прил. 3: Управление рисками третьих сторон Дополнительные самотестирования процесса КПК  (продолжение)</vt:lpstr>
      <vt:lpstr>Прил. 3: Управление рисками третьих сторон Дополнительные самотестирования процесса КПК - продолжение</vt:lpstr>
      <vt:lpstr>Прил. 3: Управление рисками третьих сторон Дополнительные самотестирования процесса КПК - продолжение</vt:lpstr>
      <vt:lpstr>Прил. 3: Управление рисками третьих сторон Дополнительные самотестирования процесса КПК - продолжение</vt:lpstr>
      <vt:lpstr>Прил. 3: Управление рисками третьих сторон Дополнительные самотестирования процесса КПК - продолжение</vt:lpstr>
      <vt:lpstr>Прил. 4: Управление рисками  Самотестирования в сфере защиты персональных данных - 4 кв. 2025 г.</vt:lpstr>
      <vt:lpstr>Прил.5: Управление рисками: Конфликт интересов – подтвержденные случаи</vt:lpstr>
      <vt:lpstr>Прил.5: Управление рисками: Конфликт интересов – подтвержденные случаи (продолжение)</vt:lpstr>
      <vt:lpstr>Прил.6: Управление рисками: Конфликт интересов – Результаты самотестирования эффективности контролей </vt:lpstr>
      <vt:lpstr>Прил.6: Управление рисками: Конфликт интересов – Результаты самотестирования эффективности контролей (продолжение) </vt:lpstr>
      <vt:lpstr>Прил.7: Управление рисками: Результаты самотестирования эффективности контролей в отношении предоставления подарков и КРМ </vt:lpstr>
      <vt:lpstr>Презентация PowerPoint</vt:lpstr>
      <vt:lpstr>Годовой дашборд 2025: Периметр Казахстан Краткое изложение (1/6)</vt:lpstr>
      <vt:lpstr>Годовой дашборд 2025: Периметр Казахстан Краткое изложение (2/6)</vt:lpstr>
      <vt:lpstr>Годовой дашборд 2025: Периметр Казахстан Краткое изложение (3/6)</vt:lpstr>
      <vt:lpstr>Годовой дашборд 2025: Периметр Казахстан Краткое изложение (4/6)</vt:lpstr>
      <vt:lpstr>Годовой дашборд 2025: Периметр Казахстан  Краткое изложение (5/6) </vt:lpstr>
      <vt:lpstr>Годовой дашборд 2025: Периметр Казахстан Краткое изложение (6/6)</vt:lpstr>
      <vt:lpstr>Презентация PowerPoint</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vt:lpstr>
      <vt:lpstr>Годовая комплаенс-программа 2025: Периметр Казахстан Статус выполнения - План самотестирований контролей на 2025 год</vt:lpstr>
      <vt:lpstr>Годовая комплаенс-программа 2025: Периметр Казахстан Статус выполнения - План самотестирований контролей на 2025 год</vt:lpstr>
      <vt:lpstr>Годовая комплаенс-программа 2025: Периметр Казахстан Статус выполнения - Специальные проекты</vt:lpstr>
      <vt:lpstr>Годовая комплаенс-программа 2025: Периметр Казахстан Статус выполнения - Специальные проекты</vt:lpstr>
      <vt:lpstr>Годовая комплаенс-программа 2025: Периметр Казахстан Статус выполнения - Комплаенс программа по защите персональных данных </vt:lpstr>
      <vt:lpstr>Годовая комплаенс-программа 2025: Периметр Казахстан Статус выполнения - Комплаенс программа по защите персональных данных </vt:lpstr>
      <vt:lpstr>Годовая комплаенс-программа 2025: Периметр Казахстан Статус выполнения - Комплаенс программа по защите персональных данных </vt:lpstr>
      <vt:lpstr>Годовая комплаенс-программа 2025: Периметр Казахстан Статус выполнения - Комплаенс программа по защите персональных данных </vt:lpstr>
      <vt:lpstr>Годовая комплаенс-программа 2025: Периметр Казахстан Статус выполнения - Программа комплаенс-обучения</vt:lpstr>
      <vt:lpstr>Годовая комплаенс-программа 2025: Периметр Казахстан Статус выполнения - Программа комплаенс-обучения</vt:lpstr>
      <vt:lpstr>Годовая комплаенс-программа 2025: Периметр Казахстан Статус выполнения - Программа комплаенс-обучения</vt:lpstr>
      <vt:lpstr>Годовая комплаенс-программа 2025: Периметр Казахстан Статус выполнения - Программа комплаенс-коммуникаций</vt:lpstr>
      <vt:lpstr>Годовая комплаенс-программа 2025: Периметр Казахстан Статус выполнения - Программа комплаенс-коммуникаций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Maria Donchenko</dc:creator>
  <cp:lastModifiedBy>Anneta Natanzon</cp:lastModifiedBy>
  <cp:revision>1060</cp:revision>
  <cp:lastPrinted>2025-02-05T17:04:41Z</cp:lastPrinted>
  <dcterms:created xsi:type="dcterms:W3CDTF">2024-03-13T09:03:54Z</dcterms:created>
  <dcterms:modified xsi:type="dcterms:W3CDTF">2026-02-26T09:38:23Z</dcterms:modified>
</cp:coreProperties>
</file>